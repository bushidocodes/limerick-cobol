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0" r:id="rId2"/>
    <p:sldId id="262" r:id="rId3"/>
    <p:sldId id="266" r:id="rId4"/>
    <p:sldId id="267" r:id="rId5"/>
    <p:sldId id="269" r:id="rId6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006633"/>
    <a:srgbClr val="00CC00"/>
    <a:srgbClr val="CC0000"/>
    <a:srgbClr val="5F5F5F"/>
    <a:srgbClr val="FF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B400F01-E66B-8C1D-EE19-0704D0DA28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606B77F-5814-1975-4B4D-C27FC2C13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A6BDB5B-703B-2648-6513-8707F6D3C83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27102980-FF24-8F7B-91B1-002D53AA8C4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49523C50-9CE6-DBE0-8E4F-39FD999C28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6C913B23-049B-4DA7-2DB0-E4AF60EC3E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fld id="{8673187F-2AD1-49A8-96A5-032C8FB66F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92D9-4233-7147-7602-0611244B3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3A0-66EC-0AC1-C965-BCB5B81AB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510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4D1B-D864-90F6-EAC1-5DF786684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D393-5F73-7AD5-4EA9-B39AE5F31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7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CF69E-25B0-A20F-CC6E-928368000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4CE9E-E2A2-FA87-1A4C-A218118BB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99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26ED-905D-EF42-2626-65A6C2E99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5C0CC-E23B-5D40-5BF9-B580DD387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8E849-5B5F-5857-3A8A-062DE72C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548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217D-5B05-13FF-E8E1-6479FD69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37693-BA5A-72A7-607D-825DCEF18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5DD86-B903-3BCF-C084-DC2A6770D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188CB0-AD72-533E-C404-130C2AB126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013997-2DB3-8B37-5F25-770DF4871F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5113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8A6B-FCF9-928D-0483-0EA1DA4D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8366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25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52A8-9EEE-7651-69FA-226EB03E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A2990-7518-B807-1E8F-F8E7076BF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09275-082D-F06D-1546-FE2AD3B2F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1651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41D1-BF84-ACFF-5C69-4137641D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26863-0EB7-0A34-9D9D-F904AFB8E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1AF3F-4E45-7F68-D461-E9DE1B49D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11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3864-4114-2AE5-DBE6-C1A4E387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AF884-B270-BA9D-5EB8-C1F34377D1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9417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5660D-01C0-A74F-8301-942D398BA6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C4110-29B6-A2FD-F6C1-C8AC8A86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411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3E0AF8-E7F7-7F86-E96C-E95E9ACCD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7463"/>
            <a:ext cx="4733925" cy="3778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0406D9-7689-E48B-3475-16B4634CE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Carlow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BBF6A0C-4B53-59E6-E0BB-69009FB13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Cavan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E1D0E7E-F887-4B43-2A7B-4D6C5A99D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4FC1E28-084D-0A61-2B38-5342A5229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Cork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63AC56B-3C55-FEDE-AB58-848F35526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Donegal</a:t>
            </a:r>
          </a:p>
        </p:txBody>
      </p:sp>
      <p:sp>
        <p:nvSpPr>
          <p:cNvPr id="3079" name="Freeform 7">
            <a:extLst>
              <a:ext uri="{FF2B5EF4-FFF2-40B4-BE49-F238E27FC236}">
                <a16:creationId xmlns:a16="http://schemas.microsoft.com/office/drawing/2014/main" id="{E2EB7C8B-0A04-4A9C-66DC-0C3654D1AEE3}"/>
              </a:ext>
            </a:extLst>
          </p:cNvPr>
          <p:cNvSpPr>
            <a:spLocks/>
          </p:cNvSpPr>
          <p:nvPr/>
        </p:nvSpPr>
        <p:spPr bwMode="auto">
          <a:xfrm>
            <a:off x="4111625" y="1098550"/>
            <a:ext cx="119063" cy="325438"/>
          </a:xfrm>
          <a:custGeom>
            <a:avLst/>
            <a:gdLst>
              <a:gd name="T0" fmla="*/ 74 w 75"/>
              <a:gd name="T1" fmla="*/ 0 h 205"/>
              <a:gd name="T2" fmla="*/ 63 w 75"/>
              <a:gd name="T3" fmla="*/ 0 h 205"/>
              <a:gd name="T4" fmla="*/ 52 w 75"/>
              <a:gd name="T5" fmla="*/ 0 h 205"/>
              <a:gd name="T6" fmla="*/ 47 w 75"/>
              <a:gd name="T7" fmla="*/ 0 h 205"/>
              <a:gd name="T8" fmla="*/ 42 w 75"/>
              <a:gd name="T9" fmla="*/ 0 h 205"/>
              <a:gd name="T10" fmla="*/ 37 w 75"/>
              <a:gd name="T11" fmla="*/ 0 h 205"/>
              <a:gd name="T12" fmla="*/ 31 w 75"/>
              <a:gd name="T13" fmla="*/ 0 h 205"/>
              <a:gd name="T14" fmla="*/ 26 w 75"/>
              <a:gd name="T15" fmla="*/ 0 h 205"/>
              <a:gd name="T16" fmla="*/ 26 w 75"/>
              <a:gd name="T17" fmla="*/ 15 h 205"/>
              <a:gd name="T18" fmla="*/ 15 w 75"/>
              <a:gd name="T19" fmla="*/ 18 h 205"/>
              <a:gd name="T20" fmla="*/ 5 w 75"/>
              <a:gd name="T21" fmla="*/ 18 h 205"/>
              <a:gd name="T22" fmla="*/ 5 w 75"/>
              <a:gd name="T23" fmla="*/ 26 h 205"/>
              <a:gd name="T24" fmla="*/ 15 w 75"/>
              <a:gd name="T25" fmla="*/ 30 h 205"/>
              <a:gd name="T26" fmla="*/ 21 w 75"/>
              <a:gd name="T27" fmla="*/ 37 h 205"/>
              <a:gd name="T28" fmla="*/ 21 w 75"/>
              <a:gd name="T29" fmla="*/ 45 h 205"/>
              <a:gd name="T30" fmla="*/ 10 w 75"/>
              <a:gd name="T31" fmla="*/ 52 h 205"/>
              <a:gd name="T32" fmla="*/ 0 w 75"/>
              <a:gd name="T33" fmla="*/ 56 h 205"/>
              <a:gd name="T34" fmla="*/ 0 w 75"/>
              <a:gd name="T35" fmla="*/ 64 h 205"/>
              <a:gd name="T36" fmla="*/ 5 w 75"/>
              <a:gd name="T37" fmla="*/ 71 h 205"/>
              <a:gd name="T38" fmla="*/ 15 w 75"/>
              <a:gd name="T39" fmla="*/ 75 h 205"/>
              <a:gd name="T40" fmla="*/ 21 w 75"/>
              <a:gd name="T41" fmla="*/ 83 h 205"/>
              <a:gd name="T42" fmla="*/ 31 w 75"/>
              <a:gd name="T43" fmla="*/ 86 h 205"/>
              <a:gd name="T44" fmla="*/ 31 w 75"/>
              <a:gd name="T45" fmla="*/ 94 h 205"/>
              <a:gd name="T46" fmla="*/ 26 w 75"/>
              <a:gd name="T47" fmla="*/ 102 h 205"/>
              <a:gd name="T48" fmla="*/ 15 w 75"/>
              <a:gd name="T49" fmla="*/ 102 h 205"/>
              <a:gd name="T50" fmla="*/ 5 w 75"/>
              <a:gd name="T51" fmla="*/ 109 h 205"/>
              <a:gd name="T52" fmla="*/ 5 w 75"/>
              <a:gd name="T53" fmla="*/ 117 h 205"/>
              <a:gd name="T54" fmla="*/ 10 w 75"/>
              <a:gd name="T55" fmla="*/ 124 h 205"/>
              <a:gd name="T56" fmla="*/ 21 w 75"/>
              <a:gd name="T57" fmla="*/ 128 h 205"/>
              <a:gd name="T58" fmla="*/ 26 w 75"/>
              <a:gd name="T59" fmla="*/ 136 h 205"/>
              <a:gd name="T60" fmla="*/ 26 w 75"/>
              <a:gd name="T61" fmla="*/ 143 h 205"/>
              <a:gd name="T62" fmla="*/ 15 w 75"/>
              <a:gd name="T63" fmla="*/ 147 h 205"/>
              <a:gd name="T64" fmla="*/ 5 w 75"/>
              <a:gd name="T65" fmla="*/ 151 h 205"/>
              <a:gd name="T66" fmla="*/ 0 w 75"/>
              <a:gd name="T67" fmla="*/ 158 h 205"/>
              <a:gd name="T68" fmla="*/ 0 w 75"/>
              <a:gd name="T69" fmla="*/ 166 h 205"/>
              <a:gd name="T70" fmla="*/ 10 w 75"/>
              <a:gd name="T71" fmla="*/ 170 h 205"/>
              <a:gd name="T72" fmla="*/ 10 w 75"/>
              <a:gd name="T73" fmla="*/ 177 h 205"/>
              <a:gd name="T74" fmla="*/ 10 w 75"/>
              <a:gd name="T75" fmla="*/ 185 h 205"/>
              <a:gd name="T76" fmla="*/ 21 w 75"/>
              <a:gd name="T77" fmla="*/ 185 h 205"/>
              <a:gd name="T78" fmla="*/ 26 w 75"/>
              <a:gd name="T79" fmla="*/ 192 h 205"/>
              <a:gd name="T80" fmla="*/ 63 w 75"/>
              <a:gd name="T81" fmla="*/ 204 h 205"/>
              <a:gd name="T82" fmla="*/ 68 w 75"/>
              <a:gd name="T83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" h="205">
                <a:moveTo>
                  <a:pt x="74" y="0"/>
                </a:moveTo>
                <a:lnTo>
                  <a:pt x="63" y="0"/>
                </a:lnTo>
                <a:lnTo>
                  <a:pt x="52" y="0"/>
                </a:lnTo>
                <a:lnTo>
                  <a:pt x="47" y="0"/>
                </a:lnTo>
                <a:lnTo>
                  <a:pt x="42" y="0"/>
                </a:lnTo>
                <a:lnTo>
                  <a:pt x="37" y="0"/>
                </a:lnTo>
                <a:lnTo>
                  <a:pt x="31" y="0"/>
                </a:lnTo>
                <a:lnTo>
                  <a:pt x="26" y="0"/>
                </a:lnTo>
                <a:lnTo>
                  <a:pt x="26" y="15"/>
                </a:lnTo>
                <a:lnTo>
                  <a:pt x="15" y="18"/>
                </a:lnTo>
                <a:lnTo>
                  <a:pt x="5" y="18"/>
                </a:lnTo>
                <a:lnTo>
                  <a:pt x="5" y="26"/>
                </a:lnTo>
                <a:lnTo>
                  <a:pt x="15" y="30"/>
                </a:lnTo>
                <a:lnTo>
                  <a:pt x="21" y="37"/>
                </a:lnTo>
                <a:lnTo>
                  <a:pt x="21" y="45"/>
                </a:lnTo>
                <a:lnTo>
                  <a:pt x="10" y="52"/>
                </a:lnTo>
                <a:lnTo>
                  <a:pt x="0" y="56"/>
                </a:lnTo>
                <a:lnTo>
                  <a:pt x="0" y="64"/>
                </a:lnTo>
                <a:lnTo>
                  <a:pt x="5" y="71"/>
                </a:lnTo>
                <a:lnTo>
                  <a:pt x="15" y="75"/>
                </a:lnTo>
                <a:lnTo>
                  <a:pt x="21" y="83"/>
                </a:lnTo>
                <a:lnTo>
                  <a:pt x="31" y="86"/>
                </a:lnTo>
                <a:lnTo>
                  <a:pt x="31" y="94"/>
                </a:lnTo>
                <a:lnTo>
                  <a:pt x="26" y="102"/>
                </a:lnTo>
                <a:lnTo>
                  <a:pt x="15" y="102"/>
                </a:lnTo>
                <a:lnTo>
                  <a:pt x="5" y="109"/>
                </a:lnTo>
                <a:lnTo>
                  <a:pt x="5" y="117"/>
                </a:lnTo>
                <a:lnTo>
                  <a:pt x="10" y="124"/>
                </a:lnTo>
                <a:lnTo>
                  <a:pt x="21" y="128"/>
                </a:lnTo>
                <a:lnTo>
                  <a:pt x="26" y="136"/>
                </a:lnTo>
                <a:lnTo>
                  <a:pt x="26" y="143"/>
                </a:lnTo>
                <a:lnTo>
                  <a:pt x="15" y="147"/>
                </a:lnTo>
                <a:lnTo>
                  <a:pt x="5" y="151"/>
                </a:lnTo>
                <a:lnTo>
                  <a:pt x="0" y="158"/>
                </a:lnTo>
                <a:lnTo>
                  <a:pt x="0" y="166"/>
                </a:lnTo>
                <a:lnTo>
                  <a:pt x="10" y="170"/>
                </a:lnTo>
                <a:lnTo>
                  <a:pt x="10" y="177"/>
                </a:lnTo>
                <a:lnTo>
                  <a:pt x="10" y="185"/>
                </a:lnTo>
                <a:lnTo>
                  <a:pt x="21" y="185"/>
                </a:lnTo>
                <a:lnTo>
                  <a:pt x="26" y="192"/>
                </a:lnTo>
                <a:lnTo>
                  <a:pt x="63" y="204"/>
                </a:lnTo>
                <a:lnTo>
                  <a:pt x="68" y="20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140E8325-8BAD-49EA-5416-76ACB8444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1054100"/>
            <a:ext cx="177800" cy="393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D79AE2D4-2CEE-9CB3-C466-80D40A21B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58913"/>
            <a:ext cx="3841750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  1        2        3        4         5</a:t>
            </a:r>
          </a:p>
        </p:txBody>
      </p:sp>
      <p:sp>
        <p:nvSpPr>
          <p:cNvPr id="3082" name="AutoShape 10">
            <a:extLst>
              <a:ext uri="{FF2B5EF4-FFF2-40B4-BE49-F238E27FC236}">
                <a16:creationId xmlns:a16="http://schemas.microsoft.com/office/drawing/2014/main" id="{48BB2B78-9595-2780-ECB4-F915DED2B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163638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Rectangle 11">
            <a:extLst>
              <a:ext uri="{FF2B5EF4-FFF2-40B4-BE49-F238E27FC236}">
                <a16:creationId xmlns:a16="http://schemas.microsoft.com/office/drawing/2014/main" id="{965D90A5-7AC6-11B1-EFE5-EF89F1827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55663"/>
            <a:ext cx="1123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CountyName</a:t>
            </a:r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07E14AE9-00BF-209E-B8C6-DFA30E9F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EEDE8291-F165-B9EB-DF8B-66009AA9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412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665CA82F-048F-3075-C672-46929811B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064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72AB5D78-F16C-A79A-F86E-4F73DD9EA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873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3088" name="Rectangle 16">
            <a:extLst>
              <a:ext uri="{FF2B5EF4-FFF2-40B4-BE49-F238E27FC236}">
                <a16:creationId xmlns:a16="http://schemas.microsoft.com/office/drawing/2014/main" id="{EF7045BF-71DF-C978-6184-681D5328C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87363"/>
            <a:ext cx="6413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</a:t>
            </a:r>
          </a:p>
        </p:txBody>
      </p:sp>
      <p:sp>
        <p:nvSpPr>
          <p:cNvPr id="3089" name="Rectangle 17">
            <a:extLst>
              <a:ext uri="{FF2B5EF4-FFF2-40B4-BE49-F238E27FC236}">
                <a16:creationId xmlns:a16="http://schemas.microsoft.com/office/drawing/2014/main" id="{89EA2ACB-6D7C-3EAD-25FE-398294E69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E6EDCAA9-1B72-B967-FCFE-3AD1EE58A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3C0D54AE-033E-CA36-44C5-D4FFBFA54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5B20CFEB-2A8F-C5B9-B0CC-EBD56C9ED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724A11D3-C827-F487-2F7F-58C3033E5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36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grpSp>
        <p:nvGrpSpPr>
          <p:cNvPr id="3110" name="Group 38">
            <a:extLst>
              <a:ext uri="{FF2B5EF4-FFF2-40B4-BE49-F238E27FC236}">
                <a16:creationId xmlns:a16="http://schemas.microsoft.com/office/drawing/2014/main" id="{A8383AFE-4A84-EC4C-C50E-D68C185DCB7E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1889125"/>
            <a:ext cx="4430713" cy="685800"/>
            <a:chOff x="104" y="1190"/>
            <a:chExt cx="2791" cy="432"/>
          </a:xfrm>
        </p:grpSpPr>
        <p:sp>
          <p:nvSpPr>
            <p:cNvPr id="3094" name="Rectangle 22">
              <a:extLst>
                <a:ext uri="{FF2B5EF4-FFF2-40B4-BE49-F238E27FC236}">
                  <a16:creationId xmlns:a16="http://schemas.microsoft.com/office/drawing/2014/main" id="{789E063C-6C66-32C5-2BD5-93FCDED78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" y="1507"/>
              <a:ext cx="2017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0" rIns="92075" bIns="0">
              <a:spAutoFit/>
            </a:bodyPr>
            <a:lstStyle/>
            <a:p>
              <a:r>
                <a:rPr lang="en-US" altLang="en-US" sz="1200" b="1">
                  <a:latin typeface="Courier New" panose="02070309020205020404" pitchFamily="49" charset="0"/>
                </a:rPr>
                <a:t>1    2 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3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4    5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 6    7</a:t>
              </a:r>
            </a:p>
          </p:txBody>
        </p:sp>
        <p:sp>
          <p:nvSpPr>
            <p:cNvPr id="3095" name="Rectangle 23">
              <a:extLst>
                <a:ext uri="{FF2B5EF4-FFF2-40B4-BE49-F238E27FC236}">
                  <a16:creationId xmlns:a16="http://schemas.microsoft.com/office/drawing/2014/main" id="{EC9418CB-63E1-343C-57EF-FD843910B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1190"/>
              <a:ext cx="49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en-US" sz="1200" b="1">
                  <a:latin typeface="Arial" panose="020B0604020202020204" pitchFamily="34" charset="0"/>
                </a:rPr>
                <a:t>CountyTax</a:t>
              </a:r>
            </a:p>
          </p:txBody>
        </p:sp>
        <p:sp>
          <p:nvSpPr>
            <p:cNvPr id="3096" name="Rectangle 24">
              <a:extLst>
                <a:ext uri="{FF2B5EF4-FFF2-40B4-BE49-F238E27FC236}">
                  <a16:creationId xmlns:a16="http://schemas.microsoft.com/office/drawing/2014/main" id="{FB0D3A77-7FC5-C192-C375-EA56C44BB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Rectangle 25">
              <a:extLst>
                <a:ext uri="{FF2B5EF4-FFF2-40B4-BE49-F238E27FC236}">
                  <a16:creationId xmlns:a16="http://schemas.microsoft.com/office/drawing/2014/main" id="{DEFFC5C2-E511-8013-1C83-3DBAD0F8E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Rectangle 26">
              <a:extLst>
                <a:ext uri="{FF2B5EF4-FFF2-40B4-BE49-F238E27FC236}">
                  <a16:creationId xmlns:a16="http://schemas.microsoft.com/office/drawing/2014/main" id="{A08EE3DE-9A35-A184-CAD2-7D27FA202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Rectangle 27">
              <a:extLst>
                <a:ext uri="{FF2B5EF4-FFF2-40B4-BE49-F238E27FC236}">
                  <a16:creationId xmlns:a16="http://schemas.microsoft.com/office/drawing/2014/main" id="{AB2B27C4-24A6-DADE-8E70-8B1663286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Rectangle 28">
              <a:extLst>
                <a:ext uri="{FF2B5EF4-FFF2-40B4-BE49-F238E27FC236}">
                  <a16:creationId xmlns:a16="http://schemas.microsoft.com/office/drawing/2014/main" id="{39755873-F017-1132-CA4C-933021095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Rectangle 29">
              <a:extLst>
                <a:ext uri="{FF2B5EF4-FFF2-40B4-BE49-F238E27FC236}">
                  <a16:creationId xmlns:a16="http://schemas.microsoft.com/office/drawing/2014/main" id="{042EEA2E-74B5-8C70-00E4-AE8B2F02E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>
              <a:extLst>
                <a:ext uri="{FF2B5EF4-FFF2-40B4-BE49-F238E27FC236}">
                  <a16:creationId xmlns:a16="http://schemas.microsoft.com/office/drawing/2014/main" id="{5F842A67-82FA-C5EB-7AAB-F0105D14C6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Rectangle 31">
              <a:extLst>
                <a:ext uri="{FF2B5EF4-FFF2-40B4-BE49-F238E27FC236}">
                  <a16:creationId xmlns:a16="http://schemas.microsoft.com/office/drawing/2014/main" id="{3AE21344-EC3B-8608-261B-33AD42BDA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1313"/>
              <a:ext cx="2223" cy="17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06" name="Group 34">
              <a:extLst>
                <a:ext uri="{FF2B5EF4-FFF2-40B4-BE49-F238E27FC236}">
                  <a16:creationId xmlns:a16="http://schemas.microsoft.com/office/drawing/2014/main" id="{37D229A5-7F06-F707-2820-3D36BAC56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304"/>
              <a:ext cx="104" cy="200"/>
              <a:chOff x="2248" y="1304"/>
              <a:chExt cx="104" cy="200"/>
            </a:xfrm>
          </p:grpSpPr>
          <p:sp>
            <p:nvSpPr>
              <p:cNvPr id="3104" name="Freeform 32">
                <a:extLst>
                  <a:ext uri="{FF2B5EF4-FFF2-40B4-BE49-F238E27FC236}">
                    <a16:creationId xmlns:a16="http://schemas.microsoft.com/office/drawing/2014/main" id="{F0958CB3-EE32-40D4-B742-855592D7A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312"/>
                <a:ext cx="58" cy="185"/>
              </a:xfrm>
              <a:custGeom>
                <a:avLst/>
                <a:gdLst>
                  <a:gd name="T0" fmla="*/ 57 w 58"/>
                  <a:gd name="T1" fmla="*/ 0 h 185"/>
                  <a:gd name="T2" fmla="*/ 45 w 58"/>
                  <a:gd name="T3" fmla="*/ 0 h 185"/>
                  <a:gd name="T4" fmla="*/ 34 w 58"/>
                  <a:gd name="T5" fmla="*/ 0 h 185"/>
                  <a:gd name="T6" fmla="*/ 22 w 58"/>
                  <a:gd name="T7" fmla="*/ 4 h 185"/>
                  <a:gd name="T8" fmla="*/ 22 w 58"/>
                  <a:gd name="T9" fmla="*/ 12 h 185"/>
                  <a:gd name="T10" fmla="*/ 22 w 58"/>
                  <a:gd name="T11" fmla="*/ 20 h 185"/>
                  <a:gd name="T12" fmla="*/ 17 w 58"/>
                  <a:gd name="T13" fmla="*/ 28 h 185"/>
                  <a:gd name="T14" fmla="*/ 11 w 58"/>
                  <a:gd name="T15" fmla="*/ 36 h 185"/>
                  <a:gd name="T16" fmla="*/ 11 w 58"/>
                  <a:gd name="T17" fmla="*/ 44 h 185"/>
                  <a:gd name="T18" fmla="*/ 22 w 58"/>
                  <a:gd name="T19" fmla="*/ 49 h 185"/>
                  <a:gd name="T20" fmla="*/ 22 w 58"/>
                  <a:gd name="T21" fmla="*/ 57 h 185"/>
                  <a:gd name="T22" fmla="*/ 17 w 58"/>
                  <a:gd name="T23" fmla="*/ 65 h 185"/>
                  <a:gd name="T24" fmla="*/ 5 w 58"/>
                  <a:gd name="T25" fmla="*/ 69 h 185"/>
                  <a:gd name="T26" fmla="*/ 5 w 58"/>
                  <a:gd name="T27" fmla="*/ 77 h 185"/>
                  <a:gd name="T28" fmla="*/ 5 w 58"/>
                  <a:gd name="T29" fmla="*/ 85 h 185"/>
                  <a:gd name="T30" fmla="*/ 17 w 58"/>
                  <a:gd name="T31" fmla="*/ 89 h 185"/>
                  <a:gd name="T32" fmla="*/ 22 w 58"/>
                  <a:gd name="T33" fmla="*/ 98 h 185"/>
                  <a:gd name="T34" fmla="*/ 17 w 58"/>
                  <a:gd name="T35" fmla="*/ 106 h 185"/>
                  <a:gd name="T36" fmla="*/ 11 w 58"/>
                  <a:gd name="T37" fmla="*/ 114 h 185"/>
                  <a:gd name="T38" fmla="*/ 0 w 58"/>
                  <a:gd name="T39" fmla="*/ 118 h 185"/>
                  <a:gd name="T40" fmla="*/ 0 w 58"/>
                  <a:gd name="T41" fmla="*/ 126 h 185"/>
                  <a:gd name="T42" fmla="*/ 11 w 58"/>
                  <a:gd name="T43" fmla="*/ 134 h 185"/>
                  <a:gd name="T44" fmla="*/ 17 w 58"/>
                  <a:gd name="T45" fmla="*/ 143 h 185"/>
                  <a:gd name="T46" fmla="*/ 5 w 58"/>
                  <a:gd name="T47" fmla="*/ 147 h 185"/>
                  <a:gd name="T48" fmla="*/ 5 w 58"/>
                  <a:gd name="T49" fmla="*/ 155 h 185"/>
                  <a:gd name="T50" fmla="*/ 5 w 58"/>
                  <a:gd name="T51" fmla="*/ 163 h 185"/>
                  <a:gd name="T52" fmla="*/ 17 w 58"/>
                  <a:gd name="T53" fmla="*/ 163 h 185"/>
                  <a:gd name="T54" fmla="*/ 17 w 58"/>
                  <a:gd name="T55" fmla="*/ 171 h 185"/>
                  <a:gd name="T56" fmla="*/ 22 w 58"/>
                  <a:gd name="T57" fmla="*/ 179 h 185"/>
                  <a:gd name="T58" fmla="*/ 34 w 58"/>
                  <a:gd name="T59" fmla="*/ 184 h 185"/>
                  <a:gd name="T60" fmla="*/ 45 w 58"/>
                  <a:gd name="T61" fmla="*/ 184 h 185"/>
                  <a:gd name="T62" fmla="*/ 57 w 58"/>
                  <a:gd name="T63" fmla="*/ 184 h 185"/>
                  <a:gd name="T64" fmla="*/ 57 w 58"/>
                  <a:gd name="T6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185">
                    <a:moveTo>
                      <a:pt x="57" y="0"/>
                    </a:moveTo>
                    <a:lnTo>
                      <a:pt x="45" y="0"/>
                    </a:lnTo>
                    <a:lnTo>
                      <a:pt x="34" y="0"/>
                    </a:lnTo>
                    <a:lnTo>
                      <a:pt x="22" y="4"/>
                    </a:lnTo>
                    <a:lnTo>
                      <a:pt x="22" y="12"/>
                    </a:lnTo>
                    <a:lnTo>
                      <a:pt x="22" y="20"/>
                    </a:lnTo>
                    <a:lnTo>
                      <a:pt x="17" y="28"/>
                    </a:lnTo>
                    <a:lnTo>
                      <a:pt x="11" y="36"/>
                    </a:lnTo>
                    <a:lnTo>
                      <a:pt x="11" y="44"/>
                    </a:lnTo>
                    <a:lnTo>
                      <a:pt x="22" y="49"/>
                    </a:lnTo>
                    <a:lnTo>
                      <a:pt x="22" y="57"/>
                    </a:lnTo>
                    <a:lnTo>
                      <a:pt x="17" y="65"/>
                    </a:lnTo>
                    <a:lnTo>
                      <a:pt x="5" y="69"/>
                    </a:lnTo>
                    <a:lnTo>
                      <a:pt x="5" y="77"/>
                    </a:lnTo>
                    <a:lnTo>
                      <a:pt x="5" y="85"/>
                    </a:lnTo>
                    <a:lnTo>
                      <a:pt x="17" y="89"/>
                    </a:lnTo>
                    <a:lnTo>
                      <a:pt x="22" y="98"/>
                    </a:lnTo>
                    <a:lnTo>
                      <a:pt x="17" y="106"/>
                    </a:lnTo>
                    <a:lnTo>
                      <a:pt x="11" y="114"/>
                    </a:lnTo>
                    <a:lnTo>
                      <a:pt x="0" y="118"/>
                    </a:lnTo>
                    <a:lnTo>
                      <a:pt x="0" y="126"/>
                    </a:lnTo>
                    <a:lnTo>
                      <a:pt x="11" y="134"/>
                    </a:lnTo>
                    <a:lnTo>
                      <a:pt x="17" y="143"/>
                    </a:lnTo>
                    <a:lnTo>
                      <a:pt x="5" y="147"/>
                    </a:lnTo>
                    <a:lnTo>
                      <a:pt x="5" y="155"/>
                    </a:lnTo>
                    <a:lnTo>
                      <a:pt x="5" y="163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22" y="179"/>
                    </a:lnTo>
                    <a:lnTo>
                      <a:pt x="34" y="184"/>
                    </a:lnTo>
                    <a:lnTo>
                      <a:pt x="45" y="184"/>
                    </a:lnTo>
                    <a:lnTo>
                      <a:pt x="57" y="184"/>
                    </a:lnTo>
                    <a:lnTo>
                      <a:pt x="57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5" name="Rectangle 33">
                <a:extLst>
                  <a:ext uri="{FF2B5EF4-FFF2-40B4-BE49-F238E27FC236}">
                    <a16:creationId xmlns:a16="http://schemas.microsoft.com/office/drawing/2014/main" id="{C346EBB4-AF9F-F4F5-F0B5-A563924F1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304"/>
                <a:ext cx="68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109" name="Group 37">
              <a:extLst>
                <a:ext uri="{FF2B5EF4-FFF2-40B4-BE49-F238E27FC236}">
                  <a16:creationId xmlns:a16="http://schemas.microsoft.com/office/drawing/2014/main" id="{D3D60C95-BBAC-3B4D-D8ED-E5C808D0B9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3" y="1308"/>
              <a:ext cx="602" cy="212"/>
              <a:chOff x="2293" y="1308"/>
              <a:chExt cx="602" cy="212"/>
            </a:xfrm>
          </p:grpSpPr>
          <p:sp>
            <p:nvSpPr>
              <p:cNvPr id="3107" name="AutoShape 35">
                <a:extLst>
                  <a:ext uri="{FF2B5EF4-FFF2-40B4-BE49-F238E27FC236}">
                    <a16:creationId xmlns:a16="http://schemas.microsoft.com/office/drawing/2014/main" id="{4070EF0A-328C-4B20-BE87-E5D7B312C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363"/>
                <a:ext cx="196" cy="88"/>
              </a:xfrm>
              <a:prstGeom prst="rightArrow">
                <a:avLst>
                  <a:gd name="adj1" fmla="val 50000"/>
                  <a:gd name="adj2" fmla="val 111374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7961" dir="2700000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08" name="Rectangle 36">
                <a:extLst>
                  <a:ext uri="{FF2B5EF4-FFF2-40B4-BE49-F238E27FC236}">
                    <a16:creationId xmlns:a16="http://schemas.microsoft.com/office/drawing/2014/main" id="{784D051D-4D13-B8A0-C1E3-7F7C39477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5" y="1308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/>
                  <a:t>19 other</a:t>
                </a:r>
                <a:br>
                  <a:rPr lang="en-US" altLang="en-US"/>
                </a:br>
                <a:r>
                  <a:rPr lang="en-US" altLang="en-US"/>
                  <a:t>elements</a:t>
                </a:r>
              </a:p>
            </p:txBody>
          </p:sp>
        </p:grpSp>
      </p:grpSp>
      <p:sp>
        <p:nvSpPr>
          <p:cNvPr id="3111" name="Rectangle 39">
            <a:extLst>
              <a:ext uri="{FF2B5EF4-FFF2-40B4-BE49-F238E27FC236}">
                <a16:creationId xmlns:a16="http://schemas.microsoft.com/office/drawing/2014/main" id="{0394EEEE-745F-7578-677E-6EE7DC260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809875"/>
            <a:ext cx="4208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PERFORM VARYING CountyNum FROM 1 BY 1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        UNTIL CountyName(CountyNum) = County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END-PERFORM</a:t>
            </a:r>
            <a:br>
              <a:rPr lang="en-US" altLang="en-US" sz="1200" b="1"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ADD TaxPaid TO CountyTax(CountyNum)</a:t>
            </a:r>
          </a:p>
        </p:txBody>
      </p:sp>
      <p:sp>
        <p:nvSpPr>
          <p:cNvPr id="3112" name="Rectangle 40">
            <a:extLst>
              <a:ext uri="{FF2B5EF4-FFF2-40B4-BE49-F238E27FC236}">
                <a16:creationId xmlns:a16="http://schemas.microsoft.com/office/drawing/2014/main" id="{5FF41628-C960-DF1F-76FC-C9CCF0287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03200"/>
            <a:ext cx="6921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Rectangle 41">
            <a:extLst>
              <a:ext uri="{FF2B5EF4-FFF2-40B4-BE49-F238E27FC236}">
                <a16:creationId xmlns:a16="http://schemas.microsoft.com/office/drawing/2014/main" id="{6DA9B6EE-E9BA-06F6-6A33-29F4E3FFA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4188"/>
            <a:ext cx="8699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CountyNum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22F2D1-D92E-A203-8655-4030B3A39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Carlow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8AFF159-1335-5106-8F31-99EC1549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Cavan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92C7CEA-8B91-948B-79C6-C0776B7A6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99599D47-E806-8DD2-771A-E65752A62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Cork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01FBBA5B-52BE-66DB-6A2E-0A273EF8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Donegal</a:t>
            </a:r>
          </a:p>
        </p:txBody>
      </p:sp>
      <p:sp>
        <p:nvSpPr>
          <p:cNvPr id="4103" name="Freeform 7">
            <a:extLst>
              <a:ext uri="{FF2B5EF4-FFF2-40B4-BE49-F238E27FC236}">
                <a16:creationId xmlns:a16="http://schemas.microsoft.com/office/drawing/2014/main" id="{B0528E91-8CA4-AB48-FFDE-5FCB98AF83D1}"/>
              </a:ext>
            </a:extLst>
          </p:cNvPr>
          <p:cNvSpPr>
            <a:spLocks/>
          </p:cNvSpPr>
          <p:nvPr/>
        </p:nvSpPr>
        <p:spPr bwMode="auto">
          <a:xfrm>
            <a:off x="4111625" y="1098550"/>
            <a:ext cx="119063" cy="325438"/>
          </a:xfrm>
          <a:custGeom>
            <a:avLst/>
            <a:gdLst>
              <a:gd name="T0" fmla="*/ 74 w 75"/>
              <a:gd name="T1" fmla="*/ 0 h 205"/>
              <a:gd name="T2" fmla="*/ 63 w 75"/>
              <a:gd name="T3" fmla="*/ 0 h 205"/>
              <a:gd name="T4" fmla="*/ 52 w 75"/>
              <a:gd name="T5" fmla="*/ 0 h 205"/>
              <a:gd name="T6" fmla="*/ 47 w 75"/>
              <a:gd name="T7" fmla="*/ 0 h 205"/>
              <a:gd name="T8" fmla="*/ 42 w 75"/>
              <a:gd name="T9" fmla="*/ 0 h 205"/>
              <a:gd name="T10" fmla="*/ 37 w 75"/>
              <a:gd name="T11" fmla="*/ 0 h 205"/>
              <a:gd name="T12" fmla="*/ 31 w 75"/>
              <a:gd name="T13" fmla="*/ 0 h 205"/>
              <a:gd name="T14" fmla="*/ 26 w 75"/>
              <a:gd name="T15" fmla="*/ 0 h 205"/>
              <a:gd name="T16" fmla="*/ 26 w 75"/>
              <a:gd name="T17" fmla="*/ 15 h 205"/>
              <a:gd name="T18" fmla="*/ 15 w 75"/>
              <a:gd name="T19" fmla="*/ 18 h 205"/>
              <a:gd name="T20" fmla="*/ 5 w 75"/>
              <a:gd name="T21" fmla="*/ 18 h 205"/>
              <a:gd name="T22" fmla="*/ 5 w 75"/>
              <a:gd name="T23" fmla="*/ 26 h 205"/>
              <a:gd name="T24" fmla="*/ 15 w 75"/>
              <a:gd name="T25" fmla="*/ 30 h 205"/>
              <a:gd name="T26" fmla="*/ 21 w 75"/>
              <a:gd name="T27" fmla="*/ 37 h 205"/>
              <a:gd name="T28" fmla="*/ 21 w 75"/>
              <a:gd name="T29" fmla="*/ 45 h 205"/>
              <a:gd name="T30" fmla="*/ 10 w 75"/>
              <a:gd name="T31" fmla="*/ 52 h 205"/>
              <a:gd name="T32" fmla="*/ 0 w 75"/>
              <a:gd name="T33" fmla="*/ 56 h 205"/>
              <a:gd name="T34" fmla="*/ 0 w 75"/>
              <a:gd name="T35" fmla="*/ 64 h 205"/>
              <a:gd name="T36" fmla="*/ 5 w 75"/>
              <a:gd name="T37" fmla="*/ 71 h 205"/>
              <a:gd name="T38" fmla="*/ 15 w 75"/>
              <a:gd name="T39" fmla="*/ 75 h 205"/>
              <a:gd name="T40" fmla="*/ 21 w 75"/>
              <a:gd name="T41" fmla="*/ 83 h 205"/>
              <a:gd name="T42" fmla="*/ 31 w 75"/>
              <a:gd name="T43" fmla="*/ 86 h 205"/>
              <a:gd name="T44" fmla="*/ 31 w 75"/>
              <a:gd name="T45" fmla="*/ 94 h 205"/>
              <a:gd name="T46" fmla="*/ 26 w 75"/>
              <a:gd name="T47" fmla="*/ 102 h 205"/>
              <a:gd name="T48" fmla="*/ 15 w 75"/>
              <a:gd name="T49" fmla="*/ 102 h 205"/>
              <a:gd name="T50" fmla="*/ 5 w 75"/>
              <a:gd name="T51" fmla="*/ 109 h 205"/>
              <a:gd name="T52" fmla="*/ 5 w 75"/>
              <a:gd name="T53" fmla="*/ 117 h 205"/>
              <a:gd name="T54" fmla="*/ 10 w 75"/>
              <a:gd name="T55" fmla="*/ 124 h 205"/>
              <a:gd name="T56" fmla="*/ 21 w 75"/>
              <a:gd name="T57" fmla="*/ 128 h 205"/>
              <a:gd name="T58" fmla="*/ 26 w 75"/>
              <a:gd name="T59" fmla="*/ 136 h 205"/>
              <a:gd name="T60" fmla="*/ 26 w 75"/>
              <a:gd name="T61" fmla="*/ 143 h 205"/>
              <a:gd name="T62" fmla="*/ 15 w 75"/>
              <a:gd name="T63" fmla="*/ 147 h 205"/>
              <a:gd name="T64" fmla="*/ 5 w 75"/>
              <a:gd name="T65" fmla="*/ 151 h 205"/>
              <a:gd name="T66" fmla="*/ 0 w 75"/>
              <a:gd name="T67" fmla="*/ 158 h 205"/>
              <a:gd name="T68" fmla="*/ 0 w 75"/>
              <a:gd name="T69" fmla="*/ 166 h 205"/>
              <a:gd name="T70" fmla="*/ 10 w 75"/>
              <a:gd name="T71" fmla="*/ 170 h 205"/>
              <a:gd name="T72" fmla="*/ 10 w 75"/>
              <a:gd name="T73" fmla="*/ 177 h 205"/>
              <a:gd name="T74" fmla="*/ 10 w 75"/>
              <a:gd name="T75" fmla="*/ 185 h 205"/>
              <a:gd name="T76" fmla="*/ 21 w 75"/>
              <a:gd name="T77" fmla="*/ 185 h 205"/>
              <a:gd name="T78" fmla="*/ 26 w 75"/>
              <a:gd name="T79" fmla="*/ 192 h 205"/>
              <a:gd name="T80" fmla="*/ 63 w 75"/>
              <a:gd name="T81" fmla="*/ 204 h 205"/>
              <a:gd name="T82" fmla="*/ 68 w 75"/>
              <a:gd name="T83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" h="205">
                <a:moveTo>
                  <a:pt x="74" y="0"/>
                </a:moveTo>
                <a:lnTo>
                  <a:pt x="63" y="0"/>
                </a:lnTo>
                <a:lnTo>
                  <a:pt x="52" y="0"/>
                </a:lnTo>
                <a:lnTo>
                  <a:pt x="47" y="0"/>
                </a:lnTo>
                <a:lnTo>
                  <a:pt x="42" y="0"/>
                </a:lnTo>
                <a:lnTo>
                  <a:pt x="37" y="0"/>
                </a:lnTo>
                <a:lnTo>
                  <a:pt x="31" y="0"/>
                </a:lnTo>
                <a:lnTo>
                  <a:pt x="26" y="0"/>
                </a:lnTo>
                <a:lnTo>
                  <a:pt x="26" y="15"/>
                </a:lnTo>
                <a:lnTo>
                  <a:pt x="15" y="18"/>
                </a:lnTo>
                <a:lnTo>
                  <a:pt x="5" y="18"/>
                </a:lnTo>
                <a:lnTo>
                  <a:pt x="5" y="26"/>
                </a:lnTo>
                <a:lnTo>
                  <a:pt x="15" y="30"/>
                </a:lnTo>
                <a:lnTo>
                  <a:pt x="21" y="37"/>
                </a:lnTo>
                <a:lnTo>
                  <a:pt x="21" y="45"/>
                </a:lnTo>
                <a:lnTo>
                  <a:pt x="10" y="52"/>
                </a:lnTo>
                <a:lnTo>
                  <a:pt x="0" y="56"/>
                </a:lnTo>
                <a:lnTo>
                  <a:pt x="0" y="64"/>
                </a:lnTo>
                <a:lnTo>
                  <a:pt x="5" y="71"/>
                </a:lnTo>
                <a:lnTo>
                  <a:pt x="15" y="75"/>
                </a:lnTo>
                <a:lnTo>
                  <a:pt x="21" y="83"/>
                </a:lnTo>
                <a:lnTo>
                  <a:pt x="31" y="86"/>
                </a:lnTo>
                <a:lnTo>
                  <a:pt x="31" y="94"/>
                </a:lnTo>
                <a:lnTo>
                  <a:pt x="26" y="102"/>
                </a:lnTo>
                <a:lnTo>
                  <a:pt x="15" y="102"/>
                </a:lnTo>
                <a:lnTo>
                  <a:pt x="5" y="109"/>
                </a:lnTo>
                <a:lnTo>
                  <a:pt x="5" y="117"/>
                </a:lnTo>
                <a:lnTo>
                  <a:pt x="10" y="124"/>
                </a:lnTo>
                <a:lnTo>
                  <a:pt x="21" y="128"/>
                </a:lnTo>
                <a:lnTo>
                  <a:pt x="26" y="136"/>
                </a:lnTo>
                <a:lnTo>
                  <a:pt x="26" y="143"/>
                </a:lnTo>
                <a:lnTo>
                  <a:pt x="15" y="147"/>
                </a:lnTo>
                <a:lnTo>
                  <a:pt x="5" y="151"/>
                </a:lnTo>
                <a:lnTo>
                  <a:pt x="0" y="158"/>
                </a:lnTo>
                <a:lnTo>
                  <a:pt x="0" y="166"/>
                </a:lnTo>
                <a:lnTo>
                  <a:pt x="10" y="170"/>
                </a:lnTo>
                <a:lnTo>
                  <a:pt x="10" y="177"/>
                </a:lnTo>
                <a:lnTo>
                  <a:pt x="10" y="185"/>
                </a:lnTo>
                <a:lnTo>
                  <a:pt x="21" y="185"/>
                </a:lnTo>
                <a:lnTo>
                  <a:pt x="26" y="192"/>
                </a:lnTo>
                <a:lnTo>
                  <a:pt x="63" y="204"/>
                </a:lnTo>
                <a:lnTo>
                  <a:pt x="68" y="20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5CE88111-30BB-C1A4-DAF1-20AD1AEBF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1054100"/>
            <a:ext cx="177800" cy="393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1FB55A7E-F4FE-01C3-33FA-F1E2582C2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58913"/>
            <a:ext cx="38433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200" b="1">
                <a:latin typeface="Courier New" panose="02070309020205020404" pitchFamily="49" charset="0"/>
              </a:rPr>
              <a:t>        2        3        4         5</a:t>
            </a:r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0C89901C-7ADF-42C3-9274-7328F7797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163638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B67F6AA9-E999-B0AA-702E-88AA8EBD8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55663"/>
            <a:ext cx="1123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CountyName</a:t>
            </a:r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C9A407C9-B8D3-DE44-AE93-84110E73A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B8437A5C-7C82-BD0E-9E0D-5C1BC67D9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412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595150E6-5BCD-5982-5842-25CBF5DA7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064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9BE1097D-5F8A-280F-266D-E898F121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873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C39106C2-5891-2CE1-2B34-E1B7BD94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87363"/>
            <a:ext cx="6413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</a:t>
            </a: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4E3EB621-2FFD-88F5-51EE-B38F3D075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Rectangle 18">
            <a:extLst>
              <a:ext uri="{FF2B5EF4-FFF2-40B4-BE49-F238E27FC236}">
                <a16:creationId xmlns:a16="http://schemas.microsoft.com/office/drawing/2014/main" id="{C4C73D3C-3FC2-03C6-2741-F7AA66F08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4CE1BD4B-CDF4-512B-607C-F81CEF329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6C2EAB6E-1893-78A4-B7F3-8A6B7FADC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51EA8177-7F54-CABE-2A58-CCBEF32BD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36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grpSp>
        <p:nvGrpSpPr>
          <p:cNvPr id="4134" name="Group 38">
            <a:extLst>
              <a:ext uri="{FF2B5EF4-FFF2-40B4-BE49-F238E27FC236}">
                <a16:creationId xmlns:a16="http://schemas.microsoft.com/office/drawing/2014/main" id="{DEE958E1-1170-4838-3C20-4A98341C65B6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1889125"/>
            <a:ext cx="4430713" cy="685800"/>
            <a:chOff x="104" y="1190"/>
            <a:chExt cx="2791" cy="432"/>
          </a:xfrm>
        </p:grpSpPr>
        <p:sp>
          <p:nvSpPr>
            <p:cNvPr id="4118" name="Rectangle 22">
              <a:extLst>
                <a:ext uri="{FF2B5EF4-FFF2-40B4-BE49-F238E27FC236}">
                  <a16:creationId xmlns:a16="http://schemas.microsoft.com/office/drawing/2014/main" id="{DEDF4408-B144-1269-F330-D535B9D63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" y="1507"/>
              <a:ext cx="2017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0" rIns="92075" bIns="0">
              <a:spAutoFit/>
            </a:bodyPr>
            <a:lstStyle/>
            <a:p>
              <a:r>
                <a:rPr lang="en-US" altLang="en-US" sz="1200" b="1">
                  <a:latin typeface="Courier New" panose="02070309020205020404" pitchFamily="49" charset="0"/>
                </a:rPr>
                <a:t>1    2 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3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4    5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 6    7</a:t>
              </a:r>
            </a:p>
          </p:txBody>
        </p:sp>
        <p:sp>
          <p:nvSpPr>
            <p:cNvPr id="4119" name="Rectangle 23">
              <a:extLst>
                <a:ext uri="{FF2B5EF4-FFF2-40B4-BE49-F238E27FC236}">
                  <a16:creationId xmlns:a16="http://schemas.microsoft.com/office/drawing/2014/main" id="{C8E5F3D3-7AF6-4B80-53A5-6463F5238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1190"/>
              <a:ext cx="49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en-US" sz="1200" b="1">
                  <a:latin typeface="Arial" panose="020B0604020202020204" pitchFamily="34" charset="0"/>
                </a:rPr>
                <a:t>CountyTax</a:t>
              </a:r>
            </a:p>
          </p:txBody>
        </p:sp>
        <p:sp>
          <p:nvSpPr>
            <p:cNvPr id="4120" name="Rectangle 24">
              <a:extLst>
                <a:ext uri="{FF2B5EF4-FFF2-40B4-BE49-F238E27FC236}">
                  <a16:creationId xmlns:a16="http://schemas.microsoft.com/office/drawing/2014/main" id="{6D57C8CC-83AC-31A0-1494-CCE9441B7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Rectangle 25">
              <a:extLst>
                <a:ext uri="{FF2B5EF4-FFF2-40B4-BE49-F238E27FC236}">
                  <a16:creationId xmlns:a16="http://schemas.microsoft.com/office/drawing/2014/main" id="{110BF1C2-F25C-6F00-5DE4-1C248E05A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Rectangle 26">
              <a:extLst>
                <a:ext uri="{FF2B5EF4-FFF2-40B4-BE49-F238E27FC236}">
                  <a16:creationId xmlns:a16="http://schemas.microsoft.com/office/drawing/2014/main" id="{8407E02F-B24E-A0B0-4C86-56CBF16B7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Rectangle 27">
              <a:extLst>
                <a:ext uri="{FF2B5EF4-FFF2-40B4-BE49-F238E27FC236}">
                  <a16:creationId xmlns:a16="http://schemas.microsoft.com/office/drawing/2014/main" id="{1DBFB9EC-8100-90C8-7CA9-B75F9443A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Rectangle 28">
              <a:extLst>
                <a:ext uri="{FF2B5EF4-FFF2-40B4-BE49-F238E27FC236}">
                  <a16:creationId xmlns:a16="http://schemas.microsoft.com/office/drawing/2014/main" id="{6DDDDC3A-74DB-2CCA-8D53-7A582EF53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Rectangle 29">
              <a:extLst>
                <a:ext uri="{FF2B5EF4-FFF2-40B4-BE49-F238E27FC236}">
                  <a16:creationId xmlns:a16="http://schemas.microsoft.com/office/drawing/2014/main" id="{D8648735-2FEB-D406-C24E-B8F26BDB0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Rectangle 30">
              <a:extLst>
                <a:ext uri="{FF2B5EF4-FFF2-40B4-BE49-F238E27FC236}">
                  <a16:creationId xmlns:a16="http://schemas.microsoft.com/office/drawing/2014/main" id="{DD25EFA8-B63F-95F4-4FAF-F8A7CFB54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Rectangle 31">
              <a:extLst>
                <a:ext uri="{FF2B5EF4-FFF2-40B4-BE49-F238E27FC236}">
                  <a16:creationId xmlns:a16="http://schemas.microsoft.com/office/drawing/2014/main" id="{1721CDCC-34FF-1C9F-0372-D2680BA10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1313"/>
              <a:ext cx="2223" cy="17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30" name="Group 34">
              <a:extLst>
                <a:ext uri="{FF2B5EF4-FFF2-40B4-BE49-F238E27FC236}">
                  <a16:creationId xmlns:a16="http://schemas.microsoft.com/office/drawing/2014/main" id="{32D0BB12-474B-DB4F-AB04-49CD130EE4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304"/>
              <a:ext cx="104" cy="200"/>
              <a:chOff x="2248" y="1304"/>
              <a:chExt cx="104" cy="200"/>
            </a:xfrm>
          </p:grpSpPr>
          <p:sp>
            <p:nvSpPr>
              <p:cNvPr id="4128" name="Freeform 32">
                <a:extLst>
                  <a:ext uri="{FF2B5EF4-FFF2-40B4-BE49-F238E27FC236}">
                    <a16:creationId xmlns:a16="http://schemas.microsoft.com/office/drawing/2014/main" id="{C5D759FC-9301-CFA8-56B8-C6A6E1D72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312"/>
                <a:ext cx="58" cy="185"/>
              </a:xfrm>
              <a:custGeom>
                <a:avLst/>
                <a:gdLst>
                  <a:gd name="T0" fmla="*/ 57 w 58"/>
                  <a:gd name="T1" fmla="*/ 0 h 185"/>
                  <a:gd name="T2" fmla="*/ 45 w 58"/>
                  <a:gd name="T3" fmla="*/ 0 h 185"/>
                  <a:gd name="T4" fmla="*/ 34 w 58"/>
                  <a:gd name="T5" fmla="*/ 0 h 185"/>
                  <a:gd name="T6" fmla="*/ 22 w 58"/>
                  <a:gd name="T7" fmla="*/ 4 h 185"/>
                  <a:gd name="T8" fmla="*/ 22 w 58"/>
                  <a:gd name="T9" fmla="*/ 12 h 185"/>
                  <a:gd name="T10" fmla="*/ 22 w 58"/>
                  <a:gd name="T11" fmla="*/ 20 h 185"/>
                  <a:gd name="T12" fmla="*/ 17 w 58"/>
                  <a:gd name="T13" fmla="*/ 28 h 185"/>
                  <a:gd name="T14" fmla="*/ 11 w 58"/>
                  <a:gd name="T15" fmla="*/ 36 h 185"/>
                  <a:gd name="T16" fmla="*/ 11 w 58"/>
                  <a:gd name="T17" fmla="*/ 44 h 185"/>
                  <a:gd name="T18" fmla="*/ 22 w 58"/>
                  <a:gd name="T19" fmla="*/ 49 h 185"/>
                  <a:gd name="T20" fmla="*/ 22 w 58"/>
                  <a:gd name="T21" fmla="*/ 57 h 185"/>
                  <a:gd name="T22" fmla="*/ 17 w 58"/>
                  <a:gd name="T23" fmla="*/ 65 h 185"/>
                  <a:gd name="T24" fmla="*/ 5 w 58"/>
                  <a:gd name="T25" fmla="*/ 69 h 185"/>
                  <a:gd name="T26" fmla="*/ 5 w 58"/>
                  <a:gd name="T27" fmla="*/ 77 h 185"/>
                  <a:gd name="T28" fmla="*/ 5 w 58"/>
                  <a:gd name="T29" fmla="*/ 85 h 185"/>
                  <a:gd name="T30" fmla="*/ 17 w 58"/>
                  <a:gd name="T31" fmla="*/ 89 h 185"/>
                  <a:gd name="T32" fmla="*/ 22 w 58"/>
                  <a:gd name="T33" fmla="*/ 98 h 185"/>
                  <a:gd name="T34" fmla="*/ 17 w 58"/>
                  <a:gd name="T35" fmla="*/ 106 h 185"/>
                  <a:gd name="T36" fmla="*/ 11 w 58"/>
                  <a:gd name="T37" fmla="*/ 114 h 185"/>
                  <a:gd name="T38" fmla="*/ 0 w 58"/>
                  <a:gd name="T39" fmla="*/ 118 h 185"/>
                  <a:gd name="T40" fmla="*/ 0 w 58"/>
                  <a:gd name="T41" fmla="*/ 126 h 185"/>
                  <a:gd name="T42" fmla="*/ 11 w 58"/>
                  <a:gd name="T43" fmla="*/ 134 h 185"/>
                  <a:gd name="T44" fmla="*/ 17 w 58"/>
                  <a:gd name="T45" fmla="*/ 143 h 185"/>
                  <a:gd name="T46" fmla="*/ 5 w 58"/>
                  <a:gd name="T47" fmla="*/ 147 h 185"/>
                  <a:gd name="T48" fmla="*/ 5 w 58"/>
                  <a:gd name="T49" fmla="*/ 155 h 185"/>
                  <a:gd name="T50" fmla="*/ 5 w 58"/>
                  <a:gd name="T51" fmla="*/ 163 h 185"/>
                  <a:gd name="T52" fmla="*/ 17 w 58"/>
                  <a:gd name="T53" fmla="*/ 163 h 185"/>
                  <a:gd name="T54" fmla="*/ 17 w 58"/>
                  <a:gd name="T55" fmla="*/ 171 h 185"/>
                  <a:gd name="T56" fmla="*/ 22 w 58"/>
                  <a:gd name="T57" fmla="*/ 179 h 185"/>
                  <a:gd name="T58" fmla="*/ 34 w 58"/>
                  <a:gd name="T59" fmla="*/ 184 h 185"/>
                  <a:gd name="T60" fmla="*/ 45 w 58"/>
                  <a:gd name="T61" fmla="*/ 184 h 185"/>
                  <a:gd name="T62" fmla="*/ 57 w 58"/>
                  <a:gd name="T63" fmla="*/ 184 h 185"/>
                  <a:gd name="T64" fmla="*/ 57 w 58"/>
                  <a:gd name="T6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185">
                    <a:moveTo>
                      <a:pt x="57" y="0"/>
                    </a:moveTo>
                    <a:lnTo>
                      <a:pt x="45" y="0"/>
                    </a:lnTo>
                    <a:lnTo>
                      <a:pt x="34" y="0"/>
                    </a:lnTo>
                    <a:lnTo>
                      <a:pt x="22" y="4"/>
                    </a:lnTo>
                    <a:lnTo>
                      <a:pt x="22" y="12"/>
                    </a:lnTo>
                    <a:lnTo>
                      <a:pt x="22" y="20"/>
                    </a:lnTo>
                    <a:lnTo>
                      <a:pt x="17" y="28"/>
                    </a:lnTo>
                    <a:lnTo>
                      <a:pt x="11" y="36"/>
                    </a:lnTo>
                    <a:lnTo>
                      <a:pt x="11" y="44"/>
                    </a:lnTo>
                    <a:lnTo>
                      <a:pt x="22" y="49"/>
                    </a:lnTo>
                    <a:lnTo>
                      <a:pt x="22" y="57"/>
                    </a:lnTo>
                    <a:lnTo>
                      <a:pt x="17" y="65"/>
                    </a:lnTo>
                    <a:lnTo>
                      <a:pt x="5" y="69"/>
                    </a:lnTo>
                    <a:lnTo>
                      <a:pt x="5" y="77"/>
                    </a:lnTo>
                    <a:lnTo>
                      <a:pt x="5" y="85"/>
                    </a:lnTo>
                    <a:lnTo>
                      <a:pt x="17" y="89"/>
                    </a:lnTo>
                    <a:lnTo>
                      <a:pt x="22" y="98"/>
                    </a:lnTo>
                    <a:lnTo>
                      <a:pt x="17" y="106"/>
                    </a:lnTo>
                    <a:lnTo>
                      <a:pt x="11" y="114"/>
                    </a:lnTo>
                    <a:lnTo>
                      <a:pt x="0" y="118"/>
                    </a:lnTo>
                    <a:lnTo>
                      <a:pt x="0" y="126"/>
                    </a:lnTo>
                    <a:lnTo>
                      <a:pt x="11" y="134"/>
                    </a:lnTo>
                    <a:lnTo>
                      <a:pt x="17" y="143"/>
                    </a:lnTo>
                    <a:lnTo>
                      <a:pt x="5" y="147"/>
                    </a:lnTo>
                    <a:lnTo>
                      <a:pt x="5" y="155"/>
                    </a:lnTo>
                    <a:lnTo>
                      <a:pt x="5" y="163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22" y="179"/>
                    </a:lnTo>
                    <a:lnTo>
                      <a:pt x="34" y="184"/>
                    </a:lnTo>
                    <a:lnTo>
                      <a:pt x="45" y="184"/>
                    </a:lnTo>
                    <a:lnTo>
                      <a:pt x="57" y="184"/>
                    </a:lnTo>
                    <a:lnTo>
                      <a:pt x="57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9" name="Rectangle 33">
                <a:extLst>
                  <a:ext uri="{FF2B5EF4-FFF2-40B4-BE49-F238E27FC236}">
                    <a16:creationId xmlns:a16="http://schemas.microsoft.com/office/drawing/2014/main" id="{800D3DEF-2F18-DAB2-6400-2991BE3BE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304"/>
                <a:ext cx="68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33" name="Group 37">
              <a:extLst>
                <a:ext uri="{FF2B5EF4-FFF2-40B4-BE49-F238E27FC236}">
                  <a16:creationId xmlns:a16="http://schemas.microsoft.com/office/drawing/2014/main" id="{1F21F6B7-2687-1298-0894-83E06AFACD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3" y="1308"/>
              <a:ext cx="602" cy="212"/>
              <a:chOff x="2293" y="1308"/>
              <a:chExt cx="602" cy="212"/>
            </a:xfrm>
          </p:grpSpPr>
          <p:sp>
            <p:nvSpPr>
              <p:cNvPr id="4131" name="AutoShape 35">
                <a:extLst>
                  <a:ext uri="{FF2B5EF4-FFF2-40B4-BE49-F238E27FC236}">
                    <a16:creationId xmlns:a16="http://schemas.microsoft.com/office/drawing/2014/main" id="{52153279-7822-839B-0585-803C66AB3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363"/>
                <a:ext cx="196" cy="88"/>
              </a:xfrm>
              <a:prstGeom prst="rightArrow">
                <a:avLst>
                  <a:gd name="adj1" fmla="val 50000"/>
                  <a:gd name="adj2" fmla="val 111374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7961" dir="2700000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32" name="Rectangle 36">
                <a:extLst>
                  <a:ext uri="{FF2B5EF4-FFF2-40B4-BE49-F238E27FC236}">
                    <a16:creationId xmlns:a16="http://schemas.microsoft.com/office/drawing/2014/main" id="{F6C8F168-26B5-B2C1-3EA4-54C0E30A4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5" y="1308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/>
                  <a:t>19 other</a:t>
                </a:r>
                <a:br>
                  <a:rPr lang="en-US" altLang="en-US"/>
                </a:br>
                <a:r>
                  <a:rPr lang="en-US" altLang="en-US"/>
                  <a:t>elements</a:t>
                </a:r>
              </a:p>
            </p:txBody>
          </p:sp>
        </p:grpSp>
      </p:grpSp>
      <p:sp>
        <p:nvSpPr>
          <p:cNvPr id="4135" name="Rectangle 39">
            <a:extLst>
              <a:ext uri="{FF2B5EF4-FFF2-40B4-BE49-F238E27FC236}">
                <a16:creationId xmlns:a16="http://schemas.microsoft.com/office/drawing/2014/main" id="{FAA1DB8A-273F-2449-9688-BF6E0FBD4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809875"/>
            <a:ext cx="4208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PERFORM VARYING CountyNum FROM 1 BY 1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UNTIL CountyName(CountyNum) = County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END-PERFORM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ADD TaxPaid TO CountyTax(CountyNum)</a:t>
            </a:r>
          </a:p>
        </p:txBody>
      </p:sp>
      <p:sp>
        <p:nvSpPr>
          <p:cNvPr id="4136" name="Rectangle 40">
            <a:extLst>
              <a:ext uri="{FF2B5EF4-FFF2-40B4-BE49-F238E27FC236}">
                <a16:creationId xmlns:a16="http://schemas.microsoft.com/office/drawing/2014/main" id="{1B536F9B-19BA-28CE-0766-CD1371CF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03200"/>
            <a:ext cx="6921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37" name="Rectangle 41">
            <a:extLst>
              <a:ext uri="{FF2B5EF4-FFF2-40B4-BE49-F238E27FC236}">
                <a16:creationId xmlns:a16="http://schemas.microsoft.com/office/drawing/2014/main" id="{D0D6F0C9-EFC9-6E9B-E7EE-8FC6926F0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4188"/>
            <a:ext cx="8699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CountyNum</a:t>
            </a:r>
          </a:p>
        </p:txBody>
      </p:sp>
      <p:sp>
        <p:nvSpPr>
          <p:cNvPr id="4138" name="Oval 42">
            <a:extLst>
              <a:ext uri="{FF2B5EF4-FFF2-40B4-BE49-F238E27FC236}">
                <a16:creationId xmlns:a16="http://schemas.microsoft.com/office/drawing/2014/main" id="{04CCC18A-B52A-75C7-B6A0-61E2504B3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882900"/>
            <a:ext cx="254000" cy="520700"/>
          </a:xfrm>
          <a:prstGeom prst="ellips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9" name="Line 43">
            <a:extLst>
              <a:ext uri="{FF2B5EF4-FFF2-40B4-BE49-F238E27FC236}">
                <a16:creationId xmlns:a16="http://schemas.microsoft.com/office/drawing/2014/main" id="{2F54C2E9-689D-DBEF-9C46-825078348B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688" y="3271838"/>
            <a:ext cx="33337" cy="762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0" name="Line 44">
            <a:extLst>
              <a:ext uri="{FF2B5EF4-FFF2-40B4-BE49-F238E27FC236}">
                <a16:creationId xmlns:a16="http://schemas.microsoft.com/office/drawing/2014/main" id="{DEF8E26E-AB2C-3504-73DD-249E2B23AD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713" y="2932113"/>
            <a:ext cx="28575" cy="71437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41" name="Line 45">
            <a:extLst>
              <a:ext uri="{FF2B5EF4-FFF2-40B4-BE49-F238E27FC236}">
                <a16:creationId xmlns:a16="http://schemas.microsoft.com/office/drawing/2014/main" id="{65F896DB-DB5A-064D-4B34-A87BAE19C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750" y="1352550"/>
            <a:ext cx="5715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B390614-4138-0A2C-4DEB-2B0AAEB65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Carlow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E6D183F-BA7A-6624-CD31-39690353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Cavan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5692757-B5C6-9A96-9FE5-39B95201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7F49A87-69F7-77B3-4785-75C527654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Cork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3EF6B4D8-8647-793F-B051-194D0306D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Donegal</a:t>
            </a:r>
          </a:p>
        </p:txBody>
      </p:sp>
      <p:sp>
        <p:nvSpPr>
          <p:cNvPr id="5127" name="Freeform 7">
            <a:extLst>
              <a:ext uri="{FF2B5EF4-FFF2-40B4-BE49-F238E27FC236}">
                <a16:creationId xmlns:a16="http://schemas.microsoft.com/office/drawing/2014/main" id="{414DAA15-E63A-7BF0-06D9-2C6C87D9D385}"/>
              </a:ext>
            </a:extLst>
          </p:cNvPr>
          <p:cNvSpPr>
            <a:spLocks/>
          </p:cNvSpPr>
          <p:nvPr/>
        </p:nvSpPr>
        <p:spPr bwMode="auto">
          <a:xfrm>
            <a:off x="4111625" y="1098550"/>
            <a:ext cx="119063" cy="325438"/>
          </a:xfrm>
          <a:custGeom>
            <a:avLst/>
            <a:gdLst>
              <a:gd name="T0" fmla="*/ 74 w 75"/>
              <a:gd name="T1" fmla="*/ 0 h 205"/>
              <a:gd name="T2" fmla="*/ 63 w 75"/>
              <a:gd name="T3" fmla="*/ 0 h 205"/>
              <a:gd name="T4" fmla="*/ 52 w 75"/>
              <a:gd name="T5" fmla="*/ 0 h 205"/>
              <a:gd name="T6" fmla="*/ 47 w 75"/>
              <a:gd name="T7" fmla="*/ 0 h 205"/>
              <a:gd name="T8" fmla="*/ 42 w 75"/>
              <a:gd name="T9" fmla="*/ 0 h 205"/>
              <a:gd name="T10" fmla="*/ 37 w 75"/>
              <a:gd name="T11" fmla="*/ 0 h 205"/>
              <a:gd name="T12" fmla="*/ 31 w 75"/>
              <a:gd name="T13" fmla="*/ 0 h 205"/>
              <a:gd name="T14" fmla="*/ 26 w 75"/>
              <a:gd name="T15" fmla="*/ 0 h 205"/>
              <a:gd name="T16" fmla="*/ 26 w 75"/>
              <a:gd name="T17" fmla="*/ 15 h 205"/>
              <a:gd name="T18" fmla="*/ 15 w 75"/>
              <a:gd name="T19" fmla="*/ 18 h 205"/>
              <a:gd name="T20" fmla="*/ 5 w 75"/>
              <a:gd name="T21" fmla="*/ 18 h 205"/>
              <a:gd name="T22" fmla="*/ 5 w 75"/>
              <a:gd name="T23" fmla="*/ 26 h 205"/>
              <a:gd name="T24" fmla="*/ 15 w 75"/>
              <a:gd name="T25" fmla="*/ 30 h 205"/>
              <a:gd name="T26" fmla="*/ 21 w 75"/>
              <a:gd name="T27" fmla="*/ 37 h 205"/>
              <a:gd name="T28" fmla="*/ 21 w 75"/>
              <a:gd name="T29" fmla="*/ 45 h 205"/>
              <a:gd name="T30" fmla="*/ 10 w 75"/>
              <a:gd name="T31" fmla="*/ 52 h 205"/>
              <a:gd name="T32" fmla="*/ 0 w 75"/>
              <a:gd name="T33" fmla="*/ 56 h 205"/>
              <a:gd name="T34" fmla="*/ 0 w 75"/>
              <a:gd name="T35" fmla="*/ 64 h 205"/>
              <a:gd name="T36" fmla="*/ 5 w 75"/>
              <a:gd name="T37" fmla="*/ 71 h 205"/>
              <a:gd name="T38" fmla="*/ 15 w 75"/>
              <a:gd name="T39" fmla="*/ 75 h 205"/>
              <a:gd name="T40" fmla="*/ 21 w 75"/>
              <a:gd name="T41" fmla="*/ 83 h 205"/>
              <a:gd name="T42" fmla="*/ 31 w 75"/>
              <a:gd name="T43" fmla="*/ 86 h 205"/>
              <a:gd name="T44" fmla="*/ 31 w 75"/>
              <a:gd name="T45" fmla="*/ 94 h 205"/>
              <a:gd name="T46" fmla="*/ 26 w 75"/>
              <a:gd name="T47" fmla="*/ 102 h 205"/>
              <a:gd name="T48" fmla="*/ 15 w 75"/>
              <a:gd name="T49" fmla="*/ 102 h 205"/>
              <a:gd name="T50" fmla="*/ 5 w 75"/>
              <a:gd name="T51" fmla="*/ 109 h 205"/>
              <a:gd name="T52" fmla="*/ 5 w 75"/>
              <a:gd name="T53" fmla="*/ 117 h 205"/>
              <a:gd name="T54" fmla="*/ 10 w 75"/>
              <a:gd name="T55" fmla="*/ 124 h 205"/>
              <a:gd name="T56" fmla="*/ 21 w 75"/>
              <a:gd name="T57" fmla="*/ 128 h 205"/>
              <a:gd name="T58" fmla="*/ 26 w 75"/>
              <a:gd name="T59" fmla="*/ 136 h 205"/>
              <a:gd name="T60" fmla="*/ 26 w 75"/>
              <a:gd name="T61" fmla="*/ 143 h 205"/>
              <a:gd name="T62" fmla="*/ 15 w 75"/>
              <a:gd name="T63" fmla="*/ 147 h 205"/>
              <a:gd name="T64" fmla="*/ 5 w 75"/>
              <a:gd name="T65" fmla="*/ 151 h 205"/>
              <a:gd name="T66" fmla="*/ 0 w 75"/>
              <a:gd name="T67" fmla="*/ 158 h 205"/>
              <a:gd name="T68" fmla="*/ 0 w 75"/>
              <a:gd name="T69" fmla="*/ 166 h 205"/>
              <a:gd name="T70" fmla="*/ 10 w 75"/>
              <a:gd name="T71" fmla="*/ 170 h 205"/>
              <a:gd name="T72" fmla="*/ 10 w 75"/>
              <a:gd name="T73" fmla="*/ 177 h 205"/>
              <a:gd name="T74" fmla="*/ 10 w 75"/>
              <a:gd name="T75" fmla="*/ 185 h 205"/>
              <a:gd name="T76" fmla="*/ 21 w 75"/>
              <a:gd name="T77" fmla="*/ 185 h 205"/>
              <a:gd name="T78" fmla="*/ 26 w 75"/>
              <a:gd name="T79" fmla="*/ 192 h 205"/>
              <a:gd name="T80" fmla="*/ 63 w 75"/>
              <a:gd name="T81" fmla="*/ 204 h 205"/>
              <a:gd name="T82" fmla="*/ 68 w 75"/>
              <a:gd name="T83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" h="205">
                <a:moveTo>
                  <a:pt x="74" y="0"/>
                </a:moveTo>
                <a:lnTo>
                  <a:pt x="63" y="0"/>
                </a:lnTo>
                <a:lnTo>
                  <a:pt x="52" y="0"/>
                </a:lnTo>
                <a:lnTo>
                  <a:pt x="47" y="0"/>
                </a:lnTo>
                <a:lnTo>
                  <a:pt x="42" y="0"/>
                </a:lnTo>
                <a:lnTo>
                  <a:pt x="37" y="0"/>
                </a:lnTo>
                <a:lnTo>
                  <a:pt x="31" y="0"/>
                </a:lnTo>
                <a:lnTo>
                  <a:pt x="26" y="0"/>
                </a:lnTo>
                <a:lnTo>
                  <a:pt x="26" y="15"/>
                </a:lnTo>
                <a:lnTo>
                  <a:pt x="15" y="18"/>
                </a:lnTo>
                <a:lnTo>
                  <a:pt x="5" y="18"/>
                </a:lnTo>
                <a:lnTo>
                  <a:pt x="5" y="26"/>
                </a:lnTo>
                <a:lnTo>
                  <a:pt x="15" y="30"/>
                </a:lnTo>
                <a:lnTo>
                  <a:pt x="21" y="37"/>
                </a:lnTo>
                <a:lnTo>
                  <a:pt x="21" y="45"/>
                </a:lnTo>
                <a:lnTo>
                  <a:pt x="10" y="52"/>
                </a:lnTo>
                <a:lnTo>
                  <a:pt x="0" y="56"/>
                </a:lnTo>
                <a:lnTo>
                  <a:pt x="0" y="64"/>
                </a:lnTo>
                <a:lnTo>
                  <a:pt x="5" y="71"/>
                </a:lnTo>
                <a:lnTo>
                  <a:pt x="15" y="75"/>
                </a:lnTo>
                <a:lnTo>
                  <a:pt x="21" y="83"/>
                </a:lnTo>
                <a:lnTo>
                  <a:pt x="31" y="86"/>
                </a:lnTo>
                <a:lnTo>
                  <a:pt x="31" y="94"/>
                </a:lnTo>
                <a:lnTo>
                  <a:pt x="26" y="102"/>
                </a:lnTo>
                <a:lnTo>
                  <a:pt x="15" y="102"/>
                </a:lnTo>
                <a:lnTo>
                  <a:pt x="5" y="109"/>
                </a:lnTo>
                <a:lnTo>
                  <a:pt x="5" y="117"/>
                </a:lnTo>
                <a:lnTo>
                  <a:pt x="10" y="124"/>
                </a:lnTo>
                <a:lnTo>
                  <a:pt x="21" y="128"/>
                </a:lnTo>
                <a:lnTo>
                  <a:pt x="26" y="136"/>
                </a:lnTo>
                <a:lnTo>
                  <a:pt x="26" y="143"/>
                </a:lnTo>
                <a:lnTo>
                  <a:pt x="15" y="147"/>
                </a:lnTo>
                <a:lnTo>
                  <a:pt x="5" y="151"/>
                </a:lnTo>
                <a:lnTo>
                  <a:pt x="0" y="158"/>
                </a:lnTo>
                <a:lnTo>
                  <a:pt x="0" y="166"/>
                </a:lnTo>
                <a:lnTo>
                  <a:pt x="10" y="170"/>
                </a:lnTo>
                <a:lnTo>
                  <a:pt x="10" y="177"/>
                </a:lnTo>
                <a:lnTo>
                  <a:pt x="10" y="185"/>
                </a:lnTo>
                <a:lnTo>
                  <a:pt x="21" y="185"/>
                </a:lnTo>
                <a:lnTo>
                  <a:pt x="26" y="192"/>
                </a:lnTo>
                <a:lnTo>
                  <a:pt x="63" y="204"/>
                </a:lnTo>
                <a:lnTo>
                  <a:pt x="68" y="20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6342785C-F738-6E5A-8E1C-1AF3D919A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1054100"/>
            <a:ext cx="177800" cy="393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0720C4F1-303A-DFEC-5895-A0B5E5967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58913"/>
            <a:ext cx="38433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  1   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200" b="1">
                <a:latin typeface="Courier New" panose="02070309020205020404" pitchFamily="49" charset="0"/>
              </a:rPr>
              <a:t>        3        4         5</a:t>
            </a:r>
          </a:p>
        </p:txBody>
      </p:sp>
      <p:sp>
        <p:nvSpPr>
          <p:cNvPr id="5130" name="AutoShape 10">
            <a:extLst>
              <a:ext uri="{FF2B5EF4-FFF2-40B4-BE49-F238E27FC236}">
                <a16:creationId xmlns:a16="http://schemas.microsoft.com/office/drawing/2014/main" id="{C4B170A6-5FB8-BD54-DCBB-64D3F6E02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163638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4714C29F-0E41-4E41-D479-3D9597270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55663"/>
            <a:ext cx="1123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CountyName</a:t>
            </a:r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4A75F1B3-6F0A-B0A5-89F7-BAFBAD1D6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F792C60D-FFA3-AEEF-C6AA-6D4A1CE11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412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8D205E30-E247-C940-55DE-B58193577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064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5135" name="Rectangle 15">
            <a:extLst>
              <a:ext uri="{FF2B5EF4-FFF2-40B4-BE49-F238E27FC236}">
                <a16:creationId xmlns:a16="http://schemas.microsoft.com/office/drawing/2014/main" id="{CCB7653F-333E-E94B-44B3-558AA9E03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873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5136" name="Rectangle 16">
            <a:extLst>
              <a:ext uri="{FF2B5EF4-FFF2-40B4-BE49-F238E27FC236}">
                <a16:creationId xmlns:a16="http://schemas.microsoft.com/office/drawing/2014/main" id="{EF1DFE7E-F9DF-6D81-87E0-695973B55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87363"/>
            <a:ext cx="6413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</a:t>
            </a:r>
          </a:p>
        </p:txBody>
      </p:sp>
      <p:sp>
        <p:nvSpPr>
          <p:cNvPr id="5137" name="Rectangle 17">
            <a:extLst>
              <a:ext uri="{FF2B5EF4-FFF2-40B4-BE49-F238E27FC236}">
                <a16:creationId xmlns:a16="http://schemas.microsoft.com/office/drawing/2014/main" id="{D3F4F41F-D32E-5C1C-BC5C-A78AD9582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Rectangle 18">
            <a:extLst>
              <a:ext uri="{FF2B5EF4-FFF2-40B4-BE49-F238E27FC236}">
                <a16:creationId xmlns:a16="http://schemas.microsoft.com/office/drawing/2014/main" id="{9F042FEA-C08D-09BE-7506-7C7E1CFDF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7AE563BD-FB94-744C-1B3A-B76237374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5140" name="Rectangle 20">
            <a:extLst>
              <a:ext uri="{FF2B5EF4-FFF2-40B4-BE49-F238E27FC236}">
                <a16:creationId xmlns:a16="http://schemas.microsoft.com/office/drawing/2014/main" id="{78593622-D71E-C81E-ABA9-1161F9AA7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5141" name="Rectangle 21">
            <a:extLst>
              <a:ext uri="{FF2B5EF4-FFF2-40B4-BE49-F238E27FC236}">
                <a16:creationId xmlns:a16="http://schemas.microsoft.com/office/drawing/2014/main" id="{91B1869C-0F23-6AFD-C1AE-43A4F4988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36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grpSp>
        <p:nvGrpSpPr>
          <p:cNvPr id="5158" name="Group 38">
            <a:extLst>
              <a:ext uri="{FF2B5EF4-FFF2-40B4-BE49-F238E27FC236}">
                <a16:creationId xmlns:a16="http://schemas.microsoft.com/office/drawing/2014/main" id="{EECF01B1-4333-5A31-DC0C-D8844EC7423D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1889125"/>
            <a:ext cx="4430713" cy="685800"/>
            <a:chOff x="104" y="1190"/>
            <a:chExt cx="2791" cy="432"/>
          </a:xfrm>
        </p:grpSpPr>
        <p:sp>
          <p:nvSpPr>
            <p:cNvPr id="5142" name="Rectangle 22">
              <a:extLst>
                <a:ext uri="{FF2B5EF4-FFF2-40B4-BE49-F238E27FC236}">
                  <a16:creationId xmlns:a16="http://schemas.microsoft.com/office/drawing/2014/main" id="{21FA5EE0-75F7-C420-079E-84ADCB0D8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" y="1507"/>
              <a:ext cx="2017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0" rIns="92075" bIns="0">
              <a:spAutoFit/>
            </a:bodyPr>
            <a:lstStyle/>
            <a:p>
              <a:r>
                <a:rPr lang="en-US" altLang="en-US" sz="1200" b="1">
                  <a:latin typeface="Courier New" panose="02070309020205020404" pitchFamily="49" charset="0"/>
                </a:rPr>
                <a:t>1    2 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3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4    5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 6    7</a:t>
              </a:r>
            </a:p>
          </p:txBody>
        </p:sp>
        <p:sp>
          <p:nvSpPr>
            <p:cNvPr id="5143" name="Rectangle 23">
              <a:extLst>
                <a:ext uri="{FF2B5EF4-FFF2-40B4-BE49-F238E27FC236}">
                  <a16:creationId xmlns:a16="http://schemas.microsoft.com/office/drawing/2014/main" id="{B3A0E1A8-23E7-7EA3-CD9A-8B7DC1DDD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1190"/>
              <a:ext cx="49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en-US" sz="1200" b="1">
                  <a:latin typeface="Arial" panose="020B0604020202020204" pitchFamily="34" charset="0"/>
                </a:rPr>
                <a:t>CountyTax</a:t>
              </a:r>
            </a:p>
          </p:txBody>
        </p:sp>
        <p:sp>
          <p:nvSpPr>
            <p:cNvPr id="5144" name="Rectangle 24">
              <a:extLst>
                <a:ext uri="{FF2B5EF4-FFF2-40B4-BE49-F238E27FC236}">
                  <a16:creationId xmlns:a16="http://schemas.microsoft.com/office/drawing/2014/main" id="{8B7F3804-B99C-8351-CEA3-A2D50AE26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5" name="Rectangle 25">
              <a:extLst>
                <a:ext uri="{FF2B5EF4-FFF2-40B4-BE49-F238E27FC236}">
                  <a16:creationId xmlns:a16="http://schemas.microsoft.com/office/drawing/2014/main" id="{09E3854A-7575-7ED4-B4CC-2E3B3B6DF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Rectangle 26">
              <a:extLst>
                <a:ext uri="{FF2B5EF4-FFF2-40B4-BE49-F238E27FC236}">
                  <a16:creationId xmlns:a16="http://schemas.microsoft.com/office/drawing/2014/main" id="{9299D9B6-9175-2192-B7D6-57E608BD0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Rectangle 27">
              <a:extLst>
                <a:ext uri="{FF2B5EF4-FFF2-40B4-BE49-F238E27FC236}">
                  <a16:creationId xmlns:a16="http://schemas.microsoft.com/office/drawing/2014/main" id="{6FE306FE-D65B-6E03-1B63-78EE5B2D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Rectangle 28">
              <a:extLst>
                <a:ext uri="{FF2B5EF4-FFF2-40B4-BE49-F238E27FC236}">
                  <a16:creationId xmlns:a16="http://schemas.microsoft.com/office/drawing/2014/main" id="{93EC121E-28EA-CB77-F389-29C2DFD56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Rectangle 29">
              <a:extLst>
                <a:ext uri="{FF2B5EF4-FFF2-40B4-BE49-F238E27FC236}">
                  <a16:creationId xmlns:a16="http://schemas.microsoft.com/office/drawing/2014/main" id="{8837B61E-8599-BBCA-1CEB-EF63FA432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Rectangle 30">
              <a:extLst>
                <a:ext uri="{FF2B5EF4-FFF2-40B4-BE49-F238E27FC236}">
                  <a16:creationId xmlns:a16="http://schemas.microsoft.com/office/drawing/2014/main" id="{5B2FE9E4-7FF3-7454-BA21-D2FE52E8A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Rectangle 31">
              <a:extLst>
                <a:ext uri="{FF2B5EF4-FFF2-40B4-BE49-F238E27FC236}">
                  <a16:creationId xmlns:a16="http://schemas.microsoft.com/office/drawing/2014/main" id="{38880D16-4443-9223-26EC-6A3E14086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1313"/>
              <a:ext cx="2223" cy="17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54" name="Group 34">
              <a:extLst>
                <a:ext uri="{FF2B5EF4-FFF2-40B4-BE49-F238E27FC236}">
                  <a16:creationId xmlns:a16="http://schemas.microsoft.com/office/drawing/2014/main" id="{965F366A-C6E4-16AB-B65C-A64092A0B9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304"/>
              <a:ext cx="104" cy="200"/>
              <a:chOff x="2248" y="1304"/>
              <a:chExt cx="104" cy="200"/>
            </a:xfrm>
          </p:grpSpPr>
          <p:sp>
            <p:nvSpPr>
              <p:cNvPr id="5152" name="Freeform 32">
                <a:extLst>
                  <a:ext uri="{FF2B5EF4-FFF2-40B4-BE49-F238E27FC236}">
                    <a16:creationId xmlns:a16="http://schemas.microsoft.com/office/drawing/2014/main" id="{DE15C148-C11C-442D-198A-544A9D52F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312"/>
                <a:ext cx="58" cy="185"/>
              </a:xfrm>
              <a:custGeom>
                <a:avLst/>
                <a:gdLst>
                  <a:gd name="T0" fmla="*/ 57 w 58"/>
                  <a:gd name="T1" fmla="*/ 0 h 185"/>
                  <a:gd name="T2" fmla="*/ 45 w 58"/>
                  <a:gd name="T3" fmla="*/ 0 h 185"/>
                  <a:gd name="T4" fmla="*/ 34 w 58"/>
                  <a:gd name="T5" fmla="*/ 0 h 185"/>
                  <a:gd name="T6" fmla="*/ 22 w 58"/>
                  <a:gd name="T7" fmla="*/ 4 h 185"/>
                  <a:gd name="T8" fmla="*/ 22 w 58"/>
                  <a:gd name="T9" fmla="*/ 12 h 185"/>
                  <a:gd name="T10" fmla="*/ 22 w 58"/>
                  <a:gd name="T11" fmla="*/ 20 h 185"/>
                  <a:gd name="T12" fmla="*/ 17 w 58"/>
                  <a:gd name="T13" fmla="*/ 28 h 185"/>
                  <a:gd name="T14" fmla="*/ 11 w 58"/>
                  <a:gd name="T15" fmla="*/ 36 h 185"/>
                  <a:gd name="T16" fmla="*/ 11 w 58"/>
                  <a:gd name="T17" fmla="*/ 44 h 185"/>
                  <a:gd name="T18" fmla="*/ 22 w 58"/>
                  <a:gd name="T19" fmla="*/ 49 h 185"/>
                  <a:gd name="T20" fmla="*/ 22 w 58"/>
                  <a:gd name="T21" fmla="*/ 57 h 185"/>
                  <a:gd name="T22" fmla="*/ 17 w 58"/>
                  <a:gd name="T23" fmla="*/ 65 h 185"/>
                  <a:gd name="T24" fmla="*/ 5 w 58"/>
                  <a:gd name="T25" fmla="*/ 69 h 185"/>
                  <a:gd name="T26" fmla="*/ 5 w 58"/>
                  <a:gd name="T27" fmla="*/ 77 h 185"/>
                  <a:gd name="T28" fmla="*/ 5 w 58"/>
                  <a:gd name="T29" fmla="*/ 85 h 185"/>
                  <a:gd name="T30" fmla="*/ 17 w 58"/>
                  <a:gd name="T31" fmla="*/ 89 h 185"/>
                  <a:gd name="T32" fmla="*/ 22 w 58"/>
                  <a:gd name="T33" fmla="*/ 98 h 185"/>
                  <a:gd name="T34" fmla="*/ 17 w 58"/>
                  <a:gd name="T35" fmla="*/ 106 h 185"/>
                  <a:gd name="T36" fmla="*/ 11 w 58"/>
                  <a:gd name="T37" fmla="*/ 114 h 185"/>
                  <a:gd name="T38" fmla="*/ 0 w 58"/>
                  <a:gd name="T39" fmla="*/ 118 h 185"/>
                  <a:gd name="T40" fmla="*/ 0 w 58"/>
                  <a:gd name="T41" fmla="*/ 126 h 185"/>
                  <a:gd name="T42" fmla="*/ 11 w 58"/>
                  <a:gd name="T43" fmla="*/ 134 h 185"/>
                  <a:gd name="T44" fmla="*/ 17 w 58"/>
                  <a:gd name="T45" fmla="*/ 143 h 185"/>
                  <a:gd name="T46" fmla="*/ 5 w 58"/>
                  <a:gd name="T47" fmla="*/ 147 h 185"/>
                  <a:gd name="T48" fmla="*/ 5 w 58"/>
                  <a:gd name="T49" fmla="*/ 155 h 185"/>
                  <a:gd name="T50" fmla="*/ 5 w 58"/>
                  <a:gd name="T51" fmla="*/ 163 h 185"/>
                  <a:gd name="T52" fmla="*/ 17 w 58"/>
                  <a:gd name="T53" fmla="*/ 163 h 185"/>
                  <a:gd name="T54" fmla="*/ 17 w 58"/>
                  <a:gd name="T55" fmla="*/ 171 h 185"/>
                  <a:gd name="T56" fmla="*/ 22 w 58"/>
                  <a:gd name="T57" fmla="*/ 179 h 185"/>
                  <a:gd name="T58" fmla="*/ 34 w 58"/>
                  <a:gd name="T59" fmla="*/ 184 h 185"/>
                  <a:gd name="T60" fmla="*/ 45 w 58"/>
                  <a:gd name="T61" fmla="*/ 184 h 185"/>
                  <a:gd name="T62" fmla="*/ 57 w 58"/>
                  <a:gd name="T63" fmla="*/ 184 h 185"/>
                  <a:gd name="T64" fmla="*/ 57 w 58"/>
                  <a:gd name="T6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185">
                    <a:moveTo>
                      <a:pt x="57" y="0"/>
                    </a:moveTo>
                    <a:lnTo>
                      <a:pt x="45" y="0"/>
                    </a:lnTo>
                    <a:lnTo>
                      <a:pt x="34" y="0"/>
                    </a:lnTo>
                    <a:lnTo>
                      <a:pt x="22" y="4"/>
                    </a:lnTo>
                    <a:lnTo>
                      <a:pt x="22" y="12"/>
                    </a:lnTo>
                    <a:lnTo>
                      <a:pt x="22" y="20"/>
                    </a:lnTo>
                    <a:lnTo>
                      <a:pt x="17" y="28"/>
                    </a:lnTo>
                    <a:lnTo>
                      <a:pt x="11" y="36"/>
                    </a:lnTo>
                    <a:lnTo>
                      <a:pt x="11" y="44"/>
                    </a:lnTo>
                    <a:lnTo>
                      <a:pt x="22" y="49"/>
                    </a:lnTo>
                    <a:lnTo>
                      <a:pt x="22" y="57"/>
                    </a:lnTo>
                    <a:lnTo>
                      <a:pt x="17" y="65"/>
                    </a:lnTo>
                    <a:lnTo>
                      <a:pt x="5" y="69"/>
                    </a:lnTo>
                    <a:lnTo>
                      <a:pt x="5" y="77"/>
                    </a:lnTo>
                    <a:lnTo>
                      <a:pt x="5" y="85"/>
                    </a:lnTo>
                    <a:lnTo>
                      <a:pt x="17" y="89"/>
                    </a:lnTo>
                    <a:lnTo>
                      <a:pt x="22" y="98"/>
                    </a:lnTo>
                    <a:lnTo>
                      <a:pt x="17" y="106"/>
                    </a:lnTo>
                    <a:lnTo>
                      <a:pt x="11" y="114"/>
                    </a:lnTo>
                    <a:lnTo>
                      <a:pt x="0" y="118"/>
                    </a:lnTo>
                    <a:lnTo>
                      <a:pt x="0" y="126"/>
                    </a:lnTo>
                    <a:lnTo>
                      <a:pt x="11" y="134"/>
                    </a:lnTo>
                    <a:lnTo>
                      <a:pt x="17" y="143"/>
                    </a:lnTo>
                    <a:lnTo>
                      <a:pt x="5" y="147"/>
                    </a:lnTo>
                    <a:lnTo>
                      <a:pt x="5" y="155"/>
                    </a:lnTo>
                    <a:lnTo>
                      <a:pt x="5" y="163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22" y="179"/>
                    </a:lnTo>
                    <a:lnTo>
                      <a:pt x="34" y="184"/>
                    </a:lnTo>
                    <a:lnTo>
                      <a:pt x="45" y="184"/>
                    </a:lnTo>
                    <a:lnTo>
                      <a:pt x="57" y="184"/>
                    </a:lnTo>
                    <a:lnTo>
                      <a:pt x="57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3" name="Rectangle 33">
                <a:extLst>
                  <a:ext uri="{FF2B5EF4-FFF2-40B4-BE49-F238E27FC236}">
                    <a16:creationId xmlns:a16="http://schemas.microsoft.com/office/drawing/2014/main" id="{E5C58E0B-0AB5-923C-9191-15AE4E5B0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304"/>
                <a:ext cx="68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57" name="Group 37">
              <a:extLst>
                <a:ext uri="{FF2B5EF4-FFF2-40B4-BE49-F238E27FC236}">
                  <a16:creationId xmlns:a16="http://schemas.microsoft.com/office/drawing/2014/main" id="{FB53A79D-F23B-BD39-524B-108571FCB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3" y="1308"/>
              <a:ext cx="602" cy="212"/>
              <a:chOff x="2293" y="1308"/>
              <a:chExt cx="602" cy="212"/>
            </a:xfrm>
          </p:grpSpPr>
          <p:sp>
            <p:nvSpPr>
              <p:cNvPr id="5155" name="AutoShape 35">
                <a:extLst>
                  <a:ext uri="{FF2B5EF4-FFF2-40B4-BE49-F238E27FC236}">
                    <a16:creationId xmlns:a16="http://schemas.microsoft.com/office/drawing/2014/main" id="{242D3255-9183-6314-5542-B996B2C40C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363"/>
                <a:ext cx="196" cy="88"/>
              </a:xfrm>
              <a:prstGeom prst="rightArrow">
                <a:avLst>
                  <a:gd name="adj1" fmla="val 50000"/>
                  <a:gd name="adj2" fmla="val 111374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7961" dir="2700000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56" name="Rectangle 36">
                <a:extLst>
                  <a:ext uri="{FF2B5EF4-FFF2-40B4-BE49-F238E27FC236}">
                    <a16:creationId xmlns:a16="http://schemas.microsoft.com/office/drawing/2014/main" id="{A749C23E-110E-BB7A-520E-46E7C061AF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5" y="1308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/>
                  <a:t>19 other</a:t>
                </a:r>
                <a:br>
                  <a:rPr lang="en-US" altLang="en-US"/>
                </a:br>
                <a:r>
                  <a:rPr lang="en-US" altLang="en-US"/>
                  <a:t>elements</a:t>
                </a:r>
              </a:p>
            </p:txBody>
          </p:sp>
        </p:grpSp>
      </p:grpSp>
      <p:sp>
        <p:nvSpPr>
          <p:cNvPr id="5159" name="Rectangle 39">
            <a:extLst>
              <a:ext uri="{FF2B5EF4-FFF2-40B4-BE49-F238E27FC236}">
                <a16:creationId xmlns:a16="http://schemas.microsoft.com/office/drawing/2014/main" id="{3C5F8FE4-4B8F-E29D-8BC8-264CDBE0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809875"/>
            <a:ext cx="4208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PERFORM VARYING CountyNum FROM 1 BY 1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UNTIL CountyName(CountyNum) = County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END-PERFORM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ADD TaxPaid TO CountyTax(CountyNum)</a:t>
            </a:r>
          </a:p>
        </p:txBody>
      </p:sp>
      <p:sp>
        <p:nvSpPr>
          <p:cNvPr id="5160" name="Rectangle 40">
            <a:extLst>
              <a:ext uri="{FF2B5EF4-FFF2-40B4-BE49-F238E27FC236}">
                <a16:creationId xmlns:a16="http://schemas.microsoft.com/office/drawing/2014/main" id="{C5C6B842-22AD-E85A-CA73-2266CBCF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03200"/>
            <a:ext cx="6921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61" name="Rectangle 41">
            <a:extLst>
              <a:ext uri="{FF2B5EF4-FFF2-40B4-BE49-F238E27FC236}">
                <a16:creationId xmlns:a16="http://schemas.microsoft.com/office/drawing/2014/main" id="{D6FCBBBB-EE4B-E0CB-3D47-8DD94CD23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4188"/>
            <a:ext cx="8699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CountyNum</a:t>
            </a:r>
          </a:p>
        </p:txBody>
      </p:sp>
      <p:sp>
        <p:nvSpPr>
          <p:cNvPr id="5162" name="Oval 42">
            <a:extLst>
              <a:ext uri="{FF2B5EF4-FFF2-40B4-BE49-F238E27FC236}">
                <a16:creationId xmlns:a16="http://schemas.microsoft.com/office/drawing/2014/main" id="{70DA0A58-65F2-61D6-0C48-C4AF1393D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882900"/>
            <a:ext cx="254000" cy="520700"/>
          </a:xfrm>
          <a:prstGeom prst="ellips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Line 43">
            <a:extLst>
              <a:ext uri="{FF2B5EF4-FFF2-40B4-BE49-F238E27FC236}">
                <a16:creationId xmlns:a16="http://schemas.microsoft.com/office/drawing/2014/main" id="{028240FB-B281-4C5E-B3BC-8C45C94C2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975" y="2962275"/>
            <a:ext cx="28575" cy="93663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4" name="Line 44">
            <a:extLst>
              <a:ext uri="{FF2B5EF4-FFF2-40B4-BE49-F238E27FC236}">
                <a16:creationId xmlns:a16="http://schemas.microsoft.com/office/drawing/2014/main" id="{50ACD7D6-6F01-5991-4B69-4F23C64D5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3" y="3236913"/>
            <a:ext cx="23812" cy="6667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5" name="Line 45">
            <a:extLst>
              <a:ext uri="{FF2B5EF4-FFF2-40B4-BE49-F238E27FC236}">
                <a16:creationId xmlns:a16="http://schemas.microsoft.com/office/drawing/2014/main" id="{AC79B8B2-CB66-94B6-3AD1-42C27DD6F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4900" y="1352550"/>
            <a:ext cx="5715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76B587B-0FF4-AC85-EA5D-908EE9AA4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Carlow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0AD0C3-845B-1EEE-66EC-9CE354EF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Cavan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FC12BA96-15B2-DA88-6342-A3277F416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CC0000"/>
                </a:solidFill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692B0F0-B37B-9A5C-5433-F75A161B3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Cork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84B2E4F-96AB-1C7A-02A5-9F9E10F7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Donegal</a:t>
            </a:r>
          </a:p>
        </p:txBody>
      </p:sp>
      <p:sp>
        <p:nvSpPr>
          <p:cNvPr id="6151" name="Freeform 7">
            <a:extLst>
              <a:ext uri="{FF2B5EF4-FFF2-40B4-BE49-F238E27FC236}">
                <a16:creationId xmlns:a16="http://schemas.microsoft.com/office/drawing/2014/main" id="{9CC84373-DC2B-4B23-DB35-C0F99FAE37ED}"/>
              </a:ext>
            </a:extLst>
          </p:cNvPr>
          <p:cNvSpPr>
            <a:spLocks/>
          </p:cNvSpPr>
          <p:nvPr/>
        </p:nvSpPr>
        <p:spPr bwMode="auto">
          <a:xfrm>
            <a:off x="4111625" y="1098550"/>
            <a:ext cx="119063" cy="325438"/>
          </a:xfrm>
          <a:custGeom>
            <a:avLst/>
            <a:gdLst>
              <a:gd name="T0" fmla="*/ 74 w 75"/>
              <a:gd name="T1" fmla="*/ 0 h 205"/>
              <a:gd name="T2" fmla="*/ 63 w 75"/>
              <a:gd name="T3" fmla="*/ 0 h 205"/>
              <a:gd name="T4" fmla="*/ 52 w 75"/>
              <a:gd name="T5" fmla="*/ 0 h 205"/>
              <a:gd name="T6" fmla="*/ 47 w 75"/>
              <a:gd name="T7" fmla="*/ 0 h 205"/>
              <a:gd name="T8" fmla="*/ 42 w 75"/>
              <a:gd name="T9" fmla="*/ 0 h 205"/>
              <a:gd name="T10" fmla="*/ 37 w 75"/>
              <a:gd name="T11" fmla="*/ 0 h 205"/>
              <a:gd name="T12" fmla="*/ 31 w 75"/>
              <a:gd name="T13" fmla="*/ 0 h 205"/>
              <a:gd name="T14" fmla="*/ 26 w 75"/>
              <a:gd name="T15" fmla="*/ 0 h 205"/>
              <a:gd name="T16" fmla="*/ 26 w 75"/>
              <a:gd name="T17" fmla="*/ 15 h 205"/>
              <a:gd name="T18" fmla="*/ 15 w 75"/>
              <a:gd name="T19" fmla="*/ 18 h 205"/>
              <a:gd name="T20" fmla="*/ 5 w 75"/>
              <a:gd name="T21" fmla="*/ 18 h 205"/>
              <a:gd name="T22" fmla="*/ 5 w 75"/>
              <a:gd name="T23" fmla="*/ 26 h 205"/>
              <a:gd name="T24" fmla="*/ 15 w 75"/>
              <a:gd name="T25" fmla="*/ 30 h 205"/>
              <a:gd name="T26" fmla="*/ 21 w 75"/>
              <a:gd name="T27" fmla="*/ 37 h 205"/>
              <a:gd name="T28" fmla="*/ 21 w 75"/>
              <a:gd name="T29" fmla="*/ 45 h 205"/>
              <a:gd name="T30" fmla="*/ 10 w 75"/>
              <a:gd name="T31" fmla="*/ 52 h 205"/>
              <a:gd name="T32" fmla="*/ 0 w 75"/>
              <a:gd name="T33" fmla="*/ 56 h 205"/>
              <a:gd name="T34" fmla="*/ 0 w 75"/>
              <a:gd name="T35" fmla="*/ 64 h 205"/>
              <a:gd name="T36" fmla="*/ 5 w 75"/>
              <a:gd name="T37" fmla="*/ 71 h 205"/>
              <a:gd name="T38" fmla="*/ 15 w 75"/>
              <a:gd name="T39" fmla="*/ 75 h 205"/>
              <a:gd name="T40" fmla="*/ 21 w 75"/>
              <a:gd name="T41" fmla="*/ 83 h 205"/>
              <a:gd name="T42" fmla="*/ 31 w 75"/>
              <a:gd name="T43" fmla="*/ 86 h 205"/>
              <a:gd name="T44" fmla="*/ 31 w 75"/>
              <a:gd name="T45" fmla="*/ 94 h 205"/>
              <a:gd name="T46" fmla="*/ 26 w 75"/>
              <a:gd name="T47" fmla="*/ 102 h 205"/>
              <a:gd name="T48" fmla="*/ 15 w 75"/>
              <a:gd name="T49" fmla="*/ 102 h 205"/>
              <a:gd name="T50" fmla="*/ 5 w 75"/>
              <a:gd name="T51" fmla="*/ 109 h 205"/>
              <a:gd name="T52" fmla="*/ 5 w 75"/>
              <a:gd name="T53" fmla="*/ 117 h 205"/>
              <a:gd name="T54" fmla="*/ 10 w 75"/>
              <a:gd name="T55" fmla="*/ 124 h 205"/>
              <a:gd name="T56" fmla="*/ 21 w 75"/>
              <a:gd name="T57" fmla="*/ 128 h 205"/>
              <a:gd name="T58" fmla="*/ 26 w 75"/>
              <a:gd name="T59" fmla="*/ 136 h 205"/>
              <a:gd name="T60" fmla="*/ 26 w 75"/>
              <a:gd name="T61" fmla="*/ 143 h 205"/>
              <a:gd name="T62" fmla="*/ 15 w 75"/>
              <a:gd name="T63" fmla="*/ 147 h 205"/>
              <a:gd name="T64" fmla="*/ 5 w 75"/>
              <a:gd name="T65" fmla="*/ 151 h 205"/>
              <a:gd name="T66" fmla="*/ 0 w 75"/>
              <a:gd name="T67" fmla="*/ 158 h 205"/>
              <a:gd name="T68" fmla="*/ 0 w 75"/>
              <a:gd name="T69" fmla="*/ 166 h 205"/>
              <a:gd name="T70" fmla="*/ 10 w 75"/>
              <a:gd name="T71" fmla="*/ 170 h 205"/>
              <a:gd name="T72" fmla="*/ 10 w 75"/>
              <a:gd name="T73" fmla="*/ 177 h 205"/>
              <a:gd name="T74" fmla="*/ 10 w 75"/>
              <a:gd name="T75" fmla="*/ 185 h 205"/>
              <a:gd name="T76" fmla="*/ 21 w 75"/>
              <a:gd name="T77" fmla="*/ 185 h 205"/>
              <a:gd name="T78" fmla="*/ 26 w 75"/>
              <a:gd name="T79" fmla="*/ 192 h 205"/>
              <a:gd name="T80" fmla="*/ 63 w 75"/>
              <a:gd name="T81" fmla="*/ 204 h 205"/>
              <a:gd name="T82" fmla="*/ 68 w 75"/>
              <a:gd name="T83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" h="205">
                <a:moveTo>
                  <a:pt x="74" y="0"/>
                </a:moveTo>
                <a:lnTo>
                  <a:pt x="63" y="0"/>
                </a:lnTo>
                <a:lnTo>
                  <a:pt x="52" y="0"/>
                </a:lnTo>
                <a:lnTo>
                  <a:pt x="47" y="0"/>
                </a:lnTo>
                <a:lnTo>
                  <a:pt x="42" y="0"/>
                </a:lnTo>
                <a:lnTo>
                  <a:pt x="37" y="0"/>
                </a:lnTo>
                <a:lnTo>
                  <a:pt x="31" y="0"/>
                </a:lnTo>
                <a:lnTo>
                  <a:pt x="26" y="0"/>
                </a:lnTo>
                <a:lnTo>
                  <a:pt x="26" y="15"/>
                </a:lnTo>
                <a:lnTo>
                  <a:pt x="15" y="18"/>
                </a:lnTo>
                <a:lnTo>
                  <a:pt x="5" y="18"/>
                </a:lnTo>
                <a:lnTo>
                  <a:pt x="5" y="26"/>
                </a:lnTo>
                <a:lnTo>
                  <a:pt x="15" y="30"/>
                </a:lnTo>
                <a:lnTo>
                  <a:pt x="21" y="37"/>
                </a:lnTo>
                <a:lnTo>
                  <a:pt x="21" y="45"/>
                </a:lnTo>
                <a:lnTo>
                  <a:pt x="10" y="52"/>
                </a:lnTo>
                <a:lnTo>
                  <a:pt x="0" y="56"/>
                </a:lnTo>
                <a:lnTo>
                  <a:pt x="0" y="64"/>
                </a:lnTo>
                <a:lnTo>
                  <a:pt x="5" y="71"/>
                </a:lnTo>
                <a:lnTo>
                  <a:pt x="15" y="75"/>
                </a:lnTo>
                <a:lnTo>
                  <a:pt x="21" y="83"/>
                </a:lnTo>
                <a:lnTo>
                  <a:pt x="31" y="86"/>
                </a:lnTo>
                <a:lnTo>
                  <a:pt x="31" y="94"/>
                </a:lnTo>
                <a:lnTo>
                  <a:pt x="26" y="102"/>
                </a:lnTo>
                <a:lnTo>
                  <a:pt x="15" y="102"/>
                </a:lnTo>
                <a:lnTo>
                  <a:pt x="5" y="109"/>
                </a:lnTo>
                <a:lnTo>
                  <a:pt x="5" y="117"/>
                </a:lnTo>
                <a:lnTo>
                  <a:pt x="10" y="124"/>
                </a:lnTo>
                <a:lnTo>
                  <a:pt x="21" y="128"/>
                </a:lnTo>
                <a:lnTo>
                  <a:pt x="26" y="136"/>
                </a:lnTo>
                <a:lnTo>
                  <a:pt x="26" y="143"/>
                </a:lnTo>
                <a:lnTo>
                  <a:pt x="15" y="147"/>
                </a:lnTo>
                <a:lnTo>
                  <a:pt x="5" y="151"/>
                </a:lnTo>
                <a:lnTo>
                  <a:pt x="0" y="158"/>
                </a:lnTo>
                <a:lnTo>
                  <a:pt x="0" y="166"/>
                </a:lnTo>
                <a:lnTo>
                  <a:pt x="10" y="170"/>
                </a:lnTo>
                <a:lnTo>
                  <a:pt x="10" y="177"/>
                </a:lnTo>
                <a:lnTo>
                  <a:pt x="10" y="185"/>
                </a:lnTo>
                <a:lnTo>
                  <a:pt x="21" y="185"/>
                </a:lnTo>
                <a:lnTo>
                  <a:pt x="26" y="192"/>
                </a:lnTo>
                <a:lnTo>
                  <a:pt x="63" y="204"/>
                </a:lnTo>
                <a:lnTo>
                  <a:pt x="68" y="20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83210A74-CCD3-3792-64D5-34B08384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1054100"/>
            <a:ext cx="177800" cy="393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05F5E36C-969B-3242-A2CB-9258EDA05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58913"/>
            <a:ext cx="38433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  1        2   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200" b="1">
                <a:latin typeface="Courier New" panose="02070309020205020404" pitchFamily="49" charset="0"/>
              </a:rPr>
              <a:t>        4         5</a:t>
            </a:r>
          </a:p>
        </p:txBody>
      </p:sp>
      <p:sp>
        <p:nvSpPr>
          <p:cNvPr id="6154" name="AutoShape 10">
            <a:extLst>
              <a:ext uri="{FF2B5EF4-FFF2-40B4-BE49-F238E27FC236}">
                <a16:creationId xmlns:a16="http://schemas.microsoft.com/office/drawing/2014/main" id="{5FC480C5-E0E6-5518-CB63-94AF1F00E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163638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6951A944-897C-A998-1E8F-903A04CD4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55663"/>
            <a:ext cx="1123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CountyName</a:t>
            </a:r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81598C53-FA50-CFA9-C23C-D23FEAD50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B0646198-6375-8DF5-0C73-26B58803B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412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6158" name="Rectangle 14">
            <a:extLst>
              <a:ext uri="{FF2B5EF4-FFF2-40B4-BE49-F238E27FC236}">
                <a16:creationId xmlns:a16="http://schemas.microsoft.com/office/drawing/2014/main" id="{FBE6224F-54A7-E25D-607C-C396D2620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064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6159" name="Rectangle 15">
            <a:extLst>
              <a:ext uri="{FF2B5EF4-FFF2-40B4-BE49-F238E27FC236}">
                <a16:creationId xmlns:a16="http://schemas.microsoft.com/office/drawing/2014/main" id="{D430A5D8-727C-0000-AC83-E684E832F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873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6160" name="Rectangle 16">
            <a:extLst>
              <a:ext uri="{FF2B5EF4-FFF2-40B4-BE49-F238E27FC236}">
                <a16:creationId xmlns:a16="http://schemas.microsoft.com/office/drawing/2014/main" id="{80EDA63C-2418-EE22-886A-41605D592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87363"/>
            <a:ext cx="6413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</a:t>
            </a:r>
          </a:p>
        </p:txBody>
      </p:sp>
      <p:sp>
        <p:nvSpPr>
          <p:cNvPr id="6161" name="Rectangle 17">
            <a:extLst>
              <a:ext uri="{FF2B5EF4-FFF2-40B4-BE49-F238E27FC236}">
                <a16:creationId xmlns:a16="http://schemas.microsoft.com/office/drawing/2014/main" id="{F376E0AA-BCC9-5789-6A82-BD5FF31B8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2" name="Rectangle 18">
            <a:extLst>
              <a:ext uri="{FF2B5EF4-FFF2-40B4-BE49-F238E27FC236}">
                <a16:creationId xmlns:a16="http://schemas.microsoft.com/office/drawing/2014/main" id="{74C0C611-22A0-3D09-1AC5-3657FFB8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3" name="Rectangle 19">
            <a:extLst>
              <a:ext uri="{FF2B5EF4-FFF2-40B4-BE49-F238E27FC236}">
                <a16:creationId xmlns:a16="http://schemas.microsoft.com/office/drawing/2014/main" id="{65A6532B-2FEE-9DAD-1563-3E546AB88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6164" name="Rectangle 20">
            <a:extLst>
              <a:ext uri="{FF2B5EF4-FFF2-40B4-BE49-F238E27FC236}">
                <a16:creationId xmlns:a16="http://schemas.microsoft.com/office/drawing/2014/main" id="{1B390CFE-FD45-3C22-0F3F-546CCF227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6165" name="Rectangle 21">
            <a:extLst>
              <a:ext uri="{FF2B5EF4-FFF2-40B4-BE49-F238E27FC236}">
                <a16:creationId xmlns:a16="http://schemas.microsoft.com/office/drawing/2014/main" id="{097B0E70-9930-66AA-2F9A-419094A2F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36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grpSp>
        <p:nvGrpSpPr>
          <p:cNvPr id="6182" name="Group 38">
            <a:extLst>
              <a:ext uri="{FF2B5EF4-FFF2-40B4-BE49-F238E27FC236}">
                <a16:creationId xmlns:a16="http://schemas.microsoft.com/office/drawing/2014/main" id="{28F88DC6-ECC7-E584-65BA-E825BD7BAEA6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1889125"/>
            <a:ext cx="4430713" cy="685800"/>
            <a:chOff x="104" y="1190"/>
            <a:chExt cx="2791" cy="432"/>
          </a:xfrm>
        </p:grpSpPr>
        <p:sp>
          <p:nvSpPr>
            <p:cNvPr id="6166" name="Rectangle 22">
              <a:extLst>
                <a:ext uri="{FF2B5EF4-FFF2-40B4-BE49-F238E27FC236}">
                  <a16:creationId xmlns:a16="http://schemas.microsoft.com/office/drawing/2014/main" id="{6DA5431E-59F8-3785-3F9C-29D49035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" y="1507"/>
              <a:ext cx="2017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0" rIns="92075" bIns="0">
              <a:spAutoFit/>
            </a:bodyPr>
            <a:lstStyle/>
            <a:p>
              <a:r>
                <a:rPr lang="en-US" altLang="en-US" sz="1200" b="1">
                  <a:latin typeface="Courier New" panose="02070309020205020404" pitchFamily="49" charset="0"/>
                </a:rPr>
                <a:t>1    2 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3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4    5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 6    7</a:t>
              </a:r>
            </a:p>
          </p:txBody>
        </p:sp>
        <p:sp>
          <p:nvSpPr>
            <p:cNvPr id="6167" name="Rectangle 23">
              <a:extLst>
                <a:ext uri="{FF2B5EF4-FFF2-40B4-BE49-F238E27FC236}">
                  <a16:creationId xmlns:a16="http://schemas.microsoft.com/office/drawing/2014/main" id="{E755AB99-9A33-6CF4-4841-A31AC7FA4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1190"/>
              <a:ext cx="49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en-US" sz="1200" b="1">
                  <a:latin typeface="Arial" panose="020B0604020202020204" pitchFamily="34" charset="0"/>
                </a:rPr>
                <a:t>CountyTax</a:t>
              </a:r>
            </a:p>
          </p:txBody>
        </p:sp>
        <p:sp>
          <p:nvSpPr>
            <p:cNvPr id="6168" name="Rectangle 24">
              <a:extLst>
                <a:ext uri="{FF2B5EF4-FFF2-40B4-BE49-F238E27FC236}">
                  <a16:creationId xmlns:a16="http://schemas.microsoft.com/office/drawing/2014/main" id="{42C4B0EF-60A3-2A93-1106-DA43996A7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9" name="Rectangle 25">
              <a:extLst>
                <a:ext uri="{FF2B5EF4-FFF2-40B4-BE49-F238E27FC236}">
                  <a16:creationId xmlns:a16="http://schemas.microsoft.com/office/drawing/2014/main" id="{007C435F-4CB6-F823-BA11-2CC1972C0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0" name="Rectangle 26">
              <a:extLst>
                <a:ext uri="{FF2B5EF4-FFF2-40B4-BE49-F238E27FC236}">
                  <a16:creationId xmlns:a16="http://schemas.microsoft.com/office/drawing/2014/main" id="{F534C4E8-ADCE-81AB-60E8-4761C61FF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1" name="Rectangle 27">
              <a:extLst>
                <a:ext uri="{FF2B5EF4-FFF2-40B4-BE49-F238E27FC236}">
                  <a16:creationId xmlns:a16="http://schemas.microsoft.com/office/drawing/2014/main" id="{CE09A400-CDE1-F628-3E26-F2D214BB4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2" name="Rectangle 28">
              <a:extLst>
                <a:ext uri="{FF2B5EF4-FFF2-40B4-BE49-F238E27FC236}">
                  <a16:creationId xmlns:a16="http://schemas.microsoft.com/office/drawing/2014/main" id="{80C4F73C-D98D-4DDC-D58C-B8866CCB4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3" name="Rectangle 29">
              <a:extLst>
                <a:ext uri="{FF2B5EF4-FFF2-40B4-BE49-F238E27FC236}">
                  <a16:creationId xmlns:a16="http://schemas.microsoft.com/office/drawing/2014/main" id="{8EEFBA19-99FD-814A-F8D0-A01D05AEC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4" name="Rectangle 30">
              <a:extLst>
                <a:ext uri="{FF2B5EF4-FFF2-40B4-BE49-F238E27FC236}">
                  <a16:creationId xmlns:a16="http://schemas.microsoft.com/office/drawing/2014/main" id="{954523ED-2850-5380-E0BA-E157AC8C9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75" name="Rectangle 31">
              <a:extLst>
                <a:ext uri="{FF2B5EF4-FFF2-40B4-BE49-F238E27FC236}">
                  <a16:creationId xmlns:a16="http://schemas.microsoft.com/office/drawing/2014/main" id="{0700351A-2CC9-4C61-A4D9-04264DAFE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1313"/>
              <a:ext cx="2223" cy="17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178" name="Group 34">
              <a:extLst>
                <a:ext uri="{FF2B5EF4-FFF2-40B4-BE49-F238E27FC236}">
                  <a16:creationId xmlns:a16="http://schemas.microsoft.com/office/drawing/2014/main" id="{26B9DA89-C0EA-D40F-AF66-85FE515500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304"/>
              <a:ext cx="104" cy="200"/>
              <a:chOff x="2248" y="1304"/>
              <a:chExt cx="104" cy="200"/>
            </a:xfrm>
          </p:grpSpPr>
          <p:sp>
            <p:nvSpPr>
              <p:cNvPr id="6176" name="Freeform 32">
                <a:extLst>
                  <a:ext uri="{FF2B5EF4-FFF2-40B4-BE49-F238E27FC236}">
                    <a16:creationId xmlns:a16="http://schemas.microsoft.com/office/drawing/2014/main" id="{FC931975-5FD3-9E18-9E6A-9E6E84803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312"/>
                <a:ext cx="58" cy="185"/>
              </a:xfrm>
              <a:custGeom>
                <a:avLst/>
                <a:gdLst>
                  <a:gd name="T0" fmla="*/ 57 w 58"/>
                  <a:gd name="T1" fmla="*/ 0 h 185"/>
                  <a:gd name="T2" fmla="*/ 45 w 58"/>
                  <a:gd name="T3" fmla="*/ 0 h 185"/>
                  <a:gd name="T4" fmla="*/ 34 w 58"/>
                  <a:gd name="T5" fmla="*/ 0 h 185"/>
                  <a:gd name="T6" fmla="*/ 22 w 58"/>
                  <a:gd name="T7" fmla="*/ 4 h 185"/>
                  <a:gd name="T8" fmla="*/ 22 w 58"/>
                  <a:gd name="T9" fmla="*/ 12 h 185"/>
                  <a:gd name="T10" fmla="*/ 22 w 58"/>
                  <a:gd name="T11" fmla="*/ 20 h 185"/>
                  <a:gd name="T12" fmla="*/ 17 w 58"/>
                  <a:gd name="T13" fmla="*/ 28 h 185"/>
                  <a:gd name="T14" fmla="*/ 11 w 58"/>
                  <a:gd name="T15" fmla="*/ 36 h 185"/>
                  <a:gd name="T16" fmla="*/ 11 w 58"/>
                  <a:gd name="T17" fmla="*/ 44 h 185"/>
                  <a:gd name="T18" fmla="*/ 22 w 58"/>
                  <a:gd name="T19" fmla="*/ 49 h 185"/>
                  <a:gd name="T20" fmla="*/ 22 w 58"/>
                  <a:gd name="T21" fmla="*/ 57 h 185"/>
                  <a:gd name="T22" fmla="*/ 17 w 58"/>
                  <a:gd name="T23" fmla="*/ 65 h 185"/>
                  <a:gd name="T24" fmla="*/ 5 w 58"/>
                  <a:gd name="T25" fmla="*/ 69 h 185"/>
                  <a:gd name="T26" fmla="*/ 5 w 58"/>
                  <a:gd name="T27" fmla="*/ 77 h 185"/>
                  <a:gd name="T28" fmla="*/ 5 w 58"/>
                  <a:gd name="T29" fmla="*/ 85 h 185"/>
                  <a:gd name="T30" fmla="*/ 17 w 58"/>
                  <a:gd name="T31" fmla="*/ 89 h 185"/>
                  <a:gd name="T32" fmla="*/ 22 w 58"/>
                  <a:gd name="T33" fmla="*/ 98 h 185"/>
                  <a:gd name="T34" fmla="*/ 17 w 58"/>
                  <a:gd name="T35" fmla="*/ 106 h 185"/>
                  <a:gd name="T36" fmla="*/ 11 w 58"/>
                  <a:gd name="T37" fmla="*/ 114 h 185"/>
                  <a:gd name="T38" fmla="*/ 0 w 58"/>
                  <a:gd name="T39" fmla="*/ 118 h 185"/>
                  <a:gd name="T40" fmla="*/ 0 w 58"/>
                  <a:gd name="T41" fmla="*/ 126 h 185"/>
                  <a:gd name="T42" fmla="*/ 11 w 58"/>
                  <a:gd name="T43" fmla="*/ 134 h 185"/>
                  <a:gd name="T44" fmla="*/ 17 w 58"/>
                  <a:gd name="T45" fmla="*/ 143 h 185"/>
                  <a:gd name="T46" fmla="*/ 5 w 58"/>
                  <a:gd name="T47" fmla="*/ 147 h 185"/>
                  <a:gd name="T48" fmla="*/ 5 w 58"/>
                  <a:gd name="T49" fmla="*/ 155 h 185"/>
                  <a:gd name="T50" fmla="*/ 5 w 58"/>
                  <a:gd name="T51" fmla="*/ 163 h 185"/>
                  <a:gd name="T52" fmla="*/ 17 w 58"/>
                  <a:gd name="T53" fmla="*/ 163 h 185"/>
                  <a:gd name="T54" fmla="*/ 17 w 58"/>
                  <a:gd name="T55" fmla="*/ 171 h 185"/>
                  <a:gd name="T56" fmla="*/ 22 w 58"/>
                  <a:gd name="T57" fmla="*/ 179 h 185"/>
                  <a:gd name="T58" fmla="*/ 34 w 58"/>
                  <a:gd name="T59" fmla="*/ 184 h 185"/>
                  <a:gd name="T60" fmla="*/ 45 w 58"/>
                  <a:gd name="T61" fmla="*/ 184 h 185"/>
                  <a:gd name="T62" fmla="*/ 57 w 58"/>
                  <a:gd name="T63" fmla="*/ 184 h 185"/>
                  <a:gd name="T64" fmla="*/ 57 w 58"/>
                  <a:gd name="T6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185">
                    <a:moveTo>
                      <a:pt x="57" y="0"/>
                    </a:moveTo>
                    <a:lnTo>
                      <a:pt x="45" y="0"/>
                    </a:lnTo>
                    <a:lnTo>
                      <a:pt x="34" y="0"/>
                    </a:lnTo>
                    <a:lnTo>
                      <a:pt x="22" y="4"/>
                    </a:lnTo>
                    <a:lnTo>
                      <a:pt x="22" y="12"/>
                    </a:lnTo>
                    <a:lnTo>
                      <a:pt x="22" y="20"/>
                    </a:lnTo>
                    <a:lnTo>
                      <a:pt x="17" y="28"/>
                    </a:lnTo>
                    <a:lnTo>
                      <a:pt x="11" y="36"/>
                    </a:lnTo>
                    <a:lnTo>
                      <a:pt x="11" y="44"/>
                    </a:lnTo>
                    <a:lnTo>
                      <a:pt x="22" y="49"/>
                    </a:lnTo>
                    <a:lnTo>
                      <a:pt x="22" y="57"/>
                    </a:lnTo>
                    <a:lnTo>
                      <a:pt x="17" y="65"/>
                    </a:lnTo>
                    <a:lnTo>
                      <a:pt x="5" y="69"/>
                    </a:lnTo>
                    <a:lnTo>
                      <a:pt x="5" y="77"/>
                    </a:lnTo>
                    <a:lnTo>
                      <a:pt x="5" y="85"/>
                    </a:lnTo>
                    <a:lnTo>
                      <a:pt x="17" y="89"/>
                    </a:lnTo>
                    <a:lnTo>
                      <a:pt x="22" y="98"/>
                    </a:lnTo>
                    <a:lnTo>
                      <a:pt x="17" y="106"/>
                    </a:lnTo>
                    <a:lnTo>
                      <a:pt x="11" y="114"/>
                    </a:lnTo>
                    <a:lnTo>
                      <a:pt x="0" y="118"/>
                    </a:lnTo>
                    <a:lnTo>
                      <a:pt x="0" y="126"/>
                    </a:lnTo>
                    <a:lnTo>
                      <a:pt x="11" y="134"/>
                    </a:lnTo>
                    <a:lnTo>
                      <a:pt x="17" y="143"/>
                    </a:lnTo>
                    <a:lnTo>
                      <a:pt x="5" y="147"/>
                    </a:lnTo>
                    <a:lnTo>
                      <a:pt x="5" y="155"/>
                    </a:lnTo>
                    <a:lnTo>
                      <a:pt x="5" y="163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22" y="179"/>
                    </a:lnTo>
                    <a:lnTo>
                      <a:pt x="34" y="184"/>
                    </a:lnTo>
                    <a:lnTo>
                      <a:pt x="45" y="184"/>
                    </a:lnTo>
                    <a:lnTo>
                      <a:pt x="57" y="184"/>
                    </a:lnTo>
                    <a:lnTo>
                      <a:pt x="57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7" name="Rectangle 33">
                <a:extLst>
                  <a:ext uri="{FF2B5EF4-FFF2-40B4-BE49-F238E27FC236}">
                    <a16:creationId xmlns:a16="http://schemas.microsoft.com/office/drawing/2014/main" id="{2B7E31BD-D641-33DA-0B32-0364259CB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304"/>
                <a:ext cx="68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181" name="Group 37">
              <a:extLst>
                <a:ext uri="{FF2B5EF4-FFF2-40B4-BE49-F238E27FC236}">
                  <a16:creationId xmlns:a16="http://schemas.microsoft.com/office/drawing/2014/main" id="{1E024A67-6DF7-6546-9C3C-73C86D753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3" y="1308"/>
              <a:ext cx="602" cy="212"/>
              <a:chOff x="2293" y="1308"/>
              <a:chExt cx="602" cy="212"/>
            </a:xfrm>
          </p:grpSpPr>
          <p:sp>
            <p:nvSpPr>
              <p:cNvPr id="6179" name="AutoShape 35">
                <a:extLst>
                  <a:ext uri="{FF2B5EF4-FFF2-40B4-BE49-F238E27FC236}">
                    <a16:creationId xmlns:a16="http://schemas.microsoft.com/office/drawing/2014/main" id="{8AE12BAE-EE90-9763-6C78-833A9978D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363"/>
                <a:ext cx="196" cy="88"/>
              </a:xfrm>
              <a:prstGeom prst="rightArrow">
                <a:avLst>
                  <a:gd name="adj1" fmla="val 50000"/>
                  <a:gd name="adj2" fmla="val 111374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7961" dir="2700000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0" name="Rectangle 36">
                <a:extLst>
                  <a:ext uri="{FF2B5EF4-FFF2-40B4-BE49-F238E27FC236}">
                    <a16:creationId xmlns:a16="http://schemas.microsoft.com/office/drawing/2014/main" id="{2481F56C-9B22-16C6-3946-1AB1BE841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5" y="1308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/>
                  <a:t>19 other</a:t>
                </a:r>
                <a:br>
                  <a:rPr lang="en-US" altLang="en-US"/>
                </a:br>
                <a:r>
                  <a:rPr lang="en-US" altLang="en-US"/>
                  <a:t>elements</a:t>
                </a:r>
              </a:p>
            </p:txBody>
          </p:sp>
        </p:grpSp>
      </p:grpSp>
      <p:sp>
        <p:nvSpPr>
          <p:cNvPr id="6183" name="Rectangle 39">
            <a:extLst>
              <a:ext uri="{FF2B5EF4-FFF2-40B4-BE49-F238E27FC236}">
                <a16:creationId xmlns:a16="http://schemas.microsoft.com/office/drawing/2014/main" id="{F44DDC76-5777-7D95-5FC6-AD4DCC90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809875"/>
            <a:ext cx="4208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PERFORM VARYING CountyNum FROM 1 BY 1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UNTIL CountyName(CountyNum) = County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END-PERFORM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ADD TaxPaid TO CountyTax(CountyNum)</a:t>
            </a:r>
          </a:p>
        </p:txBody>
      </p:sp>
      <p:sp>
        <p:nvSpPr>
          <p:cNvPr id="6184" name="Rectangle 40">
            <a:extLst>
              <a:ext uri="{FF2B5EF4-FFF2-40B4-BE49-F238E27FC236}">
                <a16:creationId xmlns:a16="http://schemas.microsoft.com/office/drawing/2014/main" id="{7A27BA18-A49F-493A-C810-ADB81A72C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03200"/>
            <a:ext cx="6921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6185" name="Rectangle 41">
            <a:extLst>
              <a:ext uri="{FF2B5EF4-FFF2-40B4-BE49-F238E27FC236}">
                <a16:creationId xmlns:a16="http://schemas.microsoft.com/office/drawing/2014/main" id="{9C44EAD7-59F8-4807-79E1-EE476BA5B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4188"/>
            <a:ext cx="8699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CountyNum</a:t>
            </a:r>
          </a:p>
        </p:txBody>
      </p:sp>
      <p:sp>
        <p:nvSpPr>
          <p:cNvPr id="6186" name="Oval 42">
            <a:extLst>
              <a:ext uri="{FF2B5EF4-FFF2-40B4-BE49-F238E27FC236}">
                <a16:creationId xmlns:a16="http://schemas.microsoft.com/office/drawing/2014/main" id="{A7197D58-96DA-A66C-0C2E-6E40A3F57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882900"/>
            <a:ext cx="254000" cy="520700"/>
          </a:xfrm>
          <a:prstGeom prst="ellips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Line 43">
            <a:extLst>
              <a:ext uri="{FF2B5EF4-FFF2-40B4-BE49-F238E27FC236}">
                <a16:creationId xmlns:a16="http://schemas.microsoft.com/office/drawing/2014/main" id="{B8C098DD-89BF-E23B-BB19-7A58AF57BCA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0688" y="3271838"/>
            <a:ext cx="33337" cy="762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8" name="Line 44">
            <a:extLst>
              <a:ext uri="{FF2B5EF4-FFF2-40B4-BE49-F238E27FC236}">
                <a16:creationId xmlns:a16="http://schemas.microsoft.com/office/drawing/2014/main" id="{5EFE71B4-2D19-E937-5BC3-F18CA78222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9713" y="2932113"/>
            <a:ext cx="28575" cy="71437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9" name="Line 45">
            <a:extLst>
              <a:ext uri="{FF2B5EF4-FFF2-40B4-BE49-F238E27FC236}">
                <a16:creationId xmlns:a16="http://schemas.microsoft.com/office/drawing/2014/main" id="{E3B04C4F-728F-02AD-EA10-C4E94EBD1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3100" y="1352550"/>
            <a:ext cx="5715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6A4136-EC36-1E71-C266-2559B7378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Carlow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1EA76ED-37F5-7B12-2153-147C74307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Cavan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43D756E-6413-1EAC-7630-D17465705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63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B5774990-C341-E30C-D62D-342CBCD84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Cork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81B469C-3F43-4000-D1BB-CE70A5AE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1092200"/>
            <a:ext cx="828675" cy="3238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bg2">
                <a:alpha val="50000"/>
              </a:schemeClr>
            </a:outerShdw>
          </a:effec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Donegal</a:t>
            </a:r>
          </a:p>
        </p:txBody>
      </p:sp>
      <p:sp>
        <p:nvSpPr>
          <p:cNvPr id="7175" name="Freeform 7">
            <a:extLst>
              <a:ext uri="{FF2B5EF4-FFF2-40B4-BE49-F238E27FC236}">
                <a16:creationId xmlns:a16="http://schemas.microsoft.com/office/drawing/2014/main" id="{815394B9-CD96-7AAC-AF81-2F6F8092725B}"/>
              </a:ext>
            </a:extLst>
          </p:cNvPr>
          <p:cNvSpPr>
            <a:spLocks/>
          </p:cNvSpPr>
          <p:nvPr/>
        </p:nvSpPr>
        <p:spPr bwMode="auto">
          <a:xfrm>
            <a:off x="4111625" y="1098550"/>
            <a:ext cx="119063" cy="325438"/>
          </a:xfrm>
          <a:custGeom>
            <a:avLst/>
            <a:gdLst>
              <a:gd name="T0" fmla="*/ 74 w 75"/>
              <a:gd name="T1" fmla="*/ 0 h 205"/>
              <a:gd name="T2" fmla="*/ 63 w 75"/>
              <a:gd name="T3" fmla="*/ 0 h 205"/>
              <a:gd name="T4" fmla="*/ 52 w 75"/>
              <a:gd name="T5" fmla="*/ 0 h 205"/>
              <a:gd name="T6" fmla="*/ 47 w 75"/>
              <a:gd name="T7" fmla="*/ 0 h 205"/>
              <a:gd name="T8" fmla="*/ 42 w 75"/>
              <a:gd name="T9" fmla="*/ 0 h 205"/>
              <a:gd name="T10" fmla="*/ 37 w 75"/>
              <a:gd name="T11" fmla="*/ 0 h 205"/>
              <a:gd name="T12" fmla="*/ 31 w 75"/>
              <a:gd name="T13" fmla="*/ 0 h 205"/>
              <a:gd name="T14" fmla="*/ 26 w 75"/>
              <a:gd name="T15" fmla="*/ 0 h 205"/>
              <a:gd name="T16" fmla="*/ 26 w 75"/>
              <a:gd name="T17" fmla="*/ 15 h 205"/>
              <a:gd name="T18" fmla="*/ 15 w 75"/>
              <a:gd name="T19" fmla="*/ 18 h 205"/>
              <a:gd name="T20" fmla="*/ 5 w 75"/>
              <a:gd name="T21" fmla="*/ 18 h 205"/>
              <a:gd name="T22" fmla="*/ 5 w 75"/>
              <a:gd name="T23" fmla="*/ 26 h 205"/>
              <a:gd name="T24" fmla="*/ 15 w 75"/>
              <a:gd name="T25" fmla="*/ 30 h 205"/>
              <a:gd name="T26" fmla="*/ 21 w 75"/>
              <a:gd name="T27" fmla="*/ 37 h 205"/>
              <a:gd name="T28" fmla="*/ 21 w 75"/>
              <a:gd name="T29" fmla="*/ 45 h 205"/>
              <a:gd name="T30" fmla="*/ 10 w 75"/>
              <a:gd name="T31" fmla="*/ 52 h 205"/>
              <a:gd name="T32" fmla="*/ 0 w 75"/>
              <a:gd name="T33" fmla="*/ 56 h 205"/>
              <a:gd name="T34" fmla="*/ 0 w 75"/>
              <a:gd name="T35" fmla="*/ 64 h 205"/>
              <a:gd name="T36" fmla="*/ 5 w 75"/>
              <a:gd name="T37" fmla="*/ 71 h 205"/>
              <a:gd name="T38" fmla="*/ 15 w 75"/>
              <a:gd name="T39" fmla="*/ 75 h 205"/>
              <a:gd name="T40" fmla="*/ 21 w 75"/>
              <a:gd name="T41" fmla="*/ 83 h 205"/>
              <a:gd name="T42" fmla="*/ 31 w 75"/>
              <a:gd name="T43" fmla="*/ 86 h 205"/>
              <a:gd name="T44" fmla="*/ 31 w 75"/>
              <a:gd name="T45" fmla="*/ 94 h 205"/>
              <a:gd name="T46" fmla="*/ 26 w 75"/>
              <a:gd name="T47" fmla="*/ 102 h 205"/>
              <a:gd name="T48" fmla="*/ 15 w 75"/>
              <a:gd name="T49" fmla="*/ 102 h 205"/>
              <a:gd name="T50" fmla="*/ 5 w 75"/>
              <a:gd name="T51" fmla="*/ 109 h 205"/>
              <a:gd name="T52" fmla="*/ 5 w 75"/>
              <a:gd name="T53" fmla="*/ 117 h 205"/>
              <a:gd name="T54" fmla="*/ 10 w 75"/>
              <a:gd name="T55" fmla="*/ 124 h 205"/>
              <a:gd name="T56" fmla="*/ 21 w 75"/>
              <a:gd name="T57" fmla="*/ 128 h 205"/>
              <a:gd name="T58" fmla="*/ 26 w 75"/>
              <a:gd name="T59" fmla="*/ 136 h 205"/>
              <a:gd name="T60" fmla="*/ 26 w 75"/>
              <a:gd name="T61" fmla="*/ 143 h 205"/>
              <a:gd name="T62" fmla="*/ 15 w 75"/>
              <a:gd name="T63" fmla="*/ 147 h 205"/>
              <a:gd name="T64" fmla="*/ 5 w 75"/>
              <a:gd name="T65" fmla="*/ 151 h 205"/>
              <a:gd name="T66" fmla="*/ 0 w 75"/>
              <a:gd name="T67" fmla="*/ 158 h 205"/>
              <a:gd name="T68" fmla="*/ 0 w 75"/>
              <a:gd name="T69" fmla="*/ 166 h 205"/>
              <a:gd name="T70" fmla="*/ 10 w 75"/>
              <a:gd name="T71" fmla="*/ 170 h 205"/>
              <a:gd name="T72" fmla="*/ 10 w 75"/>
              <a:gd name="T73" fmla="*/ 177 h 205"/>
              <a:gd name="T74" fmla="*/ 10 w 75"/>
              <a:gd name="T75" fmla="*/ 185 h 205"/>
              <a:gd name="T76" fmla="*/ 21 w 75"/>
              <a:gd name="T77" fmla="*/ 185 h 205"/>
              <a:gd name="T78" fmla="*/ 26 w 75"/>
              <a:gd name="T79" fmla="*/ 192 h 205"/>
              <a:gd name="T80" fmla="*/ 63 w 75"/>
              <a:gd name="T81" fmla="*/ 204 h 205"/>
              <a:gd name="T82" fmla="*/ 68 w 75"/>
              <a:gd name="T83" fmla="*/ 204 h 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75" h="205">
                <a:moveTo>
                  <a:pt x="74" y="0"/>
                </a:moveTo>
                <a:lnTo>
                  <a:pt x="63" y="0"/>
                </a:lnTo>
                <a:lnTo>
                  <a:pt x="52" y="0"/>
                </a:lnTo>
                <a:lnTo>
                  <a:pt x="47" y="0"/>
                </a:lnTo>
                <a:lnTo>
                  <a:pt x="42" y="0"/>
                </a:lnTo>
                <a:lnTo>
                  <a:pt x="37" y="0"/>
                </a:lnTo>
                <a:lnTo>
                  <a:pt x="31" y="0"/>
                </a:lnTo>
                <a:lnTo>
                  <a:pt x="26" y="0"/>
                </a:lnTo>
                <a:lnTo>
                  <a:pt x="26" y="15"/>
                </a:lnTo>
                <a:lnTo>
                  <a:pt x="15" y="18"/>
                </a:lnTo>
                <a:lnTo>
                  <a:pt x="5" y="18"/>
                </a:lnTo>
                <a:lnTo>
                  <a:pt x="5" y="26"/>
                </a:lnTo>
                <a:lnTo>
                  <a:pt x="15" y="30"/>
                </a:lnTo>
                <a:lnTo>
                  <a:pt x="21" y="37"/>
                </a:lnTo>
                <a:lnTo>
                  <a:pt x="21" y="45"/>
                </a:lnTo>
                <a:lnTo>
                  <a:pt x="10" y="52"/>
                </a:lnTo>
                <a:lnTo>
                  <a:pt x="0" y="56"/>
                </a:lnTo>
                <a:lnTo>
                  <a:pt x="0" y="64"/>
                </a:lnTo>
                <a:lnTo>
                  <a:pt x="5" y="71"/>
                </a:lnTo>
                <a:lnTo>
                  <a:pt x="15" y="75"/>
                </a:lnTo>
                <a:lnTo>
                  <a:pt x="21" y="83"/>
                </a:lnTo>
                <a:lnTo>
                  <a:pt x="31" y="86"/>
                </a:lnTo>
                <a:lnTo>
                  <a:pt x="31" y="94"/>
                </a:lnTo>
                <a:lnTo>
                  <a:pt x="26" y="102"/>
                </a:lnTo>
                <a:lnTo>
                  <a:pt x="15" y="102"/>
                </a:lnTo>
                <a:lnTo>
                  <a:pt x="5" y="109"/>
                </a:lnTo>
                <a:lnTo>
                  <a:pt x="5" y="117"/>
                </a:lnTo>
                <a:lnTo>
                  <a:pt x="10" y="124"/>
                </a:lnTo>
                <a:lnTo>
                  <a:pt x="21" y="128"/>
                </a:lnTo>
                <a:lnTo>
                  <a:pt x="26" y="136"/>
                </a:lnTo>
                <a:lnTo>
                  <a:pt x="26" y="143"/>
                </a:lnTo>
                <a:lnTo>
                  <a:pt x="15" y="147"/>
                </a:lnTo>
                <a:lnTo>
                  <a:pt x="5" y="151"/>
                </a:lnTo>
                <a:lnTo>
                  <a:pt x="0" y="158"/>
                </a:lnTo>
                <a:lnTo>
                  <a:pt x="0" y="166"/>
                </a:lnTo>
                <a:lnTo>
                  <a:pt x="10" y="170"/>
                </a:lnTo>
                <a:lnTo>
                  <a:pt x="10" y="177"/>
                </a:lnTo>
                <a:lnTo>
                  <a:pt x="10" y="185"/>
                </a:lnTo>
                <a:lnTo>
                  <a:pt x="21" y="185"/>
                </a:lnTo>
                <a:lnTo>
                  <a:pt x="26" y="192"/>
                </a:lnTo>
                <a:lnTo>
                  <a:pt x="63" y="204"/>
                </a:lnTo>
                <a:lnTo>
                  <a:pt x="68" y="204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1709849A-1AD8-ADBE-0B80-A665635AF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1475" y="1054100"/>
            <a:ext cx="177800" cy="393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4E24D7C4-F4AC-BE90-7723-A9C3363E7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" y="1458913"/>
            <a:ext cx="3843338" cy="18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 sz="1200" b="1">
                <a:latin typeface="Courier New" panose="02070309020205020404" pitchFamily="49" charset="0"/>
              </a:rPr>
              <a:t>  1        2     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200" b="1">
                <a:latin typeface="Courier New" panose="02070309020205020404" pitchFamily="49" charset="0"/>
              </a:rPr>
              <a:t>        4         5</a:t>
            </a:r>
          </a:p>
        </p:txBody>
      </p:sp>
      <p:sp>
        <p:nvSpPr>
          <p:cNvPr id="7178" name="AutoShape 10">
            <a:extLst>
              <a:ext uri="{FF2B5EF4-FFF2-40B4-BE49-F238E27FC236}">
                <a16:creationId xmlns:a16="http://schemas.microsoft.com/office/drawing/2014/main" id="{2508AA6F-50EF-90F7-3499-5EFA8D4D3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1163638"/>
            <a:ext cx="311150" cy="139700"/>
          </a:xfrm>
          <a:prstGeom prst="rightArrow">
            <a:avLst>
              <a:gd name="adj1" fmla="val 50000"/>
              <a:gd name="adj2" fmla="val 111374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7961" dir="2700000" algn="ctr" rotWithShape="0">
              <a:schemeClr val="folHlink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83025564-2213-4DFF-94CD-14469E07E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855663"/>
            <a:ext cx="1123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CountyName</a:t>
            </a: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3542D667-7D01-3FCE-5798-F8513955B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AB0A67D4-17F0-A5D2-145F-30C5313CE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3" y="41275"/>
            <a:ext cx="5429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altLang="en-US" sz="1200" b="1">
                <a:latin typeface="Arial" panose="020B0604020202020204" pitchFamily="34" charset="0"/>
              </a:rPr>
              <a:t>TaxRec</a:t>
            </a: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1E2914EB-9FDB-DD91-863F-B7DBF62AD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50641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PAYENum</a:t>
            </a:r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F0ADDB78-71C9-1598-8C4D-AE991E88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487363"/>
            <a:ext cx="7175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TaxPaid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8BC3EC4E-0CBB-0D4B-510E-2DC81F160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487363"/>
            <a:ext cx="6413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</a:t>
            </a: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4BEF4330-8EE3-7B65-6EFE-3E41BB5CF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55D40F31-2515-EC19-FC59-8031509EF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5650" y="206375"/>
            <a:ext cx="9207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CE6FEAE3-B607-8922-D3E9-77F627E6E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Clare</a:t>
            </a:r>
          </a:p>
        </p:txBody>
      </p:sp>
      <p:sp>
        <p:nvSpPr>
          <p:cNvPr id="7188" name="Rectangle 20">
            <a:extLst>
              <a:ext uri="{FF2B5EF4-FFF2-40B4-BE49-F238E27FC236}">
                <a16:creationId xmlns:a16="http://schemas.microsoft.com/office/drawing/2014/main" id="{148A0BA7-49E4-A62E-CA7F-37B52AAE2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93675"/>
            <a:ext cx="9747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12345678</a:t>
            </a:r>
          </a:p>
        </p:txBody>
      </p:sp>
      <p:grpSp>
        <p:nvGrpSpPr>
          <p:cNvPr id="7205" name="Group 37">
            <a:extLst>
              <a:ext uri="{FF2B5EF4-FFF2-40B4-BE49-F238E27FC236}">
                <a16:creationId xmlns:a16="http://schemas.microsoft.com/office/drawing/2014/main" id="{336CD5BB-D6AC-A3A4-67D9-6ED63F7C7766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1889125"/>
            <a:ext cx="4430713" cy="685800"/>
            <a:chOff x="104" y="1190"/>
            <a:chExt cx="2791" cy="432"/>
          </a:xfrm>
        </p:grpSpPr>
        <p:sp>
          <p:nvSpPr>
            <p:cNvPr id="7189" name="Rectangle 21">
              <a:extLst>
                <a:ext uri="{FF2B5EF4-FFF2-40B4-BE49-F238E27FC236}">
                  <a16:creationId xmlns:a16="http://schemas.microsoft.com/office/drawing/2014/main" id="{B252C6F0-C8B9-0AB0-F48C-1DD665F84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" y="1507"/>
              <a:ext cx="2017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0" rIns="92075" bIns="0">
              <a:spAutoFit/>
            </a:bodyPr>
            <a:lstStyle/>
            <a:p>
              <a:r>
                <a:rPr lang="en-US" altLang="en-US" sz="1200" b="1">
                  <a:latin typeface="Courier New" panose="02070309020205020404" pitchFamily="49" charset="0"/>
                </a:rPr>
                <a:t>1    2 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3 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4    5 </a:t>
              </a:r>
              <a:r>
                <a:rPr lang="en-US" altLang="en-US" b="1">
                  <a:latin typeface="Courier New" panose="02070309020205020404" pitchFamily="49" charset="0"/>
                </a:rPr>
                <a:t>  </a:t>
              </a:r>
              <a:r>
                <a:rPr lang="en-US" altLang="en-US" sz="1200" b="1">
                  <a:latin typeface="Courier New" panose="02070309020205020404" pitchFamily="49" charset="0"/>
                </a:rPr>
                <a:t>  6    7</a:t>
              </a:r>
            </a:p>
          </p:txBody>
        </p:sp>
        <p:sp>
          <p:nvSpPr>
            <p:cNvPr id="7190" name="Rectangle 22">
              <a:extLst>
                <a:ext uri="{FF2B5EF4-FFF2-40B4-BE49-F238E27FC236}">
                  <a16:creationId xmlns:a16="http://schemas.microsoft.com/office/drawing/2014/main" id="{70C894DA-EDDA-CB24-B1E9-A19B762A8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" y="1190"/>
              <a:ext cx="49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en-US" sz="1200" b="1">
                  <a:latin typeface="Arial" panose="020B0604020202020204" pitchFamily="34" charset="0"/>
                </a:rPr>
                <a:t>CountyTax</a:t>
              </a:r>
            </a:p>
          </p:txBody>
        </p:sp>
        <p:sp>
          <p:nvSpPr>
            <p:cNvPr id="7191" name="Rectangle 23">
              <a:extLst>
                <a:ext uri="{FF2B5EF4-FFF2-40B4-BE49-F238E27FC236}">
                  <a16:creationId xmlns:a16="http://schemas.microsoft.com/office/drawing/2014/main" id="{F2DCEE02-054D-4C1D-F8B2-C4A3EACFE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2" name="Rectangle 24">
              <a:extLst>
                <a:ext uri="{FF2B5EF4-FFF2-40B4-BE49-F238E27FC236}">
                  <a16:creationId xmlns:a16="http://schemas.microsoft.com/office/drawing/2014/main" id="{3E1B1BCE-F492-B49C-4CB5-9820EDFC2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3" name="Rectangle 25">
              <a:extLst>
                <a:ext uri="{FF2B5EF4-FFF2-40B4-BE49-F238E27FC236}">
                  <a16:creationId xmlns:a16="http://schemas.microsoft.com/office/drawing/2014/main" id="{66FDBBDC-31F0-E4AE-3A32-E61005E1B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4" name="Rectangle 26">
              <a:extLst>
                <a:ext uri="{FF2B5EF4-FFF2-40B4-BE49-F238E27FC236}">
                  <a16:creationId xmlns:a16="http://schemas.microsoft.com/office/drawing/2014/main" id="{9668D1A4-B7B6-9115-F27C-E2B0A361D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" y="1310"/>
              <a:ext cx="309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Rectangle 27">
              <a:extLst>
                <a:ext uri="{FF2B5EF4-FFF2-40B4-BE49-F238E27FC236}">
                  <a16:creationId xmlns:a16="http://schemas.microsoft.com/office/drawing/2014/main" id="{067B84A4-5457-ADCD-C6A7-C38F1C91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6" y="1310"/>
              <a:ext cx="307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Rectangle 28">
              <a:extLst>
                <a:ext uri="{FF2B5EF4-FFF2-40B4-BE49-F238E27FC236}">
                  <a16:creationId xmlns:a16="http://schemas.microsoft.com/office/drawing/2014/main" id="{DB14315E-FF6F-3B21-8F9B-8A3D1947B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Rectangle 29">
              <a:extLst>
                <a:ext uri="{FF2B5EF4-FFF2-40B4-BE49-F238E27FC236}">
                  <a16:creationId xmlns:a16="http://schemas.microsoft.com/office/drawing/2014/main" id="{EE225DF8-90A9-4924-019E-3FCA2A3F2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310"/>
              <a:ext cx="308" cy="186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8" name="Rectangle 30">
              <a:extLst>
                <a:ext uri="{FF2B5EF4-FFF2-40B4-BE49-F238E27FC236}">
                  <a16:creationId xmlns:a16="http://schemas.microsoft.com/office/drawing/2014/main" id="{F6C6DFCE-736E-A038-BBB2-35679CCD8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" y="1313"/>
              <a:ext cx="2223" cy="17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01" name="Group 33">
              <a:extLst>
                <a:ext uri="{FF2B5EF4-FFF2-40B4-BE49-F238E27FC236}">
                  <a16:creationId xmlns:a16="http://schemas.microsoft.com/office/drawing/2014/main" id="{51AB80D0-6731-4B45-D092-BA958EFD7C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8" y="1304"/>
              <a:ext cx="104" cy="200"/>
              <a:chOff x="2248" y="1304"/>
              <a:chExt cx="104" cy="200"/>
            </a:xfrm>
          </p:grpSpPr>
          <p:sp>
            <p:nvSpPr>
              <p:cNvPr id="7199" name="Freeform 31">
                <a:extLst>
                  <a:ext uri="{FF2B5EF4-FFF2-40B4-BE49-F238E27FC236}">
                    <a16:creationId xmlns:a16="http://schemas.microsoft.com/office/drawing/2014/main" id="{8A363FC3-0C7A-586E-5BBD-D841F34A8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8" y="1312"/>
                <a:ext cx="58" cy="185"/>
              </a:xfrm>
              <a:custGeom>
                <a:avLst/>
                <a:gdLst>
                  <a:gd name="T0" fmla="*/ 57 w 58"/>
                  <a:gd name="T1" fmla="*/ 0 h 185"/>
                  <a:gd name="T2" fmla="*/ 45 w 58"/>
                  <a:gd name="T3" fmla="*/ 0 h 185"/>
                  <a:gd name="T4" fmla="*/ 34 w 58"/>
                  <a:gd name="T5" fmla="*/ 0 h 185"/>
                  <a:gd name="T6" fmla="*/ 22 w 58"/>
                  <a:gd name="T7" fmla="*/ 4 h 185"/>
                  <a:gd name="T8" fmla="*/ 22 w 58"/>
                  <a:gd name="T9" fmla="*/ 12 h 185"/>
                  <a:gd name="T10" fmla="*/ 22 w 58"/>
                  <a:gd name="T11" fmla="*/ 20 h 185"/>
                  <a:gd name="T12" fmla="*/ 17 w 58"/>
                  <a:gd name="T13" fmla="*/ 28 h 185"/>
                  <a:gd name="T14" fmla="*/ 11 w 58"/>
                  <a:gd name="T15" fmla="*/ 36 h 185"/>
                  <a:gd name="T16" fmla="*/ 11 w 58"/>
                  <a:gd name="T17" fmla="*/ 44 h 185"/>
                  <a:gd name="T18" fmla="*/ 22 w 58"/>
                  <a:gd name="T19" fmla="*/ 49 h 185"/>
                  <a:gd name="T20" fmla="*/ 22 w 58"/>
                  <a:gd name="T21" fmla="*/ 57 h 185"/>
                  <a:gd name="T22" fmla="*/ 17 w 58"/>
                  <a:gd name="T23" fmla="*/ 65 h 185"/>
                  <a:gd name="T24" fmla="*/ 5 w 58"/>
                  <a:gd name="T25" fmla="*/ 69 h 185"/>
                  <a:gd name="T26" fmla="*/ 5 w 58"/>
                  <a:gd name="T27" fmla="*/ 77 h 185"/>
                  <a:gd name="T28" fmla="*/ 5 w 58"/>
                  <a:gd name="T29" fmla="*/ 85 h 185"/>
                  <a:gd name="T30" fmla="*/ 17 w 58"/>
                  <a:gd name="T31" fmla="*/ 89 h 185"/>
                  <a:gd name="T32" fmla="*/ 22 w 58"/>
                  <a:gd name="T33" fmla="*/ 98 h 185"/>
                  <a:gd name="T34" fmla="*/ 17 w 58"/>
                  <a:gd name="T35" fmla="*/ 106 h 185"/>
                  <a:gd name="T36" fmla="*/ 11 w 58"/>
                  <a:gd name="T37" fmla="*/ 114 h 185"/>
                  <a:gd name="T38" fmla="*/ 0 w 58"/>
                  <a:gd name="T39" fmla="*/ 118 h 185"/>
                  <a:gd name="T40" fmla="*/ 0 w 58"/>
                  <a:gd name="T41" fmla="*/ 126 h 185"/>
                  <a:gd name="T42" fmla="*/ 11 w 58"/>
                  <a:gd name="T43" fmla="*/ 134 h 185"/>
                  <a:gd name="T44" fmla="*/ 17 w 58"/>
                  <a:gd name="T45" fmla="*/ 143 h 185"/>
                  <a:gd name="T46" fmla="*/ 5 w 58"/>
                  <a:gd name="T47" fmla="*/ 147 h 185"/>
                  <a:gd name="T48" fmla="*/ 5 w 58"/>
                  <a:gd name="T49" fmla="*/ 155 h 185"/>
                  <a:gd name="T50" fmla="*/ 5 w 58"/>
                  <a:gd name="T51" fmla="*/ 163 h 185"/>
                  <a:gd name="T52" fmla="*/ 17 w 58"/>
                  <a:gd name="T53" fmla="*/ 163 h 185"/>
                  <a:gd name="T54" fmla="*/ 17 w 58"/>
                  <a:gd name="T55" fmla="*/ 171 h 185"/>
                  <a:gd name="T56" fmla="*/ 22 w 58"/>
                  <a:gd name="T57" fmla="*/ 179 h 185"/>
                  <a:gd name="T58" fmla="*/ 34 w 58"/>
                  <a:gd name="T59" fmla="*/ 184 h 185"/>
                  <a:gd name="T60" fmla="*/ 45 w 58"/>
                  <a:gd name="T61" fmla="*/ 184 h 185"/>
                  <a:gd name="T62" fmla="*/ 57 w 58"/>
                  <a:gd name="T63" fmla="*/ 184 h 185"/>
                  <a:gd name="T64" fmla="*/ 57 w 58"/>
                  <a:gd name="T6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58" h="185">
                    <a:moveTo>
                      <a:pt x="57" y="0"/>
                    </a:moveTo>
                    <a:lnTo>
                      <a:pt x="45" y="0"/>
                    </a:lnTo>
                    <a:lnTo>
                      <a:pt x="34" y="0"/>
                    </a:lnTo>
                    <a:lnTo>
                      <a:pt x="22" y="4"/>
                    </a:lnTo>
                    <a:lnTo>
                      <a:pt x="22" y="12"/>
                    </a:lnTo>
                    <a:lnTo>
                      <a:pt x="22" y="20"/>
                    </a:lnTo>
                    <a:lnTo>
                      <a:pt x="17" y="28"/>
                    </a:lnTo>
                    <a:lnTo>
                      <a:pt x="11" y="36"/>
                    </a:lnTo>
                    <a:lnTo>
                      <a:pt x="11" y="44"/>
                    </a:lnTo>
                    <a:lnTo>
                      <a:pt x="22" y="49"/>
                    </a:lnTo>
                    <a:lnTo>
                      <a:pt x="22" y="57"/>
                    </a:lnTo>
                    <a:lnTo>
                      <a:pt x="17" y="65"/>
                    </a:lnTo>
                    <a:lnTo>
                      <a:pt x="5" y="69"/>
                    </a:lnTo>
                    <a:lnTo>
                      <a:pt x="5" y="77"/>
                    </a:lnTo>
                    <a:lnTo>
                      <a:pt x="5" y="85"/>
                    </a:lnTo>
                    <a:lnTo>
                      <a:pt x="17" y="89"/>
                    </a:lnTo>
                    <a:lnTo>
                      <a:pt x="22" y="98"/>
                    </a:lnTo>
                    <a:lnTo>
                      <a:pt x="17" y="106"/>
                    </a:lnTo>
                    <a:lnTo>
                      <a:pt x="11" y="114"/>
                    </a:lnTo>
                    <a:lnTo>
                      <a:pt x="0" y="118"/>
                    </a:lnTo>
                    <a:lnTo>
                      <a:pt x="0" y="126"/>
                    </a:lnTo>
                    <a:lnTo>
                      <a:pt x="11" y="134"/>
                    </a:lnTo>
                    <a:lnTo>
                      <a:pt x="17" y="143"/>
                    </a:lnTo>
                    <a:lnTo>
                      <a:pt x="5" y="147"/>
                    </a:lnTo>
                    <a:lnTo>
                      <a:pt x="5" y="155"/>
                    </a:lnTo>
                    <a:lnTo>
                      <a:pt x="5" y="163"/>
                    </a:lnTo>
                    <a:lnTo>
                      <a:pt x="17" y="163"/>
                    </a:lnTo>
                    <a:lnTo>
                      <a:pt x="17" y="171"/>
                    </a:lnTo>
                    <a:lnTo>
                      <a:pt x="22" y="179"/>
                    </a:lnTo>
                    <a:lnTo>
                      <a:pt x="34" y="184"/>
                    </a:lnTo>
                    <a:lnTo>
                      <a:pt x="45" y="184"/>
                    </a:lnTo>
                    <a:lnTo>
                      <a:pt x="57" y="184"/>
                    </a:lnTo>
                    <a:lnTo>
                      <a:pt x="57" y="0"/>
                    </a:lnTo>
                  </a:path>
                </a:pathLst>
              </a:custGeom>
              <a:solidFill>
                <a:schemeClr val="bg1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0" name="Rectangle 32">
                <a:extLst>
                  <a:ext uri="{FF2B5EF4-FFF2-40B4-BE49-F238E27FC236}">
                    <a16:creationId xmlns:a16="http://schemas.microsoft.com/office/drawing/2014/main" id="{CBDC2C9A-F705-E6CC-EE77-8503ED9285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4" y="1304"/>
                <a:ext cx="68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204" name="Group 36">
              <a:extLst>
                <a:ext uri="{FF2B5EF4-FFF2-40B4-BE49-F238E27FC236}">
                  <a16:creationId xmlns:a16="http://schemas.microsoft.com/office/drawing/2014/main" id="{CB2169E6-8C84-2591-B89E-278C050E2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3" y="1308"/>
              <a:ext cx="602" cy="212"/>
              <a:chOff x="2293" y="1308"/>
              <a:chExt cx="602" cy="212"/>
            </a:xfrm>
          </p:grpSpPr>
          <p:sp>
            <p:nvSpPr>
              <p:cNvPr id="7202" name="AutoShape 34">
                <a:extLst>
                  <a:ext uri="{FF2B5EF4-FFF2-40B4-BE49-F238E27FC236}">
                    <a16:creationId xmlns:a16="http://schemas.microsoft.com/office/drawing/2014/main" id="{2636AA9B-ED07-814F-551C-E3C4A8C93A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363"/>
                <a:ext cx="196" cy="88"/>
              </a:xfrm>
              <a:prstGeom prst="rightArrow">
                <a:avLst>
                  <a:gd name="adj1" fmla="val 50000"/>
                  <a:gd name="adj2" fmla="val 111374"/>
                </a:avLst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7961" dir="2700000" algn="ctr" rotWithShape="0">
                  <a:schemeClr val="folHlink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3" name="Rectangle 35">
                <a:extLst>
                  <a:ext uri="{FF2B5EF4-FFF2-40B4-BE49-F238E27FC236}">
                    <a16:creationId xmlns:a16="http://schemas.microsoft.com/office/drawing/2014/main" id="{6E3EC7D9-7E5E-23A9-7E39-92C1D328E2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5" y="1308"/>
                <a:ext cx="40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en-US"/>
                  <a:t>19 other</a:t>
                </a:r>
                <a:br>
                  <a:rPr lang="en-US" altLang="en-US"/>
                </a:br>
                <a:r>
                  <a:rPr lang="en-US" altLang="en-US"/>
                  <a:t>elements</a:t>
                </a:r>
              </a:p>
            </p:txBody>
          </p:sp>
        </p:grpSp>
      </p:grpSp>
      <p:sp>
        <p:nvSpPr>
          <p:cNvPr id="7206" name="Rectangle 38">
            <a:extLst>
              <a:ext uri="{FF2B5EF4-FFF2-40B4-BE49-F238E27FC236}">
                <a16:creationId xmlns:a16="http://schemas.microsoft.com/office/drawing/2014/main" id="{F74012C0-0AD4-7273-0390-15C2A660F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2809875"/>
            <a:ext cx="42084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200" b="1">
                <a:latin typeface="Courier New" panose="02070309020205020404" pitchFamily="49" charset="0"/>
              </a:rPr>
              <a:t>PERFORM VARYING CountyNum FROM 1 BY 1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  <a:t>        </a:t>
            </a:r>
            <a:r>
              <a:rPr lang="en-US" altLang="en-US" sz="1200" b="1">
                <a:latin typeface="Courier New" panose="02070309020205020404" pitchFamily="49" charset="0"/>
              </a:rPr>
              <a:t>UNTIL CountyName(CountyNum) = County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latin typeface="Courier New" panose="02070309020205020404" pitchFamily="49" charset="0"/>
              </a:rPr>
              <a:t>END-PERFORM</a:t>
            </a:r>
            <a:br>
              <a:rPr lang="en-US" altLang="en-US" sz="1200" b="1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ADD TaxPaid TO CountyTax(CountyNum)</a:t>
            </a:r>
          </a:p>
        </p:txBody>
      </p:sp>
      <p:sp>
        <p:nvSpPr>
          <p:cNvPr id="7207" name="Rectangle 39">
            <a:extLst>
              <a:ext uri="{FF2B5EF4-FFF2-40B4-BE49-F238E27FC236}">
                <a16:creationId xmlns:a16="http://schemas.microsoft.com/office/drawing/2014/main" id="{D32AB296-776D-7810-99D4-05FC71191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03200"/>
            <a:ext cx="692150" cy="2730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208" name="Rectangle 40">
            <a:extLst>
              <a:ext uri="{FF2B5EF4-FFF2-40B4-BE49-F238E27FC236}">
                <a16:creationId xmlns:a16="http://schemas.microsoft.com/office/drawing/2014/main" id="{B0C35BC3-BD4F-D399-CAC2-2835117D5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484188"/>
            <a:ext cx="8699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>
            <a:spAutoFit/>
          </a:bodyPr>
          <a:lstStyle/>
          <a:p>
            <a:r>
              <a:rPr lang="en-US" altLang="en-US">
                <a:latin typeface="Courier New" panose="02070309020205020404" pitchFamily="49" charset="0"/>
              </a:rPr>
              <a:t>CountyNum</a:t>
            </a:r>
          </a:p>
        </p:txBody>
      </p:sp>
      <p:sp>
        <p:nvSpPr>
          <p:cNvPr id="7209" name="Rectangle 41">
            <a:extLst>
              <a:ext uri="{FF2B5EF4-FFF2-40B4-BE49-F238E27FC236}">
                <a16:creationId xmlns:a16="http://schemas.microsoft.com/office/drawing/2014/main" id="{2861CB1A-77BF-6303-2769-20E87B809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19367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2ADA80B5-D974-00C9-4D25-0A71635A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450" y="2079625"/>
            <a:ext cx="9175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74.75</a:t>
            </a:r>
          </a:p>
        </p:txBody>
      </p:sp>
      <p:sp>
        <p:nvSpPr>
          <p:cNvPr id="7211" name="Arc 43">
            <a:extLst>
              <a:ext uri="{FF2B5EF4-FFF2-40B4-BE49-F238E27FC236}">
                <a16:creationId xmlns:a16="http://schemas.microsoft.com/office/drawing/2014/main" id="{FB774DFC-731D-FBB6-E795-EE4E71070B67}"/>
              </a:ext>
            </a:extLst>
          </p:cNvPr>
          <p:cNvSpPr>
            <a:spLocks/>
          </p:cNvSpPr>
          <p:nvPr/>
        </p:nvSpPr>
        <p:spPr bwMode="auto">
          <a:xfrm>
            <a:off x="1390650" y="381000"/>
            <a:ext cx="819150" cy="16573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58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87"/>
                  <a:pt x="9645" y="23"/>
                  <a:pt x="21558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87"/>
                  <a:pt x="9645" y="23"/>
                  <a:pt x="21558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737</TotalTime>
  <Words>295</Words>
  <Application>Microsoft Office PowerPoint</Application>
  <PresentationFormat>Custom</PresentationFormat>
  <Paragraphs>100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13</cp:revision>
  <dcterms:created xsi:type="dcterms:W3CDTF">1995-06-17T23:31:02Z</dcterms:created>
  <dcterms:modified xsi:type="dcterms:W3CDTF">2026-05-13T01:07:04Z</dcterms:modified>
</cp:coreProperties>
</file>