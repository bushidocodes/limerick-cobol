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1160"/>
            <a:ext cx="4746600" cy="379080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1461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Carlow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97632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Cavan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81440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64168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4797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Donegal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4111560" y="1098720"/>
            <a:ext cx="117720" cy="324360"/>
          </a:xfrm>
          <a:custGeom>
            <a:avLst/>
            <a:gdLst/>
            <a:ahLst/>
            <a:rect l="0" t="0" r="r" b="b"/>
            <a:pathLst>
              <a:path w="327" h="901">
                <a:moveTo>
                  <a:pt x="327" y="0"/>
                </a:moveTo>
                <a:lnTo>
                  <a:pt x="280" y="0"/>
                </a:lnTo>
                <a:lnTo>
                  <a:pt x="234" y="0"/>
                </a:lnTo>
                <a:lnTo>
                  <a:pt x="210" y="0"/>
                </a:lnTo>
                <a:lnTo>
                  <a:pt x="187" y="0"/>
                </a:lnTo>
                <a:lnTo>
                  <a:pt x="164" y="0"/>
                </a:lnTo>
                <a:lnTo>
                  <a:pt x="139" y="0"/>
                </a:lnTo>
                <a:lnTo>
                  <a:pt x="116" y="0"/>
                </a:lnTo>
                <a:lnTo>
                  <a:pt x="116" y="66"/>
                </a:lnTo>
                <a:lnTo>
                  <a:pt x="69" y="83"/>
                </a:lnTo>
                <a:lnTo>
                  <a:pt x="23" y="83"/>
                </a:lnTo>
                <a:lnTo>
                  <a:pt x="23" y="116"/>
                </a:lnTo>
                <a:lnTo>
                  <a:pt x="69" y="133"/>
                </a:lnTo>
                <a:lnTo>
                  <a:pt x="93" y="166"/>
                </a:lnTo>
                <a:lnTo>
                  <a:pt x="93" y="199"/>
                </a:lnTo>
                <a:lnTo>
                  <a:pt x="46" y="234"/>
                </a:lnTo>
                <a:lnTo>
                  <a:pt x="0" y="250"/>
                </a:lnTo>
                <a:lnTo>
                  <a:pt x="0" y="284"/>
                </a:lnTo>
                <a:lnTo>
                  <a:pt x="23" y="317"/>
                </a:lnTo>
                <a:lnTo>
                  <a:pt x="69" y="334"/>
                </a:lnTo>
                <a:lnTo>
                  <a:pt x="93" y="367"/>
                </a:lnTo>
                <a:lnTo>
                  <a:pt x="139" y="384"/>
                </a:lnTo>
                <a:lnTo>
                  <a:pt x="139" y="417"/>
                </a:lnTo>
                <a:lnTo>
                  <a:pt x="116" y="450"/>
                </a:lnTo>
                <a:lnTo>
                  <a:pt x="69" y="450"/>
                </a:lnTo>
                <a:lnTo>
                  <a:pt x="23" y="484"/>
                </a:lnTo>
                <a:lnTo>
                  <a:pt x="23" y="517"/>
                </a:lnTo>
                <a:lnTo>
                  <a:pt x="46" y="550"/>
                </a:lnTo>
                <a:lnTo>
                  <a:pt x="93" y="567"/>
                </a:lnTo>
                <a:lnTo>
                  <a:pt x="116" y="600"/>
                </a:lnTo>
                <a:lnTo>
                  <a:pt x="116" y="634"/>
                </a:lnTo>
                <a:lnTo>
                  <a:pt x="69" y="650"/>
                </a:lnTo>
                <a:lnTo>
                  <a:pt x="23" y="667"/>
                </a:lnTo>
                <a:lnTo>
                  <a:pt x="0" y="701"/>
                </a:lnTo>
                <a:lnTo>
                  <a:pt x="0" y="734"/>
                </a:lnTo>
                <a:lnTo>
                  <a:pt x="46" y="751"/>
                </a:lnTo>
                <a:lnTo>
                  <a:pt x="46" y="784"/>
                </a:lnTo>
                <a:lnTo>
                  <a:pt x="46" y="818"/>
                </a:lnTo>
                <a:lnTo>
                  <a:pt x="93" y="818"/>
                </a:lnTo>
                <a:lnTo>
                  <a:pt x="116" y="851"/>
                </a:lnTo>
                <a:lnTo>
                  <a:pt x="280" y="901"/>
                </a:lnTo>
                <a:lnTo>
                  <a:pt x="304" y="901"/>
                </a:lnTo>
                <a:lnTo>
                  <a:pt x="32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4181400" y="1054080"/>
            <a:ext cx="177840" cy="39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2600" y="1459080"/>
            <a:ext cx="38419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1        2        3        4         5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4214880" y="115740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6320" y="855720"/>
            <a:ext cx="1123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15228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9160" y="4140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90440" y="50652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114640" y="48744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181160" y="487440"/>
            <a:ext cx="6415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108576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201924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201924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74.75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08576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17360" y="19368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" name=""/>
          <p:cNvGrpSpPr/>
          <p:nvPr/>
        </p:nvGrpSpPr>
        <p:grpSpPr>
          <a:xfrm>
            <a:off x="152280" y="1889280"/>
            <a:ext cx="4443480" cy="685440"/>
            <a:chOff x="152280" y="1889280"/>
            <a:chExt cx="4443480" cy="685440"/>
          </a:xfrm>
        </p:grpSpPr>
        <p:sp>
          <p:nvSpPr>
            <p:cNvPr id="29" name=""/>
            <p:cNvSpPr txBox="1"/>
            <p:nvPr/>
          </p:nvSpPr>
          <p:spPr>
            <a:xfrm>
              <a:off x="298440" y="2392200"/>
              <a:ext cx="320184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1    2 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3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4    5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6    7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" name=""/>
            <p:cNvSpPr txBox="1"/>
            <p:nvPr/>
          </p:nvSpPr>
          <p:spPr>
            <a:xfrm>
              <a:off x="195120" y="1889280"/>
              <a:ext cx="78732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CountyTax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"/>
            <p:cNvSpPr/>
            <p:nvPr/>
          </p:nvSpPr>
          <p:spPr>
            <a:xfrm>
              <a:off x="17136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" name=""/>
            <p:cNvSpPr/>
            <p:nvPr/>
          </p:nvSpPr>
          <p:spPr>
            <a:xfrm>
              <a:off x="6667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115884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164952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21463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263520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"/>
            <p:cNvSpPr/>
            <p:nvPr/>
          </p:nvSpPr>
          <p:spPr>
            <a:xfrm>
              <a:off x="312408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152280" y="2071800"/>
              <a:ext cx="3554280" cy="30960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" name=""/>
            <p:cNvGrpSpPr/>
            <p:nvPr/>
          </p:nvGrpSpPr>
          <p:grpSpPr>
            <a:xfrm>
              <a:off x="3568680" y="2070000"/>
              <a:ext cx="165240" cy="317520"/>
              <a:chOff x="3568680" y="2070000"/>
              <a:chExt cx="165240" cy="317520"/>
            </a:xfrm>
          </p:grpSpPr>
          <p:sp>
            <p:nvSpPr>
              <p:cNvPr id="40" name=""/>
              <p:cNvSpPr/>
              <p:nvPr/>
            </p:nvSpPr>
            <p:spPr>
              <a:xfrm>
                <a:off x="3568680" y="2082960"/>
                <a:ext cx="90720" cy="292320"/>
              </a:xfrm>
              <a:custGeom>
                <a:avLst/>
                <a:gdLst/>
                <a:ahLst/>
                <a:rect l="0" t="0" r="r" b="b"/>
                <a:pathLst>
                  <a:path w="252" h="812">
                    <a:moveTo>
                      <a:pt x="252" y="0"/>
                    </a:moveTo>
                    <a:lnTo>
                      <a:pt x="202" y="0"/>
                    </a:lnTo>
                    <a:lnTo>
                      <a:pt x="151" y="0"/>
                    </a:lnTo>
                    <a:lnTo>
                      <a:pt x="100" y="18"/>
                    </a:lnTo>
                    <a:lnTo>
                      <a:pt x="100" y="54"/>
                    </a:lnTo>
                    <a:lnTo>
                      <a:pt x="100" y="90"/>
                    </a:lnTo>
                    <a:lnTo>
                      <a:pt x="75" y="126"/>
                    </a:lnTo>
                    <a:lnTo>
                      <a:pt x="50" y="162"/>
                    </a:lnTo>
                    <a:lnTo>
                      <a:pt x="50" y="198"/>
                    </a:lnTo>
                    <a:lnTo>
                      <a:pt x="100" y="216"/>
                    </a:lnTo>
                    <a:lnTo>
                      <a:pt x="100" y="252"/>
                    </a:lnTo>
                    <a:lnTo>
                      <a:pt x="75" y="288"/>
                    </a:lnTo>
                    <a:lnTo>
                      <a:pt x="25" y="306"/>
                    </a:lnTo>
                    <a:lnTo>
                      <a:pt x="25" y="342"/>
                    </a:lnTo>
                    <a:lnTo>
                      <a:pt x="25" y="378"/>
                    </a:lnTo>
                    <a:lnTo>
                      <a:pt x="75" y="396"/>
                    </a:lnTo>
                    <a:lnTo>
                      <a:pt x="100" y="433"/>
                    </a:lnTo>
                    <a:lnTo>
                      <a:pt x="75" y="469"/>
                    </a:lnTo>
                    <a:lnTo>
                      <a:pt x="50" y="505"/>
                    </a:lnTo>
                    <a:lnTo>
                      <a:pt x="0" y="523"/>
                    </a:lnTo>
                    <a:lnTo>
                      <a:pt x="0" y="559"/>
                    </a:lnTo>
                    <a:lnTo>
                      <a:pt x="50" y="596"/>
                    </a:lnTo>
                    <a:lnTo>
                      <a:pt x="75" y="632"/>
                    </a:lnTo>
                    <a:lnTo>
                      <a:pt x="25" y="650"/>
                    </a:lnTo>
                    <a:lnTo>
                      <a:pt x="25" y="686"/>
                    </a:lnTo>
                    <a:lnTo>
                      <a:pt x="25" y="722"/>
                    </a:lnTo>
                    <a:lnTo>
                      <a:pt x="75" y="722"/>
                    </a:lnTo>
                    <a:lnTo>
                      <a:pt x="75" y="758"/>
                    </a:lnTo>
                    <a:lnTo>
                      <a:pt x="100" y="794"/>
                    </a:lnTo>
                    <a:lnTo>
                      <a:pt x="151" y="812"/>
                    </a:lnTo>
                    <a:lnTo>
                      <a:pt x="202" y="812"/>
                    </a:lnTo>
                    <a:lnTo>
                      <a:pt x="252" y="812"/>
                    </a:lnTo>
                    <a:lnTo>
                      <a:pt x="252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" name=""/>
              <p:cNvSpPr/>
              <p:nvPr/>
            </p:nvSpPr>
            <p:spPr>
              <a:xfrm>
                <a:off x="3625920" y="2070000"/>
                <a:ext cx="108000" cy="317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42" name=""/>
            <p:cNvGrpSpPr/>
            <p:nvPr/>
          </p:nvGrpSpPr>
          <p:grpSpPr>
            <a:xfrm>
              <a:off x="3633840" y="2076480"/>
              <a:ext cx="961920" cy="336600"/>
              <a:chOff x="3633840" y="2076480"/>
              <a:chExt cx="961920" cy="336600"/>
            </a:xfrm>
          </p:grpSpPr>
          <p:sp>
            <p:nvSpPr>
              <p:cNvPr id="43" name=""/>
              <p:cNvSpPr/>
              <p:nvPr/>
            </p:nvSpPr>
            <p:spPr>
              <a:xfrm>
                <a:off x="3633840" y="2157480"/>
                <a:ext cx="324360" cy="152640"/>
              </a:xfrm>
              <a:custGeom>
                <a:avLst/>
                <a:gdLst/>
                <a:ahLst/>
                <a:rect l="0" t="0" r="r" b="b"/>
                <a:pathLst>
                  <a:path w="901" h="424">
                    <a:moveTo>
                      <a:pt x="0" y="140"/>
                    </a:moveTo>
                    <a:lnTo>
                      <a:pt x="0" y="282"/>
                    </a:lnTo>
                    <a:lnTo>
                      <a:pt x="630" y="282"/>
                    </a:lnTo>
                    <a:lnTo>
                      <a:pt x="630" y="424"/>
                    </a:lnTo>
                    <a:lnTo>
                      <a:pt x="901" y="211"/>
                    </a:lnTo>
                    <a:lnTo>
                      <a:pt x="630" y="0"/>
                    </a:lnTo>
                    <a:lnTo>
                      <a:pt x="630" y="140"/>
                    </a:lnTo>
                    <a:lnTo>
                      <a:pt x="0" y="140"/>
                    </a:lnTo>
                    <a:close/>
                  </a:path>
                </a:pathLst>
              </a:custGeom>
              <a:solidFill>
                <a:srgbClr val="DDDDDD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" name=""/>
              <p:cNvSpPr txBox="1"/>
              <p:nvPr/>
            </p:nvSpPr>
            <p:spPr>
              <a:xfrm>
                <a:off x="3960720" y="2076480"/>
                <a:ext cx="635040" cy="3366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80000"/>
                  </a:lnSpc>
                </a:pP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19 other</a:t>
                </a:r>
                <a:br>
                  <a:rPr sz="1000"/>
                </a:b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elements</a:t>
                </a:r>
                <a:endParaRPr lang="en-US" sz="10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5" name=""/>
          <p:cNvSpPr txBox="1"/>
          <p:nvPr/>
        </p:nvSpPr>
        <p:spPr>
          <a:xfrm>
            <a:off x="438120" y="2809800"/>
            <a:ext cx="420840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CountyNum FROM 1 BY 1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UNTIL CountyName(CountyNum) = County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CountyTax(CountyNum)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714840" y="196920"/>
            <a:ext cx="7048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638520" y="484200"/>
            <a:ext cx="8701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 txBox="1"/>
          <p:nvPr/>
        </p:nvSpPr>
        <p:spPr>
          <a:xfrm>
            <a:off x="1461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Carlow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7632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Cavan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81440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264168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4797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Donegal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111560" y="1098720"/>
            <a:ext cx="117720" cy="324360"/>
          </a:xfrm>
          <a:custGeom>
            <a:avLst/>
            <a:gdLst/>
            <a:ahLst/>
            <a:rect l="0" t="0" r="r" b="b"/>
            <a:pathLst>
              <a:path w="327" h="901">
                <a:moveTo>
                  <a:pt x="327" y="0"/>
                </a:moveTo>
                <a:lnTo>
                  <a:pt x="280" y="0"/>
                </a:lnTo>
                <a:lnTo>
                  <a:pt x="234" y="0"/>
                </a:lnTo>
                <a:lnTo>
                  <a:pt x="210" y="0"/>
                </a:lnTo>
                <a:lnTo>
                  <a:pt x="187" y="0"/>
                </a:lnTo>
                <a:lnTo>
                  <a:pt x="164" y="0"/>
                </a:lnTo>
                <a:lnTo>
                  <a:pt x="139" y="0"/>
                </a:lnTo>
                <a:lnTo>
                  <a:pt x="116" y="0"/>
                </a:lnTo>
                <a:lnTo>
                  <a:pt x="116" y="66"/>
                </a:lnTo>
                <a:lnTo>
                  <a:pt x="69" y="83"/>
                </a:lnTo>
                <a:lnTo>
                  <a:pt x="23" y="83"/>
                </a:lnTo>
                <a:lnTo>
                  <a:pt x="23" y="116"/>
                </a:lnTo>
                <a:lnTo>
                  <a:pt x="69" y="133"/>
                </a:lnTo>
                <a:lnTo>
                  <a:pt x="93" y="166"/>
                </a:lnTo>
                <a:lnTo>
                  <a:pt x="93" y="199"/>
                </a:lnTo>
                <a:lnTo>
                  <a:pt x="46" y="234"/>
                </a:lnTo>
                <a:lnTo>
                  <a:pt x="0" y="250"/>
                </a:lnTo>
                <a:lnTo>
                  <a:pt x="0" y="284"/>
                </a:lnTo>
                <a:lnTo>
                  <a:pt x="23" y="317"/>
                </a:lnTo>
                <a:lnTo>
                  <a:pt x="69" y="334"/>
                </a:lnTo>
                <a:lnTo>
                  <a:pt x="93" y="367"/>
                </a:lnTo>
                <a:lnTo>
                  <a:pt x="139" y="384"/>
                </a:lnTo>
                <a:lnTo>
                  <a:pt x="139" y="417"/>
                </a:lnTo>
                <a:lnTo>
                  <a:pt x="116" y="450"/>
                </a:lnTo>
                <a:lnTo>
                  <a:pt x="69" y="450"/>
                </a:lnTo>
                <a:lnTo>
                  <a:pt x="23" y="484"/>
                </a:lnTo>
                <a:lnTo>
                  <a:pt x="23" y="517"/>
                </a:lnTo>
                <a:lnTo>
                  <a:pt x="46" y="550"/>
                </a:lnTo>
                <a:lnTo>
                  <a:pt x="93" y="567"/>
                </a:lnTo>
                <a:lnTo>
                  <a:pt x="116" y="600"/>
                </a:lnTo>
                <a:lnTo>
                  <a:pt x="116" y="634"/>
                </a:lnTo>
                <a:lnTo>
                  <a:pt x="69" y="650"/>
                </a:lnTo>
                <a:lnTo>
                  <a:pt x="23" y="667"/>
                </a:lnTo>
                <a:lnTo>
                  <a:pt x="0" y="701"/>
                </a:lnTo>
                <a:lnTo>
                  <a:pt x="0" y="734"/>
                </a:lnTo>
                <a:lnTo>
                  <a:pt x="46" y="751"/>
                </a:lnTo>
                <a:lnTo>
                  <a:pt x="46" y="784"/>
                </a:lnTo>
                <a:lnTo>
                  <a:pt x="46" y="818"/>
                </a:lnTo>
                <a:lnTo>
                  <a:pt x="93" y="818"/>
                </a:lnTo>
                <a:lnTo>
                  <a:pt x="116" y="851"/>
                </a:lnTo>
                <a:lnTo>
                  <a:pt x="280" y="901"/>
                </a:lnTo>
                <a:lnTo>
                  <a:pt x="304" y="901"/>
                </a:lnTo>
                <a:lnTo>
                  <a:pt x="32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4181400" y="1054080"/>
            <a:ext cx="177840" cy="39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282600" y="1459080"/>
            <a:ext cx="38433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1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2        3        4         5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214880" y="115740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76320" y="855720"/>
            <a:ext cx="1123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5228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19160" y="4140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90440" y="50652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2114640" y="48744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81160" y="487440"/>
            <a:ext cx="6415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08576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201924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201924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74.75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8576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7360" y="19368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"/>
          <p:cNvGrpSpPr/>
          <p:nvPr/>
        </p:nvGrpSpPr>
        <p:grpSpPr>
          <a:xfrm>
            <a:off x="152280" y="1889280"/>
            <a:ext cx="4443480" cy="685440"/>
            <a:chOff x="152280" y="1889280"/>
            <a:chExt cx="4443480" cy="685440"/>
          </a:xfrm>
        </p:grpSpPr>
        <p:sp>
          <p:nvSpPr>
            <p:cNvPr id="69" name=""/>
            <p:cNvSpPr txBox="1"/>
            <p:nvPr/>
          </p:nvSpPr>
          <p:spPr>
            <a:xfrm>
              <a:off x="298440" y="2392200"/>
              <a:ext cx="320184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1    2 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3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4    5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6    7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"/>
            <p:cNvSpPr txBox="1"/>
            <p:nvPr/>
          </p:nvSpPr>
          <p:spPr>
            <a:xfrm>
              <a:off x="195120" y="1889280"/>
              <a:ext cx="78732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CountyTax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"/>
            <p:cNvSpPr/>
            <p:nvPr/>
          </p:nvSpPr>
          <p:spPr>
            <a:xfrm>
              <a:off x="17136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"/>
            <p:cNvSpPr/>
            <p:nvPr/>
          </p:nvSpPr>
          <p:spPr>
            <a:xfrm>
              <a:off x="6667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115884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164952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21463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263520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312408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152280" y="2071800"/>
              <a:ext cx="3554280" cy="30960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9" name=""/>
            <p:cNvGrpSpPr/>
            <p:nvPr/>
          </p:nvGrpSpPr>
          <p:grpSpPr>
            <a:xfrm>
              <a:off x="3568680" y="2070000"/>
              <a:ext cx="165240" cy="317520"/>
              <a:chOff x="3568680" y="2070000"/>
              <a:chExt cx="165240" cy="317520"/>
            </a:xfrm>
          </p:grpSpPr>
          <p:sp>
            <p:nvSpPr>
              <p:cNvPr id="80" name=""/>
              <p:cNvSpPr/>
              <p:nvPr/>
            </p:nvSpPr>
            <p:spPr>
              <a:xfrm>
                <a:off x="3568680" y="2082960"/>
                <a:ext cx="90720" cy="292320"/>
              </a:xfrm>
              <a:custGeom>
                <a:avLst/>
                <a:gdLst/>
                <a:ahLst/>
                <a:rect l="0" t="0" r="r" b="b"/>
                <a:pathLst>
                  <a:path w="252" h="812">
                    <a:moveTo>
                      <a:pt x="252" y="0"/>
                    </a:moveTo>
                    <a:lnTo>
                      <a:pt x="202" y="0"/>
                    </a:lnTo>
                    <a:lnTo>
                      <a:pt x="151" y="0"/>
                    </a:lnTo>
                    <a:lnTo>
                      <a:pt x="100" y="18"/>
                    </a:lnTo>
                    <a:lnTo>
                      <a:pt x="100" y="54"/>
                    </a:lnTo>
                    <a:lnTo>
                      <a:pt x="100" y="90"/>
                    </a:lnTo>
                    <a:lnTo>
                      <a:pt x="75" y="126"/>
                    </a:lnTo>
                    <a:lnTo>
                      <a:pt x="50" y="162"/>
                    </a:lnTo>
                    <a:lnTo>
                      <a:pt x="50" y="198"/>
                    </a:lnTo>
                    <a:lnTo>
                      <a:pt x="100" y="216"/>
                    </a:lnTo>
                    <a:lnTo>
                      <a:pt x="100" y="252"/>
                    </a:lnTo>
                    <a:lnTo>
                      <a:pt x="75" y="288"/>
                    </a:lnTo>
                    <a:lnTo>
                      <a:pt x="25" y="306"/>
                    </a:lnTo>
                    <a:lnTo>
                      <a:pt x="25" y="342"/>
                    </a:lnTo>
                    <a:lnTo>
                      <a:pt x="25" y="378"/>
                    </a:lnTo>
                    <a:lnTo>
                      <a:pt x="75" y="396"/>
                    </a:lnTo>
                    <a:lnTo>
                      <a:pt x="100" y="433"/>
                    </a:lnTo>
                    <a:lnTo>
                      <a:pt x="75" y="469"/>
                    </a:lnTo>
                    <a:lnTo>
                      <a:pt x="50" y="505"/>
                    </a:lnTo>
                    <a:lnTo>
                      <a:pt x="0" y="523"/>
                    </a:lnTo>
                    <a:lnTo>
                      <a:pt x="0" y="559"/>
                    </a:lnTo>
                    <a:lnTo>
                      <a:pt x="50" y="596"/>
                    </a:lnTo>
                    <a:lnTo>
                      <a:pt x="75" y="632"/>
                    </a:lnTo>
                    <a:lnTo>
                      <a:pt x="25" y="650"/>
                    </a:lnTo>
                    <a:lnTo>
                      <a:pt x="25" y="686"/>
                    </a:lnTo>
                    <a:lnTo>
                      <a:pt x="25" y="722"/>
                    </a:lnTo>
                    <a:lnTo>
                      <a:pt x="75" y="722"/>
                    </a:lnTo>
                    <a:lnTo>
                      <a:pt x="75" y="758"/>
                    </a:lnTo>
                    <a:lnTo>
                      <a:pt x="100" y="794"/>
                    </a:lnTo>
                    <a:lnTo>
                      <a:pt x="151" y="812"/>
                    </a:lnTo>
                    <a:lnTo>
                      <a:pt x="202" y="812"/>
                    </a:lnTo>
                    <a:lnTo>
                      <a:pt x="252" y="812"/>
                    </a:lnTo>
                    <a:lnTo>
                      <a:pt x="252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" name=""/>
              <p:cNvSpPr/>
              <p:nvPr/>
            </p:nvSpPr>
            <p:spPr>
              <a:xfrm>
                <a:off x="3625920" y="2070000"/>
                <a:ext cx="108000" cy="317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82" name=""/>
            <p:cNvGrpSpPr/>
            <p:nvPr/>
          </p:nvGrpSpPr>
          <p:grpSpPr>
            <a:xfrm>
              <a:off x="3633840" y="2076480"/>
              <a:ext cx="961920" cy="336600"/>
              <a:chOff x="3633840" y="2076480"/>
              <a:chExt cx="961920" cy="336600"/>
            </a:xfrm>
          </p:grpSpPr>
          <p:sp>
            <p:nvSpPr>
              <p:cNvPr id="83" name=""/>
              <p:cNvSpPr/>
              <p:nvPr/>
            </p:nvSpPr>
            <p:spPr>
              <a:xfrm>
                <a:off x="3633840" y="2157480"/>
                <a:ext cx="324360" cy="152640"/>
              </a:xfrm>
              <a:custGeom>
                <a:avLst/>
                <a:gdLst/>
                <a:ahLst/>
                <a:rect l="0" t="0" r="r" b="b"/>
                <a:pathLst>
                  <a:path w="901" h="424">
                    <a:moveTo>
                      <a:pt x="0" y="140"/>
                    </a:moveTo>
                    <a:lnTo>
                      <a:pt x="0" y="282"/>
                    </a:lnTo>
                    <a:lnTo>
                      <a:pt x="630" y="282"/>
                    </a:lnTo>
                    <a:lnTo>
                      <a:pt x="630" y="424"/>
                    </a:lnTo>
                    <a:lnTo>
                      <a:pt x="901" y="211"/>
                    </a:lnTo>
                    <a:lnTo>
                      <a:pt x="630" y="0"/>
                    </a:lnTo>
                    <a:lnTo>
                      <a:pt x="630" y="140"/>
                    </a:lnTo>
                    <a:lnTo>
                      <a:pt x="0" y="140"/>
                    </a:lnTo>
                    <a:close/>
                  </a:path>
                </a:pathLst>
              </a:custGeom>
              <a:solidFill>
                <a:srgbClr val="DDDDDD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" name=""/>
              <p:cNvSpPr txBox="1"/>
              <p:nvPr/>
            </p:nvSpPr>
            <p:spPr>
              <a:xfrm>
                <a:off x="3960720" y="2076480"/>
                <a:ext cx="635040" cy="3366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80000"/>
                  </a:lnSpc>
                </a:pP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19 other</a:t>
                </a:r>
                <a:br>
                  <a:rPr sz="1000"/>
                </a:b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elements</a:t>
                </a:r>
                <a:endParaRPr lang="en-US" sz="10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5" name=""/>
          <p:cNvSpPr txBox="1"/>
          <p:nvPr/>
        </p:nvSpPr>
        <p:spPr>
          <a:xfrm>
            <a:off x="438120" y="2809800"/>
            <a:ext cx="420840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PERFORM VARYING CountyNum FROM 1 BY 1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UNTIL CountyName(CountyNum) = County</a:t>
            </a:r>
            <a:br>
              <a:rPr sz="1200"/>
            </a:b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CountyTax(CountyNum)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714840" y="196920"/>
            <a:ext cx="7048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638520" y="484200"/>
            <a:ext cx="8701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09520" y="2876400"/>
            <a:ext cx="266760" cy="533520"/>
          </a:xfrm>
          <a:prstGeom prst="ellipse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 flipH="1">
            <a:off x="420840" y="3271680"/>
            <a:ext cx="33120" cy="7632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25200" rIns="96120" bIns="25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 flipH="1">
            <a:off x="239760" y="2932200"/>
            <a:ext cx="28440" cy="7128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20160" rIns="96120" bIns="20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85840" y="1352520"/>
            <a:ext cx="5713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 txBox="1"/>
          <p:nvPr/>
        </p:nvSpPr>
        <p:spPr>
          <a:xfrm>
            <a:off x="1461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Carlow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97632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Cavan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81440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64168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4797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Donegal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111560" y="1098720"/>
            <a:ext cx="117720" cy="324360"/>
          </a:xfrm>
          <a:custGeom>
            <a:avLst/>
            <a:gdLst/>
            <a:ahLst/>
            <a:rect l="0" t="0" r="r" b="b"/>
            <a:pathLst>
              <a:path w="327" h="901">
                <a:moveTo>
                  <a:pt x="327" y="0"/>
                </a:moveTo>
                <a:lnTo>
                  <a:pt x="280" y="0"/>
                </a:lnTo>
                <a:lnTo>
                  <a:pt x="234" y="0"/>
                </a:lnTo>
                <a:lnTo>
                  <a:pt x="210" y="0"/>
                </a:lnTo>
                <a:lnTo>
                  <a:pt x="187" y="0"/>
                </a:lnTo>
                <a:lnTo>
                  <a:pt x="164" y="0"/>
                </a:lnTo>
                <a:lnTo>
                  <a:pt x="139" y="0"/>
                </a:lnTo>
                <a:lnTo>
                  <a:pt x="116" y="0"/>
                </a:lnTo>
                <a:lnTo>
                  <a:pt x="116" y="66"/>
                </a:lnTo>
                <a:lnTo>
                  <a:pt x="69" y="83"/>
                </a:lnTo>
                <a:lnTo>
                  <a:pt x="23" y="83"/>
                </a:lnTo>
                <a:lnTo>
                  <a:pt x="23" y="116"/>
                </a:lnTo>
                <a:lnTo>
                  <a:pt x="69" y="133"/>
                </a:lnTo>
                <a:lnTo>
                  <a:pt x="93" y="166"/>
                </a:lnTo>
                <a:lnTo>
                  <a:pt x="93" y="199"/>
                </a:lnTo>
                <a:lnTo>
                  <a:pt x="46" y="234"/>
                </a:lnTo>
                <a:lnTo>
                  <a:pt x="0" y="250"/>
                </a:lnTo>
                <a:lnTo>
                  <a:pt x="0" y="284"/>
                </a:lnTo>
                <a:lnTo>
                  <a:pt x="23" y="317"/>
                </a:lnTo>
                <a:lnTo>
                  <a:pt x="69" y="334"/>
                </a:lnTo>
                <a:lnTo>
                  <a:pt x="93" y="367"/>
                </a:lnTo>
                <a:lnTo>
                  <a:pt x="139" y="384"/>
                </a:lnTo>
                <a:lnTo>
                  <a:pt x="139" y="417"/>
                </a:lnTo>
                <a:lnTo>
                  <a:pt x="116" y="450"/>
                </a:lnTo>
                <a:lnTo>
                  <a:pt x="69" y="450"/>
                </a:lnTo>
                <a:lnTo>
                  <a:pt x="23" y="484"/>
                </a:lnTo>
                <a:lnTo>
                  <a:pt x="23" y="517"/>
                </a:lnTo>
                <a:lnTo>
                  <a:pt x="46" y="550"/>
                </a:lnTo>
                <a:lnTo>
                  <a:pt x="93" y="567"/>
                </a:lnTo>
                <a:lnTo>
                  <a:pt x="116" y="600"/>
                </a:lnTo>
                <a:lnTo>
                  <a:pt x="116" y="634"/>
                </a:lnTo>
                <a:lnTo>
                  <a:pt x="69" y="650"/>
                </a:lnTo>
                <a:lnTo>
                  <a:pt x="23" y="667"/>
                </a:lnTo>
                <a:lnTo>
                  <a:pt x="0" y="701"/>
                </a:lnTo>
                <a:lnTo>
                  <a:pt x="0" y="734"/>
                </a:lnTo>
                <a:lnTo>
                  <a:pt x="46" y="751"/>
                </a:lnTo>
                <a:lnTo>
                  <a:pt x="46" y="784"/>
                </a:lnTo>
                <a:lnTo>
                  <a:pt x="46" y="818"/>
                </a:lnTo>
                <a:lnTo>
                  <a:pt x="93" y="818"/>
                </a:lnTo>
                <a:lnTo>
                  <a:pt x="116" y="851"/>
                </a:lnTo>
                <a:lnTo>
                  <a:pt x="280" y="901"/>
                </a:lnTo>
                <a:lnTo>
                  <a:pt x="304" y="901"/>
                </a:lnTo>
                <a:lnTo>
                  <a:pt x="32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4181400" y="1054080"/>
            <a:ext cx="177840" cy="39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82600" y="1459080"/>
            <a:ext cx="38433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1     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2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3        4         5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4214880" y="115740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6320" y="855720"/>
            <a:ext cx="1123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15228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19160" y="4140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90440" y="50652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114640" y="48744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81160" y="487440"/>
            <a:ext cx="6415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108576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201924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01924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74.75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08576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17360" y="19368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"/>
          <p:cNvGrpSpPr/>
          <p:nvPr/>
        </p:nvGrpSpPr>
        <p:grpSpPr>
          <a:xfrm>
            <a:off x="152280" y="1889280"/>
            <a:ext cx="4443480" cy="685440"/>
            <a:chOff x="152280" y="1889280"/>
            <a:chExt cx="4443480" cy="685440"/>
          </a:xfrm>
        </p:grpSpPr>
        <p:sp>
          <p:nvSpPr>
            <p:cNvPr id="113" name=""/>
            <p:cNvSpPr txBox="1"/>
            <p:nvPr/>
          </p:nvSpPr>
          <p:spPr>
            <a:xfrm>
              <a:off x="298440" y="2392200"/>
              <a:ext cx="320184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1    2 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3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4    5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6    7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 txBox="1"/>
            <p:nvPr/>
          </p:nvSpPr>
          <p:spPr>
            <a:xfrm>
              <a:off x="195120" y="1889280"/>
              <a:ext cx="78732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CountyTax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17136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6667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115884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164952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/>
            <p:nvPr/>
          </p:nvSpPr>
          <p:spPr>
            <a:xfrm>
              <a:off x="21463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263520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312408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"/>
            <p:cNvSpPr/>
            <p:nvPr/>
          </p:nvSpPr>
          <p:spPr>
            <a:xfrm>
              <a:off x="152280" y="2071800"/>
              <a:ext cx="3554280" cy="30960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3" name=""/>
            <p:cNvGrpSpPr/>
            <p:nvPr/>
          </p:nvGrpSpPr>
          <p:grpSpPr>
            <a:xfrm>
              <a:off x="3568680" y="2070000"/>
              <a:ext cx="165240" cy="317520"/>
              <a:chOff x="3568680" y="2070000"/>
              <a:chExt cx="165240" cy="317520"/>
            </a:xfrm>
          </p:grpSpPr>
          <p:sp>
            <p:nvSpPr>
              <p:cNvPr id="124" name=""/>
              <p:cNvSpPr/>
              <p:nvPr/>
            </p:nvSpPr>
            <p:spPr>
              <a:xfrm>
                <a:off x="3568680" y="2082960"/>
                <a:ext cx="90720" cy="292320"/>
              </a:xfrm>
              <a:custGeom>
                <a:avLst/>
                <a:gdLst/>
                <a:ahLst/>
                <a:rect l="0" t="0" r="r" b="b"/>
                <a:pathLst>
                  <a:path w="252" h="812">
                    <a:moveTo>
                      <a:pt x="252" y="0"/>
                    </a:moveTo>
                    <a:lnTo>
                      <a:pt x="202" y="0"/>
                    </a:lnTo>
                    <a:lnTo>
                      <a:pt x="151" y="0"/>
                    </a:lnTo>
                    <a:lnTo>
                      <a:pt x="100" y="18"/>
                    </a:lnTo>
                    <a:lnTo>
                      <a:pt x="100" y="54"/>
                    </a:lnTo>
                    <a:lnTo>
                      <a:pt x="100" y="90"/>
                    </a:lnTo>
                    <a:lnTo>
                      <a:pt x="75" y="126"/>
                    </a:lnTo>
                    <a:lnTo>
                      <a:pt x="50" y="162"/>
                    </a:lnTo>
                    <a:lnTo>
                      <a:pt x="50" y="198"/>
                    </a:lnTo>
                    <a:lnTo>
                      <a:pt x="100" y="216"/>
                    </a:lnTo>
                    <a:lnTo>
                      <a:pt x="100" y="252"/>
                    </a:lnTo>
                    <a:lnTo>
                      <a:pt x="75" y="288"/>
                    </a:lnTo>
                    <a:lnTo>
                      <a:pt x="25" y="306"/>
                    </a:lnTo>
                    <a:lnTo>
                      <a:pt x="25" y="342"/>
                    </a:lnTo>
                    <a:lnTo>
                      <a:pt x="25" y="378"/>
                    </a:lnTo>
                    <a:lnTo>
                      <a:pt x="75" y="396"/>
                    </a:lnTo>
                    <a:lnTo>
                      <a:pt x="100" y="433"/>
                    </a:lnTo>
                    <a:lnTo>
                      <a:pt x="75" y="469"/>
                    </a:lnTo>
                    <a:lnTo>
                      <a:pt x="50" y="505"/>
                    </a:lnTo>
                    <a:lnTo>
                      <a:pt x="0" y="523"/>
                    </a:lnTo>
                    <a:lnTo>
                      <a:pt x="0" y="559"/>
                    </a:lnTo>
                    <a:lnTo>
                      <a:pt x="50" y="596"/>
                    </a:lnTo>
                    <a:lnTo>
                      <a:pt x="75" y="632"/>
                    </a:lnTo>
                    <a:lnTo>
                      <a:pt x="25" y="650"/>
                    </a:lnTo>
                    <a:lnTo>
                      <a:pt x="25" y="686"/>
                    </a:lnTo>
                    <a:lnTo>
                      <a:pt x="25" y="722"/>
                    </a:lnTo>
                    <a:lnTo>
                      <a:pt x="75" y="722"/>
                    </a:lnTo>
                    <a:lnTo>
                      <a:pt x="75" y="758"/>
                    </a:lnTo>
                    <a:lnTo>
                      <a:pt x="100" y="794"/>
                    </a:lnTo>
                    <a:lnTo>
                      <a:pt x="151" y="812"/>
                    </a:lnTo>
                    <a:lnTo>
                      <a:pt x="202" y="812"/>
                    </a:lnTo>
                    <a:lnTo>
                      <a:pt x="252" y="812"/>
                    </a:lnTo>
                    <a:lnTo>
                      <a:pt x="252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" name=""/>
              <p:cNvSpPr/>
              <p:nvPr/>
            </p:nvSpPr>
            <p:spPr>
              <a:xfrm>
                <a:off x="3625920" y="2070000"/>
                <a:ext cx="108000" cy="317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26" name=""/>
            <p:cNvGrpSpPr/>
            <p:nvPr/>
          </p:nvGrpSpPr>
          <p:grpSpPr>
            <a:xfrm>
              <a:off x="3633840" y="2076480"/>
              <a:ext cx="961920" cy="336600"/>
              <a:chOff x="3633840" y="2076480"/>
              <a:chExt cx="961920" cy="336600"/>
            </a:xfrm>
          </p:grpSpPr>
          <p:sp>
            <p:nvSpPr>
              <p:cNvPr id="127" name=""/>
              <p:cNvSpPr/>
              <p:nvPr/>
            </p:nvSpPr>
            <p:spPr>
              <a:xfrm>
                <a:off x="3633840" y="2157480"/>
                <a:ext cx="324360" cy="152640"/>
              </a:xfrm>
              <a:custGeom>
                <a:avLst/>
                <a:gdLst/>
                <a:ahLst/>
                <a:rect l="0" t="0" r="r" b="b"/>
                <a:pathLst>
                  <a:path w="901" h="424">
                    <a:moveTo>
                      <a:pt x="0" y="140"/>
                    </a:moveTo>
                    <a:lnTo>
                      <a:pt x="0" y="282"/>
                    </a:lnTo>
                    <a:lnTo>
                      <a:pt x="630" y="282"/>
                    </a:lnTo>
                    <a:lnTo>
                      <a:pt x="630" y="424"/>
                    </a:lnTo>
                    <a:lnTo>
                      <a:pt x="901" y="211"/>
                    </a:lnTo>
                    <a:lnTo>
                      <a:pt x="630" y="0"/>
                    </a:lnTo>
                    <a:lnTo>
                      <a:pt x="630" y="140"/>
                    </a:lnTo>
                    <a:lnTo>
                      <a:pt x="0" y="140"/>
                    </a:lnTo>
                    <a:close/>
                  </a:path>
                </a:pathLst>
              </a:custGeom>
              <a:solidFill>
                <a:srgbClr val="DDDDDD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" name=""/>
              <p:cNvSpPr txBox="1"/>
              <p:nvPr/>
            </p:nvSpPr>
            <p:spPr>
              <a:xfrm>
                <a:off x="3960720" y="2076480"/>
                <a:ext cx="635040" cy="3366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80000"/>
                  </a:lnSpc>
                </a:pP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19 other</a:t>
                </a:r>
                <a:br>
                  <a:rPr sz="1000"/>
                </a:b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elements</a:t>
                </a:r>
                <a:endParaRPr lang="en-US" sz="10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9" name=""/>
          <p:cNvSpPr txBox="1"/>
          <p:nvPr/>
        </p:nvSpPr>
        <p:spPr>
          <a:xfrm>
            <a:off x="438120" y="2809800"/>
            <a:ext cx="420840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PERFORM VARYING CountyNum FROM 1 BY 1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UNTIL CountyName(CountyNum) = County</a:t>
            </a:r>
            <a:br>
              <a:rPr sz="1200"/>
            </a:b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CountyTax(CountyNum)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714840" y="196920"/>
            <a:ext cx="7048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638520" y="484200"/>
            <a:ext cx="8701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209520" y="2876400"/>
            <a:ext cx="266760" cy="533520"/>
          </a:xfrm>
          <a:prstGeom prst="ellipse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434880" y="2962440"/>
            <a:ext cx="28800" cy="9360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42480" rIns="96120" bIns="424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220680" y="3236760"/>
            <a:ext cx="23760" cy="6696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15840" rIns="96120" bIns="15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1104840" y="1352520"/>
            <a:ext cx="57168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 txBox="1"/>
          <p:nvPr/>
        </p:nvSpPr>
        <p:spPr>
          <a:xfrm>
            <a:off x="1461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Carlow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97632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Cavan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81440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64168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4797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Donegal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4111560" y="1098720"/>
            <a:ext cx="117720" cy="324360"/>
          </a:xfrm>
          <a:custGeom>
            <a:avLst/>
            <a:gdLst/>
            <a:ahLst/>
            <a:rect l="0" t="0" r="r" b="b"/>
            <a:pathLst>
              <a:path w="327" h="901">
                <a:moveTo>
                  <a:pt x="327" y="0"/>
                </a:moveTo>
                <a:lnTo>
                  <a:pt x="280" y="0"/>
                </a:lnTo>
                <a:lnTo>
                  <a:pt x="234" y="0"/>
                </a:lnTo>
                <a:lnTo>
                  <a:pt x="210" y="0"/>
                </a:lnTo>
                <a:lnTo>
                  <a:pt x="187" y="0"/>
                </a:lnTo>
                <a:lnTo>
                  <a:pt x="164" y="0"/>
                </a:lnTo>
                <a:lnTo>
                  <a:pt x="139" y="0"/>
                </a:lnTo>
                <a:lnTo>
                  <a:pt x="116" y="0"/>
                </a:lnTo>
                <a:lnTo>
                  <a:pt x="116" y="66"/>
                </a:lnTo>
                <a:lnTo>
                  <a:pt x="69" y="83"/>
                </a:lnTo>
                <a:lnTo>
                  <a:pt x="23" y="83"/>
                </a:lnTo>
                <a:lnTo>
                  <a:pt x="23" y="116"/>
                </a:lnTo>
                <a:lnTo>
                  <a:pt x="69" y="133"/>
                </a:lnTo>
                <a:lnTo>
                  <a:pt x="93" y="166"/>
                </a:lnTo>
                <a:lnTo>
                  <a:pt x="93" y="199"/>
                </a:lnTo>
                <a:lnTo>
                  <a:pt x="46" y="234"/>
                </a:lnTo>
                <a:lnTo>
                  <a:pt x="0" y="250"/>
                </a:lnTo>
                <a:lnTo>
                  <a:pt x="0" y="284"/>
                </a:lnTo>
                <a:lnTo>
                  <a:pt x="23" y="317"/>
                </a:lnTo>
                <a:lnTo>
                  <a:pt x="69" y="334"/>
                </a:lnTo>
                <a:lnTo>
                  <a:pt x="93" y="367"/>
                </a:lnTo>
                <a:lnTo>
                  <a:pt x="139" y="384"/>
                </a:lnTo>
                <a:lnTo>
                  <a:pt x="139" y="417"/>
                </a:lnTo>
                <a:lnTo>
                  <a:pt x="116" y="450"/>
                </a:lnTo>
                <a:lnTo>
                  <a:pt x="69" y="450"/>
                </a:lnTo>
                <a:lnTo>
                  <a:pt x="23" y="484"/>
                </a:lnTo>
                <a:lnTo>
                  <a:pt x="23" y="517"/>
                </a:lnTo>
                <a:lnTo>
                  <a:pt x="46" y="550"/>
                </a:lnTo>
                <a:lnTo>
                  <a:pt x="93" y="567"/>
                </a:lnTo>
                <a:lnTo>
                  <a:pt x="116" y="600"/>
                </a:lnTo>
                <a:lnTo>
                  <a:pt x="116" y="634"/>
                </a:lnTo>
                <a:lnTo>
                  <a:pt x="69" y="650"/>
                </a:lnTo>
                <a:lnTo>
                  <a:pt x="23" y="667"/>
                </a:lnTo>
                <a:lnTo>
                  <a:pt x="0" y="701"/>
                </a:lnTo>
                <a:lnTo>
                  <a:pt x="0" y="734"/>
                </a:lnTo>
                <a:lnTo>
                  <a:pt x="46" y="751"/>
                </a:lnTo>
                <a:lnTo>
                  <a:pt x="46" y="784"/>
                </a:lnTo>
                <a:lnTo>
                  <a:pt x="46" y="818"/>
                </a:lnTo>
                <a:lnTo>
                  <a:pt x="93" y="818"/>
                </a:lnTo>
                <a:lnTo>
                  <a:pt x="116" y="851"/>
                </a:lnTo>
                <a:lnTo>
                  <a:pt x="280" y="901"/>
                </a:lnTo>
                <a:lnTo>
                  <a:pt x="304" y="901"/>
                </a:lnTo>
                <a:lnTo>
                  <a:pt x="32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4181400" y="1054080"/>
            <a:ext cx="177840" cy="39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282600" y="1459080"/>
            <a:ext cx="38433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1        2     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3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4         5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4214880" y="115740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76320" y="855720"/>
            <a:ext cx="1123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15228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19160" y="4140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90440" y="50652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114640" y="48744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181160" y="487440"/>
            <a:ext cx="6415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108576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201924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201924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74.75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08576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17360" y="19368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6" name=""/>
          <p:cNvGrpSpPr/>
          <p:nvPr/>
        </p:nvGrpSpPr>
        <p:grpSpPr>
          <a:xfrm>
            <a:off x="152280" y="1889280"/>
            <a:ext cx="4443480" cy="685440"/>
            <a:chOff x="152280" y="1889280"/>
            <a:chExt cx="4443480" cy="685440"/>
          </a:xfrm>
        </p:grpSpPr>
        <p:sp>
          <p:nvSpPr>
            <p:cNvPr id="157" name=""/>
            <p:cNvSpPr txBox="1"/>
            <p:nvPr/>
          </p:nvSpPr>
          <p:spPr>
            <a:xfrm>
              <a:off x="298440" y="2392200"/>
              <a:ext cx="320184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1    2 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3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4    5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6    7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"/>
            <p:cNvSpPr txBox="1"/>
            <p:nvPr/>
          </p:nvSpPr>
          <p:spPr>
            <a:xfrm>
              <a:off x="195120" y="1889280"/>
              <a:ext cx="78732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CountyTax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"/>
            <p:cNvSpPr/>
            <p:nvPr/>
          </p:nvSpPr>
          <p:spPr>
            <a:xfrm>
              <a:off x="17136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"/>
            <p:cNvSpPr/>
            <p:nvPr/>
          </p:nvSpPr>
          <p:spPr>
            <a:xfrm>
              <a:off x="6667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"/>
            <p:cNvSpPr/>
            <p:nvPr/>
          </p:nvSpPr>
          <p:spPr>
            <a:xfrm>
              <a:off x="115884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"/>
            <p:cNvSpPr/>
            <p:nvPr/>
          </p:nvSpPr>
          <p:spPr>
            <a:xfrm>
              <a:off x="164952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"/>
            <p:cNvSpPr/>
            <p:nvPr/>
          </p:nvSpPr>
          <p:spPr>
            <a:xfrm>
              <a:off x="21463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"/>
            <p:cNvSpPr/>
            <p:nvPr/>
          </p:nvSpPr>
          <p:spPr>
            <a:xfrm>
              <a:off x="263520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312408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"/>
            <p:cNvSpPr/>
            <p:nvPr/>
          </p:nvSpPr>
          <p:spPr>
            <a:xfrm>
              <a:off x="152280" y="2071800"/>
              <a:ext cx="3554280" cy="30960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7" name=""/>
            <p:cNvGrpSpPr/>
            <p:nvPr/>
          </p:nvGrpSpPr>
          <p:grpSpPr>
            <a:xfrm>
              <a:off x="3568680" y="2070000"/>
              <a:ext cx="165240" cy="317520"/>
              <a:chOff x="3568680" y="2070000"/>
              <a:chExt cx="165240" cy="317520"/>
            </a:xfrm>
          </p:grpSpPr>
          <p:sp>
            <p:nvSpPr>
              <p:cNvPr id="168" name=""/>
              <p:cNvSpPr/>
              <p:nvPr/>
            </p:nvSpPr>
            <p:spPr>
              <a:xfrm>
                <a:off x="3568680" y="2082960"/>
                <a:ext cx="90720" cy="292320"/>
              </a:xfrm>
              <a:custGeom>
                <a:avLst/>
                <a:gdLst/>
                <a:ahLst/>
                <a:rect l="0" t="0" r="r" b="b"/>
                <a:pathLst>
                  <a:path w="252" h="812">
                    <a:moveTo>
                      <a:pt x="252" y="0"/>
                    </a:moveTo>
                    <a:lnTo>
                      <a:pt x="202" y="0"/>
                    </a:lnTo>
                    <a:lnTo>
                      <a:pt x="151" y="0"/>
                    </a:lnTo>
                    <a:lnTo>
                      <a:pt x="100" y="18"/>
                    </a:lnTo>
                    <a:lnTo>
                      <a:pt x="100" y="54"/>
                    </a:lnTo>
                    <a:lnTo>
                      <a:pt x="100" y="90"/>
                    </a:lnTo>
                    <a:lnTo>
                      <a:pt x="75" y="126"/>
                    </a:lnTo>
                    <a:lnTo>
                      <a:pt x="50" y="162"/>
                    </a:lnTo>
                    <a:lnTo>
                      <a:pt x="50" y="198"/>
                    </a:lnTo>
                    <a:lnTo>
                      <a:pt x="100" y="216"/>
                    </a:lnTo>
                    <a:lnTo>
                      <a:pt x="100" y="252"/>
                    </a:lnTo>
                    <a:lnTo>
                      <a:pt x="75" y="288"/>
                    </a:lnTo>
                    <a:lnTo>
                      <a:pt x="25" y="306"/>
                    </a:lnTo>
                    <a:lnTo>
                      <a:pt x="25" y="342"/>
                    </a:lnTo>
                    <a:lnTo>
                      <a:pt x="25" y="378"/>
                    </a:lnTo>
                    <a:lnTo>
                      <a:pt x="75" y="396"/>
                    </a:lnTo>
                    <a:lnTo>
                      <a:pt x="100" y="433"/>
                    </a:lnTo>
                    <a:lnTo>
                      <a:pt x="75" y="469"/>
                    </a:lnTo>
                    <a:lnTo>
                      <a:pt x="50" y="505"/>
                    </a:lnTo>
                    <a:lnTo>
                      <a:pt x="0" y="523"/>
                    </a:lnTo>
                    <a:lnTo>
                      <a:pt x="0" y="559"/>
                    </a:lnTo>
                    <a:lnTo>
                      <a:pt x="50" y="596"/>
                    </a:lnTo>
                    <a:lnTo>
                      <a:pt x="75" y="632"/>
                    </a:lnTo>
                    <a:lnTo>
                      <a:pt x="25" y="650"/>
                    </a:lnTo>
                    <a:lnTo>
                      <a:pt x="25" y="686"/>
                    </a:lnTo>
                    <a:lnTo>
                      <a:pt x="25" y="722"/>
                    </a:lnTo>
                    <a:lnTo>
                      <a:pt x="75" y="722"/>
                    </a:lnTo>
                    <a:lnTo>
                      <a:pt x="75" y="758"/>
                    </a:lnTo>
                    <a:lnTo>
                      <a:pt x="100" y="794"/>
                    </a:lnTo>
                    <a:lnTo>
                      <a:pt x="151" y="812"/>
                    </a:lnTo>
                    <a:lnTo>
                      <a:pt x="202" y="812"/>
                    </a:lnTo>
                    <a:lnTo>
                      <a:pt x="252" y="812"/>
                    </a:lnTo>
                    <a:lnTo>
                      <a:pt x="252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" name=""/>
              <p:cNvSpPr/>
              <p:nvPr/>
            </p:nvSpPr>
            <p:spPr>
              <a:xfrm>
                <a:off x="3625920" y="2070000"/>
                <a:ext cx="108000" cy="317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70" name=""/>
            <p:cNvGrpSpPr/>
            <p:nvPr/>
          </p:nvGrpSpPr>
          <p:grpSpPr>
            <a:xfrm>
              <a:off x="3633840" y="2076480"/>
              <a:ext cx="961920" cy="336600"/>
              <a:chOff x="3633840" y="2076480"/>
              <a:chExt cx="961920" cy="336600"/>
            </a:xfrm>
          </p:grpSpPr>
          <p:sp>
            <p:nvSpPr>
              <p:cNvPr id="171" name=""/>
              <p:cNvSpPr/>
              <p:nvPr/>
            </p:nvSpPr>
            <p:spPr>
              <a:xfrm>
                <a:off x="3633840" y="2157480"/>
                <a:ext cx="324360" cy="152640"/>
              </a:xfrm>
              <a:custGeom>
                <a:avLst/>
                <a:gdLst/>
                <a:ahLst/>
                <a:rect l="0" t="0" r="r" b="b"/>
                <a:pathLst>
                  <a:path w="901" h="424">
                    <a:moveTo>
                      <a:pt x="0" y="140"/>
                    </a:moveTo>
                    <a:lnTo>
                      <a:pt x="0" y="282"/>
                    </a:lnTo>
                    <a:lnTo>
                      <a:pt x="630" y="282"/>
                    </a:lnTo>
                    <a:lnTo>
                      <a:pt x="630" y="424"/>
                    </a:lnTo>
                    <a:lnTo>
                      <a:pt x="901" y="211"/>
                    </a:lnTo>
                    <a:lnTo>
                      <a:pt x="630" y="0"/>
                    </a:lnTo>
                    <a:lnTo>
                      <a:pt x="630" y="140"/>
                    </a:lnTo>
                    <a:lnTo>
                      <a:pt x="0" y="140"/>
                    </a:lnTo>
                    <a:close/>
                  </a:path>
                </a:pathLst>
              </a:custGeom>
              <a:solidFill>
                <a:srgbClr val="DDDDDD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2" name=""/>
              <p:cNvSpPr txBox="1"/>
              <p:nvPr/>
            </p:nvSpPr>
            <p:spPr>
              <a:xfrm>
                <a:off x="3960720" y="2076480"/>
                <a:ext cx="635040" cy="3366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80000"/>
                  </a:lnSpc>
                </a:pP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19 other</a:t>
                </a:r>
                <a:br>
                  <a:rPr sz="1000"/>
                </a:b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elements</a:t>
                </a:r>
                <a:endParaRPr lang="en-US" sz="10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73" name=""/>
          <p:cNvSpPr txBox="1"/>
          <p:nvPr/>
        </p:nvSpPr>
        <p:spPr>
          <a:xfrm>
            <a:off x="438120" y="2809800"/>
            <a:ext cx="420840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CountyNum FROM 1 BY 1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UNTIL CountyName(CountyNum) = County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CountyTax(CountyNum)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714840" y="196920"/>
            <a:ext cx="7048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3638520" y="484200"/>
            <a:ext cx="8701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209520" y="2876400"/>
            <a:ext cx="266760" cy="533520"/>
          </a:xfrm>
          <a:prstGeom prst="ellipse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 flipH="1">
            <a:off x="420840" y="3271680"/>
            <a:ext cx="33120" cy="7632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25200" rIns="96120" bIns="25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 flipH="1">
            <a:off x="239760" y="2932200"/>
            <a:ext cx="28440" cy="71280"/>
          </a:xfrm>
          <a:prstGeom prst="line">
            <a:avLst/>
          </a:prstGeom>
          <a:ln w="12600">
            <a:solidFill>
              <a:srgbClr val="CC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20160" rIns="96120" bIns="20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1943280" y="1352520"/>
            <a:ext cx="5713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 txBox="1"/>
          <p:nvPr/>
        </p:nvSpPr>
        <p:spPr>
          <a:xfrm>
            <a:off x="1461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Carlow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97632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Cavan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81440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64168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Cork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3479760" y="1085760"/>
            <a:ext cx="841320" cy="336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99"/>
                </a:solidFill>
                <a:effectLst/>
                <a:uFillTx/>
                <a:latin typeface="Arial"/>
                <a:ea typeface="Arial"/>
              </a:rPr>
              <a:t>Donegal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4111560" y="1098720"/>
            <a:ext cx="117720" cy="324360"/>
          </a:xfrm>
          <a:custGeom>
            <a:avLst/>
            <a:gdLst/>
            <a:ahLst/>
            <a:rect l="0" t="0" r="r" b="b"/>
            <a:pathLst>
              <a:path w="327" h="901">
                <a:moveTo>
                  <a:pt x="327" y="0"/>
                </a:moveTo>
                <a:lnTo>
                  <a:pt x="280" y="0"/>
                </a:lnTo>
                <a:lnTo>
                  <a:pt x="234" y="0"/>
                </a:lnTo>
                <a:lnTo>
                  <a:pt x="210" y="0"/>
                </a:lnTo>
                <a:lnTo>
                  <a:pt x="187" y="0"/>
                </a:lnTo>
                <a:lnTo>
                  <a:pt x="164" y="0"/>
                </a:lnTo>
                <a:lnTo>
                  <a:pt x="139" y="0"/>
                </a:lnTo>
                <a:lnTo>
                  <a:pt x="116" y="0"/>
                </a:lnTo>
                <a:lnTo>
                  <a:pt x="116" y="66"/>
                </a:lnTo>
                <a:lnTo>
                  <a:pt x="69" y="83"/>
                </a:lnTo>
                <a:lnTo>
                  <a:pt x="23" y="83"/>
                </a:lnTo>
                <a:lnTo>
                  <a:pt x="23" y="116"/>
                </a:lnTo>
                <a:lnTo>
                  <a:pt x="69" y="133"/>
                </a:lnTo>
                <a:lnTo>
                  <a:pt x="93" y="166"/>
                </a:lnTo>
                <a:lnTo>
                  <a:pt x="93" y="199"/>
                </a:lnTo>
                <a:lnTo>
                  <a:pt x="46" y="234"/>
                </a:lnTo>
                <a:lnTo>
                  <a:pt x="0" y="250"/>
                </a:lnTo>
                <a:lnTo>
                  <a:pt x="0" y="284"/>
                </a:lnTo>
                <a:lnTo>
                  <a:pt x="23" y="317"/>
                </a:lnTo>
                <a:lnTo>
                  <a:pt x="69" y="334"/>
                </a:lnTo>
                <a:lnTo>
                  <a:pt x="93" y="367"/>
                </a:lnTo>
                <a:lnTo>
                  <a:pt x="139" y="384"/>
                </a:lnTo>
                <a:lnTo>
                  <a:pt x="139" y="417"/>
                </a:lnTo>
                <a:lnTo>
                  <a:pt x="116" y="450"/>
                </a:lnTo>
                <a:lnTo>
                  <a:pt x="69" y="450"/>
                </a:lnTo>
                <a:lnTo>
                  <a:pt x="23" y="484"/>
                </a:lnTo>
                <a:lnTo>
                  <a:pt x="23" y="517"/>
                </a:lnTo>
                <a:lnTo>
                  <a:pt x="46" y="550"/>
                </a:lnTo>
                <a:lnTo>
                  <a:pt x="93" y="567"/>
                </a:lnTo>
                <a:lnTo>
                  <a:pt x="116" y="600"/>
                </a:lnTo>
                <a:lnTo>
                  <a:pt x="116" y="634"/>
                </a:lnTo>
                <a:lnTo>
                  <a:pt x="69" y="650"/>
                </a:lnTo>
                <a:lnTo>
                  <a:pt x="23" y="667"/>
                </a:lnTo>
                <a:lnTo>
                  <a:pt x="0" y="701"/>
                </a:lnTo>
                <a:lnTo>
                  <a:pt x="0" y="734"/>
                </a:lnTo>
                <a:lnTo>
                  <a:pt x="46" y="751"/>
                </a:lnTo>
                <a:lnTo>
                  <a:pt x="46" y="784"/>
                </a:lnTo>
                <a:lnTo>
                  <a:pt x="46" y="818"/>
                </a:lnTo>
                <a:lnTo>
                  <a:pt x="93" y="818"/>
                </a:lnTo>
                <a:lnTo>
                  <a:pt x="116" y="851"/>
                </a:lnTo>
                <a:lnTo>
                  <a:pt x="280" y="901"/>
                </a:lnTo>
                <a:lnTo>
                  <a:pt x="304" y="901"/>
                </a:lnTo>
                <a:lnTo>
                  <a:pt x="327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4181400" y="1054080"/>
            <a:ext cx="177840" cy="39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82600" y="1459080"/>
            <a:ext cx="38433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1        2     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3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4         5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214880" y="115740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CCCC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76320" y="855720"/>
            <a:ext cx="1123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15228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19160" y="4140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90440" y="50652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114640" y="48744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181160" y="487440"/>
            <a:ext cx="6415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08576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2019240" y="20016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08576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Clare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17360" y="19368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9" name=""/>
          <p:cNvGrpSpPr/>
          <p:nvPr/>
        </p:nvGrpSpPr>
        <p:grpSpPr>
          <a:xfrm>
            <a:off x="152280" y="1889280"/>
            <a:ext cx="4443480" cy="685440"/>
            <a:chOff x="152280" y="1889280"/>
            <a:chExt cx="4443480" cy="685440"/>
          </a:xfrm>
        </p:grpSpPr>
        <p:sp>
          <p:nvSpPr>
            <p:cNvPr id="200" name=""/>
            <p:cNvSpPr txBox="1"/>
            <p:nvPr/>
          </p:nvSpPr>
          <p:spPr>
            <a:xfrm>
              <a:off x="298440" y="2392200"/>
              <a:ext cx="320184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1    2 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3 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4    5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6    7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" name=""/>
            <p:cNvSpPr txBox="1"/>
            <p:nvPr/>
          </p:nvSpPr>
          <p:spPr>
            <a:xfrm>
              <a:off x="195120" y="1889280"/>
              <a:ext cx="787320" cy="1825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CountyTax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"/>
            <p:cNvSpPr/>
            <p:nvPr/>
          </p:nvSpPr>
          <p:spPr>
            <a:xfrm>
              <a:off x="17136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"/>
            <p:cNvSpPr/>
            <p:nvPr/>
          </p:nvSpPr>
          <p:spPr>
            <a:xfrm>
              <a:off x="6667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"/>
            <p:cNvSpPr/>
            <p:nvPr/>
          </p:nvSpPr>
          <p:spPr>
            <a:xfrm>
              <a:off x="115884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"/>
            <p:cNvSpPr/>
            <p:nvPr/>
          </p:nvSpPr>
          <p:spPr>
            <a:xfrm>
              <a:off x="1649520" y="2073240"/>
              <a:ext cx="5032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"/>
            <p:cNvSpPr/>
            <p:nvPr/>
          </p:nvSpPr>
          <p:spPr>
            <a:xfrm>
              <a:off x="2146320" y="2073240"/>
              <a:ext cx="50004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"/>
            <p:cNvSpPr/>
            <p:nvPr/>
          </p:nvSpPr>
          <p:spPr>
            <a:xfrm>
              <a:off x="263520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"/>
            <p:cNvSpPr/>
            <p:nvPr/>
          </p:nvSpPr>
          <p:spPr>
            <a:xfrm>
              <a:off x="3124080" y="2073240"/>
              <a:ext cx="501480" cy="30780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"/>
            <p:cNvSpPr/>
            <p:nvPr/>
          </p:nvSpPr>
          <p:spPr>
            <a:xfrm>
              <a:off x="152280" y="2071800"/>
              <a:ext cx="3554280" cy="30960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10" name=""/>
            <p:cNvGrpSpPr/>
            <p:nvPr/>
          </p:nvGrpSpPr>
          <p:grpSpPr>
            <a:xfrm>
              <a:off x="3568680" y="2070000"/>
              <a:ext cx="165240" cy="317520"/>
              <a:chOff x="3568680" y="2070000"/>
              <a:chExt cx="165240" cy="317520"/>
            </a:xfrm>
          </p:grpSpPr>
          <p:sp>
            <p:nvSpPr>
              <p:cNvPr id="211" name=""/>
              <p:cNvSpPr/>
              <p:nvPr/>
            </p:nvSpPr>
            <p:spPr>
              <a:xfrm>
                <a:off x="3568680" y="2082960"/>
                <a:ext cx="90720" cy="292320"/>
              </a:xfrm>
              <a:custGeom>
                <a:avLst/>
                <a:gdLst/>
                <a:ahLst/>
                <a:rect l="0" t="0" r="r" b="b"/>
                <a:pathLst>
                  <a:path w="252" h="812">
                    <a:moveTo>
                      <a:pt x="252" y="0"/>
                    </a:moveTo>
                    <a:lnTo>
                      <a:pt x="202" y="0"/>
                    </a:lnTo>
                    <a:lnTo>
                      <a:pt x="151" y="0"/>
                    </a:lnTo>
                    <a:lnTo>
                      <a:pt x="100" y="18"/>
                    </a:lnTo>
                    <a:lnTo>
                      <a:pt x="100" y="54"/>
                    </a:lnTo>
                    <a:lnTo>
                      <a:pt x="100" y="90"/>
                    </a:lnTo>
                    <a:lnTo>
                      <a:pt x="75" y="126"/>
                    </a:lnTo>
                    <a:lnTo>
                      <a:pt x="50" y="162"/>
                    </a:lnTo>
                    <a:lnTo>
                      <a:pt x="50" y="198"/>
                    </a:lnTo>
                    <a:lnTo>
                      <a:pt x="100" y="216"/>
                    </a:lnTo>
                    <a:lnTo>
                      <a:pt x="100" y="252"/>
                    </a:lnTo>
                    <a:lnTo>
                      <a:pt x="75" y="288"/>
                    </a:lnTo>
                    <a:lnTo>
                      <a:pt x="25" y="306"/>
                    </a:lnTo>
                    <a:lnTo>
                      <a:pt x="25" y="342"/>
                    </a:lnTo>
                    <a:lnTo>
                      <a:pt x="25" y="378"/>
                    </a:lnTo>
                    <a:lnTo>
                      <a:pt x="75" y="396"/>
                    </a:lnTo>
                    <a:lnTo>
                      <a:pt x="100" y="433"/>
                    </a:lnTo>
                    <a:lnTo>
                      <a:pt x="75" y="469"/>
                    </a:lnTo>
                    <a:lnTo>
                      <a:pt x="50" y="505"/>
                    </a:lnTo>
                    <a:lnTo>
                      <a:pt x="0" y="523"/>
                    </a:lnTo>
                    <a:lnTo>
                      <a:pt x="0" y="559"/>
                    </a:lnTo>
                    <a:lnTo>
                      <a:pt x="50" y="596"/>
                    </a:lnTo>
                    <a:lnTo>
                      <a:pt x="75" y="632"/>
                    </a:lnTo>
                    <a:lnTo>
                      <a:pt x="25" y="650"/>
                    </a:lnTo>
                    <a:lnTo>
                      <a:pt x="25" y="686"/>
                    </a:lnTo>
                    <a:lnTo>
                      <a:pt x="25" y="722"/>
                    </a:lnTo>
                    <a:lnTo>
                      <a:pt x="75" y="722"/>
                    </a:lnTo>
                    <a:lnTo>
                      <a:pt x="75" y="758"/>
                    </a:lnTo>
                    <a:lnTo>
                      <a:pt x="100" y="794"/>
                    </a:lnTo>
                    <a:lnTo>
                      <a:pt x="151" y="812"/>
                    </a:lnTo>
                    <a:lnTo>
                      <a:pt x="202" y="812"/>
                    </a:lnTo>
                    <a:lnTo>
                      <a:pt x="252" y="812"/>
                    </a:lnTo>
                    <a:lnTo>
                      <a:pt x="252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"/>
              <p:cNvSpPr/>
              <p:nvPr/>
            </p:nvSpPr>
            <p:spPr>
              <a:xfrm>
                <a:off x="3625920" y="2070000"/>
                <a:ext cx="108000" cy="317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13" name=""/>
            <p:cNvGrpSpPr/>
            <p:nvPr/>
          </p:nvGrpSpPr>
          <p:grpSpPr>
            <a:xfrm>
              <a:off x="3633840" y="2076480"/>
              <a:ext cx="961920" cy="336600"/>
              <a:chOff x="3633840" y="2076480"/>
              <a:chExt cx="961920" cy="336600"/>
            </a:xfrm>
          </p:grpSpPr>
          <p:sp>
            <p:nvSpPr>
              <p:cNvPr id="214" name=""/>
              <p:cNvSpPr/>
              <p:nvPr/>
            </p:nvSpPr>
            <p:spPr>
              <a:xfrm>
                <a:off x="3633840" y="2157480"/>
                <a:ext cx="324360" cy="152640"/>
              </a:xfrm>
              <a:custGeom>
                <a:avLst/>
                <a:gdLst/>
                <a:ahLst/>
                <a:rect l="0" t="0" r="r" b="b"/>
                <a:pathLst>
                  <a:path w="901" h="424">
                    <a:moveTo>
                      <a:pt x="0" y="140"/>
                    </a:moveTo>
                    <a:lnTo>
                      <a:pt x="0" y="282"/>
                    </a:lnTo>
                    <a:lnTo>
                      <a:pt x="630" y="282"/>
                    </a:lnTo>
                    <a:lnTo>
                      <a:pt x="630" y="424"/>
                    </a:lnTo>
                    <a:lnTo>
                      <a:pt x="901" y="211"/>
                    </a:lnTo>
                    <a:lnTo>
                      <a:pt x="630" y="0"/>
                    </a:lnTo>
                    <a:lnTo>
                      <a:pt x="630" y="140"/>
                    </a:lnTo>
                    <a:lnTo>
                      <a:pt x="0" y="140"/>
                    </a:lnTo>
                    <a:close/>
                  </a:path>
                </a:pathLst>
              </a:custGeom>
              <a:solidFill>
                <a:srgbClr val="DDDDDD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5" name=""/>
              <p:cNvSpPr txBox="1"/>
              <p:nvPr/>
            </p:nvSpPr>
            <p:spPr>
              <a:xfrm>
                <a:off x="3960720" y="2076480"/>
                <a:ext cx="635040" cy="3366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80000"/>
                  </a:lnSpc>
                </a:pP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19 other</a:t>
                </a:r>
                <a:br>
                  <a:rPr sz="1000"/>
                </a:br>
                <a:r>
                  <a:rPr lang="en-US" sz="1000" b="0" u="none" strike="noStrike">
                    <a:solidFill>
                      <a:srgbClr val="000000"/>
                    </a:solidFill>
                    <a:effectLst/>
                    <a:uFillTx/>
                    <a:latin typeface="Times New Roman"/>
                    <a:ea typeface="Times New Roman"/>
                  </a:rPr>
                  <a:t>elements</a:t>
                </a:r>
                <a:endParaRPr lang="en-US" sz="10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16" name=""/>
          <p:cNvSpPr txBox="1"/>
          <p:nvPr/>
        </p:nvSpPr>
        <p:spPr>
          <a:xfrm>
            <a:off x="438120" y="2809800"/>
            <a:ext cx="420840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CountyNum FROM 1 BY 1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UNTIL CountyName(CountyNum) = County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br>
              <a:rPr sz="1200"/>
            </a:b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ADD TaxPaid TO CountyTax(CountyNum)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714840" y="196920"/>
            <a:ext cx="7048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638520" y="484200"/>
            <a:ext cx="87012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2019240" y="19368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74.75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33480" y="2079720"/>
            <a:ext cx="91764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74.75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1390680" y="380880"/>
            <a:ext cx="819360" cy="1657800"/>
          </a:xfrm>
          <a:custGeom>
            <a:avLst/>
            <a:gdLst/>
            <a:ahLst/>
            <a:rect l="0" t="0" r="r" b="b"/>
            <a:pathLst>
              <a:path fill="none" w="2276" h="4605">
                <a:moveTo>
                  <a:pt x="2276" y="0"/>
                </a:moveTo>
                <a:lnTo>
                  <a:pt x="2276" y="0"/>
                </a:lnTo>
                <a:cubicBezTo>
                  <a:pt x="1876" y="0"/>
                  <a:pt x="1484" y="213"/>
                  <a:pt x="1138" y="617"/>
                </a:cubicBezTo>
                <a:cubicBezTo>
                  <a:pt x="792" y="1021"/>
                  <a:pt x="505" y="1602"/>
                  <a:pt x="305" y="2303"/>
                </a:cubicBezTo>
                <a:cubicBezTo>
                  <a:pt x="105" y="3003"/>
                  <a:pt x="0" y="3797"/>
                  <a:pt x="0" y="4605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