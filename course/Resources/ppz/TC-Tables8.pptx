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4764088" cy="3657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38240"/>
            <a:ext cx="42872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4240" cy="365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6385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45800"/>
            <a:ext cx="4287240" cy="61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281160" y="992160"/>
            <a:ext cx="4195800" cy="70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table pre-filled with the letters of the alphabet.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6320" y="190440"/>
            <a:ext cx="4505400" cy="3697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A  B  C  D  E  F  G  H  I  J  K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4405320" y="190440"/>
            <a:ext cx="195480" cy="373320"/>
          </a:xfrm>
          <a:custGeom>
            <a:avLst/>
            <a:gdLst/>
            <a:ahLst/>
            <a:rect l="0" t="0" r="r" b="b"/>
            <a:pathLst>
              <a:path w="543" h="1037">
                <a:moveTo>
                  <a:pt x="302" y="20"/>
                </a:moveTo>
                <a:lnTo>
                  <a:pt x="241" y="81"/>
                </a:lnTo>
                <a:lnTo>
                  <a:pt x="180" y="142"/>
                </a:lnTo>
                <a:lnTo>
                  <a:pt x="90" y="162"/>
                </a:lnTo>
                <a:lnTo>
                  <a:pt x="60" y="223"/>
                </a:lnTo>
                <a:lnTo>
                  <a:pt x="120" y="284"/>
                </a:lnTo>
                <a:lnTo>
                  <a:pt x="180" y="345"/>
                </a:lnTo>
                <a:lnTo>
                  <a:pt x="90" y="386"/>
                </a:lnTo>
                <a:lnTo>
                  <a:pt x="0" y="426"/>
                </a:lnTo>
                <a:lnTo>
                  <a:pt x="60" y="487"/>
                </a:lnTo>
                <a:lnTo>
                  <a:pt x="150" y="529"/>
                </a:lnTo>
                <a:lnTo>
                  <a:pt x="180" y="590"/>
                </a:lnTo>
                <a:lnTo>
                  <a:pt x="90" y="630"/>
                </a:lnTo>
                <a:lnTo>
                  <a:pt x="0" y="671"/>
                </a:lnTo>
                <a:lnTo>
                  <a:pt x="60" y="732"/>
                </a:lnTo>
                <a:lnTo>
                  <a:pt x="120" y="793"/>
                </a:lnTo>
                <a:lnTo>
                  <a:pt x="180" y="854"/>
                </a:lnTo>
                <a:lnTo>
                  <a:pt x="90" y="874"/>
                </a:lnTo>
                <a:lnTo>
                  <a:pt x="150" y="935"/>
                </a:lnTo>
                <a:lnTo>
                  <a:pt x="241" y="976"/>
                </a:lnTo>
                <a:lnTo>
                  <a:pt x="272" y="1037"/>
                </a:lnTo>
                <a:lnTo>
                  <a:pt x="362" y="1016"/>
                </a:lnTo>
                <a:lnTo>
                  <a:pt x="452" y="976"/>
                </a:lnTo>
                <a:lnTo>
                  <a:pt x="543" y="956"/>
                </a:lnTo>
                <a:lnTo>
                  <a:pt x="543" y="0"/>
                </a:lnTo>
                <a:lnTo>
                  <a:pt x="302" y="2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495680" y="181080"/>
            <a:ext cx="14292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6360" y="619200"/>
            <a:ext cx="4573440" cy="150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LetterTable.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TableValues.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X(13) VALUE "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ABCDEFGHIJKLM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X(13) VALUE "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NOPQRSTUVWXYZ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017880" y="2522520"/>
            <a:ext cx="161460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First, we reserve an area of storage and use the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VALUE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fill it with the letters of the alphabet.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76320" y="190440"/>
            <a:ext cx="4505400" cy="3697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A  B  C  D  E  F  G  H  I  J  K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405320" y="190440"/>
            <a:ext cx="195480" cy="373320"/>
          </a:xfrm>
          <a:custGeom>
            <a:avLst/>
            <a:gdLst/>
            <a:ahLst/>
            <a:rect l="0" t="0" r="r" b="b"/>
            <a:pathLst>
              <a:path w="543" h="1037">
                <a:moveTo>
                  <a:pt x="302" y="20"/>
                </a:moveTo>
                <a:lnTo>
                  <a:pt x="241" y="81"/>
                </a:lnTo>
                <a:lnTo>
                  <a:pt x="180" y="142"/>
                </a:lnTo>
                <a:lnTo>
                  <a:pt x="90" y="162"/>
                </a:lnTo>
                <a:lnTo>
                  <a:pt x="60" y="223"/>
                </a:lnTo>
                <a:lnTo>
                  <a:pt x="120" y="284"/>
                </a:lnTo>
                <a:lnTo>
                  <a:pt x="180" y="345"/>
                </a:lnTo>
                <a:lnTo>
                  <a:pt x="90" y="386"/>
                </a:lnTo>
                <a:lnTo>
                  <a:pt x="0" y="426"/>
                </a:lnTo>
                <a:lnTo>
                  <a:pt x="60" y="487"/>
                </a:lnTo>
                <a:lnTo>
                  <a:pt x="150" y="529"/>
                </a:lnTo>
                <a:lnTo>
                  <a:pt x="180" y="590"/>
                </a:lnTo>
                <a:lnTo>
                  <a:pt x="90" y="630"/>
                </a:lnTo>
                <a:lnTo>
                  <a:pt x="0" y="671"/>
                </a:lnTo>
                <a:lnTo>
                  <a:pt x="60" y="732"/>
                </a:lnTo>
                <a:lnTo>
                  <a:pt x="120" y="793"/>
                </a:lnTo>
                <a:lnTo>
                  <a:pt x="180" y="854"/>
                </a:lnTo>
                <a:lnTo>
                  <a:pt x="90" y="874"/>
                </a:lnTo>
                <a:lnTo>
                  <a:pt x="150" y="935"/>
                </a:lnTo>
                <a:lnTo>
                  <a:pt x="241" y="976"/>
                </a:lnTo>
                <a:lnTo>
                  <a:pt x="272" y="1037"/>
                </a:lnTo>
                <a:lnTo>
                  <a:pt x="362" y="1016"/>
                </a:lnTo>
                <a:lnTo>
                  <a:pt x="452" y="976"/>
                </a:lnTo>
                <a:lnTo>
                  <a:pt x="543" y="956"/>
                </a:lnTo>
                <a:lnTo>
                  <a:pt x="543" y="0"/>
                </a:lnTo>
                <a:lnTo>
                  <a:pt x="302" y="2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495680" y="181080"/>
            <a:ext cx="14292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6360" y="619200"/>
            <a:ext cx="4573440" cy="10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LetterTable.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TableValues.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X(13) VALUE "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ABCDEFGHIJKLM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X(13) VALUE "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NOPQRSTUVWXYZ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1200"/>
            </a:b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02 FILLER REDEFINES TableValues.</a:t>
            </a:r>
            <a:br>
              <a:rPr sz="1200"/>
            </a:b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 03 Letter PIC X OCCURS 26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14760" y="2422440"/>
            <a:ext cx="1917720" cy="10605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Then, we use the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REDEFINES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redefine the area of memory as a table. In effect we impose a table description on the area of storage.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66560" y="209520"/>
            <a:ext cx="0" cy="3430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8596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28592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70496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10492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52396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94336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34332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76236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162320" y="192240"/>
            <a:ext cx="0" cy="34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216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9212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Letter(2)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1116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Letter(3)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30176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72080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Letter(5)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12076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Letter(6)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54952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Letter(7)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96856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368520" y="77760"/>
            <a:ext cx="36036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Letter(9)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759120" y="77760"/>
            <a:ext cx="411120" cy="22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Letter(10)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197240" y="77760"/>
            <a:ext cx="41112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Letter(11)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281160" y="992160"/>
            <a:ext cx="4195800" cy="70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Creating a table pre-filled with the months of the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104760" y="314280"/>
            <a:ext cx="4124160" cy="39060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January  February March    April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038480" y="316080"/>
            <a:ext cx="190800" cy="419400"/>
          </a:xfrm>
          <a:custGeom>
            <a:avLst/>
            <a:gdLst/>
            <a:ahLst/>
            <a:rect l="0" t="0" r="r" b="b"/>
            <a:pathLst>
              <a:path w="530" h="1165">
                <a:moveTo>
                  <a:pt x="294" y="22"/>
                </a:moveTo>
                <a:lnTo>
                  <a:pt x="235" y="91"/>
                </a:lnTo>
                <a:lnTo>
                  <a:pt x="176" y="159"/>
                </a:lnTo>
                <a:lnTo>
                  <a:pt x="88" y="182"/>
                </a:lnTo>
                <a:lnTo>
                  <a:pt x="58" y="251"/>
                </a:lnTo>
                <a:lnTo>
                  <a:pt x="117" y="319"/>
                </a:lnTo>
                <a:lnTo>
                  <a:pt x="176" y="388"/>
                </a:lnTo>
                <a:lnTo>
                  <a:pt x="88" y="433"/>
                </a:lnTo>
                <a:lnTo>
                  <a:pt x="0" y="479"/>
                </a:lnTo>
                <a:lnTo>
                  <a:pt x="58" y="547"/>
                </a:lnTo>
                <a:lnTo>
                  <a:pt x="146" y="594"/>
                </a:lnTo>
                <a:lnTo>
                  <a:pt x="176" y="662"/>
                </a:lnTo>
                <a:lnTo>
                  <a:pt x="88" y="708"/>
                </a:lnTo>
                <a:lnTo>
                  <a:pt x="0" y="754"/>
                </a:lnTo>
                <a:lnTo>
                  <a:pt x="58" y="822"/>
                </a:lnTo>
                <a:lnTo>
                  <a:pt x="117" y="891"/>
                </a:lnTo>
                <a:lnTo>
                  <a:pt x="176" y="959"/>
                </a:lnTo>
                <a:lnTo>
                  <a:pt x="88" y="982"/>
                </a:lnTo>
                <a:lnTo>
                  <a:pt x="146" y="1051"/>
                </a:lnTo>
                <a:lnTo>
                  <a:pt x="235" y="1096"/>
                </a:lnTo>
                <a:lnTo>
                  <a:pt x="264" y="1165"/>
                </a:lnTo>
                <a:lnTo>
                  <a:pt x="353" y="1142"/>
                </a:lnTo>
                <a:lnTo>
                  <a:pt x="441" y="1096"/>
                </a:lnTo>
                <a:lnTo>
                  <a:pt x="530" y="1073"/>
                </a:lnTo>
                <a:lnTo>
                  <a:pt x="530" y="0"/>
                </a:lnTo>
                <a:lnTo>
                  <a:pt x="294" y="2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119480" y="316080"/>
            <a:ext cx="166680" cy="44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205160" y="439560"/>
            <a:ext cx="176400" cy="140040"/>
          </a:xfrm>
          <a:custGeom>
            <a:avLst/>
            <a:gdLst/>
            <a:ahLst/>
            <a:rect l="0" t="0" r="r" b="b"/>
            <a:pathLst>
              <a:path w="490" h="389">
                <a:moveTo>
                  <a:pt x="0" y="129"/>
                </a:moveTo>
                <a:lnTo>
                  <a:pt x="0" y="259"/>
                </a:lnTo>
                <a:lnTo>
                  <a:pt x="343" y="259"/>
                </a:lnTo>
                <a:lnTo>
                  <a:pt x="343" y="389"/>
                </a:lnTo>
                <a:lnTo>
                  <a:pt x="490" y="195"/>
                </a:lnTo>
                <a:lnTo>
                  <a:pt x="343" y="0"/>
                </a:lnTo>
                <a:lnTo>
                  <a:pt x="343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00CC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71360" y="771480"/>
            <a:ext cx="4191120" cy="11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MonthValues.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January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February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March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April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May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June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July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August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SeptemberOctober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November December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017880" y="2522520"/>
            <a:ext cx="161460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First we reserve an area of storage and use the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VALUE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fill it with the names of the months.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104760" y="314280"/>
            <a:ext cx="4124160" cy="39060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January  February March    April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038480" y="316080"/>
            <a:ext cx="190800" cy="419400"/>
          </a:xfrm>
          <a:custGeom>
            <a:avLst/>
            <a:gdLst/>
            <a:ahLst/>
            <a:rect l="0" t="0" r="r" b="b"/>
            <a:pathLst>
              <a:path w="530" h="1165">
                <a:moveTo>
                  <a:pt x="294" y="22"/>
                </a:moveTo>
                <a:lnTo>
                  <a:pt x="235" y="91"/>
                </a:lnTo>
                <a:lnTo>
                  <a:pt x="176" y="159"/>
                </a:lnTo>
                <a:lnTo>
                  <a:pt x="88" y="182"/>
                </a:lnTo>
                <a:lnTo>
                  <a:pt x="58" y="251"/>
                </a:lnTo>
                <a:lnTo>
                  <a:pt x="117" y="319"/>
                </a:lnTo>
                <a:lnTo>
                  <a:pt x="176" y="388"/>
                </a:lnTo>
                <a:lnTo>
                  <a:pt x="88" y="433"/>
                </a:lnTo>
                <a:lnTo>
                  <a:pt x="0" y="479"/>
                </a:lnTo>
                <a:lnTo>
                  <a:pt x="58" y="547"/>
                </a:lnTo>
                <a:lnTo>
                  <a:pt x="146" y="594"/>
                </a:lnTo>
                <a:lnTo>
                  <a:pt x="176" y="662"/>
                </a:lnTo>
                <a:lnTo>
                  <a:pt x="88" y="708"/>
                </a:lnTo>
                <a:lnTo>
                  <a:pt x="0" y="754"/>
                </a:lnTo>
                <a:lnTo>
                  <a:pt x="58" y="822"/>
                </a:lnTo>
                <a:lnTo>
                  <a:pt x="117" y="891"/>
                </a:lnTo>
                <a:lnTo>
                  <a:pt x="176" y="959"/>
                </a:lnTo>
                <a:lnTo>
                  <a:pt x="88" y="982"/>
                </a:lnTo>
                <a:lnTo>
                  <a:pt x="146" y="1051"/>
                </a:lnTo>
                <a:lnTo>
                  <a:pt x="235" y="1096"/>
                </a:lnTo>
                <a:lnTo>
                  <a:pt x="264" y="1165"/>
                </a:lnTo>
                <a:lnTo>
                  <a:pt x="353" y="1142"/>
                </a:lnTo>
                <a:lnTo>
                  <a:pt x="441" y="1096"/>
                </a:lnTo>
                <a:lnTo>
                  <a:pt x="530" y="1073"/>
                </a:lnTo>
                <a:lnTo>
                  <a:pt x="530" y="0"/>
                </a:lnTo>
                <a:lnTo>
                  <a:pt x="294" y="22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119480" y="316080"/>
            <a:ext cx="166680" cy="44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205160" y="439560"/>
            <a:ext cx="176400" cy="140040"/>
          </a:xfrm>
          <a:custGeom>
            <a:avLst/>
            <a:gdLst/>
            <a:ahLst/>
            <a:rect l="0" t="0" r="r" b="b"/>
            <a:pathLst>
              <a:path w="490" h="389">
                <a:moveTo>
                  <a:pt x="0" y="129"/>
                </a:moveTo>
                <a:lnTo>
                  <a:pt x="0" y="259"/>
                </a:lnTo>
                <a:lnTo>
                  <a:pt x="343" y="259"/>
                </a:lnTo>
                <a:lnTo>
                  <a:pt x="343" y="389"/>
                </a:lnTo>
                <a:lnTo>
                  <a:pt x="490" y="195"/>
                </a:lnTo>
                <a:lnTo>
                  <a:pt x="343" y="0"/>
                </a:lnTo>
                <a:lnTo>
                  <a:pt x="343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00CC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285920" y="316080"/>
            <a:ext cx="0" cy="369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390760" y="316080"/>
            <a:ext cx="0" cy="369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476520" y="316080"/>
            <a:ext cx="0" cy="369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71360" y="771480"/>
            <a:ext cx="4191120" cy="143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MonthTable.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MonthValues.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January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February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March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April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May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June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July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August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SeptemberOctober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03 FILLER    PIC X(18) VALUE "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November December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02 FILLER REDEFINES MonthValues.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 03 Month OCCURS 12 TIMES PIC X(9).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57040" y="163440"/>
            <a:ext cx="4874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Month(1)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400040" y="163440"/>
            <a:ext cx="4874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Month(2)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523960" y="163440"/>
            <a:ext cx="4874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Month(3)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657600" y="163440"/>
            <a:ext cx="4874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Month(4)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276640" y="2295360"/>
            <a:ext cx="2432160" cy="126684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Then, we use the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REDEFINES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redefine the area of memory as a table.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Notice that we use the word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FILLER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whenever we need to declare an item but don't need to refer to it by name in our program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338040" y="382680"/>
            <a:ext cx="4195800" cy="100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Creating a two dimension table table pre-filled with the surcharge values for late videos.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7520" y="1670040"/>
            <a:ext cx="4638600" cy="158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Scenario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video rental shop charges its customers a surcharge on late videos.  The per-diem surcharge depends on how recently the video was released (Old, Recent, New) and the number of days the video is overdue (1-3, 4-7, &gt;7). The surcharge values are held in a two dimension 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actual surcharge is calculated as -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PerDiemSurcharge(VideoAge, OverduePeriod) * NumOfDaysOverdue.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71360" y="1200240"/>
            <a:ext cx="402264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LateVideoSurchargeTable.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SurchargeValues.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050100150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075125200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100150300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3440" y="738360"/>
            <a:ext cx="4465800" cy="385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050 100 150 075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125 200 100 150 300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017880" y="2522520"/>
            <a:ext cx="161460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First we reserve an area of storage and use the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VALUE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fill it with the surcharge values.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171360" y="1200240"/>
            <a:ext cx="402264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LateVideoSurchargeTable.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SurchargeValues.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050100150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075125200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100150300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FILLER REDEFINES SurchargeValues.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 03 VideoAge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63440" y="738360"/>
            <a:ext cx="4465800" cy="385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050 100 150 075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125 200 100 150 300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62000" y="135000"/>
            <a:ext cx="1514520" cy="97956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76520" y="135000"/>
            <a:ext cx="1447920" cy="9810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124080" y="135000"/>
            <a:ext cx="1508040" cy="9810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124080" y="2451240"/>
            <a:ext cx="1584360" cy="85248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Then, we use the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first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OCCURS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 to lay down the first dimension of the table.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171360" y="1200240"/>
            <a:ext cx="402264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LateVideoSurchargeTable.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SurchargeValues.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050100150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075125200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FILLER PIC X(6) VALUE “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100150300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FILLER REDEFINES SurchargeValues.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     03 VideoAge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6600"/>
                </a:solidFill>
                <a:effectLst/>
                <a:uFillTx/>
                <a:latin typeface="Courier New"/>
                <a:ea typeface="Courier New"/>
              </a:rPr>
              <a:t>         04 OverduePeriod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05 PerDiemSurcharge  PIC 9V99.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63440" y="738360"/>
            <a:ext cx="4465800" cy="385920"/>
          </a:xfrm>
          <a:prstGeom prst="rect">
            <a:avLst/>
          </a:prstGeom>
          <a:solidFill>
            <a:srgbClr val="FFFFCC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050 100 150 075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125 200 100 150 300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62000" y="135000"/>
            <a:ext cx="1514520" cy="97956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676520" y="135000"/>
            <a:ext cx="1447920" cy="9810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124080" y="135000"/>
            <a:ext cx="1508040" cy="9810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2000" y="487440"/>
            <a:ext cx="50472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66720" y="487440"/>
            <a:ext cx="51444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81160" y="487440"/>
            <a:ext cx="49536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673280" y="487440"/>
            <a:ext cx="50796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178000" y="487440"/>
            <a:ext cx="46980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644920" y="487440"/>
            <a:ext cx="47952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121200" y="487440"/>
            <a:ext cx="50796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625920" y="487440"/>
            <a:ext cx="47952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102200" y="487440"/>
            <a:ext cx="527040" cy="627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CC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282760" y="2943360"/>
            <a:ext cx="2346480" cy="6462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Then, we use the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second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OCCURS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clause, and the element description, to lay down the rest of the table.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282760" y="2936880"/>
            <a:ext cx="2346480" cy="64620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Pay particular attention to the way the two dimension table maps on to the pre-filled area of storage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