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68" r:id="rId2"/>
    <p:sldId id="278" r:id="rId3"/>
    <p:sldId id="270" r:id="rId4"/>
    <p:sldId id="279" r:id="rId5"/>
    <p:sldId id="271" r:id="rId6"/>
    <p:sldId id="272" r:id="rId7"/>
    <p:sldId id="280" r:id="rId8"/>
    <p:sldId id="273" r:id="rId9"/>
    <p:sldId id="276" r:id="rId10"/>
    <p:sldId id="277" r:id="rId11"/>
  </p:sldIdLst>
  <p:sldSz cx="4764088" cy="3657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152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3300"/>
    <a:srgbClr val="F8F8F8"/>
    <a:srgbClr val="393939"/>
    <a:srgbClr val="FFFF99"/>
    <a:srgbClr val="006600"/>
    <a:srgbClr val="00CC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31" d="100"/>
          <a:sy n="231" d="100"/>
        </p:scale>
        <p:origin x="444" y="186"/>
      </p:cViewPr>
      <p:guideLst>
        <p:guide orient="horz" pos="1152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152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1F7AFE0-FA16-522B-8505-17EF97151EB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8F4CEA06-982C-D5F7-C26E-034D96161E3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5ED3FC05-F41D-D8AE-B655-07D34D0B02C8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01738" y="692150"/>
            <a:ext cx="4454525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74F57994-9AC0-09C0-AFB3-25F9497F3B8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5B2488D1-FE5F-9E45-A49F-A8A608F480C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84FEAEC0-210E-52FE-853A-3B6CDF8BDE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fld id="{6EDB9B9F-A926-4E22-8E1B-B6B1900C41D1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2487A-7F33-2F17-35EE-4FB87D7A7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598488"/>
            <a:ext cx="3573462" cy="1273175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A86BC7-0C5B-E567-7391-88EA96022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1920875"/>
            <a:ext cx="3573462" cy="882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30191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CCC3F-1A10-3545-6B9E-AA91FD4C1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BE71E-0D87-93AD-8CA5-C91507043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973138"/>
            <a:ext cx="4110038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9508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FBB2B-EE6F-9CE7-C304-F0FD79F0B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11225"/>
            <a:ext cx="4108450" cy="15224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CD9BB-7636-6E48-A0F7-D5E7B81FD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447925"/>
            <a:ext cx="4108450" cy="800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50498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1BDFB-F79B-B17C-694F-66AAC5707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B91F0-D270-F51A-F357-2988E4AA70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973138"/>
            <a:ext cx="1978025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335C96-B269-EAC5-517B-82706EEC8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973138"/>
            <a:ext cx="1979613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7378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E7CC7-B158-BA70-BFCB-8DD2623C9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95263"/>
            <a:ext cx="4108450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71BE4-1477-82D1-2430-86AD087545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896938"/>
            <a:ext cx="2014537" cy="4397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F8F645-F84D-DF08-B63F-3716C59909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36675"/>
            <a:ext cx="2014537" cy="19637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AA21F9-7791-898A-0A47-6B85786F85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896938"/>
            <a:ext cx="2025650" cy="4397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A72709-CBD1-93FD-B8A7-FE87287DD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36675"/>
            <a:ext cx="2025650" cy="19637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8449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3E2F8-ADF7-462C-51B0-ADA0D7286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11185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6906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2DBA0-E868-D2C9-5A6C-6B47834E3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44475"/>
            <a:ext cx="1536700" cy="85248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CB003-B2A6-165C-96C1-C035D58FA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5650" y="527050"/>
            <a:ext cx="2411413" cy="259873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23A22E-A2C3-890E-3281-5C20FCFECC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096963"/>
            <a:ext cx="1536700" cy="2033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21291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FB224-9E19-51C1-2CEB-B49CDC399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44475"/>
            <a:ext cx="1536700" cy="85248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CD3BE-4668-8DD0-E81F-0892FAB3C0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5650" y="527050"/>
            <a:ext cx="2411413" cy="2598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33F1CD-4F80-5732-4D45-E80FBD51C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096963"/>
            <a:ext cx="1536700" cy="2033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1833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6C869-B6AA-5F69-5BBA-85DEB9DC4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3B4AF-C449-8A23-55B6-4337C0AC3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973138"/>
            <a:ext cx="4110038" cy="23209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9743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16B42-1CFC-99A3-AFB9-941C7C916E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9950" y="195263"/>
            <a:ext cx="1027113" cy="3098800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098BC8-8EA5-0356-5272-720CB12B6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95263"/>
            <a:ext cx="2930525" cy="30988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93916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18E543D-0E78-F8EB-EDD1-CD78C0A2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7463"/>
            <a:ext cx="4733925" cy="36258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F22FAF3A-7205-292C-D5EE-227B2D6F95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988" y="992188"/>
            <a:ext cx="4195762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20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Creating a table pre-filled with the letters of the alphabet.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20D169D5-99A7-814A-A3B7-B14D26AFD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203200"/>
            <a:ext cx="4479925" cy="344488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19050" rIns="92075" bIns="19050" anchor="ctr"/>
          <a:lstStyle/>
          <a:p>
            <a:pPr>
              <a:lnSpc>
                <a:spcPct val="80000"/>
              </a:lnSpc>
            </a:pP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A  B  C  D  E  F  G  H  I  J  K</a:t>
            </a:r>
            <a:r>
              <a:rPr lang="en-US" altLang="en-US" sz="1800" b="1">
                <a:solidFill>
                  <a:schemeClr val="tx2"/>
                </a:solidFill>
                <a:effectLst>
                  <a:outerShdw blurRad="38100" dist="38100" dir="2700000" algn="tl">
                    <a:srgbClr val="FFFFFF"/>
                  </a:outerShdw>
                </a:effectLst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4099" name="Freeform 3">
            <a:extLst>
              <a:ext uri="{FF2B5EF4-FFF2-40B4-BE49-F238E27FC236}">
                <a16:creationId xmlns:a16="http://schemas.microsoft.com/office/drawing/2014/main" id="{3F922DE4-A607-3726-EDC1-983480D40252}"/>
              </a:ext>
            </a:extLst>
          </p:cNvPr>
          <p:cNvSpPr>
            <a:spLocks/>
          </p:cNvSpPr>
          <p:nvPr/>
        </p:nvSpPr>
        <p:spPr bwMode="auto">
          <a:xfrm>
            <a:off x="4405313" y="190500"/>
            <a:ext cx="196850" cy="374650"/>
          </a:xfrm>
          <a:custGeom>
            <a:avLst/>
            <a:gdLst>
              <a:gd name="T0" fmla="*/ 68 w 124"/>
              <a:gd name="T1" fmla="*/ 4 h 236"/>
              <a:gd name="T2" fmla="*/ 54 w 124"/>
              <a:gd name="T3" fmla="*/ 18 h 236"/>
              <a:gd name="T4" fmla="*/ 41 w 124"/>
              <a:gd name="T5" fmla="*/ 32 h 236"/>
              <a:gd name="T6" fmla="*/ 20 w 124"/>
              <a:gd name="T7" fmla="*/ 36 h 236"/>
              <a:gd name="T8" fmla="*/ 13 w 124"/>
              <a:gd name="T9" fmla="*/ 50 h 236"/>
              <a:gd name="T10" fmla="*/ 27 w 124"/>
              <a:gd name="T11" fmla="*/ 64 h 236"/>
              <a:gd name="T12" fmla="*/ 41 w 124"/>
              <a:gd name="T13" fmla="*/ 78 h 236"/>
              <a:gd name="T14" fmla="*/ 20 w 124"/>
              <a:gd name="T15" fmla="*/ 87 h 236"/>
              <a:gd name="T16" fmla="*/ 0 w 124"/>
              <a:gd name="T17" fmla="*/ 96 h 236"/>
              <a:gd name="T18" fmla="*/ 13 w 124"/>
              <a:gd name="T19" fmla="*/ 110 h 236"/>
              <a:gd name="T20" fmla="*/ 34 w 124"/>
              <a:gd name="T21" fmla="*/ 119 h 236"/>
              <a:gd name="T22" fmla="*/ 41 w 124"/>
              <a:gd name="T23" fmla="*/ 133 h 236"/>
              <a:gd name="T24" fmla="*/ 20 w 124"/>
              <a:gd name="T25" fmla="*/ 142 h 236"/>
              <a:gd name="T26" fmla="*/ 0 w 124"/>
              <a:gd name="T27" fmla="*/ 152 h 236"/>
              <a:gd name="T28" fmla="*/ 13 w 124"/>
              <a:gd name="T29" fmla="*/ 165 h 236"/>
              <a:gd name="T30" fmla="*/ 27 w 124"/>
              <a:gd name="T31" fmla="*/ 179 h 236"/>
              <a:gd name="T32" fmla="*/ 41 w 124"/>
              <a:gd name="T33" fmla="*/ 193 h 236"/>
              <a:gd name="T34" fmla="*/ 20 w 124"/>
              <a:gd name="T35" fmla="*/ 198 h 236"/>
              <a:gd name="T36" fmla="*/ 34 w 124"/>
              <a:gd name="T37" fmla="*/ 211 h 236"/>
              <a:gd name="T38" fmla="*/ 54 w 124"/>
              <a:gd name="T39" fmla="*/ 221 h 236"/>
              <a:gd name="T40" fmla="*/ 61 w 124"/>
              <a:gd name="T41" fmla="*/ 235 h 236"/>
              <a:gd name="T42" fmla="*/ 82 w 124"/>
              <a:gd name="T43" fmla="*/ 230 h 236"/>
              <a:gd name="T44" fmla="*/ 102 w 124"/>
              <a:gd name="T45" fmla="*/ 221 h 236"/>
              <a:gd name="T46" fmla="*/ 123 w 124"/>
              <a:gd name="T47" fmla="*/ 216 h 236"/>
              <a:gd name="T48" fmla="*/ 123 w 124"/>
              <a:gd name="T49" fmla="*/ 0 h 2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124" h="236">
                <a:moveTo>
                  <a:pt x="68" y="4"/>
                </a:moveTo>
                <a:lnTo>
                  <a:pt x="54" y="18"/>
                </a:lnTo>
                <a:lnTo>
                  <a:pt x="41" y="32"/>
                </a:lnTo>
                <a:lnTo>
                  <a:pt x="20" y="36"/>
                </a:lnTo>
                <a:lnTo>
                  <a:pt x="13" y="50"/>
                </a:lnTo>
                <a:lnTo>
                  <a:pt x="27" y="64"/>
                </a:lnTo>
                <a:lnTo>
                  <a:pt x="41" y="78"/>
                </a:lnTo>
                <a:lnTo>
                  <a:pt x="20" y="87"/>
                </a:lnTo>
                <a:lnTo>
                  <a:pt x="0" y="96"/>
                </a:lnTo>
                <a:lnTo>
                  <a:pt x="13" y="110"/>
                </a:lnTo>
                <a:lnTo>
                  <a:pt x="34" y="119"/>
                </a:lnTo>
                <a:lnTo>
                  <a:pt x="41" y="133"/>
                </a:lnTo>
                <a:lnTo>
                  <a:pt x="20" y="142"/>
                </a:lnTo>
                <a:lnTo>
                  <a:pt x="0" y="152"/>
                </a:lnTo>
                <a:lnTo>
                  <a:pt x="13" y="165"/>
                </a:lnTo>
                <a:lnTo>
                  <a:pt x="27" y="179"/>
                </a:lnTo>
                <a:lnTo>
                  <a:pt x="41" y="193"/>
                </a:lnTo>
                <a:lnTo>
                  <a:pt x="20" y="198"/>
                </a:lnTo>
                <a:lnTo>
                  <a:pt x="34" y="211"/>
                </a:lnTo>
                <a:lnTo>
                  <a:pt x="54" y="221"/>
                </a:lnTo>
                <a:lnTo>
                  <a:pt x="61" y="235"/>
                </a:lnTo>
                <a:lnTo>
                  <a:pt x="82" y="230"/>
                </a:lnTo>
                <a:lnTo>
                  <a:pt x="102" y="221"/>
                </a:lnTo>
                <a:lnTo>
                  <a:pt x="123" y="216"/>
                </a:lnTo>
                <a:lnTo>
                  <a:pt x="123" y="0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7F0077D5-10FE-A04D-B7F6-9BE8D06BC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5800" y="180975"/>
            <a:ext cx="142875" cy="4000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EA2CCFC6-9020-2C3E-BEB7-69BD21FB92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13" y="619125"/>
            <a:ext cx="4573587" cy="150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en-US" sz="1200" b="1">
                <a:latin typeface="Courier New" panose="02070309020205020404" pitchFamily="49" charset="0"/>
              </a:rPr>
              <a:t>01 LetterTable.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02 TableValues.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03 FILLER PIC X(13) VALUE "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ABCDEFGHIJKLM</a:t>
            </a:r>
            <a:r>
              <a:rPr lang="en-US" altLang="en-US" sz="1200" b="1">
                <a:latin typeface="Courier New" panose="02070309020205020404" pitchFamily="49" charset="0"/>
              </a:rPr>
              <a:t>".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03 FILLER PIC X(13) VALUE "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NOPQRSTUVWXYZ</a:t>
            </a:r>
            <a:r>
              <a:rPr lang="en-US" altLang="en-US" sz="1200" b="1">
                <a:latin typeface="Courier New" panose="02070309020205020404" pitchFamily="49" charset="0"/>
              </a:rPr>
              <a:t>".</a:t>
            </a:r>
            <a:endParaRPr lang="en-US" altLang="en-US" sz="2800" b="1">
              <a:effectLst>
                <a:outerShdw blurRad="38100" dist="38100" dir="2700000" algn="tl">
                  <a:srgbClr val="C0C0C0"/>
                </a:outerShdw>
              </a:effectLst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en-US" sz="2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</p:txBody>
      </p:sp>
      <p:sp>
        <p:nvSpPr>
          <p:cNvPr id="4102" name="AutoShape 6">
            <a:extLst>
              <a:ext uri="{FF2B5EF4-FFF2-40B4-BE49-F238E27FC236}">
                <a16:creationId xmlns:a16="http://schemas.microsoft.com/office/drawing/2014/main" id="{8FDBBAA0-1B6D-6AA4-1616-D5D4E1B788C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024188" y="2528888"/>
            <a:ext cx="1601787" cy="69982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First, we reserve an area of storage and use the </a:t>
            </a:r>
            <a:r>
              <a:rPr lang="en-US" altLang="en-US" sz="800"/>
              <a:t>VALUE</a:t>
            </a:r>
            <a:r>
              <a:rPr lang="en-US" altLang="en-US" sz="900"/>
              <a:t> </a:t>
            </a:r>
            <a:r>
              <a:rPr lang="en-US" altLang="en-US"/>
              <a:t>clause to fill it with the letters of the alphabet.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96636FA9-AEFE-70A9-A1D1-53B41EF094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203200"/>
            <a:ext cx="4479925" cy="344488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19050" rIns="92075" bIns="19050" anchor="ctr"/>
          <a:lstStyle/>
          <a:p>
            <a:pPr>
              <a:lnSpc>
                <a:spcPct val="80000"/>
              </a:lnSpc>
            </a:pP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A  B  C  D  E  F  G  H  I  J  K</a:t>
            </a:r>
            <a:r>
              <a:rPr lang="en-US" altLang="en-US" sz="18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5123" name="Freeform 3">
            <a:extLst>
              <a:ext uri="{FF2B5EF4-FFF2-40B4-BE49-F238E27FC236}">
                <a16:creationId xmlns:a16="http://schemas.microsoft.com/office/drawing/2014/main" id="{2E48A6B4-6DDA-CECB-1319-519262F97CBA}"/>
              </a:ext>
            </a:extLst>
          </p:cNvPr>
          <p:cNvSpPr>
            <a:spLocks/>
          </p:cNvSpPr>
          <p:nvPr/>
        </p:nvSpPr>
        <p:spPr bwMode="auto">
          <a:xfrm>
            <a:off x="4405313" y="190500"/>
            <a:ext cx="196850" cy="374650"/>
          </a:xfrm>
          <a:custGeom>
            <a:avLst/>
            <a:gdLst>
              <a:gd name="T0" fmla="*/ 68 w 124"/>
              <a:gd name="T1" fmla="*/ 4 h 236"/>
              <a:gd name="T2" fmla="*/ 54 w 124"/>
              <a:gd name="T3" fmla="*/ 18 h 236"/>
              <a:gd name="T4" fmla="*/ 41 w 124"/>
              <a:gd name="T5" fmla="*/ 32 h 236"/>
              <a:gd name="T6" fmla="*/ 20 w 124"/>
              <a:gd name="T7" fmla="*/ 36 h 236"/>
              <a:gd name="T8" fmla="*/ 13 w 124"/>
              <a:gd name="T9" fmla="*/ 50 h 236"/>
              <a:gd name="T10" fmla="*/ 27 w 124"/>
              <a:gd name="T11" fmla="*/ 64 h 236"/>
              <a:gd name="T12" fmla="*/ 41 w 124"/>
              <a:gd name="T13" fmla="*/ 78 h 236"/>
              <a:gd name="T14" fmla="*/ 20 w 124"/>
              <a:gd name="T15" fmla="*/ 87 h 236"/>
              <a:gd name="T16" fmla="*/ 0 w 124"/>
              <a:gd name="T17" fmla="*/ 96 h 236"/>
              <a:gd name="T18" fmla="*/ 13 w 124"/>
              <a:gd name="T19" fmla="*/ 110 h 236"/>
              <a:gd name="T20" fmla="*/ 34 w 124"/>
              <a:gd name="T21" fmla="*/ 119 h 236"/>
              <a:gd name="T22" fmla="*/ 41 w 124"/>
              <a:gd name="T23" fmla="*/ 133 h 236"/>
              <a:gd name="T24" fmla="*/ 20 w 124"/>
              <a:gd name="T25" fmla="*/ 142 h 236"/>
              <a:gd name="T26" fmla="*/ 0 w 124"/>
              <a:gd name="T27" fmla="*/ 152 h 236"/>
              <a:gd name="T28" fmla="*/ 13 w 124"/>
              <a:gd name="T29" fmla="*/ 165 h 236"/>
              <a:gd name="T30" fmla="*/ 27 w 124"/>
              <a:gd name="T31" fmla="*/ 179 h 236"/>
              <a:gd name="T32" fmla="*/ 41 w 124"/>
              <a:gd name="T33" fmla="*/ 193 h 236"/>
              <a:gd name="T34" fmla="*/ 20 w 124"/>
              <a:gd name="T35" fmla="*/ 198 h 236"/>
              <a:gd name="T36" fmla="*/ 34 w 124"/>
              <a:gd name="T37" fmla="*/ 211 h 236"/>
              <a:gd name="T38" fmla="*/ 54 w 124"/>
              <a:gd name="T39" fmla="*/ 221 h 236"/>
              <a:gd name="T40" fmla="*/ 61 w 124"/>
              <a:gd name="T41" fmla="*/ 235 h 236"/>
              <a:gd name="T42" fmla="*/ 82 w 124"/>
              <a:gd name="T43" fmla="*/ 230 h 236"/>
              <a:gd name="T44" fmla="*/ 102 w 124"/>
              <a:gd name="T45" fmla="*/ 221 h 236"/>
              <a:gd name="T46" fmla="*/ 123 w 124"/>
              <a:gd name="T47" fmla="*/ 216 h 236"/>
              <a:gd name="T48" fmla="*/ 123 w 124"/>
              <a:gd name="T49" fmla="*/ 0 h 2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124" h="236">
                <a:moveTo>
                  <a:pt x="68" y="4"/>
                </a:moveTo>
                <a:lnTo>
                  <a:pt x="54" y="18"/>
                </a:lnTo>
                <a:lnTo>
                  <a:pt x="41" y="32"/>
                </a:lnTo>
                <a:lnTo>
                  <a:pt x="20" y="36"/>
                </a:lnTo>
                <a:lnTo>
                  <a:pt x="13" y="50"/>
                </a:lnTo>
                <a:lnTo>
                  <a:pt x="27" y="64"/>
                </a:lnTo>
                <a:lnTo>
                  <a:pt x="41" y="78"/>
                </a:lnTo>
                <a:lnTo>
                  <a:pt x="20" y="87"/>
                </a:lnTo>
                <a:lnTo>
                  <a:pt x="0" y="96"/>
                </a:lnTo>
                <a:lnTo>
                  <a:pt x="13" y="110"/>
                </a:lnTo>
                <a:lnTo>
                  <a:pt x="34" y="119"/>
                </a:lnTo>
                <a:lnTo>
                  <a:pt x="41" y="133"/>
                </a:lnTo>
                <a:lnTo>
                  <a:pt x="20" y="142"/>
                </a:lnTo>
                <a:lnTo>
                  <a:pt x="0" y="152"/>
                </a:lnTo>
                <a:lnTo>
                  <a:pt x="13" y="165"/>
                </a:lnTo>
                <a:lnTo>
                  <a:pt x="27" y="179"/>
                </a:lnTo>
                <a:lnTo>
                  <a:pt x="41" y="193"/>
                </a:lnTo>
                <a:lnTo>
                  <a:pt x="20" y="198"/>
                </a:lnTo>
                <a:lnTo>
                  <a:pt x="34" y="211"/>
                </a:lnTo>
                <a:lnTo>
                  <a:pt x="54" y="221"/>
                </a:lnTo>
                <a:lnTo>
                  <a:pt x="61" y="235"/>
                </a:lnTo>
                <a:lnTo>
                  <a:pt x="82" y="230"/>
                </a:lnTo>
                <a:lnTo>
                  <a:pt x="102" y="221"/>
                </a:lnTo>
                <a:lnTo>
                  <a:pt x="123" y="216"/>
                </a:lnTo>
                <a:lnTo>
                  <a:pt x="123" y="0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8EC905C9-98A5-B5F6-581A-02C11041F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5800" y="180975"/>
            <a:ext cx="142875" cy="4000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1C15C577-4DA1-FCC5-7088-914D2E0B9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13" y="619125"/>
            <a:ext cx="4573587" cy="108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en-US" sz="1200" b="1">
                <a:latin typeface="Courier New" panose="02070309020205020404" pitchFamily="49" charset="0"/>
              </a:rPr>
              <a:t>01 LetterTable.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02 TableValues.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03 FILLER PIC X(13) VALUE "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ABCDEFGHIJKLM</a:t>
            </a:r>
            <a:r>
              <a:rPr lang="en-US" altLang="en-US" sz="1200" b="1">
                <a:latin typeface="Courier New" panose="02070309020205020404" pitchFamily="49" charset="0"/>
              </a:rPr>
              <a:t>".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latin typeface="Courier New" panose="02070309020205020404" pitchFamily="49" charset="0"/>
              </a:rPr>
              <a:t>      03 FILLER PIC X(13) VALUE "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NOPQRSTUVWXYZ</a:t>
            </a:r>
            <a:r>
              <a:rPr lang="en-US" altLang="en-US" sz="1200" b="1">
                <a:latin typeface="Courier New" panose="02070309020205020404" pitchFamily="49" charset="0"/>
              </a:rPr>
              <a:t>".</a:t>
            </a:r>
            <a:br>
              <a:rPr lang="en-US" altLang="en-US" sz="1200" b="1"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   02 FILLER REDEFINES TableValues.</a:t>
            </a:r>
            <a:b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</a:b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      03 Letter PIC X OCCURS 26 TIMES.</a:t>
            </a:r>
          </a:p>
        </p:txBody>
      </p:sp>
      <p:sp>
        <p:nvSpPr>
          <p:cNvPr id="5126" name="AutoShape 6">
            <a:extLst>
              <a:ext uri="{FF2B5EF4-FFF2-40B4-BE49-F238E27FC236}">
                <a16:creationId xmlns:a16="http://schemas.microsoft.com/office/drawing/2014/main" id="{0CA753D7-39AF-AAC4-A6DE-9FCB5555453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20975" y="2428875"/>
            <a:ext cx="1905000" cy="873125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Then, we use the</a:t>
            </a:r>
            <a:r>
              <a:rPr lang="en-US" altLang="en-US" sz="900"/>
              <a:t> </a:t>
            </a:r>
            <a:r>
              <a:rPr lang="en-US" altLang="en-US" sz="800"/>
              <a:t>REDEFINES</a:t>
            </a:r>
            <a:r>
              <a:rPr lang="en-US" altLang="en-US" sz="900"/>
              <a:t> </a:t>
            </a:r>
            <a:r>
              <a:rPr lang="en-US" altLang="en-US"/>
              <a:t>clause to redefine the area of memory as a table. In effect we impose a table description on the area of storage.</a:t>
            </a:r>
          </a:p>
        </p:txBody>
      </p:sp>
      <p:sp>
        <p:nvSpPr>
          <p:cNvPr id="5127" name="Line 7">
            <a:extLst>
              <a:ext uri="{FF2B5EF4-FFF2-40B4-BE49-F238E27FC236}">
                <a16:creationId xmlns:a16="http://schemas.microsoft.com/office/drawing/2014/main" id="{AA9E393C-073D-D7BA-453C-53FF1F4A72E3}"/>
              </a:ext>
            </a:extLst>
          </p:cNvPr>
          <p:cNvSpPr>
            <a:spLocks noChangeShapeType="1"/>
          </p:cNvSpPr>
          <p:nvPr/>
        </p:nvSpPr>
        <p:spPr bwMode="auto">
          <a:xfrm>
            <a:off x="466725" y="209550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8" name="Line 8">
            <a:extLst>
              <a:ext uri="{FF2B5EF4-FFF2-40B4-BE49-F238E27FC236}">
                <a16:creationId xmlns:a16="http://schemas.microsoft.com/office/drawing/2014/main" id="{4DBA24B7-EA93-92FC-5652-964791D5714A}"/>
              </a:ext>
            </a:extLst>
          </p:cNvPr>
          <p:cNvSpPr>
            <a:spLocks noChangeShapeType="1"/>
          </p:cNvSpPr>
          <p:nvPr/>
        </p:nvSpPr>
        <p:spPr bwMode="auto">
          <a:xfrm>
            <a:off x="88582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Line 9">
            <a:extLst>
              <a:ext uri="{FF2B5EF4-FFF2-40B4-BE49-F238E27FC236}">
                <a16:creationId xmlns:a16="http://schemas.microsoft.com/office/drawing/2014/main" id="{1D3E698B-A5BF-E0F3-56C7-720DA5BBBE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587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BE31B829-9A70-AA86-8A49-8A27AEBFEE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0497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7DC6E87D-D8B7-15D5-A529-6B1464612E8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502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2" name="Line 12">
            <a:extLst>
              <a:ext uri="{FF2B5EF4-FFF2-40B4-BE49-F238E27FC236}">
                <a16:creationId xmlns:a16="http://schemas.microsoft.com/office/drawing/2014/main" id="{2B737FCD-C11E-79C0-A2EA-29D2D62C33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52412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3" name="Line 13">
            <a:extLst>
              <a:ext uri="{FF2B5EF4-FFF2-40B4-BE49-F238E27FC236}">
                <a16:creationId xmlns:a16="http://schemas.microsoft.com/office/drawing/2014/main" id="{22DFCA54-35CC-9DED-50D1-F327AB6F26B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4322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4" name="Line 14">
            <a:extLst>
              <a:ext uri="{FF2B5EF4-FFF2-40B4-BE49-F238E27FC236}">
                <a16:creationId xmlns:a16="http://schemas.microsoft.com/office/drawing/2014/main" id="{1EB3C22B-9CB9-4759-E2DE-1D1C6C19E030}"/>
              </a:ext>
            </a:extLst>
          </p:cNvPr>
          <p:cNvSpPr>
            <a:spLocks noChangeShapeType="1"/>
          </p:cNvSpPr>
          <p:nvPr/>
        </p:nvSpPr>
        <p:spPr bwMode="auto">
          <a:xfrm>
            <a:off x="334327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5" name="Line 15">
            <a:extLst>
              <a:ext uri="{FF2B5EF4-FFF2-40B4-BE49-F238E27FC236}">
                <a16:creationId xmlns:a16="http://schemas.microsoft.com/office/drawing/2014/main" id="{24E783A8-6ADA-152D-8277-40DB9BD031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76237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6" name="Line 16">
            <a:extLst>
              <a:ext uri="{FF2B5EF4-FFF2-40B4-BE49-F238E27FC236}">
                <a16:creationId xmlns:a16="http://schemas.microsoft.com/office/drawing/2014/main" id="{F7BD950F-89BA-A9CB-4E09-DD9A5A54163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62425" y="192088"/>
            <a:ext cx="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15B82511-5CB4-DF80-C6FF-73278E270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75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Letter(1)</a:t>
            </a:r>
          </a:p>
        </p:txBody>
      </p:sp>
      <p:sp>
        <p:nvSpPr>
          <p:cNvPr id="5138" name="Rectangle 18">
            <a:extLst>
              <a:ext uri="{FF2B5EF4-FFF2-40B4-BE49-F238E27FC236}">
                <a16:creationId xmlns:a16="http://schemas.microsoft.com/office/drawing/2014/main" id="{35567D52-36E3-8742-C4BF-3BFEB7899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125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Letter(2)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8EA28E04-26F2-A817-D862-C7B06267AA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225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Letter(3)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D8EFBB11-EFEB-12DE-424E-B933D362A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Letter(4)</a:t>
            </a:r>
          </a:p>
        </p:txBody>
      </p:sp>
      <p:sp>
        <p:nvSpPr>
          <p:cNvPr id="5141" name="Rectangle 21">
            <a:extLst>
              <a:ext uri="{FF2B5EF4-FFF2-40B4-BE49-F238E27FC236}">
                <a16:creationId xmlns:a16="http://schemas.microsoft.com/office/drawing/2014/main" id="{A706F6FE-3C03-25F6-E3C0-3F1AB85231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0850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Letter(5)</a:t>
            </a:r>
          </a:p>
        </p:txBody>
      </p:sp>
      <p:sp>
        <p:nvSpPr>
          <p:cNvPr id="5142" name="Rectangle 22">
            <a:extLst>
              <a:ext uri="{FF2B5EF4-FFF2-40B4-BE49-F238E27FC236}">
                <a16:creationId xmlns:a16="http://schemas.microsoft.com/office/drawing/2014/main" id="{3046BB52-4CAF-DF2E-1E45-5056C9ED0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900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Letter(6)</a:t>
            </a:r>
          </a:p>
        </p:txBody>
      </p:sp>
      <p:sp>
        <p:nvSpPr>
          <p:cNvPr id="5143" name="Rectangle 23">
            <a:extLst>
              <a:ext uri="{FF2B5EF4-FFF2-40B4-BE49-F238E27FC236}">
                <a16:creationId xmlns:a16="http://schemas.microsoft.com/office/drawing/2014/main" id="{510CA5DF-438C-F2AB-814F-E0D4BD66F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9525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Letter(7)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A85886D7-FA1A-D7BA-AF08-EB3241EA4B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8625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Letter(8)</a:t>
            </a:r>
          </a:p>
        </p:txBody>
      </p:sp>
      <p:sp>
        <p:nvSpPr>
          <p:cNvPr id="5145" name="Rectangle 25">
            <a:extLst>
              <a:ext uri="{FF2B5EF4-FFF2-40B4-BE49-F238E27FC236}">
                <a16:creationId xmlns:a16="http://schemas.microsoft.com/office/drawing/2014/main" id="{81AC8AC9-853A-4B4F-0AA3-F0C68455B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8675" y="77788"/>
            <a:ext cx="3603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Letter(9)</a:t>
            </a:r>
          </a:p>
        </p:txBody>
      </p:sp>
      <p:sp>
        <p:nvSpPr>
          <p:cNvPr id="5146" name="Rectangle 26">
            <a:extLst>
              <a:ext uri="{FF2B5EF4-FFF2-40B4-BE49-F238E27FC236}">
                <a16:creationId xmlns:a16="http://schemas.microsoft.com/office/drawing/2014/main" id="{6BBABDCA-BE18-134A-2128-AAA3AB2DB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77788"/>
            <a:ext cx="4111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800"/>
              <a:t>Letter(10)</a:t>
            </a:r>
          </a:p>
        </p:txBody>
      </p:sp>
      <p:sp>
        <p:nvSpPr>
          <p:cNvPr id="5147" name="Rectangle 27">
            <a:extLst>
              <a:ext uri="{FF2B5EF4-FFF2-40B4-BE49-F238E27FC236}">
                <a16:creationId xmlns:a16="http://schemas.microsoft.com/office/drawing/2014/main" id="{21C827F5-5201-5F2B-C064-14D9EF5F80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7350" y="77788"/>
            <a:ext cx="411163" cy="12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800"/>
              <a:t>Letter(11)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E66CD6A-C48F-CFBE-4622-5CCD98663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988" y="992188"/>
            <a:ext cx="4195762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20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Creating a table pre-filled with the months of the year.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FA5EA310-1D17-375C-C812-48650D118B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475" y="327025"/>
            <a:ext cx="4098925" cy="365125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January  February March    April</a:t>
            </a:r>
          </a:p>
        </p:txBody>
      </p:sp>
      <p:sp>
        <p:nvSpPr>
          <p:cNvPr id="7171" name="Freeform 3">
            <a:extLst>
              <a:ext uri="{FF2B5EF4-FFF2-40B4-BE49-F238E27FC236}">
                <a16:creationId xmlns:a16="http://schemas.microsoft.com/office/drawing/2014/main" id="{EC043FAB-699B-06B9-3267-95C8E3A33AE6}"/>
              </a:ext>
            </a:extLst>
          </p:cNvPr>
          <p:cNvSpPr>
            <a:spLocks/>
          </p:cNvSpPr>
          <p:nvPr/>
        </p:nvSpPr>
        <p:spPr bwMode="auto">
          <a:xfrm>
            <a:off x="4038600" y="315913"/>
            <a:ext cx="192088" cy="420687"/>
          </a:xfrm>
          <a:custGeom>
            <a:avLst/>
            <a:gdLst>
              <a:gd name="T0" fmla="*/ 66 w 121"/>
              <a:gd name="T1" fmla="*/ 5 h 265"/>
              <a:gd name="T2" fmla="*/ 53 w 121"/>
              <a:gd name="T3" fmla="*/ 20 h 265"/>
              <a:gd name="T4" fmla="*/ 40 w 121"/>
              <a:gd name="T5" fmla="*/ 36 h 265"/>
              <a:gd name="T6" fmla="*/ 20 w 121"/>
              <a:gd name="T7" fmla="*/ 41 h 265"/>
              <a:gd name="T8" fmla="*/ 13 w 121"/>
              <a:gd name="T9" fmla="*/ 56 h 265"/>
              <a:gd name="T10" fmla="*/ 26 w 121"/>
              <a:gd name="T11" fmla="*/ 72 h 265"/>
              <a:gd name="T12" fmla="*/ 40 w 121"/>
              <a:gd name="T13" fmla="*/ 88 h 265"/>
              <a:gd name="T14" fmla="*/ 20 w 121"/>
              <a:gd name="T15" fmla="*/ 98 h 265"/>
              <a:gd name="T16" fmla="*/ 0 w 121"/>
              <a:gd name="T17" fmla="*/ 108 h 265"/>
              <a:gd name="T18" fmla="*/ 13 w 121"/>
              <a:gd name="T19" fmla="*/ 124 h 265"/>
              <a:gd name="T20" fmla="*/ 33 w 121"/>
              <a:gd name="T21" fmla="*/ 134 h 265"/>
              <a:gd name="T22" fmla="*/ 40 w 121"/>
              <a:gd name="T23" fmla="*/ 150 h 265"/>
              <a:gd name="T24" fmla="*/ 20 w 121"/>
              <a:gd name="T25" fmla="*/ 160 h 265"/>
              <a:gd name="T26" fmla="*/ 0 w 121"/>
              <a:gd name="T27" fmla="*/ 170 h 265"/>
              <a:gd name="T28" fmla="*/ 13 w 121"/>
              <a:gd name="T29" fmla="*/ 186 h 265"/>
              <a:gd name="T30" fmla="*/ 26 w 121"/>
              <a:gd name="T31" fmla="*/ 201 h 265"/>
              <a:gd name="T32" fmla="*/ 40 w 121"/>
              <a:gd name="T33" fmla="*/ 217 h 265"/>
              <a:gd name="T34" fmla="*/ 20 w 121"/>
              <a:gd name="T35" fmla="*/ 222 h 265"/>
              <a:gd name="T36" fmla="*/ 33 w 121"/>
              <a:gd name="T37" fmla="*/ 238 h 265"/>
              <a:gd name="T38" fmla="*/ 53 w 121"/>
              <a:gd name="T39" fmla="*/ 248 h 265"/>
              <a:gd name="T40" fmla="*/ 60 w 121"/>
              <a:gd name="T41" fmla="*/ 264 h 265"/>
              <a:gd name="T42" fmla="*/ 80 w 121"/>
              <a:gd name="T43" fmla="*/ 258 h 265"/>
              <a:gd name="T44" fmla="*/ 100 w 121"/>
              <a:gd name="T45" fmla="*/ 248 h 265"/>
              <a:gd name="T46" fmla="*/ 120 w 121"/>
              <a:gd name="T47" fmla="*/ 243 h 265"/>
              <a:gd name="T48" fmla="*/ 120 w 121"/>
              <a:gd name="T49" fmla="*/ 0 h 2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121" h="265">
                <a:moveTo>
                  <a:pt x="66" y="5"/>
                </a:moveTo>
                <a:lnTo>
                  <a:pt x="53" y="20"/>
                </a:lnTo>
                <a:lnTo>
                  <a:pt x="40" y="36"/>
                </a:lnTo>
                <a:lnTo>
                  <a:pt x="20" y="41"/>
                </a:lnTo>
                <a:lnTo>
                  <a:pt x="13" y="56"/>
                </a:lnTo>
                <a:lnTo>
                  <a:pt x="26" y="72"/>
                </a:lnTo>
                <a:lnTo>
                  <a:pt x="40" y="88"/>
                </a:lnTo>
                <a:lnTo>
                  <a:pt x="20" y="98"/>
                </a:lnTo>
                <a:lnTo>
                  <a:pt x="0" y="108"/>
                </a:lnTo>
                <a:lnTo>
                  <a:pt x="13" y="124"/>
                </a:lnTo>
                <a:lnTo>
                  <a:pt x="33" y="134"/>
                </a:lnTo>
                <a:lnTo>
                  <a:pt x="40" y="150"/>
                </a:lnTo>
                <a:lnTo>
                  <a:pt x="20" y="160"/>
                </a:lnTo>
                <a:lnTo>
                  <a:pt x="0" y="170"/>
                </a:lnTo>
                <a:lnTo>
                  <a:pt x="13" y="186"/>
                </a:lnTo>
                <a:lnTo>
                  <a:pt x="26" y="201"/>
                </a:lnTo>
                <a:lnTo>
                  <a:pt x="40" y="217"/>
                </a:lnTo>
                <a:lnTo>
                  <a:pt x="20" y="222"/>
                </a:lnTo>
                <a:lnTo>
                  <a:pt x="33" y="238"/>
                </a:lnTo>
                <a:lnTo>
                  <a:pt x="53" y="248"/>
                </a:lnTo>
                <a:lnTo>
                  <a:pt x="60" y="264"/>
                </a:lnTo>
                <a:lnTo>
                  <a:pt x="80" y="258"/>
                </a:lnTo>
                <a:lnTo>
                  <a:pt x="100" y="248"/>
                </a:lnTo>
                <a:lnTo>
                  <a:pt x="120" y="243"/>
                </a:lnTo>
                <a:lnTo>
                  <a:pt x="120" y="0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306A1D54-1FA0-1460-4E62-B7E9DFB80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9563" y="315913"/>
            <a:ext cx="166687" cy="449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3" name="AutoShape 5">
            <a:extLst>
              <a:ext uri="{FF2B5EF4-FFF2-40B4-BE49-F238E27FC236}">
                <a16:creationId xmlns:a16="http://schemas.microsoft.com/office/drawing/2014/main" id="{2DD34652-307F-543A-6C6C-3114E1C0BB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446088"/>
            <a:ext cx="163512" cy="127000"/>
          </a:xfrm>
          <a:prstGeom prst="rightArrow">
            <a:avLst>
              <a:gd name="adj1" fmla="val 50000"/>
              <a:gd name="adj2" fmla="val 64381"/>
            </a:avLst>
          </a:prstGeom>
          <a:solidFill>
            <a:srgbClr val="00CC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5C203615-89E2-30E1-7E69-9FE9F16A10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771525"/>
            <a:ext cx="4191000" cy="117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MonthTable.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MonthValues.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January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February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March</a:t>
            </a:r>
            <a:r>
              <a:rPr lang="en-US" altLang="en-US" b="1">
                <a:latin typeface="Courier New" panose="02070309020205020404" pitchFamily="49" charset="0"/>
              </a:rPr>
              <a:t>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April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May</a:t>
            </a:r>
            <a:r>
              <a:rPr lang="en-US" altLang="en-US" b="1">
                <a:latin typeface="Courier New" panose="02070309020205020404" pitchFamily="49" charset="0"/>
              </a:rPr>
              <a:t>  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June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July</a:t>
            </a:r>
            <a:r>
              <a:rPr lang="en-US" altLang="en-US" b="1">
                <a:latin typeface="Courier New" panose="02070309020205020404" pitchFamily="49" charset="0"/>
              </a:rPr>
              <a:t> 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August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SeptemberOctober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November December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endParaRPr lang="en-US" altLang="en-US" b="1">
              <a:latin typeface="Courier New" panose="02070309020205020404" pitchFamily="49" charset="0"/>
            </a:endParaRPr>
          </a:p>
        </p:txBody>
      </p:sp>
      <p:sp>
        <p:nvSpPr>
          <p:cNvPr id="7175" name="AutoShape 7">
            <a:extLst>
              <a:ext uri="{FF2B5EF4-FFF2-40B4-BE49-F238E27FC236}">
                <a16:creationId xmlns:a16="http://schemas.microsoft.com/office/drawing/2014/main" id="{E1340A9E-2B1F-A41C-D5C3-6AC60906309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024188" y="2528888"/>
            <a:ext cx="1601787" cy="69982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First we reserve an area of storage and use the </a:t>
            </a:r>
            <a:r>
              <a:rPr lang="en-US" altLang="en-US" sz="800"/>
              <a:t>VALUE</a:t>
            </a:r>
            <a:r>
              <a:rPr lang="en-US" altLang="en-US" sz="900"/>
              <a:t> </a:t>
            </a:r>
            <a:r>
              <a:rPr lang="en-US" altLang="en-US"/>
              <a:t>clause to fill it with the names of the months.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1EFA0145-8818-085D-43B5-D901A77D2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475" y="327025"/>
            <a:ext cx="4098925" cy="365125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January  February March    April</a:t>
            </a:r>
          </a:p>
        </p:txBody>
      </p:sp>
      <p:sp>
        <p:nvSpPr>
          <p:cNvPr id="8195" name="Freeform 3">
            <a:extLst>
              <a:ext uri="{FF2B5EF4-FFF2-40B4-BE49-F238E27FC236}">
                <a16:creationId xmlns:a16="http://schemas.microsoft.com/office/drawing/2014/main" id="{940D3F3F-A117-A50D-C252-A70357369881}"/>
              </a:ext>
            </a:extLst>
          </p:cNvPr>
          <p:cNvSpPr>
            <a:spLocks/>
          </p:cNvSpPr>
          <p:nvPr/>
        </p:nvSpPr>
        <p:spPr bwMode="auto">
          <a:xfrm>
            <a:off x="4038600" y="315913"/>
            <a:ext cx="192088" cy="420687"/>
          </a:xfrm>
          <a:custGeom>
            <a:avLst/>
            <a:gdLst>
              <a:gd name="T0" fmla="*/ 66 w 121"/>
              <a:gd name="T1" fmla="*/ 5 h 265"/>
              <a:gd name="T2" fmla="*/ 53 w 121"/>
              <a:gd name="T3" fmla="*/ 20 h 265"/>
              <a:gd name="T4" fmla="*/ 40 w 121"/>
              <a:gd name="T5" fmla="*/ 36 h 265"/>
              <a:gd name="T6" fmla="*/ 20 w 121"/>
              <a:gd name="T7" fmla="*/ 41 h 265"/>
              <a:gd name="T8" fmla="*/ 13 w 121"/>
              <a:gd name="T9" fmla="*/ 56 h 265"/>
              <a:gd name="T10" fmla="*/ 26 w 121"/>
              <a:gd name="T11" fmla="*/ 72 h 265"/>
              <a:gd name="T12" fmla="*/ 40 w 121"/>
              <a:gd name="T13" fmla="*/ 88 h 265"/>
              <a:gd name="T14" fmla="*/ 20 w 121"/>
              <a:gd name="T15" fmla="*/ 98 h 265"/>
              <a:gd name="T16" fmla="*/ 0 w 121"/>
              <a:gd name="T17" fmla="*/ 108 h 265"/>
              <a:gd name="T18" fmla="*/ 13 w 121"/>
              <a:gd name="T19" fmla="*/ 124 h 265"/>
              <a:gd name="T20" fmla="*/ 33 w 121"/>
              <a:gd name="T21" fmla="*/ 134 h 265"/>
              <a:gd name="T22" fmla="*/ 40 w 121"/>
              <a:gd name="T23" fmla="*/ 150 h 265"/>
              <a:gd name="T24" fmla="*/ 20 w 121"/>
              <a:gd name="T25" fmla="*/ 160 h 265"/>
              <a:gd name="T26" fmla="*/ 0 w 121"/>
              <a:gd name="T27" fmla="*/ 170 h 265"/>
              <a:gd name="T28" fmla="*/ 13 w 121"/>
              <a:gd name="T29" fmla="*/ 186 h 265"/>
              <a:gd name="T30" fmla="*/ 26 w 121"/>
              <a:gd name="T31" fmla="*/ 201 h 265"/>
              <a:gd name="T32" fmla="*/ 40 w 121"/>
              <a:gd name="T33" fmla="*/ 217 h 265"/>
              <a:gd name="T34" fmla="*/ 20 w 121"/>
              <a:gd name="T35" fmla="*/ 222 h 265"/>
              <a:gd name="T36" fmla="*/ 33 w 121"/>
              <a:gd name="T37" fmla="*/ 238 h 265"/>
              <a:gd name="T38" fmla="*/ 53 w 121"/>
              <a:gd name="T39" fmla="*/ 248 h 265"/>
              <a:gd name="T40" fmla="*/ 60 w 121"/>
              <a:gd name="T41" fmla="*/ 264 h 265"/>
              <a:gd name="T42" fmla="*/ 80 w 121"/>
              <a:gd name="T43" fmla="*/ 258 h 265"/>
              <a:gd name="T44" fmla="*/ 100 w 121"/>
              <a:gd name="T45" fmla="*/ 248 h 265"/>
              <a:gd name="T46" fmla="*/ 120 w 121"/>
              <a:gd name="T47" fmla="*/ 243 h 265"/>
              <a:gd name="T48" fmla="*/ 120 w 121"/>
              <a:gd name="T49" fmla="*/ 0 h 2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121" h="265">
                <a:moveTo>
                  <a:pt x="66" y="5"/>
                </a:moveTo>
                <a:lnTo>
                  <a:pt x="53" y="20"/>
                </a:lnTo>
                <a:lnTo>
                  <a:pt x="40" y="36"/>
                </a:lnTo>
                <a:lnTo>
                  <a:pt x="20" y="41"/>
                </a:lnTo>
                <a:lnTo>
                  <a:pt x="13" y="56"/>
                </a:lnTo>
                <a:lnTo>
                  <a:pt x="26" y="72"/>
                </a:lnTo>
                <a:lnTo>
                  <a:pt x="40" y="88"/>
                </a:lnTo>
                <a:lnTo>
                  <a:pt x="20" y="98"/>
                </a:lnTo>
                <a:lnTo>
                  <a:pt x="0" y="108"/>
                </a:lnTo>
                <a:lnTo>
                  <a:pt x="13" y="124"/>
                </a:lnTo>
                <a:lnTo>
                  <a:pt x="33" y="134"/>
                </a:lnTo>
                <a:lnTo>
                  <a:pt x="40" y="150"/>
                </a:lnTo>
                <a:lnTo>
                  <a:pt x="20" y="160"/>
                </a:lnTo>
                <a:lnTo>
                  <a:pt x="0" y="170"/>
                </a:lnTo>
                <a:lnTo>
                  <a:pt x="13" y="186"/>
                </a:lnTo>
                <a:lnTo>
                  <a:pt x="26" y="201"/>
                </a:lnTo>
                <a:lnTo>
                  <a:pt x="40" y="217"/>
                </a:lnTo>
                <a:lnTo>
                  <a:pt x="20" y="222"/>
                </a:lnTo>
                <a:lnTo>
                  <a:pt x="33" y="238"/>
                </a:lnTo>
                <a:lnTo>
                  <a:pt x="53" y="248"/>
                </a:lnTo>
                <a:lnTo>
                  <a:pt x="60" y="264"/>
                </a:lnTo>
                <a:lnTo>
                  <a:pt x="80" y="258"/>
                </a:lnTo>
                <a:lnTo>
                  <a:pt x="100" y="248"/>
                </a:lnTo>
                <a:lnTo>
                  <a:pt x="120" y="243"/>
                </a:lnTo>
                <a:lnTo>
                  <a:pt x="120" y="0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ADC99CC-829A-B3BC-2B0D-5709A4EC12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9563" y="315913"/>
            <a:ext cx="166687" cy="449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7CD0CF92-ABF5-60E6-3313-9504DAD24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638" y="446088"/>
            <a:ext cx="163512" cy="127000"/>
          </a:xfrm>
          <a:prstGeom prst="rightArrow">
            <a:avLst>
              <a:gd name="adj1" fmla="val 50000"/>
              <a:gd name="adj2" fmla="val 64381"/>
            </a:avLst>
          </a:prstGeom>
          <a:solidFill>
            <a:srgbClr val="00CC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8" name="Line 6">
            <a:extLst>
              <a:ext uri="{FF2B5EF4-FFF2-40B4-BE49-F238E27FC236}">
                <a16:creationId xmlns:a16="http://schemas.microsoft.com/office/drawing/2014/main" id="{BA8055B7-8212-4FD9-62DA-E96BF2386A4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5875" y="315913"/>
            <a:ext cx="0" cy="3698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9" name="Line 7">
            <a:extLst>
              <a:ext uri="{FF2B5EF4-FFF2-40B4-BE49-F238E27FC236}">
                <a16:creationId xmlns:a16="http://schemas.microsoft.com/office/drawing/2014/main" id="{362E0EEF-F2A6-F644-B3B3-0DAA4DA4310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90775" y="315913"/>
            <a:ext cx="0" cy="3698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0" name="Line 8">
            <a:extLst>
              <a:ext uri="{FF2B5EF4-FFF2-40B4-BE49-F238E27FC236}">
                <a16:creationId xmlns:a16="http://schemas.microsoft.com/office/drawing/2014/main" id="{88B2BF76-BC66-EB29-E526-405ABB3A309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25" y="315913"/>
            <a:ext cx="0" cy="3698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8CAC774C-4ADA-67E4-6B33-D91EF51976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771525"/>
            <a:ext cx="4191000" cy="1431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MonthTable.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MonthValues.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January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February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March</a:t>
            </a:r>
            <a:r>
              <a:rPr lang="en-US" altLang="en-US" b="1">
                <a:latin typeface="Courier New" panose="02070309020205020404" pitchFamily="49" charset="0"/>
              </a:rPr>
              <a:t>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April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May</a:t>
            </a:r>
            <a:r>
              <a:rPr lang="en-US" altLang="en-US" b="1">
                <a:latin typeface="Courier New" panose="02070309020205020404" pitchFamily="49" charset="0"/>
              </a:rPr>
              <a:t>  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June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July</a:t>
            </a:r>
            <a:r>
              <a:rPr lang="en-US" altLang="en-US" b="1">
                <a:latin typeface="Courier New" panose="02070309020205020404" pitchFamily="49" charset="0"/>
              </a:rPr>
              <a:t>     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August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SeptemberOctober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FILLER    PIC X(18) VALUE "</a:t>
            </a: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November December</a:t>
            </a:r>
            <a:r>
              <a:rPr lang="en-US" altLang="en-US" b="1">
                <a:latin typeface="Courier New" panose="02070309020205020404" pitchFamily="49" charset="0"/>
              </a:rPr>
              <a:t>".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02 FILLER REDEFINES MonthValues.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solidFill>
                  <a:srgbClr val="CC0000"/>
                </a:solidFill>
                <a:latin typeface="Courier New" panose="02070309020205020404" pitchFamily="49" charset="0"/>
              </a:rPr>
              <a:t>      03 Month OCCURS 12 TIMES PIC X(9).</a:t>
            </a:r>
            <a:endParaRPr lang="en-US" altLang="en-US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b="1">
              <a:latin typeface="Courier New" panose="02070309020205020404" pitchFamily="49" charset="0"/>
            </a:endParaRP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73D48682-6798-6B83-86F8-795F7633A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163513"/>
            <a:ext cx="48736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/>
              <a:t>Month(1)</a:t>
            </a:r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30668AB7-FACC-C4C4-B207-50DA25C3E7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175" y="163513"/>
            <a:ext cx="48736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/>
              <a:t>Month(2)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65F0DE13-7995-250C-0FBB-8D7308581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4125" y="163513"/>
            <a:ext cx="48736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/>
              <a:t>Month(3)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92CA0B1C-1875-3FE1-A1DD-79FF75EB1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7600" y="163513"/>
            <a:ext cx="48736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/>
              <a:t>Month(4)</a:t>
            </a:r>
          </a:p>
        </p:txBody>
      </p:sp>
      <p:sp>
        <p:nvSpPr>
          <p:cNvPr id="8206" name="AutoShape 14">
            <a:extLst>
              <a:ext uri="{FF2B5EF4-FFF2-40B4-BE49-F238E27FC236}">
                <a16:creationId xmlns:a16="http://schemas.microsoft.com/office/drawing/2014/main" id="{37CCBD1C-86BE-2F56-2BD3-DCA673D3008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282825" y="2301875"/>
            <a:ext cx="2419350" cy="1045104"/>
          </a:xfrm>
          <a:prstGeom prst="wedgeRoundRectCallout">
            <a:avLst>
              <a:gd name="adj1" fmla="val -46755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Then, we use the</a:t>
            </a:r>
            <a:r>
              <a:rPr lang="en-US" altLang="en-US" sz="900"/>
              <a:t> </a:t>
            </a:r>
            <a:r>
              <a:rPr lang="en-US" altLang="en-US" sz="800"/>
              <a:t>REDEFINES</a:t>
            </a:r>
            <a:r>
              <a:rPr lang="en-US" altLang="en-US" sz="900"/>
              <a:t> </a:t>
            </a:r>
            <a:r>
              <a:rPr lang="en-US" altLang="en-US"/>
              <a:t>clause to redefine the area of memory as a table. </a:t>
            </a:r>
          </a:p>
          <a:p>
            <a:pPr algn="ctr"/>
            <a:r>
              <a:rPr lang="en-US" altLang="en-US"/>
              <a:t>Notice that we use the word </a:t>
            </a:r>
            <a:r>
              <a:rPr lang="en-US" altLang="en-US" sz="800"/>
              <a:t>FILLER</a:t>
            </a:r>
            <a:r>
              <a:rPr lang="en-US" altLang="en-US"/>
              <a:t> whenever we need to declare an item but don't need to refer to it by name in our program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6659C1BC-493A-815E-D8BB-C70E932C2C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8" y="382588"/>
            <a:ext cx="41957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20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Creating a two dimension table table pre-filled with the surcharge values for late videos.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049413A9-651D-68FA-A83D-644A66D3F8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1670050"/>
            <a:ext cx="4638675" cy="1582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400"/>
              <a:t>Scenario</a:t>
            </a:r>
            <a:endParaRPr lang="en-US" altLang="en-US" sz="2400"/>
          </a:p>
          <a:p>
            <a:r>
              <a:rPr lang="en-US" altLang="en-US" sz="1200"/>
              <a:t>A video rental shop charges its customers a surcharge on late videos.  The per-diem surcharge depends on how recently the video was released (Old, Recent, New) and the number of days the video is overdue (1-3, 4-7, &gt;7). The surcharge values are held in a two dimension table.</a:t>
            </a:r>
          </a:p>
          <a:p>
            <a:endParaRPr lang="en-US" altLang="en-US" sz="1200"/>
          </a:p>
          <a:p>
            <a:pPr algn="ctr"/>
            <a:r>
              <a:rPr lang="en-US" altLang="en-US" sz="1200"/>
              <a:t> The actual surcharge is calculated as - </a:t>
            </a:r>
          </a:p>
          <a:p>
            <a:pPr algn="ctr"/>
            <a:r>
              <a:rPr lang="en-US" altLang="en-US" sz="1200"/>
              <a:t>PerDiemSurcharge(VideoAge, OverduePeriod) * NumOfDaysOverdue.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FD6CBD3D-CA47-0A94-3C77-36AACD7DB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1200150"/>
            <a:ext cx="4022725" cy="103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 LateVideoSurchargeTable.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02 SurchargeValues.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050100150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075125200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100150300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54E57C61-8A82-B95A-666E-46AB4C48A5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213" y="750888"/>
            <a:ext cx="4440237" cy="360362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46038" rIns="0" bIns="46038" anchor="ctr"/>
          <a:lstStyle/>
          <a:p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050 100 150 075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125 200 100 150 300</a:t>
            </a:r>
          </a:p>
        </p:txBody>
      </p:sp>
      <p:sp>
        <p:nvSpPr>
          <p:cNvPr id="10244" name="AutoShape 4">
            <a:extLst>
              <a:ext uri="{FF2B5EF4-FFF2-40B4-BE49-F238E27FC236}">
                <a16:creationId xmlns:a16="http://schemas.microsoft.com/office/drawing/2014/main" id="{9039F0E8-6BDF-DFFD-85E4-D7DA3D36FA5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024188" y="2528888"/>
            <a:ext cx="1601787" cy="69982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First we reserve an area of storage and use the </a:t>
            </a:r>
            <a:r>
              <a:rPr lang="en-US" altLang="en-US" sz="800"/>
              <a:t>VALUE</a:t>
            </a:r>
            <a:r>
              <a:rPr lang="en-US" altLang="en-US" sz="900"/>
              <a:t> </a:t>
            </a:r>
            <a:r>
              <a:rPr lang="en-US" altLang="en-US"/>
              <a:t>clause to fill it with the surcharge values.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2A8F34FD-3DCC-73CD-9CEE-2DC35FEC4D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1200150"/>
            <a:ext cx="4022725" cy="1404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 LateVideoSurchargeTable.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02 SurchargeValues.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050100150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075125200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100150300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02 FILLER REDEFINES SurchargeValues.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accent2"/>
                </a:solidFill>
                <a:latin typeface="Courier New" panose="02070309020205020404" pitchFamily="49" charset="0"/>
              </a:rPr>
              <a:t>       03 VideoAge OCCURS 3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sz="1200" b="1">
              <a:latin typeface="Courier New" panose="02070309020205020404" pitchFamily="49" charset="0"/>
            </a:endParaRP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909AA900-9F98-0DEE-697D-770457233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213" y="750888"/>
            <a:ext cx="4440237" cy="360362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46038" rIns="0" bIns="46038" anchor="ctr"/>
          <a:lstStyle/>
          <a:p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050 100 150 075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125 200 100 150 300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1DCC3E9C-E3DF-6D12-7D2E-5CB712649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" y="141288"/>
            <a:ext cx="1501775" cy="96678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F2CED07A-60A6-61FE-D515-B512471A6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0" y="141288"/>
            <a:ext cx="1435100" cy="9683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C8913762-9C92-7D03-CCE7-16A58B395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550" y="141288"/>
            <a:ext cx="1495425" cy="9683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1271" name="AutoShape 7">
            <a:extLst>
              <a:ext uri="{FF2B5EF4-FFF2-40B4-BE49-F238E27FC236}">
                <a16:creationId xmlns:a16="http://schemas.microsoft.com/office/drawing/2014/main" id="{C7FA5696-A2E7-000E-01E7-987DD157FD8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130550" y="2457450"/>
            <a:ext cx="1571625" cy="699823"/>
          </a:xfrm>
          <a:prstGeom prst="wedgeRoundRectCallout">
            <a:avLst>
              <a:gd name="adj1" fmla="val -46755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Then, we use the</a:t>
            </a:r>
            <a:r>
              <a:rPr lang="en-US" altLang="en-US" sz="900"/>
              <a:t> first </a:t>
            </a:r>
            <a:r>
              <a:rPr lang="en-US" altLang="en-US" sz="800"/>
              <a:t>OCCURS</a:t>
            </a:r>
            <a:r>
              <a:rPr lang="en-US" altLang="en-US" sz="900"/>
              <a:t> </a:t>
            </a:r>
            <a:r>
              <a:rPr lang="en-US" altLang="en-US"/>
              <a:t>clause to lay down the first dimension of the table.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9067B9DB-4617-8D1A-CE23-C6DDDF36B4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1200150"/>
            <a:ext cx="4022725" cy="1773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 LateVideoSurchargeTable.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02 SurchargeValues.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050100150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075125200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03 FILLER PIC X(6) VALUE “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100150300</a:t>
            </a:r>
            <a:r>
              <a:rPr lang="en-US" altLang="en-US" sz="1200" b="1">
                <a:latin typeface="Courier New" panose="02070309020205020404" pitchFamily="49" charset="0"/>
              </a:rPr>
              <a:t>”.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02 FILLER REDEFINES SurchargeValues.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chemeClr val="accent2"/>
                </a:solidFill>
                <a:latin typeface="Courier New" panose="02070309020205020404" pitchFamily="49" charset="0"/>
              </a:rPr>
              <a:t>       03 VideoAge OCCURS 3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6600"/>
                </a:solidFill>
                <a:latin typeface="Courier New" panose="02070309020205020404" pitchFamily="49" charset="0"/>
              </a:rPr>
              <a:t>          04 OverduePeriod OCCURS 3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    05 PerDiemSurcharge  PIC 9V99.</a:t>
            </a:r>
            <a:endParaRPr lang="en-US" altLang="en-US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endParaRPr lang="en-US" altLang="en-US" b="1">
              <a:latin typeface="Courier New" panose="02070309020205020404" pitchFamily="49" charset="0"/>
            </a:endParaRP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955E7A81-D399-3DB1-FD0F-24260F3D3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213" y="750888"/>
            <a:ext cx="4440237" cy="360362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46038" rIns="0" bIns="46038" anchor="ctr"/>
          <a:lstStyle/>
          <a:p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050 100 150 075</a:t>
            </a:r>
            <a:r>
              <a:rPr lang="en-US" altLang="en-US" sz="18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600" b="1">
                <a:solidFill>
                  <a:srgbClr val="FF33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125 200 100 150 300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51B5779C-68DF-7247-4A37-32224482D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" y="141288"/>
            <a:ext cx="1501775" cy="96678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F6E5AD02-61F9-8701-181E-993796543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0" y="141288"/>
            <a:ext cx="1435100" cy="9683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294" name="Rectangle 6">
            <a:extLst>
              <a:ext uri="{FF2B5EF4-FFF2-40B4-BE49-F238E27FC236}">
                <a16:creationId xmlns:a16="http://schemas.microsoft.com/office/drawing/2014/main" id="{BAF8F9C2-98B3-7A92-3F50-3C7493149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550" y="141288"/>
            <a:ext cx="1495425" cy="9683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6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594F1A0A-96DE-35D3-FA99-49B1D663FD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" y="493713"/>
            <a:ext cx="492125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296" name="Rectangle 8">
            <a:extLst>
              <a:ext uri="{FF2B5EF4-FFF2-40B4-BE49-F238E27FC236}">
                <a16:creationId xmlns:a16="http://schemas.microsoft.com/office/drawing/2014/main" id="{0B0B53FA-2262-3ABA-BA68-ADFF623C94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100" y="493713"/>
            <a:ext cx="501650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297" name="Rectangle 9">
            <a:extLst>
              <a:ext uri="{FF2B5EF4-FFF2-40B4-BE49-F238E27FC236}">
                <a16:creationId xmlns:a16="http://schemas.microsoft.com/office/drawing/2014/main" id="{42C394F7-03C9-4E25-FD52-F4C5B60DD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450" y="493713"/>
            <a:ext cx="482600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298" name="Rectangle 10">
            <a:extLst>
              <a:ext uri="{FF2B5EF4-FFF2-40B4-BE49-F238E27FC236}">
                <a16:creationId xmlns:a16="http://schemas.microsoft.com/office/drawing/2014/main" id="{594088FD-450A-9BF2-C6C4-82029386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9575" y="493713"/>
            <a:ext cx="495300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299" name="Rectangle 11">
            <a:extLst>
              <a:ext uri="{FF2B5EF4-FFF2-40B4-BE49-F238E27FC236}">
                <a16:creationId xmlns:a16="http://schemas.microsoft.com/office/drawing/2014/main" id="{71F53460-5759-9C43-49C9-FAF18CDF1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4400" y="493713"/>
            <a:ext cx="457200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300" name="Rectangle 12">
            <a:extLst>
              <a:ext uri="{FF2B5EF4-FFF2-40B4-BE49-F238E27FC236}">
                <a16:creationId xmlns:a16="http://schemas.microsoft.com/office/drawing/2014/main" id="{22517069-1F72-D4A8-22DF-A9D6D77D8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1125" y="493713"/>
            <a:ext cx="466725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301" name="Rectangle 13">
            <a:extLst>
              <a:ext uri="{FF2B5EF4-FFF2-40B4-BE49-F238E27FC236}">
                <a16:creationId xmlns:a16="http://schemas.microsoft.com/office/drawing/2014/main" id="{6AAD06DA-13E0-238E-6D04-11128B6D49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7375" y="493713"/>
            <a:ext cx="495300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302" name="Rectangle 14">
            <a:extLst>
              <a:ext uri="{FF2B5EF4-FFF2-40B4-BE49-F238E27FC236}">
                <a16:creationId xmlns:a16="http://schemas.microsoft.com/office/drawing/2014/main" id="{24ACE82F-EC17-68CC-2EBA-4E047C2D5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2200" y="493713"/>
            <a:ext cx="466725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303" name="Rectangle 15">
            <a:extLst>
              <a:ext uri="{FF2B5EF4-FFF2-40B4-BE49-F238E27FC236}">
                <a16:creationId xmlns:a16="http://schemas.microsoft.com/office/drawing/2014/main" id="{9380DCFF-31CB-7444-0B07-E784E619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8450" y="493713"/>
            <a:ext cx="514350" cy="6143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/>
            <a:r>
              <a:rPr lang="en-US" altLang="en-US" sz="1400" b="1">
                <a:solidFill>
                  <a:srgbClr val="00CC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2304" name="AutoShape 16">
            <a:extLst>
              <a:ext uri="{FF2B5EF4-FFF2-40B4-BE49-F238E27FC236}">
                <a16:creationId xmlns:a16="http://schemas.microsoft.com/office/drawing/2014/main" id="{6C4A13E0-E027-C16B-09DA-5E682047986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289175" y="2949575"/>
            <a:ext cx="2333625" cy="527844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Then, we use the</a:t>
            </a:r>
            <a:r>
              <a:rPr lang="en-US" altLang="en-US" sz="900"/>
              <a:t> second </a:t>
            </a:r>
            <a:r>
              <a:rPr lang="en-US" altLang="en-US" sz="800"/>
              <a:t>OCCURS</a:t>
            </a:r>
            <a:r>
              <a:rPr lang="en-US" altLang="en-US" sz="900"/>
              <a:t> </a:t>
            </a:r>
            <a:r>
              <a:rPr lang="en-US" altLang="en-US"/>
              <a:t>clause, and the element description, to lay down the rest of the table. </a:t>
            </a:r>
          </a:p>
        </p:txBody>
      </p:sp>
      <p:sp>
        <p:nvSpPr>
          <p:cNvPr id="12305" name="AutoShape 17">
            <a:extLst>
              <a:ext uri="{FF2B5EF4-FFF2-40B4-BE49-F238E27FC236}">
                <a16:creationId xmlns:a16="http://schemas.microsoft.com/office/drawing/2014/main" id="{A4B39E08-2436-36D3-8369-324A0F80E93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289175" y="2943225"/>
            <a:ext cx="2333625" cy="527844"/>
          </a:xfrm>
          <a:prstGeom prst="wedgeRoundRectCallout">
            <a:avLst>
              <a:gd name="adj1" fmla="val -46755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Pay particular attention to the way the two dimension table maps on to the pre-filled area of storage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05" grpId="0" animBg="1" autoUpdateAnimBg="0"/>
    </p:bld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1355</TotalTime>
  <Words>885</Words>
  <Application>Microsoft Office PowerPoint</Application>
  <PresentationFormat>Custom</PresentationFormat>
  <Paragraphs>96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25</cp:revision>
  <dcterms:created xsi:type="dcterms:W3CDTF">1995-06-17T23:31:02Z</dcterms:created>
  <dcterms:modified xsi:type="dcterms:W3CDTF">2026-05-13T01:07:07Z</dcterms:modified>
</cp:coreProperties>
</file>