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5943600" cy="36576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97000" y="138240"/>
            <a:ext cx="534888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297000" y="855720"/>
            <a:ext cx="5348880" cy="212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5943600" cy="36576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97000" y="145800"/>
            <a:ext cx="5348880" cy="610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297000" y="855720"/>
            <a:ext cx="5348880" cy="212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1495440" y="441360"/>
            <a:ext cx="2933640" cy="225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Condition Names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VALUE 8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405240" y="1859040"/>
            <a:ext cx="93816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406680" y="2244600"/>
            <a:ext cx="2133720" cy="253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Limerick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Cork 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Waterford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UniversityCity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210200" y="206280"/>
            <a:ext cx="1628640" cy="16002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 Condition Name monitors the contents of its associated data-item and when it contains any of the condition values, the Condition Name is set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405240" y="185904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3406680" y="2244600"/>
            <a:ext cx="2133720" cy="21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Limerick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Cork 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Waterford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UniversityCity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210200" y="120600"/>
            <a:ext cx="1628640" cy="1806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Note that more than one Condition Name can be True at the same time.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UniversityCity is set to  True when CityCode has a value in the range 1-4.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14480" y="180036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405240" y="185904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06680" y="2244600"/>
            <a:ext cx="2133720" cy="21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Limerick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Cork 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Waterford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UniversityCity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104760" y="216216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405240" y="185904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3406680" y="2244600"/>
            <a:ext cx="2133720" cy="21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Limerick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Cork 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Waterford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UniversityCity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114480" y="269568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405240" y="185904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406680" y="2244600"/>
            <a:ext cx="2133720" cy="235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Limerick</a:t>
            </a: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Cork 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Waterford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UniversityCity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23840" y="307656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276120" y="84240"/>
            <a:ext cx="3502080" cy="14382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CityCode         PIC 9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Dublin         VALUE 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Limerick       VALUE 2.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Cork           VALUE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Galway         VALUE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Sligo          VALUE 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Waterford      VALUE 6.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UniversityCity VALUE 1 THRU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276120" y="1727280"/>
            <a:ext cx="2862360" cy="176040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Limerick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DISPLAY "Hey, we're home."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UniversityCity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CalcRentSurcharge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6 TO CityCode.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SET Cork TO TRUE.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405240" y="185904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406680" y="2244600"/>
            <a:ext cx="2133720" cy="199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Dublin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Limerick</a:t>
            </a: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Cork    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Galway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Sligo  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Waterford </a:t>
            </a: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UniversityCity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3286080" y="159696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CityCode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191120" y="146160"/>
            <a:ext cx="1628640" cy="1187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one of its condition values is moved into its assoicated data-item a  Condition Name will be set to True.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151160" y="252360"/>
            <a:ext cx="1735200" cy="1806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But this can work the other way around as well. </a:t>
            </a:r>
            <a:br>
              <a:rPr sz="1000"/>
            </a:b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the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SET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verb is used to set a Condition Name to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TRUE,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one of the condition values will be moved into the data-item (as has happened here).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123840" y="325764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949560" y="2292480"/>
            <a:ext cx="1920960" cy="181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Vowel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Digit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LowerCase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ValidChar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753080" y="257040"/>
            <a:ext cx="955800" cy="13939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You can specify  individual values, a range of values, or a mixture of these.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3949560" y="2292480"/>
            <a:ext cx="1920960" cy="14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Vowel 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Digit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LowerCase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ValidChar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0" y="188604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3949560" y="2292480"/>
            <a:ext cx="1920960" cy="14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Vowel 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Digit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LowerCase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ValidChar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0" y="220032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3949560" y="2292480"/>
            <a:ext cx="1920960" cy="14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Vowel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Digit 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LowerCase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ValidChar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0" y="190512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949560" y="2292480"/>
            <a:ext cx="1920960" cy="1449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Vowel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Digit    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LowerCase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ValidChar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0" y="247644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 VALUE SPACES.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949560" y="2292480"/>
            <a:ext cx="1920960" cy="163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Vowel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Digit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LowerCase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ValidChar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0" y="190512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 txBox="1"/>
          <p:nvPr/>
        </p:nvSpPr>
        <p:spPr>
          <a:xfrm>
            <a:off x="38160" y="55440"/>
            <a:ext cx="4599000" cy="136224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InputChar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PIC 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Vowel     VALUE "A","E","I","O","U".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Consonant VALUE "B" THRU "D", "F","G","H"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"J" THRU "N", "P" THRU "T"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"V"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Digit     VALUE 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LowerCase VALUE "a" THRU "z".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571680" algn="l"/>
                <a:tab pos="1143000" algn="l"/>
                <a:tab pos="419112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88 ValidChar VALUE "A" THRU "Z","0" THRU "9".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8160" y="1704960"/>
            <a:ext cx="3776760" cy="1432080"/>
          </a:xfrm>
          <a:prstGeom prst="rect">
            <a:avLst/>
          </a:prstGeom>
          <a:solidFill>
            <a:srgbClr val="E1FFE1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3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ACCEPT InputChar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EVALUATE TRUE 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Vowel     DISPLAY "Vowel."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Consonant DISPLAY "Consonant".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WHEN Digit     DISPLAY "Digit."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WHEN LowerCase DISPLAY "lower".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END-EVALUATE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571680" algn="l"/>
                <a:tab pos="11430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3948120" y="1906560"/>
            <a:ext cx="1138320" cy="366840"/>
          </a:xfrm>
          <a:prstGeom prst="rect">
            <a:avLst/>
          </a:prstGeom>
          <a:solidFill>
            <a:srgbClr val="E1FFE1"/>
          </a:solidFill>
          <a:ln w="2556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949560" y="2292480"/>
            <a:ext cx="1920960" cy="163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Vowel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Consonant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Digit    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LowerCase    TRUE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ValidChar    FALSE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828960" y="1644480"/>
            <a:ext cx="1133640" cy="25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InputChar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0" y="2628720"/>
            <a:ext cx="219600" cy="143280"/>
          </a:xfrm>
          <a:custGeom>
            <a:avLst/>
            <a:gdLst/>
            <a:ahLst/>
            <a:rect l="0" t="0" r="r" b="b"/>
            <a:pathLst>
              <a:path w="610" h="398">
                <a:moveTo>
                  <a:pt x="0" y="133"/>
                </a:moveTo>
                <a:lnTo>
                  <a:pt x="0" y="265"/>
                </a:lnTo>
                <a:lnTo>
                  <a:pt x="426" y="265"/>
                </a:lnTo>
                <a:lnTo>
                  <a:pt x="426" y="398"/>
                </a:lnTo>
                <a:lnTo>
                  <a:pt x="610" y="199"/>
                </a:lnTo>
                <a:lnTo>
                  <a:pt x="426" y="0"/>
                </a:lnTo>
                <a:lnTo>
                  <a:pt x="426" y="133"/>
                </a:lnTo>
                <a:lnTo>
                  <a:pt x="0" y="133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