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5" r:id="rId3"/>
    <p:sldId id="257" r:id="rId4"/>
    <p:sldId id="262" r:id="rId5"/>
    <p:sldId id="263" r:id="rId6"/>
    <p:sldId id="264" r:id="rId7"/>
    <p:sldId id="265" r:id="rId8"/>
    <p:sldId id="266" r:id="rId9"/>
    <p:sldId id="276" r:id="rId10"/>
    <p:sldId id="269" r:id="rId11"/>
    <p:sldId id="271" r:id="rId12"/>
    <p:sldId id="272" r:id="rId13"/>
    <p:sldId id="273" r:id="rId14"/>
    <p:sldId id="274" r:id="rId15"/>
  </p:sldIdLst>
  <p:sldSz cx="5943600" cy="36576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4">
          <p15:clr>
            <a:srgbClr val="A4A3A4"/>
          </p15:clr>
        </p15:guide>
        <p15:guide id="2" pos="-9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9900"/>
    <a:srgbClr val="006633"/>
    <a:srgbClr val="FFFFCC"/>
    <a:srgbClr val="FFFFE1"/>
    <a:srgbClr val="CCFFCC"/>
    <a:srgbClr val="E1FFE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0" d="100"/>
          <a:sy n="200" d="100"/>
        </p:scale>
        <p:origin x="156" y="534"/>
      </p:cViewPr>
      <p:guideLst>
        <p:guide orient="horz" pos="2784"/>
        <p:guide pos="-9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0AFAA-65E6-63D6-22A8-14B8B8974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598488"/>
            <a:ext cx="4457700" cy="12731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8A0D6-8440-02BF-76C1-D5F9DFA0C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950" y="1920875"/>
            <a:ext cx="4457700" cy="8826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C9F8D-CB95-AF03-2365-E569B3C4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D3953-7316-6DF1-2CB7-5EE62A479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A63F9-87D5-9CC5-5054-D94674B4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B69EDF-3D19-477B-A894-66842F7418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7351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3A98-54FC-70FB-744A-2699C8128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A5C97-1F06-FC68-CD4D-72DE005FD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CB5D8-196B-584B-2A15-78835D4D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C0055-AE7D-BC3E-BCB5-FB74AE00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C7BF1-5A1E-7FAF-809F-6C306D218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F90404-E13E-406F-94DA-B6400A0F1B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9789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8CA2-A45E-1E00-B69A-8761A4A18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911225"/>
            <a:ext cx="5127625" cy="15224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15304-533E-F728-75C6-BC6BB7DB9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813" y="2447925"/>
            <a:ext cx="5127625" cy="8001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778D9-A218-75D5-7FB2-5F9D9B227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3FF7F-A739-FFA9-D04B-4FB9A1E03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3EA9B-B726-2B21-97E0-CF154CA7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4B9FED-317A-4323-98CC-EE9E3647C1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3081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BC67-90A8-0BBF-34C8-E5F9B423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74D3C-03B9-0BBB-4BA1-32D93961B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6088" y="1057275"/>
            <a:ext cx="2449512" cy="219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422FD-A016-A890-FF8C-CA5AE7B59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0" y="1057275"/>
            <a:ext cx="2449513" cy="219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743DB-A75C-5C13-02BA-2940686E5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82E39-5CDA-75C6-A443-BA05793B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F3F39-E977-4209-DD05-5088D452A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BF8C51-8B7F-4E74-A996-E4DBAF4252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3249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9AD88-1146-85F5-463D-7728DE55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195263"/>
            <a:ext cx="5126038" cy="7064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BC44B-985F-79F1-9745-61B92F144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9575" y="896938"/>
            <a:ext cx="2514600" cy="4397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E23A9-8581-910A-68F1-3D22D5ED4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9575" y="1336675"/>
            <a:ext cx="2514600" cy="196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387F2-296D-B7CF-7984-BF682978C0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08313" y="896938"/>
            <a:ext cx="2527300" cy="4397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092DA8-AD0F-7398-2CDF-1E74F8660C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008313" y="1336675"/>
            <a:ext cx="2527300" cy="196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605DD0-6124-7349-7FFE-30506889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E842A3-04E5-F7DD-D6E8-285D9740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D8CD4F-C924-16BD-BE0B-780011AD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5333A2-D774-4474-929C-A6BD52248C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0861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941A1-49F0-D99C-A1C8-9C4B9DD8F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B71300-A8C4-C08D-5330-468DBF8D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392FF-5495-5A74-DBBE-669D94FB7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2713E-4C53-3C1D-BEA6-F17ECAF7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AE6BF7-1DBA-40B7-87E2-A9713D00AC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4582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78CE71-2A77-5862-FA91-EDA59CFA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FDF11B-285F-EC2C-9387-41B0CD1E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4C944-B6D7-F900-0CAF-3E1C8EF9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77176D-B60B-4FA3-9BB1-8024109974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94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AD86-2994-41AE-86B9-46681A1C3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44475"/>
            <a:ext cx="1916113" cy="8524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72C65-574A-1608-0904-34B993E55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7300" y="527050"/>
            <a:ext cx="3008313" cy="25987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7297E-EAA5-EBE6-9FFA-D104EDB13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9575" y="1096963"/>
            <a:ext cx="1916113" cy="203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4C151-BC0B-2E93-F7A8-9BB0CBAA7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6158B-B37D-5849-7094-5E577273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AC82B-40F4-7400-7179-E6ACB7EF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3E7D71-919D-4664-A4DE-B01CF46AA3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3321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73BF-8B1D-7033-E520-EC8A37454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44475"/>
            <a:ext cx="1916113" cy="8524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51902-E56A-841D-DAF3-28263ED07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527300" y="527050"/>
            <a:ext cx="3008313" cy="25987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BF44B-1BAE-6C4C-97CC-612DFB922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9575" y="1096963"/>
            <a:ext cx="1916113" cy="203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99207-9B77-AFA1-D5CF-042FFB05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96E41-662C-0A27-8ADF-81F7E2DC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0216A-0321-2B5E-9B94-2B2EC1E9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1A7E51-7542-40C8-89D8-1DEF023BF3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6563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A0FFF-9FF1-B9C2-EBE6-6F8F6EE02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2D62-744C-5C03-7918-A81230010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BA5E4-9634-EA89-D391-EEA392480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0380E-BAF5-00C9-F290-2C1B8081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8E9FE-7859-6E39-3B1D-FB0AA777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A30A8E-5E32-4C3E-AC4E-B24D09BFF3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17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74CD01-CC67-5CFF-896F-5FFED0EC4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235450" y="325438"/>
            <a:ext cx="1262063" cy="2925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FBB88-1925-4ADF-253F-D1239F785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6088" y="325438"/>
            <a:ext cx="3636962" cy="2925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09F5A-743C-5C15-8290-C0A63D09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ACFDC-A68B-9309-FE46-DDD900EF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3EAE9-ECA8-291A-D25E-180B521A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D8208B-9CF9-47E5-B1E8-D6FE1F3989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858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6C9CDE-E84F-FD1F-49E7-12C17BF37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6088" y="325438"/>
            <a:ext cx="50514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5563" tIns="26988" rIns="55563" bIns="269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ACF62C7-1B19-ACE0-4503-C23CF7213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6088" y="1057275"/>
            <a:ext cx="5051425" cy="219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5563" tIns="26988" rIns="55563" bIns="269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8360FDD-C00E-F1DD-261A-207F9AFF050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46088" y="3332163"/>
            <a:ext cx="12382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5563" tIns="26988" rIns="55563" bIns="26988" numCol="1" anchor="ctr" anchorCtr="0" compatLnSpc="1">
            <a:prstTxWarp prst="textNoShape">
              <a:avLst/>
            </a:prstTxWarp>
          </a:bodyPr>
          <a:lstStyle>
            <a:lvl1pPr defTabSz="330200">
              <a:defRPr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6E2B437-7170-DFDE-B45B-BF18ED47470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30413" y="3332163"/>
            <a:ext cx="18827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5563" tIns="26988" rIns="55563" bIns="26988" numCol="1" anchor="ctr" anchorCtr="0" compatLnSpc="1">
            <a:prstTxWarp prst="textNoShape">
              <a:avLst/>
            </a:prstTxWarp>
          </a:bodyPr>
          <a:lstStyle>
            <a:lvl1pPr algn="ctr" defTabSz="330200">
              <a:defRPr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DECBF4D-904E-AF5D-542A-57666D05241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59263" y="3332163"/>
            <a:ext cx="12382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5563" tIns="26988" rIns="55563" bIns="26988" numCol="1" anchor="ctr" anchorCtr="0" compatLnSpc="1">
            <a:prstTxWarp prst="textNoShape">
              <a:avLst/>
            </a:prstTxWarp>
          </a:bodyPr>
          <a:lstStyle>
            <a:lvl1pPr algn="r" defTabSz="330200">
              <a:defRPr/>
            </a:lvl1pPr>
          </a:lstStyle>
          <a:p>
            <a:fld id="{4537F05D-EC8E-49F0-94C7-34A5B3D74D2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30200" rtl="0" eaLnBrk="0" fontAlgn="base" hangingPunct="0">
        <a:spcBef>
          <a:spcPct val="0"/>
        </a:spcBef>
        <a:spcAft>
          <a:spcPct val="0"/>
        </a:spcAft>
        <a:defRPr sz="2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30200" rtl="0" eaLnBrk="0" fontAlgn="base" hangingPunct="0"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Times New Roman" panose="02020603050405020304" pitchFamily="18" charset="0"/>
        </a:defRPr>
      </a:lvl2pPr>
      <a:lvl3pPr algn="ctr" defTabSz="330200" rtl="0" eaLnBrk="0" fontAlgn="base" hangingPunct="0"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Times New Roman" panose="02020603050405020304" pitchFamily="18" charset="0"/>
        </a:defRPr>
      </a:lvl3pPr>
      <a:lvl4pPr algn="ctr" defTabSz="330200" rtl="0" eaLnBrk="0" fontAlgn="base" hangingPunct="0"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Times New Roman" panose="02020603050405020304" pitchFamily="18" charset="0"/>
        </a:defRPr>
      </a:lvl4pPr>
      <a:lvl5pPr algn="ctr" defTabSz="330200" rtl="0" eaLnBrk="0" fontAlgn="base" hangingPunct="0"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330200" rtl="0" eaLnBrk="0" fontAlgn="base" hangingPunct="0"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330200" rtl="0" eaLnBrk="0" fontAlgn="base" hangingPunct="0"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330200" rtl="0" eaLnBrk="0" fontAlgn="base" hangingPunct="0"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330200" rtl="0" eaLnBrk="0" fontAlgn="base" hangingPunct="0"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206375" indent="-206375" algn="l" defTabSz="330200" rtl="0" eaLnBrk="0" fontAlgn="base" hangingPunct="0">
        <a:spcBef>
          <a:spcPct val="20000"/>
        </a:spcBef>
        <a:spcAft>
          <a:spcPct val="0"/>
        </a:spcAft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46088" indent="-125413" algn="l" defTabSz="330200" rtl="0" eaLnBrk="0" fontAlgn="base" hangingPunct="0">
        <a:spcBef>
          <a:spcPct val="20000"/>
        </a:spcBef>
        <a:spcAft>
          <a:spcPct val="0"/>
        </a:spcAft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25413" algn="l" defTabSz="330200" rtl="0" eaLnBrk="0" fontAlgn="base" hangingPunct="0">
        <a:spcBef>
          <a:spcPct val="20000"/>
        </a:spcBef>
        <a:spcAft>
          <a:spcPct val="0"/>
        </a:spcAft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0438" indent="-138113" algn="l" defTabSz="330200" rtl="0" eaLnBrk="0" fontAlgn="base" hangingPunct="0">
        <a:spcBef>
          <a:spcPct val="20000"/>
        </a:spcBef>
        <a:spcAft>
          <a:spcPct val="0"/>
        </a:spcAft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35075" indent="-138113" algn="l" defTabSz="330200" rtl="0" eaLnBrk="0" fontAlgn="base" hangingPunct="0">
        <a:spcBef>
          <a:spcPct val="20000"/>
        </a:spcBef>
        <a:spcAft>
          <a:spcPct val="0"/>
        </a:spcAft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FE35109-0612-41AB-3F7C-172DF30ED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425" y="441325"/>
            <a:ext cx="2933700" cy="225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Condition Names</a:t>
            </a:r>
          </a:p>
          <a:p>
            <a:pPr algn="ctr"/>
            <a:endParaRPr lang="en-US" altLang="en-US" sz="18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pPr algn="ctr"/>
            <a:endParaRPr lang="en-US" altLang="en-US" sz="2400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en-US" sz="1400" b="1"/>
              <a:t>Click to view.</a:t>
            </a:r>
          </a:p>
          <a:p>
            <a:pPr algn="ctr"/>
            <a:endParaRPr lang="en-US" altLang="en-US" sz="1400" b="1"/>
          </a:p>
          <a:p>
            <a:pPr algn="ctr"/>
            <a:r>
              <a:rPr lang="en-US" altLang="en-US" sz="1000"/>
              <a:t>When viewing , left click (or press the Page Up key) to see the next frame and right click (or press Page Down)  to see the previous frame.</a:t>
            </a:r>
            <a:endParaRPr lang="en-US" altLang="en-US" sz="2400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sz="2400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62CFA2B-6990-7455-C88B-B1E0778FA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90488"/>
            <a:ext cx="3489325" cy="14255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CityCode         PIC 9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VALUE 8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Dublin         VALUE 1.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Limerick       VALUE 2.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Cork           VALUE 3.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Galway         VALUE 4.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Sligo          VALUE 5.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Waterford      VALUE 6.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UniversityCity VALUE 1 THRU 4.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CE1DAE2-B6D2-31C7-40B5-0279FE610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733550"/>
            <a:ext cx="2849563" cy="1747838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MOVE 2 TO CityCode.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IF Limerick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DISPLAY "Hey, we're home."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END-IF.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IF UniversityCity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PERFORM CalcRentSurcharge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END-IF.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MOVE 6 TO CityCode.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SET Cork TO TRUE.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3053F6B-921C-F245-2D80-53E8AC4D6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1871663"/>
            <a:ext cx="912812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4DF4325A-2B29-E1C0-D928-2C1865BA6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775" y="2244725"/>
            <a:ext cx="2133600" cy="134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Dublin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Limerick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Cork  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Galway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Sligo 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Waterford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UniversityCity FALSE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1A4C6A33-1B8F-6FA6-82D6-0A6438AF3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1597025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CityCode</a:t>
            </a:r>
          </a:p>
        </p:txBody>
      </p:sp>
      <p:sp>
        <p:nvSpPr>
          <p:cNvPr id="3079" name="AutoShape 7">
            <a:extLst>
              <a:ext uri="{FF2B5EF4-FFF2-40B4-BE49-F238E27FC236}">
                <a16:creationId xmlns:a16="http://schemas.microsoft.com/office/drawing/2014/main" id="{FECAA30D-F50C-DAEC-EE3D-B87EE9371EE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216400" y="212725"/>
            <a:ext cx="1616075" cy="1322917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algn="ctr"/>
            <a:r>
              <a:rPr lang="en-US" altLang="en-US" sz="1000"/>
              <a:t>A Condition Name monitors the contents of its associated data-item and when it contains any of the condition values, the Condition Name is set to 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5C69BB5-6E49-4BBB-85BE-B280E9555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90488"/>
            <a:ext cx="3489325" cy="14255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CityCode         PIC 9 VALUE 5.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Dublin         VALUE 1.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Limerick       VALUE 2.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Cork           VALUE 3.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Galway         VALUE 4.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Sligo          VALUE 5.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Waterford      VALUE 6.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UniversityCity VALUE 1 THRU 4.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7C3B341-04C4-2EC2-DC1E-E449567CC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733550"/>
            <a:ext cx="2849563" cy="1747838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MOVE 2 TO CityCode.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IF Limerick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DISPLAY "Hey, we're home."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END-IF.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IF UniversityCity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PERFORM CalcRentSurcharge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END-IF.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MOVE 6 TO CityCode.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SET Cork TO TRUE.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159056D-80FF-2D00-A32B-4782B08A5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1871663"/>
            <a:ext cx="1112837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47B33478-72D5-FF23-F76A-AB5495FCC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775" y="2244725"/>
            <a:ext cx="2133600" cy="134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Dublin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Limerick       TRUE</a:t>
            </a:r>
            <a:endParaRPr lang="en-US" altLang="en-US" sz="14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Cork  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Galway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Sligo 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Waterford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UniversityCity TRUE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124387CD-2560-83D8-8AD6-8ABB04768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1597025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CityCode</a:t>
            </a:r>
          </a:p>
        </p:txBody>
      </p:sp>
      <p:sp>
        <p:nvSpPr>
          <p:cNvPr id="4103" name="AutoShape 7">
            <a:extLst>
              <a:ext uri="{FF2B5EF4-FFF2-40B4-BE49-F238E27FC236}">
                <a16:creationId xmlns:a16="http://schemas.microsoft.com/office/drawing/2014/main" id="{B562F3B3-9FA1-B130-89B7-87BAD2A9E18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216400" y="127000"/>
            <a:ext cx="1616075" cy="1494896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algn="ctr"/>
            <a:r>
              <a:rPr lang="en-US" altLang="en-US" sz="1000"/>
              <a:t>Note that more than one Condition Name can be True at the same time. </a:t>
            </a:r>
          </a:p>
          <a:p>
            <a:pPr algn="ctr"/>
            <a:endParaRPr lang="en-US" altLang="en-US" sz="1000"/>
          </a:p>
          <a:p>
            <a:pPr algn="ctr"/>
            <a:r>
              <a:rPr lang="en-US" altLang="en-US" sz="1000"/>
              <a:t>UniversityCity is set to  True when CityCode has a value in the range 1-4. </a:t>
            </a:r>
          </a:p>
        </p:txBody>
      </p:sp>
      <p:sp>
        <p:nvSpPr>
          <p:cNvPr id="4104" name="AutoShape 8">
            <a:extLst>
              <a:ext uri="{FF2B5EF4-FFF2-40B4-BE49-F238E27FC236}">
                <a16:creationId xmlns:a16="http://schemas.microsoft.com/office/drawing/2014/main" id="{D44C4865-BA24-2CA4-8BBD-FF3C23197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1806575"/>
            <a:ext cx="206375" cy="130175"/>
          </a:xfrm>
          <a:prstGeom prst="rightArrow">
            <a:avLst>
              <a:gd name="adj1" fmla="val 50000"/>
              <a:gd name="adj2" fmla="val 79276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3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833447A-23C6-270A-8425-F0DB479F8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90488"/>
            <a:ext cx="3489325" cy="14255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CityCode         PIC 9 VALUE 5.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Dublin         VALUE 1.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Limerick       VALUE 2.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Cork           VALUE 3.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Galway         VALUE 4.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Sligo          VALUE 5.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Waterford      VALUE 6.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UniversityCity VALUE 1 THRU 4.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FB03561-BDF1-9494-6897-DE332A0F5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733550"/>
            <a:ext cx="2849563" cy="1747838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latin typeface="Courier New" panose="02070309020205020404" pitchFamily="49" charset="0"/>
              </a:rPr>
              <a:t>MOVE 2 TO CityCode.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IF Limerick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DISPLAY "Hey, we're home."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END-IF.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IF UniversityCity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PERFORM CalcRentSurcharge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END-IF.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MOVE 6 TO CityCode.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SET Cork TO TRUE.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D2B9BE2-AE22-26DE-2419-2AF992F70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1871663"/>
            <a:ext cx="1112837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370D184A-5D5F-20E1-F374-8E4F277F0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775" y="2244725"/>
            <a:ext cx="2133600" cy="134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Dublin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Limerick       TRUE</a:t>
            </a:r>
            <a:endParaRPr lang="en-US" altLang="en-US" sz="14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Cork  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Galway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Sligo 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Waterford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UniversityCity TRUE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E41628C2-E7F5-89D8-7875-EC10FFC97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1597025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CityCode</a:t>
            </a:r>
          </a:p>
        </p:txBody>
      </p:sp>
      <p:sp>
        <p:nvSpPr>
          <p:cNvPr id="5127" name="AutoShape 7">
            <a:extLst>
              <a:ext uri="{FF2B5EF4-FFF2-40B4-BE49-F238E27FC236}">
                <a16:creationId xmlns:a16="http://schemas.microsoft.com/office/drawing/2014/main" id="{EFD65873-83D7-1C9F-0098-3CCAC9B4D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" y="2168525"/>
            <a:ext cx="206375" cy="130175"/>
          </a:xfrm>
          <a:prstGeom prst="rightArrow">
            <a:avLst>
              <a:gd name="adj1" fmla="val 50000"/>
              <a:gd name="adj2" fmla="val 79276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721C3B4-A3BB-469A-AB1F-A599D3813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90488"/>
            <a:ext cx="3489325" cy="14255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CityCode         PIC 9 VALUE 5.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Dublin         VALUE 1.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Limerick       VALUE 2.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Cork           VALUE 3.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Galway         VALUE 4.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Sligo          VALUE 5.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Waterford      VALUE 6.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UniversityCity VALUE 1 THRU 4.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5D6A2A6-5FBE-B251-7F04-EF120B670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733550"/>
            <a:ext cx="2849563" cy="1747838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latin typeface="Courier New" panose="02070309020205020404" pitchFamily="49" charset="0"/>
              </a:rPr>
              <a:t>MOVE 2 TO CityCode.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IF Limerick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latin typeface="Courier New" panose="02070309020205020404" pitchFamily="49" charset="0"/>
              </a:rPr>
              <a:t>DISPLAY "Hey, we're home."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END-IF.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IF UniversityCity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PERFORM CalcRentSurcharge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END-IF.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MOVE 6 TO CityCode.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SET Cork TO TRUE.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2D722089-FDC6-603F-29EE-55787B802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1871663"/>
            <a:ext cx="1112837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B5D6EC3D-74E3-F684-D679-A10A20BE3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775" y="2244725"/>
            <a:ext cx="2133600" cy="134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Dublin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Limerick       TRUE</a:t>
            </a:r>
            <a:endParaRPr lang="en-US" altLang="en-US" sz="14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Cork  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Galway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Sligo 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Waterford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UniversityCity TRUE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848CFF94-F1AD-F4DC-DC14-22258C6D9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1597025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CityCode</a:t>
            </a:r>
          </a:p>
        </p:txBody>
      </p:sp>
      <p:sp>
        <p:nvSpPr>
          <p:cNvPr id="6151" name="AutoShape 7">
            <a:extLst>
              <a:ext uri="{FF2B5EF4-FFF2-40B4-BE49-F238E27FC236}">
                <a16:creationId xmlns:a16="http://schemas.microsoft.com/office/drawing/2014/main" id="{2EA809E1-408C-E35D-5A47-3A59E8D17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2701925"/>
            <a:ext cx="206375" cy="130175"/>
          </a:xfrm>
          <a:prstGeom prst="rightArrow">
            <a:avLst>
              <a:gd name="adj1" fmla="val 50000"/>
              <a:gd name="adj2" fmla="val 79276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1DAB287-F089-6F7D-8EBE-7C08C2732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90488"/>
            <a:ext cx="3489325" cy="14255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CityCode         PIC 9 VALUE 5.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Dublin         VALUE 1.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Limerick       VALUE 2.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Cork           VALUE 3.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Galway         VALUE 4.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Sligo          VALUE 5.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Waterford      VALUE 6.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UniversityCity VALUE 1 THRU 4.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C6C6741-1267-3B07-ACC6-1EA506679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733550"/>
            <a:ext cx="2849563" cy="1747838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latin typeface="Courier New" panose="02070309020205020404" pitchFamily="49" charset="0"/>
              </a:rPr>
              <a:t>MOVE 2 TO CityCode.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IF Limerick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latin typeface="Courier New" panose="02070309020205020404" pitchFamily="49" charset="0"/>
              </a:rPr>
              <a:t>DISPLAY "Hey, we're home."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END-IF.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IF UniversityCity</a:t>
            </a:r>
          </a:p>
          <a:p>
            <a:r>
              <a:rPr lang="en-US" altLang="en-US" sz="1200" b="1">
                <a:latin typeface="Courier New" panose="02070309020205020404" pitchFamily="49" charset="0"/>
              </a:rPr>
              <a:t>   PERFORM CalcRentSurcharge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END-IF.</a:t>
            </a:r>
          </a:p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MOVE 6 TO CityCode.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SET Cork TO TRUE.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B3A536A7-432A-1AA5-37EF-E2FBCA1F9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1871663"/>
            <a:ext cx="1112837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70315B70-86DF-69B6-40DF-5BF94116E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775" y="2244725"/>
            <a:ext cx="2133600" cy="134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Dublin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Limerick</a:t>
            </a: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     </a:t>
            </a: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Cork  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Galway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Sligo 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Waterford      TRUE</a:t>
            </a:r>
            <a:endParaRPr lang="en-US" altLang="en-US" sz="14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UniversityCity FALSE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259A0F8C-5D20-6821-125A-2A4E79A51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1597025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CityCode</a:t>
            </a:r>
          </a:p>
        </p:txBody>
      </p:sp>
      <p:sp>
        <p:nvSpPr>
          <p:cNvPr id="7175" name="AutoShape 7">
            <a:extLst>
              <a:ext uri="{FF2B5EF4-FFF2-40B4-BE49-F238E27FC236}">
                <a16:creationId xmlns:a16="http://schemas.microsoft.com/office/drawing/2014/main" id="{E37EFF21-851C-6713-1491-2B1ADD4DE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" y="3082925"/>
            <a:ext cx="206375" cy="130175"/>
          </a:xfrm>
          <a:prstGeom prst="rightArrow">
            <a:avLst>
              <a:gd name="adj1" fmla="val 50000"/>
              <a:gd name="adj2" fmla="val 79276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0CE4F8A-1A9C-E8A6-8E43-FB9ACFD81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90488"/>
            <a:ext cx="3489325" cy="14255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CityCode         PIC 9 VALUE 5.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Dublin         VALUE 1.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Limerick       VALUE 2.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Cork           VALUE 3.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Galway         VALUE 4.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Sligo          VALUE 5.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Waterford      VALUE 6.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UniversityCity VALUE 1 THRU 4.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AE2D72D-0FDA-D543-F076-5195770C0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733550"/>
            <a:ext cx="2849563" cy="1747838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latin typeface="Courier New" panose="02070309020205020404" pitchFamily="49" charset="0"/>
              </a:rPr>
              <a:t>MOVE 2 TO CityCode.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IF Limerick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latin typeface="Courier New" panose="02070309020205020404" pitchFamily="49" charset="0"/>
              </a:rPr>
              <a:t>DISPLAY "Hey, we're home."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END-IF.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IF UniversityCity</a:t>
            </a:r>
          </a:p>
          <a:p>
            <a:r>
              <a:rPr lang="en-US" altLang="en-US" sz="1200" b="1">
                <a:latin typeface="Courier New" panose="02070309020205020404" pitchFamily="49" charset="0"/>
              </a:rPr>
              <a:t>   PERFORM CalcRentSurcharge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END-IF.</a:t>
            </a:r>
          </a:p>
          <a:p>
            <a:r>
              <a:rPr lang="en-US" altLang="en-US" sz="1200" b="1">
                <a:latin typeface="Courier New" panose="02070309020205020404" pitchFamily="49" charset="0"/>
              </a:rPr>
              <a:t>MOVE 6 TO CityCode.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SET Cork TO TRUE.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ECDE5072-930F-CBE3-A00C-B76C04D94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1871663"/>
            <a:ext cx="1112837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9D53AA6C-EFF4-AA48-AA84-363D07E01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775" y="2244725"/>
            <a:ext cx="2133600" cy="134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Dublin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Limerick</a:t>
            </a: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     </a:t>
            </a: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Cork           TRUE</a:t>
            </a:r>
            <a:endParaRPr lang="en-US" altLang="en-US" sz="14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Galway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Sligo  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Waterford </a:t>
            </a: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   </a:t>
            </a: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UniversityCity TRUE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60C0FA25-3482-A4AA-9052-2C04AEE07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1597025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CityCode</a:t>
            </a:r>
          </a:p>
        </p:txBody>
      </p:sp>
      <p:sp>
        <p:nvSpPr>
          <p:cNvPr id="8199" name="AutoShape 7">
            <a:extLst>
              <a:ext uri="{FF2B5EF4-FFF2-40B4-BE49-F238E27FC236}">
                <a16:creationId xmlns:a16="http://schemas.microsoft.com/office/drawing/2014/main" id="{FE927BBC-CB1E-9596-46F1-D86A7437E0A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97350" y="152400"/>
            <a:ext cx="1616075" cy="978958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algn="ctr"/>
            <a:r>
              <a:rPr lang="en-US" altLang="en-US" sz="1000"/>
              <a:t>If one of its condition values is moved into its assoicated data-item a  Condition Name will be set to True. </a:t>
            </a:r>
          </a:p>
        </p:txBody>
      </p:sp>
      <p:sp>
        <p:nvSpPr>
          <p:cNvPr id="8200" name="AutoShape 8">
            <a:extLst>
              <a:ext uri="{FF2B5EF4-FFF2-40B4-BE49-F238E27FC236}">
                <a16:creationId xmlns:a16="http://schemas.microsoft.com/office/drawing/2014/main" id="{16407D63-4AE4-EC3D-EB09-B511A3EC867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57663" y="258763"/>
            <a:ext cx="1722437" cy="1494896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algn="ctr"/>
            <a:r>
              <a:rPr lang="en-US" altLang="en-US" sz="1000"/>
              <a:t>But this can work the other way around as well. </a:t>
            </a:r>
            <a:br>
              <a:rPr lang="en-US" altLang="en-US" sz="1000"/>
            </a:br>
            <a:r>
              <a:rPr lang="en-US" altLang="en-US" sz="1000"/>
              <a:t>If the </a:t>
            </a:r>
            <a:r>
              <a:rPr lang="en-US" altLang="en-US"/>
              <a:t>SET</a:t>
            </a:r>
            <a:r>
              <a:rPr lang="en-US" altLang="en-US" sz="1000"/>
              <a:t> verb is used to set a Condition Name to </a:t>
            </a:r>
            <a:r>
              <a:rPr lang="en-US" altLang="en-US"/>
              <a:t>TRUE, </a:t>
            </a:r>
            <a:r>
              <a:rPr lang="en-US" altLang="en-US" sz="1000"/>
              <a:t>one of the condition values will be moved into the data-item (as has happened here). </a:t>
            </a:r>
          </a:p>
        </p:txBody>
      </p:sp>
      <p:sp>
        <p:nvSpPr>
          <p:cNvPr id="8201" name="AutoShape 9">
            <a:extLst>
              <a:ext uri="{FF2B5EF4-FFF2-40B4-BE49-F238E27FC236}">
                <a16:creationId xmlns:a16="http://schemas.microsoft.com/office/drawing/2014/main" id="{C1292D7B-FAD5-EB14-2DE4-3B5420346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" y="3263900"/>
            <a:ext cx="206375" cy="130175"/>
          </a:xfrm>
          <a:prstGeom prst="rightArrow">
            <a:avLst>
              <a:gd name="adj1" fmla="val 50000"/>
              <a:gd name="adj2" fmla="val 79276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 animBg="1" autoUpdateAnimBg="0"/>
      <p:bldP spid="8200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BA81E3F-C30E-56B1-25CB-58A7C24E3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61913"/>
            <a:ext cx="4586288" cy="13493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InputChar	PIC X VALUE SPACES.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Vowel     VALUE "A","E","I","O","U".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Consonant VALUE "B" THRU "D", "F","G","H"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"J" THRU "N", "P" THRU "T"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"V"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Digit     VALUE "0" THRU "9".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LowerCase VALUE "a"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ValidChar VALUE "A" THRU "Z","0" THRU "9".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847421F-4FD4-C0A0-EC97-2C7955919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1711325"/>
            <a:ext cx="3763963" cy="141922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3 TIMES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ACCEPT InputChar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EVALUATE TRUE   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Vowel     DISPLAY "Vowel."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Consonant DISPLAY "Consonant".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Digit     DISPLAY "Digit."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LowerCase DISPLAY "lower".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END-EVALUATE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2B065017-A615-037C-F287-49BAF3F1B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1919288"/>
            <a:ext cx="1112837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031C8B6B-C3F5-3BFF-3752-517BC0AE9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0" y="2292350"/>
            <a:ext cx="1920875" cy="96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Vowel        FALSE</a:t>
            </a:r>
            <a:endParaRPr lang="en-US" altLang="en-US" sz="14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Consonant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Digit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LowerCase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ValidChar    FALSE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32F683F0-0EC9-5034-3F41-BF050472A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44650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InputChar</a:t>
            </a:r>
          </a:p>
        </p:txBody>
      </p:sp>
      <p:sp>
        <p:nvSpPr>
          <p:cNvPr id="9223" name="AutoShape 7">
            <a:extLst>
              <a:ext uri="{FF2B5EF4-FFF2-40B4-BE49-F238E27FC236}">
                <a16:creationId xmlns:a16="http://schemas.microsoft.com/office/drawing/2014/main" id="{27CF4F8E-011D-C626-6A7F-BABED325741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759325" y="263525"/>
            <a:ext cx="942975" cy="1150938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 anchor="ctr">
            <a:spAutoFit/>
          </a:bodyPr>
          <a:lstStyle/>
          <a:p>
            <a:pPr algn="ctr"/>
            <a:r>
              <a:rPr lang="en-US" altLang="en-US" sz="1000"/>
              <a:t>You can specify  individual values, a range of values, or a mixture of these.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6C20F26-8C30-065C-97AA-FA6F5E63E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61913"/>
            <a:ext cx="4586288" cy="13493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InputChar	PIC X VALUE SPACES.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Vowel     VALUE "A","E","I","O","U".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Consonant VALUE "B" THRU "D", "F","G","H"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"J" THRU "N", "P" THRU "T"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"V"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Digit     VALUE "0" THRU "9".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LowerCase VALUE "a"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ValidChar VALUE "A" THRU "Z","0" THRU "9".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7794D96-9C79-0C22-6341-F01B7139E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1711325"/>
            <a:ext cx="3763963" cy="141922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3 TIMES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ACCEPT InputChar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EVALUATE TRUE   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Vowel     DISPLAY "Vowel."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Consonant DISPLAY "Consonant".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Digit     DISPLAY "Digit."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LowerCase DISPLAY "lower".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END-EVALUATE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64E2F0D6-DB78-FE75-CC42-48A36DC0C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1919288"/>
            <a:ext cx="1112837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3BF86F1A-41E5-0EB4-2D91-4C3228570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0" y="2292350"/>
            <a:ext cx="1920875" cy="96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Vowel        TRUE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Consonant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Digit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LowerCase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ValidChar    TRUE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BCDE7BB8-FA5A-8493-1DA4-34C3327A3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44650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InputChar</a:t>
            </a:r>
          </a:p>
        </p:txBody>
      </p:sp>
      <p:sp>
        <p:nvSpPr>
          <p:cNvPr id="10247" name="AutoShape 7">
            <a:extLst>
              <a:ext uri="{FF2B5EF4-FFF2-40B4-BE49-F238E27FC236}">
                <a16:creationId xmlns:a16="http://schemas.microsoft.com/office/drawing/2014/main" id="{29546E6B-CCA1-DA33-5EDF-72F7E89F8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1892300"/>
            <a:ext cx="206375" cy="130175"/>
          </a:xfrm>
          <a:prstGeom prst="rightArrow">
            <a:avLst>
              <a:gd name="adj1" fmla="val 50000"/>
              <a:gd name="adj2" fmla="val 79276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1E39FC8-D5CC-FE87-F7A4-01610BF3D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61913"/>
            <a:ext cx="4586288" cy="13493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InputChar	PIC X VALUE SPACES.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Vowel     VALUE "A","E","I","O","U".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Consonant VALUE "B" THRU "D", "F","G","H"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"J" THRU "N", "P" THRU "T"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"V"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Digit     VALUE "0" THRU "9".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LowerCase VALUE "a"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ValidChar VALUE "A" THRU "Z","0" THRU "9".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10382A8-CD9D-D340-766C-1C5F49C0A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1711325"/>
            <a:ext cx="3763963" cy="141922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3 TIMES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ACCEPT InputChar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EVALUATE TRUE   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WHEN Vowel     DISPLAY "Vowel."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Consonant DISPLAY "Consonant".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Digit     DISPLAY "Digit."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LowerCase DISPLAY "lower".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END-EVALUATE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D9A3B017-FD4D-F554-C3AC-9AAA4C531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1919288"/>
            <a:ext cx="1112837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A19B2509-D7C9-793A-FD61-219655EBF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0" y="2292350"/>
            <a:ext cx="1920875" cy="96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Vowel        TRUE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Consonant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Digit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LowerCase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ValidChar    TRUE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9A1E324C-DAD4-6ECC-D81E-21D945C7B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44650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InputChar</a:t>
            </a:r>
          </a:p>
        </p:txBody>
      </p:sp>
      <p:sp>
        <p:nvSpPr>
          <p:cNvPr id="11271" name="AutoShape 7">
            <a:extLst>
              <a:ext uri="{FF2B5EF4-FFF2-40B4-BE49-F238E27FC236}">
                <a16:creationId xmlns:a16="http://schemas.microsoft.com/office/drawing/2014/main" id="{5E7F547D-7386-CBF5-AC54-67B68C981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2206625"/>
            <a:ext cx="206375" cy="130175"/>
          </a:xfrm>
          <a:prstGeom prst="rightArrow">
            <a:avLst>
              <a:gd name="adj1" fmla="val 50000"/>
              <a:gd name="adj2" fmla="val 79276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A92AF3F-CA9E-AC9B-42AB-A3837CD39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61913"/>
            <a:ext cx="4586288" cy="13493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InputChar	PIC X VALUE SPACES.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Vowel     VALUE "A","E","I","O","U".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Consonant VALUE "B" THRU "D", "F","G","H"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"J" THRU "N", "P" THRU "T"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"V"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Digit     VALUE "0" THRU "9".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LowerCase VALUE "a"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ValidChar VALUE "A" THRU "Z","0" THRU "9".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4201814-09EB-B5A4-9F98-26AF847A4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1711325"/>
            <a:ext cx="3763963" cy="141922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3 TIMES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ACCEPT InputChar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EVALUATE TRUE   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Vowel     DISPLAY "Vowel."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Consonant DISPLAY "Consonant".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Digit     DISPLAY "Digit."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LowerCase DISPLAY "lower".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END-EVALUATE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6C97AFBF-C03A-D2A2-C039-9843CAC52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1919288"/>
            <a:ext cx="1112837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A1F4391D-7535-590D-53AB-B136C13B9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0" y="2292350"/>
            <a:ext cx="1920875" cy="96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Vowel        FALSE</a:t>
            </a:r>
            <a:endParaRPr lang="en-US" altLang="en-US" sz="14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Consonant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Digit        TRUE</a:t>
            </a:r>
            <a:endParaRPr lang="en-US" altLang="en-US" sz="14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LowerCase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ValidChar    TRUE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8705CF60-2A6D-728F-D035-B8FF8F817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44650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InputChar</a:t>
            </a:r>
          </a:p>
        </p:txBody>
      </p:sp>
      <p:sp>
        <p:nvSpPr>
          <p:cNvPr id="12295" name="AutoShape 7">
            <a:extLst>
              <a:ext uri="{FF2B5EF4-FFF2-40B4-BE49-F238E27FC236}">
                <a16:creationId xmlns:a16="http://schemas.microsoft.com/office/drawing/2014/main" id="{48076811-50E4-713D-AB41-AE447ADC5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1911350"/>
            <a:ext cx="206375" cy="130175"/>
          </a:xfrm>
          <a:prstGeom prst="rightArrow">
            <a:avLst>
              <a:gd name="adj1" fmla="val 50000"/>
              <a:gd name="adj2" fmla="val 79276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45CE5BD-9BB7-981C-783A-509B384EB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61913"/>
            <a:ext cx="4586288" cy="13493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InputChar	PIC X VALUE SPACES.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Vowel     VALUE "A","E","I","O","U".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Consonant VALUE "B" THRU "D", "F","G","H"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"J" THRU "N", "P" THRU "T"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"V"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Digit     VALUE "0" THRU "9".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LowerCase VALUE "a"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ValidChar VALUE "A" THRU "Z","0" THRU "9".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320F6AC-ECA8-F391-9548-510569588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1711325"/>
            <a:ext cx="3763963" cy="141922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3 TIMES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ACCEPT InputChar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EVALUATE TRUE   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Vowel     DISPLAY "Vowel."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Consonant DISPLAY "Consonant".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WHEN Digit     DISPLAY "Digit."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LowerCase DISPLAY "lower".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END-EVALUATE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772C603B-1249-3361-9190-09BC3121B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1919288"/>
            <a:ext cx="1112837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3927706B-081B-6B51-F330-D45BAD520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0" y="2292350"/>
            <a:ext cx="1920875" cy="96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Vowel        FALSE</a:t>
            </a:r>
            <a:endParaRPr lang="en-US" altLang="en-US" sz="14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Consonant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Digit        TRUE</a:t>
            </a:r>
            <a:endParaRPr lang="en-US" altLang="en-US" sz="14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LowerCase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ValidChar    TRUE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F7649E0E-E0B2-6162-27E5-E46C21438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44650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InputChar</a:t>
            </a:r>
          </a:p>
        </p:txBody>
      </p:sp>
      <p:sp>
        <p:nvSpPr>
          <p:cNvPr id="13319" name="AutoShape 7">
            <a:extLst>
              <a:ext uri="{FF2B5EF4-FFF2-40B4-BE49-F238E27FC236}">
                <a16:creationId xmlns:a16="http://schemas.microsoft.com/office/drawing/2014/main" id="{C3A103F1-FA88-D737-9F3C-D7DA245CC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2482850"/>
            <a:ext cx="206375" cy="130175"/>
          </a:xfrm>
          <a:prstGeom prst="rightArrow">
            <a:avLst>
              <a:gd name="adj1" fmla="val 50000"/>
              <a:gd name="adj2" fmla="val 79276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753F974-188D-A1CF-7DF0-9425CACA8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61913"/>
            <a:ext cx="4586288" cy="13493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InputChar	PIC X VALUE SPACES.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Vowel     VALUE "A","E","I","O","U".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Consonant VALUE "B" THRU "D", "F","G","H"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"J" THRU "N", "P" THRU "T"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"V"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Digit     VALUE "0" THRU "9".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LowerCase VALUE "a"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ValidChar VALUE "A" THRU "Z","0" THRU "9".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10AD48E-4754-F2AB-E590-44891380E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1711325"/>
            <a:ext cx="3763963" cy="141922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3 TIMES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ACCEPT InputChar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EVALUATE TRUE   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Vowel     DISPLAY "Vowel."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Consonant DISPLAY "Consonant".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Digit     DISPLAY "Digit."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LowerCase DISPLAY "lower".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END-EVALUATE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006DAB5C-0798-4886-4882-80C98769B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1919288"/>
            <a:ext cx="1112837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C9B11100-74CB-D235-8019-14A8F1601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0" y="2292350"/>
            <a:ext cx="1920875" cy="96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Vowel        FALSE</a:t>
            </a:r>
            <a:endParaRPr lang="en-US" altLang="en-US" sz="14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Consonant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Digit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LowerCase    TRUE</a:t>
            </a:r>
            <a:endParaRPr lang="en-US" altLang="en-US" sz="14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ValidChar    FALSE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C322216B-BBE0-3ED6-BFBB-BEA3CD569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44650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InputChar</a:t>
            </a:r>
          </a:p>
        </p:txBody>
      </p:sp>
      <p:sp>
        <p:nvSpPr>
          <p:cNvPr id="14343" name="AutoShape 7">
            <a:extLst>
              <a:ext uri="{FF2B5EF4-FFF2-40B4-BE49-F238E27FC236}">
                <a16:creationId xmlns:a16="http://schemas.microsoft.com/office/drawing/2014/main" id="{9E6B5880-45CE-01C1-227C-6E8334DEF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1911350"/>
            <a:ext cx="206375" cy="130175"/>
          </a:xfrm>
          <a:prstGeom prst="rightArrow">
            <a:avLst>
              <a:gd name="adj1" fmla="val 50000"/>
              <a:gd name="adj2" fmla="val 79276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44E3D6B-86E4-C155-5E02-1757BEABF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61913"/>
            <a:ext cx="4586288" cy="134937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>
            <a:spAutoFit/>
          </a:bodyPr>
          <a:lstStyle>
            <a:lvl1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  <a:tab pos="4191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InputChar	PIC X.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Vowel     VALUE "A","E","I","O","U".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Consonant VALUE "B" THRU "D", "F","G","H"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"J" THRU "N", "P" THRU "T"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"V"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Digit     VALUE "0" THRU "9".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LowerCase VALUE "a" THRU "z".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ValidChar VALUE "A" THRU "Z","0" THRU "9".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1182A3F-9BEB-C819-502A-C239E09A0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1711325"/>
            <a:ext cx="3763963" cy="1419225"/>
          </a:xfrm>
          <a:prstGeom prst="rect">
            <a:avLst/>
          </a:prstGeom>
          <a:solidFill>
            <a:srgbClr val="E1FFE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>
            <a:spAutoFit/>
          </a:bodyPr>
          <a:lstStyle>
            <a:lvl1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876300"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763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3 TIMES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sz="1200" b="1">
                <a:latin typeface="Courier New" panose="02070309020205020404" pitchFamily="49" charset="0"/>
              </a:rPr>
              <a:t>ACCEPT InputChar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EVALUATE TRUE   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Vowel     DISPLAY "Vowel."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Consonant DISPLAY "Consonant".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WHEN Digit     DISPLAY "Digit."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WHEN LowerCase DISPLAY "lower".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END-EVALUATE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EDDD5AD1-9CE6-C2B8-122D-480BA79A6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1919288"/>
            <a:ext cx="1112837" cy="341312"/>
          </a:xfrm>
          <a:prstGeom prst="rect">
            <a:avLst/>
          </a:prstGeom>
          <a:solidFill>
            <a:srgbClr val="E1FFE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87400430-96DB-06E7-AAD6-1DF8FB38C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0" y="2292350"/>
            <a:ext cx="1920875" cy="96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Vowel        FALSE</a:t>
            </a:r>
            <a:endParaRPr lang="en-US" altLang="en-US" sz="14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Consonant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Digit        FALSE</a:t>
            </a: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LowerCase    TRUE</a:t>
            </a:r>
            <a:endParaRPr lang="en-US" altLang="en-US" sz="1400" b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ValidChar    FALSE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8418D038-EFED-7E94-111E-FA10002F5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44650"/>
            <a:ext cx="1133475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 anchorCtr="1"/>
          <a:lstStyle/>
          <a:p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InputChar</a:t>
            </a:r>
          </a:p>
        </p:txBody>
      </p:sp>
      <p:sp>
        <p:nvSpPr>
          <p:cNvPr id="15367" name="AutoShape 7">
            <a:extLst>
              <a:ext uri="{FF2B5EF4-FFF2-40B4-BE49-F238E27FC236}">
                <a16:creationId xmlns:a16="http://schemas.microsoft.com/office/drawing/2014/main" id="{98042E12-4F70-0813-CE02-69BDD46E0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2635250"/>
            <a:ext cx="206375" cy="130175"/>
          </a:xfrm>
          <a:prstGeom prst="rightArrow">
            <a:avLst>
              <a:gd name="adj1" fmla="val 50000"/>
              <a:gd name="adj2" fmla="val 79276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174</TotalTime>
  <Words>1866</Words>
  <Application>Microsoft Office PowerPoint</Application>
  <PresentationFormat>Custom</PresentationFormat>
  <Paragraphs>337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4</cp:revision>
  <dcterms:created xsi:type="dcterms:W3CDTF">1995-06-17T23:31:02Z</dcterms:created>
  <dcterms:modified xsi:type="dcterms:W3CDTF">2026-05-13T01:06:44Z</dcterms:modified>
</cp:coreProperties>
</file>