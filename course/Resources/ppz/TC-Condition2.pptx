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4572000" cy="3429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228600" y="110160"/>
            <a:ext cx="4114440" cy="62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228600" y="802080"/>
            <a:ext cx="4114440" cy="1988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0" y="0"/>
            <a:ext cx="4572000" cy="3429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228600" y="136800"/>
            <a:ext cx="4114440" cy="572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228600" y="802080"/>
            <a:ext cx="4114440" cy="1988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"/>
          <p:cNvSpPr txBox="1"/>
          <p:nvPr/>
        </p:nvSpPr>
        <p:spPr>
          <a:xfrm>
            <a:off x="905040" y="746280"/>
            <a:ext cx="2933640" cy="19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Using the SET verb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Click to view.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When viewing , left click (or press the Page Up key) to see the next frame and right click (or press Page Down)  to see the previous frame.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"/>
          <p:cNvSpPr txBox="1"/>
          <p:nvPr/>
        </p:nvSpPr>
        <p:spPr>
          <a:xfrm>
            <a:off x="173160" y="355680"/>
            <a:ext cx="2900520" cy="466560"/>
          </a:xfrm>
          <a:prstGeom prst="rect">
            <a:avLst/>
          </a:prstGeom>
          <a:solidFill>
            <a:srgbClr val="F4F4FF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69696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  <a:tabLst>
                <a:tab pos="685800" algn="l"/>
                <a:tab pos="1371600" algn="l"/>
                <a:tab pos="3314880" algn="l"/>
                <a:tab pos="4114800" algn="l"/>
              </a:tabLs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EOF-Flag    PIC 9 VALUE 0.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685800" algn="l"/>
                <a:tab pos="1371600" algn="l"/>
                <a:tab pos="3314880" algn="l"/>
                <a:tab pos="4114800" algn="l"/>
              </a:tabLs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88 EndOfFile      VALUE 1.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"/>
          <p:cNvSpPr txBox="1"/>
          <p:nvPr/>
        </p:nvSpPr>
        <p:spPr>
          <a:xfrm>
            <a:off x="3238560" y="65160"/>
            <a:ext cx="882720" cy="212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400" b="1" u="none" strike="noStrike">
                <a:solidFill>
                  <a:srgbClr val="3333CC"/>
                </a:solidFill>
                <a:effectLst/>
                <a:uFillTx/>
                <a:latin typeface="Arial"/>
                <a:ea typeface="Arial"/>
              </a:rPr>
              <a:t>EOF-Flag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3382920" y="260280"/>
            <a:ext cx="523800" cy="520560"/>
          </a:xfrm>
          <a:prstGeom prst="rect">
            <a:avLst/>
          </a:prstGeom>
          <a:solidFill>
            <a:srgbClr val="F4F4FF"/>
          </a:solidFill>
          <a:ln w="2556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3300480" y="804960"/>
            <a:ext cx="1062000" cy="303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90000"/>
              </a:lnSpc>
            </a:pPr>
            <a:r>
              <a:rPr lang="en-US" sz="14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EndOfFile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147600" y="1379520"/>
            <a:ext cx="2990880" cy="1622520"/>
          </a:xfrm>
          <a:prstGeom prst="rect">
            <a:avLst/>
          </a:prstGeom>
          <a:solidFill>
            <a:srgbClr val="F4F4FF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69696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  <a:tabLst>
                <a:tab pos="685800" algn="l"/>
                <a:tab pos="1371600" algn="l"/>
              </a:tabLs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READ InFile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685800" algn="l"/>
                <a:tab pos="1371600" algn="l"/>
              </a:tabLs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AT END MOVE 1 TO EOF-Flag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685800" algn="l"/>
                <a:tab pos="1371600" algn="l"/>
              </a:tabLs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END-READ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685800" algn="l"/>
                <a:tab pos="1371600" algn="l"/>
              </a:tabLs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PERFORM UNTIL EndOfFile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685800" algn="l"/>
                <a:tab pos="1371600" algn="l"/>
              </a:tabLs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</a:t>
            </a:r>
            <a:r>
              <a:rPr lang="en-US" sz="1200" b="1" u="none" strike="noStrike">
                <a:solidFill>
                  <a:srgbClr val="00CC00"/>
                </a:solidFill>
                <a:effectLst/>
                <a:uFillTx/>
                <a:latin typeface="Courier New"/>
                <a:ea typeface="Courier New"/>
              </a:rPr>
              <a:t>Statements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685800" algn="l"/>
                <a:tab pos="1371600" algn="l"/>
              </a:tabLs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READ InFile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685800" algn="l"/>
                <a:tab pos="1371600" algn="l"/>
              </a:tabLs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AT END MOVE 1 TO EOF-Flag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685800" algn="l"/>
                <a:tab pos="1371600" algn="l"/>
              </a:tabLs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END-READ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685800" algn="l"/>
                <a:tab pos="1371600" algn="l"/>
              </a:tabLs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END-PERFORM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"/>
          <p:cNvSpPr txBox="1"/>
          <p:nvPr/>
        </p:nvSpPr>
        <p:spPr>
          <a:xfrm>
            <a:off x="3287880" y="1176480"/>
            <a:ext cx="1189080" cy="2095560"/>
          </a:xfrm>
          <a:prstGeom prst="rect">
            <a:avLst/>
          </a:prstGeom>
          <a:solidFill>
            <a:srgbClr val="FFFFC9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Using the SET verb to set a Condition Name is a new addition to COBOL.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Before the SET, programmers had to used the arrangement shown in this example.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"/>
          <p:cNvSpPr txBox="1"/>
          <p:nvPr/>
        </p:nvSpPr>
        <p:spPr>
          <a:xfrm>
            <a:off x="3286080" y="1147680"/>
            <a:ext cx="1212840" cy="1889280"/>
          </a:xfrm>
          <a:prstGeom prst="rect">
            <a:avLst/>
          </a:prstGeom>
          <a:solidFill>
            <a:srgbClr val="FFFFC9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The idea here is that, when the READ detects the end of file, the value 1 is moved to the data-item EOF-Flag which sets the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Condition Name EndOfFile to true.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"/>
          <p:cNvSpPr txBox="1"/>
          <p:nvPr/>
        </p:nvSpPr>
        <p:spPr>
          <a:xfrm>
            <a:off x="3317760" y="1125360"/>
            <a:ext cx="1177920" cy="2095560"/>
          </a:xfrm>
          <a:prstGeom prst="rect">
            <a:avLst/>
          </a:prstGeom>
          <a:solidFill>
            <a:srgbClr val="FFFFC9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The only problem with this arrangement is readability. 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It’s not obvious what effect moving 1 to EOF-Flag will have without looking up its definition.  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"/>
          <p:cNvSpPr/>
          <p:nvPr/>
        </p:nvSpPr>
        <p:spPr>
          <a:xfrm>
            <a:off x="28440" y="2124000"/>
            <a:ext cx="248040" cy="114840"/>
          </a:xfrm>
          <a:custGeom>
            <a:avLst/>
            <a:gdLst/>
            <a:ahLst/>
            <a:rect l="0" t="0" r="r" b="b"/>
            <a:pathLst>
              <a:path w="689" h="319">
                <a:moveTo>
                  <a:pt x="0" y="106"/>
                </a:moveTo>
                <a:lnTo>
                  <a:pt x="0" y="212"/>
                </a:lnTo>
                <a:lnTo>
                  <a:pt x="482" y="212"/>
                </a:lnTo>
                <a:lnTo>
                  <a:pt x="482" y="319"/>
                </a:lnTo>
                <a:lnTo>
                  <a:pt x="689" y="159"/>
                </a:lnTo>
                <a:lnTo>
                  <a:pt x="482" y="0"/>
                </a:lnTo>
                <a:lnTo>
                  <a:pt x="482" y="106"/>
                </a:lnTo>
                <a:lnTo>
                  <a:pt x="0" y="106"/>
                </a:lnTo>
                <a:close/>
              </a:path>
            </a:pathLst>
          </a:custGeom>
          <a:solidFill>
            <a:srgbClr val="CC0000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"/>
          <p:cNvSpPr txBox="1"/>
          <p:nvPr/>
        </p:nvSpPr>
        <p:spPr>
          <a:xfrm>
            <a:off x="173160" y="355680"/>
            <a:ext cx="2900520" cy="466560"/>
          </a:xfrm>
          <a:prstGeom prst="rect">
            <a:avLst/>
          </a:prstGeom>
          <a:solidFill>
            <a:srgbClr val="F4F4FF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69696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  <a:tabLst>
                <a:tab pos="685800" algn="l"/>
                <a:tab pos="1371600" algn="l"/>
                <a:tab pos="3314880" algn="l"/>
                <a:tab pos="4114800" algn="l"/>
              </a:tabLs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EOF-Flag    PIC 9 VALUE 0.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685800" algn="l"/>
                <a:tab pos="1371600" algn="l"/>
                <a:tab pos="3314880" algn="l"/>
                <a:tab pos="4114800" algn="l"/>
              </a:tabLs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88 EndOfFile      VALUE 1.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3238560" y="65160"/>
            <a:ext cx="882720" cy="212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400" b="1" u="none" strike="noStrike">
                <a:solidFill>
                  <a:srgbClr val="3333CC"/>
                </a:solidFill>
                <a:effectLst/>
                <a:uFillTx/>
                <a:latin typeface="Arial"/>
                <a:ea typeface="Arial"/>
              </a:rPr>
              <a:t>EOF-Flag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"/>
          <p:cNvSpPr txBox="1"/>
          <p:nvPr/>
        </p:nvSpPr>
        <p:spPr>
          <a:xfrm>
            <a:off x="3382920" y="260280"/>
            <a:ext cx="523800" cy="520560"/>
          </a:xfrm>
          <a:prstGeom prst="rect">
            <a:avLst/>
          </a:prstGeom>
          <a:solidFill>
            <a:srgbClr val="F4F4FF"/>
          </a:solidFill>
          <a:ln w="2556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00CC00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"/>
          <p:cNvSpPr txBox="1"/>
          <p:nvPr/>
        </p:nvSpPr>
        <p:spPr>
          <a:xfrm>
            <a:off x="3300480" y="804960"/>
            <a:ext cx="1062000" cy="303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90000"/>
              </a:lnSpc>
            </a:pPr>
            <a:r>
              <a:rPr lang="en-US" sz="1400" b="1" u="none" strike="noStrike">
                <a:solidFill>
                  <a:srgbClr val="00CC00"/>
                </a:solidFill>
                <a:effectLst/>
                <a:uFillTx/>
                <a:latin typeface="Arial"/>
                <a:ea typeface="Arial"/>
              </a:rPr>
              <a:t>EndOfFile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"/>
          <p:cNvSpPr txBox="1"/>
          <p:nvPr/>
        </p:nvSpPr>
        <p:spPr>
          <a:xfrm>
            <a:off x="147600" y="1360440"/>
            <a:ext cx="2990880" cy="1622520"/>
          </a:xfrm>
          <a:prstGeom prst="rect">
            <a:avLst/>
          </a:prstGeom>
          <a:solidFill>
            <a:srgbClr val="F4F4FF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69696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  <a:tabLst>
                <a:tab pos="685800" algn="l"/>
                <a:tab pos="1371600" algn="l"/>
              </a:tabLs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READ InFile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685800" algn="l"/>
                <a:tab pos="1371600" algn="l"/>
              </a:tabLs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AT END MOVE 1 TO EOF-Flag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685800" algn="l"/>
                <a:tab pos="1371600" algn="l"/>
              </a:tabLs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END-READ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685800" algn="l"/>
                <a:tab pos="1371600" algn="l"/>
              </a:tabLs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PERFORM UNTIL EndOfFile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685800" algn="l"/>
                <a:tab pos="1371600" algn="l"/>
              </a:tabLs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Statements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685800" algn="l"/>
                <a:tab pos="1371600" algn="l"/>
              </a:tabLs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READ InFile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685800" algn="l"/>
                <a:tab pos="1371600" algn="l"/>
              </a:tabLs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200" b="1" u="none" strike="noStrike">
                <a:solidFill>
                  <a:srgbClr val="00CC00"/>
                </a:solidFill>
                <a:effectLst/>
                <a:uFillTx/>
                <a:latin typeface="Courier New"/>
                <a:ea typeface="Courier New"/>
              </a:rPr>
              <a:t>AT END MOVE 1 TO EOF-Flag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685800" algn="l"/>
                <a:tab pos="1371600" algn="l"/>
              </a:tabLs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END-READ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685800" algn="l"/>
                <a:tab pos="1371600" algn="l"/>
              </a:tabLs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END-PERFORM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"/>
          <p:cNvSpPr/>
          <p:nvPr/>
        </p:nvSpPr>
        <p:spPr>
          <a:xfrm>
            <a:off x="28440" y="2448000"/>
            <a:ext cx="248040" cy="114840"/>
          </a:xfrm>
          <a:custGeom>
            <a:avLst/>
            <a:gdLst/>
            <a:ahLst/>
            <a:rect l="0" t="0" r="r" b="b"/>
            <a:pathLst>
              <a:path w="689" h="319">
                <a:moveTo>
                  <a:pt x="0" y="106"/>
                </a:moveTo>
                <a:lnTo>
                  <a:pt x="0" y="212"/>
                </a:lnTo>
                <a:lnTo>
                  <a:pt x="482" y="212"/>
                </a:lnTo>
                <a:lnTo>
                  <a:pt x="482" y="319"/>
                </a:lnTo>
                <a:lnTo>
                  <a:pt x="689" y="159"/>
                </a:lnTo>
                <a:lnTo>
                  <a:pt x="482" y="0"/>
                </a:lnTo>
                <a:lnTo>
                  <a:pt x="482" y="106"/>
                </a:lnTo>
                <a:lnTo>
                  <a:pt x="0" y="106"/>
                </a:lnTo>
                <a:close/>
              </a:path>
            </a:pathLst>
          </a:custGeom>
          <a:solidFill>
            <a:srgbClr val="CC0000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"/>
          <p:cNvSpPr txBox="1"/>
          <p:nvPr/>
        </p:nvSpPr>
        <p:spPr>
          <a:xfrm>
            <a:off x="173160" y="272880"/>
            <a:ext cx="2716200" cy="631800"/>
          </a:xfrm>
          <a:prstGeom prst="rect">
            <a:avLst/>
          </a:prstGeom>
          <a:solidFill>
            <a:srgbClr val="ECFFEC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69696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  <a:tabLst>
                <a:tab pos="685800" algn="l"/>
                <a:tab pos="1371600" algn="l"/>
                <a:tab pos="3314880" algn="l"/>
                <a:tab pos="4114800" algn="l"/>
              </a:tabLs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FILLER    PIC 9 VALUE 0.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685800" algn="l"/>
                <a:tab pos="1371600" algn="l"/>
                <a:tab pos="3314880" algn="l"/>
                <a:tab pos="4114800" algn="l"/>
              </a:tabLs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88 EndOfFile    VALUE 1.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685800" algn="l"/>
                <a:tab pos="1371600" algn="l"/>
                <a:tab pos="3314880" algn="l"/>
                <a:tab pos="4114800" algn="l"/>
              </a:tabLs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88 NotEndOfFile VALUE 0.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"/>
          <p:cNvSpPr txBox="1"/>
          <p:nvPr/>
        </p:nvSpPr>
        <p:spPr>
          <a:xfrm>
            <a:off x="3209760" y="84240"/>
            <a:ext cx="714240" cy="212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400" b="1" u="none" strike="noStrike">
                <a:solidFill>
                  <a:srgbClr val="3333CC"/>
                </a:solidFill>
                <a:effectLst/>
                <a:uFillTx/>
                <a:latin typeface="Arial"/>
                <a:ea typeface="Arial"/>
              </a:rPr>
              <a:t>FILLER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"/>
          <p:cNvSpPr txBox="1"/>
          <p:nvPr/>
        </p:nvSpPr>
        <p:spPr>
          <a:xfrm>
            <a:off x="3268800" y="279360"/>
            <a:ext cx="523800" cy="520560"/>
          </a:xfrm>
          <a:prstGeom prst="rect">
            <a:avLst/>
          </a:prstGeom>
          <a:solidFill>
            <a:srgbClr val="ECFFEC"/>
          </a:solidFill>
          <a:ln w="2556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00CC00"/>
                </a:solidFill>
                <a:effectLst/>
                <a:uFillTx/>
                <a:latin typeface="Arial"/>
                <a:ea typeface="Arial"/>
              </a:rPr>
              <a:t>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"/>
          <p:cNvSpPr txBox="1"/>
          <p:nvPr/>
        </p:nvSpPr>
        <p:spPr>
          <a:xfrm>
            <a:off x="3186000" y="824040"/>
            <a:ext cx="1062000" cy="303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90000"/>
              </a:lnSpc>
            </a:pPr>
            <a:r>
              <a:rPr lang="en-US" sz="14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EndOfFile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"/>
          <p:cNvSpPr txBox="1"/>
          <p:nvPr/>
        </p:nvSpPr>
        <p:spPr>
          <a:xfrm>
            <a:off x="147600" y="1455840"/>
            <a:ext cx="3265560" cy="1787400"/>
          </a:xfrm>
          <a:prstGeom prst="rect">
            <a:avLst/>
          </a:prstGeom>
          <a:solidFill>
            <a:srgbClr val="ECFFEC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69696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  <a:tabLst>
                <a:tab pos="685800" algn="l"/>
                <a:tab pos="1371600" algn="l"/>
              </a:tabLs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READ InFile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685800" algn="l"/>
                <a:tab pos="1371600" algn="l"/>
              </a:tabLs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AT END SET EndOfFile TO TRUE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685800" algn="l"/>
                <a:tab pos="1371600" algn="l"/>
              </a:tabLs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END-READ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685800" algn="l"/>
                <a:tab pos="1371600" algn="l"/>
              </a:tabLs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PERFORM UNTIL EndOfFile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685800" algn="l"/>
                <a:tab pos="1371600" algn="l"/>
              </a:tabLs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</a:t>
            </a:r>
            <a:r>
              <a:rPr lang="en-US" sz="1200" b="1" u="none" strike="noStrike">
                <a:solidFill>
                  <a:srgbClr val="00CC00"/>
                </a:solidFill>
                <a:effectLst/>
                <a:uFillTx/>
                <a:latin typeface="Courier New"/>
                <a:ea typeface="Courier New"/>
              </a:rPr>
              <a:t>Statements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685800" algn="l"/>
                <a:tab pos="1371600" algn="l"/>
              </a:tabLs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READ InFile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685800" algn="l"/>
                <a:tab pos="1371600" algn="l"/>
              </a:tabLs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AT END SET EndOfFile TO TRUE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685800" algn="l"/>
                <a:tab pos="1371600" algn="l"/>
              </a:tabLs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END-READ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685800" algn="l"/>
                <a:tab pos="1371600" algn="l"/>
              </a:tabLs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END-PERFORM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685800" algn="l"/>
                <a:tab pos="1371600" algn="l"/>
              </a:tabLs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SET NotEndOfFile TO TRUE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"/>
          <p:cNvSpPr txBox="1"/>
          <p:nvPr/>
        </p:nvSpPr>
        <p:spPr>
          <a:xfrm>
            <a:off x="3193920" y="1033560"/>
            <a:ext cx="1357200" cy="303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90000"/>
              </a:lnSpc>
            </a:pPr>
            <a:r>
              <a:rPr lang="en-US" sz="1400" b="1" u="none" strike="noStrike">
                <a:solidFill>
                  <a:srgbClr val="00CC00"/>
                </a:solidFill>
                <a:effectLst/>
                <a:uFillTx/>
                <a:latin typeface="Arial"/>
                <a:ea typeface="Arial"/>
              </a:rPr>
              <a:t>NotEndOfFile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"/>
          <p:cNvSpPr txBox="1"/>
          <p:nvPr/>
        </p:nvSpPr>
        <p:spPr>
          <a:xfrm>
            <a:off x="3316320" y="1425600"/>
            <a:ext cx="1236600" cy="1682640"/>
          </a:xfrm>
          <a:prstGeom prst="rect">
            <a:avLst/>
          </a:prstGeom>
          <a:solidFill>
            <a:srgbClr val="FFFFC9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Using the SET verb makes the program more readable.  Now we can see what’s happening without having to look up the definition of the Condition Name.  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"/>
          <p:cNvSpPr txBox="1"/>
          <p:nvPr/>
        </p:nvSpPr>
        <p:spPr>
          <a:xfrm>
            <a:off x="3308400" y="1432080"/>
            <a:ext cx="1243080" cy="1476360"/>
          </a:xfrm>
          <a:prstGeom prst="rect">
            <a:avLst/>
          </a:prstGeom>
          <a:solidFill>
            <a:srgbClr val="FFFFC9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Note that since we no longer need to explicitly refer to the data-item associated with the Condition Names we can use the name FILLER.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"/>
          <p:cNvSpPr txBox="1"/>
          <p:nvPr/>
        </p:nvSpPr>
        <p:spPr>
          <a:xfrm>
            <a:off x="3017880" y="1400040"/>
            <a:ext cx="1533600" cy="1682640"/>
          </a:xfrm>
          <a:prstGeom prst="rect">
            <a:avLst/>
          </a:prstGeom>
          <a:solidFill>
            <a:srgbClr val="FFFFC9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When we need to reserve an area of storage but don’t need to refer to it by name we can give it the dummy name - FILLER.  This saves us the bother of having to make up a dummy name.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"/>
          <p:cNvSpPr/>
          <p:nvPr/>
        </p:nvSpPr>
        <p:spPr>
          <a:xfrm>
            <a:off x="28440" y="2200320"/>
            <a:ext cx="248040" cy="114840"/>
          </a:xfrm>
          <a:custGeom>
            <a:avLst/>
            <a:gdLst/>
            <a:ahLst/>
            <a:rect l="0" t="0" r="r" b="b"/>
            <a:pathLst>
              <a:path w="689" h="319">
                <a:moveTo>
                  <a:pt x="0" y="106"/>
                </a:moveTo>
                <a:lnTo>
                  <a:pt x="0" y="212"/>
                </a:lnTo>
                <a:lnTo>
                  <a:pt x="482" y="212"/>
                </a:lnTo>
                <a:lnTo>
                  <a:pt x="482" y="319"/>
                </a:lnTo>
                <a:lnTo>
                  <a:pt x="689" y="159"/>
                </a:lnTo>
                <a:lnTo>
                  <a:pt x="482" y="0"/>
                </a:lnTo>
                <a:lnTo>
                  <a:pt x="482" y="106"/>
                </a:lnTo>
                <a:lnTo>
                  <a:pt x="0" y="106"/>
                </a:lnTo>
                <a:close/>
              </a:path>
            </a:pathLst>
          </a:custGeom>
          <a:solidFill>
            <a:srgbClr val="CC0000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"/>
          <p:cNvSpPr txBox="1"/>
          <p:nvPr/>
        </p:nvSpPr>
        <p:spPr>
          <a:xfrm>
            <a:off x="173160" y="272880"/>
            <a:ext cx="2716200" cy="631800"/>
          </a:xfrm>
          <a:prstGeom prst="rect">
            <a:avLst/>
          </a:prstGeom>
          <a:solidFill>
            <a:srgbClr val="ECFFEC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69696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  <a:tabLst>
                <a:tab pos="685800" algn="l"/>
                <a:tab pos="1371600" algn="l"/>
                <a:tab pos="3314880" algn="l"/>
                <a:tab pos="4114800" algn="l"/>
              </a:tabLs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FILLER    PIC 9 VALUE 0.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685800" algn="l"/>
                <a:tab pos="1371600" algn="l"/>
                <a:tab pos="3314880" algn="l"/>
                <a:tab pos="4114800" algn="l"/>
              </a:tabLs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88 EndOfFile    VALUE 1.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685800" algn="l"/>
                <a:tab pos="1371600" algn="l"/>
                <a:tab pos="3314880" algn="l"/>
                <a:tab pos="4114800" algn="l"/>
              </a:tabLs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88 NotEndOfFile VALUE 0.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"/>
          <p:cNvSpPr txBox="1"/>
          <p:nvPr/>
        </p:nvSpPr>
        <p:spPr>
          <a:xfrm>
            <a:off x="3209760" y="84240"/>
            <a:ext cx="714240" cy="212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400" b="1" u="none" strike="noStrike">
                <a:solidFill>
                  <a:srgbClr val="3333CC"/>
                </a:solidFill>
                <a:effectLst/>
                <a:uFillTx/>
                <a:latin typeface="Arial"/>
                <a:ea typeface="Arial"/>
              </a:rPr>
              <a:t>FILLER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"/>
          <p:cNvSpPr txBox="1"/>
          <p:nvPr/>
        </p:nvSpPr>
        <p:spPr>
          <a:xfrm>
            <a:off x="3268800" y="279360"/>
            <a:ext cx="523800" cy="520560"/>
          </a:xfrm>
          <a:prstGeom prst="rect">
            <a:avLst/>
          </a:prstGeom>
          <a:solidFill>
            <a:srgbClr val="ECFFEC"/>
          </a:solidFill>
          <a:ln w="2556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00CC00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"/>
          <p:cNvSpPr txBox="1"/>
          <p:nvPr/>
        </p:nvSpPr>
        <p:spPr>
          <a:xfrm>
            <a:off x="3186000" y="824040"/>
            <a:ext cx="1062000" cy="303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90000"/>
              </a:lnSpc>
            </a:pPr>
            <a:r>
              <a:rPr lang="en-US" sz="1400" b="1" u="none" strike="noStrike">
                <a:solidFill>
                  <a:srgbClr val="00CC00"/>
                </a:solidFill>
                <a:effectLst/>
                <a:uFillTx/>
                <a:latin typeface="Arial"/>
                <a:ea typeface="Arial"/>
              </a:rPr>
              <a:t>EndOfFile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"/>
          <p:cNvSpPr txBox="1"/>
          <p:nvPr/>
        </p:nvSpPr>
        <p:spPr>
          <a:xfrm>
            <a:off x="147600" y="1455840"/>
            <a:ext cx="3265560" cy="1787400"/>
          </a:xfrm>
          <a:prstGeom prst="rect">
            <a:avLst/>
          </a:prstGeom>
          <a:solidFill>
            <a:srgbClr val="ECFFEC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69696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  <a:tabLst>
                <a:tab pos="685800" algn="l"/>
                <a:tab pos="1371600" algn="l"/>
              </a:tabLs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READ InFile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685800" algn="l"/>
                <a:tab pos="1371600" algn="l"/>
              </a:tabLs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AT END SET EndOfFile TO TRUE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685800" algn="l"/>
                <a:tab pos="1371600" algn="l"/>
              </a:tabLs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END-READ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685800" algn="l"/>
                <a:tab pos="1371600" algn="l"/>
              </a:tabLs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PERFORM UNTIL EndOfFile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685800" algn="l"/>
                <a:tab pos="1371600" algn="l"/>
              </a:tabLs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Statements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685800" algn="l"/>
                <a:tab pos="1371600" algn="l"/>
              </a:tabLs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READ InFile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685800" algn="l"/>
                <a:tab pos="1371600" algn="l"/>
              </a:tabLs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200" b="1" u="none" strike="noStrike">
                <a:solidFill>
                  <a:srgbClr val="00CC00"/>
                </a:solidFill>
                <a:effectLst/>
                <a:uFillTx/>
                <a:latin typeface="Courier New"/>
                <a:ea typeface="Courier New"/>
              </a:rPr>
              <a:t>AT END SET EndOfFile TO TRUE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685800" algn="l"/>
                <a:tab pos="1371600" algn="l"/>
              </a:tabLs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END-READ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685800" algn="l"/>
                <a:tab pos="1371600" algn="l"/>
              </a:tabLs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END-PERFORM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685800" algn="l"/>
                <a:tab pos="1371600" algn="l"/>
              </a:tabLs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SET NotEndOfFile TO TRUE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"/>
          <p:cNvSpPr txBox="1"/>
          <p:nvPr/>
        </p:nvSpPr>
        <p:spPr>
          <a:xfrm>
            <a:off x="3193920" y="1033560"/>
            <a:ext cx="1357200" cy="303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90000"/>
              </a:lnSpc>
            </a:pPr>
            <a:r>
              <a:rPr lang="en-US" sz="14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NotEndOfFile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"/>
          <p:cNvSpPr/>
          <p:nvPr/>
        </p:nvSpPr>
        <p:spPr>
          <a:xfrm>
            <a:off x="2675880" y="619200"/>
            <a:ext cx="831960" cy="171360"/>
          </a:xfrm>
          <a:custGeom>
            <a:avLst/>
            <a:gdLst/>
            <a:ahLst/>
            <a:rect l="0" t="0" r="r" b="b"/>
            <a:pathLst>
              <a:path fill="none" w="2311" h="476">
                <a:moveTo>
                  <a:pt x="0" y="47"/>
                </a:moveTo>
                <a:lnTo>
                  <a:pt x="0" y="47"/>
                </a:lnTo>
                <a:cubicBezTo>
                  <a:pt x="21" y="76"/>
                  <a:pt x="46" y="104"/>
                  <a:pt x="74" y="132"/>
                </a:cubicBezTo>
                <a:cubicBezTo>
                  <a:pt x="182" y="236"/>
                  <a:pt x="337" y="323"/>
                  <a:pt x="525" y="384"/>
                </a:cubicBezTo>
                <a:cubicBezTo>
                  <a:pt x="712" y="444"/>
                  <a:pt x="924" y="476"/>
                  <a:pt x="1140" y="476"/>
                </a:cubicBezTo>
                <a:cubicBezTo>
                  <a:pt x="1356" y="476"/>
                  <a:pt x="1568" y="444"/>
                  <a:pt x="1756" y="384"/>
                </a:cubicBezTo>
                <a:cubicBezTo>
                  <a:pt x="1943" y="323"/>
                  <a:pt x="2098" y="236"/>
                  <a:pt x="2206" y="132"/>
                </a:cubicBezTo>
                <a:cubicBezTo>
                  <a:pt x="2249" y="90"/>
                  <a:pt x="2284" y="46"/>
                  <a:pt x="2311" y="0"/>
                </a:cubicBezTo>
              </a:path>
            </a:pathLst>
          </a:custGeom>
          <a:ln w="12600">
            <a:solidFill>
              <a:srgbClr val="000000"/>
            </a:solidFill>
            <a:round/>
            <a:tailEnd len="med" type="triangle" w="med"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"/>
          <p:cNvSpPr txBox="1"/>
          <p:nvPr/>
        </p:nvSpPr>
        <p:spPr>
          <a:xfrm>
            <a:off x="3335400" y="1432080"/>
            <a:ext cx="1158840" cy="1060560"/>
          </a:xfrm>
          <a:prstGeom prst="rect">
            <a:avLst/>
          </a:prstGeom>
          <a:solidFill>
            <a:srgbClr val="FFFFC9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Setting EndOfFile to TRUE forces the condition value into the associated data-item.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"/>
          <p:cNvSpPr/>
          <p:nvPr/>
        </p:nvSpPr>
        <p:spPr>
          <a:xfrm>
            <a:off x="28440" y="2543040"/>
            <a:ext cx="248040" cy="114840"/>
          </a:xfrm>
          <a:custGeom>
            <a:avLst/>
            <a:gdLst/>
            <a:ahLst/>
            <a:rect l="0" t="0" r="r" b="b"/>
            <a:pathLst>
              <a:path w="689" h="319">
                <a:moveTo>
                  <a:pt x="0" y="106"/>
                </a:moveTo>
                <a:lnTo>
                  <a:pt x="0" y="212"/>
                </a:lnTo>
                <a:lnTo>
                  <a:pt x="482" y="212"/>
                </a:lnTo>
                <a:lnTo>
                  <a:pt x="482" y="319"/>
                </a:lnTo>
                <a:lnTo>
                  <a:pt x="689" y="159"/>
                </a:lnTo>
                <a:lnTo>
                  <a:pt x="482" y="0"/>
                </a:lnTo>
                <a:lnTo>
                  <a:pt x="482" y="106"/>
                </a:lnTo>
                <a:lnTo>
                  <a:pt x="0" y="106"/>
                </a:lnTo>
                <a:close/>
              </a:path>
            </a:pathLst>
          </a:custGeom>
          <a:solidFill>
            <a:srgbClr val="CC0000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"/>
          <p:cNvSpPr txBox="1"/>
          <p:nvPr/>
        </p:nvSpPr>
        <p:spPr>
          <a:xfrm>
            <a:off x="173160" y="272880"/>
            <a:ext cx="2716200" cy="631800"/>
          </a:xfrm>
          <a:prstGeom prst="rect">
            <a:avLst/>
          </a:prstGeom>
          <a:solidFill>
            <a:srgbClr val="ECFFEC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69696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  <a:tabLst>
                <a:tab pos="685800" algn="l"/>
                <a:tab pos="1371600" algn="l"/>
                <a:tab pos="3314880" algn="l"/>
                <a:tab pos="4114800" algn="l"/>
              </a:tabLs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FILLER    PIC 9 VALUE 0.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685800" algn="l"/>
                <a:tab pos="1371600" algn="l"/>
                <a:tab pos="3314880" algn="l"/>
                <a:tab pos="4114800" algn="l"/>
              </a:tabLs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88 EndOfFile    VALUE 1.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685800" algn="l"/>
                <a:tab pos="1371600" algn="l"/>
                <a:tab pos="3314880" algn="l"/>
                <a:tab pos="4114800" algn="l"/>
              </a:tabLs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88 NotEndOfFile VALUE 0.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3209760" y="84240"/>
            <a:ext cx="714240" cy="212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400" b="1" u="none" strike="noStrike">
                <a:solidFill>
                  <a:srgbClr val="3333CC"/>
                </a:solidFill>
                <a:effectLst/>
                <a:uFillTx/>
                <a:latin typeface="Arial"/>
                <a:ea typeface="Arial"/>
              </a:rPr>
              <a:t>FILLER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"/>
          <p:cNvSpPr txBox="1"/>
          <p:nvPr/>
        </p:nvSpPr>
        <p:spPr>
          <a:xfrm>
            <a:off x="3268800" y="279360"/>
            <a:ext cx="523800" cy="520560"/>
          </a:xfrm>
          <a:prstGeom prst="rect">
            <a:avLst/>
          </a:prstGeom>
          <a:solidFill>
            <a:srgbClr val="ECFFEC"/>
          </a:solidFill>
          <a:ln w="2556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00CC00"/>
                </a:solidFill>
                <a:effectLst/>
                <a:uFillTx/>
                <a:latin typeface="Arial"/>
                <a:ea typeface="Arial"/>
              </a:rPr>
              <a:t>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3186000" y="824040"/>
            <a:ext cx="1062000" cy="303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90000"/>
              </a:lnSpc>
            </a:pPr>
            <a:r>
              <a:rPr lang="en-US" sz="14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EndOfFile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"/>
          <p:cNvSpPr txBox="1"/>
          <p:nvPr/>
        </p:nvSpPr>
        <p:spPr>
          <a:xfrm>
            <a:off x="147600" y="1455840"/>
            <a:ext cx="3265560" cy="1787400"/>
          </a:xfrm>
          <a:prstGeom prst="rect">
            <a:avLst/>
          </a:prstGeom>
          <a:solidFill>
            <a:srgbClr val="ECFFEC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69696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  <a:tabLst>
                <a:tab pos="685800" algn="l"/>
                <a:tab pos="1371600" algn="l"/>
              </a:tabLs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READ InFile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685800" algn="l"/>
                <a:tab pos="1371600" algn="l"/>
              </a:tabLs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AT END SET EndOfFile TO TRUE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685800" algn="l"/>
                <a:tab pos="1371600" algn="l"/>
              </a:tabLs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END-READ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685800" algn="l"/>
                <a:tab pos="1371600" algn="l"/>
              </a:tabLs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PERFORM UNTIL EndOfFile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685800" algn="l"/>
                <a:tab pos="1371600" algn="l"/>
              </a:tabLs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Statements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685800" algn="l"/>
                <a:tab pos="1371600" algn="l"/>
              </a:tabLs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READ InFile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685800" algn="l"/>
                <a:tab pos="1371600" algn="l"/>
              </a:tabLs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AT END SET EndOfFile TO TRUE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685800" algn="l"/>
                <a:tab pos="1371600" algn="l"/>
              </a:tabLs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END-READ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685800" algn="l"/>
                <a:tab pos="1371600" algn="l"/>
              </a:tabLs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END-PERFORM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685800" algn="l"/>
                <a:tab pos="1371600" algn="l"/>
              </a:tabLst>
            </a:pPr>
            <a:r>
              <a:rPr lang="en-US" sz="1200" b="1" u="none" strike="noStrike">
                <a:solidFill>
                  <a:srgbClr val="00CC00"/>
                </a:solidFill>
                <a:effectLst/>
                <a:uFillTx/>
                <a:latin typeface="Courier New"/>
                <a:ea typeface="Courier New"/>
              </a:rPr>
              <a:t>SET NotEndOfFile TO TRUE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"/>
          <p:cNvSpPr txBox="1"/>
          <p:nvPr/>
        </p:nvSpPr>
        <p:spPr>
          <a:xfrm>
            <a:off x="3193920" y="1033560"/>
            <a:ext cx="1357200" cy="303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90000"/>
              </a:lnSpc>
            </a:pPr>
            <a:r>
              <a:rPr lang="en-US" sz="1400" b="1" u="none" strike="noStrike">
                <a:solidFill>
                  <a:srgbClr val="00CC00"/>
                </a:solidFill>
                <a:effectLst/>
                <a:uFillTx/>
                <a:latin typeface="Arial"/>
                <a:ea typeface="Arial"/>
              </a:rPr>
              <a:t>NotEndOfFile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"/>
          <p:cNvSpPr/>
          <p:nvPr/>
        </p:nvSpPr>
        <p:spPr>
          <a:xfrm>
            <a:off x="2743560" y="603000"/>
            <a:ext cx="748800" cy="168840"/>
          </a:xfrm>
          <a:custGeom>
            <a:avLst/>
            <a:gdLst/>
            <a:ahLst/>
            <a:rect l="0" t="0" r="r" b="b"/>
            <a:pathLst>
              <a:path fill="none" w="2080" h="469">
                <a:moveTo>
                  <a:pt x="0" y="423"/>
                </a:moveTo>
                <a:lnTo>
                  <a:pt x="0" y="423"/>
                </a:lnTo>
                <a:cubicBezTo>
                  <a:pt x="185" y="454"/>
                  <a:pt x="383" y="469"/>
                  <a:pt x="582" y="469"/>
                </a:cubicBezTo>
                <a:cubicBezTo>
                  <a:pt x="855" y="469"/>
                  <a:pt x="1123" y="440"/>
                  <a:pt x="1359" y="384"/>
                </a:cubicBezTo>
                <a:cubicBezTo>
                  <a:pt x="1595" y="328"/>
                  <a:pt x="1791" y="247"/>
                  <a:pt x="1927" y="150"/>
                </a:cubicBezTo>
                <a:cubicBezTo>
                  <a:pt x="1994" y="103"/>
                  <a:pt x="2045" y="53"/>
                  <a:pt x="2080" y="0"/>
                </a:cubicBezTo>
              </a:path>
            </a:pathLst>
          </a:custGeom>
          <a:ln w="12600">
            <a:solidFill>
              <a:srgbClr val="000000"/>
            </a:solidFill>
            <a:round/>
            <a:tailEnd len="med" type="triangle" w="med"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"/>
          <p:cNvSpPr txBox="1"/>
          <p:nvPr/>
        </p:nvSpPr>
        <p:spPr>
          <a:xfrm>
            <a:off x="3181320" y="1465200"/>
            <a:ext cx="1293840" cy="1266840"/>
          </a:xfrm>
          <a:prstGeom prst="rect">
            <a:avLst/>
          </a:prstGeom>
          <a:solidFill>
            <a:srgbClr val="FFFFC9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Although we can’t set a Condition Name to false we can achieve the same effect by using the arrangement shown.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"/>
          <p:cNvSpPr txBox="1"/>
          <p:nvPr/>
        </p:nvSpPr>
        <p:spPr>
          <a:xfrm>
            <a:off x="3182760" y="1484280"/>
            <a:ext cx="1293840" cy="1476360"/>
          </a:xfrm>
          <a:prstGeom prst="rect">
            <a:avLst/>
          </a:prstGeom>
          <a:solidFill>
            <a:srgbClr val="FFFFC9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When NotEndOfFile is set to TRUE it forces the condition value 0 into the data-item and this has the effect of unsetting EndOfFile.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"/>
          <p:cNvSpPr/>
          <p:nvPr/>
        </p:nvSpPr>
        <p:spPr>
          <a:xfrm>
            <a:off x="9360" y="3038400"/>
            <a:ext cx="248040" cy="114840"/>
          </a:xfrm>
          <a:custGeom>
            <a:avLst/>
            <a:gdLst/>
            <a:ahLst/>
            <a:rect l="0" t="0" r="r" b="b"/>
            <a:pathLst>
              <a:path w="689" h="319">
                <a:moveTo>
                  <a:pt x="0" y="106"/>
                </a:moveTo>
                <a:lnTo>
                  <a:pt x="0" y="212"/>
                </a:lnTo>
                <a:lnTo>
                  <a:pt x="482" y="212"/>
                </a:lnTo>
                <a:lnTo>
                  <a:pt x="482" y="319"/>
                </a:lnTo>
                <a:lnTo>
                  <a:pt x="689" y="159"/>
                </a:lnTo>
                <a:lnTo>
                  <a:pt x="482" y="0"/>
                </a:lnTo>
                <a:lnTo>
                  <a:pt x="482" y="106"/>
                </a:lnTo>
                <a:lnTo>
                  <a:pt x="0" y="106"/>
                </a:lnTo>
                <a:close/>
              </a:path>
            </a:pathLst>
          </a:custGeom>
          <a:solidFill>
            <a:srgbClr val="CC0000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LibreOffice/26.2.2.2$Windows_X86_64 LibreOffice_project/1f77d10d6938fd34972958f64b2bcfa54f8b1ba5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Michael Coughlan</dc:creator>
  <dc:description/>
  <dc:language>en-US</dc:language>
  <cp:lastModifiedBy>Michael Coughlan</cp:lastModifiedBy>
  <cp:revision>0</cp:revision>
  <dc:subject/>
  <dc:title>No Slide Title</dc:title>
</cp:coreProperties>
</file>