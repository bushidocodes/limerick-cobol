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2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F0E30"/>
    <a:srgbClr val="00279F"/>
    <a:srgbClr val="037C03"/>
    <a:srgbClr val="FD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2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1A142FD-716C-7A73-1692-1C815C9A48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DC082DC-A838-CC47-7BFF-1B6873BEC88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1C65463-6D4F-F5B6-CE0A-81C1424500A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5DA6CC6-FB3B-FE30-103D-B7CD8FEF39F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b="0" i="1">
                <a:effectLst/>
              </a:defRPr>
            </a:lvl1pPr>
          </a:lstStyle>
          <a:p>
            <a:fld id="{99FB7B54-F929-4887-B6C0-F8C36E6EBA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16082E9-6423-6F23-7BF9-645FD9EB2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8707438"/>
            <a:ext cx="75882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13" tIns="44450" rIns="87313" bIns="44450">
            <a:spAutoFit/>
          </a:bodyPr>
          <a:lstStyle>
            <a:lvl1pPr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3497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68363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03338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3672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939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511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083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655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0">
                <a:effectLst/>
              </a:rPr>
              <a:t>Page </a:t>
            </a:r>
            <a:fld id="{C1F9A2EB-867D-407D-8C84-8319722D6CEF}" type="slidenum">
              <a:rPr lang="en-US" altLang="en-US" sz="1200" b="0">
                <a:effectLst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b="0"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2F79A40-09C2-9CF8-C781-A675EA385C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EED0CB4-1341-783F-D3C3-BBA03AF153E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80BC298-45DC-7C89-6379-0E1580EDF7F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C40A728-6766-E52E-0113-5981BBFA24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fld id="{88778892-8895-4FB0-9CFB-A9CD4371E5C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71D6856B-31C3-2685-B2F2-F3D95B74918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4988"/>
            <a:ext cx="5029200" cy="384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9CEC41B8-4347-78ED-E304-FE6493D10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8707438"/>
            <a:ext cx="75882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13" tIns="44450" rIns="87313" bIns="44450">
            <a:spAutoFit/>
          </a:bodyPr>
          <a:lstStyle>
            <a:lvl1pPr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3497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68363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03338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3672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939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511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083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655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0">
                <a:effectLst/>
              </a:rPr>
              <a:t>Page </a:t>
            </a:r>
            <a:fld id="{A49B4BD1-3AE3-4AA7-84D1-8CA0C142E922}" type="slidenum">
              <a:rPr lang="en-US" altLang="en-US" sz="1200" b="0">
                <a:effectLst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b="0">
              <a:effectLst/>
            </a:endParaRP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4A3933EA-B01F-3172-2402-10394AD9907C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D707DD7-19AF-4A8A-5ECA-CE46D532FF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D4D258-F896-4702-B72F-A27D118DE716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545F1063-7B4E-8B82-C096-FCD49A7FD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ECC9B74-92B6-9707-A7EC-D856363E9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02477B3-E3EC-3A79-0732-10DEB2DD6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54140EA9-0855-F915-5F28-9DAF2157E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5C06C1E9-CAB7-CFFA-ECF1-D49EF8485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35C60F22-ABFD-9A95-B6B4-E2965B20427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DE1B8AA-E942-E08E-53D7-F76F57C277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2C01A7-B0BA-4D96-BA25-E3E9171C555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09D94197-E78E-CF1C-E128-2EF6BFD5F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6D30082-4498-C082-751F-C8683CC76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BBEAAEBC-0FB3-DA74-5015-143EA3888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F0E87B30-3246-9918-553A-0C09CC0F4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273C2045-34D7-13C3-EC1B-EB51769E8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99B58851-18E8-20C0-29D1-84522689056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05DB438-B6BD-2461-0CCD-D1EA83E5B8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C2CA30-0793-4A14-98DD-579293FE6341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B6F5A924-EDCB-5B0D-F1A1-D237E3C00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65C18E6-2E22-2CC3-A285-A218CC1A4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36063E68-FFA7-04CA-20F9-B168F2156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33F720FB-A4B7-2945-9EAF-CEB197E57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8EC34492-AAC1-B6F1-76BE-19491C74C1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5053D48A-CFE6-49B3-91A0-EAB7CBB9403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ECD3654-062C-7346-A479-EBBA624B0A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1DB3F9-DD8C-4688-89EA-43D0140D22ED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F8F1E0CE-1AB0-6DAB-71C8-066190B3C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D3F0482-36C2-FB6B-B7B6-567EA353A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175A5B65-C00D-8411-1342-B991F4EE7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8A7D51A8-C753-2CC8-FF7B-858E0D2AB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4CC20E15-EF35-A508-914C-3183D4672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F6A7FF6F-42A5-4537-D0A3-B618EE240AE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4D90B80-2CE9-831C-93D6-76A8CF4341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10280D-A10B-4B99-B77C-65991594C1D9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DB4D49D1-4C98-70DD-BA48-8B74B9C2B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D9360BE-B5FC-2224-6CC3-BDFEDDF47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05E1891-FF43-D6F7-14DE-CC8F47DF9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1FF99F25-924A-5FB1-800D-7672FCB9F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8915AE40-B761-A65E-7846-190E3AD9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E613F999-65D5-E180-890D-0D12008BD33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3F4B-172B-9D2C-DB6A-FA095DBD5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7D89E-15C0-8021-5800-7CF61008D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019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B6B3-E144-63FE-749C-B1A7581A4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B7209-D0F1-2457-9CFB-8E268A407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50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1092-36FB-B83A-036F-B2779FCCF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2F557-41E8-3198-2626-53A76D998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682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5FEE-9D81-91CC-ADDC-C5B0EF7D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50E32-9EDD-5AFC-1049-03C9F351C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D8E8A-7C02-59CC-17FD-D23657430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596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16AD-9E19-9383-2FE2-768D736D8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09CE9-DF7B-37BD-74C1-276C23CD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87662-28AE-A2AA-8C49-E423532A9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2E6C3-C49C-7805-B4ED-E86072BD5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A2AC2-7365-E1C3-C66D-99D44CD70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452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5814-C81A-A4F4-D4F2-BFA450596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334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43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4DE7-FE93-9BB1-B617-355AED50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8970-BE8C-1500-717F-B2BFFC779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7FF70-E192-908C-79D3-1AB796FEC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3539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4204-D745-7BC2-207C-D912721B5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E9733-4849-349A-A68C-FD647BDB3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C18F6-0697-A5A3-35AA-29FF6E773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7645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360A-F22D-795A-B612-2518BDC3F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A7C23-4F9A-DE3F-9D67-B691C4F50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10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EFD2D-6BFA-78AA-ADF6-162A83B7D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E6B9F-366F-D1A9-F90A-CE7B00BF9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396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4DF276-D952-2B7D-1B81-6AE9A3776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77788"/>
            <a:ext cx="8988425" cy="67024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9pPr>
    </p:titleStyle>
    <p:bodyStyle>
      <a:lvl1pPr marL="381000" indent="-3810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u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952500" indent="-3810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65000"/>
        <a:buFont typeface="Monotype Sorts" charset="0"/>
        <a:buChar char="l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2pPr>
      <a:lvl3pPr marL="152400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®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3pPr>
      <a:lvl4pPr marL="209550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8CF4EA"/>
        </a:buClr>
        <a:buSzPct val="100000"/>
        <a:buFont typeface="Wingdings" panose="05000000000000000000" pitchFamily="2" charset="2"/>
        <a:buChar char="¯"/>
        <a:defRPr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4pPr>
      <a:lvl5pPr marL="2438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0C844C9-E8B5-F052-403A-3552BF2AA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8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</a:t>
            </a:r>
            <a:r>
              <a:rPr lang="en-US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FragmentB</a:t>
            </a:r>
            <a:r>
              <a:rPr lang="en-US" altLang="en-US" sz="200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Calc-Result</a:t>
            </a:r>
            <a:r>
              <a:rPr lang="en-US" altLang="en-US" sz="200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Num1.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Num2.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DISPLAY "Result is = ",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MULTIPLY Num1 BY Num2 GIVING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sz="2000">
              <a:solidFill>
                <a:srgbClr val="000000"/>
              </a:solidFill>
              <a:effectLst/>
            </a:endParaRPr>
          </a:p>
          <a:p>
            <a:endParaRPr lang="en-US" altLang="en-US" sz="2000">
              <a:solidFill>
                <a:srgbClr val="000000"/>
              </a:solidFill>
              <a:effectLst/>
            </a:endParaRPr>
          </a:p>
          <a:p>
            <a:endParaRPr lang="en-US" altLang="en-US" sz="2000">
              <a:solidFill>
                <a:srgbClr val="000000"/>
              </a:solidFill>
              <a:effectLst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63CAC4B-F4CD-7CF5-28D1-BAEF085DC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073150"/>
            <a:ext cx="21971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D95C43C-63DA-020B-D574-3DFEE0A1B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A4C7834-3481-9F67-D2C9-2BDC444B4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1BBFA03A-FC9E-ED04-963A-249102729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377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B0C34C7-29D4-401F-2130-0A89B8F86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692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CEF2561-A438-36B0-BDC9-2F3EAEDCA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FragmentB.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Calc-Result.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ACCEPT Num1.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Num2.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DISPLAY "Result is = ",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MULTIPLY Num1 BY Num2 GIVING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sz="200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58663FB-4D97-640B-C0B0-E6E774C30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073150"/>
            <a:ext cx="21971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8A740D0-9D34-90DA-178F-5D86E31C1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CF0E30"/>
                </a:solidFill>
                <a:effectLst/>
              </a:rPr>
              <a:t>9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06D699D-341A-C5D6-C393-9062D70E5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C4570A03-EE1B-9012-1DBE-8A3096233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377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451D1580-55C7-5573-1718-20A8A4ADF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692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4D7AAD5-C2D7-BE35-A1C2-775272D84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FragmentB.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Calc-Result.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Num1.</a:t>
            </a:r>
            <a:endParaRPr lang="en-US" altLang="en-US" sz="20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ACCEPT Num2</a:t>
            </a:r>
            <a:r>
              <a:rPr lang="en-US" altLang="en-US" sz="200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DISPLAY "Result is = ",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MULTIPLY Num1 BY Num2 GIVING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912FDA1-8988-CCF9-A70E-9E9CFA0BB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073150"/>
            <a:ext cx="21971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BD58CA7A-B5CF-06B2-90A4-5958B94BF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9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89739DD2-0B89-3947-97F2-59D9290F1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CF0E30"/>
                </a:solidFill>
                <a:effectLst/>
              </a:rPr>
              <a:t>5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A1057E08-E3AF-2CA5-1E0C-20632A7C7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377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7B257B68-2520-AC95-74A1-5DAB68F00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692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55721B2-9773-EB95-BAC7-15F77AD3A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FragmentB.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Calc-Result.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Num1.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Num2.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DISPLAY "Result is = ", Result</a:t>
            </a:r>
            <a:r>
              <a:rPr lang="en-US" altLang="en-US" sz="200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MULTIPLY Num1 BY Num2 GIVING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7B14DCE-F5EA-B6B2-BCD6-DE7B3990A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073150"/>
            <a:ext cx="21971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625C82DF-5153-9C12-79AC-B2E8D056A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9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BE43285E-2D69-E515-84F7-C71D09967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5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C9766C02-674D-EC23-D63F-5FD9D1A30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377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037C03"/>
                </a:solidFill>
                <a:effectLst/>
              </a:rPr>
              <a:t>00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EE06B5A5-9258-4341-6369-253F184A0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692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pic>
        <p:nvPicPr>
          <p:cNvPr id="10248" name="Picture 8">
            <a:extLst>
              <a:ext uri="{FF2B5EF4-FFF2-40B4-BE49-F238E27FC236}">
                <a16:creationId xmlns:a16="http://schemas.microsoft.com/office/drawing/2014/main" id="{D9BCD33D-9F35-B766-B389-059CB30CC0A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788" y="2182813"/>
            <a:ext cx="2782887" cy="232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9" name="Rectangle 9">
            <a:extLst>
              <a:ext uri="{FF2B5EF4-FFF2-40B4-BE49-F238E27FC236}">
                <a16:creationId xmlns:a16="http://schemas.microsoft.com/office/drawing/2014/main" id="{60EE7A2A-98BF-22CC-48C7-BC754EED1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819400"/>
            <a:ext cx="1752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Result is = 00</a:t>
            </a:r>
          </a:p>
        </p:txBody>
      </p:sp>
      <p:sp>
        <p:nvSpPr>
          <p:cNvPr id="10250" name="Line 10">
            <a:extLst>
              <a:ext uri="{FF2B5EF4-FFF2-40B4-BE49-F238E27FC236}">
                <a16:creationId xmlns:a16="http://schemas.microsoft.com/office/drawing/2014/main" id="{BD588440-80E6-BE61-0B1A-D7075D8DF1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1676400"/>
            <a:ext cx="533400" cy="1066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1" name="AutoShape 11">
            <a:extLst>
              <a:ext uri="{FF2B5EF4-FFF2-40B4-BE49-F238E27FC236}">
                <a16:creationId xmlns:a16="http://schemas.microsoft.com/office/drawing/2014/main" id="{7B642A80-446A-9D2B-6B79-AB2C43C702D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402388" y="4214813"/>
            <a:ext cx="2605087" cy="2050521"/>
          </a:xfrm>
          <a:prstGeom prst="wedgeRoundRectCallout">
            <a:avLst>
              <a:gd name="adj1" fmla="val -46671"/>
              <a:gd name="adj2" fmla="val 66667"/>
              <a:gd name="adj3" fmla="val 16667"/>
            </a:avLst>
          </a:prstGeom>
          <a:solidFill>
            <a:srgbClr val="FDFFD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lIns="38100" tIns="46038" rIns="38100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Oh No!!</a:t>
            </a:r>
          </a:p>
          <a:p>
            <a:pPr algn="ctr"/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We got the wrong answer again.</a:t>
            </a:r>
          </a:p>
          <a:p>
            <a:pPr algn="ctr"/>
            <a:r>
              <a:rPr lang="en-US" altLang="en-US" sz="1600">
                <a:solidFill>
                  <a:srgbClr val="000000"/>
                </a:solidFill>
                <a:effectLst/>
              </a:rPr>
              <a:t>We displayed the result before we did the calculation.</a:t>
            </a:r>
          </a:p>
          <a:p>
            <a:pPr algn="ctr"/>
            <a:r>
              <a:rPr lang="en-US" altLang="en-US" sz="1000" b="0">
                <a:solidFill>
                  <a:srgbClr val="000000"/>
                </a:solidFill>
                <a:effectLst/>
              </a:rPr>
              <a:t>Click for final frame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5C39775-6C72-EFD0-C43F-055E50002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9C4F586-44DE-0685-6F01-3E3E72BC9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5F2500D9-E681-AB98-6548-C6BFD2587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FragmentB.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Calc-Result.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Num1.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Num2.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DISPLAY "Result is = ",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MULTIPLY Num1 BY Num2 GIVING Result</a:t>
            </a:r>
            <a:r>
              <a:rPr lang="en-US" altLang="en-US" sz="200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31EA793F-E459-4FFA-7D27-78CF6B907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073150"/>
            <a:ext cx="21971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FEB4C3E1-031F-C0B4-2280-EB54B8BA0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9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48C984C0-BAE1-9592-7F38-3E427CBAB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5</a:t>
            </a:r>
          </a:p>
        </p:txBody>
      </p:sp>
      <p:sp>
        <p:nvSpPr>
          <p:cNvPr id="12296" name="Rectangle 8">
            <a:extLst>
              <a:ext uri="{FF2B5EF4-FFF2-40B4-BE49-F238E27FC236}">
                <a16:creationId xmlns:a16="http://schemas.microsoft.com/office/drawing/2014/main" id="{A084BB28-4E12-F41C-7AB3-7DD448015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377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CF0E30"/>
                </a:solidFill>
                <a:effectLst/>
              </a:rPr>
              <a:t>45</a:t>
            </a:r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A6B49E72-CF84-5F80-1936-F6111E4B7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692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12298" name="AutoShape 10">
            <a:extLst>
              <a:ext uri="{FF2B5EF4-FFF2-40B4-BE49-F238E27FC236}">
                <a16:creationId xmlns:a16="http://schemas.microsoft.com/office/drawing/2014/main" id="{F232CEF0-908E-B179-7FF7-F586CB98408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570663" y="1874838"/>
            <a:ext cx="2108200" cy="1534583"/>
          </a:xfrm>
          <a:prstGeom prst="wedgeRoundRectCallout">
            <a:avLst>
              <a:gd name="adj1" fmla="val -37755"/>
              <a:gd name="adj2" fmla="val 66667"/>
              <a:gd name="adj3" fmla="val 16667"/>
            </a:avLst>
          </a:prstGeom>
          <a:solidFill>
            <a:srgbClr val="FDFFD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Too Late!!</a:t>
            </a:r>
          </a:p>
          <a:p>
            <a:pPr algn="ctr"/>
            <a:r>
              <a:rPr lang="en-US" altLang="en-US" sz="1600">
                <a:solidFill>
                  <a:srgbClr val="000000"/>
                </a:solidFill>
                <a:effectLst/>
              </a:rPr>
              <a:t>We’ve already displayed the contents of Result.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b-slide">
  <a:themeElements>
    <a:clrScheme name="">
      <a:dk1>
        <a:srgbClr val="919191"/>
      </a:dk1>
      <a:lt1>
        <a:srgbClr val="FFFFFF"/>
      </a:lt1>
      <a:dk2>
        <a:srgbClr val="114FFB"/>
      </a:dk2>
      <a:lt2>
        <a:srgbClr val="FAFD00"/>
      </a:lt2>
      <a:accent1>
        <a:srgbClr val="DADADA"/>
      </a:accent1>
      <a:accent2>
        <a:srgbClr val="FC0128"/>
      </a:accent2>
      <a:accent3>
        <a:srgbClr val="AAB2FD"/>
      </a:accent3>
      <a:accent4>
        <a:srgbClr val="DADADA"/>
      </a:accent4>
      <a:accent5>
        <a:srgbClr val="EAEAEA"/>
      </a:accent5>
      <a:accent6>
        <a:srgbClr val="E40123"/>
      </a:accent6>
      <a:hlink>
        <a:srgbClr val="00FF00"/>
      </a:hlink>
      <a:folHlink>
        <a:srgbClr val="DC0081"/>
      </a:folHlink>
    </a:clrScheme>
    <a:fontScheme name="b-sl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lnDef>
  </a:objectDefaults>
  <a:extraClrSchemeLst>
    <a:extraClrScheme>
      <a:clrScheme name="b-slid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-slid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e:\pptdata\b-slide.ppt</Template>
  <TotalTime>1490414935</TotalTime>
  <Pages>36</Pages>
  <Words>484</Words>
  <Application>Microsoft Office PowerPoint</Application>
  <PresentationFormat>On-screen Show (4:3)</PresentationFormat>
  <Paragraphs>132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Wingdings</vt:lpstr>
      <vt:lpstr>Times New Roman</vt:lpstr>
      <vt:lpstr>Monotype Sorts</vt:lpstr>
      <vt:lpstr>Courier New</vt:lpstr>
      <vt:lpstr>b-slide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</dc:title>
  <dc:subject/>
  <dc:creator>Michael Coughlan</dc:creator>
  <cp:keywords/>
  <dc:description/>
  <cp:lastModifiedBy>Sean McBride</cp:lastModifiedBy>
  <cp:revision>1346190248</cp:revision>
  <cp:lastPrinted>1601-01-01T00:00:00Z</cp:lastPrinted>
  <dcterms:created xsi:type="dcterms:W3CDTF">1995-02-14T10:18:06Z</dcterms:created>
  <dcterms:modified xsi:type="dcterms:W3CDTF">2026-05-13T01:06:38Z</dcterms:modified>
</cp:coreProperties>
</file>