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61" r:id="rId3"/>
    <p:sldId id="262" r:id="rId4"/>
    <p:sldId id="263" r:id="rId5"/>
    <p:sldId id="265" r:id="rId6"/>
  </p:sldIdLst>
  <p:sldSz cx="4762500" cy="304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60">
          <p15:clr>
            <a:srgbClr val="A4A3A4"/>
          </p15:clr>
        </p15:guide>
        <p15:guide id="2" pos="150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960">
          <p15:clr>
            <a:srgbClr val="A4A3A4"/>
          </p15:clr>
        </p15:guide>
        <p15:guide id="2" pos="150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9900CC"/>
    <a:srgbClr val="009900"/>
    <a:srgbClr val="006633"/>
    <a:srgbClr val="00CC00"/>
    <a:srgbClr val="CC0000"/>
    <a:srgbClr val="5F5F5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47" d="100"/>
          <a:sy n="247" d="100"/>
        </p:scale>
        <p:origin x="198" y="468"/>
      </p:cViewPr>
      <p:guideLst>
        <p:guide orient="horz" pos="960"/>
        <p:guide pos="150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0" d="100"/>
          <a:sy n="70" d="100"/>
        </p:scale>
        <p:origin x="-1704" y="-78"/>
      </p:cViewPr>
      <p:guideLst>
        <p:guide orient="horz" pos="960"/>
        <p:guide pos="150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F2C5080-1A4D-7AC3-5563-25C3DEA3B8B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>
              <a:defRPr i="1"/>
            </a:lvl1pPr>
          </a:lstStyle>
          <a:p>
            <a:endParaRPr lang="en-US" alt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1241AB00-AE0E-581A-808D-B6FCD2BC8B3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>
              <a:defRPr i="1"/>
            </a:lvl1pPr>
          </a:lstStyle>
          <a:p>
            <a:endParaRPr lang="en-US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494456F4-85D2-CF0A-16CF-7238A3C1CC76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757238" y="692150"/>
            <a:ext cx="5343525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8CCCC4B1-37EA-07B4-FA6C-CF0BD0CA4CE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67098460-794C-C0A1-C380-2A0C7856E4E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>
              <a:defRPr i="1"/>
            </a:lvl1pPr>
          </a:lstStyle>
          <a:p>
            <a:endParaRPr lang="en-US" altLang="en-US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EB7F990F-343F-327D-0625-22F125D9A9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>
              <a:defRPr i="1"/>
            </a:lvl1pPr>
          </a:lstStyle>
          <a:p>
            <a:fld id="{E4851A75-40D8-43D8-8568-D0EFB0D64E2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D703-6A4B-B669-291C-8B536A7500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5313" y="498475"/>
            <a:ext cx="3571875" cy="1062038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DA8758-5678-5DC0-070F-51863ED617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5313" y="1600200"/>
            <a:ext cx="3571875" cy="736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29159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3CCB9-7C7B-EFC9-2C09-E5D4CD870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25" y="161925"/>
            <a:ext cx="4108450" cy="5889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34703-0FAB-E725-FD30-A8174ED27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25" y="811213"/>
            <a:ext cx="4108450" cy="1933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0592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CC22B-5156-5A40-D998-A1CFD0B55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438" y="760413"/>
            <a:ext cx="4106862" cy="1266825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AE928-8B32-F9C3-0DF7-126DB67D5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5438" y="2039938"/>
            <a:ext cx="4106862" cy="666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53233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B71EF-151B-5A25-3DAC-D661A5D7D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25" y="161925"/>
            <a:ext cx="4108450" cy="5889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4862A-A691-ADF5-A172-D0CE0499FD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7025" y="811213"/>
            <a:ext cx="1978025" cy="1933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BBB80-6540-5918-E7D3-4C9BAC3F5A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57450" y="811213"/>
            <a:ext cx="1978025" cy="1933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4612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138FE-D72D-B142-8E8C-D8C8AB79A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161925"/>
            <a:ext cx="4106862" cy="5889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88CF6-617F-43B5-E454-F0DE24CCBF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8613" y="747713"/>
            <a:ext cx="2014537" cy="365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99CCE4-A75D-11E9-51B8-94313CA58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8613" y="1112838"/>
            <a:ext cx="2014537" cy="16383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CFCCF1-5927-428B-F53F-DB513DF488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411413" y="747713"/>
            <a:ext cx="2024062" cy="365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39CB71-82F8-7B2D-D0D6-A3F6438674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411413" y="1112838"/>
            <a:ext cx="2024062" cy="16383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6178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F24D0-86E0-A5BB-7176-492055E95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25" y="161925"/>
            <a:ext cx="4108450" cy="5889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17273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565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053AD-B938-92E8-46BB-382E28DB8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203200"/>
            <a:ext cx="1535112" cy="711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A8B58-E656-4E27-659E-859381DE1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4063" y="438150"/>
            <a:ext cx="2411412" cy="216693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17050A-C03C-44F0-CB40-79FADD9EBD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8613" y="914400"/>
            <a:ext cx="1535112" cy="1693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4261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AE428-4EEE-D6F0-B0C1-E01002D41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203200"/>
            <a:ext cx="1535112" cy="711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1B688C-159B-2D28-A84F-07452FC12E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024063" y="438150"/>
            <a:ext cx="2411412" cy="216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7CF7AF-7A40-355C-20B2-66BAE5109A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8613" y="914400"/>
            <a:ext cx="1535112" cy="1693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2635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FDA4B-5EF5-DBC9-850E-720A04E11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25" y="161925"/>
            <a:ext cx="4108450" cy="5889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274F88-FD64-8CFE-4672-1E66850D62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27025" y="811213"/>
            <a:ext cx="4108450" cy="19335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0444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29DE8F-89EB-82C6-B05E-96E9AB394C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408363" y="161925"/>
            <a:ext cx="1027112" cy="2582863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2923C2-9ED3-0959-5FB2-E59B5C178F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27025" y="161925"/>
            <a:ext cx="2928938" cy="25828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58403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AAA5EAB-1CA1-62F7-B83B-DC6C1B1F16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" y="15875"/>
            <a:ext cx="4733925" cy="30194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B089DC8-19D7-FF5E-7B17-8575771F5A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038" y="1222375"/>
            <a:ext cx="344487" cy="2952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5D5893C0-27A3-2859-E28D-6341FAD9B7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" y="1535113"/>
            <a:ext cx="2470150" cy="18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 sz="1200" b="1">
                <a:latin typeface="Courier New" panose="02070309020205020404" pitchFamily="49" charset="0"/>
              </a:rPr>
              <a:t>1   2   3   4   5   6   7</a:t>
            </a:r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EC208A07-8961-720F-A333-1A098F0435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263" y="1031875"/>
            <a:ext cx="7874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r>
              <a:rPr lang="en-US" altLang="en-US" sz="1200" b="1">
                <a:latin typeface="Arial" panose="020B0604020202020204" pitchFamily="34" charset="0"/>
              </a:rPr>
              <a:t>CountyTax</a:t>
            </a:r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EDBE4173-16F0-FD94-723F-E0E6A7A84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988" y="1222375"/>
            <a:ext cx="344487" cy="2952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0A2CC95B-28D2-2355-9DA9-27480B1813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938" y="1222375"/>
            <a:ext cx="344487" cy="2952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0843B03C-609F-FCFC-C0C7-A6E9E0408B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1222375"/>
            <a:ext cx="344487" cy="2952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0" name="Rectangle 8">
            <a:extLst>
              <a:ext uri="{FF2B5EF4-FFF2-40B4-BE49-F238E27FC236}">
                <a16:creationId xmlns:a16="http://schemas.microsoft.com/office/drawing/2014/main" id="{7C816112-09CB-2F4A-D020-87AF9595B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0838" y="1222375"/>
            <a:ext cx="344487" cy="2952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1" name="Rectangle 9">
            <a:extLst>
              <a:ext uri="{FF2B5EF4-FFF2-40B4-BE49-F238E27FC236}">
                <a16:creationId xmlns:a16="http://schemas.microsoft.com/office/drawing/2014/main" id="{CFDD37F2-761A-6E5A-C512-49DE8AE7F2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2788" y="1222375"/>
            <a:ext cx="344487" cy="2952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2" name="Rectangle 10">
            <a:extLst>
              <a:ext uri="{FF2B5EF4-FFF2-40B4-BE49-F238E27FC236}">
                <a16:creationId xmlns:a16="http://schemas.microsoft.com/office/drawing/2014/main" id="{50EFD352-2FCA-6E09-45FA-B2FD1DF4D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4738" y="1222375"/>
            <a:ext cx="344487" cy="2952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3" name="Rectangle 11">
            <a:extLst>
              <a:ext uri="{FF2B5EF4-FFF2-40B4-BE49-F238E27FC236}">
                <a16:creationId xmlns:a16="http://schemas.microsoft.com/office/drawing/2014/main" id="{8219DE43-A7A4-3CD3-46AD-1575037A4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0300" y="755650"/>
            <a:ext cx="635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4" name="Rectangle 12">
            <a:extLst>
              <a:ext uri="{FF2B5EF4-FFF2-40B4-BE49-F238E27FC236}">
                <a16:creationId xmlns:a16="http://schemas.microsoft.com/office/drawing/2014/main" id="{CABA8D6C-AE1C-F562-9C6F-BA24FC6B7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00" y="1231900"/>
            <a:ext cx="2508250" cy="279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087" name="Group 15">
            <a:extLst>
              <a:ext uri="{FF2B5EF4-FFF2-40B4-BE49-F238E27FC236}">
                <a16:creationId xmlns:a16="http://schemas.microsoft.com/office/drawing/2014/main" id="{E75DD602-BA54-F4D2-0615-CB745BE52DE1}"/>
              </a:ext>
            </a:extLst>
          </p:cNvPr>
          <p:cNvGrpSpPr>
            <a:grpSpLocks/>
          </p:cNvGrpSpPr>
          <p:nvPr/>
        </p:nvGrpSpPr>
        <p:grpSpPr bwMode="auto">
          <a:xfrm>
            <a:off x="2641600" y="1212850"/>
            <a:ext cx="117475" cy="317500"/>
            <a:chOff x="1664" y="764"/>
            <a:chExt cx="74" cy="200"/>
          </a:xfrm>
        </p:grpSpPr>
        <p:sp>
          <p:nvSpPr>
            <p:cNvPr id="3085" name="Freeform 13">
              <a:extLst>
                <a:ext uri="{FF2B5EF4-FFF2-40B4-BE49-F238E27FC236}">
                  <a16:creationId xmlns:a16="http://schemas.microsoft.com/office/drawing/2014/main" id="{544040EE-964B-63B8-9E58-AB8A08E00F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4" y="772"/>
              <a:ext cx="41" cy="185"/>
            </a:xfrm>
            <a:custGeom>
              <a:avLst/>
              <a:gdLst>
                <a:gd name="T0" fmla="*/ 40 w 41"/>
                <a:gd name="T1" fmla="*/ 0 h 185"/>
                <a:gd name="T2" fmla="*/ 32 w 41"/>
                <a:gd name="T3" fmla="*/ 0 h 185"/>
                <a:gd name="T4" fmla="*/ 24 w 41"/>
                <a:gd name="T5" fmla="*/ 0 h 185"/>
                <a:gd name="T6" fmla="*/ 16 w 41"/>
                <a:gd name="T7" fmla="*/ 4 h 185"/>
                <a:gd name="T8" fmla="*/ 16 w 41"/>
                <a:gd name="T9" fmla="*/ 12 h 185"/>
                <a:gd name="T10" fmla="*/ 16 w 41"/>
                <a:gd name="T11" fmla="*/ 20 h 185"/>
                <a:gd name="T12" fmla="*/ 12 w 41"/>
                <a:gd name="T13" fmla="*/ 28 h 185"/>
                <a:gd name="T14" fmla="*/ 8 w 41"/>
                <a:gd name="T15" fmla="*/ 36 h 185"/>
                <a:gd name="T16" fmla="*/ 8 w 41"/>
                <a:gd name="T17" fmla="*/ 44 h 185"/>
                <a:gd name="T18" fmla="*/ 16 w 41"/>
                <a:gd name="T19" fmla="*/ 49 h 185"/>
                <a:gd name="T20" fmla="*/ 16 w 41"/>
                <a:gd name="T21" fmla="*/ 57 h 185"/>
                <a:gd name="T22" fmla="*/ 12 w 41"/>
                <a:gd name="T23" fmla="*/ 65 h 185"/>
                <a:gd name="T24" fmla="*/ 4 w 41"/>
                <a:gd name="T25" fmla="*/ 69 h 185"/>
                <a:gd name="T26" fmla="*/ 4 w 41"/>
                <a:gd name="T27" fmla="*/ 77 h 185"/>
                <a:gd name="T28" fmla="*/ 4 w 41"/>
                <a:gd name="T29" fmla="*/ 85 h 185"/>
                <a:gd name="T30" fmla="*/ 12 w 41"/>
                <a:gd name="T31" fmla="*/ 89 h 185"/>
                <a:gd name="T32" fmla="*/ 16 w 41"/>
                <a:gd name="T33" fmla="*/ 98 h 185"/>
                <a:gd name="T34" fmla="*/ 12 w 41"/>
                <a:gd name="T35" fmla="*/ 106 h 185"/>
                <a:gd name="T36" fmla="*/ 8 w 41"/>
                <a:gd name="T37" fmla="*/ 114 h 185"/>
                <a:gd name="T38" fmla="*/ 0 w 41"/>
                <a:gd name="T39" fmla="*/ 118 h 185"/>
                <a:gd name="T40" fmla="*/ 0 w 41"/>
                <a:gd name="T41" fmla="*/ 126 h 185"/>
                <a:gd name="T42" fmla="*/ 8 w 41"/>
                <a:gd name="T43" fmla="*/ 134 h 185"/>
                <a:gd name="T44" fmla="*/ 12 w 41"/>
                <a:gd name="T45" fmla="*/ 143 h 185"/>
                <a:gd name="T46" fmla="*/ 4 w 41"/>
                <a:gd name="T47" fmla="*/ 147 h 185"/>
                <a:gd name="T48" fmla="*/ 4 w 41"/>
                <a:gd name="T49" fmla="*/ 155 h 185"/>
                <a:gd name="T50" fmla="*/ 4 w 41"/>
                <a:gd name="T51" fmla="*/ 163 h 185"/>
                <a:gd name="T52" fmla="*/ 12 w 41"/>
                <a:gd name="T53" fmla="*/ 163 h 185"/>
                <a:gd name="T54" fmla="*/ 12 w 41"/>
                <a:gd name="T55" fmla="*/ 171 h 185"/>
                <a:gd name="T56" fmla="*/ 16 w 41"/>
                <a:gd name="T57" fmla="*/ 179 h 185"/>
                <a:gd name="T58" fmla="*/ 24 w 41"/>
                <a:gd name="T59" fmla="*/ 184 h 185"/>
                <a:gd name="T60" fmla="*/ 32 w 41"/>
                <a:gd name="T61" fmla="*/ 184 h 185"/>
                <a:gd name="T62" fmla="*/ 40 w 41"/>
                <a:gd name="T63" fmla="*/ 184 h 185"/>
                <a:gd name="T64" fmla="*/ 40 w 41"/>
                <a:gd name="T65" fmla="*/ 0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1" h="185">
                  <a:moveTo>
                    <a:pt x="40" y="0"/>
                  </a:moveTo>
                  <a:lnTo>
                    <a:pt x="32" y="0"/>
                  </a:lnTo>
                  <a:lnTo>
                    <a:pt x="24" y="0"/>
                  </a:lnTo>
                  <a:lnTo>
                    <a:pt x="16" y="4"/>
                  </a:lnTo>
                  <a:lnTo>
                    <a:pt x="16" y="12"/>
                  </a:lnTo>
                  <a:lnTo>
                    <a:pt x="16" y="20"/>
                  </a:lnTo>
                  <a:lnTo>
                    <a:pt x="12" y="28"/>
                  </a:lnTo>
                  <a:lnTo>
                    <a:pt x="8" y="36"/>
                  </a:lnTo>
                  <a:lnTo>
                    <a:pt x="8" y="44"/>
                  </a:lnTo>
                  <a:lnTo>
                    <a:pt x="16" y="49"/>
                  </a:lnTo>
                  <a:lnTo>
                    <a:pt x="16" y="57"/>
                  </a:lnTo>
                  <a:lnTo>
                    <a:pt x="12" y="65"/>
                  </a:lnTo>
                  <a:lnTo>
                    <a:pt x="4" y="69"/>
                  </a:lnTo>
                  <a:lnTo>
                    <a:pt x="4" y="77"/>
                  </a:lnTo>
                  <a:lnTo>
                    <a:pt x="4" y="85"/>
                  </a:lnTo>
                  <a:lnTo>
                    <a:pt x="12" y="89"/>
                  </a:lnTo>
                  <a:lnTo>
                    <a:pt x="16" y="98"/>
                  </a:lnTo>
                  <a:lnTo>
                    <a:pt x="12" y="106"/>
                  </a:lnTo>
                  <a:lnTo>
                    <a:pt x="8" y="114"/>
                  </a:lnTo>
                  <a:lnTo>
                    <a:pt x="0" y="118"/>
                  </a:lnTo>
                  <a:lnTo>
                    <a:pt x="0" y="126"/>
                  </a:lnTo>
                  <a:lnTo>
                    <a:pt x="8" y="134"/>
                  </a:lnTo>
                  <a:lnTo>
                    <a:pt x="12" y="143"/>
                  </a:lnTo>
                  <a:lnTo>
                    <a:pt x="4" y="147"/>
                  </a:lnTo>
                  <a:lnTo>
                    <a:pt x="4" y="155"/>
                  </a:lnTo>
                  <a:lnTo>
                    <a:pt x="4" y="163"/>
                  </a:lnTo>
                  <a:lnTo>
                    <a:pt x="12" y="163"/>
                  </a:lnTo>
                  <a:lnTo>
                    <a:pt x="12" y="171"/>
                  </a:lnTo>
                  <a:lnTo>
                    <a:pt x="16" y="179"/>
                  </a:lnTo>
                  <a:lnTo>
                    <a:pt x="24" y="184"/>
                  </a:lnTo>
                  <a:lnTo>
                    <a:pt x="32" y="184"/>
                  </a:lnTo>
                  <a:lnTo>
                    <a:pt x="40" y="184"/>
                  </a:lnTo>
                  <a:lnTo>
                    <a:pt x="40" y="0"/>
                  </a:lnTo>
                </a:path>
              </a:pathLst>
            </a:custGeom>
            <a:solidFill>
              <a:schemeClr val="bg1"/>
            </a:solidFill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6" name="Rectangle 14">
              <a:extLst>
                <a:ext uri="{FF2B5EF4-FFF2-40B4-BE49-F238E27FC236}">
                  <a16:creationId xmlns:a16="http://schemas.microsoft.com/office/drawing/2014/main" id="{0704F8AA-DF06-C78F-A3FD-23795E567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0" y="764"/>
              <a:ext cx="48" cy="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088" name="AutoShape 16">
            <a:extLst>
              <a:ext uri="{FF2B5EF4-FFF2-40B4-BE49-F238E27FC236}">
                <a16:creationId xmlns:a16="http://schemas.microsoft.com/office/drawing/2014/main" id="{24486A07-5561-E01C-5C88-A0CF00D86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9550" y="1301750"/>
            <a:ext cx="311150" cy="139700"/>
          </a:xfrm>
          <a:prstGeom prst="rightArrow">
            <a:avLst>
              <a:gd name="adj1" fmla="val 50000"/>
              <a:gd name="adj2" fmla="val 111374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7961" dir="2700000" algn="ctr" rotWithShape="0">
              <a:schemeClr val="folHlink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9" name="Rectangle 17">
            <a:extLst>
              <a:ext uri="{FF2B5EF4-FFF2-40B4-BE49-F238E27FC236}">
                <a16:creationId xmlns:a16="http://schemas.microsoft.com/office/drawing/2014/main" id="{7D86D59F-18A6-F6D7-A65F-72BF16711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0225" y="1192213"/>
            <a:ext cx="635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19 other</a:t>
            </a:r>
          </a:p>
          <a:p>
            <a:r>
              <a:rPr lang="en-US" altLang="en-US"/>
              <a:t>elements</a:t>
            </a:r>
          </a:p>
        </p:txBody>
      </p:sp>
      <p:sp>
        <p:nvSpPr>
          <p:cNvPr id="3090" name="Rectangle 18">
            <a:extLst>
              <a:ext uri="{FF2B5EF4-FFF2-40B4-BE49-F238E27FC236}">
                <a16:creationId xmlns:a16="http://schemas.microsoft.com/office/drawing/2014/main" id="{4D90037D-BD4A-436C-75A6-AAA2C12E2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800" y="282575"/>
            <a:ext cx="920750" cy="2730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91" name="Rectangle 19">
            <a:extLst>
              <a:ext uri="{FF2B5EF4-FFF2-40B4-BE49-F238E27FC236}">
                <a16:creationId xmlns:a16="http://schemas.microsoft.com/office/drawing/2014/main" id="{513AADBB-D22F-5BFF-DE4A-9158F9A370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117475"/>
            <a:ext cx="5429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r>
              <a:rPr lang="en-US" altLang="en-US" sz="1200" b="1">
                <a:latin typeface="Arial" panose="020B0604020202020204" pitchFamily="34" charset="0"/>
              </a:rPr>
              <a:t>TaxRec</a:t>
            </a:r>
          </a:p>
        </p:txBody>
      </p:sp>
      <p:sp>
        <p:nvSpPr>
          <p:cNvPr id="3092" name="Rectangle 20">
            <a:extLst>
              <a:ext uri="{FF2B5EF4-FFF2-40B4-BE49-F238E27FC236}">
                <a16:creationId xmlns:a16="http://schemas.microsoft.com/office/drawing/2014/main" id="{32B6C5F4-E606-D46A-9811-A44F1BB75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582613"/>
            <a:ext cx="717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PAYENum</a:t>
            </a:r>
          </a:p>
        </p:txBody>
      </p:sp>
      <p:sp>
        <p:nvSpPr>
          <p:cNvPr id="3093" name="Rectangle 21">
            <a:extLst>
              <a:ext uri="{FF2B5EF4-FFF2-40B4-BE49-F238E27FC236}">
                <a16:creationId xmlns:a16="http://schemas.microsoft.com/office/drawing/2014/main" id="{74E9605E-7621-30A9-EFB8-4FDE5A3B7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563563"/>
            <a:ext cx="717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TaxPaid</a:t>
            </a:r>
          </a:p>
        </p:txBody>
      </p:sp>
      <p:sp>
        <p:nvSpPr>
          <p:cNvPr id="3094" name="Rectangle 22">
            <a:extLst>
              <a:ext uri="{FF2B5EF4-FFF2-40B4-BE49-F238E27FC236}">
                <a16:creationId xmlns:a16="http://schemas.microsoft.com/office/drawing/2014/main" id="{5A2483A4-8463-8195-4415-8F03C3DFD5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4900" y="563563"/>
            <a:ext cx="9461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CountyCode</a:t>
            </a:r>
          </a:p>
        </p:txBody>
      </p:sp>
      <p:sp>
        <p:nvSpPr>
          <p:cNvPr id="3095" name="Rectangle 23">
            <a:extLst>
              <a:ext uri="{FF2B5EF4-FFF2-40B4-BE49-F238E27FC236}">
                <a16:creationId xmlns:a16="http://schemas.microsoft.com/office/drawing/2014/main" id="{20D07CFD-9C86-5076-CF60-FAB1AF9B59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1250" y="282575"/>
            <a:ext cx="920750" cy="2730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96" name="Rectangle 24">
            <a:extLst>
              <a:ext uri="{FF2B5EF4-FFF2-40B4-BE49-F238E27FC236}">
                <a16:creationId xmlns:a16="http://schemas.microsoft.com/office/drawing/2014/main" id="{B9FBCE31-DD41-BBD8-B3B2-262B9BF9D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4700" y="282575"/>
            <a:ext cx="920750" cy="2730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97" name="Rectangle 25">
            <a:extLst>
              <a:ext uri="{FF2B5EF4-FFF2-40B4-BE49-F238E27FC236}">
                <a16:creationId xmlns:a16="http://schemas.microsoft.com/office/drawing/2014/main" id="{94DEB085-0512-EE15-B97B-230F292E48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275" y="269875"/>
            <a:ext cx="3825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74</a:t>
            </a:r>
          </a:p>
        </p:txBody>
      </p:sp>
      <p:sp>
        <p:nvSpPr>
          <p:cNvPr id="3098" name="Rectangle 26">
            <a:extLst>
              <a:ext uri="{FF2B5EF4-FFF2-40B4-BE49-F238E27FC236}">
                <a16:creationId xmlns:a16="http://schemas.microsoft.com/office/drawing/2014/main" id="{4AC710C7-D934-60B7-672C-42BA9DECA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3825" y="269875"/>
            <a:ext cx="282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3099" name="Rectangle 27">
            <a:extLst>
              <a:ext uri="{FF2B5EF4-FFF2-40B4-BE49-F238E27FC236}">
                <a16:creationId xmlns:a16="http://schemas.microsoft.com/office/drawing/2014/main" id="{873D617C-0F5F-C2DD-2D69-DFA8E9C729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5" y="269875"/>
            <a:ext cx="9747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12345678</a:t>
            </a:r>
          </a:p>
        </p:txBody>
      </p:sp>
      <p:sp>
        <p:nvSpPr>
          <p:cNvPr id="3100" name="Rectangle 28">
            <a:extLst>
              <a:ext uri="{FF2B5EF4-FFF2-40B4-BE49-F238E27FC236}">
                <a16:creationId xmlns:a16="http://schemas.microsoft.com/office/drawing/2014/main" id="{DF6C2C15-C96A-272E-D6A4-C234B088E4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5" y="2052638"/>
            <a:ext cx="4451350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latin typeface="Courier New" panose="02070309020205020404" pitchFamily="49" charset="0"/>
              </a:rPr>
              <a:t>MOVE 10 TO CountyTax(3)</a:t>
            </a:r>
          </a:p>
          <a:p>
            <a:r>
              <a:rPr lang="en-US" altLang="en-US" sz="1400" b="1">
                <a:latin typeface="Courier New" panose="02070309020205020404" pitchFamily="49" charset="0"/>
              </a:rPr>
              <a:t>ADD TaxPaid TO CountyTax(CountyCode)</a:t>
            </a:r>
          </a:p>
          <a:p>
            <a:r>
              <a:rPr lang="en-US" altLang="en-US" sz="1400" b="1">
                <a:latin typeface="Courier New" panose="02070309020205020404" pitchFamily="49" charset="0"/>
              </a:rPr>
              <a:t>ADD TaxPaid TO CountyTax(CountyCode + 1)</a:t>
            </a:r>
          </a:p>
          <a:p>
            <a:r>
              <a:rPr lang="en-US" altLang="en-US" sz="1400" b="1">
                <a:latin typeface="Courier New" panose="02070309020205020404" pitchFamily="49" charset="0"/>
              </a:rPr>
              <a:t>ADD TaxPaid TO CountyTax(CountyCode - 2)</a:t>
            </a:r>
          </a:p>
        </p:txBody>
      </p:sp>
      <p:sp>
        <p:nvSpPr>
          <p:cNvPr id="3101" name="Rectangle 29">
            <a:extLst>
              <a:ext uri="{FF2B5EF4-FFF2-40B4-BE49-F238E27FC236}">
                <a16:creationId xmlns:a16="http://schemas.microsoft.com/office/drawing/2014/main" id="{7C71AC17-628C-B0F8-D533-7A5EE942E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3125" y="1700213"/>
            <a:ext cx="709613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800" b="1">
                <a:latin typeface="Arial" panose="020B0604020202020204" pitchFamily="34" charset="0"/>
              </a:rPr>
              <a:t>Subscripts</a:t>
            </a:r>
          </a:p>
        </p:txBody>
      </p:sp>
      <p:sp>
        <p:nvSpPr>
          <p:cNvPr id="3102" name="Arc 30">
            <a:extLst>
              <a:ext uri="{FF2B5EF4-FFF2-40B4-BE49-F238E27FC236}">
                <a16:creationId xmlns:a16="http://schemas.microsoft.com/office/drawing/2014/main" id="{49D41BA0-6D59-F5BE-2F45-D78B18420AE3}"/>
              </a:ext>
            </a:extLst>
          </p:cNvPr>
          <p:cNvSpPr>
            <a:spLocks/>
          </p:cNvSpPr>
          <p:nvPr/>
        </p:nvSpPr>
        <p:spPr bwMode="auto">
          <a:xfrm>
            <a:off x="2533650" y="1800225"/>
            <a:ext cx="914400" cy="285750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0 w 21600"/>
              <a:gd name="T1" fmla="*/ 21600 h 21600"/>
              <a:gd name="T2" fmla="*/ 21562 w 21600"/>
              <a:gd name="T3" fmla="*/ 0 h 21600"/>
              <a:gd name="T4" fmla="*/ 2160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599"/>
                </a:moveTo>
                <a:cubicBezTo>
                  <a:pt x="0" y="9685"/>
                  <a:pt x="9647" y="20"/>
                  <a:pt x="21562" y="0"/>
                </a:cubicBezTo>
              </a:path>
              <a:path w="21600" h="21600" stroke="0" extrusionOk="0">
                <a:moveTo>
                  <a:pt x="0" y="21599"/>
                </a:moveTo>
                <a:cubicBezTo>
                  <a:pt x="0" y="9685"/>
                  <a:pt x="9647" y="20"/>
                  <a:pt x="21562" y="0"/>
                </a:cubicBezTo>
                <a:lnTo>
                  <a:pt x="21600" y="2160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03" name="Arc 31">
            <a:extLst>
              <a:ext uri="{FF2B5EF4-FFF2-40B4-BE49-F238E27FC236}">
                <a16:creationId xmlns:a16="http://schemas.microsoft.com/office/drawing/2014/main" id="{74FE1554-B974-F296-61F0-12CC9EC92D71}"/>
              </a:ext>
            </a:extLst>
          </p:cNvPr>
          <p:cNvSpPr>
            <a:spLocks/>
          </p:cNvSpPr>
          <p:nvPr/>
        </p:nvSpPr>
        <p:spPr bwMode="auto">
          <a:xfrm>
            <a:off x="3067050" y="1857375"/>
            <a:ext cx="533400" cy="438150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0 w 21600"/>
              <a:gd name="T1" fmla="*/ 21600 h 21600"/>
              <a:gd name="T2" fmla="*/ 21536 w 21600"/>
              <a:gd name="T3" fmla="*/ 0 h 21600"/>
              <a:gd name="T4" fmla="*/ 2160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599"/>
                </a:moveTo>
                <a:cubicBezTo>
                  <a:pt x="0" y="9695"/>
                  <a:pt x="9631" y="35"/>
                  <a:pt x="21536" y="0"/>
                </a:cubicBezTo>
              </a:path>
              <a:path w="21600" h="21600" stroke="0" extrusionOk="0">
                <a:moveTo>
                  <a:pt x="0" y="21599"/>
                </a:moveTo>
                <a:cubicBezTo>
                  <a:pt x="0" y="9695"/>
                  <a:pt x="9631" y="35"/>
                  <a:pt x="21536" y="0"/>
                </a:cubicBezTo>
                <a:lnTo>
                  <a:pt x="21600" y="2160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04" name="Arc 32">
            <a:extLst>
              <a:ext uri="{FF2B5EF4-FFF2-40B4-BE49-F238E27FC236}">
                <a16:creationId xmlns:a16="http://schemas.microsoft.com/office/drawing/2014/main" id="{321381E6-78BD-773E-67FF-B7D7BAECFC8E}"/>
              </a:ext>
            </a:extLst>
          </p:cNvPr>
          <p:cNvSpPr>
            <a:spLocks/>
          </p:cNvSpPr>
          <p:nvPr/>
        </p:nvSpPr>
        <p:spPr bwMode="auto">
          <a:xfrm>
            <a:off x="3695700" y="1857375"/>
            <a:ext cx="381000" cy="704850"/>
          </a:xfrm>
          <a:custGeom>
            <a:avLst/>
            <a:gdLst>
              <a:gd name="G0" fmla="+- 0 0 0"/>
              <a:gd name="G1" fmla="+- 21164 0 0"/>
              <a:gd name="G2" fmla="+- 21600 0 0"/>
              <a:gd name="T0" fmla="*/ 4319 w 21600"/>
              <a:gd name="T1" fmla="*/ 0 h 21164"/>
              <a:gd name="T2" fmla="*/ 21600 w 21600"/>
              <a:gd name="T3" fmla="*/ 21164 h 21164"/>
              <a:gd name="T4" fmla="*/ 0 w 21600"/>
              <a:gd name="T5" fmla="*/ 21164 h 21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164" fill="none" extrusionOk="0">
                <a:moveTo>
                  <a:pt x="4318" y="0"/>
                </a:moveTo>
                <a:cubicBezTo>
                  <a:pt x="14376" y="2052"/>
                  <a:pt x="21600" y="10899"/>
                  <a:pt x="21600" y="21164"/>
                </a:cubicBezTo>
              </a:path>
              <a:path w="21600" h="21164" stroke="0" extrusionOk="0">
                <a:moveTo>
                  <a:pt x="4318" y="0"/>
                </a:moveTo>
                <a:cubicBezTo>
                  <a:pt x="14376" y="2052"/>
                  <a:pt x="21600" y="10899"/>
                  <a:pt x="21600" y="21164"/>
                </a:cubicBezTo>
                <a:lnTo>
                  <a:pt x="0" y="21164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05" name="Arc 33">
            <a:extLst>
              <a:ext uri="{FF2B5EF4-FFF2-40B4-BE49-F238E27FC236}">
                <a16:creationId xmlns:a16="http://schemas.microsoft.com/office/drawing/2014/main" id="{CB4AEC82-05A3-BE6C-2A22-8F0EAA2C5009}"/>
              </a:ext>
            </a:extLst>
          </p:cNvPr>
          <p:cNvSpPr>
            <a:spLocks/>
          </p:cNvSpPr>
          <p:nvPr/>
        </p:nvSpPr>
        <p:spPr bwMode="auto">
          <a:xfrm>
            <a:off x="4094163" y="1838325"/>
            <a:ext cx="477837" cy="927100"/>
          </a:xfrm>
          <a:custGeom>
            <a:avLst/>
            <a:gdLst>
              <a:gd name="G0" fmla="+- 72 0 0"/>
              <a:gd name="G1" fmla="+- 21600 0 0"/>
              <a:gd name="G2" fmla="+- 21600 0 0"/>
              <a:gd name="T0" fmla="*/ 0 w 21672"/>
              <a:gd name="T1" fmla="*/ 0 h 37848"/>
              <a:gd name="T2" fmla="*/ 14305 w 21672"/>
              <a:gd name="T3" fmla="*/ 37848 h 37848"/>
              <a:gd name="T4" fmla="*/ 72 w 21672"/>
              <a:gd name="T5" fmla="*/ 21600 h 378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72" h="37848" fill="none" extrusionOk="0">
                <a:moveTo>
                  <a:pt x="0" y="0"/>
                </a:moveTo>
                <a:cubicBezTo>
                  <a:pt x="24" y="0"/>
                  <a:pt x="48" y="0"/>
                  <a:pt x="72" y="0"/>
                </a:cubicBezTo>
                <a:cubicBezTo>
                  <a:pt x="12001" y="0"/>
                  <a:pt x="21672" y="9670"/>
                  <a:pt x="21672" y="21600"/>
                </a:cubicBezTo>
                <a:cubicBezTo>
                  <a:pt x="21672" y="27824"/>
                  <a:pt x="18986" y="33746"/>
                  <a:pt x="14304" y="37847"/>
                </a:cubicBezTo>
              </a:path>
              <a:path w="21672" h="37848" stroke="0" extrusionOk="0">
                <a:moveTo>
                  <a:pt x="0" y="0"/>
                </a:moveTo>
                <a:cubicBezTo>
                  <a:pt x="24" y="0"/>
                  <a:pt x="48" y="0"/>
                  <a:pt x="72" y="0"/>
                </a:cubicBezTo>
                <a:cubicBezTo>
                  <a:pt x="12001" y="0"/>
                  <a:pt x="21672" y="9670"/>
                  <a:pt x="21672" y="21600"/>
                </a:cubicBezTo>
                <a:cubicBezTo>
                  <a:pt x="21672" y="27824"/>
                  <a:pt x="18986" y="33746"/>
                  <a:pt x="14304" y="37847"/>
                </a:cubicBezTo>
                <a:lnTo>
                  <a:pt x="72" y="2160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D40DFAD-5E79-08F6-53AE-DC5CC04B2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038" y="1222375"/>
            <a:ext cx="344487" cy="2952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1DF8EAB4-BD8B-5274-D9BB-FC1009AB0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" y="1535113"/>
            <a:ext cx="2471738" cy="18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 sz="1200" b="1">
                <a:latin typeface="Courier New" panose="02070309020205020404" pitchFamily="49" charset="0"/>
              </a:rPr>
              <a:t>1   2   </a:t>
            </a: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3</a:t>
            </a:r>
            <a:r>
              <a:rPr lang="en-US" altLang="en-US" sz="1200" b="1">
                <a:latin typeface="Courier New" panose="02070309020205020404" pitchFamily="49" charset="0"/>
              </a:rPr>
              <a:t>   4   5   6   7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3A35080D-1134-56B4-E9EF-0D6D171F6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263" y="1031875"/>
            <a:ext cx="7874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r>
              <a:rPr lang="en-US" altLang="en-US" sz="1200" b="1">
                <a:latin typeface="Arial" panose="020B0604020202020204" pitchFamily="34" charset="0"/>
              </a:rPr>
              <a:t>CountyTax</a:t>
            </a:r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B2FBBD58-F55E-25B4-3010-A402B103E6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988" y="1222375"/>
            <a:ext cx="344487" cy="2952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2A0F60BC-343A-6DA4-39CA-26F47E3D3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938" y="1222375"/>
            <a:ext cx="344487" cy="2952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5C14D632-BD3A-C3AB-ACE1-DC531A4F7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1222375"/>
            <a:ext cx="344487" cy="2952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B236194C-684C-AB74-1674-46BF2D38EC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0838" y="1222375"/>
            <a:ext cx="344487" cy="2952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5" name="Rectangle 9">
            <a:extLst>
              <a:ext uri="{FF2B5EF4-FFF2-40B4-BE49-F238E27FC236}">
                <a16:creationId xmlns:a16="http://schemas.microsoft.com/office/drawing/2014/main" id="{2FCF4777-3781-C453-C923-01E7A228D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2788" y="1222375"/>
            <a:ext cx="344487" cy="2952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6" name="Rectangle 10">
            <a:extLst>
              <a:ext uri="{FF2B5EF4-FFF2-40B4-BE49-F238E27FC236}">
                <a16:creationId xmlns:a16="http://schemas.microsoft.com/office/drawing/2014/main" id="{E00E919D-24D1-D3F3-0A88-607F157C59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4738" y="1222375"/>
            <a:ext cx="344487" cy="2952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12B07E0B-2F11-9BBF-47AE-5338E2047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0300" y="755650"/>
            <a:ext cx="635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C7B03EC4-58D0-E2A3-DD68-0F67F52D8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00" y="1231900"/>
            <a:ext cx="2508250" cy="279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111" name="Group 15">
            <a:extLst>
              <a:ext uri="{FF2B5EF4-FFF2-40B4-BE49-F238E27FC236}">
                <a16:creationId xmlns:a16="http://schemas.microsoft.com/office/drawing/2014/main" id="{AAA971F6-874F-79CB-8A9F-6594CAC73375}"/>
              </a:ext>
            </a:extLst>
          </p:cNvPr>
          <p:cNvGrpSpPr>
            <a:grpSpLocks/>
          </p:cNvGrpSpPr>
          <p:nvPr/>
        </p:nvGrpSpPr>
        <p:grpSpPr bwMode="auto">
          <a:xfrm>
            <a:off x="2641600" y="1212850"/>
            <a:ext cx="117475" cy="317500"/>
            <a:chOff x="1664" y="764"/>
            <a:chExt cx="74" cy="200"/>
          </a:xfrm>
        </p:grpSpPr>
        <p:sp>
          <p:nvSpPr>
            <p:cNvPr id="4109" name="Freeform 13">
              <a:extLst>
                <a:ext uri="{FF2B5EF4-FFF2-40B4-BE49-F238E27FC236}">
                  <a16:creationId xmlns:a16="http://schemas.microsoft.com/office/drawing/2014/main" id="{0B07B065-9379-87F2-7ABC-2D4B8689D1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4" y="772"/>
              <a:ext cx="41" cy="185"/>
            </a:xfrm>
            <a:custGeom>
              <a:avLst/>
              <a:gdLst>
                <a:gd name="T0" fmla="*/ 40 w 41"/>
                <a:gd name="T1" fmla="*/ 0 h 185"/>
                <a:gd name="T2" fmla="*/ 32 w 41"/>
                <a:gd name="T3" fmla="*/ 0 h 185"/>
                <a:gd name="T4" fmla="*/ 24 w 41"/>
                <a:gd name="T5" fmla="*/ 0 h 185"/>
                <a:gd name="T6" fmla="*/ 16 w 41"/>
                <a:gd name="T7" fmla="*/ 4 h 185"/>
                <a:gd name="T8" fmla="*/ 16 w 41"/>
                <a:gd name="T9" fmla="*/ 12 h 185"/>
                <a:gd name="T10" fmla="*/ 16 w 41"/>
                <a:gd name="T11" fmla="*/ 20 h 185"/>
                <a:gd name="T12" fmla="*/ 12 w 41"/>
                <a:gd name="T13" fmla="*/ 28 h 185"/>
                <a:gd name="T14" fmla="*/ 8 w 41"/>
                <a:gd name="T15" fmla="*/ 36 h 185"/>
                <a:gd name="T16" fmla="*/ 8 w 41"/>
                <a:gd name="T17" fmla="*/ 44 h 185"/>
                <a:gd name="T18" fmla="*/ 16 w 41"/>
                <a:gd name="T19" fmla="*/ 49 h 185"/>
                <a:gd name="T20" fmla="*/ 16 w 41"/>
                <a:gd name="T21" fmla="*/ 57 h 185"/>
                <a:gd name="T22" fmla="*/ 12 w 41"/>
                <a:gd name="T23" fmla="*/ 65 h 185"/>
                <a:gd name="T24" fmla="*/ 4 w 41"/>
                <a:gd name="T25" fmla="*/ 69 h 185"/>
                <a:gd name="T26" fmla="*/ 4 w 41"/>
                <a:gd name="T27" fmla="*/ 77 h 185"/>
                <a:gd name="T28" fmla="*/ 4 w 41"/>
                <a:gd name="T29" fmla="*/ 85 h 185"/>
                <a:gd name="T30" fmla="*/ 12 w 41"/>
                <a:gd name="T31" fmla="*/ 89 h 185"/>
                <a:gd name="T32" fmla="*/ 16 w 41"/>
                <a:gd name="T33" fmla="*/ 98 h 185"/>
                <a:gd name="T34" fmla="*/ 12 w 41"/>
                <a:gd name="T35" fmla="*/ 106 h 185"/>
                <a:gd name="T36" fmla="*/ 8 w 41"/>
                <a:gd name="T37" fmla="*/ 114 h 185"/>
                <a:gd name="T38" fmla="*/ 0 w 41"/>
                <a:gd name="T39" fmla="*/ 118 h 185"/>
                <a:gd name="T40" fmla="*/ 0 w 41"/>
                <a:gd name="T41" fmla="*/ 126 h 185"/>
                <a:gd name="T42" fmla="*/ 8 w 41"/>
                <a:gd name="T43" fmla="*/ 134 h 185"/>
                <a:gd name="T44" fmla="*/ 12 w 41"/>
                <a:gd name="T45" fmla="*/ 143 h 185"/>
                <a:gd name="T46" fmla="*/ 4 w 41"/>
                <a:gd name="T47" fmla="*/ 147 h 185"/>
                <a:gd name="T48" fmla="*/ 4 w 41"/>
                <a:gd name="T49" fmla="*/ 155 h 185"/>
                <a:gd name="T50" fmla="*/ 4 w 41"/>
                <a:gd name="T51" fmla="*/ 163 h 185"/>
                <a:gd name="T52" fmla="*/ 12 w 41"/>
                <a:gd name="T53" fmla="*/ 163 h 185"/>
                <a:gd name="T54" fmla="*/ 12 w 41"/>
                <a:gd name="T55" fmla="*/ 171 h 185"/>
                <a:gd name="T56" fmla="*/ 16 w 41"/>
                <a:gd name="T57" fmla="*/ 179 h 185"/>
                <a:gd name="T58" fmla="*/ 24 w 41"/>
                <a:gd name="T59" fmla="*/ 184 h 185"/>
                <a:gd name="T60" fmla="*/ 32 w 41"/>
                <a:gd name="T61" fmla="*/ 184 h 185"/>
                <a:gd name="T62" fmla="*/ 40 w 41"/>
                <a:gd name="T63" fmla="*/ 184 h 185"/>
                <a:gd name="T64" fmla="*/ 40 w 41"/>
                <a:gd name="T65" fmla="*/ 0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1" h="185">
                  <a:moveTo>
                    <a:pt x="40" y="0"/>
                  </a:moveTo>
                  <a:lnTo>
                    <a:pt x="32" y="0"/>
                  </a:lnTo>
                  <a:lnTo>
                    <a:pt x="24" y="0"/>
                  </a:lnTo>
                  <a:lnTo>
                    <a:pt x="16" y="4"/>
                  </a:lnTo>
                  <a:lnTo>
                    <a:pt x="16" y="12"/>
                  </a:lnTo>
                  <a:lnTo>
                    <a:pt x="16" y="20"/>
                  </a:lnTo>
                  <a:lnTo>
                    <a:pt x="12" y="28"/>
                  </a:lnTo>
                  <a:lnTo>
                    <a:pt x="8" y="36"/>
                  </a:lnTo>
                  <a:lnTo>
                    <a:pt x="8" y="44"/>
                  </a:lnTo>
                  <a:lnTo>
                    <a:pt x="16" y="49"/>
                  </a:lnTo>
                  <a:lnTo>
                    <a:pt x="16" y="57"/>
                  </a:lnTo>
                  <a:lnTo>
                    <a:pt x="12" y="65"/>
                  </a:lnTo>
                  <a:lnTo>
                    <a:pt x="4" y="69"/>
                  </a:lnTo>
                  <a:lnTo>
                    <a:pt x="4" y="77"/>
                  </a:lnTo>
                  <a:lnTo>
                    <a:pt x="4" y="85"/>
                  </a:lnTo>
                  <a:lnTo>
                    <a:pt x="12" y="89"/>
                  </a:lnTo>
                  <a:lnTo>
                    <a:pt x="16" y="98"/>
                  </a:lnTo>
                  <a:lnTo>
                    <a:pt x="12" y="106"/>
                  </a:lnTo>
                  <a:lnTo>
                    <a:pt x="8" y="114"/>
                  </a:lnTo>
                  <a:lnTo>
                    <a:pt x="0" y="118"/>
                  </a:lnTo>
                  <a:lnTo>
                    <a:pt x="0" y="126"/>
                  </a:lnTo>
                  <a:lnTo>
                    <a:pt x="8" y="134"/>
                  </a:lnTo>
                  <a:lnTo>
                    <a:pt x="12" y="143"/>
                  </a:lnTo>
                  <a:lnTo>
                    <a:pt x="4" y="147"/>
                  </a:lnTo>
                  <a:lnTo>
                    <a:pt x="4" y="155"/>
                  </a:lnTo>
                  <a:lnTo>
                    <a:pt x="4" y="163"/>
                  </a:lnTo>
                  <a:lnTo>
                    <a:pt x="12" y="163"/>
                  </a:lnTo>
                  <a:lnTo>
                    <a:pt x="12" y="171"/>
                  </a:lnTo>
                  <a:lnTo>
                    <a:pt x="16" y="179"/>
                  </a:lnTo>
                  <a:lnTo>
                    <a:pt x="24" y="184"/>
                  </a:lnTo>
                  <a:lnTo>
                    <a:pt x="32" y="184"/>
                  </a:lnTo>
                  <a:lnTo>
                    <a:pt x="40" y="184"/>
                  </a:lnTo>
                  <a:lnTo>
                    <a:pt x="40" y="0"/>
                  </a:lnTo>
                </a:path>
              </a:pathLst>
            </a:custGeom>
            <a:solidFill>
              <a:schemeClr val="bg1"/>
            </a:solidFill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0" name="Rectangle 14">
              <a:extLst>
                <a:ext uri="{FF2B5EF4-FFF2-40B4-BE49-F238E27FC236}">
                  <a16:creationId xmlns:a16="http://schemas.microsoft.com/office/drawing/2014/main" id="{0673A170-FB58-6F39-94C3-D241B3613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0" y="764"/>
              <a:ext cx="48" cy="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12" name="AutoShape 16">
            <a:extLst>
              <a:ext uri="{FF2B5EF4-FFF2-40B4-BE49-F238E27FC236}">
                <a16:creationId xmlns:a16="http://schemas.microsoft.com/office/drawing/2014/main" id="{9AC5097E-B494-D993-0E96-26743567DB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9550" y="1301750"/>
            <a:ext cx="311150" cy="139700"/>
          </a:xfrm>
          <a:prstGeom prst="rightArrow">
            <a:avLst>
              <a:gd name="adj1" fmla="val 50000"/>
              <a:gd name="adj2" fmla="val 111374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7961" dir="2700000" algn="ctr" rotWithShape="0">
              <a:schemeClr val="folHlink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3" name="Rectangle 17">
            <a:extLst>
              <a:ext uri="{FF2B5EF4-FFF2-40B4-BE49-F238E27FC236}">
                <a16:creationId xmlns:a16="http://schemas.microsoft.com/office/drawing/2014/main" id="{18F0E57B-ED7F-2742-25D8-E3D9C1CB0B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0225" y="1192213"/>
            <a:ext cx="635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19 other</a:t>
            </a:r>
          </a:p>
          <a:p>
            <a:r>
              <a:rPr lang="en-US" altLang="en-US"/>
              <a:t>elements</a:t>
            </a:r>
          </a:p>
        </p:txBody>
      </p:sp>
      <p:sp>
        <p:nvSpPr>
          <p:cNvPr id="4114" name="Rectangle 18">
            <a:extLst>
              <a:ext uri="{FF2B5EF4-FFF2-40B4-BE49-F238E27FC236}">
                <a16:creationId xmlns:a16="http://schemas.microsoft.com/office/drawing/2014/main" id="{22221704-C9E8-848B-FDA2-D58D72959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800" y="282575"/>
            <a:ext cx="920750" cy="2730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5" name="Rectangle 19">
            <a:extLst>
              <a:ext uri="{FF2B5EF4-FFF2-40B4-BE49-F238E27FC236}">
                <a16:creationId xmlns:a16="http://schemas.microsoft.com/office/drawing/2014/main" id="{5769EB74-867B-05D4-C2A7-0297057D1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117475"/>
            <a:ext cx="5429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r>
              <a:rPr lang="en-US" altLang="en-US" sz="1200" b="1">
                <a:latin typeface="Arial" panose="020B0604020202020204" pitchFamily="34" charset="0"/>
              </a:rPr>
              <a:t>TaxRec</a:t>
            </a:r>
          </a:p>
        </p:txBody>
      </p:sp>
      <p:sp>
        <p:nvSpPr>
          <p:cNvPr id="4116" name="Rectangle 20">
            <a:extLst>
              <a:ext uri="{FF2B5EF4-FFF2-40B4-BE49-F238E27FC236}">
                <a16:creationId xmlns:a16="http://schemas.microsoft.com/office/drawing/2014/main" id="{D1FFB8CA-05F2-D904-FE09-D65AD1C70B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582613"/>
            <a:ext cx="717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PAYENum</a:t>
            </a:r>
          </a:p>
        </p:txBody>
      </p:sp>
      <p:sp>
        <p:nvSpPr>
          <p:cNvPr id="4117" name="Rectangle 21">
            <a:extLst>
              <a:ext uri="{FF2B5EF4-FFF2-40B4-BE49-F238E27FC236}">
                <a16:creationId xmlns:a16="http://schemas.microsoft.com/office/drawing/2014/main" id="{C1FBB8CE-44E5-2172-FA85-390BDFE87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563563"/>
            <a:ext cx="717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TaxPaid</a:t>
            </a:r>
          </a:p>
        </p:txBody>
      </p:sp>
      <p:sp>
        <p:nvSpPr>
          <p:cNvPr id="4118" name="Rectangle 22">
            <a:extLst>
              <a:ext uri="{FF2B5EF4-FFF2-40B4-BE49-F238E27FC236}">
                <a16:creationId xmlns:a16="http://schemas.microsoft.com/office/drawing/2014/main" id="{7E65A358-C77E-FD65-BFE4-17FE110739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4900" y="563563"/>
            <a:ext cx="9461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CountyCode</a:t>
            </a:r>
          </a:p>
        </p:txBody>
      </p:sp>
      <p:sp>
        <p:nvSpPr>
          <p:cNvPr id="4119" name="Rectangle 23">
            <a:extLst>
              <a:ext uri="{FF2B5EF4-FFF2-40B4-BE49-F238E27FC236}">
                <a16:creationId xmlns:a16="http://schemas.microsoft.com/office/drawing/2014/main" id="{4997B8EA-8893-E7D9-9557-CB51763C4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1250" y="282575"/>
            <a:ext cx="920750" cy="2730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20" name="Rectangle 24">
            <a:extLst>
              <a:ext uri="{FF2B5EF4-FFF2-40B4-BE49-F238E27FC236}">
                <a16:creationId xmlns:a16="http://schemas.microsoft.com/office/drawing/2014/main" id="{D39ECFB4-D3D5-09D5-B58D-ABE4E65F1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4700" y="282575"/>
            <a:ext cx="920750" cy="2730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21" name="Rectangle 25">
            <a:extLst>
              <a:ext uri="{FF2B5EF4-FFF2-40B4-BE49-F238E27FC236}">
                <a16:creationId xmlns:a16="http://schemas.microsoft.com/office/drawing/2014/main" id="{1E61D22C-74A0-216F-91A3-E665E6586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275" y="269875"/>
            <a:ext cx="3825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74</a:t>
            </a:r>
          </a:p>
        </p:txBody>
      </p:sp>
      <p:sp>
        <p:nvSpPr>
          <p:cNvPr id="4122" name="Rectangle 26">
            <a:extLst>
              <a:ext uri="{FF2B5EF4-FFF2-40B4-BE49-F238E27FC236}">
                <a16:creationId xmlns:a16="http://schemas.microsoft.com/office/drawing/2014/main" id="{8B704C58-4889-605A-D64A-0CD191B47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3825" y="269875"/>
            <a:ext cx="282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4123" name="Rectangle 27">
            <a:extLst>
              <a:ext uri="{FF2B5EF4-FFF2-40B4-BE49-F238E27FC236}">
                <a16:creationId xmlns:a16="http://schemas.microsoft.com/office/drawing/2014/main" id="{C8A0DFAD-6586-513F-E78D-A0C5E01BE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5" y="269875"/>
            <a:ext cx="9747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12345678</a:t>
            </a:r>
          </a:p>
        </p:txBody>
      </p:sp>
      <p:sp>
        <p:nvSpPr>
          <p:cNvPr id="4124" name="Rectangle 28">
            <a:extLst>
              <a:ext uri="{FF2B5EF4-FFF2-40B4-BE49-F238E27FC236}">
                <a16:creationId xmlns:a16="http://schemas.microsoft.com/office/drawing/2014/main" id="{E2A7D4F2-3175-79BA-4225-B2AEF768F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5" y="2052638"/>
            <a:ext cx="4451350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MOVE 10 TO CountyTax(3)</a:t>
            </a:r>
            <a:endParaRPr lang="en-US" altLang="en-US" sz="1400" b="1">
              <a:latin typeface="Courier New" panose="02070309020205020404" pitchFamily="49" charset="0"/>
            </a:endParaRPr>
          </a:p>
          <a:p>
            <a:r>
              <a:rPr lang="en-US" altLang="en-US" sz="1400" b="1">
                <a:latin typeface="Courier New" panose="02070309020205020404" pitchFamily="49" charset="0"/>
              </a:rPr>
              <a:t>ADD TaxPaid TO CountyTax(CountyCode)</a:t>
            </a:r>
          </a:p>
          <a:p>
            <a:r>
              <a:rPr lang="en-US" altLang="en-US" sz="1400" b="1">
                <a:latin typeface="Courier New" panose="02070309020205020404" pitchFamily="49" charset="0"/>
              </a:rPr>
              <a:t>ADD TaxPaid TO CountyTax(CountyCode + 1)</a:t>
            </a:r>
          </a:p>
          <a:p>
            <a:r>
              <a:rPr lang="en-US" altLang="en-US" sz="1400" b="1">
                <a:latin typeface="Courier New" panose="02070309020205020404" pitchFamily="49" charset="0"/>
              </a:rPr>
              <a:t>ADD TaxPaid TO CountyTax(CountyCode - 2)</a:t>
            </a:r>
          </a:p>
        </p:txBody>
      </p:sp>
      <p:sp>
        <p:nvSpPr>
          <p:cNvPr id="4125" name="Rectangle 29">
            <a:extLst>
              <a:ext uri="{FF2B5EF4-FFF2-40B4-BE49-F238E27FC236}">
                <a16:creationId xmlns:a16="http://schemas.microsoft.com/office/drawing/2014/main" id="{96E61551-C3E3-F766-32B4-FE2D843BD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475" y="1222375"/>
            <a:ext cx="3825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4126" name="Arc 30">
            <a:extLst>
              <a:ext uri="{FF2B5EF4-FFF2-40B4-BE49-F238E27FC236}">
                <a16:creationId xmlns:a16="http://schemas.microsoft.com/office/drawing/2014/main" id="{3C168FFD-2A2B-2559-10D7-2CCA7C4E1CA8}"/>
              </a:ext>
            </a:extLst>
          </p:cNvPr>
          <p:cNvSpPr>
            <a:spLocks/>
          </p:cNvSpPr>
          <p:nvPr/>
        </p:nvSpPr>
        <p:spPr bwMode="auto">
          <a:xfrm>
            <a:off x="533400" y="1381125"/>
            <a:ext cx="476250" cy="781050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9689 w 21600"/>
              <a:gd name="T1" fmla="*/ 39619 h 39619"/>
              <a:gd name="T2" fmla="*/ 21528 w 21600"/>
              <a:gd name="T3" fmla="*/ 0 h 39619"/>
              <a:gd name="T4" fmla="*/ 21600 w 21600"/>
              <a:gd name="T5" fmla="*/ 21600 h 396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39619" fill="none" extrusionOk="0">
                <a:moveTo>
                  <a:pt x="9688" y="39619"/>
                </a:moveTo>
                <a:cubicBezTo>
                  <a:pt x="3639" y="35620"/>
                  <a:pt x="0" y="28852"/>
                  <a:pt x="0" y="21600"/>
                </a:cubicBezTo>
                <a:cubicBezTo>
                  <a:pt x="0" y="9698"/>
                  <a:pt x="9626" y="39"/>
                  <a:pt x="21528" y="0"/>
                </a:cubicBezTo>
              </a:path>
              <a:path w="21600" h="39619" stroke="0" extrusionOk="0">
                <a:moveTo>
                  <a:pt x="9688" y="39619"/>
                </a:moveTo>
                <a:cubicBezTo>
                  <a:pt x="3639" y="35620"/>
                  <a:pt x="0" y="28852"/>
                  <a:pt x="0" y="21600"/>
                </a:cubicBezTo>
                <a:cubicBezTo>
                  <a:pt x="0" y="9698"/>
                  <a:pt x="9626" y="39"/>
                  <a:pt x="21528" y="0"/>
                </a:cubicBezTo>
                <a:lnTo>
                  <a:pt x="21600" y="21600"/>
                </a:lnTo>
                <a:close/>
              </a:path>
            </a:pathLst>
          </a:custGeom>
          <a:noFill/>
          <a:ln w="12700" cap="rnd">
            <a:solidFill>
              <a:srgbClr val="CC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33EA71F-6264-D74A-A78D-0C1FED378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038" y="1222375"/>
            <a:ext cx="344487" cy="2952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F0157A13-80F8-46F1-8BAC-B7CB7AF0DD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" y="1535113"/>
            <a:ext cx="2471738" cy="18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 sz="1200" b="1">
                <a:latin typeface="Courier New" panose="02070309020205020404" pitchFamily="49" charset="0"/>
              </a:rPr>
              <a:t>1   2   3   4   </a:t>
            </a: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5</a:t>
            </a:r>
            <a:r>
              <a:rPr lang="en-US" altLang="en-US" sz="1200" b="1">
                <a:latin typeface="Courier New" panose="02070309020205020404" pitchFamily="49" charset="0"/>
              </a:rPr>
              <a:t>   6   7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A3C4771E-A41F-7E52-10C6-AE751CBC3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263" y="1031875"/>
            <a:ext cx="7874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r>
              <a:rPr lang="en-US" altLang="en-US" sz="1200" b="1">
                <a:latin typeface="Arial" panose="020B0604020202020204" pitchFamily="34" charset="0"/>
              </a:rPr>
              <a:t>CountyTax</a:t>
            </a:r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F1F0176F-FB1F-5A2F-7E0F-35AAFE7A8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988" y="1222375"/>
            <a:ext cx="344487" cy="2952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4AF23554-6405-6C92-DE6F-891631F3D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938" y="1222375"/>
            <a:ext cx="344487" cy="2952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3C039046-4FFF-69D1-1A5F-755716E114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1222375"/>
            <a:ext cx="344487" cy="2952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8" name="Rectangle 8">
            <a:extLst>
              <a:ext uri="{FF2B5EF4-FFF2-40B4-BE49-F238E27FC236}">
                <a16:creationId xmlns:a16="http://schemas.microsoft.com/office/drawing/2014/main" id="{B7D72714-FE6F-B66F-C388-910BC4D26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0838" y="1222375"/>
            <a:ext cx="344487" cy="2952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9" name="Rectangle 9">
            <a:extLst>
              <a:ext uri="{FF2B5EF4-FFF2-40B4-BE49-F238E27FC236}">
                <a16:creationId xmlns:a16="http://schemas.microsoft.com/office/drawing/2014/main" id="{120CBD4C-14B4-2246-F61C-C573BF326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2788" y="1222375"/>
            <a:ext cx="344487" cy="2952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30" name="Rectangle 10">
            <a:extLst>
              <a:ext uri="{FF2B5EF4-FFF2-40B4-BE49-F238E27FC236}">
                <a16:creationId xmlns:a16="http://schemas.microsoft.com/office/drawing/2014/main" id="{94D060CE-A693-6ACA-4722-582FD26FDD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4738" y="1222375"/>
            <a:ext cx="344487" cy="2952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31" name="Rectangle 11">
            <a:extLst>
              <a:ext uri="{FF2B5EF4-FFF2-40B4-BE49-F238E27FC236}">
                <a16:creationId xmlns:a16="http://schemas.microsoft.com/office/drawing/2014/main" id="{FD9DB1BB-1F5E-E6AE-F36D-26B3FD070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0300" y="755650"/>
            <a:ext cx="635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32" name="Rectangle 12">
            <a:extLst>
              <a:ext uri="{FF2B5EF4-FFF2-40B4-BE49-F238E27FC236}">
                <a16:creationId xmlns:a16="http://schemas.microsoft.com/office/drawing/2014/main" id="{CE8DA95A-D18B-1A23-E654-EA7B66CEE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00" y="1231900"/>
            <a:ext cx="2508250" cy="279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135" name="Group 15">
            <a:extLst>
              <a:ext uri="{FF2B5EF4-FFF2-40B4-BE49-F238E27FC236}">
                <a16:creationId xmlns:a16="http://schemas.microsoft.com/office/drawing/2014/main" id="{4F290FCF-893C-09F9-1086-DDCBC154C16D}"/>
              </a:ext>
            </a:extLst>
          </p:cNvPr>
          <p:cNvGrpSpPr>
            <a:grpSpLocks/>
          </p:cNvGrpSpPr>
          <p:nvPr/>
        </p:nvGrpSpPr>
        <p:grpSpPr bwMode="auto">
          <a:xfrm>
            <a:off x="2641600" y="1212850"/>
            <a:ext cx="117475" cy="317500"/>
            <a:chOff x="1664" y="764"/>
            <a:chExt cx="74" cy="200"/>
          </a:xfrm>
        </p:grpSpPr>
        <p:sp>
          <p:nvSpPr>
            <p:cNvPr id="5133" name="Freeform 13">
              <a:extLst>
                <a:ext uri="{FF2B5EF4-FFF2-40B4-BE49-F238E27FC236}">
                  <a16:creationId xmlns:a16="http://schemas.microsoft.com/office/drawing/2014/main" id="{1EDB6F2C-9510-8593-F38B-5E14D9E22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4" y="772"/>
              <a:ext cx="41" cy="185"/>
            </a:xfrm>
            <a:custGeom>
              <a:avLst/>
              <a:gdLst>
                <a:gd name="T0" fmla="*/ 40 w 41"/>
                <a:gd name="T1" fmla="*/ 0 h 185"/>
                <a:gd name="T2" fmla="*/ 32 w 41"/>
                <a:gd name="T3" fmla="*/ 0 h 185"/>
                <a:gd name="T4" fmla="*/ 24 w 41"/>
                <a:gd name="T5" fmla="*/ 0 h 185"/>
                <a:gd name="T6" fmla="*/ 16 w 41"/>
                <a:gd name="T7" fmla="*/ 4 h 185"/>
                <a:gd name="T8" fmla="*/ 16 w 41"/>
                <a:gd name="T9" fmla="*/ 12 h 185"/>
                <a:gd name="T10" fmla="*/ 16 w 41"/>
                <a:gd name="T11" fmla="*/ 20 h 185"/>
                <a:gd name="T12" fmla="*/ 12 w 41"/>
                <a:gd name="T13" fmla="*/ 28 h 185"/>
                <a:gd name="T14" fmla="*/ 8 w 41"/>
                <a:gd name="T15" fmla="*/ 36 h 185"/>
                <a:gd name="T16" fmla="*/ 8 w 41"/>
                <a:gd name="T17" fmla="*/ 44 h 185"/>
                <a:gd name="T18" fmla="*/ 16 w 41"/>
                <a:gd name="T19" fmla="*/ 49 h 185"/>
                <a:gd name="T20" fmla="*/ 16 w 41"/>
                <a:gd name="T21" fmla="*/ 57 h 185"/>
                <a:gd name="T22" fmla="*/ 12 w 41"/>
                <a:gd name="T23" fmla="*/ 65 h 185"/>
                <a:gd name="T24" fmla="*/ 4 w 41"/>
                <a:gd name="T25" fmla="*/ 69 h 185"/>
                <a:gd name="T26" fmla="*/ 4 w 41"/>
                <a:gd name="T27" fmla="*/ 77 h 185"/>
                <a:gd name="T28" fmla="*/ 4 w 41"/>
                <a:gd name="T29" fmla="*/ 85 h 185"/>
                <a:gd name="T30" fmla="*/ 12 w 41"/>
                <a:gd name="T31" fmla="*/ 89 h 185"/>
                <a:gd name="T32" fmla="*/ 16 w 41"/>
                <a:gd name="T33" fmla="*/ 98 h 185"/>
                <a:gd name="T34" fmla="*/ 12 w 41"/>
                <a:gd name="T35" fmla="*/ 106 h 185"/>
                <a:gd name="T36" fmla="*/ 8 w 41"/>
                <a:gd name="T37" fmla="*/ 114 h 185"/>
                <a:gd name="T38" fmla="*/ 0 w 41"/>
                <a:gd name="T39" fmla="*/ 118 h 185"/>
                <a:gd name="T40" fmla="*/ 0 w 41"/>
                <a:gd name="T41" fmla="*/ 126 h 185"/>
                <a:gd name="T42" fmla="*/ 8 w 41"/>
                <a:gd name="T43" fmla="*/ 134 h 185"/>
                <a:gd name="T44" fmla="*/ 12 w 41"/>
                <a:gd name="T45" fmla="*/ 143 h 185"/>
                <a:gd name="T46" fmla="*/ 4 w 41"/>
                <a:gd name="T47" fmla="*/ 147 h 185"/>
                <a:gd name="T48" fmla="*/ 4 w 41"/>
                <a:gd name="T49" fmla="*/ 155 h 185"/>
                <a:gd name="T50" fmla="*/ 4 w 41"/>
                <a:gd name="T51" fmla="*/ 163 h 185"/>
                <a:gd name="T52" fmla="*/ 12 w 41"/>
                <a:gd name="T53" fmla="*/ 163 h 185"/>
                <a:gd name="T54" fmla="*/ 12 w 41"/>
                <a:gd name="T55" fmla="*/ 171 h 185"/>
                <a:gd name="T56" fmla="*/ 16 w 41"/>
                <a:gd name="T57" fmla="*/ 179 h 185"/>
                <a:gd name="T58" fmla="*/ 24 w 41"/>
                <a:gd name="T59" fmla="*/ 184 h 185"/>
                <a:gd name="T60" fmla="*/ 32 w 41"/>
                <a:gd name="T61" fmla="*/ 184 h 185"/>
                <a:gd name="T62" fmla="*/ 40 w 41"/>
                <a:gd name="T63" fmla="*/ 184 h 185"/>
                <a:gd name="T64" fmla="*/ 40 w 41"/>
                <a:gd name="T65" fmla="*/ 0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1" h="185">
                  <a:moveTo>
                    <a:pt x="40" y="0"/>
                  </a:moveTo>
                  <a:lnTo>
                    <a:pt x="32" y="0"/>
                  </a:lnTo>
                  <a:lnTo>
                    <a:pt x="24" y="0"/>
                  </a:lnTo>
                  <a:lnTo>
                    <a:pt x="16" y="4"/>
                  </a:lnTo>
                  <a:lnTo>
                    <a:pt x="16" y="12"/>
                  </a:lnTo>
                  <a:lnTo>
                    <a:pt x="16" y="20"/>
                  </a:lnTo>
                  <a:lnTo>
                    <a:pt x="12" y="28"/>
                  </a:lnTo>
                  <a:lnTo>
                    <a:pt x="8" y="36"/>
                  </a:lnTo>
                  <a:lnTo>
                    <a:pt x="8" y="44"/>
                  </a:lnTo>
                  <a:lnTo>
                    <a:pt x="16" y="49"/>
                  </a:lnTo>
                  <a:lnTo>
                    <a:pt x="16" y="57"/>
                  </a:lnTo>
                  <a:lnTo>
                    <a:pt x="12" y="65"/>
                  </a:lnTo>
                  <a:lnTo>
                    <a:pt x="4" y="69"/>
                  </a:lnTo>
                  <a:lnTo>
                    <a:pt x="4" y="77"/>
                  </a:lnTo>
                  <a:lnTo>
                    <a:pt x="4" y="85"/>
                  </a:lnTo>
                  <a:lnTo>
                    <a:pt x="12" y="89"/>
                  </a:lnTo>
                  <a:lnTo>
                    <a:pt x="16" y="98"/>
                  </a:lnTo>
                  <a:lnTo>
                    <a:pt x="12" y="106"/>
                  </a:lnTo>
                  <a:lnTo>
                    <a:pt x="8" y="114"/>
                  </a:lnTo>
                  <a:lnTo>
                    <a:pt x="0" y="118"/>
                  </a:lnTo>
                  <a:lnTo>
                    <a:pt x="0" y="126"/>
                  </a:lnTo>
                  <a:lnTo>
                    <a:pt x="8" y="134"/>
                  </a:lnTo>
                  <a:lnTo>
                    <a:pt x="12" y="143"/>
                  </a:lnTo>
                  <a:lnTo>
                    <a:pt x="4" y="147"/>
                  </a:lnTo>
                  <a:lnTo>
                    <a:pt x="4" y="155"/>
                  </a:lnTo>
                  <a:lnTo>
                    <a:pt x="4" y="163"/>
                  </a:lnTo>
                  <a:lnTo>
                    <a:pt x="12" y="163"/>
                  </a:lnTo>
                  <a:lnTo>
                    <a:pt x="12" y="171"/>
                  </a:lnTo>
                  <a:lnTo>
                    <a:pt x="16" y="179"/>
                  </a:lnTo>
                  <a:lnTo>
                    <a:pt x="24" y="184"/>
                  </a:lnTo>
                  <a:lnTo>
                    <a:pt x="32" y="184"/>
                  </a:lnTo>
                  <a:lnTo>
                    <a:pt x="40" y="184"/>
                  </a:lnTo>
                  <a:lnTo>
                    <a:pt x="40" y="0"/>
                  </a:lnTo>
                </a:path>
              </a:pathLst>
            </a:custGeom>
            <a:solidFill>
              <a:schemeClr val="bg1"/>
            </a:solidFill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4" name="Rectangle 14">
              <a:extLst>
                <a:ext uri="{FF2B5EF4-FFF2-40B4-BE49-F238E27FC236}">
                  <a16:creationId xmlns:a16="http://schemas.microsoft.com/office/drawing/2014/main" id="{CE226883-E39C-D334-CE51-4FF2841F5C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0" y="764"/>
              <a:ext cx="48" cy="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136" name="AutoShape 16">
            <a:extLst>
              <a:ext uri="{FF2B5EF4-FFF2-40B4-BE49-F238E27FC236}">
                <a16:creationId xmlns:a16="http://schemas.microsoft.com/office/drawing/2014/main" id="{AEFC1FD0-5655-0CE5-D61D-A9B1E6A0F1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9550" y="1301750"/>
            <a:ext cx="311150" cy="139700"/>
          </a:xfrm>
          <a:prstGeom prst="rightArrow">
            <a:avLst>
              <a:gd name="adj1" fmla="val 50000"/>
              <a:gd name="adj2" fmla="val 111374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7961" dir="2700000" algn="ctr" rotWithShape="0">
              <a:schemeClr val="folHlink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5137" name="Rectangle 17">
            <a:extLst>
              <a:ext uri="{FF2B5EF4-FFF2-40B4-BE49-F238E27FC236}">
                <a16:creationId xmlns:a16="http://schemas.microsoft.com/office/drawing/2014/main" id="{C75520D3-3281-ED22-3E34-299BDDA6D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0225" y="1192213"/>
            <a:ext cx="635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19 other</a:t>
            </a:r>
          </a:p>
          <a:p>
            <a:r>
              <a:rPr lang="en-US" altLang="en-US"/>
              <a:t>elements</a:t>
            </a:r>
          </a:p>
        </p:txBody>
      </p:sp>
      <p:sp>
        <p:nvSpPr>
          <p:cNvPr id="5138" name="Rectangle 18">
            <a:extLst>
              <a:ext uri="{FF2B5EF4-FFF2-40B4-BE49-F238E27FC236}">
                <a16:creationId xmlns:a16="http://schemas.microsoft.com/office/drawing/2014/main" id="{60945FB3-31C8-AE18-95F7-8B00AE4740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800" y="282575"/>
            <a:ext cx="920750" cy="2730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39" name="Rectangle 19">
            <a:extLst>
              <a:ext uri="{FF2B5EF4-FFF2-40B4-BE49-F238E27FC236}">
                <a16:creationId xmlns:a16="http://schemas.microsoft.com/office/drawing/2014/main" id="{050EC77D-DACC-29EA-564C-516724A90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117475"/>
            <a:ext cx="5429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r>
              <a:rPr lang="en-US" altLang="en-US" sz="1200" b="1">
                <a:latin typeface="Arial" panose="020B0604020202020204" pitchFamily="34" charset="0"/>
              </a:rPr>
              <a:t>TaxRec</a:t>
            </a:r>
          </a:p>
        </p:txBody>
      </p:sp>
      <p:sp>
        <p:nvSpPr>
          <p:cNvPr id="5140" name="Rectangle 20">
            <a:extLst>
              <a:ext uri="{FF2B5EF4-FFF2-40B4-BE49-F238E27FC236}">
                <a16:creationId xmlns:a16="http://schemas.microsoft.com/office/drawing/2014/main" id="{3DB960C2-B559-1EAD-26CA-4B1CE471B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582613"/>
            <a:ext cx="717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PAYENum</a:t>
            </a:r>
          </a:p>
        </p:txBody>
      </p:sp>
      <p:sp>
        <p:nvSpPr>
          <p:cNvPr id="5141" name="Rectangle 21">
            <a:extLst>
              <a:ext uri="{FF2B5EF4-FFF2-40B4-BE49-F238E27FC236}">
                <a16:creationId xmlns:a16="http://schemas.microsoft.com/office/drawing/2014/main" id="{44EEB3D1-5058-4178-5877-000D0B7A0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563563"/>
            <a:ext cx="717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TaxPaid</a:t>
            </a:r>
          </a:p>
        </p:txBody>
      </p:sp>
      <p:sp>
        <p:nvSpPr>
          <p:cNvPr id="5142" name="Rectangle 22">
            <a:extLst>
              <a:ext uri="{FF2B5EF4-FFF2-40B4-BE49-F238E27FC236}">
                <a16:creationId xmlns:a16="http://schemas.microsoft.com/office/drawing/2014/main" id="{0CE5D5F4-1A01-8D6E-98F0-48461A5278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4900" y="563563"/>
            <a:ext cx="9461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CountyCode</a:t>
            </a:r>
          </a:p>
        </p:txBody>
      </p:sp>
      <p:sp>
        <p:nvSpPr>
          <p:cNvPr id="5143" name="Rectangle 23">
            <a:extLst>
              <a:ext uri="{FF2B5EF4-FFF2-40B4-BE49-F238E27FC236}">
                <a16:creationId xmlns:a16="http://schemas.microsoft.com/office/drawing/2014/main" id="{9CAC377D-B909-5F64-977D-EA24C7814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1250" y="282575"/>
            <a:ext cx="920750" cy="2730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44" name="Rectangle 24">
            <a:extLst>
              <a:ext uri="{FF2B5EF4-FFF2-40B4-BE49-F238E27FC236}">
                <a16:creationId xmlns:a16="http://schemas.microsoft.com/office/drawing/2014/main" id="{7A80CCC1-87E0-5D8F-7078-FD8336D22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4700" y="282575"/>
            <a:ext cx="920750" cy="2730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45" name="Rectangle 25">
            <a:extLst>
              <a:ext uri="{FF2B5EF4-FFF2-40B4-BE49-F238E27FC236}">
                <a16:creationId xmlns:a16="http://schemas.microsoft.com/office/drawing/2014/main" id="{0B209E9D-C6A1-C996-8920-1241BBA7F1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275" y="269875"/>
            <a:ext cx="3825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74</a:t>
            </a:r>
          </a:p>
        </p:txBody>
      </p:sp>
      <p:sp>
        <p:nvSpPr>
          <p:cNvPr id="5146" name="Rectangle 26">
            <a:extLst>
              <a:ext uri="{FF2B5EF4-FFF2-40B4-BE49-F238E27FC236}">
                <a16:creationId xmlns:a16="http://schemas.microsoft.com/office/drawing/2014/main" id="{8042CF17-A24C-260F-7951-0E21E1A8D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3825" y="269875"/>
            <a:ext cx="282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5147" name="Rectangle 27">
            <a:extLst>
              <a:ext uri="{FF2B5EF4-FFF2-40B4-BE49-F238E27FC236}">
                <a16:creationId xmlns:a16="http://schemas.microsoft.com/office/drawing/2014/main" id="{820E1899-2395-70DA-112E-9A0A0AF81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5" y="269875"/>
            <a:ext cx="9747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12345678</a:t>
            </a:r>
          </a:p>
        </p:txBody>
      </p:sp>
      <p:sp>
        <p:nvSpPr>
          <p:cNvPr id="5148" name="Rectangle 28">
            <a:extLst>
              <a:ext uri="{FF2B5EF4-FFF2-40B4-BE49-F238E27FC236}">
                <a16:creationId xmlns:a16="http://schemas.microsoft.com/office/drawing/2014/main" id="{7824E897-D7EB-4A22-0A33-7852A23DA6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5" y="2052638"/>
            <a:ext cx="4451350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latin typeface="Courier New" panose="02070309020205020404" pitchFamily="49" charset="0"/>
              </a:rPr>
              <a:t>MOVE 10 TO CountyTax(3)</a:t>
            </a:r>
          </a:p>
          <a:p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ADD TaxPaid TO CountyTax(CountyCode)</a:t>
            </a:r>
            <a:endParaRPr lang="en-US" altLang="en-US" sz="1400" b="1">
              <a:latin typeface="Courier New" panose="02070309020205020404" pitchFamily="49" charset="0"/>
            </a:endParaRPr>
          </a:p>
          <a:p>
            <a:r>
              <a:rPr lang="en-US" altLang="en-US" sz="1400" b="1">
                <a:latin typeface="Courier New" panose="02070309020205020404" pitchFamily="49" charset="0"/>
              </a:rPr>
              <a:t>ADD TaxPaid TO CountyTax(CountyCode + 1)</a:t>
            </a:r>
          </a:p>
          <a:p>
            <a:r>
              <a:rPr lang="en-US" altLang="en-US" sz="1400" b="1">
                <a:latin typeface="Courier New" panose="02070309020205020404" pitchFamily="49" charset="0"/>
              </a:rPr>
              <a:t>ADD TaxPaid TO CountyTax(CountyCode - 2)</a:t>
            </a:r>
          </a:p>
        </p:txBody>
      </p:sp>
      <p:sp>
        <p:nvSpPr>
          <p:cNvPr id="5149" name="Rectangle 29">
            <a:extLst>
              <a:ext uri="{FF2B5EF4-FFF2-40B4-BE49-F238E27FC236}">
                <a16:creationId xmlns:a16="http://schemas.microsoft.com/office/drawing/2014/main" id="{A8E9EFBB-831E-6EC5-13B6-A30F1960A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325" y="1222375"/>
            <a:ext cx="3825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74</a:t>
            </a:r>
          </a:p>
        </p:txBody>
      </p:sp>
      <p:sp>
        <p:nvSpPr>
          <p:cNvPr id="5150" name="Arc 30">
            <a:extLst>
              <a:ext uri="{FF2B5EF4-FFF2-40B4-BE49-F238E27FC236}">
                <a16:creationId xmlns:a16="http://schemas.microsoft.com/office/drawing/2014/main" id="{3B729C77-C0D0-838B-9F63-FD9801B91BE0}"/>
              </a:ext>
            </a:extLst>
          </p:cNvPr>
          <p:cNvSpPr>
            <a:spLocks/>
          </p:cNvSpPr>
          <p:nvPr/>
        </p:nvSpPr>
        <p:spPr bwMode="auto">
          <a:xfrm>
            <a:off x="1790700" y="449263"/>
            <a:ext cx="571500" cy="762000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0 w 21600"/>
              <a:gd name="T1" fmla="*/ 21600 h 21600"/>
              <a:gd name="T2" fmla="*/ 21540 w 21600"/>
              <a:gd name="T3" fmla="*/ 0 h 21600"/>
              <a:gd name="T4" fmla="*/ 2160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599"/>
                </a:moveTo>
                <a:cubicBezTo>
                  <a:pt x="0" y="9694"/>
                  <a:pt x="9634" y="33"/>
                  <a:pt x="21540" y="0"/>
                </a:cubicBezTo>
              </a:path>
              <a:path w="21600" h="21600" stroke="0" extrusionOk="0">
                <a:moveTo>
                  <a:pt x="0" y="21599"/>
                </a:moveTo>
                <a:cubicBezTo>
                  <a:pt x="0" y="9694"/>
                  <a:pt x="9634" y="33"/>
                  <a:pt x="21540" y="0"/>
                </a:cubicBezTo>
                <a:lnTo>
                  <a:pt x="21600" y="21600"/>
                </a:lnTo>
                <a:close/>
              </a:path>
            </a:pathLst>
          </a:custGeom>
          <a:noFill/>
          <a:ln w="12700" cap="rnd">
            <a:solidFill>
              <a:srgbClr val="CC0000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51" name="Rectangle 31">
            <a:extLst>
              <a:ext uri="{FF2B5EF4-FFF2-40B4-BE49-F238E27FC236}">
                <a16:creationId xmlns:a16="http://schemas.microsoft.com/office/drawing/2014/main" id="{6FD0B121-FCAC-2C34-D380-BA810FDFB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475" y="1222375"/>
            <a:ext cx="3825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5152" name="AutoShape 32">
            <a:extLst>
              <a:ext uri="{FF2B5EF4-FFF2-40B4-BE49-F238E27FC236}">
                <a16:creationId xmlns:a16="http://schemas.microsoft.com/office/drawing/2014/main" id="{AFA50FEF-E491-13E7-CC82-FA0DBCEBCBA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074988" y="95250"/>
            <a:ext cx="1547812" cy="894292"/>
          </a:xfrm>
          <a:prstGeom prst="wedgeRoundRectCallout">
            <a:avLst>
              <a:gd name="adj1" fmla="val -41671"/>
              <a:gd name="adj2" fmla="val 66667"/>
              <a:gd name="adj3" fmla="val 16667"/>
            </a:avLst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ctr">
              <a:lnSpc>
                <a:spcPct val="85000"/>
              </a:lnSpc>
            </a:pPr>
            <a:r>
              <a:rPr lang="en-US" altLang="en-US"/>
              <a:t>The data-item CountyCode contains the value 5 so CountyTax(CountyCode) is really a reference to CountyTax(5).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52" grpId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5D41679-0427-FBE4-2E05-E0E95E754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038" y="1222375"/>
            <a:ext cx="344487" cy="2952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F4952AF7-FF1D-9643-B71F-154A79D234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" y="1535113"/>
            <a:ext cx="2470150" cy="18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 sz="1200" b="1">
                <a:latin typeface="Courier New" panose="02070309020205020404" pitchFamily="49" charset="0"/>
              </a:rPr>
              <a:t>1   2   3   4   5   </a:t>
            </a: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6</a:t>
            </a:r>
            <a:r>
              <a:rPr lang="en-US" altLang="en-US" sz="1200" b="1">
                <a:latin typeface="Courier New" panose="02070309020205020404" pitchFamily="49" charset="0"/>
              </a:rPr>
              <a:t>   7</a:t>
            </a: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40E8AAD3-8B4C-612B-E199-131449E36B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263" y="1031875"/>
            <a:ext cx="7874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r>
              <a:rPr lang="en-US" altLang="en-US" sz="1200" b="1">
                <a:latin typeface="Arial" panose="020B0604020202020204" pitchFamily="34" charset="0"/>
              </a:rPr>
              <a:t>CountyTax</a:t>
            </a:r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2910C9DB-6911-CA73-D925-E2779EA31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988" y="1222375"/>
            <a:ext cx="344487" cy="2952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5269E25C-B342-5058-3E3B-673153482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938" y="1222375"/>
            <a:ext cx="344487" cy="2952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5DBEDA31-6746-C91B-D91B-AD465D03A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1222375"/>
            <a:ext cx="344487" cy="2952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2" name="Rectangle 8">
            <a:extLst>
              <a:ext uri="{FF2B5EF4-FFF2-40B4-BE49-F238E27FC236}">
                <a16:creationId xmlns:a16="http://schemas.microsoft.com/office/drawing/2014/main" id="{83D284F2-A2A5-1829-1808-5D47C82CA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0838" y="1222375"/>
            <a:ext cx="344487" cy="2952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3" name="Rectangle 9">
            <a:extLst>
              <a:ext uri="{FF2B5EF4-FFF2-40B4-BE49-F238E27FC236}">
                <a16:creationId xmlns:a16="http://schemas.microsoft.com/office/drawing/2014/main" id="{B8F6F5B3-4B0B-7186-08CC-2714E56C6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2788" y="1222375"/>
            <a:ext cx="344487" cy="2952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4" name="Rectangle 10">
            <a:extLst>
              <a:ext uri="{FF2B5EF4-FFF2-40B4-BE49-F238E27FC236}">
                <a16:creationId xmlns:a16="http://schemas.microsoft.com/office/drawing/2014/main" id="{B6FBC85B-8E17-E527-35D4-4ACC84EAA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4738" y="1222375"/>
            <a:ext cx="344487" cy="2952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5" name="Rectangle 11">
            <a:extLst>
              <a:ext uri="{FF2B5EF4-FFF2-40B4-BE49-F238E27FC236}">
                <a16:creationId xmlns:a16="http://schemas.microsoft.com/office/drawing/2014/main" id="{06C75DF5-D856-2245-1E59-455F3836F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0300" y="755650"/>
            <a:ext cx="635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6" name="Rectangle 12">
            <a:extLst>
              <a:ext uri="{FF2B5EF4-FFF2-40B4-BE49-F238E27FC236}">
                <a16:creationId xmlns:a16="http://schemas.microsoft.com/office/drawing/2014/main" id="{FFA994A0-AD38-4AD7-34D0-22C72BEB2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00" y="1231900"/>
            <a:ext cx="2508250" cy="279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159" name="Group 15">
            <a:extLst>
              <a:ext uri="{FF2B5EF4-FFF2-40B4-BE49-F238E27FC236}">
                <a16:creationId xmlns:a16="http://schemas.microsoft.com/office/drawing/2014/main" id="{929E0383-123F-923F-ECE0-1F18725F5704}"/>
              </a:ext>
            </a:extLst>
          </p:cNvPr>
          <p:cNvGrpSpPr>
            <a:grpSpLocks/>
          </p:cNvGrpSpPr>
          <p:nvPr/>
        </p:nvGrpSpPr>
        <p:grpSpPr bwMode="auto">
          <a:xfrm>
            <a:off x="2641600" y="1212850"/>
            <a:ext cx="117475" cy="317500"/>
            <a:chOff x="1664" y="764"/>
            <a:chExt cx="74" cy="200"/>
          </a:xfrm>
        </p:grpSpPr>
        <p:sp>
          <p:nvSpPr>
            <p:cNvPr id="6157" name="Freeform 13">
              <a:extLst>
                <a:ext uri="{FF2B5EF4-FFF2-40B4-BE49-F238E27FC236}">
                  <a16:creationId xmlns:a16="http://schemas.microsoft.com/office/drawing/2014/main" id="{C1032DC3-7BFE-C74D-BEA9-D8751EAE45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4" y="772"/>
              <a:ext cx="41" cy="185"/>
            </a:xfrm>
            <a:custGeom>
              <a:avLst/>
              <a:gdLst>
                <a:gd name="T0" fmla="*/ 40 w 41"/>
                <a:gd name="T1" fmla="*/ 0 h 185"/>
                <a:gd name="T2" fmla="*/ 32 w 41"/>
                <a:gd name="T3" fmla="*/ 0 h 185"/>
                <a:gd name="T4" fmla="*/ 24 w 41"/>
                <a:gd name="T5" fmla="*/ 0 h 185"/>
                <a:gd name="T6" fmla="*/ 16 w 41"/>
                <a:gd name="T7" fmla="*/ 4 h 185"/>
                <a:gd name="T8" fmla="*/ 16 w 41"/>
                <a:gd name="T9" fmla="*/ 12 h 185"/>
                <a:gd name="T10" fmla="*/ 16 w 41"/>
                <a:gd name="T11" fmla="*/ 20 h 185"/>
                <a:gd name="T12" fmla="*/ 12 w 41"/>
                <a:gd name="T13" fmla="*/ 28 h 185"/>
                <a:gd name="T14" fmla="*/ 8 w 41"/>
                <a:gd name="T15" fmla="*/ 36 h 185"/>
                <a:gd name="T16" fmla="*/ 8 w 41"/>
                <a:gd name="T17" fmla="*/ 44 h 185"/>
                <a:gd name="T18" fmla="*/ 16 w 41"/>
                <a:gd name="T19" fmla="*/ 49 h 185"/>
                <a:gd name="T20" fmla="*/ 16 w 41"/>
                <a:gd name="T21" fmla="*/ 57 h 185"/>
                <a:gd name="T22" fmla="*/ 12 w 41"/>
                <a:gd name="T23" fmla="*/ 65 h 185"/>
                <a:gd name="T24" fmla="*/ 4 w 41"/>
                <a:gd name="T25" fmla="*/ 69 h 185"/>
                <a:gd name="T26" fmla="*/ 4 w 41"/>
                <a:gd name="T27" fmla="*/ 77 h 185"/>
                <a:gd name="T28" fmla="*/ 4 w 41"/>
                <a:gd name="T29" fmla="*/ 85 h 185"/>
                <a:gd name="T30" fmla="*/ 12 w 41"/>
                <a:gd name="T31" fmla="*/ 89 h 185"/>
                <a:gd name="T32" fmla="*/ 16 w 41"/>
                <a:gd name="T33" fmla="*/ 98 h 185"/>
                <a:gd name="T34" fmla="*/ 12 w 41"/>
                <a:gd name="T35" fmla="*/ 106 h 185"/>
                <a:gd name="T36" fmla="*/ 8 w 41"/>
                <a:gd name="T37" fmla="*/ 114 h 185"/>
                <a:gd name="T38" fmla="*/ 0 w 41"/>
                <a:gd name="T39" fmla="*/ 118 h 185"/>
                <a:gd name="T40" fmla="*/ 0 w 41"/>
                <a:gd name="T41" fmla="*/ 126 h 185"/>
                <a:gd name="T42" fmla="*/ 8 w 41"/>
                <a:gd name="T43" fmla="*/ 134 h 185"/>
                <a:gd name="T44" fmla="*/ 12 w 41"/>
                <a:gd name="T45" fmla="*/ 143 h 185"/>
                <a:gd name="T46" fmla="*/ 4 w 41"/>
                <a:gd name="T47" fmla="*/ 147 h 185"/>
                <a:gd name="T48" fmla="*/ 4 w 41"/>
                <a:gd name="T49" fmla="*/ 155 h 185"/>
                <a:gd name="T50" fmla="*/ 4 w 41"/>
                <a:gd name="T51" fmla="*/ 163 h 185"/>
                <a:gd name="T52" fmla="*/ 12 w 41"/>
                <a:gd name="T53" fmla="*/ 163 h 185"/>
                <a:gd name="T54" fmla="*/ 12 w 41"/>
                <a:gd name="T55" fmla="*/ 171 h 185"/>
                <a:gd name="T56" fmla="*/ 16 w 41"/>
                <a:gd name="T57" fmla="*/ 179 h 185"/>
                <a:gd name="T58" fmla="*/ 24 w 41"/>
                <a:gd name="T59" fmla="*/ 184 h 185"/>
                <a:gd name="T60" fmla="*/ 32 w 41"/>
                <a:gd name="T61" fmla="*/ 184 h 185"/>
                <a:gd name="T62" fmla="*/ 40 w 41"/>
                <a:gd name="T63" fmla="*/ 184 h 185"/>
                <a:gd name="T64" fmla="*/ 40 w 41"/>
                <a:gd name="T65" fmla="*/ 0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1" h="185">
                  <a:moveTo>
                    <a:pt x="40" y="0"/>
                  </a:moveTo>
                  <a:lnTo>
                    <a:pt x="32" y="0"/>
                  </a:lnTo>
                  <a:lnTo>
                    <a:pt x="24" y="0"/>
                  </a:lnTo>
                  <a:lnTo>
                    <a:pt x="16" y="4"/>
                  </a:lnTo>
                  <a:lnTo>
                    <a:pt x="16" y="12"/>
                  </a:lnTo>
                  <a:lnTo>
                    <a:pt x="16" y="20"/>
                  </a:lnTo>
                  <a:lnTo>
                    <a:pt x="12" y="28"/>
                  </a:lnTo>
                  <a:lnTo>
                    <a:pt x="8" y="36"/>
                  </a:lnTo>
                  <a:lnTo>
                    <a:pt x="8" y="44"/>
                  </a:lnTo>
                  <a:lnTo>
                    <a:pt x="16" y="49"/>
                  </a:lnTo>
                  <a:lnTo>
                    <a:pt x="16" y="57"/>
                  </a:lnTo>
                  <a:lnTo>
                    <a:pt x="12" y="65"/>
                  </a:lnTo>
                  <a:lnTo>
                    <a:pt x="4" y="69"/>
                  </a:lnTo>
                  <a:lnTo>
                    <a:pt x="4" y="77"/>
                  </a:lnTo>
                  <a:lnTo>
                    <a:pt x="4" y="85"/>
                  </a:lnTo>
                  <a:lnTo>
                    <a:pt x="12" y="89"/>
                  </a:lnTo>
                  <a:lnTo>
                    <a:pt x="16" y="98"/>
                  </a:lnTo>
                  <a:lnTo>
                    <a:pt x="12" y="106"/>
                  </a:lnTo>
                  <a:lnTo>
                    <a:pt x="8" y="114"/>
                  </a:lnTo>
                  <a:lnTo>
                    <a:pt x="0" y="118"/>
                  </a:lnTo>
                  <a:lnTo>
                    <a:pt x="0" y="126"/>
                  </a:lnTo>
                  <a:lnTo>
                    <a:pt x="8" y="134"/>
                  </a:lnTo>
                  <a:lnTo>
                    <a:pt x="12" y="143"/>
                  </a:lnTo>
                  <a:lnTo>
                    <a:pt x="4" y="147"/>
                  </a:lnTo>
                  <a:lnTo>
                    <a:pt x="4" y="155"/>
                  </a:lnTo>
                  <a:lnTo>
                    <a:pt x="4" y="163"/>
                  </a:lnTo>
                  <a:lnTo>
                    <a:pt x="12" y="163"/>
                  </a:lnTo>
                  <a:lnTo>
                    <a:pt x="12" y="171"/>
                  </a:lnTo>
                  <a:lnTo>
                    <a:pt x="16" y="179"/>
                  </a:lnTo>
                  <a:lnTo>
                    <a:pt x="24" y="184"/>
                  </a:lnTo>
                  <a:lnTo>
                    <a:pt x="32" y="184"/>
                  </a:lnTo>
                  <a:lnTo>
                    <a:pt x="40" y="184"/>
                  </a:lnTo>
                  <a:lnTo>
                    <a:pt x="40" y="0"/>
                  </a:lnTo>
                </a:path>
              </a:pathLst>
            </a:custGeom>
            <a:solidFill>
              <a:schemeClr val="bg1"/>
            </a:solidFill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8" name="Rectangle 14">
              <a:extLst>
                <a:ext uri="{FF2B5EF4-FFF2-40B4-BE49-F238E27FC236}">
                  <a16:creationId xmlns:a16="http://schemas.microsoft.com/office/drawing/2014/main" id="{0DEA4C2C-71FB-8037-4D0B-F401F3194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0" y="764"/>
              <a:ext cx="48" cy="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160" name="AutoShape 16">
            <a:extLst>
              <a:ext uri="{FF2B5EF4-FFF2-40B4-BE49-F238E27FC236}">
                <a16:creationId xmlns:a16="http://schemas.microsoft.com/office/drawing/2014/main" id="{0459ECB0-1860-3382-A121-09D4F9ACC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9550" y="1301750"/>
            <a:ext cx="311150" cy="139700"/>
          </a:xfrm>
          <a:prstGeom prst="rightArrow">
            <a:avLst>
              <a:gd name="adj1" fmla="val 50000"/>
              <a:gd name="adj2" fmla="val 111374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7961" dir="2700000" algn="ctr" rotWithShape="0">
              <a:schemeClr val="folHlink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6161" name="Rectangle 17">
            <a:extLst>
              <a:ext uri="{FF2B5EF4-FFF2-40B4-BE49-F238E27FC236}">
                <a16:creationId xmlns:a16="http://schemas.microsoft.com/office/drawing/2014/main" id="{80FF9BFF-0A90-490C-0A23-EF3E01A093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0225" y="1192213"/>
            <a:ext cx="635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19 other</a:t>
            </a:r>
          </a:p>
          <a:p>
            <a:r>
              <a:rPr lang="en-US" altLang="en-US"/>
              <a:t>elements</a:t>
            </a:r>
          </a:p>
        </p:txBody>
      </p:sp>
      <p:sp>
        <p:nvSpPr>
          <p:cNvPr id="6162" name="Rectangle 18">
            <a:extLst>
              <a:ext uri="{FF2B5EF4-FFF2-40B4-BE49-F238E27FC236}">
                <a16:creationId xmlns:a16="http://schemas.microsoft.com/office/drawing/2014/main" id="{6C51A0B0-9BE5-C262-DE9B-39D332E42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800" y="282575"/>
            <a:ext cx="920750" cy="2730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63" name="Rectangle 19">
            <a:extLst>
              <a:ext uri="{FF2B5EF4-FFF2-40B4-BE49-F238E27FC236}">
                <a16:creationId xmlns:a16="http://schemas.microsoft.com/office/drawing/2014/main" id="{5C7D3742-F883-2BE9-99D6-ED41BB904B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117475"/>
            <a:ext cx="5429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r>
              <a:rPr lang="en-US" altLang="en-US" sz="1200" b="1">
                <a:latin typeface="Arial" panose="020B0604020202020204" pitchFamily="34" charset="0"/>
              </a:rPr>
              <a:t>TaxRec</a:t>
            </a:r>
          </a:p>
        </p:txBody>
      </p:sp>
      <p:sp>
        <p:nvSpPr>
          <p:cNvPr id="6164" name="Rectangle 20">
            <a:extLst>
              <a:ext uri="{FF2B5EF4-FFF2-40B4-BE49-F238E27FC236}">
                <a16:creationId xmlns:a16="http://schemas.microsoft.com/office/drawing/2014/main" id="{012E5C0C-232B-62FE-B850-DFB1B616D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582613"/>
            <a:ext cx="717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PAYENum</a:t>
            </a:r>
          </a:p>
        </p:txBody>
      </p:sp>
      <p:sp>
        <p:nvSpPr>
          <p:cNvPr id="6165" name="Rectangle 21">
            <a:extLst>
              <a:ext uri="{FF2B5EF4-FFF2-40B4-BE49-F238E27FC236}">
                <a16:creationId xmlns:a16="http://schemas.microsoft.com/office/drawing/2014/main" id="{BFC6B581-B950-F128-2709-21EBA25CE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563563"/>
            <a:ext cx="717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TaxPaid</a:t>
            </a:r>
          </a:p>
        </p:txBody>
      </p:sp>
      <p:sp>
        <p:nvSpPr>
          <p:cNvPr id="6166" name="Rectangle 22">
            <a:extLst>
              <a:ext uri="{FF2B5EF4-FFF2-40B4-BE49-F238E27FC236}">
                <a16:creationId xmlns:a16="http://schemas.microsoft.com/office/drawing/2014/main" id="{86FB006C-0374-05A6-8F3C-9D5DCF978E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4900" y="563563"/>
            <a:ext cx="9461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CountyCode</a:t>
            </a:r>
          </a:p>
        </p:txBody>
      </p:sp>
      <p:sp>
        <p:nvSpPr>
          <p:cNvPr id="6167" name="Rectangle 23">
            <a:extLst>
              <a:ext uri="{FF2B5EF4-FFF2-40B4-BE49-F238E27FC236}">
                <a16:creationId xmlns:a16="http://schemas.microsoft.com/office/drawing/2014/main" id="{257379CE-670D-7164-B322-DC3B0C1C0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1250" y="282575"/>
            <a:ext cx="920750" cy="2730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68" name="Rectangle 24">
            <a:extLst>
              <a:ext uri="{FF2B5EF4-FFF2-40B4-BE49-F238E27FC236}">
                <a16:creationId xmlns:a16="http://schemas.microsoft.com/office/drawing/2014/main" id="{2AEEE401-039D-6B91-95DE-5A4FEBEF4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4700" y="282575"/>
            <a:ext cx="920750" cy="2730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69" name="Rectangle 25">
            <a:extLst>
              <a:ext uri="{FF2B5EF4-FFF2-40B4-BE49-F238E27FC236}">
                <a16:creationId xmlns:a16="http://schemas.microsoft.com/office/drawing/2014/main" id="{84B3C223-7322-849C-30F8-C7EFA1AFD8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275" y="269875"/>
            <a:ext cx="3825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74</a:t>
            </a:r>
          </a:p>
        </p:txBody>
      </p:sp>
      <p:sp>
        <p:nvSpPr>
          <p:cNvPr id="6170" name="Rectangle 26">
            <a:extLst>
              <a:ext uri="{FF2B5EF4-FFF2-40B4-BE49-F238E27FC236}">
                <a16:creationId xmlns:a16="http://schemas.microsoft.com/office/drawing/2014/main" id="{E8E28879-946F-3862-ADC8-12CE3BB43A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3825" y="269875"/>
            <a:ext cx="282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6171" name="Rectangle 27">
            <a:extLst>
              <a:ext uri="{FF2B5EF4-FFF2-40B4-BE49-F238E27FC236}">
                <a16:creationId xmlns:a16="http://schemas.microsoft.com/office/drawing/2014/main" id="{1AAC68A8-BC99-9742-1B90-D8428238F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5" y="269875"/>
            <a:ext cx="9747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12345678</a:t>
            </a:r>
          </a:p>
        </p:txBody>
      </p:sp>
      <p:sp>
        <p:nvSpPr>
          <p:cNvPr id="6172" name="Rectangle 28">
            <a:extLst>
              <a:ext uri="{FF2B5EF4-FFF2-40B4-BE49-F238E27FC236}">
                <a16:creationId xmlns:a16="http://schemas.microsoft.com/office/drawing/2014/main" id="{18E04113-5F8E-7385-5CD6-5252C5D5B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5" y="2052638"/>
            <a:ext cx="4451350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latin typeface="Courier New" panose="02070309020205020404" pitchFamily="49" charset="0"/>
              </a:rPr>
              <a:t>MOVE 10 TO CountyTax(3)</a:t>
            </a:r>
          </a:p>
          <a:p>
            <a:r>
              <a:rPr lang="en-US" altLang="en-US" sz="1400" b="1">
                <a:latin typeface="Courier New" panose="02070309020205020404" pitchFamily="49" charset="0"/>
              </a:rPr>
              <a:t>ADD TaxPaid TO CountyTax(CountyCode)</a:t>
            </a:r>
          </a:p>
          <a:p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ADD TaxPaid TO CountyTax(CountyCode + 1)</a:t>
            </a:r>
            <a:endParaRPr lang="en-US" altLang="en-US" sz="1400" b="1">
              <a:latin typeface="Courier New" panose="02070309020205020404" pitchFamily="49" charset="0"/>
            </a:endParaRPr>
          </a:p>
          <a:p>
            <a:r>
              <a:rPr lang="en-US" altLang="en-US" sz="1400" b="1">
                <a:latin typeface="Courier New" panose="02070309020205020404" pitchFamily="49" charset="0"/>
              </a:rPr>
              <a:t>ADD TaxPaid TO CountyTax(CountyCode - 2)</a:t>
            </a:r>
          </a:p>
        </p:txBody>
      </p:sp>
      <p:sp>
        <p:nvSpPr>
          <p:cNvPr id="6173" name="Rectangle 29">
            <a:extLst>
              <a:ext uri="{FF2B5EF4-FFF2-40B4-BE49-F238E27FC236}">
                <a16:creationId xmlns:a16="http://schemas.microsoft.com/office/drawing/2014/main" id="{9610163D-DAE6-CDDE-C20E-8BF4EEFE4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325" y="1222375"/>
            <a:ext cx="3825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74</a:t>
            </a:r>
          </a:p>
        </p:txBody>
      </p:sp>
      <p:sp>
        <p:nvSpPr>
          <p:cNvPr id="6174" name="Arc 30">
            <a:extLst>
              <a:ext uri="{FF2B5EF4-FFF2-40B4-BE49-F238E27FC236}">
                <a16:creationId xmlns:a16="http://schemas.microsoft.com/office/drawing/2014/main" id="{529C4DA3-5535-8F05-0678-7ACBDBC6FF3B}"/>
              </a:ext>
            </a:extLst>
          </p:cNvPr>
          <p:cNvSpPr>
            <a:spLocks/>
          </p:cNvSpPr>
          <p:nvPr/>
        </p:nvSpPr>
        <p:spPr bwMode="auto">
          <a:xfrm>
            <a:off x="1982788" y="449263"/>
            <a:ext cx="381000" cy="820737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9971 w 21600"/>
              <a:gd name="T1" fmla="*/ 39803 h 39803"/>
              <a:gd name="T2" fmla="*/ 21510 w 21600"/>
              <a:gd name="T3" fmla="*/ 0 h 39803"/>
              <a:gd name="T4" fmla="*/ 21600 w 21600"/>
              <a:gd name="T5" fmla="*/ 21600 h 398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39803" fill="none" extrusionOk="0">
                <a:moveTo>
                  <a:pt x="9971" y="39802"/>
                </a:moveTo>
                <a:cubicBezTo>
                  <a:pt x="3759" y="35833"/>
                  <a:pt x="0" y="28971"/>
                  <a:pt x="0" y="21600"/>
                </a:cubicBezTo>
                <a:cubicBezTo>
                  <a:pt x="0" y="9705"/>
                  <a:pt x="9615" y="49"/>
                  <a:pt x="21510" y="0"/>
                </a:cubicBezTo>
              </a:path>
              <a:path w="21600" h="39803" stroke="0" extrusionOk="0">
                <a:moveTo>
                  <a:pt x="9971" y="39802"/>
                </a:moveTo>
                <a:cubicBezTo>
                  <a:pt x="3759" y="35833"/>
                  <a:pt x="0" y="28971"/>
                  <a:pt x="0" y="21600"/>
                </a:cubicBezTo>
                <a:cubicBezTo>
                  <a:pt x="0" y="9705"/>
                  <a:pt x="9615" y="49"/>
                  <a:pt x="21510" y="0"/>
                </a:cubicBezTo>
                <a:lnTo>
                  <a:pt x="21600" y="21600"/>
                </a:lnTo>
                <a:close/>
              </a:path>
            </a:pathLst>
          </a:custGeom>
          <a:noFill/>
          <a:ln w="12700" cap="rnd">
            <a:solidFill>
              <a:srgbClr val="CC0000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5" name="Rectangle 31">
            <a:extLst>
              <a:ext uri="{FF2B5EF4-FFF2-40B4-BE49-F238E27FC236}">
                <a16:creationId xmlns:a16="http://schemas.microsoft.com/office/drawing/2014/main" id="{2D58A13B-9B38-91A1-7713-4EB24B870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5325" y="1222375"/>
            <a:ext cx="3825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74</a:t>
            </a:r>
          </a:p>
        </p:txBody>
      </p:sp>
      <p:sp>
        <p:nvSpPr>
          <p:cNvPr id="6176" name="Rectangle 32">
            <a:extLst>
              <a:ext uri="{FF2B5EF4-FFF2-40B4-BE49-F238E27FC236}">
                <a16:creationId xmlns:a16="http://schemas.microsoft.com/office/drawing/2014/main" id="{7ADC88F5-6298-A4A6-3ED3-1C79719A28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475" y="1222375"/>
            <a:ext cx="3825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6177" name="AutoShape 33">
            <a:extLst>
              <a:ext uri="{FF2B5EF4-FFF2-40B4-BE49-F238E27FC236}">
                <a16:creationId xmlns:a16="http://schemas.microsoft.com/office/drawing/2014/main" id="{77663189-7D44-7ACC-D382-ED5E28C87E3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922588" y="609600"/>
            <a:ext cx="1736725" cy="597958"/>
          </a:xfrm>
          <a:prstGeom prst="wedgeRoundRectCallout">
            <a:avLst>
              <a:gd name="adj1" fmla="val -41671"/>
              <a:gd name="adj2" fmla="val 66667"/>
              <a:gd name="adj3" fmla="val 16667"/>
            </a:avLst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algn="ctr">
              <a:lnSpc>
                <a:spcPct val="85000"/>
              </a:lnSpc>
            </a:pPr>
            <a:r>
              <a:rPr lang="en-US" altLang="en-US"/>
              <a:t>Since CountyCode contains the value 5 CountyTax(CountyCode + 1 ) refers to CountyTax(6).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77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69FF106-01AD-C05F-FF77-E4DDE82CB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038" y="1222375"/>
            <a:ext cx="344487" cy="2952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B07B7CEB-3BFD-1087-C02D-53A4AE2A4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" y="1535113"/>
            <a:ext cx="2471738" cy="18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 sz="1200" b="1">
                <a:latin typeface="Courier New" panose="02070309020205020404" pitchFamily="49" charset="0"/>
              </a:rPr>
              <a:t>1   2   </a:t>
            </a: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3</a:t>
            </a:r>
            <a:r>
              <a:rPr lang="en-US" altLang="en-US" sz="1200" b="1">
                <a:latin typeface="Courier New" panose="02070309020205020404" pitchFamily="49" charset="0"/>
              </a:rPr>
              <a:t>   4   5   6   7</a:t>
            </a:r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9FA83D89-9854-F96E-CC61-2B78D2B8C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263" y="1031875"/>
            <a:ext cx="7874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r>
              <a:rPr lang="en-US" altLang="en-US" sz="1200" b="1">
                <a:latin typeface="Arial" panose="020B0604020202020204" pitchFamily="34" charset="0"/>
              </a:rPr>
              <a:t>CountyTax</a:t>
            </a:r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749EE072-BD2A-EA22-80AB-836CCCC42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988" y="1222375"/>
            <a:ext cx="344487" cy="2952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6162460B-9802-CCCC-BAA1-7C742BDDD4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938" y="1222375"/>
            <a:ext cx="344487" cy="2952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5" name="Rectangle 7">
            <a:extLst>
              <a:ext uri="{FF2B5EF4-FFF2-40B4-BE49-F238E27FC236}">
                <a16:creationId xmlns:a16="http://schemas.microsoft.com/office/drawing/2014/main" id="{B67D8502-4274-7307-2D60-425E207444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1222375"/>
            <a:ext cx="344487" cy="2952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6" name="Rectangle 8">
            <a:extLst>
              <a:ext uri="{FF2B5EF4-FFF2-40B4-BE49-F238E27FC236}">
                <a16:creationId xmlns:a16="http://schemas.microsoft.com/office/drawing/2014/main" id="{FE8EBACC-B393-12DD-218C-704837D87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0838" y="1222375"/>
            <a:ext cx="344487" cy="2952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7" name="Rectangle 9">
            <a:extLst>
              <a:ext uri="{FF2B5EF4-FFF2-40B4-BE49-F238E27FC236}">
                <a16:creationId xmlns:a16="http://schemas.microsoft.com/office/drawing/2014/main" id="{3CD783EC-D435-3AC8-DDE5-6E4D114E1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2788" y="1222375"/>
            <a:ext cx="344487" cy="2952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8" name="Rectangle 10">
            <a:extLst>
              <a:ext uri="{FF2B5EF4-FFF2-40B4-BE49-F238E27FC236}">
                <a16:creationId xmlns:a16="http://schemas.microsoft.com/office/drawing/2014/main" id="{06E0DC29-62AA-E720-4330-B803C10BC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4738" y="1222375"/>
            <a:ext cx="344487" cy="2952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9" name="Rectangle 11">
            <a:extLst>
              <a:ext uri="{FF2B5EF4-FFF2-40B4-BE49-F238E27FC236}">
                <a16:creationId xmlns:a16="http://schemas.microsoft.com/office/drawing/2014/main" id="{B7DF4844-3B4D-9178-ECEB-9B6D4A60C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0300" y="755650"/>
            <a:ext cx="635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80" name="Rectangle 12">
            <a:extLst>
              <a:ext uri="{FF2B5EF4-FFF2-40B4-BE49-F238E27FC236}">
                <a16:creationId xmlns:a16="http://schemas.microsoft.com/office/drawing/2014/main" id="{514FA9C5-7FF3-671F-F60A-BB0CE7358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00" y="1231900"/>
            <a:ext cx="2508250" cy="279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183" name="Group 15">
            <a:extLst>
              <a:ext uri="{FF2B5EF4-FFF2-40B4-BE49-F238E27FC236}">
                <a16:creationId xmlns:a16="http://schemas.microsoft.com/office/drawing/2014/main" id="{EF5808FC-000F-9E4F-BD10-092A42B3397D}"/>
              </a:ext>
            </a:extLst>
          </p:cNvPr>
          <p:cNvGrpSpPr>
            <a:grpSpLocks/>
          </p:cNvGrpSpPr>
          <p:nvPr/>
        </p:nvGrpSpPr>
        <p:grpSpPr bwMode="auto">
          <a:xfrm>
            <a:off x="2641600" y="1212850"/>
            <a:ext cx="117475" cy="317500"/>
            <a:chOff x="1664" y="764"/>
            <a:chExt cx="74" cy="200"/>
          </a:xfrm>
        </p:grpSpPr>
        <p:sp>
          <p:nvSpPr>
            <p:cNvPr id="7181" name="Freeform 13">
              <a:extLst>
                <a:ext uri="{FF2B5EF4-FFF2-40B4-BE49-F238E27FC236}">
                  <a16:creationId xmlns:a16="http://schemas.microsoft.com/office/drawing/2014/main" id="{4A2B86C7-B3B5-6B33-C70D-4D3DB7D478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4" y="772"/>
              <a:ext cx="41" cy="185"/>
            </a:xfrm>
            <a:custGeom>
              <a:avLst/>
              <a:gdLst>
                <a:gd name="T0" fmla="*/ 40 w 41"/>
                <a:gd name="T1" fmla="*/ 0 h 185"/>
                <a:gd name="T2" fmla="*/ 32 w 41"/>
                <a:gd name="T3" fmla="*/ 0 h 185"/>
                <a:gd name="T4" fmla="*/ 24 w 41"/>
                <a:gd name="T5" fmla="*/ 0 h 185"/>
                <a:gd name="T6" fmla="*/ 16 w 41"/>
                <a:gd name="T7" fmla="*/ 4 h 185"/>
                <a:gd name="T8" fmla="*/ 16 w 41"/>
                <a:gd name="T9" fmla="*/ 12 h 185"/>
                <a:gd name="T10" fmla="*/ 16 w 41"/>
                <a:gd name="T11" fmla="*/ 20 h 185"/>
                <a:gd name="T12" fmla="*/ 12 w 41"/>
                <a:gd name="T13" fmla="*/ 28 h 185"/>
                <a:gd name="T14" fmla="*/ 8 w 41"/>
                <a:gd name="T15" fmla="*/ 36 h 185"/>
                <a:gd name="T16" fmla="*/ 8 w 41"/>
                <a:gd name="T17" fmla="*/ 44 h 185"/>
                <a:gd name="T18" fmla="*/ 16 w 41"/>
                <a:gd name="T19" fmla="*/ 49 h 185"/>
                <a:gd name="T20" fmla="*/ 16 w 41"/>
                <a:gd name="T21" fmla="*/ 57 h 185"/>
                <a:gd name="T22" fmla="*/ 12 w 41"/>
                <a:gd name="T23" fmla="*/ 65 h 185"/>
                <a:gd name="T24" fmla="*/ 4 w 41"/>
                <a:gd name="T25" fmla="*/ 69 h 185"/>
                <a:gd name="T26" fmla="*/ 4 w 41"/>
                <a:gd name="T27" fmla="*/ 77 h 185"/>
                <a:gd name="T28" fmla="*/ 4 w 41"/>
                <a:gd name="T29" fmla="*/ 85 h 185"/>
                <a:gd name="T30" fmla="*/ 12 w 41"/>
                <a:gd name="T31" fmla="*/ 89 h 185"/>
                <a:gd name="T32" fmla="*/ 16 w 41"/>
                <a:gd name="T33" fmla="*/ 98 h 185"/>
                <a:gd name="T34" fmla="*/ 12 w 41"/>
                <a:gd name="T35" fmla="*/ 106 h 185"/>
                <a:gd name="T36" fmla="*/ 8 w 41"/>
                <a:gd name="T37" fmla="*/ 114 h 185"/>
                <a:gd name="T38" fmla="*/ 0 w 41"/>
                <a:gd name="T39" fmla="*/ 118 h 185"/>
                <a:gd name="T40" fmla="*/ 0 w 41"/>
                <a:gd name="T41" fmla="*/ 126 h 185"/>
                <a:gd name="T42" fmla="*/ 8 w 41"/>
                <a:gd name="T43" fmla="*/ 134 h 185"/>
                <a:gd name="T44" fmla="*/ 12 w 41"/>
                <a:gd name="T45" fmla="*/ 143 h 185"/>
                <a:gd name="T46" fmla="*/ 4 w 41"/>
                <a:gd name="T47" fmla="*/ 147 h 185"/>
                <a:gd name="T48" fmla="*/ 4 w 41"/>
                <a:gd name="T49" fmla="*/ 155 h 185"/>
                <a:gd name="T50" fmla="*/ 4 w 41"/>
                <a:gd name="T51" fmla="*/ 163 h 185"/>
                <a:gd name="T52" fmla="*/ 12 w 41"/>
                <a:gd name="T53" fmla="*/ 163 h 185"/>
                <a:gd name="T54" fmla="*/ 12 w 41"/>
                <a:gd name="T55" fmla="*/ 171 h 185"/>
                <a:gd name="T56" fmla="*/ 16 w 41"/>
                <a:gd name="T57" fmla="*/ 179 h 185"/>
                <a:gd name="T58" fmla="*/ 24 w 41"/>
                <a:gd name="T59" fmla="*/ 184 h 185"/>
                <a:gd name="T60" fmla="*/ 32 w 41"/>
                <a:gd name="T61" fmla="*/ 184 h 185"/>
                <a:gd name="T62" fmla="*/ 40 w 41"/>
                <a:gd name="T63" fmla="*/ 184 h 185"/>
                <a:gd name="T64" fmla="*/ 40 w 41"/>
                <a:gd name="T65" fmla="*/ 0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1" h="185">
                  <a:moveTo>
                    <a:pt x="40" y="0"/>
                  </a:moveTo>
                  <a:lnTo>
                    <a:pt x="32" y="0"/>
                  </a:lnTo>
                  <a:lnTo>
                    <a:pt x="24" y="0"/>
                  </a:lnTo>
                  <a:lnTo>
                    <a:pt x="16" y="4"/>
                  </a:lnTo>
                  <a:lnTo>
                    <a:pt x="16" y="12"/>
                  </a:lnTo>
                  <a:lnTo>
                    <a:pt x="16" y="20"/>
                  </a:lnTo>
                  <a:lnTo>
                    <a:pt x="12" y="28"/>
                  </a:lnTo>
                  <a:lnTo>
                    <a:pt x="8" y="36"/>
                  </a:lnTo>
                  <a:lnTo>
                    <a:pt x="8" y="44"/>
                  </a:lnTo>
                  <a:lnTo>
                    <a:pt x="16" y="49"/>
                  </a:lnTo>
                  <a:lnTo>
                    <a:pt x="16" y="57"/>
                  </a:lnTo>
                  <a:lnTo>
                    <a:pt x="12" y="65"/>
                  </a:lnTo>
                  <a:lnTo>
                    <a:pt x="4" y="69"/>
                  </a:lnTo>
                  <a:lnTo>
                    <a:pt x="4" y="77"/>
                  </a:lnTo>
                  <a:lnTo>
                    <a:pt x="4" y="85"/>
                  </a:lnTo>
                  <a:lnTo>
                    <a:pt x="12" y="89"/>
                  </a:lnTo>
                  <a:lnTo>
                    <a:pt x="16" y="98"/>
                  </a:lnTo>
                  <a:lnTo>
                    <a:pt x="12" y="106"/>
                  </a:lnTo>
                  <a:lnTo>
                    <a:pt x="8" y="114"/>
                  </a:lnTo>
                  <a:lnTo>
                    <a:pt x="0" y="118"/>
                  </a:lnTo>
                  <a:lnTo>
                    <a:pt x="0" y="126"/>
                  </a:lnTo>
                  <a:lnTo>
                    <a:pt x="8" y="134"/>
                  </a:lnTo>
                  <a:lnTo>
                    <a:pt x="12" y="143"/>
                  </a:lnTo>
                  <a:lnTo>
                    <a:pt x="4" y="147"/>
                  </a:lnTo>
                  <a:lnTo>
                    <a:pt x="4" y="155"/>
                  </a:lnTo>
                  <a:lnTo>
                    <a:pt x="4" y="163"/>
                  </a:lnTo>
                  <a:lnTo>
                    <a:pt x="12" y="163"/>
                  </a:lnTo>
                  <a:lnTo>
                    <a:pt x="12" y="171"/>
                  </a:lnTo>
                  <a:lnTo>
                    <a:pt x="16" y="179"/>
                  </a:lnTo>
                  <a:lnTo>
                    <a:pt x="24" y="184"/>
                  </a:lnTo>
                  <a:lnTo>
                    <a:pt x="32" y="184"/>
                  </a:lnTo>
                  <a:lnTo>
                    <a:pt x="40" y="184"/>
                  </a:lnTo>
                  <a:lnTo>
                    <a:pt x="40" y="0"/>
                  </a:lnTo>
                </a:path>
              </a:pathLst>
            </a:custGeom>
            <a:solidFill>
              <a:schemeClr val="bg1"/>
            </a:solidFill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2" name="Rectangle 14">
              <a:extLst>
                <a:ext uri="{FF2B5EF4-FFF2-40B4-BE49-F238E27FC236}">
                  <a16:creationId xmlns:a16="http://schemas.microsoft.com/office/drawing/2014/main" id="{8F9B559D-51C4-DB2B-6039-84FE5C0312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0" y="764"/>
              <a:ext cx="48" cy="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184" name="AutoShape 16">
            <a:extLst>
              <a:ext uri="{FF2B5EF4-FFF2-40B4-BE49-F238E27FC236}">
                <a16:creationId xmlns:a16="http://schemas.microsoft.com/office/drawing/2014/main" id="{B1667431-E3C4-641B-DA99-62AD083864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9550" y="1301750"/>
            <a:ext cx="311150" cy="139700"/>
          </a:xfrm>
          <a:prstGeom prst="rightArrow">
            <a:avLst>
              <a:gd name="adj1" fmla="val 50000"/>
              <a:gd name="adj2" fmla="val 111374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7961" dir="2700000" algn="ctr" rotWithShape="0">
              <a:schemeClr val="folHlink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7185" name="Rectangle 17">
            <a:extLst>
              <a:ext uri="{FF2B5EF4-FFF2-40B4-BE49-F238E27FC236}">
                <a16:creationId xmlns:a16="http://schemas.microsoft.com/office/drawing/2014/main" id="{8A624019-D61C-293C-029F-15B7A4E319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0225" y="1192213"/>
            <a:ext cx="635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/>
              <a:t>19 other</a:t>
            </a:r>
          </a:p>
          <a:p>
            <a:r>
              <a:rPr lang="en-US" altLang="en-US"/>
              <a:t>elements</a:t>
            </a:r>
          </a:p>
        </p:txBody>
      </p:sp>
      <p:sp>
        <p:nvSpPr>
          <p:cNvPr id="7186" name="Rectangle 18">
            <a:extLst>
              <a:ext uri="{FF2B5EF4-FFF2-40B4-BE49-F238E27FC236}">
                <a16:creationId xmlns:a16="http://schemas.microsoft.com/office/drawing/2014/main" id="{A3B09A6D-3279-7D13-1F7D-6D3A6DE248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800" y="282575"/>
            <a:ext cx="920750" cy="2730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87" name="Rectangle 19">
            <a:extLst>
              <a:ext uri="{FF2B5EF4-FFF2-40B4-BE49-F238E27FC236}">
                <a16:creationId xmlns:a16="http://schemas.microsoft.com/office/drawing/2014/main" id="{BA7FC72E-E9DF-26F8-CA4C-D360977E0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117475"/>
            <a:ext cx="5429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r>
              <a:rPr lang="en-US" altLang="en-US" sz="1200" b="1">
                <a:latin typeface="Arial" panose="020B0604020202020204" pitchFamily="34" charset="0"/>
              </a:rPr>
              <a:t>TaxRec</a:t>
            </a:r>
          </a:p>
        </p:txBody>
      </p:sp>
      <p:sp>
        <p:nvSpPr>
          <p:cNvPr id="7188" name="Rectangle 20">
            <a:extLst>
              <a:ext uri="{FF2B5EF4-FFF2-40B4-BE49-F238E27FC236}">
                <a16:creationId xmlns:a16="http://schemas.microsoft.com/office/drawing/2014/main" id="{B7F77C99-F72C-5B61-FCBB-915732926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582613"/>
            <a:ext cx="717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PAYENum</a:t>
            </a:r>
          </a:p>
        </p:txBody>
      </p:sp>
      <p:sp>
        <p:nvSpPr>
          <p:cNvPr id="7189" name="Rectangle 21">
            <a:extLst>
              <a:ext uri="{FF2B5EF4-FFF2-40B4-BE49-F238E27FC236}">
                <a16:creationId xmlns:a16="http://schemas.microsoft.com/office/drawing/2014/main" id="{D16AE956-FD63-1C9E-30BB-8A3F6FFAC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563563"/>
            <a:ext cx="717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TaxPaid</a:t>
            </a:r>
          </a:p>
        </p:txBody>
      </p:sp>
      <p:sp>
        <p:nvSpPr>
          <p:cNvPr id="7190" name="Rectangle 22">
            <a:extLst>
              <a:ext uri="{FF2B5EF4-FFF2-40B4-BE49-F238E27FC236}">
                <a16:creationId xmlns:a16="http://schemas.microsoft.com/office/drawing/2014/main" id="{2D79C5B4-2375-C471-0A73-26609262A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4900" y="563563"/>
            <a:ext cx="9461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CountyCode</a:t>
            </a:r>
          </a:p>
        </p:txBody>
      </p:sp>
      <p:sp>
        <p:nvSpPr>
          <p:cNvPr id="7191" name="Rectangle 23">
            <a:extLst>
              <a:ext uri="{FF2B5EF4-FFF2-40B4-BE49-F238E27FC236}">
                <a16:creationId xmlns:a16="http://schemas.microsoft.com/office/drawing/2014/main" id="{922F0B92-84D2-8AC1-B9A3-D882536AA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1250" y="282575"/>
            <a:ext cx="920750" cy="2730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2" name="Rectangle 24">
            <a:extLst>
              <a:ext uri="{FF2B5EF4-FFF2-40B4-BE49-F238E27FC236}">
                <a16:creationId xmlns:a16="http://schemas.microsoft.com/office/drawing/2014/main" id="{02ADB658-AD47-1E21-68B8-69FC110F96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4700" y="282575"/>
            <a:ext cx="920750" cy="2730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3" name="Rectangle 25">
            <a:extLst>
              <a:ext uri="{FF2B5EF4-FFF2-40B4-BE49-F238E27FC236}">
                <a16:creationId xmlns:a16="http://schemas.microsoft.com/office/drawing/2014/main" id="{2C7CA437-FC19-3920-B9EB-9816E402D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275" y="269875"/>
            <a:ext cx="3825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74</a:t>
            </a:r>
          </a:p>
        </p:txBody>
      </p:sp>
      <p:sp>
        <p:nvSpPr>
          <p:cNvPr id="7194" name="Rectangle 26">
            <a:extLst>
              <a:ext uri="{FF2B5EF4-FFF2-40B4-BE49-F238E27FC236}">
                <a16:creationId xmlns:a16="http://schemas.microsoft.com/office/drawing/2014/main" id="{06136727-04D0-E5BD-AAEA-E9AA6F622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3825" y="269875"/>
            <a:ext cx="282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7195" name="Rectangle 27">
            <a:extLst>
              <a:ext uri="{FF2B5EF4-FFF2-40B4-BE49-F238E27FC236}">
                <a16:creationId xmlns:a16="http://schemas.microsoft.com/office/drawing/2014/main" id="{A15929CC-D735-61DE-3E3C-5F4B69F58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5" y="269875"/>
            <a:ext cx="9747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12345678</a:t>
            </a:r>
          </a:p>
        </p:txBody>
      </p:sp>
      <p:sp>
        <p:nvSpPr>
          <p:cNvPr id="7196" name="Rectangle 28">
            <a:extLst>
              <a:ext uri="{FF2B5EF4-FFF2-40B4-BE49-F238E27FC236}">
                <a16:creationId xmlns:a16="http://schemas.microsoft.com/office/drawing/2014/main" id="{1B3EDD9F-2831-B2A0-EF47-E0954C280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5" y="2052638"/>
            <a:ext cx="4451350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latin typeface="Courier New" panose="02070309020205020404" pitchFamily="49" charset="0"/>
              </a:rPr>
              <a:t>MOVE 10 TO CountyTax(3)</a:t>
            </a:r>
          </a:p>
          <a:p>
            <a:r>
              <a:rPr lang="en-US" altLang="en-US" sz="1400" b="1">
                <a:latin typeface="Courier New" panose="02070309020205020404" pitchFamily="49" charset="0"/>
              </a:rPr>
              <a:t>ADD TaxPaid TO CountyTax(CountyCode)</a:t>
            </a:r>
          </a:p>
          <a:p>
            <a:r>
              <a:rPr lang="en-US" altLang="en-US" sz="1400" b="1">
                <a:latin typeface="Courier New" panose="02070309020205020404" pitchFamily="49" charset="0"/>
              </a:rPr>
              <a:t>ADD TaxPaid TO CountyTax(CountyCode + 1)</a:t>
            </a:r>
          </a:p>
          <a:p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ADD TaxPaid TO CountyTax(CountyCode - 2)</a:t>
            </a:r>
          </a:p>
        </p:txBody>
      </p:sp>
      <p:sp>
        <p:nvSpPr>
          <p:cNvPr id="7197" name="Rectangle 29">
            <a:extLst>
              <a:ext uri="{FF2B5EF4-FFF2-40B4-BE49-F238E27FC236}">
                <a16:creationId xmlns:a16="http://schemas.microsoft.com/office/drawing/2014/main" id="{55DC7402-384A-BA71-B9E0-F8DBB0FD9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325" y="1222375"/>
            <a:ext cx="3825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74</a:t>
            </a:r>
          </a:p>
        </p:txBody>
      </p:sp>
      <p:sp>
        <p:nvSpPr>
          <p:cNvPr id="7198" name="Arc 30">
            <a:extLst>
              <a:ext uri="{FF2B5EF4-FFF2-40B4-BE49-F238E27FC236}">
                <a16:creationId xmlns:a16="http://schemas.microsoft.com/office/drawing/2014/main" id="{79FFA039-30B7-DE6A-30D7-83CDEFF57C3F}"/>
              </a:ext>
            </a:extLst>
          </p:cNvPr>
          <p:cNvSpPr>
            <a:spLocks/>
          </p:cNvSpPr>
          <p:nvPr/>
        </p:nvSpPr>
        <p:spPr bwMode="auto">
          <a:xfrm>
            <a:off x="1066800" y="449263"/>
            <a:ext cx="1295400" cy="762000"/>
          </a:xfrm>
          <a:custGeom>
            <a:avLst/>
            <a:gdLst>
              <a:gd name="G0" fmla="+- 21597 0 0"/>
              <a:gd name="G1" fmla="+- 21600 0 0"/>
              <a:gd name="G2" fmla="+- 21600 0 0"/>
              <a:gd name="T0" fmla="*/ 0 w 21597"/>
              <a:gd name="T1" fmla="*/ 21240 h 21600"/>
              <a:gd name="T2" fmla="*/ 21571 w 21597"/>
              <a:gd name="T3" fmla="*/ 0 h 21600"/>
              <a:gd name="T4" fmla="*/ 21597 w 21597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597" h="21600" fill="none" extrusionOk="0">
                <a:moveTo>
                  <a:pt x="0" y="21240"/>
                </a:moveTo>
                <a:cubicBezTo>
                  <a:pt x="196" y="9462"/>
                  <a:pt x="9792" y="14"/>
                  <a:pt x="21571" y="0"/>
                </a:cubicBezTo>
              </a:path>
              <a:path w="21597" h="21600" stroke="0" extrusionOk="0">
                <a:moveTo>
                  <a:pt x="0" y="21240"/>
                </a:moveTo>
                <a:cubicBezTo>
                  <a:pt x="196" y="9462"/>
                  <a:pt x="9792" y="14"/>
                  <a:pt x="21571" y="0"/>
                </a:cubicBezTo>
                <a:lnTo>
                  <a:pt x="21597" y="21600"/>
                </a:lnTo>
                <a:close/>
              </a:path>
            </a:pathLst>
          </a:custGeom>
          <a:noFill/>
          <a:ln w="12700" cap="rnd">
            <a:solidFill>
              <a:srgbClr val="CC0000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9" name="Rectangle 31">
            <a:extLst>
              <a:ext uri="{FF2B5EF4-FFF2-40B4-BE49-F238E27FC236}">
                <a16:creationId xmlns:a16="http://schemas.microsoft.com/office/drawing/2014/main" id="{078593A9-D108-89E5-E91B-2AF509137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5325" y="1222375"/>
            <a:ext cx="3825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74</a:t>
            </a:r>
          </a:p>
        </p:txBody>
      </p:sp>
      <p:sp>
        <p:nvSpPr>
          <p:cNvPr id="7200" name="Rectangle 32">
            <a:extLst>
              <a:ext uri="{FF2B5EF4-FFF2-40B4-BE49-F238E27FC236}">
                <a16:creationId xmlns:a16="http://schemas.microsoft.com/office/drawing/2014/main" id="{98BB17E4-AEB0-4189-757C-6582645C9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1222375"/>
            <a:ext cx="3825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84</a:t>
            </a:r>
          </a:p>
        </p:txBody>
      </p:sp>
      <p:sp>
        <p:nvSpPr>
          <p:cNvPr id="7201" name="AutoShape 33">
            <a:extLst>
              <a:ext uri="{FF2B5EF4-FFF2-40B4-BE49-F238E27FC236}">
                <a16:creationId xmlns:a16="http://schemas.microsoft.com/office/drawing/2014/main" id="{AD1D16A9-7525-000D-8B0A-F051699589F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922588" y="609600"/>
            <a:ext cx="1736725" cy="597958"/>
          </a:xfrm>
          <a:prstGeom prst="wedgeRoundRectCallout">
            <a:avLst>
              <a:gd name="adj1" fmla="val -41671"/>
              <a:gd name="adj2" fmla="val 66667"/>
              <a:gd name="adj3" fmla="val 16667"/>
            </a:avLst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algn="ctr">
              <a:lnSpc>
                <a:spcPct val="85000"/>
              </a:lnSpc>
            </a:pPr>
            <a:r>
              <a:rPr lang="en-US" altLang="en-US"/>
              <a:t>Since CountyCode contains the value 5 CountyTax(CountyCode - 2 ) refers to CountyTax(3).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01" grpId="0" animBg="1" autoUpdateAnimBg="0"/>
    </p:bldLst>
  </p:timing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2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3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4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5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E:\MSOffice\Templates\Blank Presentation.pot</Template>
  <TotalTime>131</TotalTime>
  <Words>317</Words>
  <Application>Microsoft Office PowerPoint</Application>
  <PresentationFormat>Custom</PresentationFormat>
  <Paragraphs>88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Times New Roman</vt:lpstr>
      <vt:lpstr>Courier New</vt:lpstr>
      <vt:lpstr>Blank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Michael Coughlan</dc:creator>
  <cp:lastModifiedBy>Sean McBride</cp:lastModifiedBy>
  <cp:revision>11</cp:revision>
  <dcterms:created xsi:type="dcterms:W3CDTF">1995-06-17T23:31:02Z</dcterms:created>
  <dcterms:modified xsi:type="dcterms:W3CDTF">2026-05-13T01:07:03Z</dcterms:modified>
</cp:coreProperties>
</file>