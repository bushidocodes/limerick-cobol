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</p:sldIdLst>
  <p:sldSz cx="4762500" cy="304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237960" y="63000"/>
            <a:ext cx="4285800" cy="625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237960" y="713160"/>
            <a:ext cx="4285800" cy="176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0" y="0"/>
            <a:ext cx="4762440" cy="30481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"/>
          <p:cNvSpPr/>
          <p:nvPr/>
        </p:nvSpPr>
        <p:spPr>
          <a:xfrm>
            <a:off x="9360" y="9360"/>
            <a:ext cx="4746600" cy="3032280"/>
          </a:xfrm>
          <a:prstGeom prst="rect">
            <a:avLst/>
          </a:prstGeom>
          <a:noFill/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237960" y="121320"/>
            <a:ext cx="4285800" cy="508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237960" y="713160"/>
            <a:ext cx="4285800" cy="1767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2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/>
          <p:nvPr/>
        </p:nvSpPr>
        <p:spPr>
          <a:xfrm>
            <a:off x="16668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171360" y="1535040"/>
            <a:ext cx="2470320" cy="18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1   2   3   4   5   6   7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"/>
          <p:cNvSpPr txBox="1"/>
          <p:nvPr/>
        </p:nvSpPr>
        <p:spPr>
          <a:xfrm>
            <a:off x="195120" y="1031760"/>
            <a:ext cx="787320" cy="18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CountyTax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"/>
          <p:cNvSpPr/>
          <p:nvPr/>
        </p:nvSpPr>
        <p:spPr>
          <a:xfrm>
            <a:off x="52848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/>
          <p:nvPr/>
        </p:nvSpPr>
        <p:spPr>
          <a:xfrm>
            <a:off x="89064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/>
          <p:nvPr/>
        </p:nvSpPr>
        <p:spPr>
          <a:xfrm>
            <a:off x="125244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/>
          <p:nvPr/>
        </p:nvSpPr>
        <p:spPr>
          <a:xfrm>
            <a:off x="161460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/>
          <p:nvPr/>
        </p:nvSpPr>
        <p:spPr>
          <a:xfrm>
            <a:off x="197640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>
            <a:off x="233856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2400480" y="755640"/>
            <a:ext cx="63360" cy="304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152280" y="1219320"/>
            <a:ext cx="2533680" cy="304920"/>
          </a:xfrm>
          <a:prstGeom prst="rect">
            <a:avLst/>
          </a:prstGeom>
          <a:noFill/>
          <a:ln w="25560">
            <a:solidFill>
              <a:srgbClr val="000000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9" name=""/>
          <p:cNvGrpSpPr/>
          <p:nvPr/>
        </p:nvGrpSpPr>
        <p:grpSpPr>
          <a:xfrm>
            <a:off x="2641680" y="1212840"/>
            <a:ext cx="117360" cy="317520"/>
            <a:chOff x="2641680" y="1212840"/>
            <a:chExt cx="117360" cy="317520"/>
          </a:xfrm>
        </p:grpSpPr>
        <p:sp>
          <p:nvSpPr>
            <p:cNvPr id="20" name=""/>
            <p:cNvSpPr/>
            <p:nvPr/>
          </p:nvSpPr>
          <p:spPr>
            <a:xfrm>
              <a:off x="2641680" y="1225440"/>
              <a:ext cx="63720" cy="292320"/>
            </a:xfrm>
            <a:custGeom>
              <a:avLst/>
              <a:gdLst/>
              <a:ahLst/>
              <a:rect l="0" t="0" r="r" b="b"/>
              <a:pathLst>
                <a:path w="177" h="812">
                  <a:moveTo>
                    <a:pt x="177" y="0"/>
                  </a:moveTo>
                  <a:lnTo>
                    <a:pt x="142" y="0"/>
                  </a:lnTo>
                  <a:lnTo>
                    <a:pt x="106" y="0"/>
                  </a:lnTo>
                  <a:lnTo>
                    <a:pt x="70" y="18"/>
                  </a:lnTo>
                  <a:lnTo>
                    <a:pt x="70" y="54"/>
                  </a:lnTo>
                  <a:lnTo>
                    <a:pt x="70" y="90"/>
                  </a:lnTo>
                  <a:lnTo>
                    <a:pt x="52" y="126"/>
                  </a:lnTo>
                  <a:lnTo>
                    <a:pt x="35" y="162"/>
                  </a:lnTo>
                  <a:lnTo>
                    <a:pt x="35" y="198"/>
                  </a:lnTo>
                  <a:lnTo>
                    <a:pt x="70" y="216"/>
                  </a:lnTo>
                  <a:lnTo>
                    <a:pt x="70" y="252"/>
                  </a:lnTo>
                  <a:lnTo>
                    <a:pt x="52" y="288"/>
                  </a:lnTo>
                  <a:lnTo>
                    <a:pt x="17" y="306"/>
                  </a:lnTo>
                  <a:lnTo>
                    <a:pt x="17" y="342"/>
                  </a:lnTo>
                  <a:lnTo>
                    <a:pt x="17" y="378"/>
                  </a:lnTo>
                  <a:lnTo>
                    <a:pt x="52" y="396"/>
                  </a:lnTo>
                  <a:lnTo>
                    <a:pt x="70" y="433"/>
                  </a:lnTo>
                  <a:lnTo>
                    <a:pt x="52" y="469"/>
                  </a:lnTo>
                  <a:lnTo>
                    <a:pt x="35" y="505"/>
                  </a:lnTo>
                  <a:lnTo>
                    <a:pt x="0" y="523"/>
                  </a:lnTo>
                  <a:lnTo>
                    <a:pt x="0" y="559"/>
                  </a:lnTo>
                  <a:lnTo>
                    <a:pt x="35" y="596"/>
                  </a:lnTo>
                  <a:lnTo>
                    <a:pt x="52" y="632"/>
                  </a:lnTo>
                  <a:lnTo>
                    <a:pt x="17" y="650"/>
                  </a:lnTo>
                  <a:lnTo>
                    <a:pt x="17" y="686"/>
                  </a:lnTo>
                  <a:lnTo>
                    <a:pt x="17" y="722"/>
                  </a:lnTo>
                  <a:lnTo>
                    <a:pt x="52" y="722"/>
                  </a:lnTo>
                  <a:lnTo>
                    <a:pt x="52" y="758"/>
                  </a:lnTo>
                  <a:lnTo>
                    <a:pt x="70" y="794"/>
                  </a:lnTo>
                  <a:lnTo>
                    <a:pt x="106" y="812"/>
                  </a:lnTo>
                  <a:lnTo>
                    <a:pt x="142" y="812"/>
                  </a:lnTo>
                  <a:lnTo>
                    <a:pt x="177" y="812"/>
                  </a:lnTo>
                  <a:lnTo>
                    <a:pt x="177" y="0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" name=""/>
            <p:cNvSpPr/>
            <p:nvPr/>
          </p:nvSpPr>
          <p:spPr>
            <a:xfrm>
              <a:off x="2682720" y="1212840"/>
              <a:ext cx="76320" cy="31752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2" name=""/>
          <p:cNvSpPr/>
          <p:nvPr/>
        </p:nvSpPr>
        <p:spPr>
          <a:xfrm>
            <a:off x="2743200" y="1295280"/>
            <a:ext cx="324360" cy="152640"/>
          </a:xfrm>
          <a:custGeom>
            <a:avLst/>
            <a:gdLst/>
            <a:ahLst/>
            <a:rect l="0" t="0" r="r" b="b"/>
            <a:pathLst>
              <a:path w="901" h="424">
                <a:moveTo>
                  <a:pt x="0" y="140"/>
                </a:moveTo>
                <a:lnTo>
                  <a:pt x="0" y="282"/>
                </a:lnTo>
                <a:lnTo>
                  <a:pt x="630" y="282"/>
                </a:lnTo>
                <a:lnTo>
                  <a:pt x="630" y="424"/>
                </a:lnTo>
                <a:lnTo>
                  <a:pt x="901" y="211"/>
                </a:lnTo>
                <a:lnTo>
                  <a:pt x="630" y="0"/>
                </a:lnTo>
                <a:lnTo>
                  <a:pt x="630" y="140"/>
                </a:lnTo>
                <a:lnTo>
                  <a:pt x="0" y="140"/>
                </a:lnTo>
                <a:close/>
              </a:path>
            </a:pathLst>
          </a:custGeom>
          <a:solidFill>
            <a:srgbClr val="DDDDDD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 txBox="1"/>
          <p:nvPr/>
        </p:nvSpPr>
        <p:spPr>
          <a:xfrm>
            <a:off x="3070080" y="1192320"/>
            <a:ext cx="635040" cy="39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19 other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elements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171360" y="276120"/>
            <a:ext cx="9334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138240" y="117360"/>
            <a:ext cx="542880" cy="18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TaxRec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209520" y="582480"/>
            <a:ext cx="71748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PAYENum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2133720" y="563400"/>
            <a:ext cx="71748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TaxPaid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1104840" y="563400"/>
            <a:ext cx="94608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CountyCode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1104840" y="276120"/>
            <a:ext cx="9334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2038320" y="276120"/>
            <a:ext cx="9334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 txBox="1"/>
          <p:nvPr/>
        </p:nvSpPr>
        <p:spPr>
          <a:xfrm>
            <a:off x="2327400" y="270000"/>
            <a:ext cx="3826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Arial"/>
                <a:ea typeface="Arial"/>
              </a:rPr>
              <a:t>74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 txBox="1"/>
          <p:nvPr/>
        </p:nvSpPr>
        <p:spPr>
          <a:xfrm>
            <a:off x="1393920" y="270000"/>
            <a:ext cx="28260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 txBox="1"/>
          <p:nvPr/>
        </p:nvSpPr>
        <p:spPr>
          <a:xfrm>
            <a:off x="136440" y="270000"/>
            <a:ext cx="9748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Arial"/>
                <a:ea typeface="Arial"/>
              </a:rPr>
              <a:t>12345678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136440" y="2052720"/>
            <a:ext cx="4451400" cy="942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10 TO CountyTax(3)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ADD TaxPaid TO CountyTax(CountyCode)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ADD TaxPaid TO CountyTax(CountyCode + 1)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ADD TaxPaid TO CountyTax(CountyCode - 2)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 txBox="1"/>
          <p:nvPr/>
        </p:nvSpPr>
        <p:spPr>
          <a:xfrm>
            <a:off x="3413160" y="1700280"/>
            <a:ext cx="709560" cy="214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8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Subscripts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2533680" y="1800360"/>
            <a:ext cx="914760" cy="286200"/>
          </a:xfrm>
          <a:custGeom>
            <a:avLst/>
            <a:gdLst/>
            <a:ahLst/>
            <a:rect l="0" t="0" r="r" b="b"/>
            <a:pathLst>
              <a:path fill="none" w="2541" h="795">
                <a:moveTo>
                  <a:pt x="2541" y="0"/>
                </a:moveTo>
                <a:lnTo>
                  <a:pt x="2541" y="0"/>
                </a:lnTo>
                <a:cubicBezTo>
                  <a:pt x="2095" y="0"/>
                  <a:pt x="1657" y="37"/>
                  <a:pt x="1270" y="107"/>
                </a:cubicBezTo>
                <a:cubicBezTo>
                  <a:pt x="884" y="176"/>
                  <a:pt x="563" y="277"/>
                  <a:pt x="340" y="398"/>
                </a:cubicBezTo>
                <a:cubicBezTo>
                  <a:pt x="117" y="518"/>
                  <a:pt x="0" y="655"/>
                  <a:pt x="0" y="795"/>
                </a:cubicBez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3067200" y="1857240"/>
            <a:ext cx="533880" cy="438480"/>
          </a:xfrm>
          <a:custGeom>
            <a:avLst/>
            <a:gdLst/>
            <a:ahLst/>
            <a:rect l="0" t="0" r="r" b="b"/>
            <a:pathLst>
              <a:path fill="none" w="1483" h="1218">
                <a:moveTo>
                  <a:pt x="1483" y="0"/>
                </a:moveTo>
                <a:lnTo>
                  <a:pt x="1483" y="0"/>
                </a:lnTo>
                <a:cubicBezTo>
                  <a:pt x="1223" y="0"/>
                  <a:pt x="967" y="56"/>
                  <a:pt x="741" y="163"/>
                </a:cubicBezTo>
                <a:cubicBezTo>
                  <a:pt x="516" y="270"/>
                  <a:pt x="329" y="424"/>
                  <a:pt x="199" y="609"/>
                </a:cubicBezTo>
                <a:cubicBezTo>
                  <a:pt x="69" y="794"/>
                  <a:pt x="0" y="1004"/>
                  <a:pt x="0" y="1218"/>
                </a:cubicBez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3772080" y="1857600"/>
            <a:ext cx="304920" cy="704880"/>
          </a:xfrm>
          <a:custGeom>
            <a:avLst/>
            <a:gdLst/>
            <a:ahLst/>
            <a:rect l="0" t="0" r="r" b="b"/>
            <a:pathLst>
              <a:path fill="none" w="847" h="1958">
                <a:moveTo>
                  <a:pt x="847" y="1958"/>
                </a:moveTo>
                <a:lnTo>
                  <a:pt x="847" y="1958"/>
                </a:lnTo>
                <a:lnTo>
                  <a:pt x="847" y="1957"/>
                </a:lnTo>
                <a:cubicBezTo>
                  <a:pt x="847" y="1607"/>
                  <a:pt x="798" y="1262"/>
                  <a:pt x="705" y="958"/>
                </a:cubicBezTo>
                <a:cubicBezTo>
                  <a:pt x="612" y="655"/>
                  <a:pt x="478" y="403"/>
                  <a:pt x="317" y="227"/>
                </a:cubicBezTo>
                <a:cubicBezTo>
                  <a:pt x="219" y="120"/>
                  <a:pt x="112" y="43"/>
                  <a:pt x="0" y="0"/>
                </a:cubicBez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4095720" y="1838160"/>
            <a:ext cx="477000" cy="927720"/>
          </a:xfrm>
          <a:custGeom>
            <a:avLst/>
            <a:gdLst/>
            <a:ahLst/>
            <a:rect l="0" t="0" r="r" b="b"/>
            <a:pathLst>
              <a:path fill="none" w="1325" h="2577">
                <a:moveTo>
                  <a:pt x="873" y="2577"/>
                </a:moveTo>
                <a:lnTo>
                  <a:pt x="873" y="2577"/>
                </a:lnTo>
                <a:cubicBezTo>
                  <a:pt x="983" y="2471"/>
                  <a:pt x="1075" y="2345"/>
                  <a:pt x="1148" y="2206"/>
                </a:cubicBezTo>
                <a:cubicBezTo>
                  <a:pt x="1264" y="1982"/>
                  <a:pt x="1325" y="1729"/>
                  <a:pt x="1325" y="1471"/>
                </a:cubicBezTo>
                <a:cubicBezTo>
                  <a:pt x="1325" y="1212"/>
                  <a:pt x="1264" y="959"/>
                  <a:pt x="1148" y="735"/>
                </a:cubicBezTo>
                <a:cubicBezTo>
                  <a:pt x="1032" y="512"/>
                  <a:pt x="864" y="326"/>
                  <a:pt x="663" y="197"/>
                </a:cubicBezTo>
                <a:cubicBezTo>
                  <a:pt x="462" y="68"/>
                  <a:pt x="234" y="0"/>
                  <a:pt x="1" y="0"/>
                </a:cubicBezTo>
                <a:lnTo>
                  <a:pt x="0" y="0"/>
                </a:lnTo>
              </a:path>
            </a:pathLst>
          </a:custGeom>
          <a:ln w="12600">
            <a:solidFill>
              <a:srgbClr val="00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"/>
          <p:cNvSpPr/>
          <p:nvPr/>
        </p:nvSpPr>
        <p:spPr>
          <a:xfrm>
            <a:off x="16668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171360" y="1535040"/>
            <a:ext cx="2471760" cy="18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1   2  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3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4   5   6   7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195120" y="1031760"/>
            <a:ext cx="787320" cy="18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CountyTax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52848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/>
          <p:nvPr/>
        </p:nvSpPr>
        <p:spPr>
          <a:xfrm>
            <a:off x="89064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125244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161460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/>
          <p:nvPr/>
        </p:nvSpPr>
        <p:spPr>
          <a:xfrm>
            <a:off x="197640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233856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2400480" y="755640"/>
            <a:ext cx="63360" cy="304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152280" y="1219320"/>
            <a:ext cx="2533680" cy="304920"/>
          </a:xfrm>
          <a:prstGeom prst="rect">
            <a:avLst/>
          </a:prstGeom>
          <a:noFill/>
          <a:ln w="25560">
            <a:solidFill>
              <a:srgbClr val="000000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1" name=""/>
          <p:cNvGrpSpPr/>
          <p:nvPr/>
        </p:nvGrpSpPr>
        <p:grpSpPr>
          <a:xfrm>
            <a:off x="2641680" y="1212840"/>
            <a:ext cx="117360" cy="317520"/>
            <a:chOff x="2641680" y="1212840"/>
            <a:chExt cx="117360" cy="317520"/>
          </a:xfrm>
        </p:grpSpPr>
        <p:sp>
          <p:nvSpPr>
            <p:cNvPr id="52" name=""/>
            <p:cNvSpPr/>
            <p:nvPr/>
          </p:nvSpPr>
          <p:spPr>
            <a:xfrm>
              <a:off x="2641680" y="1225440"/>
              <a:ext cx="63720" cy="292320"/>
            </a:xfrm>
            <a:custGeom>
              <a:avLst/>
              <a:gdLst/>
              <a:ahLst/>
              <a:rect l="0" t="0" r="r" b="b"/>
              <a:pathLst>
                <a:path w="177" h="812">
                  <a:moveTo>
                    <a:pt x="177" y="0"/>
                  </a:moveTo>
                  <a:lnTo>
                    <a:pt x="142" y="0"/>
                  </a:lnTo>
                  <a:lnTo>
                    <a:pt x="106" y="0"/>
                  </a:lnTo>
                  <a:lnTo>
                    <a:pt x="70" y="18"/>
                  </a:lnTo>
                  <a:lnTo>
                    <a:pt x="70" y="54"/>
                  </a:lnTo>
                  <a:lnTo>
                    <a:pt x="70" y="90"/>
                  </a:lnTo>
                  <a:lnTo>
                    <a:pt x="52" y="126"/>
                  </a:lnTo>
                  <a:lnTo>
                    <a:pt x="35" y="162"/>
                  </a:lnTo>
                  <a:lnTo>
                    <a:pt x="35" y="198"/>
                  </a:lnTo>
                  <a:lnTo>
                    <a:pt x="70" y="216"/>
                  </a:lnTo>
                  <a:lnTo>
                    <a:pt x="70" y="252"/>
                  </a:lnTo>
                  <a:lnTo>
                    <a:pt x="52" y="288"/>
                  </a:lnTo>
                  <a:lnTo>
                    <a:pt x="17" y="306"/>
                  </a:lnTo>
                  <a:lnTo>
                    <a:pt x="17" y="342"/>
                  </a:lnTo>
                  <a:lnTo>
                    <a:pt x="17" y="378"/>
                  </a:lnTo>
                  <a:lnTo>
                    <a:pt x="52" y="396"/>
                  </a:lnTo>
                  <a:lnTo>
                    <a:pt x="70" y="433"/>
                  </a:lnTo>
                  <a:lnTo>
                    <a:pt x="52" y="469"/>
                  </a:lnTo>
                  <a:lnTo>
                    <a:pt x="35" y="505"/>
                  </a:lnTo>
                  <a:lnTo>
                    <a:pt x="0" y="523"/>
                  </a:lnTo>
                  <a:lnTo>
                    <a:pt x="0" y="559"/>
                  </a:lnTo>
                  <a:lnTo>
                    <a:pt x="35" y="596"/>
                  </a:lnTo>
                  <a:lnTo>
                    <a:pt x="52" y="632"/>
                  </a:lnTo>
                  <a:lnTo>
                    <a:pt x="17" y="650"/>
                  </a:lnTo>
                  <a:lnTo>
                    <a:pt x="17" y="686"/>
                  </a:lnTo>
                  <a:lnTo>
                    <a:pt x="17" y="722"/>
                  </a:lnTo>
                  <a:lnTo>
                    <a:pt x="52" y="722"/>
                  </a:lnTo>
                  <a:lnTo>
                    <a:pt x="52" y="758"/>
                  </a:lnTo>
                  <a:lnTo>
                    <a:pt x="70" y="794"/>
                  </a:lnTo>
                  <a:lnTo>
                    <a:pt x="106" y="812"/>
                  </a:lnTo>
                  <a:lnTo>
                    <a:pt x="142" y="812"/>
                  </a:lnTo>
                  <a:lnTo>
                    <a:pt x="177" y="812"/>
                  </a:lnTo>
                  <a:lnTo>
                    <a:pt x="177" y="0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3" name=""/>
            <p:cNvSpPr/>
            <p:nvPr/>
          </p:nvSpPr>
          <p:spPr>
            <a:xfrm>
              <a:off x="2682720" y="1212840"/>
              <a:ext cx="76320" cy="31752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4" name=""/>
          <p:cNvSpPr/>
          <p:nvPr/>
        </p:nvSpPr>
        <p:spPr>
          <a:xfrm>
            <a:off x="2743200" y="1295280"/>
            <a:ext cx="324360" cy="152640"/>
          </a:xfrm>
          <a:custGeom>
            <a:avLst/>
            <a:gdLst/>
            <a:ahLst/>
            <a:rect l="0" t="0" r="r" b="b"/>
            <a:pathLst>
              <a:path w="901" h="424">
                <a:moveTo>
                  <a:pt x="0" y="140"/>
                </a:moveTo>
                <a:lnTo>
                  <a:pt x="0" y="282"/>
                </a:lnTo>
                <a:lnTo>
                  <a:pt x="630" y="282"/>
                </a:lnTo>
                <a:lnTo>
                  <a:pt x="630" y="424"/>
                </a:lnTo>
                <a:lnTo>
                  <a:pt x="901" y="211"/>
                </a:lnTo>
                <a:lnTo>
                  <a:pt x="630" y="0"/>
                </a:lnTo>
                <a:lnTo>
                  <a:pt x="630" y="140"/>
                </a:lnTo>
                <a:lnTo>
                  <a:pt x="0" y="140"/>
                </a:lnTo>
                <a:close/>
              </a:path>
            </a:pathLst>
          </a:custGeom>
          <a:solidFill>
            <a:srgbClr val="DDDDDD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3070080" y="1192320"/>
            <a:ext cx="635040" cy="39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19 other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elements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171360" y="276120"/>
            <a:ext cx="9334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138240" y="117360"/>
            <a:ext cx="542880" cy="18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TaxRec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209520" y="582480"/>
            <a:ext cx="71748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PAYENum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2133720" y="563400"/>
            <a:ext cx="71748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TaxPaid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1104840" y="563400"/>
            <a:ext cx="94608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CountyCode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1104840" y="276120"/>
            <a:ext cx="9334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2038320" y="276120"/>
            <a:ext cx="9334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2327400" y="270000"/>
            <a:ext cx="3826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Arial"/>
                <a:ea typeface="Arial"/>
              </a:rPr>
              <a:t>74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1393920" y="270000"/>
            <a:ext cx="28260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136440" y="270000"/>
            <a:ext cx="9748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Arial"/>
                <a:ea typeface="Arial"/>
              </a:rPr>
              <a:t>12345678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136440" y="2052720"/>
            <a:ext cx="4451400" cy="942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MOVE 10 TO CountyTax(3)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ADD TaxPaid TO CountyTax(CountyCode)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ADD TaxPaid TO CountyTax(CountyCode + 1)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ADD TaxPaid TO CountyTax(CountyCode - 2)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879480" y="1222200"/>
            <a:ext cx="3826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0033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533520" y="1380960"/>
            <a:ext cx="477360" cy="781200"/>
          </a:xfrm>
          <a:custGeom>
            <a:avLst/>
            <a:gdLst/>
            <a:ahLst/>
            <a:rect l="0" t="0" r="r" b="b"/>
            <a:pathLst>
              <a:path fill="none" w="1326" h="2170">
                <a:moveTo>
                  <a:pt x="1326" y="0"/>
                </a:moveTo>
                <a:lnTo>
                  <a:pt x="1326" y="0"/>
                </a:lnTo>
                <a:cubicBezTo>
                  <a:pt x="1325" y="0"/>
                  <a:pt x="1325" y="0"/>
                  <a:pt x="1324" y="0"/>
                </a:cubicBezTo>
                <a:cubicBezTo>
                  <a:pt x="1092" y="0"/>
                  <a:pt x="864" y="55"/>
                  <a:pt x="662" y="158"/>
                </a:cubicBezTo>
                <a:cubicBezTo>
                  <a:pt x="461" y="262"/>
                  <a:pt x="294" y="411"/>
                  <a:pt x="178" y="591"/>
                </a:cubicBezTo>
                <a:cubicBezTo>
                  <a:pt x="61" y="770"/>
                  <a:pt x="0" y="974"/>
                  <a:pt x="0" y="1182"/>
                </a:cubicBezTo>
                <a:cubicBezTo>
                  <a:pt x="0" y="1389"/>
                  <a:pt x="61" y="1593"/>
                  <a:pt x="178" y="1772"/>
                </a:cubicBezTo>
                <a:cubicBezTo>
                  <a:pt x="281" y="1932"/>
                  <a:pt x="426" y="2069"/>
                  <a:pt x="599" y="2170"/>
                </a:cubicBezTo>
              </a:path>
            </a:pathLst>
          </a:custGeom>
          <a:ln w="12600">
            <a:solidFill>
              <a:srgbClr val="CC0000"/>
            </a:solidFill>
            <a:round/>
            <a:head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>
            <a:off x="16668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171360" y="1535040"/>
            <a:ext cx="2471760" cy="18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1   2   3   4  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5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6   7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195120" y="1031760"/>
            <a:ext cx="787320" cy="18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CountyTax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52848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89064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125244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161460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197640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233856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2400480" y="755640"/>
            <a:ext cx="63360" cy="304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152280" y="1219320"/>
            <a:ext cx="2533680" cy="304920"/>
          </a:xfrm>
          <a:prstGeom prst="rect">
            <a:avLst/>
          </a:prstGeom>
          <a:noFill/>
          <a:ln w="25560">
            <a:solidFill>
              <a:srgbClr val="000000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0" name=""/>
          <p:cNvGrpSpPr/>
          <p:nvPr/>
        </p:nvGrpSpPr>
        <p:grpSpPr>
          <a:xfrm>
            <a:off x="2641680" y="1212840"/>
            <a:ext cx="117360" cy="317520"/>
            <a:chOff x="2641680" y="1212840"/>
            <a:chExt cx="117360" cy="317520"/>
          </a:xfrm>
        </p:grpSpPr>
        <p:sp>
          <p:nvSpPr>
            <p:cNvPr id="81" name=""/>
            <p:cNvSpPr/>
            <p:nvPr/>
          </p:nvSpPr>
          <p:spPr>
            <a:xfrm>
              <a:off x="2641680" y="1225440"/>
              <a:ext cx="63720" cy="292320"/>
            </a:xfrm>
            <a:custGeom>
              <a:avLst/>
              <a:gdLst/>
              <a:ahLst/>
              <a:rect l="0" t="0" r="r" b="b"/>
              <a:pathLst>
                <a:path w="177" h="812">
                  <a:moveTo>
                    <a:pt x="177" y="0"/>
                  </a:moveTo>
                  <a:lnTo>
                    <a:pt x="142" y="0"/>
                  </a:lnTo>
                  <a:lnTo>
                    <a:pt x="106" y="0"/>
                  </a:lnTo>
                  <a:lnTo>
                    <a:pt x="70" y="18"/>
                  </a:lnTo>
                  <a:lnTo>
                    <a:pt x="70" y="54"/>
                  </a:lnTo>
                  <a:lnTo>
                    <a:pt x="70" y="90"/>
                  </a:lnTo>
                  <a:lnTo>
                    <a:pt x="52" y="126"/>
                  </a:lnTo>
                  <a:lnTo>
                    <a:pt x="35" y="162"/>
                  </a:lnTo>
                  <a:lnTo>
                    <a:pt x="35" y="198"/>
                  </a:lnTo>
                  <a:lnTo>
                    <a:pt x="70" y="216"/>
                  </a:lnTo>
                  <a:lnTo>
                    <a:pt x="70" y="252"/>
                  </a:lnTo>
                  <a:lnTo>
                    <a:pt x="52" y="288"/>
                  </a:lnTo>
                  <a:lnTo>
                    <a:pt x="17" y="306"/>
                  </a:lnTo>
                  <a:lnTo>
                    <a:pt x="17" y="342"/>
                  </a:lnTo>
                  <a:lnTo>
                    <a:pt x="17" y="378"/>
                  </a:lnTo>
                  <a:lnTo>
                    <a:pt x="52" y="396"/>
                  </a:lnTo>
                  <a:lnTo>
                    <a:pt x="70" y="433"/>
                  </a:lnTo>
                  <a:lnTo>
                    <a:pt x="52" y="469"/>
                  </a:lnTo>
                  <a:lnTo>
                    <a:pt x="35" y="505"/>
                  </a:lnTo>
                  <a:lnTo>
                    <a:pt x="0" y="523"/>
                  </a:lnTo>
                  <a:lnTo>
                    <a:pt x="0" y="559"/>
                  </a:lnTo>
                  <a:lnTo>
                    <a:pt x="35" y="596"/>
                  </a:lnTo>
                  <a:lnTo>
                    <a:pt x="52" y="632"/>
                  </a:lnTo>
                  <a:lnTo>
                    <a:pt x="17" y="650"/>
                  </a:lnTo>
                  <a:lnTo>
                    <a:pt x="17" y="686"/>
                  </a:lnTo>
                  <a:lnTo>
                    <a:pt x="17" y="722"/>
                  </a:lnTo>
                  <a:lnTo>
                    <a:pt x="52" y="722"/>
                  </a:lnTo>
                  <a:lnTo>
                    <a:pt x="52" y="758"/>
                  </a:lnTo>
                  <a:lnTo>
                    <a:pt x="70" y="794"/>
                  </a:lnTo>
                  <a:lnTo>
                    <a:pt x="106" y="812"/>
                  </a:lnTo>
                  <a:lnTo>
                    <a:pt x="142" y="812"/>
                  </a:lnTo>
                  <a:lnTo>
                    <a:pt x="177" y="812"/>
                  </a:lnTo>
                  <a:lnTo>
                    <a:pt x="177" y="0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2" name=""/>
            <p:cNvSpPr/>
            <p:nvPr/>
          </p:nvSpPr>
          <p:spPr>
            <a:xfrm>
              <a:off x="2682720" y="1212840"/>
              <a:ext cx="76320" cy="31752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3" name=""/>
          <p:cNvSpPr/>
          <p:nvPr/>
        </p:nvSpPr>
        <p:spPr>
          <a:xfrm>
            <a:off x="2743200" y="1295280"/>
            <a:ext cx="324360" cy="152640"/>
          </a:xfrm>
          <a:custGeom>
            <a:avLst/>
            <a:gdLst/>
            <a:ahLst/>
            <a:rect l="0" t="0" r="r" b="b"/>
            <a:pathLst>
              <a:path w="901" h="424">
                <a:moveTo>
                  <a:pt x="0" y="140"/>
                </a:moveTo>
                <a:lnTo>
                  <a:pt x="0" y="282"/>
                </a:lnTo>
                <a:lnTo>
                  <a:pt x="630" y="282"/>
                </a:lnTo>
                <a:lnTo>
                  <a:pt x="630" y="424"/>
                </a:lnTo>
                <a:lnTo>
                  <a:pt x="901" y="211"/>
                </a:lnTo>
                <a:lnTo>
                  <a:pt x="630" y="0"/>
                </a:lnTo>
                <a:lnTo>
                  <a:pt x="630" y="140"/>
                </a:lnTo>
                <a:lnTo>
                  <a:pt x="0" y="140"/>
                </a:lnTo>
                <a:close/>
              </a:path>
            </a:pathLst>
          </a:custGeom>
          <a:solidFill>
            <a:srgbClr val="DDDDDD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3070080" y="1192320"/>
            <a:ext cx="635040" cy="39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19 other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elements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171360" y="276120"/>
            <a:ext cx="9334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138240" y="117360"/>
            <a:ext cx="542880" cy="18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TaxRec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209520" y="582480"/>
            <a:ext cx="71748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PAYENum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2133720" y="563400"/>
            <a:ext cx="71748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TaxPaid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1104840" y="563400"/>
            <a:ext cx="94608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CountyCode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1104840" y="276120"/>
            <a:ext cx="9334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2038320" y="276120"/>
            <a:ext cx="9334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2327400" y="270000"/>
            <a:ext cx="3826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0033"/>
                </a:solidFill>
                <a:effectLst/>
                <a:uFillTx/>
                <a:latin typeface="Arial"/>
                <a:ea typeface="Arial"/>
              </a:rPr>
              <a:t>74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1393920" y="270000"/>
            <a:ext cx="28260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0033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136440" y="270000"/>
            <a:ext cx="9748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0033"/>
                </a:solidFill>
                <a:effectLst/>
                <a:uFillTx/>
                <a:latin typeface="Arial"/>
                <a:ea typeface="Arial"/>
              </a:rPr>
              <a:t>12345678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136440" y="2052720"/>
            <a:ext cx="4451400" cy="942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10 TO CountyTax(3)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ADD TaxPaid TO CountyTax(CountyCode)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ADD TaxPaid TO CountyTax(CountyCode + 1)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ADD TaxPaid TO CountyTax(CountyCode - 2)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1584360" y="1222200"/>
            <a:ext cx="3826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0033"/>
                </a:solidFill>
                <a:effectLst/>
                <a:uFillTx/>
                <a:latin typeface="Arial"/>
                <a:ea typeface="Arial"/>
              </a:rPr>
              <a:t>74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1790640" y="447840"/>
            <a:ext cx="572040" cy="762480"/>
          </a:xfrm>
          <a:custGeom>
            <a:avLst/>
            <a:gdLst/>
            <a:ahLst/>
            <a:rect l="0" t="0" r="r" b="b"/>
            <a:pathLst>
              <a:path fill="none" w="1589" h="2118">
                <a:moveTo>
                  <a:pt x="1589" y="0"/>
                </a:moveTo>
                <a:lnTo>
                  <a:pt x="1589" y="0"/>
                </a:lnTo>
                <a:cubicBezTo>
                  <a:pt x="1310" y="0"/>
                  <a:pt x="1036" y="98"/>
                  <a:pt x="794" y="284"/>
                </a:cubicBezTo>
                <a:cubicBezTo>
                  <a:pt x="553" y="470"/>
                  <a:pt x="352" y="737"/>
                  <a:pt x="213" y="1059"/>
                </a:cubicBezTo>
                <a:cubicBezTo>
                  <a:pt x="73" y="1381"/>
                  <a:pt x="0" y="1746"/>
                  <a:pt x="0" y="2118"/>
                </a:cubicBez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879480" y="1222200"/>
            <a:ext cx="3826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 txBox="1"/>
          <p:nvPr/>
        </p:nvSpPr>
        <p:spPr>
          <a:xfrm>
            <a:off x="3068640" y="88920"/>
            <a:ext cx="1560600" cy="108576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The data-item CountyCode contains the value 5 so CountyTax(CountyCode) is really a reference to CountyTax(5).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"/>
          <p:cNvSpPr/>
          <p:nvPr/>
        </p:nvSpPr>
        <p:spPr>
          <a:xfrm>
            <a:off x="16668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"/>
          <p:cNvSpPr txBox="1"/>
          <p:nvPr/>
        </p:nvSpPr>
        <p:spPr>
          <a:xfrm>
            <a:off x="171360" y="1535040"/>
            <a:ext cx="2470320" cy="18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1   2   3   4   5  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6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"/>
          <p:cNvSpPr txBox="1"/>
          <p:nvPr/>
        </p:nvSpPr>
        <p:spPr>
          <a:xfrm>
            <a:off x="195120" y="1031760"/>
            <a:ext cx="787320" cy="18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CountyTax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52848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"/>
          <p:cNvSpPr/>
          <p:nvPr/>
        </p:nvSpPr>
        <p:spPr>
          <a:xfrm>
            <a:off x="89064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125244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161460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197640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233856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2400480" y="755640"/>
            <a:ext cx="63360" cy="304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152280" y="1219320"/>
            <a:ext cx="2533680" cy="304920"/>
          </a:xfrm>
          <a:prstGeom prst="rect">
            <a:avLst/>
          </a:prstGeom>
          <a:noFill/>
          <a:ln w="25560">
            <a:solidFill>
              <a:srgbClr val="000000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11" name=""/>
          <p:cNvGrpSpPr/>
          <p:nvPr/>
        </p:nvGrpSpPr>
        <p:grpSpPr>
          <a:xfrm>
            <a:off x="2641680" y="1212840"/>
            <a:ext cx="117360" cy="317520"/>
            <a:chOff x="2641680" y="1212840"/>
            <a:chExt cx="117360" cy="317520"/>
          </a:xfrm>
        </p:grpSpPr>
        <p:sp>
          <p:nvSpPr>
            <p:cNvPr id="112" name=""/>
            <p:cNvSpPr/>
            <p:nvPr/>
          </p:nvSpPr>
          <p:spPr>
            <a:xfrm>
              <a:off x="2641680" y="1225440"/>
              <a:ext cx="63720" cy="292320"/>
            </a:xfrm>
            <a:custGeom>
              <a:avLst/>
              <a:gdLst/>
              <a:ahLst/>
              <a:rect l="0" t="0" r="r" b="b"/>
              <a:pathLst>
                <a:path w="177" h="812">
                  <a:moveTo>
                    <a:pt x="177" y="0"/>
                  </a:moveTo>
                  <a:lnTo>
                    <a:pt x="142" y="0"/>
                  </a:lnTo>
                  <a:lnTo>
                    <a:pt x="106" y="0"/>
                  </a:lnTo>
                  <a:lnTo>
                    <a:pt x="70" y="18"/>
                  </a:lnTo>
                  <a:lnTo>
                    <a:pt x="70" y="54"/>
                  </a:lnTo>
                  <a:lnTo>
                    <a:pt x="70" y="90"/>
                  </a:lnTo>
                  <a:lnTo>
                    <a:pt x="52" y="126"/>
                  </a:lnTo>
                  <a:lnTo>
                    <a:pt x="35" y="162"/>
                  </a:lnTo>
                  <a:lnTo>
                    <a:pt x="35" y="198"/>
                  </a:lnTo>
                  <a:lnTo>
                    <a:pt x="70" y="216"/>
                  </a:lnTo>
                  <a:lnTo>
                    <a:pt x="70" y="252"/>
                  </a:lnTo>
                  <a:lnTo>
                    <a:pt x="52" y="288"/>
                  </a:lnTo>
                  <a:lnTo>
                    <a:pt x="17" y="306"/>
                  </a:lnTo>
                  <a:lnTo>
                    <a:pt x="17" y="342"/>
                  </a:lnTo>
                  <a:lnTo>
                    <a:pt x="17" y="378"/>
                  </a:lnTo>
                  <a:lnTo>
                    <a:pt x="52" y="396"/>
                  </a:lnTo>
                  <a:lnTo>
                    <a:pt x="70" y="433"/>
                  </a:lnTo>
                  <a:lnTo>
                    <a:pt x="52" y="469"/>
                  </a:lnTo>
                  <a:lnTo>
                    <a:pt x="35" y="505"/>
                  </a:lnTo>
                  <a:lnTo>
                    <a:pt x="0" y="523"/>
                  </a:lnTo>
                  <a:lnTo>
                    <a:pt x="0" y="559"/>
                  </a:lnTo>
                  <a:lnTo>
                    <a:pt x="35" y="596"/>
                  </a:lnTo>
                  <a:lnTo>
                    <a:pt x="52" y="632"/>
                  </a:lnTo>
                  <a:lnTo>
                    <a:pt x="17" y="650"/>
                  </a:lnTo>
                  <a:lnTo>
                    <a:pt x="17" y="686"/>
                  </a:lnTo>
                  <a:lnTo>
                    <a:pt x="17" y="722"/>
                  </a:lnTo>
                  <a:lnTo>
                    <a:pt x="52" y="722"/>
                  </a:lnTo>
                  <a:lnTo>
                    <a:pt x="52" y="758"/>
                  </a:lnTo>
                  <a:lnTo>
                    <a:pt x="70" y="794"/>
                  </a:lnTo>
                  <a:lnTo>
                    <a:pt x="106" y="812"/>
                  </a:lnTo>
                  <a:lnTo>
                    <a:pt x="142" y="812"/>
                  </a:lnTo>
                  <a:lnTo>
                    <a:pt x="177" y="812"/>
                  </a:lnTo>
                  <a:lnTo>
                    <a:pt x="177" y="0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" name=""/>
            <p:cNvSpPr/>
            <p:nvPr/>
          </p:nvSpPr>
          <p:spPr>
            <a:xfrm>
              <a:off x="2682720" y="1212840"/>
              <a:ext cx="76320" cy="31752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4" name=""/>
          <p:cNvSpPr/>
          <p:nvPr/>
        </p:nvSpPr>
        <p:spPr>
          <a:xfrm>
            <a:off x="2743200" y="1295280"/>
            <a:ext cx="324360" cy="152640"/>
          </a:xfrm>
          <a:custGeom>
            <a:avLst/>
            <a:gdLst/>
            <a:ahLst/>
            <a:rect l="0" t="0" r="r" b="b"/>
            <a:pathLst>
              <a:path w="901" h="424">
                <a:moveTo>
                  <a:pt x="0" y="140"/>
                </a:moveTo>
                <a:lnTo>
                  <a:pt x="0" y="282"/>
                </a:lnTo>
                <a:lnTo>
                  <a:pt x="630" y="282"/>
                </a:lnTo>
                <a:lnTo>
                  <a:pt x="630" y="424"/>
                </a:lnTo>
                <a:lnTo>
                  <a:pt x="901" y="211"/>
                </a:lnTo>
                <a:lnTo>
                  <a:pt x="630" y="0"/>
                </a:lnTo>
                <a:lnTo>
                  <a:pt x="630" y="140"/>
                </a:lnTo>
                <a:lnTo>
                  <a:pt x="0" y="140"/>
                </a:lnTo>
                <a:close/>
              </a:path>
            </a:pathLst>
          </a:custGeom>
          <a:solidFill>
            <a:srgbClr val="DDDDDD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 txBox="1"/>
          <p:nvPr/>
        </p:nvSpPr>
        <p:spPr>
          <a:xfrm>
            <a:off x="3070080" y="1192320"/>
            <a:ext cx="635040" cy="39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19 other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elements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171360" y="276120"/>
            <a:ext cx="9334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138240" y="117360"/>
            <a:ext cx="542880" cy="18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TaxRec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209520" y="582480"/>
            <a:ext cx="71748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PAYENum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2133720" y="563400"/>
            <a:ext cx="71748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TaxPaid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1104840" y="563400"/>
            <a:ext cx="94608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CountyCode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"/>
          <p:cNvSpPr/>
          <p:nvPr/>
        </p:nvSpPr>
        <p:spPr>
          <a:xfrm>
            <a:off x="1104840" y="276120"/>
            <a:ext cx="9334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"/>
          <p:cNvSpPr/>
          <p:nvPr/>
        </p:nvSpPr>
        <p:spPr>
          <a:xfrm>
            <a:off x="2038320" y="276120"/>
            <a:ext cx="9334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 txBox="1"/>
          <p:nvPr/>
        </p:nvSpPr>
        <p:spPr>
          <a:xfrm>
            <a:off x="2327400" y="270000"/>
            <a:ext cx="3826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0033"/>
                </a:solidFill>
                <a:effectLst/>
                <a:uFillTx/>
                <a:latin typeface="Arial"/>
                <a:ea typeface="Arial"/>
              </a:rPr>
              <a:t>74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 txBox="1"/>
          <p:nvPr/>
        </p:nvSpPr>
        <p:spPr>
          <a:xfrm>
            <a:off x="1393920" y="270000"/>
            <a:ext cx="28260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0033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 txBox="1"/>
          <p:nvPr/>
        </p:nvSpPr>
        <p:spPr>
          <a:xfrm>
            <a:off x="136440" y="270000"/>
            <a:ext cx="9748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0033"/>
                </a:solidFill>
                <a:effectLst/>
                <a:uFillTx/>
                <a:latin typeface="Arial"/>
                <a:ea typeface="Arial"/>
              </a:rPr>
              <a:t>12345678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 txBox="1"/>
          <p:nvPr/>
        </p:nvSpPr>
        <p:spPr>
          <a:xfrm>
            <a:off x="136440" y="2052720"/>
            <a:ext cx="4451400" cy="942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10 TO CountyTax(3)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ADD TaxPaid TO CountyTax(CountyCode)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ADD TaxPaid TO CountyTax(CountyCode + 1)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ADD TaxPaid TO CountyTax(CountyCode - 2)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"/>
          <p:cNvSpPr txBox="1"/>
          <p:nvPr/>
        </p:nvSpPr>
        <p:spPr>
          <a:xfrm>
            <a:off x="1584360" y="1222200"/>
            <a:ext cx="3826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Arial"/>
                <a:ea typeface="Arial"/>
              </a:rPr>
              <a:t>74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"/>
          <p:cNvSpPr/>
          <p:nvPr/>
        </p:nvSpPr>
        <p:spPr>
          <a:xfrm>
            <a:off x="1981080" y="447840"/>
            <a:ext cx="381960" cy="821520"/>
          </a:xfrm>
          <a:custGeom>
            <a:avLst/>
            <a:gdLst/>
            <a:ahLst/>
            <a:rect l="0" t="0" r="r" b="b"/>
            <a:pathLst>
              <a:path fill="none" w="1061" h="2282">
                <a:moveTo>
                  <a:pt x="1061" y="0"/>
                </a:moveTo>
                <a:lnTo>
                  <a:pt x="1061" y="0"/>
                </a:lnTo>
                <a:cubicBezTo>
                  <a:pt x="1060" y="0"/>
                  <a:pt x="1060" y="0"/>
                  <a:pt x="1059" y="0"/>
                </a:cubicBezTo>
                <a:cubicBezTo>
                  <a:pt x="873" y="0"/>
                  <a:pt x="691" y="57"/>
                  <a:pt x="530" y="166"/>
                </a:cubicBezTo>
                <a:cubicBezTo>
                  <a:pt x="369" y="274"/>
                  <a:pt x="235" y="430"/>
                  <a:pt x="142" y="619"/>
                </a:cubicBezTo>
                <a:cubicBezTo>
                  <a:pt x="49" y="807"/>
                  <a:pt x="0" y="1020"/>
                  <a:pt x="0" y="1237"/>
                </a:cubicBezTo>
                <a:cubicBezTo>
                  <a:pt x="0" y="1454"/>
                  <a:pt x="49" y="1668"/>
                  <a:pt x="142" y="1856"/>
                </a:cubicBezTo>
                <a:cubicBezTo>
                  <a:pt x="228" y="2029"/>
                  <a:pt x="348" y="2175"/>
                  <a:pt x="492" y="2282"/>
                </a:cubicBez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1965240" y="1222200"/>
            <a:ext cx="3826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0033"/>
                </a:solidFill>
                <a:effectLst/>
                <a:uFillTx/>
                <a:latin typeface="Arial"/>
                <a:ea typeface="Arial"/>
              </a:rPr>
              <a:t>74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879480" y="1222200"/>
            <a:ext cx="3826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2916360" y="603360"/>
            <a:ext cx="1749600" cy="7300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Since CountyCode contains the value 5 CountyTax(CountyCode + 1 ) refers to CountyTax(6).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"/>
          <p:cNvSpPr/>
          <p:nvPr/>
        </p:nvSpPr>
        <p:spPr>
          <a:xfrm>
            <a:off x="16668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171360" y="1535040"/>
            <a:ext cx="2471760" cy="18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1   2   </a:t>
            </a:r>
            <a:r>
              <a:rPr lang="en-US" sz="12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3</a:t>
            </a: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   4   5   6   7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195120" y="1031760"/>
            <a:ext cx="787320" cy="18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CountyTax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52848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89064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"/>
          <p:cNvSpPr/>
          <p:nvPr/>
        </p:nvSpPr>
        <p:spPr>
          <a:xfrm>
            <a:off x="125244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/>
          <p:nvPr/>
        </p:nvSpPr>
        <p:spPr>
          <a:xfrm>
            <a:off x="161460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197640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/>
          <p:nvPr/>
        </p:nvSpPr>
        <p:spPr>
          <a:xfrm>
            <a:off x="2338560" y="1216080"/>
            <a:ext cx="357120" cy="30780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"/>
          <p:cNvSpPr/>
          <p:nvPr/>
        </p:nvSpPr>
        <p:spPr>
          <a:xfrm>
            <a:off x="2400480" y="755640"/>
            <a:ext cx="63360" cy="30492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"/>
          <p:cNvSpPr/>
          <p:nvPr/>
        </p:nvSpPr>
        <p:spPr>
          <a:xfrm>
            <a:off x="152280" y="1219320"/>
            <a:ext cx="2533680" cy="304920"/>
          </a:xfrm>
          <a:prstGeom prst="rect">
            <a:avLst/>
          </a:prstGeom>
          <a:noFill/>
          <a:ln w="25560">
            <a:solidFill>
              <a:srgbClr val="000000"/>
            </a:solidFill>
            <a:round/>
          </a:ln>
        </p:spPr>
        <p:txBody>
          <a:bodyPr lIns="102600" tIns="57600" rIns="102600" bIns="576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43" name=""/>
          <p:cNvGrpSpPr/>
          <p:nvPr/>
        </p:nvGrpSpPr>
        <p:grpSpPr>
          <a:xfrm>
            <a:off x="2641680" y="1212840"/>
            <a:ext cx="117360" cy="317520"/>
            <a:chOff x="2641680" y="1212840"/>
            <a:chExt cx="117360" cy="317520"/>
          </a:xfrm>
        </p:grpSpPr>
        <p:sp>
          <p:nvSpPr>
            <p:cNvPr id="144" name=""/>
            <p:cNvSpPr/>
            <p:nvPr/>
          </p:nvSpPr>
          <p:spPr>
            <a:xfrm>
              <a:off x="2641680" y="1225440"/>
              <a:ext cx="63720" cy="292320"/>
            </a:xfrm>
            <a:custGeom>
              <a:avLst/>
              <a:gdLst/>
              <a:ahLst/>
              <a:rect l="0" t="0" r="r" b="b"/>
              <a:pathLst>
                <a:path w="177" h="812">
                  <a:moveTo>
                    <a:pt x="177" y="0"/>
                  </a:moveTo>
                  <a:lnTo>
                    <a:pt x="142" y="0"/>
                  </a:lnTo>
                  <a:lnTo>
                    <a:pt x="106" y="0"/>
                  </a:lnTo>
                  <a:lnTo>
                    <a:pt x="70" y="18"/>
                  </a:lnTo>
                  <a:lnTo>
                    <a:pt x="70" y="54"/>
                  </a:lnTo>
                  <a:lnTo>
                    <a:pt x="70" y="90"/>
                  </a:lnTo>
                  <a:lnTo>
                    <a:pt x="52" y="126"/>
                  </a:lnTo>
                  <a:lnTo>
                    <a:pt x="35" y="162"/>
                  </a:lnTo>
                  <a:lnTo>
                    <a:pt x="35" y="198"/>
                  </a:lnTo>
                  <a:lnTo>
                    <a:pt x="70" y="216"/>
                  </a:lnTo>
                  <a:lnTo>
                    <a:pt x="70" y="252"/>
                  </a:lnTo>
                  <a:lnTo>
                    <a:pt x="52" y="288"/>
                  </a:lnTo>
                  <a:lnTo>
                    <a:pt x="17" y="306"/>
                  </a:lnTo>
                  <a:lnTo>
                    <a:pt x="17" y="342"/>
                  </a:lnTo>
                  <a:lnTo>
                    <a:pt x="17" y="378"/>
                  </a:lnTo>
                  <a:lnTo>
                    <a:pt x="52" y="396"/>
                  </a:lnTo>
                  <a:lnTo>
                    <a:pt x="70" y="433"/>
                  </a:lnTo>
                  <a:lnTo>
                    <a:pt x="52" y="469"/>
                  </a:lnTo>
                  <a:lnTo>
                    <a:pt x="35" y="505"/>
                  </a:lnTo>
                  <a:lnTo>
                    <a:pt x="0" y="523"/>
                  </a:lnTo>
                  <a:lnTo>
                    <a:pt x="0" y="559"/>
                  </a:lnTo>
                  <a:lnTo>
                    <a:pt x="35" y="596"/>
                  </a:lnTo>
                  <a:lnTo>
                    <a:pt x="52" y="632"/>
                  </a:lnTo>
                  <a:lnTo>
                    <a:pt x="17" y="650"/>
                  </a:lnTo>
                  <a:lnTo>
                    <a:pt x="17" y="686"/>
                  </a:lnTo>
                  <a:lnTo>
                    <a:pt x="17" y="722"/>
                  </a:lnTo>
                  <a:lnTo>
                    <a:pt x="52" y="722"/>
                  </a:lnTo>
                  <a:lnTo>
                    <a:pt x="52" y="758"/>
                  </a:lnTo>
                  <a:lnTo>
                    <a:pt x="70" y="794"/>
                  </a:lnTo>
                  <a:lnTo>
                    <a:pt x="106" y="812"/>
                  </a:lnTo>
                  <a:lnTo>
                    <a:pt x="142" y="812"/>
                  </a:lnTo>
                  <a:lnTo>
                    <a:pt x="177" y="812"/>
                  </a:lnTo>
                  <a:lnTo>
                    <a:pt x="177" y="0"/>
                  </a:lnTo>
                  <a:close/>
                </a:path>
              </a:pathLst>
            </a:custGeom>
            <a:solidFill>
              <a:srgbClr val="FFFFFF"/>
            </a:solidFill>
            <a:ln w="12600">
              <a:solidFill>
                <a:srgbClr val="000000"/>
              </a:solidFill>
              <a:round/>
            </a:ln>
          </p:spPr>
          <p:txBody>
            <a:bodyPr lIns="96120" tIns="51120" rIns="96120" bIns="5112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45" name=""/>
            <p:cNvSpPr/>
            <p:nvPr/>
          </p:nvSpPr>
          <p:spPr>
            <a:xfrm>
              <a:off x="2682720" y="1212840"/>
              <a:ext cx="76320" cy="317520"/>
            </a:xfrm>
            <a:prstGeom prst="rect">
              <a:avLst/>
            </a:prstGeom>
            <a:solidFill>
              <a:srgbClr val="FFFFFF"/>
            </a:solidFill>
            <a:ln w="0">
              <a:noFill/>
            </a:ln>
          </p:spPr>
          <p:txBody>
            <a:bodyPr lIns="90000" tIns="45000" rIns="90000" bIns="45000" anchor="t">
              <a:noAutofit/>
            </a:bodyPr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6" name=""/>
          <p:cNvSpPr/>
          <p:nvPr/>
        </p:nvSpPr>
        <p:spPr>
          <a:xfrm>
            <a:off x="2743200" y="1295280"/>
            <a:ext cx="324360" cy="152640"/>
          </a:xfrm>
          <a:custGeom>
            <a:avLst/>
            <a:gdLst/>
            <a:ahLst/>
            <a:rect l="0" t="0" r="r" b="b"/>
            <a:pathLst>
              <a:path w="901" h="424">
                <a:moveTo>
                  <a:pt x="0" y="140"/>
                </a:moveTo>
                <a:lnTo>
                  <a:pt x="0" y="282"/>
                </a:lnTo>
                <a:lnTo>
                  <a:pt x="630" y="282"/>
                </a:lnTo>
                <a:lnTo>
                  <a:pt x="630" y="424"/>
                </a:lnTo>
                <a:lnTo>
                  <a:pt x="901" y="211"/>
                </a:lnTo>
                <a:lnTo>
                  <a:pt x="630" y="0"/>
                </a:lnTo>
                <a:lnTo>
                  <a:pt x="630" y="140"/>
                </a:lnTo>
                <a:lnTo>
                  <a:pt x="0" y="140"/>
                </a:lnTo>
                <a:close/>
              </a:path>
            </a:pathLst>
          </a:custGeom>
          <a:solidFill>
            <a:srgbClr val="DDDDDD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"/>
          <p:cNvSpPr txBox="1"/>
          <p:nvPr/>
        </p:nvSpPr>
        <p:spPr>
          <a:xfrm>
            <a:off x="3070080" y="1192320"/>
            <a:ext cx="635040" cy="39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19 other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elements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"/>
          <p:cNvSpPr/>
          <p:nvPr/>
        </p:nvSpPr>
        <p:spPr>
          <a:xfrm>
            <a:off x="171360" y="276120"/>
            <a:ext cx="9334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"/>
          <p:cNvSpPr txBox="1"/>
          <p:nvPr/>
        </p:nvSpPr>
        <p:spPr>
          <a:xfrm>
            <a:off x="138240" y="117360"/>
            <a:ext cx="542880" cy="1825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200" b="1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TaxRec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209520" y="582480"/>
            <a:ext cx="71748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PAYENum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2133720" y="563400"/>
            <a:ext cx="71748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TaxPaid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1104840" y="563400"/>
            <a:ext cx="946080" cy="152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CountyCode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"/>
          <p:cNvSpPr/>
          <p:nvPr/>
        </p:nvSpPr>
        <p:spPr>
          <a:xfrm>
            <a:off x="1104840" y="276120"/>
            <a:ext cx="9334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>
            <a:off x="2038320" y="276120"/>
            <a:ext cx="933480" cy="28584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2327400" y="270000"/>
            <a:ext cx="3826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0033"/>
                </a:solidFill>
                <a:effectLst/>
                <a:uFillTx/>
                <a:latin typeface="Arial"/>
                <a:ea typeface="Arial"/>
              </a:rPr>
              <a:t>74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"/>
          <p:cNvSpPr txBox="1"/>
          <p:nvPr/>
        </p:nvSpPr>
        <p:spPr>
          <a:xfrm>
            <a:off x="1393920" y="270000"/>
            <a:ext cx="28260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0033"/>
                </a:solidFill>
                <a:effectLst/>
                <a:uFillTx/>
                <a:latin typeface="Arial"/>
                <a:ea typeface="Arial"/>
              </a:rPr>
              <a:t>5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136440" y="270000"/>
            <a:ext cx="9748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0033"/>
                </a:solidFill>
                <a:effectLst/>
                <a:uFillTx/>
                <a:latin typeface="Arial"/>
                <a:ea typeface="Arial"/>
              </a:rPr>
              <a:t>12345678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136440" y="2052720"/>
            <a:ext cx="4451400" cy="942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MOVE 10 TO CountyTax(3)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ADD TaxPaid TO CountyTax(CountyCode)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Courier New"/>
                <a:ea typeface="Courier New"/>
              </a:rPr>
              <a:t>ADD TaxPaid TO CountyTax(CountyCode + 1)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CC0000"/>
                </a:solidFill>
                <a:effectLst/>
                <a:uFillTx/>
                <a:latin typeface="Courier New"/>
                <a:ea typeface="Courier New"/>
              </a:rPr>
              <a:t>ADD TaxPaid TO CountyTax(CountyCode - 2)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1584360" y="1222200"/>
            <a:ext cx="3826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Arial"/>
                <a:ea typeface="Arial"/>
              </a:rPr>
              <a:t>74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"/>
          <p:cNvSpPr/>
          <p:nvPr/>
        </p:nvSpPr>
        <p:spPr>
          <a:xfrm>
            <a:off x="1067040" y="447840"/>
            <a:ext cx="1295640" cy="750600"/>
          </a:xfrm>
          <a:custGeom>
            <a:avLst/>
            <a:gdLst/>
            <a:ahLst/>
            <a:rect l="0" t="0" r="r" b="b"/>
            <a:pathLst>
              <a:path fill="none" w="3599" h="2085">
                <a:moveTo>
                  <a:pt x="3599" y="0"/>
                </a:moveTo>
                <a:lnTo>
                  <a:pt x="3599" y="0"/>
                </a:lnTo>
                <a:cubicBezTo>
                  <a:pt x="2967" y="0"/>
                  <a:pt x="2347" y="98"/>
                  <a:pt x="1800" y="284"/>
                </a:cubicBezTo>
                <a:cubicBezTo>
                  <a:pt x="1252" y="469"/>
                  <a:pt x="798" y="737"/>
                  <a:pt x="482" y="1059"/>
                </a:cubicBezTo>
                <a:cubicBezTo>
                  <a:pt x="175" y="1371"/>
                  <a:pt x="9" y="1724"/>
                  <a:pt x="0" y="2085"/>
                </a:cubicBezTo>
              </a:path>
            </a:pathLst>
          </a:custGeom>
          <a:ln w="12600">
            <a:solidFill>
              <a:srgbClr val="CC0000"/>
            </a:solidFill>
            <a:round/>
            <a:tailEnd len="med" type="triangle" w="med"/>
          </a:ln>
        </p:spPr>
        <p:txBody>
          <a:bodyPr lIns="96120" tIns="51120" rIns="96120" bIns="5112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"/>
          <p:cNvSpPr txBox="1"/>
          <p:nvPr/>
        </p:nvSpPr>
        <p:spPr>
          <a:xfrm>
            <a:off x="1965240" y="1222200"/>
            <a:ext cx="3826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3333CC"/>
                </a:solidFill>
                <a:effectLst/>
                <a:uFillTx/>
                <a:latin typeface="Arial"/>
                <a:ea typeface="Arial"/>
              </a:rPr>
              <a:t>74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"/>
          <p:cNvSpPr txBox="1"/>
          <p:nvPr/>
        </p:nvSpPr>
        <p:spPr>
          <a:xfrm>
            <a:off x="860400" y="1222200"/>
            <a:ext cx="382680" cy="304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FF0033"/>
                </a:solidFill>
                <a:effectLst/>
                <a:uFillTx/>
                <a:latin typeface="Arial"/>
                <a:ea typeface="Arial"/>
              </a:rPr>
              <a:t>84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 txBox="1"/>
          <p:nvPr/>
        </p:nvSpPr>
        <p:spPr>
          <a:xfrm>
            <a:off x="2916360" y="603360"/>
            <a:ext cx="1749600" cy="730080"/>
          </a:xfrm>
          <a:prstGeom prst="rect">
            <a:avLst/>
          </a:prstGeom>
          <a:solidFill>
            <a:srgbClr val="FFFFCC"/>
          </a:solidFill>
          <a:ln w="12600">
            <a:solidFill>
              <a:srgbClr val="000000"/>
            </a:solidFill>
            <a:round/>
          </a:ln>
        </p:spPr>
        <p:txBody>
          <a:bodyPr lIns="0" tIns="0" rIns="0" bIns="0" anchor="t">
            <a:spAutoFit/>
          </a:bodyPr>
          <a:p>
            <a:pPr algn="ctr">
              <a:lnSpc>
                <a:spcPct val="85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Times New Roman"/>
              </a:rPr>
              <a:t>Since CountyCode contains the value 5 CountyTax(CountyCode - 2 ) refers to CountyTax(3).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LibreOffice/26.2.2.2$Windows_X86_64 LibreOffice_project/1f77d10d6938fd34972958f64b2bcfa54f8b1ba5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Michael Coughlan</dc:creator>
  <dc:description/>
  <dc:language>en-US</dc:language>
  <cp:lastModifiedBy>Michael Coughlan</cp:lastModifiedBy>
  <cp:revision>0</cp:revision>
  <dc:subject/>
  <dc:title>No Slide Title</dc:title>
</cp:coreProperties>
</file>