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theme/themeOverride10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82" r:id="rId2"/>
    <p:sldId id="295" r:id="rId3"/>
    <p:sldId id="296" r:id="rId4"/>
    <p:sldId id="285" r:id="rId5"/>
    <p:sldId id="297" r:id="rId6"/>
    <p:sldId id="298" r:id="rId7"/>
    <p:sldId id="299" r:id="rId8"/>
    <p:sldId id="300" r:id="rId9"/>
    <p:sldId id="301" r:id="rId10"/>
    <p:sldId id="302" r:id="rId11"/>
  </p:sldIdLst>
  <p:sldSz cx="4762500" cy="3810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00">
          <p15:clr>
            <a:srgbClr val="A4A3A4"/>
          </p15:clr>
        </p15:guide>
        <p15:guide id="2" pos="150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200">
          <p15:clr>
            <a:srgbClr val="A4A3A4"/>
          </p15:clr>
        </p15:guide>
        <p15:guide id="2" pos="150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00"/>
    <a:srgbClr val="CC0000"/>
    <a:srgbClr val="FFFF00"/>
    <a:srgbClr val="CCFFCC"/>
    <a:srgbClr val="EEFFEE"/>
    <a:srgbClr val="FFFFCC"/>
    <a:srgbClr val="FFFF99"/>
    <a:srgbClr val="00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222" d="100"/>
          <a:sy n="222" d="100"/>
        </p:scale>
        <p:origin x="570" y="174"/>
      </p:cViewPr>
      <p:guideLst>
        <p:guide orient="horz" pos="1200"/>
        <p:guide pos="150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70" d="100"/>
          <a:sy n="70" d="100"/>
        </p:scale>
        <p:origin x="-1704" y="-78"/>
      </p:cViewPr>
      <p:guideLst>
        <p:guide orient="horz" pos="1200"/>
        <p:guide pos="150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F10429EE-DEA4-E6B6-1690-862B5914A980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>
              <a:defRPr sz="1000" i="1">
                <a:solidFill>
                  <a:schemeClr val="tx1"/>
                </a:solidFill>
              </a:defRPr>
            </a:lvl1pPr>
          </a:lstStyle>
          <a:p>
            <a:endParaRPr lang="en-US" altLang="en-US"/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68DF4772-88E2-A677-808F-98ED61E94E2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 algn="r">
              <a:defRPr sz="1000" i="1">
                <a:solidFill>
                  <a:schemeClr val="tx1"/>
                </a:solidFill>
              </a:defRPr>
            </a:lvl1pPr>
          </a:lstStyle>
          <a:p>
            <a:endParaRPr lang="en-US" altLang="en-US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0376E07B-EF92-DED7-DE57-52B103681CE9}"/>
              </a:ext>
            </a:extLst>
          </p:cNvPr>
          <p:cNvSpPr>
            <a:spLocks noRot="1" noChangeArrowheads="1" noTextEdit="1"/>
          </p:cNvSpPr>
          <p:nvPr>
            <p:ph type="sldImg" idx="2"/>
          </p:nvPr>
        </p:nvSpPr>
        <p:spPr bwMode="auto">
          <a:xfrm>
            <a:off x="1292225" y="692150"/>
            <a:ext cx="4273550" cy="3416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BFFF0FE9-E394-0321-DD02-F9809F4E610E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2054" name="Rectangle 6">
            <a:extLst>
              <a:ext uri="{FF2B5EF4-FFF2-40B4-BE49-F238E27FC236}">
                <a16:creationId xmlns:a16="http://schemas.microsoft.com/office/drawing/2014/main" id="{825C482E-6CDB-4298-4922-B8B5A2CE5F14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>
              <a:defRPr sz="1000" i="1">
                <a:solidFill>
                  <a:schemeClr val="tx1"/>
                </a:solidFill>
              </a:defRPr>
            </a:lvl1pPr>
          </a:lstStyle>
          <a:p>
            <a:endParaRPr lang="en-US" altLang="en-US"/>
          </a:p>
        </p:txBody>
      </p:sp>
      <p:sp>
        <p:nvSpPr>
          <p:cNvPr id="2055" name="Rectangle 7">
            <a:extLst>
              <a:ext uri="{FF2B5EF4-FFF2-40B4-BE49-F238E27FC236}">
                <a16:creationId xmlns:a16="http://schemas.microsoft.com/office/drawing/2014/main" id="{5B86CD12-EF53-4E6A-CE88-DB0261E9B12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 algn="r">
              <a:defRPr sz="1000" i="1">
                <a:solidFill>
                  <a:schemeClr val="tx1"/>
                </a:solidFill>
              </a:defRPr>
            </a:lvl1pPr>
          </a:lstStyle>
          <a:p>
            <a:fld id="{3CB06D00-CF39-47F6-8F85-6E4D4AD5BAB9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23B1A-A228-1E76-3468-035104141A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5313" y="623888"/>
            <a:ext cx="3571875" cy="1325562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0BCA26-3B0F-1AA4-55F8-8625C68673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5313" y="2001838"/>
            <a:ext cx="3571875" cy="9191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6222822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40DE8-D2D1-ED05-1FB3-F0AA79937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C62F8F-9D80-D6EF-B6C1-34743AB2D7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7025" y="1014413"/>
            <a:ext cx="4108450" cy="24177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413227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709CC-4699-83AC-F45F-D5D4347D1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949325"/>
            <a:ext cx="4106862" cy="1585913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EE9D03-C62A-9BBB-4F94-7F9958B894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5438" y="2549525"/>
            <a:ext cx="4106862" cy="8334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1204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E6730-B48F-BBF3-2254-1DE1126CD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A38553-448B-1DC1-F829-7A5E7B613A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7025" y="1014413"/>
            <a:ext cx="1978025" cy="24177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73D742-CA39-D00E-0DCF-EE676C1D9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457450" y="1014413"/>
            <a:ext cx="1978025" cy="24177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05598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42A39-0896-701E-444F-AB0D4008D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03200"/>
            <a:ext cx="4106862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83D15B-E87A-DED0-F5BE-4535D0D1A9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8613" y="933450"/>
            <a:ext cx="2014537" cy="45878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65029E-3772-CBE2-FD4A-43E1FA737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8613" y="1392238"/>
            <a:ext cx="2014537" cy="20462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5A3091-8C68-4BE4-B750-2C7DE4C2F9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411413" y="933450"/>
            <a:ext cx="2024062" cy="45878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2147BE-9FCE-9FC9-9D66-7B5C465672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2411413" y="1392238"/>
            <a:ext cx="2024062" cy="20462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330584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E532D-360B-BBD8-5E9D-58E2B61AB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0551306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50011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E356E-CD45-6E44-4EE9-DBB818672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54000"/>
            <a:ext cx="1535112" cy="8890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F78B5A-BE9B-AF98-E7AB-57FCA2DDFE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4063" y="549275"/>
            <a:ext cx="2411412" cy="2706688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783AAB-6C6A-D439-9D70-ACAB95EDA7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8613" y="1143000"/>
            <a:ext cx="1535112" cy="2117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109487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CF2D3-73DA-CA05-389F-BC3D5AA6D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54000"/>
            <a:ext cx="1535112" cy="8890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964683-A0AD-B6D7-8483-0BB2098907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024063" y="549275"/>
            <a:ext cx="2411412" cy="2706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BFCD5F-E2BF-4E57-6ABE-F33E42354C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8613" y="1143000"/>
            <a:ext cx="1535112" cy="2117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27705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EC4D8-673C-9F3B-46AA-0744BA541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BE625-F669-472F-DC9A-6702C4245F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27025" y="1014413"/>
            <a:ext cx="4108450" cy="2417762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411882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F110D82-EAEA-A09C-4C33-83219EDF6F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3408363" y="203200"/>
            <a:ext cx="1027112" cy="322897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7FA84B-9681-946B-0881-1C1659AEE1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27025" y="203200"/>
            <a:ext cx="2928938" cy="32289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036502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017F1BAC-EB9C-8D10-68CD-C68F96860B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25400"/>
            <a:ext cx="4730750" cy="3773488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D79B7F8A-FC4E-3EE2-0E66-05468589BC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4875" y="517525"/>
            <a:ext cx="2933700" cy="2254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/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Adding records to an ordered Sequential file</a:t>
            </a:r>
          </a:p>
          <a:p>
            <a:pPr algn="ctr"/>
            <a:endParaRPr lang="en-US" altLang="en-US" b="1">
              <a:solidFill>
                <a:srgbClr val="A50021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algn="ctr"/>
            <a:r>
              <a:rPr lang="en-US" altLang="en-US" sz="1400" b="1">
                <a:solidFill>
                  <a:schemeClr val="tx1"/>
                </a:solidFill>
              </a:rPr>
              <a:t>Click to view.</a:t>
            </a:r>
          </a:p>
          <a:p>
            <a:pPr algn="ctr"/>
            <a:endParaRPr lang="en-US" altLang="en-US" sz="1400" b="1">
              <a:solidFill>
                <a:schemeClr val="tx1"/>
              </a:solidFill>
            </a:endParaRPr>
          </a:p>
          <a:p>
            <a:pPr algn="ctr"/>
            <a:r>
              <a:rPr lang="en-US" altLang="en-US" sz="1000">
                <a:solidFill>
                  <a:schemeClr val="tx1"/>
                </a:solidFill>
              </a:rPr>
              <a:t>When viewing , left click (or press the Page Up key) to see the next frame and right click (or press Page Down)  to see the previous frame.</a:t>
            </a:r>
            <a:endParaRPr lang="en-US" altLang="en-US" b="1">
              <a:solidFill>
                <a:srgbClr val="000099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algn="ctr"/>
            <a:endParaRPr lang="en-US" altLang="en-US" b="1">
              <a:solidFill>
                <a:srgbClr val="000099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B12A86D8-57C2-2745-3C58-BA2D2FCFC3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5238" y="252413"/>
            <a:ext cx="2366962" cy="325437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lIns="38100" tIns="19050" rIns="3810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FILE SECTION.</a:t>
            </a:r>
            <a:endParaRPr lang="en-US" altLang="en-US" sz="12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2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2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2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2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2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2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2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2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OPEN INPUT TF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OPEN INPUT MF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OPEN OUTPUT NF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READ TF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AT END SET EndTF TO TRUE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END-READ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READ MF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AT END SET EndMF TO TRUE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END-READ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PERFORM UNTIL EndTF AND EndMF </a:t>
            </a:r>
          </a:p>
          <a:p>
            <a:pPr>
              <a:lnSpc>
                <a:spcPct val="85000"/>
              </a:lnSpc>
            </a:pPr>
            <a:r>
              <a:rPr lang="en-US" altLang="en-US" sz="1000">
                <a:latin typeface="Courier New" panose="02070309020205020404" pitchFamily="49" charset="0"/>
              </a:rPr>
              <a:t>     etc</a:t>
            </a:r>
            <a:r>
              <a:rPr lang="en-US" altLang="en-US" sz="1000" b="1">
                <a:latin typeface="Courier New" panose="02070309020205020404" pitchFamily="49" charset="0"/>
              </a:rPr>
              <a:t>  </a:t>
            </a:r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703B3224-0372-7889-4A16-F2E427240A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387350"/>
            <a:ext cx="766763" cy="6223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RecordC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RecordF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RecordP</a:t>
            </a:r>
          </a:p>
        </p:txBody>
      </p:sp>
      <p:sp>
        <p:nvSpPr>
          <p:cNvPr id="4100" name="Rectangle 4">
            <a:extLst>
              <a:ext uri="{FF2B5EF4-FFF2-40B4-BE49-F238E27FC236}">
                <a16:creationId xmlns:a16="http://schemas.microsoft.com/office/drawing/2014/main" id="{D5DD81DD-8B65-51E7-B475-E01297137F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12725"/>
            <a:ext cx="912813" cy="168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Trans File (TF)</a:t>
            </a:r>
          </a:p>
        </p:txBody>
      </p:sp>
      <p:sp>
        <p:nvSpPr>
          <p:cNvPr id="4101" name="Rectangle 5">
            <a:extLst>
              <a:ext uri="{FF2B5EF4-FFF2-40B4-BE49-F238E27FC236}">
                <a16:creationId xmlns:a16="http://schemas.microsoft.com/office/drawing/2014/main" id="{9F5072F1-2668-AB86-D754-60294944B0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2390775"/>
            <a:ext cx="766763" cy="130175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RecordA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RecordB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RecordG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RecordH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RecordK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RecordM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RecordN</a:t>
            </a:r>
          </a:p>
        </p:txBody>
      </p:sp>
      <p:sp>
        <p:nvSpPr>
          <p:cNvPr id="4102" name="Rectangle 6">
            <a:extLst>
              <a:ext uri="{FF2B5EF4-FFF2-40B4-BE49-F238E27FC236}">
                <a16:creationId xmlns:a16="http://schemas.microsoft.com/office/drawing/2014/main" id="{4403F9F1-9EC8-40B5-C320-5B2C17F173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205038"/>
            <a:ext cx="101282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Master File (MF</a:t>
            </a:r>
            <a:r>
              <a:rPr lang="en-US" altLang="en-US" sz="1200" b="1"/>
              <a:t>)</a:t>
            </a:r>
          </a:p>
        </p:txBody>
      </p:sp>
      <p:sp>
        <p:nvSpPr>
          <p:cNvPr id="4103" name="Rectangle 7">
            <a:extLst>
              <a:ext uri="{FF2B5EF4-FFF2-40B4-BE49-F238E27FC236}">
                <a16:creationId xmlns:a16="http://schemas.microsoft.com/office/drawing/2014/main" id="{FA526852-810E-B608-0306-7AA11BEF73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58963" y="90488"/>
            <a:ext cx="842962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Times New Roman" panose="02020603050405020304" pitchFamily="18" charset="0"/>
              </a:rPr>
              <a:t>PROGRAM</a:t>
            </a:r>
          </a:p>
        </p:txBody>
      </p:sp>
      <p:sp>
        <p:nvSpPr>
          <p:cNvPr id="4104" name="Rectangle 8">
            <a:extLst>
              <a:ext uri="{FF2B5EF4-FFF2-40B4-BE49-F238E27FC236}">
                <a16:creationId xmlns:a16="http://schemas.microsoft.com/office/drawing/2014/main" id="{049B852F-73BC-7876-18B5-E83085F811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5575" y="576263"/>
            <a:ext cx="1463675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05" name="Rectangle 9">
            <a:extLst>
              <a:ext uri="{FF2B5EF4-FFF2-40B4-BE49-F238E27FC236}">
                <a16:creationId xmlns:a16="http://schemas.microsoft.com/office/drawing/2014/main" id="{A1F0F317-104F-1D8D-F5F7-FBCA02CB71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500" y="395288"/>
            <a:ext cx="460375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TFRec</a:t>
            </a:r>
          </a:p>
        </p:txBody>
      </p:sp>
      <p:sp>
        <p:nvSpPr>
          <p:cNvPr id="4106" name="Rectangle 10">
            <a:extLst>
              <a:ext uri="{FF2B5EF4-FFF2-40B4-BE49-F238E27FC236}">
                <a16:creationId xmlns:a16="http://schemas.microsoft.com/office/drawing/2014/main" id="{B7F3E687-8692-D00F-C07B-2DEE9CF7F3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9858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07" name="Rectangle 11">
            <a:extLst>
              <a:ext uri="{FF2B5EF4-FFF2-40B4-BE49-F238E27FC236}">
                <a16:creationId xmlns:a16="http://schemas.microsoft.com/office/drawing/2014/main" id="{AE063DE8-A66E-2C92-7525-297C0AA87D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814388"/>
            <a:ext cx="48895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MFRec</a:t>
            </a:r>
          </a:p>
        </p:txBody>
      </p:sp>
      <p:sp>
        <p:nvSpPr>
          <p:cNvPr id="4108" name="Rectangle 12">
            <a:extLst>
              <a:ext uri="{FF2B5EF4-FFF2-40B4-BE49-F238E27FC236}">
                <a16:creationId xmlns:a16="http://schemas.microsoft.com/office/drawing/2014/main" id="{FCB266D8-8CCB-860D-EE46-E364B32699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14049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09" name="Rectangle 13">
            <a:extLst>
              <a:ext uri="{FF2B5EF4-FFF2-40B4-BE49-F238E27FC236}">
                <a16:creationId xmlns:a16="http://schemas.microsoft.com/office/drawing/2014/main" id="{72C98734-382E-93B1-96C1-8A81117B1F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233488"/>
            <a:ext cx="47148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NFRec</a:t>
            </a:r>
          </a:p>
        </p:txBody>
      </p:sp>
      <p:sp>
        <p:nvSpPr>
          <p:cNvPr id="4110" name="AutoShape 14">
            <a:extLst>
              <a:ext uri="{FF2B5EF4-FFF2-40B4-BE49-F238E27FC236}">
                <a16:creationId xmlns:a16="http://schemas.microsoft.com/office/drawing/2014/main" id="{674B84C9-C8DE-F1C4-299A-25A3B90763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246380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11" name="AutoShape 15">
            <a:extLst>
              <a:ext uri="{FF2B5EF4-FFF2-40B4-BE49-F238E27FC236}">
                <a16:creationId xmlns:a16="http://schemas.microsoft.com/office/drawing/2014/main" id="{EA9A69B3-D344-C4F0-B98F-08B3E31A96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48260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12" name="Rectangle 16">
            <a:extLst>
              <a:ext uri="{FF2B5EF4-FFF2-40B4-BE49-F238E27FC236}">
                <a16:creationId xmlns:a16="http://schemas.microsoft.com/office/drawing/2014/main" id="{0ECED4BF-209E-084F-4969-7ABBF4FD72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3500" y="387350"/>
            <a:ext cx="766763" cy="23495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4113" name="Rectangle 17">
            <a:extLst>
              <a:ext uri="{FF2B5EF4-FFF2-40B4-BE49-F238E27FC236}">
                <a16:creationId xmlns:a16="http://schemas.microsoft.com/office/drawing/2014/main" id="{7F86146D-13D1-3551-BB61-B7477CC27D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8738" y="187325"/>
            <a:ext cx="81597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NewFile (NF</a:t>
            </a:r>
            <a:r>
              <a:rPr lang="en-US" altLang="en-US" sz="1200" b="1">
                <a:latin typeface="Times New Roman" panose="02020603050405020304" pitchFamily="18" charset="0"/>
              </a:rPr>
              <a:t>)</a:t>
            </a:r>
          </a:p>
        </p:txBody>
      </p:sp>
      <p:sp>
        <p:nvSpPr>
          <p:cNvPr id="4114" name="AutoShape 18">
            <a:extLst>
              <a:ext uri="{FF2B5EF4-FFF2-40B4-BE49-F238E27FC236}">
                <a16:creationId xmlns:a16="http://schemas.microsoft.com/office/drawing/2014/main" id="{EEE38F3E-B00D-8EBF-F827-2074398F0D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8725" y="44450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>
            <a:extLst>
              <a:ext uri="{FF2B5EF4-FFF2-40B4-BE49-F238E27FC236}">
                <a16:creationId xmlns:a16="http://schemas.microsoft.com/office/drawing/2014/main" id="{79044B2E-FACD-E1B4-54AC-2463E44CB0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5238" y="82550"/>
            <a:ext cx="2366962" cy="3606800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lIns="38100" tIns="19050" rIns="38100" bIns="19050"/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FILE SECTION.</a:t>
            </a: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OPEN INPUT TF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OPEN INPUT MF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OPEN OUTPUT NF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READ TF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AT END SET EndTF TO TRUE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END-READ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READ MF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AT END SET EndMF TO TRUE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END-READ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PERFORM UNTIL EndTF AND EndMF </a:t>
            </a:r>
          </a:p>
          <a:p>
            <a:pPr>
              <a:lnSpc>
                <a:spcPct val="85000"/>
              </a:lnSpc>
            </a:pPr>
            <a:r>
              <a:rPr lang="en-US" altLang="en-US" sz="1000">
                <a:latin typeface="Courier New" panose="02070309020205020404" pitchFamily="49" charset="0"/>
              </a:rPr>
              <a:t>     etc</a:t>
            </a:r>
            <a:r>
              <a:rPr lang="en-US" altLang="en-US" sz="1000" b="1">
                <a:latin typeface="Courier New" panose="02070309020205020404" pitchFamily="49" charset="0"/>
              </a:rPr>
              <a:t>  </a:t>
            </a:r>
          </a:p>
        </p:txBody>
      </p:sp>
      <p:sp>
        <p:nvSpPr>
          <p:cNvPr id="5123" name="Rectangle 3">
            <a:extLst>
              <a:ext uri="{FF2B5EF4-FFF2-40B4-BE49-F238E27FC236}">
                <a16:creationId xmlns:a16="http://schemas.microsoft.com/office/drawing/2014/main" id="{23017113-FD02-2C0F-4DF1-2CD1A0EE68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387350"/>
            <a:ext cx="766763" cy="6223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RecordC</a:t>
            </a:r>
            <a:endParaRPr lang="en-US" altLang="en-US" sz="1200" b="1">
              <a:latin typeface="Courier New" panose="02070309020205020404" pitchFamily="49" charset="0"/>
            </a:endParaRP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RecordF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RecordP</a:t>
            </a:r>
          </a:p>
        </p:txBody>
      </p:sp>
      <p:sp>
        <p:nvSpPr>
          <p:cNvPr id="5124" name="Rectangle 4">
            <a:extLst>
              <a:ext uri="{FF2B5EF4-FFF2-40B4-BE49-F238E27FC236}">
                <a16:creationId xmlns:a16="http://schemas.microsoft.com/office/drawing/2014/main" id="{23BFB650-539E-CCD8-B7B1-D6A16899AE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12725"/>
            <a:ext cx="912813" cy="168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Trans File (TF)</a:t>
            </a:r>
          </a:p>
        </p:txBody>
      </p:sp>
      <p:sp>
        <p:nvSpPr>
          <p:cNvPr id="5125" name="Rectangle 5">
            <a:extLst>
              <a:ext uri="{FF2B5EF4-FFF2-40B4-BE49-F238E27FC236}">
                <a16:creationId xmlns:a16="http://schemas.microsoft.com/office/drawing/2014/main" id="{B24FBA1F-3703-C62E-8194-02D70DC6FE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2390775"/>
            <a:ext cx="766763" cy="130175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RecordA</a:t>
            </a:r>
            <a:endParaRPr lang="en-US" altLang="en-US" sz="1200" b="1">
              <a:latin typeface="Courier New" panose="02070309020205020404" pitchFamily="49" charset="0"/>
            </a:endParaRP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RecordB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RecordG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RecordH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RecordK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RecordM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RecordN</a:t>
            </a:r>
          </a:p>
        </p:txBody>
      </p:sp>
      <p:sp>
        <p:nvSpPr>
          <p:cNvPr id="5126" name="Rectangle 6">
            <a:extLst>
              <a:ext uri="{FF2B5EF4-FFF2-40B4-BE49-F238E27FC236}">
                <a16:creationId xmlns:a16="http://schemas.microsoft.com/office/drawing/2014/main" id="{4CA2C999-C913-5794-2907-88DA9D5B36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205038"/>
            <a:ext cx="101282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Master File (MF</a:t>
            </a:r>
            <a:r>
              <a:rPr lang="en-US" altLang="en-US" sz="1200" b="1"/>
              <a:t>)</a:t>
            </a:r>
          </a:p>
        </p:txBody>
      </p:sp>
      <p:sp>
        <p:nvSpPr>
          <p:cNvPr id="5127" name="Rectangle 7">
            <a:extLst>
              <a:ext uri="{FF2B5EF4-FFF2-40B4-BE49-F238E27FC236}">
                <a16:creationId xmlns:a16="http://schemas.microsoft.com/office/drawing/2014/main" id="{1DF42483-5410-5C43-AF46-E7DEB9C5B7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3500" y="387350"/>
            <a:ext cx="766763" cy="23495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5128" name="Rectangle 8">
            <a:extLst>
              <a:ext uri="{FF2B5EF4-FFF2-40B4-BE49-F238E27FC236}">
                <a16:creationId xmlns:a16="http://schemas.microsoft.com/office/drawing/2014/main" id="{FDEB422B-DD14-E285-A981-81FE0D93D9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8738" y="187325"/>
            <a:ext cx="81597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NewFile (NF</a:t>
            </a:r>
            <a:r>
              <a:rPr lang="en-US" altLang="en-US" sz="1200" b="1">
                <a:latin typeface="Times New Roman" panose="02020603050405020304" pitchFamily="18" charset="0"/>
              </a:rPr>
              <a:t>)</a:t>
            </a:r>
          </a:p>
        </p:txBody>
      </p:sp>
      <p:sp>
        <p:nvSpPr>
          <p:cNvPr id="5129" name="AutoShape 9">
            <a:extLst>
              <a:ext uri="{FF2B5EF4-FFF2-40B4-BE49-F238E27FC236}">
                <a16:creationId xmlns:a16="http://schemas.microsoft.com/office/drawing/2014/main" id="{972971DB-4387-91F8-F570-7EA12E1AA2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263525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30" name="AutoShape 10">
            <a:extLst>
              <a:ext uri="{FF2B5EF4-FFF2-40B4-BE49-F238E27FC236}">
                <a16:creationId xmlns:a16="http://schemas.microsoft.com/office/drawing/2014/main" id="{5BA21228-3998-4E2D-341B-E0D4F62D8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63500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31" name="AutoShape 11">
            <a:extLst>
              <a:ext uri="{FF2B5EF4-FFF2-40B4-BE49-F238E27FC236}">
                <a16:creationId xmlns:a16="http://schemas.microsoft.com/office/drawing/2014/main" id="{73226393-8C99-24E9-BB31-67523AFB5B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8725" y="44450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32" name="Arc 12">
            <a:extLst>
              <a:ext uri="{FF2B5EF4-FFF2-40B4-BE49-F238E27FC236}">
                <a16:creationId xmlns:a16="http://schemas.microsoft.com/office/drawing/2014/main" id="{8A948C84-15B4-3285-3181-43E8858750CF}"/>
              </a:ext>
            </a:extLst>
          </p:cNvPr>
          <p:cNvSpPr>
            <a:spLocks/>
          </p:cNvSpPr>
          <p:nvPr/>
        </p:nvSpPr>
        <p:spPr bwMode="auto">
          <a:xfrm>
            <a:off x="838200" y="400050"/>
            <a:ext cx="628650" cy="209550"/>
          </a:xfrm>
          <a:custGeom>
            <a:avLst/>
            <a:gdLst>
              <a:gd name="G0" fmla="+- 19344 0 0"/>
              <a:gd name="G1" fmla="+- 21600 0 0"/>
              <a:gd name="G2" fmla="+- 21600 0 0"/>
              <a:gd name="T0" fmla="*/ 0 w 40944"/>
              <a:gd name="T1" fmla="*/ 11988 h 21600"/>
              <a:gd name="T2" fmla="*/ 40944 w 40944"/>
              <a:gd name="T3" fmla="*/ 21600 h 21600"/>
              <a:gd name="T4" fmla="*/ 19344 w 40944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40944" h="21600" fill="none" extrusionOk="0">
                <a:moveTo>
                  <a:pt x="0" y="11988"/>
                </a:moveTo>
                <a:cubicBezTo>
                  <a:pt x="3649" y="4644"/>
                  <a:pt x="11143" y="0"/>
                  <a:pt x="19344" y="0"/>
                </a:cubicBezTo>
                <a:cubicBezTo>
                  <a:pt x="31273" y="0"/>
                  <a:pt x="40944" y="9670"/>
                  <a:pt x="40944" y="21600"/>
                </a:cubicBezTo>
              </a:path>
              <a:path w="40944" h="21600" stroke="0" extrusionOk="0">
                <a:moveTo>
                  <a:pt x="0" y="11988"/>
                </a:moveTo>
                <a:cubicBezTo>
                  <a:pt x="3649" y="4644"/>
                  <a:pt x="11143" y="0"/>
                  <a:pt x="19344" y="0"/>
                </a:cubicBezTo>
                <a:cubicBezTo>
                  <a:pt x="31273" y="0"/>
                  <a:pt x="40944" y="9670"/>
                  <a:pt x="40944" y="21600"/>
                </a:cubicBezTo>
                <a:lnTo>
                  <a:pt x="19344" y="21600"/>
                </a:lnTo>
                <a:close/>
              </a:path>
            </a:pathLst>
          </a:custGeom>
          <a:noFill/>
          <a:ln w="12700" cap="rnd">
            <a:solidFill>
              <a:srgbClr val="CC00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3" name="Arc 13">
            <a:extLst>
              <a:ext uri="{FF2B5EF4-FFF2-40B4-BE49-F238E27FC236}">
                <a16:creationId xmlns:a16="http://schemas.microsoft.com/office/drawing/2014/main" id="{40BEE729-A00B-162F-3EA2-7EECC009C5AC}"/>
              </a:ext>
            </a:extLst>
          </p:cNvPr>
          <p:cNvSpPr>
            <a:spLocks/>
          </p:cNvSpPr>
          <p:nvPr/>
        </p:nvSpPr>
        <p:spPr bwMode="auto">
          <a:xfrm>
            <a:off x="495300" y="935038"/>
            <a:ext cx="952500" cy="1524000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0 w 21600"/>
              <a:gd name="T1" fmla="*/ 21600 h 21600"/>
              <a:gd name="T2" fmla="*/ 21564 w 21600"/>
              <a:gd name="T3" fmla="*/ 0 h 21600"/>
              <a:gd name="T4" fmla="*/ 21600 w 21600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599"/>
                </a:moveTo>
                <a:cubicBezTo>
                  <a:pt x="0" y="9684"/>
                  <a:pt x="9648" y="19"/>
                  <a:pt x="21564" y="0"/>
                </a:cubicBezTo>
              </a:path>
              <a:path w="21600" h="21600" stroke="0" extrusionOk="0">
                <a:moveTo>
                  <a:pt x="0" y="21599"/>
                </a:moveTo>
                <a:cubicBezTo>
                  <a:pt x="0" y="9684"/>
                  <a:pt x="9648" y="19"/>
                  <a:pt x="21564" y="0"/>
                </a:cubicBezTo>
                <a:lnTo>
                  <a:pt x="21600" y="21600"/>
                </a:lnTo>
                <a:close/>
              </a:path>
            </a:pathLst>
          </a:custGeom>
          <a:noFill/>
          <a:ln w="12700" cap="rnd">
            <a:solidFill>
              <a:srgbClr val="CC00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4" name="Rectangle 14">
            <a:extLst>
              <a:ext uri="{FF2B5EF4-FFF2-40B4-BE49-F238E27FC236}">
                <a16:creationId xmlns:a16="http://schemas.microsoft.com/office/drawing/2014/main" id="{ADF0383B-4FD4-47DE-6A04-DD91FA41A2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5575" y="385763"/>
            <a:ext cx="1463675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RecordC</a:t>
            </a:r>
          </a:p>
        </p:txBody>
      </p:sp>
      <p:sp>
        <p:nvSpPr>
          <p:cNvPr id="5135" name="Rectangle 15">
            <a:extLst>
              <a:ext uri="{FF2B5EF4-FFF2-40B4-BE49-F238E27FC236}">
                <a16:creationId xmlns:a16="http://schemas.microsoft.com/office/drawing/2014/main" id="{330369FA-A6E9-6AE9-498F-521BB4D503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500" y="204788"/>
            <a:ext cx="460375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TFRec</a:t>
            </a:r>
          </a:p>
        </p:txBody>
      </p:sp>
      <p:sp>
        <p:nvSpPr>
          <p:cNvPr id="5136" name="Rectangle 16">
            <a:extLst>
              <a:ext uri="{FF2B5EF4-FFF2-40B4-BE49-F238E27FC236}">
                <a16:creationId xmlns:a16="http://schemas.microsoft.com/office/drawing/2014/main" id="{D78D6C3E-55DC-9197-9AEE-6BAFB2A3D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7953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RecordA</a:t>
            </a:r>
          </a:p>
        </p:txBody>
      </p:sp>
      <p:sp>
        <p:nvSpPr>
          <p:cNvPr id="5137" name="Rectangle 17">
            <a:extLst>
              <a:ext uri="{FF2B5EF4-FFF2-40B4-BE49-F238E27FC236}">
                <a16:creationId xmlns:a16="http://schemas.microsoft.com/office/drawing/2014/main" id="{E903248E-2A25-F858-F1C6-02890A38DD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623888"/>
            <a:ext cx="48895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MFRec</a:t>
            </a:r>
          </a:p>
        </p:txBody>
      </p:sp>
      <p:sp>
        <p:nvSpPr>
          <p:cNvPr id="5138" name="Rectangle 18">
            <a:extLst>
              <a:ext uri="{FF2B5EF4-FFF2-40B4-BE49-F238E27FC236}">
                <a16:creationId xmlns:a16="http://schemas.microsoft.com/office/drawing/2014/main" id="{4C34C51E-5CFE-94A9-E326-3347484181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12144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39" name="Rectangle 19">
            <a:extLst>
              <a:ext uri="{FF2B5EF4-FFF2-40B4-BE49-F238E27FC236}">
                <a16:creationId xmlns:a16="http://schemas.microsoft.com/office/drawing/2014/main" id="{7A10210E-C468-51F9-1CB6-96959F3354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042988"/>
            <a:ext cx="47148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NFRec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9966EAD-FF80-A99A-3136-0976E07B71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5238" y="92075"/>
            <a:ext cx="2366962" cy="359727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lIns="38100" tIns="19050" rIns="3810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FILE SECTION.</a:t>
            </a: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 </a:t>
            </a:r>
            <a:r>
              <a:rPr lang="en-US" altLang="en-US" sz="1000">
                <a:latin typeface="Courier New" panose="02070309020205020404" pitchFamily="49" charset="0"/>
              </a:rPr>
              <a:t>etc.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PERFORM UNTIL EndTF AND EndMF  IF TFKey &lt; MFKey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MOVE TFRec TO NFRec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WRITE NFRec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READ TF </a:t>
            </a:r>
            <a:r>
              <a:rPr lang="en-US" altLang="en-US" sz="1000">
                <a:latin typeface="Courier New" panose="02070309020205020404" pitchFamily="49" charset="0"/>
              </a:rPr>
              <a:t>etc.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</a:t>
            </a: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ELSE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   IF TFKey &gt; MFKey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     MOVE MFRec TO NFRec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     WRITE NFRec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     </a:t>
            </a:r>
            <a:r>
              <a:rPr lang="en-US" altLang="en-US" sz="1000" b="1">
                <a:latin typeface="Courier New" panose="02070309020205020404" pitchFamily="49" charset="0"/>
              </a:rPr>
              <a:t>READ MF </a:t>
            </a:r>
            <a:r>
              <a:rPr lang="en-US" altLang="en-US" sz="1000">
                <a:latin typeface="Courier New" panose="02070309020205020404" pitchFamily="49" charset="0"/>
              </a:rPr>
              <a:t>etc.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END-IF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END-IF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END-PERFORM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BD1E1F59-701C-A808-C66D-C3666D3F6A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387350"/>
            <a:ext cx="766763" cy="6223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RecordC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RecordF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RecordP</a:t>
            </a:r>
          </a:p>
        </p:txBody>
      </p:sp>
      <p:sp>
        <p:nvSpPr>
          <p:cNvPr id="6148" name="Rectangle 4">
            <a:extLst>
              <a:ext uri="{FF2B5EF4-FFF2-40B4-BE49-F238E27FC236}">
                <a16:creationId xmlns:a16="http://schemas.microsoft.com/office/drawing/2014/main" id="{64DDEB51-0543-4113-8E50-46868130B8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12725"/>
            <a:ext cx="912813" cy="168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Trans File (TF)</a:t>
            </a:r>
          </a:p>
        </p:txBody>
      </p:sp>
      <p:sp>
        <p:nvSpPr>
          <p:cNvPr id="6149" name="Rectangle 5">
            <a:extLst>
              <a:ext uri="{FF2B5EF4-FFF2-40B4-BE49-F238E27FC236}">
                <a16:creationId xmlns:a16="http://schemas.microsoft.com/office/drawing/2014/main" id="{4CE5C317-29D5-7F12-1234-49D107C5DC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2390775"/>
            <a:ext cx="766763" cy="130175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RecordA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RecordB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RecordG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RecordH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RecordK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RecordM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RecordN</a:t>
            </a:r>
          </a:p>
        </p:txBody>
      </p:sp>
      <p:sp>
        <p:nvSpPr>
          <p:cNvPr id="6150" name="Rectangle 6">
            <a:extLst>
              <a:ext uri="{FF2B5EF4-FFF2-40B4-BE49-F238E27FC236}">
                <a16:creationId xmlns:a16="http://schemas.microsoft.com/office/drawing/2014/main" id="{CE64E63A-16D2-1527-6272-6B7888D5B5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205038"/>
            <a:ext cx="101282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Master File (MF</a:t>
            </a:r>
            <a:r>
              <a:rPr lang="en-US" altLang="en-US" sz="1200" b="1"/>
              <a:t>)</a:t>
            </a:r>
          </a:p>
        </p:txBody>
      </p:sp>
      <p:sp>
        <p:nvSpPr>
          <p:cNvPr id="6151" name="Rectangle 7">
            <a:extLst>
              <a:ext uri="{FF2B5EF4-FFF2-40B4-BE49-F238E27FC236}">
                <a16:creationId xmlns:a16="http://schemas.microsoft.com/office/drawing/2014/main" id="{D5E4EDDA-1CC7-168C-C402-A50B4E5672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3500" y="387350"/>
            <a:ext cx="766763" cy="3095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/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RecordA</a:t>
            </a:r>
          </a:p>
        </p:txBody>
      </p:sp>
      <p:sp>
        <p:nvSpPr>
          <p:cNvPr id="6152" name="Rectangle 8">
            <a:extLst>
              <a:ext uri="{FF2B5EF4-FFF2-40B4-BE49-F238E27FC236}">
                <a16:creationId xmlns:a16="http://schemas.microsoft.com/office/drawing/2014/main" id="{946FED47-916B-DCDC-5B6F-0B1B35DF06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5575" y="385763"/>
            <a:ext cx="1463675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RecordC</a:t>
            </a:r>
          </a:p>
        </p:txBody>
      </p:sp>
      <p:sp>
        <p:nvSpPr>
          <p:cNvPr id="6153" name="Rectangle 9">
            <a:extLst>
              <a:ext uri="{FF2B5EF4-FFF2-40B4-BE49-F238E27FC236}">
                <a16:creationId xmlns:a16="http://schemas.microsoft.com/office/drawing/2014/main" id="{95B93620-EB66-35C0-8B8B-76E8B0572D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500" y="204788"/>
            <a:ext cx="460375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TFRec</a:t>
            </a:r>
          </a:p>
        </p:txBody>
      </p:sp>
      <p:sp>
        <p:nvSpPr>
          <p:cNvPr id="6154" name="Rectangle 10">
            <a:extLst>
              <a:ext uri="{FF2B5EF4-FFF2-40B4-BE49-F238E27FC236}">
                <a16:creationId xmlns:a16="http://schemas.microsoft.com/office/drawing/2014/main" id="{54C02E4F-FAC2-A3CC-071C-040CE7F3CC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7953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RecordA</a:t>
            </a:r>
          </a:p>
        </p:txBody>
      </p:sp>
      <p:sp>
        <p:nvSpPr>
          <p:cNvPr id="6155" name="Rectangle 11">
            <a:extLst>
              <a:ext uri="{FF2B5EF4-FFF2-40B4-BE49-F238E27FC236}">
                <a16:creationId xmlns:a16="http://schemas.microsoft.com/office/drawing/2014/main" id="{44F0D260-C681-6B55-83ED-2F34EC4E62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623888"/>
            <a:ext cx="48895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MFRec</a:t>
            </a:r>
          </a:p>
        </p:txBody>
      </p:sp>
      <p:sp>
        <p:nvSpPr>
          <p:cNvPr id="6156" name="Rectangle 12">
            <a:extLst>
              <a:ext uri="{FF2B5EF4-FFF2-40B4-BE49-F238E27FC236}">
                <a16:creationId xmlns:a16="http://schemas.microsoft.com/office/drawing/2014/main" id="{5F3EFB43-DC4C-42D6-0523-15046DA619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12144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RecordA</a:t>
            </a:r>
          </a:p>
        </p:txBody>
      </p:sp>
      <p:sp>
        <p:nvSpPr>
          <p:cNvPr id="6157" name="Rectangle 13">
            <a:extLst>
              <a:ext uri="{FF2B5EF4-FFF2-40B4-BE49-F238E27FC236}">
                <a16:creationId xmlns:a16="http://schemas.microsoft.com/office/drawing/2014/main" id="{880E6D14-7E48-5B69-1C0E-236AE4FAC8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042988"/>
            <a:ext cx="47148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NFRec</a:t>
            </a:r>
          </a:p>
        </p:txBody>
      </p:sp>
      <p:sp>
        <p:nvSpPr>
          <p:cNvPr id="6158" name="Rectangle 14">
            <a:extLst>
              <a:ext uri="{FF2B5EF4-FFF2-40B4-BE49-F238E27FC236}">
                <a16:creationId xmlns:a16="http://schemas.microsoft.com/office/drawing/2014/main" id="{6B62E5C5-86E8-D323-55BD-3A159ECAAA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8738" y="187325"/>
            <a:ext cx="81597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NewFile (NF</a:t>
            </a:r>
            <a:r>
              <a:rPr lang="en-US" altLang="en-US" sz="1200" b="1">
                <a:latin typeface="Times New Roman" panose="02020603050405020304" pitchFamily="18" charset="0"/>
              </a:rPr>
              <a:t>)</a:t>
            </a:r>
          </a:p>
        </p:txBody>
      </p:sp>
      <p:sp>
        <p:nvSpPr>
          <p:cNvPr id="6159" name="Arc 15">
            <a:extLst>
              <a:ext uri="{FF2B5EF4-FFF2-40B4-BE49-F238E27FC236}">
                <a16:creationId xmlns:a16="http://schemas.microsoft.com/office/drawing/2014/main" id="{3F844D78-DFED-AF99-E7A3-3C79EF33B5D1}"/>
              </a:ext>
            </a:extLst>
          </p:cNvPr>
          <p:cNvSpPr>
            <a:spLocks/>
          </p:cNvSpPr>
          <p:nvPr/>
        </p:nvSpPr>
        <p:spPr bwMode="auto">
          <a:xfrm>
            <a:off x="2143125" y="906463"/>
            <a:ext cx="266700" cy="400050"/>
          </a:xfrm>
          <a:custGeom>
            <a:avLst/>
            <a:gdLst>
              <a:gd name="G0" fmla="+- 3607 0 0"/>
              <a:gd name="G1" fmla="+- 21600 0 0"/>
              <a:gd name="G2" fmla="+- 21600 0 0"/>
              <a:gd name="T0" fmla="*/ 3457 w 25207"/>
              <a:gd name="T1" fmla="*/ 1 h 43200"/>
              <a:gd name="T2" fmla="*/ 0 w 25207"/>
              <a:gd name="T3" fmla="*/ 42897 h 43200"/>
              <a:gd name="T4" fmla="*/ 3607 w 25207"/>
              <a:gd name="T5" fmla="*/ 21600 h 43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5207" h="43200" fill="none" extrusionOk="0">
                <a:moveTo>
                  <a:pt x="3456" y="0"/>
                </a:moveTo>
                <a:cubicBezTo>
                  <a:pt x="3506" y="0"/>
                  <a:pt x="3556" y="0"/>
                  <a:pt x="3607" y="0"/>
                </a:cubicBezTo>
                <a:cubicBezTo>
                  <a:pt x="15536" y="0"/>
                  <a:pt x="25207" y="9670"/>
                  <a:pt x="25207" y="21600"/>
                </a:cubicBezTo>
                <a:cubicBezTo>
                  <a:pt x="25207" y="33529"/>
                  <a:pt x="15536" y="43200"/>
                  <a:pt x="3607" y="43200"/>
                </a:cubicBezTo>
                <a:cubicBezTo>
                  <a:pt x="2398" y="43199"/>
                  <a:pt x="1191" y="43098"/>
                  <a:pt x="0" y="42896"/>
                </a:cubicBezTo>
              </a:path>
              <a:path w="25207" h="43200" stroke="0" extrusionOk="0">
                <a:moveTo>
                  <a:pt x="3456" y="0"/>
                </a:moveTo>
                <a:cubicBezTo>
                  <a:pt x="3506" y="0"/>
                  <a:pt x="3556" y="0"/>
                  <a:pt x="3607" y="0"/>
                </a:cubicBezTo>
                <a:cubicBezTo>
                  <a:pt x="15536" y="0"/>
                  <a:pt x="25207" y="9670"/>
                  <a:pt x="25207" y="21600"/>
                </a:cubicBezTo>
                <a:cubicBezTo>
                  <a:pt x="25207" y="33529"/>
                  <a:pt x="15536" y="43200"/>
                  <a:pt x="3607" y="43200"/>
                </a:cubicBezTo>
                <a:cubicBezTo>
                  <a:pt x="2398" y="43199"/>
                  <a:pt x="1191" y="43098"/>
                  <a:pt x="0" y="42896"/>
                </a:cubicBezTo>
                <a:lnTo>
                  <a:pt x="3607" y="21600"/>
                </a:lnTo>
                <a:close/>
              </a:path>
            </a:pathLst>
          </a:custGeom>
          <a:noFill/>
          <a:ln w="12700" cap="rnd">
            <a:solidFill>
              <a:srgbClr val="CC00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0" name="Arc 16">
            <a:extLst>
              <a:ext uri="{FF2B5EF4-FFF2-40B4-BE49-F238E27FC236}">
                <a16:creationId xmlns:a16="http://schemas.microsoft.com/office/drawing/2014/main" id="{BB23C1F2-0544-8437-A39B-B7492F1A9612}"/>
              </a:ext>
            </a:extLst>
          </p:cNvPr>
          <p:cNvSpPr>
            <a:spLocks/>
          </p:cNvSpPr>
          <p:nvPr/>
        </p:nvSpPr>
        <p:spPr bwMode="auto">
          <a:xfrm>
            <a:off x="2162175" y="600075"/>
            <a:ext cx="2019300" cy="752475"/>
          </a:xfrm>
          <a:custGeom>
            <a:avLst/>
            <a:gdLst>
              <a:gd name="G0" fmla="+- 0 0 0"/>
              <a:gd name="G1" fmla="+- 0 0 0"/>
              <a:gd name="G2" fmla="+- 21600 0 0"/>
              <a:gd name="T0" fmla="*/ 21600 w 21600"/>
              <a:gd name="T1" fmla="*/ 0 h 21600"/>
              <a:gd name="T2" fmla="*/ 0 w 21600"/>
              <a:gd name="T3" fmla="*/ 21600 h 21600"/>
              <a:gd name="T4" fmla="*/ 0 w 21600"/>
              <a:gd name="T5" fmla="*/ 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0"/>
                </a:moveTo>
                <a:cubicBezTo>
                  <a:pt x="21600" y="11929"/>
                  <a:pt x="11929" y="21599"/>
                  <a:pt x="0" y="21599"/>
                </a:cubicBezTo>
              </a:path>
              <a:path w="21600" h="21600" stroke="0" extrusionOk="0">
                <a:moveTo>
                  <a:pt x="21600" y="0"/>
                </a:moveTo>
                <a:cubicBezTo>
                  <a:pt x="21600" y="11929"/>
                  <a:pt x="11929" y="21599"/>
                  <a:pt x="0" y="21599"/>
                </a:cubicBezTo>
                <a:lnTo>
                  <a:pt x="0" y="0"/>
                </a:lnTo>
                <a:close/>
              </a:path>
            </a:pathLst>
          </a:custGeom>
          <a:noFill/>
          <a:ln w="12700" cap="rnd">
            <a:solidFill>
              <a:srgbClr val="CC0000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1" name="AutoShape 17">
            <a:extLst>
              <a:ext uri="{FF2B5EF4-FFF2-40B4-BE49-F238E27FC236}">
                <a16:creationId xmlns:a16="http://schemas.microsoft.com/office/drawing/2014/main" id="{EA55162C-E7A1-7061-2CEB-6F1ECC255A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263525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62" name="AutoShape 18">
            <a:extLst>
              <a:ext uri="{FF2B5EF4-FFF2-40B4-BE49-F238E27FC236}">
                <a16:creationId xmlns:a16="http://schemas.microsoft.com/office/drawing/2014/main" id="{4F1FD8F8-4CDD-274D-A795-7E940D0B95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63500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63" name="AutoShape 19">
            <a:extLst>
              <a:ext uri="{FF2B5EF4-FFF2-40B4-BE49-F238E27FC236}">
                <a16:creationId xmlns:a16="http://schemas.microsoft.com/office/drawing/2014/main" id="{89727A5A-DB3B-D6F1-06EF-8482096D07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87775" y="67310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64" name="AutoShape 20">
            <a:extLst>
              <a:ext uri="{FF2B5EF4-FFF2-40B4-BE49-F238E27FC236}">
                <a16:creationId xmlns:a16="http://schemas.microsoft.com/office/drawing/2014/main" id="{D6F4AE19-FAAA-E5B8-A9DA-21B157B90CE2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3224213" y="2112963"/>
            <a:ext cx="1511300" cy="1289843"/>
          </a:xfrm>
          <a:prstGeom prst="wedgeRoundRectCallout">
            <a:avLst>
              <a:gd name="adj1" fmla="val -49921"/>
              <a:gd name="adj2" fmla="val 66667"/>
              <a:gd name="adj3" fmla="val 16667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9050" tIns="19050" rIns="19050" bIns="19050" anchor="ctr">
            <a:spAutoFit/>
          </a:bodyPr>
          <a:lstStyle/>
          <a:p>
            <a:pPr algn="ctr">
              <a:lnSpc>
                <a:spcPct val="90000"/>
              </a:lnSpc>
              <a:spcBef>
                <a:spcPct val="30000"/>
              </a:spcBef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If the  MFkey is less than the TFkey, then the master file record must come before the transaction file record so we write the master file record to the new file 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64" grpId="0" animBg="1" autoUpdateAnimBg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>
            <a:extLst>
              <a:ext uri="{FF2B5EF4-FFF2-40B4-BE49-F238E27FC236}">
                <a16:creationId xmlns:a16="http://schemas.microsoft.com/office/drawing/2014/main" id="{D3AB03CB-337A-41F5-03A4-21E634ABFC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387350"/>
            <a:ext cx="766763" cy="6223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RecordC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RecordF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RecordP</a:t>
            </a:r>
          </a:p>
        </p:txBody>
      </p:sp>
      <p:sp>
        <p:nvSpPr>
          <p:cNvPr id="7171" name="Rectangle 3">
            <a:extLst>
              <a:ext uri="{FF2B5EF4-FFF2-40B4-BE49-F238E27FC236}">
                <a16:creationId xmlns:a16="http://schemas.microsoft.com/office/drawing/2014/main" id="{E0D1A381-B197-B8D2-6731-A992CD358D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12725"/>
            <a:ext cx="912813" cy="168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Trans File (TF)</a:t>
            </a:r>
          </a:p>
        </p:txBody>
      </p:sp>
      <p:sp>
        <p:nvSpPr>
          <p:cNvPr id="7172" name="Rectangle 4">
            <a:extLst>
              <a:ext uri="{FF2B5EF4-FFF2-40B4-BE49-F238E27FC236}">
                <a16:creationId xmlns:a16="http://schemas.microsoft.com/office/drawing/2014/main" id="{51F70715-5A59-FFB2-490D-6EE322008C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2390775"/>
            <a:ext cx="766763" cy="130175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RecordA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RecordB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RecordG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RecordH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RecordK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RecordM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RecordN</a:t>
            </a:r>
          </a:p>
        </p:txBody>
      </p:sp>
      <p:sp>
        <p:nvSpPr>
          <p:cNvPr id="7173" name="Rectangle 5">
            <a:extLst>
              <a:ext uri="{FF2B5EF4-FFF2-40B4-BE49-F238E27FC236}">
                <a16:creationId xmlns:a16="http://schemas.microsoft.com/office/drawing/2014/main" id="{7557D20F-23EA-67A1-AAF0-FD399A4656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205038"/>
            <a:ext cx="101282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Master File (MF</a:t>
            </a:r>
            <a:r>
              <a:rPr lang="en-US" altLang="en-US" sz="1200" b="1"/>
              <a:t>)</a:t>
            </a:r>
          </a:p>
        </p:txBody>
      </p:sp>
      <p:sp>
        <p:nvSpPr>
          <p:cNvPr id="7174" name="Rectangle 6">
            <a:extLst>
              <a:ext uri="{FF2B5EF4-FFF2-40B4-BE49-F238E27FC236}">
                <a16:creationId xmlns:a16="http://schemas.microsoft.com/office/drawing/2014/main" id="{7B66DAB9-25FD-793F-2135-1B0A5225D1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3500" y="387350"/>
            <a:ext cx="766763" cy="3095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RecordA</a:t>
            </a:r>
          </a:p>
        </p:txBody>
      </p:sp>
      <p:sp>
        <p:nvSpPr>
          <p:cNvPr id="7175" name="Rectangle 7">
            <a:extLst>
              <a:ext uri="{FF2B5EF4-FFF2-40B4-BE49-F238E27FC236}">
                <a16:creationId xmlns:a16="http://schemas.microsoft.com/office/drawing/2014/main" id="{7BB58037-EF17-0C38-9F47-769C5B2A4D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8738" y="187325"/>
            <a:ext cx="81597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NewFile (NF</a:t>
            </a:r>
            <a:r>
              <a:rPr lang="en-US" altLang="en-US" sz="1200" b="1">
                <a:latin typeface="Times New Roman" panose="02020603050405020304" pitchFamily="18" charset="0"/>
              </a:rPr>
              <a:t>)</a:t>
            </a:r>
          </a:p>
        </p:txBody>
      </p:sp>
      <p:sp>
        <p:nvSpPr>
          <p:cNvPr id="7176" name="AutoShape 8">
            <a:extLst>
              <a:ext uri="{FF2B5EF4-FFF2-40B4-BE49-F238E27FC236}">
                <a16:creationId xmlns:a16="http://schemas.microsoft.com/office/drawing/2014/main" id="{8F46A234-B570-6E0C-D0DE-AB6887A4CB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282575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177" name="AutoShape 9">
            <a:extLst>
              <a:ext uri="{FF2B5EF4-FFF2-40B4-BE49-F238E27FC236}">
                <a16:creationId xmlns:a16="http://schemas.microsoft.com/office/drawing/2014/main" id="{94519040-8096-1EFE-79C6-E22E579DE2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63500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178" name="AutoShape 10">
            <a:extLst>
              <a:ext uri="{FF2B5EF4-FFF2-40B4-BE49-F238E27FC236}">
                <a16:creationId xmlns:a16="http://schemas.microsoft.com/office/drawing/2014/main" id="{3577605C-7821-1E56-F7F9-0DA2792612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87775" y="67310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179" name="Rectangle 11">
            <a:extLst>
              <a:ext uri="{FF2B5EF4-FFF2-40B4-BE49-F238E27FC236}">
                <a16:creationId xmlns:a16="http://schemas.microsoft.com/office/drawing/2014/main" id="{577326E9-A0B5-5F23-DE53-BF3A80D7F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5238" y="92075"/>
            <a:ext cx="2366962" cy="359727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lIns="38100" tIns="19050" rIns="3810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FILE SECTION.</a:t>
            </a: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 </a:t>
            </a:r>
            <a:r>
              <a:rPr lang="en-US" altLang="en-US" sz="1000">
                <a:latin typeface="Courier New" panose="02070309020205020404" pitchFamily="49" charset="0"/>
              </a:rPr>
              <a:t>etc.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PERFORM UNTIL EndTF AND EndMF  IF TFKey &lt; MFKey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MOVE TFRec TO NFRec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WRITE NFRec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READ TF </a:t>
            </a:r>
            <a:r>
              <a:rPr lang="en-US" altLang="en-US" sz="1000">
                <a:latin typeface="Courier New" panose="02070309020205020404" pitchFamily="49" charset="0"/>
              </a:rPr>
              <a:t>etc.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ELSE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IF TFKey &gt; MFKey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  MOVE MFRec TO NFRec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  WRITE NFRec</a:t>
            </a:r>
            <a:endParaRPr lang="en-US" altLang="en-US" sz="1000" b="1">
              <a:solidFill>
                <a:srgbClr val="CC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     READ MF </a:t>
            </a:r>
            <a:r>
              <a:rPr lang="en-US" altLang="en-US" sz="1000">
                <a:solidFill>
                  <a:srgbClr val="CC0000"/>
                </a:solidFill>
                <a:latin typeface="Courier New" panose="02070309020205020404" pitchFamily="49" charset="0"/>
              </a:rPr>
              <a:t>etc.</a:t>
            </a:r>
            <a:endParaRPr lang="en-US" altLang="en-US" sz="1000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END-IF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END-IF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END-PERFORM</a:t>
            </a:r>
          </a:p>
        </p:txBody>
      </p:sp>
      <p:sp>
        <p:nvSpPr>
          <p:cNvPr id="7180" name="Rectangle 12">
            <a:extLst>
              <a:ext uri="{FF2B5EF4-FFF2-40B4-BE49-F238E27FC236}">
                <a16:creationId xmlns:a16="http://schemas.microsoft.com/office/drawing/2014/main" id="{797FD918-D898-3834-3C46-435CDF437B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5575" y="385763"/>
            <a:ext cx="1463675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RecordC</a:t>
            </a:r>
          </a:p>
        </p:txBody>
      </p:sp>
      <p:sp>
        <p:nvSpPr>
          <p:cNvPr id="7181" name="Rectangle 13">
            <a:extLst>
              <a:ext uri="{FF2B5EF4-FFF2-40B4-BE49-F238E27FC236}">
                <a16:creationId xmlns:a16="http://schemas.microsoft.com/office/drawing/2014/main" id="{8B4CA874-5A09-5AEE-DB52-9B0E5F861F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500" y="204788"/>
            <a:ext cx="460375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TFRec</a:t>
            </a:r>
          </a:p>
        </p:txBody>
      </p:sp>
      <p:sp>
        <p:nvSpPr>
          <p:cNvPr id="7182" name="Rectangle 14">
            <a:extLst>
              <a:ext uri="{FF2B5EF4-FFF2-40B4-BE49-F238E27FC236}">
                <a16:creationId xmlns:a16="http://schemas.microsoft.com/office/drawing/2014/main" id="{04196FA2-D47B-33C7-FE29-2CE42C64BA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7953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RecordB</a:t>
            </a:r>
          </a:p>
        </p:txBody>
      </p:sp>
      <p:sp>
        <p:nvSpPr>
          <p:cNvPr id="7183" name="Rectangle 15">
            <a:extLst>
              <a:ext uri="{FF2B5EF4-FFF2-40B4-BE49-F238E27FC236}">
                <a16:creationId xmlns:a16="http://schemas.microsoft.com/office/drawing/2014/main" id="{F550D70B-FFAB-46DC-94B6-512D50ACE0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623888"/>
            <a:ext cx="48895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MFRec</a:t>
            </a:r>
          </a:p>
        </p:txBody>
      </p:sp>
      <p:sp>
        <p:nvSpPr>
          <p:cNvPr id="7184" name="Rectangle 16">
            <a:extLst>
              <a:ext uri="{FF2B5EF4-FFF2-40B4-BE49-F238E27FC236}">
                <a16:creationId xmlns:a16="http://schemas.microsoft.com/office/drawing/2014/main" id="{1622E00D-AF0D-D9B2-084C-5C753FBD37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12144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RecordA</a:t>
            </a:r>
          </a:p>
        </p:txBody>
      </p:sp>
      <p:sp>
        <p:nvSpPr>
          <p:cNvPr id="7185" name="Rectangle 17">
            <a:extLst>
              <a:ext uri="{FF2B5EF4-FFF2-40B4-BE49-F238E27FC236}">
                <a16:creationId xmlns:a16="http://schemas.microsoft.com/office/drawing/2014/main" id="{01E58613-0DA6-C8FD-4181-479357FFB2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042988"/>
            <a:ext cx="47148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NFRec</a:t>
            </a:r>
          </a:p>
        </p:txBody>
      </p:sp>
      <p:sp>
        <p:nvSpPr>
          <p:cNvPr id="7186" name="Arc 18">
            <a:extLst>
              <a:ext uri="{FF2B5EF4-FFF2-40B4-BE49-F238E27FC236}">
                <a16:creationId xmlns:a16="http://schemas.microsoft.com/office/drawing/2014/main" id="{F2131713-E3AE-1319-5F26-50073F096CA3}"/>
              </a:ext>
            </a:extLst>
          </p:cNvPr>
          <p:cNvSpPr>
            <a:spLocks/>
          </p:cNvSpPr>
          <p:nvPr/>
        </p:nvSpPr>
        <p:spPr bwMode="auto">
          <a:xfrm>
            <a:off x="571500" y="914400"/>
            <a:ext cx="876300" cy="1714500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0 w 21600"/>
              <a:gd name="T1" fmla="*/ 21600 h 21600"/>
              <a:gd name="T2" fmla="*/ 21561 w 21600"/>
              <a:gd name="T3" fmla="*/ 0 h 21600"/>
              <a:gd name="T4" fmla="*/ 21600 w 21600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599"/>
                </a:moveTo>
                <a:cubicBezTo>
                  <a:pt x="0" y="9685"/>
                  <a:pt x="9646" y="21"/>
                  <a:pt x="21561" y="0"/>
                </a:cubicBezTo>
              </a:path>
              <a:path w="21600" h="21600" stroke="0" extrusionOk="0">
                <a:moveTo>
                  <a:pt x="0" y="21599"/>
                </a:moveTo>
                <a:cubicBezTo>
                  <a:pt x="0" y="9685"/>
                  <a:pt x="9646" y="21"/>
                  <a:pt x="21561" y="0"/>
                </a:cubicBezTo>
                <a:lnTo>
                  <a:pt x="21600" y="21600"/>
                </a:lnTo>
                <a:close/>
              </a:path>
            </a:pathLst>
          </a:custGeom>
          <a:noFill/>
          <a:ln w="12700" cap="rnd">
            <a:solidFill>
              <a:srgbClr val="CC00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7" name="AutoShape 19">
            <a:extLst>
              <a:ext uri="{FF2B5EF4-FFF2-40B4-BE49-F238E27FC236}">
                <a16:creationId xmlns:a16="http://schemas.microsoft.com/office/drawing/2014/main" id="{D6C4CA7B-8D85-6515-8A59-ADE1F11DCB1A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3224213" y="2422525"/>
            <a:ext cx="1511300" cy="672042"/>
          </a:xfrm>
          <a:prstGeom prst="wedgeRoundRectCallout">
            <a:avLst>
              <a:gd name="adj1" fmla="val -49921"/>
              <a:gd name="adj2" fmla="val 66667"/>
              <a:gd name="adj3" fmla="val 16667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9050" tIns="19050" rIns="19050" bIns="19050" anchor="ctr">
            <a:spAutoFit/>
          </a:bodyPr>
          <a:lstStyle/>
          <a:p>
            <a:pPr algn="ctr">
              <a:lnSpc>
                <a:spcPct val="90000"/>
              </a:lnSpc>
              <a:spcBef>
                <a:spcPct val="30000"/>
              </a:spcBef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We have processed the master file record so we need to get another one. 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87" grpId="0" animBg="1" autoUpdateAnimBg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A197EFB9-5FE3-FA18-E3E8-A2725BB70B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387350"/>
            <a:ext cx="766763" cy="6223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RecordC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RecordF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RecordP</a:t>
            </a:r>
          </a:p>
        </p:txBody>
      </p:sp>
      <p:sp>
        <p:nvSpPr>
          <p:cNvPr id="8195" name="Rectangle 3">
            <a:extLst>
              <a:ext uri="{FF2B5EF4-FFF2-40B4-BE49-F238E27FC236}">
                <a16:creationId xmlns:a16="http://schemas.microsoft.com/office/drawing/2014/main" id="{FABF9D38-7E95-314F-E896-2254B4DA0B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12725"/>
            <a:ext cx="912813" cy="168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Trans File (TF)</a:t>
            </a:r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22D56458-DAF7-B0FB-780C-ADEF0AB43A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2390775"/>
            <a:ext cx="766763" cy="130175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RecordA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RecordB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RecordG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RecordH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RecordK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RecordM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RecordN</a:t>
            </a:r>
          </a:p>
        </p:txBody>
      </p:sp>
      <p:sp>
        <p:nvSpPr>
          <p:cNvPr id="8197" name="Rectangle 5">
            <a:extLst>
              <a:ext uri="{FF2B5EF4-FFF2-40B4-BE49-F238E27FC236}">
                <a16:creationId xmlns:a16="http://schemas.microsoft.com/office/drawing/2014/main" id="{693BA367-2817-C7D7-0B6A-3E6E5DBD92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205038"/>
            <a:ext cx="101282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Master File (MF</a:t>
            </a:r>
            <a:r>
              <a:rPr lang="en-US" altLang="en-US" sz="1200" b="1"/>
              <a:t>)</a:t>
            </a: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id="{8933FAE9-C68A-1853-8482-E083798731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3500" y="387350"/>
            <a:ext cx="766763" cy="674688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RecordA</a:t>
            </a:r>
          </a:p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RecordB</a:t>
            </a:r>
            <a:endParaRPr lang="en-US" altLang="en-US" sz="1200" b="1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endParaRPr lang="en-US" altLang="en-US" sz="1200" b="1">
              <a:solidFill>
                <a:schemeClr val="tx1"/>
              </a:solidFill>
              <a:latin typeface="Courier New" panose="02070309020205020404" pitchFamily="49" charset="0"/>
            </a:endParaRPr>
          </a:p>
        </p:txBody>
      </p:sp>
      <p:sp>
        <p:nvSpPr>
          <p:cNvPr id="8199" name="Rectangle 7">
            <a:extLst>
              <a:ext uri="{FF2B5EF4-FFF2-40B4-BE49-F238E27FC236}">
                <a16:creationId xmlns:a16="http://schemas.microsoft.com/office/drawing/2014/main" id="{FC0F5FF5-942F-31CE-8427-0B4736804E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8738" y="187325"/>
            <a:ext cx="81597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NewFile (NF</a:t>
            </a:r>
            <a:r>
              <a:rPr lang="en-US" altLang="en-US" sz="1200" b="1">
                <a:latin typeface="Times New Roman" panose="02020603050405020304" pitchFamily="18" charset="0"/>
              </a:rPr>
              <a:t>)</a:t>
            </a:r>
          </a:p>
        </p:txBody>
      </p:sp>
      <p:sp>
        <p:nvSpPr>
          <p:cNvPr id="8200" name="AutoShape 8">
            <a:extLst>
              <a:ext uri="{FF2B5EF4-FFF2-40B4-BE49-F238E27FC236}">
                <a16:creationId xmlns:a16="http://schemas.microsoft.com/office/drawing/2014/main" id="{1E59DA7D-0FA3-FAD2-3B28-372DB424FA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63500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201" name="AutoShape 9">
            <a:extLst>
              <a:ext uri="{FF2B5EF4-FFF2-40B4-BE49-F238E27FC236}">
                <a16:creationId xmlns:a16="http://schemas.microsoft.com/office/drawing/2014/main" id="{AB2A30C5-E0EC-83EA-C309-A920B3E7D7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87775" y="86360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202" name="AutoShape 10">
            <a:extLst>
              <a:ext uri="{FF2B5EF4-FFF2-40B4-BE49-F238E27FC236}">
                <a16:creationId xmlns:a16="http://schemas.microsoft.com/office/drawing/2014/main" id="{10C2C2C2-002C-CC5E-A3EC-7C747A4418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282575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203" name="Rectangle 11">
            <a:extLst>
              <a:ext uri="{FF2B5EF4-FFF2-40B4-BE49-F238E27FC236}">
                <a16:creationId xmlns:a16="http://schemas.microsoft.com/office/drawing/2014/main" id="{9B1B5F9D-F9D4-84CE-5F31-00FA8AD57D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5238" y="92075"/>
            <a:ext cx="2366962" cy="359727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lIns="38100" tIns="19050" rIns="3810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FILE SECTION.</a:t>
            </a: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 </a:t>
            </a:r>
            <a:r>
              <a:rPr lang="en-US" altLang="en-US" sz="1000">
                <a:latin typeface="Courier New" panose="02070309020205020404" pitchFamily="49" charset="0"/>
              </a:rPr>
              <a:t>etc.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PERFORM UNTIL EndTF AND EndMF  IF TFKey &lt; MFKey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MOVE TFRec TO NFRec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WRITE NFRec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READ TF </a:t>
            </a:r>
            <a:r>
              <a:rPr lang="en-US" altLang="en-US" sz="1000">
                <a:latin typeface="Courier New" panose="02070309020205020404" pitchFamily="49" charset="0"/>
              </a:rPr>
              <a:t>etc.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</a:t>
            </a: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ELSE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   IF TFKey &gt; MFKey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     MOVE MFRec TO NFRec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     WRITE NFRec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     </a:t>
            </a:r>
            <a:r>
              <a:rPr lang="en-US" altLang="en-US" sz="1000" b="1">
                <a:latin typeface="Courier New" panose="02070309020205020404" pitchFamily="49" charset="0"/>
              </a:rPr>
              <a:t>READ MF </a:t>
            </a:r>
            <a:r>
              <a:rPr lang="en-US" altLang="en-US" sz="1000">
                <a:latin typeface="Courier New" panose="02070309020205020404" pitchFamily="49" charset="0"/>
              </a:rPr>
              <a:t>etc.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END-IF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END-IF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END-PERFORM</a:t>
            </a:r>
          </a:p>
        </p:txBody>
      </p:sp>
      <p:sp>
        <p:nvSpPr>
          <p:cNvPr id="8204" name="Rectangle 12">
            <a:extLst>
              <a:ext uri="{FF2B5EF4-FFF2-40B4-BE49-F238E27FC236}">
                <a16:creationId xmlns:a16="http://schemas.microsoft.com/office/drawing/2014/main" id="{25E34435-D825-D1DC-B8C1-A898DF5FE5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5575" y="385763"/>
            <a:ext cx="1463675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RecordC</a:t>
            </a:r>
          </a:p>
        </p:txBody>
      </p:sp>
      <p:sp>
        <p:nvSpPr>
          <p:cNvPr id="8205" name="Rectangle 13">
            <a:extLst>
              <a:ext uri="{FF2B5EF4-FFF2-40B4-BE49-F238E27FC236}">
                <a16:creationId xmlns:a16="http://schemas.microsoft.com/office/drawing/2014/main" id="{669716E9-35E0-4B5E-A3E2-290B23A1C1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500" y="204788"/>
            <a:ext cx="460375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TFRec</a:t>
            </a:r>
          </a:p>
        </p:txBody>
      </p:sp>
      <p:sp>
        <p:nvSpPr>
          <p:cNvPr id="8206" name="Rectangle 14">
            <a:extLst>
              <a:ext uri="{FF2B5EF4-FFF2-40B4-BE49-F238E27FC236}">
                <a16:creationId xmlns:a16="http://schemas.microsoft.com/office/drawing/2014/main" id="{43051F94-D4D8-F60A-57E4-4C24B4B9F2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7953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RecordB</a:t>
            </a:r>
          </a:p>
        </p:txBody>
      </p:sp>
      <p:sp>
        <p:nvSpPr>
          <p:cNvPr id="8207" name="Rectangle 15">
            <a:extLst>
              <a:ext uri="{FF2B5EF4-FFF2-40B4-BE49-F238E27FC236}">
                <a16:creationId xmlns:a16="http://schemas.microsoft.com/office/drawing/2014/main" id="{C930C7EC-8AD2-C291-FBBF-2017A99F64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623888"/>
            <a:ext cx="48895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MFRec</a:t>
            </a:r>
          </a:p>
        </p:txBody>
      </p:sp>
      <p:sp>
        <p:nvSpPr>
          <p:cNvPr id="8208" name="Rectangle 16">
            <a:extLst>
              <a:ext uri="{FF2B5EF4-FFF2-40B4-BE49-F238E27FC236}">
                <a16:creationId xmlns:a16="http://schemas.microsoft.com/office/drawing/2014/main" id="{F701C0C9-3931-1A2B-ED7A-3C40E33C5A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12144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RecordB</a:t>
            </a:r>
          </a:p>
        </p:txBody>
      </p:sp>
      <p:sp>
        <p:nvSpPr>
          <p:cNvPr id="8209" name="Rectangle 17">
            <a:extLst>
              <a:ext uri="{FF2B5EF4-FFF2-40B4-BE49-F238E27FC236}">
                <a16:creationId xmlns:a16="http://schemas.microsoft.com/office/drawing/2014/main" id="{B8DC6D27-42AB-D882-4224-80C855172F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042988"/>
            <a:ext cx="47148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NFRec</a:t>
            </a:r>
          </a:p>
        </p:txBody>
      </p:sp>
      <p:sp>
        <p:nvSpPr>
          <p:cNvPr id="8210" name="Arc 18">
            <a:extLst>
              <a:ext uri="{FF2B5EF4-FFF2-40B4-BE49-F238E27FC236}">
                <a16:creationId xmlns:a16="http://schemas.microsoft.com/office/drawing/2014/main" id="{5EA10B82-D209-D7AD-8A8D-F2840613EB2D}"/>
              </a:ext>
            </a:extLst>
          </p:cNvPr>
          <p:cNvSpPr>
            <a:spLocks/>
          </p:cNvSpPr>
          <p:nvPr/>
        </p:nvSpPr>
        <p:spPr bwMode="auto">
          <a:xfrm>
            <a:off x="2143125" y="906463"/>
            <a:ext cx="266700" cy="400050"/>
          </a:xfrm>
          <a:custGeom>
            <a:avLst/>
            <a:gdLst>
              <a:gd name="G0" fmla="+- 3607 0 0"/>
              <a:gd name="G1" fmla="+- 21600 0 0"/>
              <a:gd name="G2" fmla="+- 21600 0 0"/>
              <a:gd name="T0" fmla="*/ 3457 w 25207"/>
              <a:gd name="T1" fmla="*/ 1 h 43200"/>
              <a:gd name="T2" fmla="*/ 0 w 25207"/>
              <a:gd name="T3" fmla="*/ 42897 h 43200"/>
              <a:gd name="T4" fmla="*/ 3607 w 25207"/>
              <a:gd name="T5" fmla="*/ 21600 h 43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5207" h="43200" fill="none" extrusionOk="0">
                <a:moveTo>
                  <a:pt x="3456" y="0"/>
                </a:moveTo>
                <a:cubicBezTo>
                  <a:pt x="3506" y="0"/>
                  <a:pt x="3556" y="0"/>
                  <a:pt x="3607" y="0"/>
                </a:cubicBezTo>
                <a:cubicBezTo>
                  <a:pt x="15536" y="0"/>
                  <a:pt x="25207" y="9670"/>
                  <a:pt x="25207" y="21600"/>
                </a:cubicBezTo>
                <a:cubicBezTo>
                  <a:pt x="25207" y="33529"/>
                  <a:pt x="15536" y="43200"/>
                  <a:pt x="3607" y="43200"/>
                </a:cubicBezTo>
                <a:cubicBezTo>
                  <a:pt x="2398" y="43199"/>
                  <a:pt x="1191" y="43098"/>
                  <a:pt x="0" y="42896"/>
                </a:cubicBezTo>
              </a:path>
              <a:path w="25207" h="43200" stroke="0" extrusionOk="0">
                <a:moveTo>
                  <a:pt x="3456" y="0"/>
                </a:moveTo>
                <a:cubicBezTo>
                  <a:pt x="3506" y="0"/>
                  <a:pt x="3556" y="0"/>
                  <a:pt x="3607" y="0"/>
                </a:cubicBezTo>
                <a:cubicBezTo>
                  <a:pt x="15536" y="0"/>
                  <a:pt x="25207" y="9670"/>
                  <a:pt x="25207" y="21600"/>
                </a:cubicBezTo>
                <a:cubicBezTo>
                  <a:pt x="25207" y="33529"/>
                  <a:pt x="15536" y="43200"/>
                  <a:pt x="3607" y="43200"/>
                </a:cubicBezTo>
                <a:cubicBezTo>
                  <a:pt x="2398" y="43199"/>
                  <a:pt x="1191" y="43098"/>
                  <a:pt x="0" y="42896"/>
                </a:cubicBezTo>
                <a:lnTo>
                  <a:pt x="3607" y="21600"/>
                </a:lnTo>
                <a:close/>
              </a:path>
            </a:pathLst>
          </a:custGeom>
          <a:noFill/>
          <a:ln w="12700" cap="rnd">
            <a:solidFill>
              <a:srgbClr val="CC00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1" name="Arc 19">
            <a:extLst>
              <a:ext uri="{FF2B5EF4-FFF2-40B4-BE49-F238E27FC236}">
                <a16:creationId xmlns:a16="http://schemas.microsoft.com/office/drawing/2014/main" id="{E0DE2935-A93A-8090-2592-A6ADA1E3CD79}"/>
              </a:ext>
            </a:extLst>
          </p:cNvPr>
          <p:cNvSpPr>
            <a:spLocks/>
          </p:cNvSpPr>
          <p:nvPr/>
        </p:nvSpPr>
        <p:spPr bwMode="auto">
          <a:xfrm>
            <a:off x="2181225" y="800100"/>
            <a:ext cx="2066925" cy="581025"/>
          </a:xfrm>
          <a:custGeom>
            <a:avLst/>
            <a:gdLst>
              <a:gd name="G0" fmla="+- 0 0 0"/>
              <a:gd name="G1" fmla="+- 1790 0 0"/>
              <a:gd name="G2" fmla="+- 21600 0 0"/>
              <a:gd name="T0" fmla="*/ 21526 w 21600"/>
              <a:gd name="T1" fmla="*/ 0 h 23390"/>
              <a:gd name="T2" fmla="*/ 0 w 21600"/>
              <a:gd name="T3" fmla="*/ 23390 h 23390"/>
              <a:gd name="T4" fmla="*/ 0 w 21600"/>
              <a:gd name="T5" fmla="*/ 1790 h 2339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3390" fill="none" extrusionOk="0">
                <a:moveTo>
                  <a:pt x="21525" y="0"/>
                </a:moveTo>
                <a:cubicBezTo>
                  <a:pt x="21575" y="595"/>
                  <a:pt x="21600" y="1192"/>
                  <a:pt x="21600" y="1790"/>
                </a:cubicBezTo>
                <a:cubicBezTo>
                  <a:pt x="21600" y="13719"/>
                  <a:pt x="11929" y="23390"/>
                  <a:pt x="-1" y="23390"/>
                </a:cubicBezTo>
              </a:path>
              <a:path w="21600" h="23390" stroke="0" extrusionOk="0">
                <a:moveTo>
                  <a:pt x="21525" y="0"/>
                </a:moveTo>
                <a:cubicBezTo>
                  <a:pt x="21575" y="595"/>
                  <a:pt x="21600" y="1192"/>
                  <a:pt x="21600" y="1790"/>
                </a:cubicBezTo>
                <a:cubicBezTo>
                  <a:pt x="21600" y="13719"/>
                  <a:pt x="11929" y="23390"/>
                  <a:pt x="-1" y="23390"/>
                </a:cubicBezTo>
                <a:lnTo>
                  <a:pt x="0" y="1790"/>
                </a:lnTo>
                <a:close/>
              </a:path>
            </a:pathLst>
          </a:custGeom>
          <a:noFill/>
          <a:ln w="12700" cap="rnd">
            <a:solidFill>
              <a:srgbClr val="CC0000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6227A275-CB24-7199-7A5A-87FB268A0E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387350"/>
            <a:ext cx="766763" cy="6223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RecordC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RecordF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RecordP</a:t>
            </a:r>
          </a:p>
        </p:txBody>
      </p:sp>
      <p:sp>
        <p:nvSpPr>
          <p:cNvPr id="9219" name="Rectangle 3">
            <a:extLst>
              <a:ext uri="{FF2B5EF4-FFF2-40B4-BE49-F238E27FC236}">
                <a16:creationId xmlns:a16="http://schemas.microsoft.com/office/drawing/2014/main" id="{9887A09F-B6B0-095B-3A2A-3BAC4D77DD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12725"/>
            <a:ext cx="912813" cy="168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Trans File (TF)</a:t>
            </a:r>
          </a:p>
        </p:txBody>
      </p:sp>
      <p:sp>
        <p:nvSpPr>
          <p:cNvPr id="9220" name="Rectangle 4">
            <a:extLst>
              <a:ext uri="{FF2B5EF4-FFF2-40B4-BE49-F238E27FC236}">
                <a16:creationId xmlns:a16="http://schemas.microsoft.com/office/drawing/2014/main" id="{A548CB24-8030-4CEC-84D3-8D85B082A4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2390775"/>
            <a:ext cx="766763" cy="130175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RecordA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RecordB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RecordG</a:t>
            </a:r>
            <a:endParaRPr lang="en-US" altLang="en-US" sz="1200" b="1">
              <a:latin typeface="Courier New" panose="02070309020205020404" pitchFamily="49" charset="0"/>
            </a:endParaRP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RecordH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RecordK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RecordM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RecordN</a:t>
            </a:r>
          </a:p>
        </p:txBody>
      </p:sp>
      <p:sp>
        <p:nvSpPr>
          <p:cNvPr id="9221" name="Rectangle 5">
            <a:extLst>
              <a:ext uri="{FF2B5EF4-FFF2-40B4-BE49-F238E27FC236}">
                <a16:creationId xmlns:a16="http://schemas.microsoft.com/office/drawing/2014/main" id="{49CF1AB1-8269-E80F-2F83-0945351B30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205038"/>
            <a:ext cx="101282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Master File (MF</a:t>
            </a:r>
            <a:r>
              <a:rPr lang="en-US" altLang="en-US" sz="1200" b="1"/>
              <a:t>)</a:t>
            </a:r>
          </a:p>
        </p:txBody>
      </p:sp>
      <p:sp>
        <p:nvSpPr>
          <p:cNvPr id="9222" name="Rectangle 6">
            <a:extLst>
              <a:ext uri="{FF2B5EF4-FFF2-40B4-BE49-F238E27FC236}">
                <a16:creationId xmlns:a16="http://schemas.microsoft.com/office/drawing/2014/main" id="{5F5CCB44-D96C-F41C-E72A-57C6CAEDAF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3500" y="387350"/>
            <a:ext cx="766763" cy="674688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RecordA</a:t>
            </a:r>
          </a:p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RecordB</a:t>
            </a:r>
          </a:p>
          <a:p>
            <a:endParaRPr lang="en-US" altLang="en-US" sz="1200" b="1">
              <a:solidFill>
                <a:schemeClr val="tx1"/>
              </a:solidFill>
              <a:latin typeface="Courier New" panose="02070309020205020404" pitchFamily="49" charset="0"/>
            </a:endParaRPr>
          </a:p>
        </p:txBody>
      </p:sp>
      <p:sp>
        <p:nvSpPr>
          <p:cNvPr id="9223" name="Rectangle 7">
            <a:extLst>
              <a:ext uri="{FF2B5EF4-FFF2-40B4-BE49-F238E27FC236}">
                <a16:creationId xmlns:a16="http://schemas.microsoft.com/office/drawing/2014/main" id="{5629E522-4556-EE85-FCA6-6AEBE8B102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8738" y="187325"/>
            <a:ext cx="81597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NewFile (NF</a:t>
            </a:r>
            <a:r>
              <a:rPr lang="en-US" altLang="en-US" sz="1200" b="1">
                <a:latin typeface="Times New Roman" panose="02020603050405020304" pitchFamily="18" charset="0"/>
              </a:rPr>
              <a:t>)</a:t>
            </a:r>
          </a:p>
        </p:txBody>
      </p:sp>
      <p:sp>
        <p:nvSpPr>
          <p:cNvPr id="9224" name="AutoShape 8">
            <a:extLst>
              <a:ext uri="{FF2B5EF4-FFF2-40B4-BE49-F238E27FC236}">
                <a16:creationId xmlns:a16="http://schemas.microsoft.com/office/drawing/2014/main" id="{ED237E28-B918-063C-2652-77614E9D59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63500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225" name="AutoShape 9">
            <a:extLst>
              <a:ext uri="{FF2B5EF4-FFF2-40B4-BE49-F238E27FC236}">
                <a16:creationId xmlns:a16="http://schemas.microsoft.com/office/drawing/2014/main" id="{DEF220B2-9000-925F-76D6-F27B2708BA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87775" y="86360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226" name="AutoShape 10">
            <a:extLst>
              <a:ext uri="{FF2B5EF4-FFF2-40B4-BE49-F238E27FC236}">
                <a16:creationId xmlns:a16="http://schemas.microsoft.com/office/drawing/2014/main" id="{947EA36F-D6A1-5FFE-8CE6-FAC79F6C30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297815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227" name="Rectangle 11">
            <a:extLst>
              <a:ext uri="{FF2B5EF4-FFF2-40B4-BE49-F238E27FC236}">
                <a16:creationId xmlns:a16="http://schemas.microsoft.com/office/drawing/2014/main" id="{209B9DF9-F920-24B8-3EEE-25781ED381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5238" y="92075"/>
            <a:ext cx="2366962" cy="359727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lIns="38100" tIns="19050" rIns="3810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FILE SECTION.</a:t>
            </a: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 </a:t>
            </a:r>
            <a:r>
              <a:rPr lang="en-US" altLang="en-US" sz="1000">
                <a:latin typeface="Courier New" panose="02070309020205020404" pitchFamily="49" charset="0"/>
              </a:rPr>
              <a:t>etc.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PERFORM UNTIL EndTF AND EndMF  IF TFKey &lt; MFKey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MOVE TFRec TO NFRec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WRITE NFRec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READ TF </a:t>
            </a:r>
            <a:r>
              <a:rPr lang="en-US" altLang="en-US" sz="1000">
                <a:latin typeface="Courier New" panose="02070309020205020404" pitchFamily="49" charset="0"/>
              </a:rPr>
              <a:t>etc.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chemeClr val="tx2"/>
                </a:solidFill>
                <a:latin typeface="Courier New" panose="02070309020205020404" pitchFamily="49" charset="0"/>
              </a:rPr>
              <a:t>   ELSE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chemeClr val="tx2"/>
                </a:solidFill>
                <a:latin typeface="Courier New" panose="02070309020205020404" pitchFamily="49" charset="0"/>
              </a:rPr>
              <a:t>     IF TFKey &gt; MFKey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chemeClr val="tx2"/>
                </a:solidFill>
                <a:latin typeface="Courier New" panose="02070309020205020404" pitchFamily="49" charset="0"/>
              </a:rPr>
              <a:t>       MOVE MFRec TO NFRec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chemeClr val="tx2"/>
                </a:solidFill>
                <a:latin typeface="Courier New" panose="02070309020205020404" pitchFamily="49" charset="0"/>
              </a:rPr>
              <a:t>       WRITE NFRec</a:t>
            </a:r>
            <a:endParaRPr lang="en-US" altLang="en-US" sz="1000" b="1">
              <a:solidFill>
                <a:srgbClr val="CC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     READ MF </a:t>
            </a:r>
            <a:r>
              <a:rPr lang="en-US" altLang="en-US" sz="1000">
                <a:solidFill>
                  <a:srgbClr val="CC0000"/>
                </a:solidFill>
                <a:latin typeface="Courier New" panose="02070309020205020404" pitchFamily="49" charset="0"/>
              </a:rPr>
              <a:t>etc.</a:t>
            </a:r>
            <a:endParaRPr lang="en-US" altLang="en-US" sz="1000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END-IF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END-IF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END-PERFORM</a:t>
            </a:r>
          </a:p>
        </p:txBody>
      </p:sp>
      <p:sp>
        <p:nvSpPr>
          <p:cNvPr id="9228" name="Rectangle 12">
            <a:extLst>
              <a:ext uri="{FF2B5EF4-FFF2-40B4-BE49-F238E27FC236}">
                <a16:creationId xmlns:a16="http://schemas.microsoft.com/office/drawing/2014/main" id="{0857206B-F0A6-652B-4337-0685A6FECB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5575" y="385763"/>
            <a:ext cx="1463675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RecordC</a:t>
            </a:r>
          </a:p>
        </p:txBody>
      </p:sp>
      <p:sp>
        <p:nvSpPr>
          <p:cNvPr id="9229" name="Rectangle 13">
            <a:extLst>
              <a:ext uri="{FF2B5EF4-FFF2-40B4-BE49-F238E27FC236}">
                <a16:creationId xmlns:a16="http://schemas.microsoft.com/office/drawing/2014/main" id="{AAD3644D-0CCD-F5AF-CC86-712117025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500" y="204788"/>
            <a:ext cx="460375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TFRec</a:t>
            </a:r>
          </a:p>
        </p:txBody>
      </p:sp>
      <p:sp>
        <p:nvSpPr>
          <p:cNvPr id="9230" name="Rectangle 14">
            <a:extLst>
              <a:ext uri="{FF2B5EF4-FFF2-40B4-BE49-F238E27FC236}">
                <a16:creationId xmlns:a16="http://schemas.microsoft.com/office/drawing/2014/main" id="{0D22D417-83B9-CF10-76B7-A90DE30F5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7953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RecordG</a:t>
            </a:r>
          </a:p>
        </p:txBody>
      </p:sp>
      <p:sp>
        <p:nvSpPr>
          <p:cNvPr id="9231" name="Rectangle 15">
            <a:extLst>
              <a:ext uri="{FF2B5EF4-FFF2-40B4-BE49-F238E27FC236}">
                <a16:creationId xmlns:a16="http://schemas.microsoft.com/office/drawing/2014/main" id="{4D88A7A0-AB42-590C-142C-6EC527A4E2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623888"/>
            <a:ext cx="48895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MFRec</a:t>
            </a:r>
          </a:p>
        </p:txBody>
      </p:sp>
      <p:sp>
        <p:nvSpPr>
          <p:cNvPr id="9232" name="Rectangle 16">
            <a:extLst>
              <a:ext uri="{FF2B5EF4-FFF2-40B4-BE49-F238E27FC236}">
                <a16:creationId xmlns:a16="http://schemas.microsoft.com/office/drawing/2014/main" id="{A2917E36-4CC5-C638-005A-89F5CDA7B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12144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RecordB</a:t>
            </a:r>
          </a:p>
        </p:txBody>
      </p:sp>
      <p:sp>
        <p:nvSpPr>
          <p:cNvPr id="9233" name="Rectangle 17">
            <a:extLst>
              <a:ext uri="{FF2B5EF4-FFF2-40B4-BE49-F238E27FC236}">
                <a16:creationId xmlns:a16="http://schemas.microsoft.com/office/drawing/2014/main" id="{14D4FF31-4D01-9D98-F4C9-F3786C882F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042988"/>
            <a:ext cx="47148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NFRec</a:t>
            </a:r>
          </a:p>
        </p:txBody>
      </p:sp>
      <p:sp>
        <p:nvSpPr>
          <p:cNvPr id="9234" name="Arc 18">
            <a:extLst>
              <a:ext uri="{FF2B5EF4-FFF2-40B4-BE49-F238E27FC236}">
                <a16:creationId xmlns:a16="http://schemas.microsoft.com/office/drawing/2014/main" id="{30772B9E-53D3-E380-E3CD-5CC89A9702BF}"/>
              </a:ext>
            </a:extLst>
          </p:cNvPr>
          <p:cNvSpPr>
            <a:spLocks/>
          </p:cNvSpPr>
          <p:nvPr/>
        </p:nvSpPr>
        <p:spPr bwMode="auto">
          <a:xfrm>
            <a:off x="2143125" y="906463"/>
            <a:ext cx="266700" cy="400050"/>
          </a:xfrm>
          <a:custGeom>
            <a:avLst/>
            <a:gdLst>
              <a:gd name="G0" fmla="+- 3607 0 0"/>
              <a:gd name="G1" fmla="+- 21600 0 0"/>
              <a:gd name="G2" fmla="+- 21600 0 0"/>
              <a:gd name="T0" fmla="*/ 3457 w 25207"/>
              <a:gd name="T1" fmla="*/ 1 h 43200"/>
              <a:gd name="T2" fmla="*/ 0 w 25207"/>
              <a:gd name="T3" fmla="*/ 42897 h 43200"/>
              <a:gd name="T4" fmla="*/ 3607 w 25207"/>
              <a:gd name="T5" fmla="*/ 21600 h 43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5207" h="43200" fill="none" extrusionOk="0">
                <a:moveTo>
                  <a:pt x="3456" y="0"/>
                </a:moveTo>
                <a:cubicBezTo>
                  <a:pt x="3506" y="0"/>
                  <a:pt x="3556" y="0"/>
                  <a:pt x="3607" y="0"/>
                </a:cubicBezTo>
                <a:cubicBezTo>
                  <a:pt x="15536" y="0"/>
                  <a:pt x="25207" y="9670"/>
                  <a:pt x="25207" y="21600"/>
                </a:cubicBezTo>
                <a:cubicBezTo>
                  <a:pt x="25207" y="33529"/>
                  <a:pt x="15536" y="43200"/>
                  <a:pt x="3607" y="43200"/>
                </a:cubicBezTo>
                <a:cubicBezTo>
                  <a:pt x="2398" y="43199"/>
                  <a:pt x="1191" y="43098"/>
                  <a:pt x="0" y="42896"/>
                </a:cubicBezTo>
              </a:path>
              <a:path w="25207" h="43200" stroke="0" extrusionOk="0">
                <a:moveTo>
                  <a:pt x="3456" y="0"/>
                </a:moveTo>
                <a:cubicBezTo>
                  <a:pt x="3506" y="0"/>
                  <a:pt x="3556" y="0"/>
                  <a:pt x="3607" y="0"/>
                </a:cubicBezTo>
                <a:cubicBezTo>
                  <a:pt x="15536" y="0"/>
                  <a:pt x="25207" y="9670"/>
                  <a:pt x="25207" y="21600"/>
                </a:cubicBezTo>
                <a:cubicBezTo>
                  <a:pt x="25207" y="33529"/>
                  <a:pt x="15536" y="43200"/>
                  <a:pt x="3607" y="43200"/>
                </a:cubicBezTo>
                <a:cubicBezTo>
                  <a:pt x="2398" y="43199"/>
                  <a:pt x="1191" y="43098"/>
                  <a:pt x="0" y="42896"/>
                </a:cubicBezTo>
                <a:lnTo>
                  <a:pt x="3607" y="21600"/>
                </a:lnTo>
                <a:close/>
              </a:path>
            </a:pathLst>
          </a:custGeom>
          <a:noFill/>
          <a:ln w="12700" cap="rnd">
            <a:solidFill>
              <a:srgbClr val="CC00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5" name="Arc 19">
            <a:extLst>
              <a:ext uri="{FF2B5EF4-FFF2-40B4-BE49-F238E27FC236}">
                <a16:creationId xmlns:a16="http://schemas.microsoft.com/office/drawing/2014/main" id="{34BF4C2C-039A-4B47-3F69-F4448B0D9939}"/>
              </a:ext>
            </a:extLst>
          </p:cNvPr>
          <p:cNvSpPr>
            <a:spLocks/>
          </p:cNvSpPr>
          <p:nvPr/>
        </p:nvSpPr>
        <p:spPr bwMode="auto">
          <a:xfrm>
            <a:off x="438150" y="904875"/>
            <a:ext cx="1009650" cy="1905000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0 w 21600"/>
              <a:gd name="T1" fmla="*/ 21600 h 21600"/>
              <a:gd name="T2" fmla="*/ 21566 w 21600"/>
              <a:gd name="T3" fmla="*/ 0 h 21600"/>
              <a:gd name="T4" fmla="*/ 21600 w 21600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599"/>
                </a:moveTo>
                <a:cubicBezTo>
                  <a:pt x="0" y="9683"/>
                  <a:pt x="9649" y="18"/>
                  <a:pt x="21566" y="0"/>
                </a:cubicBezTo>
              </a:path>
              <a:path w="21600" h="21600" stroke="0" extrusionOk="0">
                <a:moveTo>
                  <a:pt x="0" y="21599"/>
                </a:moveTo>
                <a:cubicBezTo>
                  <a:pt x="0" y="9683"/>
                  <a:pt x="9649" y="18"/>
                  <a:pt x="21566" y="0"/>
                </a:cubicBezTo>
                <a:lnTo>
                  <a:pt x="21600" y="21600"/>
                </a:lnTo>
                <a:close/>
              </a:path>
            </a:pathLst>
          </a:custGeom>
          <a:noFill/>
          <a:ln w="12700" cap="rnd">
            <a:solidFill>
              <a:srgbClr val="CC00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>
            <a:extLst>
              <a:ext uri="{FF2B5EF4-FFF2-40B4-BE49-F238E27FC236}">
                <a16:creationId xmlns:a16="http://schemas.microsoft.com/office/drawing/2014/main" id="{989C7BE0-80E2-A3C8-7917-E3DBC91EAF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387350"/>
            <a:ext cx="766763" cy="6223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RecordC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RecordF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RecordP</a:t>
            </a:r>
          </a:p>
        </p:txBody>
      </p:sp>
      <p:sp>
        <p:nvSpPr>
          <p:cNvPr id="10243" name="Rectangle 3">
            <a:extLst>
              <a:ext uri="{FF2B5EF4-FFF2-40B4-BE49-F238E27FC236}">
                <a16:creationId xmlns:a16="http://schemas.microsoft.com/office/drawing/2014/main" id="{AE4A209C-FBED-715A-BB5B-15BA2DBA5D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12725"/>
            <a:ext cx="912813" cy="168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Trans File (TF)</a:t>
            </a:r>
          </a:p>
        </p:txBody>
      </p:sp>
      <p:sp>
        <p:nvSpPr>
          <p:cNvPr id="10244" name="Rectangle 4">
            <a:extLst>
              <a:ext uri="{FF2B5EF4-FFF2-40B4-BE49-F238E27FC236}">
                <a16:creationId xmlns:a16="http://schemas.microsoft.com/office/drawing/2014/main" id="{CDD28A93-DF68-957B-A366-164E6ECE68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2390775"/>
            <a:ext cx="766763" cy="130175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RecordA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RecordB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RecordG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RecordH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RecordK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RecordM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RecordN</a:t>
            </a:r>
          </a:p>
        </p:txBody>
      </p:sp>
      <p:sp>
        <p:nvSpPr>
          <p:cNvPr id="10245" name="Rectangle 5">
            <a:extLst>
              <a:ext uri="{FF2B5EF4-FFF2-40B4-BE49-F238E27FC236}">
                <a16:creationId xmlns:a16="http://schemas.microsoft.com/office/drawing/2014/main" id="{972456DF-ED3C-43B5-B050-8797949024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205038"/>
            <a:ext cx="101282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Master File (MF</a:t>
            </a:r>
            <a:r>
              <a:rPr lang="en-US" altLang="en-US" sz="1200" b="1"/>
              <a:t>)</a:t>
            </a:r>
          </a:p>
        </p:txBody>
      </p:sp>
      <p:sp>
        <p:nvSpPr>
          <p:cNvPr id="10246" name="Rectangle 6">
            <a:extLst>
              <a:ext uri="{FF2B5EF4-FFF2-40B4-BE49-F238E27FC236}">
                <a16:creationId xmlns:a16="http://schemas.microsoft.com/office/drawing/2014/main" id="{CEE32F21-1088-7CAD-03E9-31E11949D5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3500" y="387350"/>
            <a:ext cx="766763" cy="85725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RecordA</a:t>
            </a:r>
          </a:p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RecordB</a:t>
            </a:r>
          </a:p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RecordC</a:t>
            </a:r>
            <a:endParaRPr lang="en-US" altLang="en-US" sz="1200" b="1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endParaRPr lang="en-US" altLang="en-US" sz="1200" b="1">
              <a:solidFill>
                <a:schemeClr val="tx1"/>
              </a:solidFill>
              <a:latin typeface="Courier New" panose="02070309020205020404" pitchFamily="49" charset="0"/>
            </a:endParaRPr>
          </a:p>
        </p:txBody>
      </p:sp>
      <p:sp>
        <p:nvSpPr>
          <p:cNvPr id="10247" name="Rectangle 7">
            <a:extLst>
              <a:ext uri="{FF2B5EF4-FFF2-40B4-BE49-F238E27FC236}">
                <a16:creationId xmlns:a16="http://schemas.microsoft.com/office/drawing/2014/main" id="{09D0F838-3CC7-C783-C0DF-54B87D6690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8738" y="187325"/>
            <a:ext cx="81597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NewFile (NF</a:t>
            </a:r>
            <a:r>
              <a:rPr lang="en-US" altLang="en-US" sz="1200" b="1">
                <a:latin typeface="Times New Roman" panose="02020603050405020304" pitchFamily="18" charset="0"/>
              </a:rPr>
              <a:t>)</a:t>
            </a:r>
          </a:p>
        </p:txBody>
      </p:sp>
      <p:sp>
        <p:nvSpPr>
          <p:cNvPr id="10248" name="AutoShape 8">
            <a:extLst>
              <a:ext uri="{FF2B5EF4-FFF2-40B4-BE49-F238E27FC236}">
                <a16:creationId xmlns:a16="http://schemas.microsoft.com/office/drawing/2014/main" id="{5298BD9C-7ECC-461C-F34C-8F7625227D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63500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249" name="AutoShape 9">
            <a:extLst>
              <a:ext uri="{FF2B5EF4-FFF2-40B4-BE49-F238E27FC236}">
                <a16:creationId xmlns:a16="http://schemas.microsoft.com/office/drawing/2014/main" id="{B684DBAC-B276-FDE0-D544-E36A04142A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6825" y="105410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250" name="AutoShape 10">
            <a:extLst>
              <a:ext uri="{FF2B5EF4-FFF2-40B4-BE49-F238E27FC236}">
                <a16:creationId xmlns:a16="http://schemas.microsoft.com/office/drawing/2014/main" id="{2F799BF5-4297-94AA-9ACA-38CD06D1D3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297815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251" name="Rectangle 11">
            <a:extLst>
              <a:ext uri="{FF2B5EF4-FFF2-40B4-BE49-F238E27FC236}">
                <a16:creationId xmlns:a16="http://schemas.microsoft.com/office/drawing/2014/main" id="{7F1DEED8-3524-4BC5-243B-21E48E9D51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5238" y="92075"/>
            <a:ext cx="2366962" cy="359727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lIns="38100" tIns="19050" rIns="3810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FILE SECTION.</a:t>
            </a: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 </a:t>
            </a:r>
            <a:r>
              <a:rPr lang="en-US" altLang="en-US" sz="1000">
                <a:latin typeface="Courier New" panose="02070309020205020404" pitchFamily="49" charset="0"/>
              </a:rPr>
              <a:t>etc.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PERFORM UNTIL EndTF AND EndMF  </a:t>
            </a: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IF TFKey &lt; MFKey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   MOVE TFRec TO NFRec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   WRITE NFRec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READ TF </a:t>
            </a:r>
            <a:r>
              <a:rPr lang="en-US" altLang="en-US" sz="1000">
                <a:latin typeface="Courier New" panose="02070309020205020404" pitchFamily="49" charset="0"/>
              </a:rPr>
              <a:t>etc.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ELSE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IF TFKey &gt; MFKey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  MOVE MFRec TO NFRec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  WRITE NFRec</a:t>
            </a:r>
            <a:endParaRPr lang="en-US" altLang="en-US" sz="1000" b="1">
              <a:solidFill>
                <a:srgbClr val="CC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     </a:t>
            </a:r>
            <a:r>
              <a:rPr lang="en-US" altLang="en-US" sz="1000" b="1">
                <a:latin typeface="Courier New" panose="02070309020205020404" pitchFamily="49" charset="0"/>
              </a:rPr>
              <a:t>READ MF </a:t>
            </a:r>
            <a:r>
              <a:rPr lang="en-US" altLang="en-US" sz="1000">
                <a:latin typeface="Courier New" panose="02070309020205020404" pitchFamily="49" charset="0"/>
              </a:rPr>
              <a:t>etc.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END-IF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END-IF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END-PERFORM</a:t>
            </a:r>
          </a:p>
        </p:txBody>
      </p:sp>
      <p:sp>
        <p:nvSpPr>
          <p:cNvPr id="10252" name="Rectangle 12">
            <a:extLst>
              <a:ext uri="{FF2B5EF4-FFF2-40B4-BE49-F238E27FC236}">
                <a16:creationId xmlns:a16="http://schemas.microsoft.com/office/drawing/2014/main" id="{C9464690-3277-48AD-74D2-52E71AB1BC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5575" y="385763"/>
            <a:ext cx="1463675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RecordC</a:t>
            </a:r>
          </a:p>
        </p:txBody>
      </p:sp>
      <p:sp>
        <p:nvSpPr>
          <p:cNvPr id="10253" name="Rectangle 13">
            <a:extLst>
              <a:ext uri="{FF2B5EF4-FFF2-40B4-BE49-F238E27FC236}">
                <a16:creationId xmlns:a16="http://schemas.microsoft.com/office/drawing/2014/main" id="{6ED09E48-CF1A-52A5-6D69-2DD742C11B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500" y="204788"/>
            <a:ext cx="460375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TFRec</a:t>
            </a:r>
          </a:p>
        </p:txBody>
      </p:sp>
      <p:sp>
        <p:nvSpPr>
          <p:cNvPr id="10254" name="Rectangle 14">
            <a:extLst>
              <a:ext uri="{FF2B5EF4-FFF2-40B4-BE49-F238E27FC236}">
                <a16:creationId xmlns:a16="http://schemas.microsoft.com/office/drawing/2014/main" id="{F7B3B579-1EF3-2103-B992-2BA495C6E2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7953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RecordG</a:t>
            </a:r>
          </a:p>
        </p:txBody>
      </p:sp>
      <p:sp>
        <p:nvSpPr>
          <p:cNvPr id="10255" name="Rectangle 15">
            <a:extLst>
              <a:ext uri="{FF2B5EF4-FFF2-40B4-BE49-F238E27FC236}">
                <a16:creationId xmlns:a16="http://schemas.microsoft.com/office/drawing/2014/main" id="{3B3A4F57-8117-3734-C891-C7F93BE11D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623888"/>
            <a:ext cx="48895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MFRec</a:t>
            </a:r>
          </a:p>
        </p:txBody>
      </p:sp>
      <p:sp>
        <p:nvSpPr>
          <p:cNvPr id="10256" name="Rectangle 16">
            <a:extLst>
              <a:ext uri="{FF2B5EF4-FFF2-40B4-BE49-F238E27FC236}">
                <a16:creationId xmlns:a16="http://schemas.microsoft.com/office/drawing/2014/main" id="{EB1CDC3E-BA53-1655-1237-DA25BE2F5E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12144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RecordC</a:t>
            </a:r>
          </a:p>
        </p:txBody>
      </p:sp>
      <p:sp>
        <p:nvSpPr>
          <p:cNvPr id="10257" name="Rectangle 17">
            <a:extLst>
              <a:ext uri="{FF2B5EF4-FFF2-40B4-BE49-F238E27FC236}">
                <a16:creationId xmlns:a16="http://schemas.microsoft.com/office/drawing/2014/main" id="{AF94363A-4070-1E2E-78D2-F42BB42F3E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042988"/>
            <a:ext cx="47148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NFRec</a:t>
            </a:r>
          </a:p>
        </p:txBody>
      </p:sp>
      <p:sp>
        <p:nvSpPr>
          <p:cNvPr id="10258" name="Arc 18">
            <a:extLst>
              <a:ext uri="{FF2B5EF4-FFF2-40B4-BE49-F238E27FC236}">
                <a16:creationId xmlns:a16="http://schemas.microsoft.com/office/drawing/2014/main" id="{CAEDA933-EEC1-46F5-1BE1-F711AECC8566}"/>
              </a:ext>
            </a:extLst>
          </p:cNvPr>
          <p:cNvSpPr>
            <a:spLocks/>
          </p:cNvSpPr>
          <p:nvPr/>
        </p:nvSpPr>
        <p:spPr bwMode="auto">
          <a:xfrm>
            <a:off x="2143125" y="506413"/>
            <a:ext cx="266700" cy="800100"/>
          </a:xfrm>
          <a:custGeom>
            <a:avLst/>
            <a:gdLst>
              <a:gd name="G0" fmla="+- 3607 0 0"/>
              <a:gd name="G1" fmla="+- 21600 0 0"/>
              <a:gd name="G2" fmla="+- 21600 0 0"/>
              <a:gd name="T0" fmla="*/ 3457 w 25207"/>
              <a:gd name="T1" fmla="*/ 1 h 43200"/>
              <a:gd name="T2" fmla="*/ 0 w 25207"/>
              <a:gd name="T3" fmla="*/ 42897 h 43200"/>
              <a:gd name="T4" fmla="*/ 3607 w 25207"/>
              <a:gd name="T5" fmla="*/ 21600 h 43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5207" h="43200" fill="none" extrusionOk="0">
                <a:moveTo>
                  <a:pt x="3456" y="0"/>
                </a:moveTo>
                <a:cubicBezTo>
                  <a:pt x="3506" y="0"/>
                  <a:pt x="3556" y="0"/>
                  <a:pt x="3607" y="0"/>
                </a:cubicBezTo>
                <a:cubicBezTo>
                  <a:pt x="15536" y="0"/>
                  <a:pt x="25207" y="9670"/>
                  <a:pt x="25207" y="21600"/>
                </a:cubicBezTo>
                <a:cubicBezTo>
                  <a:pt x="25207" y="33529"/>
                  <a:pt x="15536" y="43200"/>
                  <a:pt x="3607" y="43200"/>
                </a:cubicBezTo>
                <a:cubicBezTo>
                  <a:pt x="2398" y="43199"/>
                  <a:pt x="1191" y="43098"/>
                  <a:pt x="0" y="42896"/>
                </a:cubicBezTo>
              </a:path>
              <a:path w="25207" h="43200" stroke="0" extrusionOk="0">
                <a:moveTo>
                  <a:pt x="3456" y="0"/>
                </a:moveTo>
                <a:cubicBezTo>
                  <a:pt x="3506" y="0"/>
                  <a:pt x="3556" y="0"/>
                  <a:pt x="3607" y="0"/>
                </a:cubicBezTo>
                <a:cubicBezTo>
                  <a:pt x="15536" y="0"/>
                  <a:pt x="25207" y="9670"/>
                  <a:pt x="25207" y="21600"/>
                </a:cubicBezTo>
                <a:cubicBezTo>
                  <a:pt x="25207" y="33529"/>
                  <a:pt x="15536" y="43200"/>
                  <a:pt x="3607" y="43200"/>
                </a:cubicBezTo>
                <a:cubicBezTo>
                  <a:pt x="2398" y="43199"/>
                  <a:pt x="1191" y="43098"/>
                  <a:pt x="0" y="42896"/>
                </a:cubicBezTo>
                <a:lnTo>
                  <a:pt x="3607" y="21600"/>
                </a:lnTo>
                <a:close/>
              </a:path>
            </a:pathLst>
          </a:custGeom>
          <a:noFill/>
          <a:ln w="12700" cap="rnd">
            <a:solidFill>
              <a:srgbClr val="CC00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59" name="Arc 19">
            <a:extLst>
              <a:ext uri="{FF2B5EF4-FFF2-40B4-BE49-F238E27FC236}">
                <a16:creationId xmlns:a16="http://schemas.microsoft.com/office/drawing/2014/main" id="{866D5F0A-C0EF-4764-679F-2D6FFCF00755}"/>
              </a:ext>
            </a:extLst>
          </p:cNvPr>
          <p:cNvSpPr>
            <a:spLocks/>
          </p:cNvSpPr>
          <p:nvPr/>
        </p:nvSpPr>
        <p:spPr bwMode="auto">
          <a:xfrm>
            <a:off x="2170113" y="998538"/>
            <a:ext cx="2060575" cy="573087"/>
          </a:xfrm>
          <a:custGeom>
            <a:avLst/>
            <a:gdLst>
              <a:gd name="G0" fmla="+- 16897 0 0"/>
              <a:gd name="G1" fmla="+- 2695 0 0"/>
              <a:gd name="G2" fmla="+- 21600 0 0"/>
              <a:gd name="T0" fmla="*/ 38328 w 38497"/>
              <a:gd name="T1" fmla="*/ 0 h 24295"/>
              <a:gd name="T2" fmla="*/ 0 w 38497"/>
              <a:gd name="T3" fmla="*/ 16150 h 24295"/>
              <a:gd name="T4" fmla="*/ 16897 w 38497"/>
              <a:gd name="T5" fmla="*/ 2695 h 2429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38497" h="24295" fill="none" extrusionOk="0">
                <a:moveTo>
                  <a:pt x="38328" y="-1"/>
                </a:moveTo>
                <a:cubicBezTo>
                  <a:pt x="38440" y="893"/>
                  <a:pt x="38497" y="1794"/>
                  <a:pt x="38497" y="2695"/>
                </a:cubicBezTo>
                <a:cubicBezTo>
                  <a:pt x="38497" y="14624"/>
                  <a:pt x="28826" y="24295"/>
                  <a:pt x="16897" y="24295"/>
                </a:cubicBezTo>
                <a:cubicBezTo>
                  <a:pt x="10318" y="24294"/>
                  <a:pt x="4097" y="21296"/>
                  <a:pt x="-1" y="16150"/>
                </a:cubicBezTo>
              </a:path>
              <a:path w="38497" h="24295" stroke="0" extrusionOk="0">
                <a:moveTo>
                  <a:pt x="38328" y="-1"/>
                </a:moveTo>
                <a:cubicBezTo>
                  <a:pt x="38440" y="893"/>
                  <a:pt x="38497" y="1794"/>
                  <a:pt x="38497" y="2695"/>
                </a:cubicBezTo>
                <a:cubicBezTo>
                  <a:pt x="38497" y="14624"/>
                  <a:pt x="28826" y="24295"/>
                  <a:pt x="16897" y="24295"/>
                </a:cubicBezTo>
                <a:cubicBezTo>
                  <a:pt x="10318" y="24294"/>
                  <a:pt x="4097" y="21296"/>
                  <a:pt x="-1" y="16150"/>
                </a:cubicBezTo>
                <a:lnTo>
                  <a:pt x="16897" y="2695"/>
                </a:lnTo>
                <a:close/>
              </a:path>
            </a:pathLst>
          </a:custGeom>
          <a:noFill/>
          <a:ln w="12700" cap="rnd">
            <a:solidFill>
              <a:srgbClr val="CC0000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60" name="AutoShape 20">
            <a:extLst>
              <a:ext uri="{FF2B5EF4-FFF2-40B4-BE49-F238E27FC236}">
                <a16:creationId xmlns:a16="http://schemas.microsoft.com/office/drawing/2014/main" id="{F04B68DF-6644-3DA1-8B6D-F266BC436EC3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3224213" y="2112963"/>
            <a:ext cx="1511300" cy="1289843"/>
          </a:xfrm>
          <a:prstGeom prst="wedgeRoundRectCallout">
            <a:avLst>
              <a:gd name="adj1" fmla="val -49921"/>
              <a:gd name="adj2" fmla="val 66667"/>
              <a:gd name="adj3" fmla="val 16667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9050" tIns="19050" rIns="19050" bIns="19050" anchor="ctr">
            <a:spAutoFit/>
          </a:bodyPr>
          <a:lstStyle/>
          <a:p>
            <a:pPr algn="ctr">
              <a:lnSpc>
                <a:spcPct val="90000"/>
              </a:lnSpc>
              <a:spcBef>
                <a:spcPct val="30000"/>
              </a:spcBef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If the  TFkey is less than the MFkey, then the transaction file record must come before the master file record so we write the transaction file record to the new file 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60" grpId="0" animBg="1" autoUpdateAnimBg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>
            <a:extLst>
              <a:ext uri="{FF2B5EF4-FFF2-40B4-BE49-F238E27FC236}">
                <a16:creationId xmlns:a16="http://schemas.microsoft.com/office/drawing/2014/main" id="{836B995A-DEB2-53F4-3B2E-961E382749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387350"/>
            <a:ext cx="766763" cy="6223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RecordC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RecordF</a:t>
            </a:r>
            <a:endParaRPr lang="en-US" altLang="en-US" sz="1200" b="1">
              <a:latin typeface="Courier New" panose="02070309020205020404" pitchFamily="49" charset="0"/>
            </a:endParaRP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RecordP</a:t>
            </a:r>
          </a:p>
        </p:txBody>
      </p:sp>
      <p:sp>
        <p:nvSpPr>
          <p:cNvPr id="11267" name="Rectangle 3">
            <a:extLst>
              <a:ext uri="{FF2B5EF4-FFF2-40B4-BE49-F238E27FC236}">
                <a16:creationId xmlns:a16="http://schemas.microsoft.com/office/drawing/2014/main" id="{05D00DB2-B87B-FD5E-393C-EBB7E07C19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12725"/>
            <a:ext cx="912813" cy="168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Trans File (TF)</a:t>
            </a:r>
          </a:p>
        </p:txBody>
      </p:sp>
      <p:sp>
        <p:nvSpPr>
          <p:cNvPr id="11268" name="Rectangle 4">
            <a:extLst>
              <a:ext uri="{FF2B5EF4-FFF2-40B4-BE49-F238E27FC236}">
                <a16:creationId xmlns:a16="http://schemas.microsoft.com/office/drawing/2014/main" id="{48244B14-EB53-B5D4-4444-2A875B937E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2390775"/>
            <a:ext cx="766763" cy="130175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RecordA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RecordB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RecordG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RecordH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RecordK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RecordM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RecordN</a:t>
            </a:r>
          </a:p>
        </p:txBody>
      </p:sp>
      <p:sp>
        <p:nvSpPr>
          <p:cNvPr id="11269" name="Rectangle 5">
            <a:extLst>
              <a:ext uri="{FF2B5EF4-FFF2-40B4-BE49-F238E27FC236}">
                <a16:creationId xmlns:a16="http://schemas.microsoft.com/office/drawing/2014/main" id="{09F1DCBF-5666-4CE1-BA14-5532F18C03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205038"/>
            <a:ext cx="101282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Master File (MF</a:t>
            </a:r>
            <a:r>
              <a:rPr lang="en-US" altLang="en-US" sz="1200" b="1"/>
              <a:t>)</a:t>
            </a:r>
          </a:p>
        </p:txBody>
      </p:sp>
      <p:sp>
        <p:nvSpPr>
          <p:cNvPr id="11270" name="Rectangle 6">
            <a:extLst>
              <a:ext uri="{FF2B5EF4-FFF2-40B4-BE49-F238E27FC236}">
                <a16:creationId xmlns:a16="http://schemas.microsoft.com/office/drawing/2014/main" id="{77A48007-A62D-A1EB-5F8B-E1185053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3500" y="387350"/>
            <a:ext cx="766763" cy="85725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RecordA</a:t>
            </a:r>
          </a:p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RecordB</a:t>
            </a:r>
          </a:p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RecordC</a:t>
            </a:r>
          </a:p>
          <a:p>
            <a:endParaRPr lang="en-US" altLang="en-US" sz="1200" b="1">
              <a:solidFill>
                <a:schemeClr val="tx1"/>
              </a:solidFill>
              <a:latin typeface="Courier New" panose="02070309020205020404" pitchFamily="49" charset="0"/>
            </a:endParaRPr>
          </a:p>
        </p:txBody>
      </p:sp>
      <p:sp>
        <p:nvSpPr>
          <p:cNvPr id="11271" name="Rectangle 7">
            <a:extLst>
              <a:ext uri="{FF2B5EF4-FFF2-40B4-BE49-F238E27FC236}">
                <a16:creationId xmlns:a16="http://schemas.microsoft.com/office/drawing/2014/main" id="{62FC1CF6-8DA7-D1AB-8547-C68482B6DD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8738" y="187325"/>
            <a:ext cx="81597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NewFile (NF</a:t>
            </a:r>
            <a:r>
              <a:rPr lang="en-US" altLang="en-US" sz="1200" b="1">
                <a:latin typeface="Times New Roman" panose="02020603050405020304" pitchFamily="18" charset="0"/>
              </a:rPr>
              <a:t>)</a:t>
            </a:r>
          </a:p>
        </p:txBody>
      </p:sp>
      <p:sp>
        <p:nvSpPr>
          <p:cNvPr id="11272" name="AutoShape 8">
            <a:extLst>
              <a:ext uri="{FF2B5EF4-FFF2-40B4-BE49-F238E27FC236}">
                <a16:creationId xmlns:a16="http://schemas.microsoft.com/office/drawing/2014/main" id="{007A14D7-336F-3C24-BF8A-F70981DBF1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80645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3" name="AutoShape 9">
            <a:extLst>
              <a:ext uri="{FF2B5EF4-FFF2-40B4-BE49-F238E27FC236}">
                <a16:creationId xmlns:a16="http://schemas.microsoft.com/office/drawing/2014/main" id="{6931E993-B233-F755-D696-2F52181A0B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6825" y="105410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4" name="AutoShape 10">
            <a:extLst>
              <a:ext uri="{FF2B5EF4-FFF2-40B4-BE49-F238E27FC236}">
                <a16:creationId xmlns:a16="http://schemas.microsoft.com/office/drawing/2014/main" id="{ACA0DAE3-0024-06E9-8715-591B3FC4C5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297815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5" name="Rectangle 11">
            <a:extLst>
              <a:ext uri="{FF2B5EF4-FFF2-40B4-BE49-F238E27FC236}">
                <a16:creationId xmlns:a16="http://schemas.microsoft.com/office/drawing/2014/main" id="{33722189-71B9-C06D-8A9D-45B5B9B43D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5238" y="92075"/>
            <a:ext cx="2366962" cy="359727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lIns="38100" tIns="19050" rIns="3810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FILE SECTION.</a:t>
            </a: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 </a:t>
            </a:r>
            <a:r>
              <a:rPr lang="en-US" altLang="en-US" sz="1000">
                <a:latin typeface="Courier New" panose="02070309020205020404" pitchFamily="49" charset="0"/>
              </a:rPr>
              <a:t>etc.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PERFORM UNTIL EndTF AND EndMF  IF TFKey &lt; MFKey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MOVE TFRec TO NFRec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WRITE NFRec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   READ TF </a:t>
            </a:r>
            <a:r>
              <a:rPr lang="en-US" altLang="en-US" sz="1000">
                <a:solidFill>
                  <a:srgbClr val="CC0000"/>
                </a:solidFill>
                <a:latin typeface="Courier New" panose="02070309020205020404" pitchFamily="49" charset="0"/>
              </a:rPr>
              <a:t>etc.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ELSE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IF TFKey &gt; MFKey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  MOVE MFRec TO NFRec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  WRITE NFRec</a:t>
            </a:r>
            <a:endParaRPr lang="en-US" altLang="en-US" sz="1000" b="1">
              <a:solidFill>
                <a:srgbClr val="CC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  READ MF </a:t>
            </a:r>
            <a:r>
              <a:rPr lang="en-US" altLang="en-US" sz="1000">
                <a:latin typeface="Courier New" panose="02070309020205020404" pitchFamily="49" charset="0"/>
              </a:rPr>
              <a:t>etc.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END-IF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END-IF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END-PERFORM</a:t>
            </a:r>
          </a:p>
        </p:txBody>
      </p:sp>
      <p:sp>
        <p:nvSpPr>
          <p:cNvPr id="11276" name="Rectangle 12">
            <a:extLst>
              <a:ext uri="{FF2B5EF4-FFF2-40B4-BE49-F238E27FC236}">
                <a16:creationId xmlns:a16="http://schemas.microsoft.com/office/drawing/2014/main" id="{714963DF-7F4A-DC6F-2389-4C282D6095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5575" y="385763"/>
            <a:ext cx="1463675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RecordF</a:t>
            </a:r>
          </a:p>
        </p:txBody>
      </p:sp>
      <p:sp>
        <p:nvSpPr>
          <p:cNvPr id="11277" name="Rectangle 13">
            <a:extLst>
              <a:ext uri="{FF2B5EF4-FFF2-40B4-BE49-F238E27FC236}">
                <a16:creationId xmlns:a16="http://schemas.microsoft.com/office/drawing/2014/main" id="{CD6B9CF0-5B35-9F3F-DFC0-F1B3C8B7FA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500" y="204788"/>
            <a:ext cx="460375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TFRec</a:t>
            </a:r>
          </a:p>
        </p:txBody>
      </p:sp>
      <p:sp>
        <p:nvSpPr>
          <p:cNvPr id="11278" name="Rectangle 14">
            <a:extLst>
              <a:ext uri="{FF2B5EF4-FFF2-40B4-BE49-F238E27FC236}">
                <a16:creationId xmlns:a16="http://schemas.microsoft.com/office/drawing/2014/main" id="{3A7EBC89-3C48-B50A-DAD9-DD260ABD4A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7953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RecordG</a:t>
            </a:r>
          </a:p>
        </p:txBody>
      </p:sp>
      <p:sp>
        <p:nvSpPr>
          <p:cNvPr id="11279" name="Rectangle 15">
            <a:extLst>
              <a:ext uri="{FF2B5EF4-FFF2-40B4-BE49-F238E27FC236}">
                <a16:creationId xmlns:a16="http://schemas.microsoft.com/office/drawing/2014/main" id="{07AC5261-5E76-2750-BF72-7EF17CD8FB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623888"/>
            <a:ext cx="48895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MFRec</a:t>
            </a:r>
          </a:p>
        </p:txBody>
      </p:sp>
      <p:sp>
        <p:nvSpPr>
          <p:cNvPr id="11280" name="Rectangle 16">
            <a:extLst>
              <a:ext uri="{FF2B5EF4-FFF2-40B4-BE49-F238E27FC236}">
                <a16:creationId xmlns:a16="http://schemas.microsoft.com/office/drawing/2014/main" id="{26B00ACC-A227-70DA-6253-8602A618B2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12144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RecordC</a:t>
            </a:r>
          </a:p>
        </p:txBody>
      </p:sp>
      <p:sp>
        <p:nvSpPr>
          <p:cNvPr id="11281" name="Rectangle 17">
            <a:extLst>
              <a:ext uri="{FF2B5EF4-FFF2-40B4-BE49-F238E27FC236}">
                <a16:creationId xmlns:a16="http://schemas.microsoft.com/office/drawing/2014/main" id="{AE20A1F0-CD7E-48B3-EFE3-5FA3D4600E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042988"/>
            <a:ext cx="47148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NFRec</a:t>
            </a:r>
          </a:p>
        </p:txBody>
      </p:sp>
      <p:sp>
        <p:nvSpPr>
          <p:cNvPr id="11282" name="Arc 18">
            <a:extLst>
              <a:ext uri="{FF2B5EF4-FFF2-40B4-BE49-F238E27FC236}">
                <a16:creationId xmlns:a16="http://schemas.microsoft.com/office/drawing/2014/main" id="{4EDA85E6-4510-5256-B752-28AF62EBC2AC}"/>
              </a:ext>
            </a:extLst>
          </p:cNvPr>
          <p:cNvSpPr>
            <a:spLocks/>
          </p:cNvSpPr>
          <p:nvPr/>
        </p:nvSpPr>
        <p:spPr bwMode="auto">
          <a:xfrm>
            <a:off x="847725" y="485775"/>
            <a:ext cx="590550" cy="171450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0 w 21600"/>
              <a:gd name="T1" fmla="*/ 21600 h 21600"/>
              <a:gd name="T2" fmla="*/ 21542 w 21600"/>
              <a:gd name="T3" fmla="*/ 0 h 21600"/>
              <a:gd name="T4" fmla="*/ 21600 w 21600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599"/>
                </a:moveTo>
                <a:cubicBezTo>
                  <a:pt x="0" y="9693"/>
                  <a:pt x="9635" y="32"/>
                  <a:pt x="21542" y="0"/>
                </a:cubicBezTo>
              </a:path>
              <a:path w="21600" h="21600" stroke="0" extrusionOk="0">
                <a:moveTo>
                  <a:pt x="0" y="21599"/>
                </a:moveTo>
                <a:cubicBezTo>
                  <a:pt x="0" y="9693"/>
                  <a:pt x="9635" y="32"/>
                  <a:pt x="21542" y="0"/>
                </a:cubicBezTo>
                <a:lnTo>
                  <a:pt x="21600" y="21600"/>
                </a:lnTo>
                <a:close/>
              </a:path>
            </a:pathLst>
          </a:custGeom>
          <a:noFill/>
          <a:ln w="12700" cap="rnd">
            <a:solidFill>
              <a:srgbClr val="CC00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>
            <a:extLst>
              <a:ext uri="{FF2B5EF4-FFF2-40B4-BE49-F238E27FC236}">
                <a16:creationId xmlns:a16="http://schemas.microsoft.com/office/drawing/2014/main" id="{20A49F6C-2B88-0A30-CE1D-EA72EF4B1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387350"/>
            <a:ext cx="766763" cy="6223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RecordC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RecordF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RecordP</a:t>
            </a:r>
          </a:p>
        </p:txBody>
      </p:sp>
      <p:sp>
        <p:nvSpPr>
          <p:cNvPr id="12291" name="Rectangle 3">
            <a:extLst>
              <a:ext uri="{FF2B5EF4-FFF2-40B4-BE49-F238E27FC236}">
                <a16:creationId xmlns:a16="http://schemas.microsoft.com/office/drawing/2014/main" id="{559B3D92-1C44-9434-E677-F844CEBFAF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12725"/>
            <a:ext cx="912813" cy="168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Trans File (TF)</a:t>
            </a:r>
          </a:p>
        </p:txBody>
      </p:sp>
      <p:sp>
        <p:nvSpPr>
          <p:cNvPr id="12292" name="Rectangle 4">
            <a:extLst>
              <a:ext uri="{FF2B5EF4-FFF2-40B4-BE49-F238E27FC236}">
                <a16:creationId xmlns:a16="http://schemas.microsoft.com/office/drawing/2014/main" id="{4436FC3A-0BFA-2A42-37E7-3B5AAAB197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2390775"/>
            <a:ext cx="766763" cy="130175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RecordA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RecordB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RecordG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RecordH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RecordK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RecordM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RecordN</a:t>
            </a:r>
          </a:p>
        </p:txBody>
      </p:sp>
      <p:sp>
        <p:nvSpPr>
          <p:cNvPr id="12293" name="Rectangle 5">
            <a:extLst>
              <a:ext uri="{FF2B5EF4-FFF2-40B4-BE49-F238E27FC236}">
                <a16:creationId xmlns:a16="http://schemas.microsoft.com/office/drawing/2014/main" id="{BC2C3EF3-2338-CF9C-5F1C-4472E766CD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205038"/>
            <a:ext cx="101282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Master File (MF</a:t>
            </a:r>
            <a:r>
              <a:rPr lang="en-US" altLang="en-US" sz="1200" b="1"/>
              <a:t>)</a:t>
            </a:r>
          </a:p>
        </p:txBody>
      </p:sp>
      <p:sp>
        <p:nvSpPr>
          <p:cNvPr id="12294" name="Rectangle 6">
            <a:extLst>
              <a:ext uri="{FF2B5EF4-FFF2-40B4-BE49-F238E27FC236}">
                <a16:creationId xmlns:a16="http://schemas.microsoft.com/office/drawing/2014/main" id="{09AA6FF3-7844-9262-B3BF-C447DF6956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3500" y="387350"/>
            <a:ext cx="766763" cy="1849438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lIns="57150" tIns="57150" rIns="57150" bIns="5715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RecordA</a:t>
            </a:r>
          </a:p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RecordB</a:t>
            </a:r>
          </a:p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RecordC</a:t>
            </a:r>
            <a:endParaRPr lang="en-US" altLang="en-US" sz="1200" b="1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RecordF</a:t>
            </a:r>
            <a:endParaRPr lang="en-US" altLang="en-US" sz="1200" b="1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RecordG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RecordH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RecordK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RecordM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RecordN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RecordP</a:t>
            </a:r>
          </a:p>
        </p:txBody>
      </p:sp>
      <p:sp>
        <p:nvSpPr>
          <p:cNvPr id="12295" name="Rectangle 7">
            <a:extLst>
              <a:ext uri="{FF2B5EF4-FFF2-40B4-BE49-F238E27FC236}">
                <a16:creationId xmlns:a16="http://schemas.microsoft.com/office/drawing/2014/main" id="{62CED542-EFB5-1462-1F21-1F87C0EB21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8738" y="187325"/>
            <a:ext cx="81597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NewFile (NF</a:t>
            </a:r>
            <a:r>
              <a:rPr lang="en-US" altLang="en-US" sz="1200" b="1">
                <a:latin typeface="Times New Roman" panose="02020603050405020304" pitchFamily="18" charset="0"/>
              </a:rPr>
              <a:t>)</a:t>
            </a:r>
          </a:p>
        </p:txBody>
      </p:sp>
      <p:sp>
        <p:nvSpPr>
          <p:cNvPr id="12296" name="Rectangle 8">
            <a:extLst>
              <a:ext uri="{FF2B5EF4-FFF2-40B4-BE49-F238E27FC236}">
                <a16:creationId xmlns:a16="http://schemas.microsoft.com/office/drawing/2014/main" id="{BE04A4E7-54A8-A070-EDBA-08A3A8959E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5325" y="1327150"/>
            <a:ext cx="10477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Result</a:t>
            </a:r>
          </a:p>
        </p:txBody>
      </p:sp>
      <p:sp>
        <p:nvSpPr>
          <p:cNvPr id="12297" name="Arc 9">
            <a:extLst>
              <a:ext uri="{FF2B5EF4-FFF2-40B4-BE49-F238E27FC236}">
                <a16:creationId xmlns:a16="http://schemas.microsoft.com/office/drawing/2014/main" id="{1B53CABF-5587-64C8-C071-0936A9AA139A}"/>
              </a:ext>
            </a:extLst>
          </p:cNvPr>
          <p:cNvSpPr>
            <a:spLocks/>
          </p:cNvSpPr>
          <p:nvPr/>
        </p:nvSpPr>
        <p:spPr bwMode="auto">
          <a:xfrm>
            <a:off x="950913" y="619125"/>
            <a:ext cx="1163637" cy="704850"/>
          </a:xfrm>
          <a:custGeom>
            <a:avLst/>
            <a:gdLst>
              <a:gd name="G0" fmla="+- 30 0 0"/>
              <a:gd name="G1" fmla="+- 21600 0 0"/>
              <a:gd name="G2" fmla="+- 21600 0 0"/>
              <a:gd name="T0" fmla="*/ 0 w 21630"/>
              <a:gd name="T1" fmla="*/ 0 h 21600"/>
              <a:gd name="T2" fmla="*/ 21630 w 21630"/>
              <a:gd name="T3" fmla="*/ 21600 h 21600"/>
              <a:gd name="T4" fmla="*/ 30 w 21630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30" h="21600" fill="none" extrusionOk="0">
                <a:moveTo>
                  <a:pt x="0" y="0"/>
                </a:moveTo>
                <a:cubicBezTo>
                  <a:pt x="10" y="0"/>
                  <a:pt x="20" y="0"/>
                  <a:pt x="30" y="0"/>
                </a:cubicBezTo>
                <a:cubicBezTo>
                  <a:pt x="11959" y="0"/>
                  <a:pt x="21630" y="9670"/>
                  <a:pt x="21630" y="21600"/>
                </a:cubicBezTo>
              </a:path>
              <a:path w="21630" h="21600" stroke="0" extrusionOk="0">
                <a:moveTo>
                  <a:pt x="0" y="0"/>
                </a:moveTo>
                <a:cubicBezTo>
                  <a:pt x="10" y="0"/>
                  <a:pt x="20" y="0"/>
                  <a:pt x="30" y="0"/>
                </a:cubicBezTo>
                <a:cubicBezTo>
                  <a:pt x="11959" y="0"/>
                  <a:pt x="21630" y="9670"/>
                  <a:pt x="21630" y="21600"/>
                </a:cubicBezTo>
                <a:lnTo>
                  <a:pt x="30" y="21600"/>
                </a:lnTo>
                <a:close/>
              </a:path>
            </a:pathLst>
          </a:custGeom>
          <a:noFill/>
          <a:ln w="25400" cap="rnd">
            <a:solidFill>
              <a:srgbClr val="CC0000"/>
            </a:solidFill>
            <a:round/>
            <a:headEnd type="none" w="sm" len="sm"/>
            <a:tailEnd type="stealth" w="med" len="med"/>
          </a:ln>
          <a:effectLst>
            <a:outerShdw dist="35921" dir="2700000" algn="ctr" rotWithShape="0">
              <a:schemeClr val="folHlink">
                <a:alpha val="5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298" name="Arc 10">
            <a:extLst>
              <a:ext uri="{FF2B5EF4-FFF2-40B4-BE49-F238E27FC236}">
                <a16:creationId xmlns:a16="http://schemas.microsoft.com/office/drawing/2014/main" id="{4FC6CE6E-C7C3-AFB7-7058-82102548AD05}"/>
              </a:ext>
            </a:extLst>
          </p:cNvPr>
          <p:cNvSpPr>
            <a:spLocks/>
          </p:cNvSpPr>
          <p:nvPr/>
        </p:nvSpPr>
        <p:spPr bwMode="auto">
          <a:xfrm>
            <a:off x="1028700" y="1819275"/>
            <a:ext cx="1104900" cy="1028700"/>
          </a:xfrm>
          <a:custGeom>
            <a:avLst/>
            <a:gdLst>
              <a:gd name="G0" fmla="+- 0 0 0"/>
              <a:gd name="G1" fmla="+- 0 0 0"/>
              <a:gd name="G2" fmla="+- 21600 0 0"/>
              <a:gd name="T0" fmla="*/ 21600 w 21600"/>
              <a:gd name="T1" fmla="*/ 0 h 21600"/>
              <a:gd name="T2" fmla="*/ 0 w 21600"/>
              <a:gd name="T3" fmla="*/ 21600 h 21600"/>
              <a:gd name="T4" fmla="*/ 0 w 21600"/>
              <a:gd name="T5" fmla="*/ 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0"/>
                </a:moveTo>
                <a:cubicBezTo>
                  <a:pt x="21600" y="11929"/>
                  <a:pt x="11929" y="21599"/>
                  <a:pt x="0" y="21599"/>
                </a:cubicBezTo>
              </a:path>
              <a:path w="21600" h="21600" stroke="0" extrusionOk="0">
                <a:moveTo>
                  <a:pt x="21600" y="0"/>
                </a:moveTo>
                <a:cubicBezTo>
                  <a:pt x="21600" y="11929"/>
                  <a:pt x="11929" y="21599"/>
                  <a:pt x="0" y="21599"/>
                </a:cubicBezTo>
                <a:lnTo>
                  <a:pt x="0" y="0"/>
                </a:lnTo>
                <a:close/>
              </a:path>
            </a:pathLst>
          </a:custGeom>
          <a:noFill/>
          <a:ln w="25400" cap="rnd">
            <a:solidFill>
              <a:srgbClr val="CC0000"/>
            </a:solidFill>
            <a:round/>
            <a:headEnd type="stealth" w="med" len="med"/>
            <a:tailEnd type="none" w="sm" len="sm"/>
          </a:ln>
          <a:effectLst>
            <a:outerShdw dist="35921" dir="2700000" algn="ctr" rotWithShape="0">
              <a:schemeClr val="folHlink">
                <a:alpha val="5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299" name="Line 11">
            <a:extLst>
              <a:ext uri="{FF2B5EF4-FFF2-40B4-BE49-F238E27FC236}">
                <a16:creationId xmlns:a16="http://schemas.microsoft.com/office/drawing/2014/main" id="{18D69707-DE75-A7AE-3B89-2B4B5E0C8A46}"/>
              </a:ext>
            </a:extLst>
          </p:cNvPr>
          <p:cNvSpPr>
            <a:spLocks noChangeShapeType="1"/>
          </p:cNvSpPr>
          <p:nvPr/>
        </p:nvSpPr>
        <p:spPr bwMode="auto">
          <a:xfrm>
            <a:off x="3009900" y="1552575"/>
            <a:ext cx="723900" cy="0"/>
          </a:xfrm>
          <a:prstGeom prst="line">
            <a:avLst/>
          </a:prstGeom>
          <a:noFill/>
          <a:ln w="25400">
            <a:solidFill>
              <a:srgbClr val="CC0000"/>
            </a:solidFill>
            <a:round/>
            <a:headEnd type="none" w="sm" len="sm"/>
            <a:tailEnd type="stealth" w="med" len="med"/>
          </a:ln>
          <a:effectLst>
            <a:outerShdw dist="35921" dir="2700000" algn="ctr" rotWithShape="0">
              <a:schemeClr val="folHlink">
                <a:alpha val="5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lank Pre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>
          <a:outerShdw dist="53882" dir="2700000" algn="ctr" rotWithShape="0">
            <a:schemeClr val="folHlink">
              <a:alpha val="50000"/>
            </a:schemeClr>
          </a:outerShdw>
        </a:effec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rgbClr val="009900"/>
            </a:solidFill>
            <a:effectLst/>
            <a:latin typeface="Times New Roman" panose="02020603050405020304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>
          <a:outerShdw dist="53882" dir="2700000" algn="ctr" rotWithShape="0">
            <a:schemeClr val="folHlink">
              <a:alpha val="50000"/>
            </a:schemeClr>
          </a:outerShdw>
        </a:effec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rgbClr val="009900"/>
            </a:solidFill>
            <a:effectLst/>
            <a:latin typeface="Times New Roman" panose="02020603050405020304" pitchFamily="18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2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3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4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5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6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7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8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9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10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E:\MSOffice\Templates\Blank Presentation.pot</Template>
  <TotalTime>2803</TotalTime>
  <Words>827</Words>
  <Application>Microsoft Office PowerPoint</Application>
  <PresentationFormat>Custom</PresentationFormat>
  <Paragraphs>380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Times New Roman</vt:lpstr>
      <vt:lpstr>Courier New</vt:lpstr>
      <vt:lpstr>Blank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>Michael Coughlan</dc:creator>
  <cp:lastModifiedBy>Sean McBride</cp:lastModifiedBy>
  <cp:revision>39</cp:revision>
  <dcterms:created xsi:type="dcterms:W3CDTF">1995-06-17T23:31:02Z</dcterms:created>
  <dcterms:modified xsi:type="dcterms:W3CDTF">2026-05-13T01:06:58Z</dcterms:modified>
</cp:coreProperties>
</file>