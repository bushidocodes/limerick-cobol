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4762500" cy="3810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762440" cy="380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9360" y="19080"/>
            <a:ext cx="4743360" cy="37861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905040" y="517680"/>
            <a:ext cx="2933640" cy="225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Adding records to an ordered Sequential 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Click to view.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viewing , left click (or press the Page Up key) to see the next frame and right click (or press Page Down)  to see the previous frame.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1258920" y="24624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OPEN INPUT TF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OPEN INPUT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OPEN OUTPUT NF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TF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AT END SET EndTF TO 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AT END SET EndMF TO 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etc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859040" y="90360"/>
            <a:ext cx="843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PROGRAM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1419120" y="56988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333440" y="39528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422360" y="9795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336680" y="81432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422360" y="139860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336680" y="123336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9360" y="245736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9360" y="47628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3867120" y="380880"/>
            <a:ext cx="779400" cy="2476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3762360" y="43812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 txBox="1"/>
          <p:nvPr/>
        </p:nvSpPr>
        <p:spPr>
          <a:xfrm>
            <a:off x="1258920" y="7632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OPEN INPUT TF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OPEN INPUT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OPEN OUTPUT NF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READ TF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AT END SET EndTF TO 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READ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AT END SET EndMF TO 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etc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3867120" y="380880"/>
            <a:ext cx="779400" cy="2476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9360" y="262872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9360" y="62856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3762360" y="43812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837720" y="399960"/>
            <a:ext cx="629640" cy="210240"/>
          </a:xfrm>
          <a:custGeom>
            <a:avLst/>
            <a:gdLst/>
            <a:ahLst/>
            <a:rect l="0" t="0" r="r" b="b"/>
            <a:pathLst>
              <a:path fill="none" w="1749" h="584">
                <a:moveTo>
                  <a:pt x="1749" y="584"/>
                </a:moveTo>
                <a:lnTo>
                  <a:pt x="1749" y="584"/>
                </a:lnTo>
                <a:lnTo>
                  <a:pt x="1749" y="583"/>
                </a:lnTo>
                <a:cubicBezTo>
                  <a:pt x="1749" y="481"/>
                  <a:pt x="1706" y="381"/>
                  <a:pt x="1625" y="292"/>
                </a:cubicBezTo>
                <a:cubicBezTo>
                  <a:pt x="1545" y="203"/>
                  <a:pt x="1428" y="130"/>
                  <a:pt x="1288" y="79"/>
                </a:cubicBezTo>
                <a:cubicBezTo>
                  <a:pt x="1148" y="27"/>
                  <a:pt x="989" y="0"/>
                  <a:pt x="827" y="0"/>
                </a:cubicBezTo>
                <a:cubicBezTo>
                  <a:pt x="665" y="0"/>
                  <a:pt x="506" y="27"/>
                  <a:pt x="366" y="79"/>
                </a:cubicBezTo>
                <a:cubicBezTo>
                  <a:pt x="226" y="130"/>
                  <a:pt x="109" y="203"/>
                  <a:pt x="28" y="292"/>
                </a:cubicBezTo>
                <a:cubicBezTo>
                  <a:pt x="18" y="303"/>
                  <a:pt x="9" y="314"/>
                  <a:pt x="0" y="326"/>
                </a:cubicBezTo>
              </a:path>
            </a:pathLst>
          </a:custGeom>
          <a:ln w="12600">
            <a:solidFill>
              <a:srgbClr val="CC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495360" y="933480"/>
            <a:ext cx="952920" cy="1524240"/>
          </a:xfrm>
          <a:custGeom>
            <a:avLst/>
            <a:gdLst/>
            <a:ahLst/>
            <a:rect l="0" t="0" r="r" b="b"/>
            <a:pathLst>
              <a:path fill="none" w="2647" h="4234">
                <a:moveTo>
                  <a:pt x="2647" y="0"/>
                </a:moveTo>
                <a:lnTo>
                  <a:pt x="2647" y="0"/>
                </a:lnTo>
                <a:cubicBezTo>
                  <a:pt x="2182" y="0"/>
                  <a:pt x="1726" y="196"/>
                  <a:pt x="1323" y="567"/>
                </a:cubicBezTo>
                <a:cubicBezTo>
                  <a:pt x="921" y="939"/>
                  <a:pt x="587" y="1473"/>
                  <a:pt x="355" y="2117"/>
                </a:cubicBezTo>
                <a:cubicBezTo>
                  <a:pt x="122" y="2761"/>
                  <a:pt x="0" y="3491"/>
                  <a:pt x="0" y="4234"/>
                </a:cubicBezTo>
              </a:path>
            </a:pathLst>
          </a:custGeom>
          <a:ln w="12600">
            <a:solidFill>
              <a:srgbClr val="CC00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1258920" y="8568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  IF TFKey &lt;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MOVE TFRec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TF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ELSE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IF TFKey &gt;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  MOVE MFRec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MF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3867120" y="380880"/>
            <a:ext cx="779400" cy="3222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2143800" y="905040"/>
            <a:ext cx="264960" cy="399960"/>
          </a:xfrm>
          <a:custGeom>
            <a:avLst/>
            <a:gdLst/>
            <a:ahLst/>
            <a:rect l="0" t="0" r="r" b="b"/>
            <a:pathLst>
              <a:path fill="none" w="736" h="1111">
                <a:moveTo>
                  <a:pt x="0" y="1104"/>
                </a:moveTo>
                <a:lnTo>
                  <a:pt x="0" y="1104"/>
                </a:lnTo>
                <a:cubicBezTo>
                  <a:pt x="33" y="1109"/>
                  <a:pt x="67" y="1111"/>
                  <a:pt x="101" y="1111"/>
                </a:cubicBezTo>
                <a:cubicBezTo>
                  <a:pt x="212" y="1111"/>
                  <a:pt x="322" y="1085"/>
                  <a:pt x="419" y="1037"/>
                </a:cubicBezTo>
                <a:cubicBezTo>
                  <a:pt x="515" y="988"/>
                  <a:pt x="595" y="918"/>
                  <a:pt x="651" y="833"/>
                </a:cubicBezTo>
                <a:cubicBezTo>
                  <a:pt x="707" y="749"/>
                  <a:pt x="736" y="653"/>
                  <a:pt x="736" y="555"/>
                </a:cubicBezTo>
                <a:cubicBezTo>
                  <a:pt x="736" y="458"/>
                  <a:pt x="707" y="362"/>
                  <a:pt x="651" y="278"/>
                </a:cubicBezTo>
                <a:cubicBezTo>
                  <a:pt x="595" y="193"/>
                  <a:pt x="515" y="123"/>
                  <a:pt x="419" y="74"/>
                </a:cubicBezTo>
                <a:cubicBezTo>
                  <a:pt x="323" y="26"/>
                  <a:pt x="215" y="1"/>
                  <a:pt x="104" y="0"/>
                </a:cubicBezTo>
              </a:path>
            </a:pathLst>
          </a:custGeom>
          <a:ln w="12600">
            <a:solidFill>
              <a:srgbClr val="CC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2162160" y="600120"/>
            <a:ext cx="2019600" cy="752760"/>
          </a:xfrm>
          <a:custGeom>
            <a:avLst/>
            <a:gdLst/>
            <a:ahLst/>
            <a:rect l="0" t="0" r="r" b="b"/>
            <a:pathLst>
              <a:path fill="none" w="5610" h="2091">
                <a:moveTo>
                  <a:pt x="0" y="2091"/>
                </a:moveTo>
                <a:lnTo>
                  <a:pt x="0" y="2091"/>
                </a:lnTo>
                <a:cubicBezTo>
                  <a:pt x="985" y="2091"/>
                  <a:pt x="1952" y="1994"/>
                  <a:pt x="2805" y="1811"/>
                </a:cubicBezTo>
                <a:cubicBezTo>
                  <a:pt x="3658" y="1627"/>
                  <a:pt x="4366" y="1363"/>
                  <a:pt x="4858" y="1045"/>
                </a:cubicBezTo>
                <a:cubicBezTo>
                  <a:pt x="5351" y="728"/>
                  <a:pt x="5610" y="367"/>
                  <a:pt x="5610" y="0"/>
                </a:cubicBezTo>
              </a:path>
            </a:pathLst>
          </a:custGeom>
          <a:ln w="12600">
            <a:solidFill>
              <a:srgbClr val="CC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9360" y="262872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360" y="62856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3781440" y="66672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218040" y="2106720"/>
            <a:ext cx="1523880" cy="156060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  <a:spcBef>
                <a:spcPts val="720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If the  MFkey is less than the TFkey, then the master file record must come before the transaction file record so we write the master file record to the new file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867120" y="380880"/>
            <a:ext cx="779400" cy="3222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9360" y="281952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9360" y="62856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3781440" y="66672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1258920" y="8568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  IF TFKey &lt;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MOVE TFRec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TF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IF TFKey &gt;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MOVE MFRec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  READ MF </a:t>
            </a:r>
            <a:r>
              <a:rPr lang="en-US" sz="1000" b="0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571680" y="914400"/>
            <a:ext cx="876600" cy="1715040"/>
          </a:xfrm>
          <a:custGeom>
            <a:avLst/>
            <a:gdLst/>
            <a:ahLst/>
            <a:rect l="0" t="0" r="r" b="b"/>
            <a:pathLst>
              <a:path fill="none" w="2435" h="4764">
                <a:moveTo>
                  <a:pt x="2435" y="0"/>
                </a:moveTo>
                <a:lnTo>
                  <a:pt x="2435" y="0"/>
                </a:lnTo>
                <a:cubicBezTo>
                  <a:pt x="2008" y="0"/>
                  <a:pt x="1588" y="220"/>
                  <a:pt x="1217" y="638"/>
                </a:cubicBezTo>
                <a:cubicBezTo>
                  <a:pt x="847" y="1056"/>
                  <a:pt x="540" y="1658"/>
                  <a:pt x="326" y="2382"/>
                </a:cubicBezTo>
                <a:cubicBezTo>
                  <a:pt x="113" y="3106"/>
                  <a:pt x="0" y="3928"/>
                  <a:pt x="0" y="4764"/>
                </a:cubicBezTo>
              </a:path>
            </a:pathLst>
          </a:custGeom>
          <a:ln w="12600">
            <a:solidFill>
              <a:srgbClr val="CC00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218040" y="2416320"/>
            <a:ext cx="1523880" cy="81900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  <a:spcBef>
                <a:spcPts val="720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 have processed the master file record so we need to get another one.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3867120" y="380880"/>
            <a:ext cx="779400" cy="687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9360" y="62856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3781440" y="85716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9360" y="281952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258920" y="8568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  IF TFKey &lt;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MOVE TFRec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TF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ELSE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IF TFKey &gt;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  MOVE MFRec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MF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2143800" y="905040"/>
            <a:ext cx="264960" cy="399960"/>
          </a:xfrm>
          <a:custGeom>
            <a:avLst/>
            <a:gdLst/>
            <a:ahLst/>
            <a:rect l="0" t="0" r="r" b="b"/>
            <a:pathLst>
              <a:path fill="none" w="736" h="1111">
                <a:moveTo>
                  <a:pt x="0" y="1104"/>
                </a:moveTo>
                <a:lnTo>
                  <a:pt x="0" y="1104"/>
                </a:lnTo>
                <a:cubicBezTo>
                  <a:pt x="33" y="1109"/>
                  <a:pt x="67" y="1111"/>
                  <a:pt x="101" y="1111"/>
                </a:cubicBezTo>
                <a:cubicBezTo>
                  <a:pt x="212" y="1111"/>
                  <a:pt x="322" y="1085"/>
                  <a:pt x="419" y="1037"/>
                </a:cubicBezTo>
                <a:cubicBezTo>
                  <a:pt x="515" y="988"/>
                  <a:pt x="595" y="918"/>
                  <a:pt x="651" y="833"/>
                </a:cubicBezTo>
                <a:cubicBezTo>
                  <a:pt x="707" y="749"/>
                  <a:pt x="736" y="653"/>
                  <a:pt x="736" y="555"/>
                </a:cubicBezTo>
                <a:cubicBezTo>
                  <a:pt x="736" y="458"/>
                  <a:pt x="707" y="362"/>
                  <a:pt x="651" y="278"/>
                </a:cubicBezTo>
                <a:cubicBezTo>
                  <a:pt x="595" y="193"/>
                  <a:pt x="515" y="123"/>
                  <a:pt x="419" y="74"/>
                </a:cubicBezTo>
                <a:cubicBezTo>
                  <a:pt x="323" y="26"/>
                  <a:pt x="215" y="1"/>
                  <a:pt x="104" y="0"/>
                </a:cubicBezTo>
              </a:path>
            </a:pathLst>
          </a:custGeom>
          <a:ln w="12600">
            <a:solidFill>
              <a:srgbClr val="CC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2181240" y="800640"/>
            <a:ext cx="2067120" cy="580680"/>
          </a:xfrm>
          <a:custGeom>
            <a:avLst/>
            <a:gdLst/>
            <a:ahLst/>
            <a:rect l="0" t="0" r="r" b="b"/>
            <a:pathLst>
              <a:path fill="none" w="5742" h="1613">
                <a:moveTo>
                  <a:pt x="0" y="1613"/>
                </a:moveTo>
                <a:lnTo>
                  <a:pt x="0" y="1613"/>
                </a:lnTo>
                <a:lnTo>
                  <a:pt x="0" y="1613"/>
                </a:lnTo>
                <a:cubicBezTo>
                  <a:pt x="1008" y="1613"/>
                  <a:pt x="1998" y="1544"/>
                  <a:pt x="2871" y="1413"/>
                </a:cubicBezTo>
                <a:cubicBezTo>
                  <a:pt x="3744" y="1282"/>
                  <a:pt x="4469" y="1094"/>
                  <a:pt x="4973" y="868"/>
                </a:cubicBezTo>
                <a:cubicBezTo>
                  <a:pt x="5477" y="641"/>
                  <a:pt x="5742" y="384"/>
                  <a:pt x="5742" y="122"/>
                </a:cubicBezTo>
                <a:cubicBezTo>
                  <a:pt x="5742" y="81"/>
                  <a:pt x="5736" y="41"/>
                  <a:pt x="5723" y="0"/>
                </a:cubicBezTo>
              </a:path>
            </a:pathLst>
          </a:custGeom>
          <a:ln w="12600">
            <a:solidFill>
              <a:srgbClr val="CC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867120" y="380880"/>
            <a:ext cx="779400" cy="687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9360" y="62856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3781440" y="85716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9360" y="297180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258920" y="8568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  IF TFKey &lt;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MOVE TFRec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TF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IF TFKey &gt;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MOVE MFRec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  READ MF </a:t>
            </a:r>
            <a:r>
              <a:rPr lang="en-US" sz="1000" b="0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143800" y="905040"/>
            <a:ext cx="264960" cy="399960"/>
          </a:xfrm>
          <a:custGeom>
            <a:avLst/>
            <a:gdLst/>
            <a:ahLst/>
            <a:rect l="0" t="0" r="r" b="b"/>
            <a:pathLst>
              <a:path fill="none" w="736" h="1111">
                <a:moveTo>
                  <a:pt x="0" y="1104"/>
                </a:moveTo>
                <a:lnTo>
                  <a:pt x="0" y="1104"/>
                </a:lnTo>
                <a:cubicBezTo>
                  <a:pt x="33" y="1109"/>
                  <a:pt x="67" y="1111"/>
                  <a:pt x="101" y="1111"/>
                </a:cubicBezTo>
                <a:cubicBezTo>
                  <a:pt x="212" y="1111"/>
                  <a:pt x="322" y="1085"/>
                  <a:pt x="419" y="1037"/>
                </a:cubicBezTo>
                <a:cubicBezTo>
                  <a:pt x="515" y="988"/>
                  <a:pt x="595" y="918"/>
                  <a:pt x="651" y="833"/>
                </a:cubicBezTo>
                <a:cubicBezTo>
                  <a:pt x="707" y="749"/>
                  <a:pt x="736" y="653"/>
                  <a:pt x="736" y="555"/>
                </a:cubicBezTo>
                <a:cubicBezTo>
                  <a:pt x="736" y="458"/>
                  <a:pt x="707" y="362"/>
                  <a:pt x="651" y="278"/>
                </a:cubicBezTo>
                <a:cubicBezTo>
                  <a:pt x="595" y="193"/>
                  <a:pt x="515" y="123"/>
                  <a:pt x="419" y="74"/>
                </a:cubicBezTo>
                <a:cubicBezTo>
                  <a:pt x="323" y="26"/>
                  <a:pt x="215" y="1"/>
                  <a:pt x="104" y="0"/>
                </a:cubicBezTo>
              </a:path>
            </a:pathLst>
          </a:custGeom>
          <a:ln w="12600">
            <a:solidFill>
              <a:srgbClr val="CC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38120" y="905040"/>
            <a:ext cx="1010160" cy="1905480"/>
          </a:xfrm>
          <a:custGeom>
            <a:avLst/>
            <a:gdLst/>
            <a:ahLst/>
            <a:rect l="0" t="0" r="r" b="b"/>
            <a:pathLst>
              <a:path fill="none" w="2806" h="5293">
                <a:moveTo>
                  <a:pt x="2806" y="0"/>
                </a:moveTo>
                <a:lnTo>
                  <a:pt x="2806" y="0"/>
                </a:lnTo>
                <a:cubicBezTo>
                  <a:pt x="2313" y="0"/>
                  <a:pt x="1830" y="245"/>
                  <a:pt x="1403" y="709"/>
                </a:cubicBezTo>
                <a:cubicBezTo>
                  <a:pt x="976" y="1174"/>
                  <a:pt x="622" y="1842"/>
                  <a:pt x="376" y="2647"/>
                </a:cubicBezTo>
                <a:cubicBezTo>
                  <a:pt x="130" y="3451"/>
                  <a:pt x="0" y="4364"/>
                  <a:pt x="0" y="5293"/>
                </a:cubicBezTo>
              </a:path>
            </a:pathLst>
          </a:custGeom>
          <a:ln w="12600">
            <a:solidFill>
              <a:srgbClr val="CC00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3867120" y="380880"/>
            <a:ext cx="779400" cy="8701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9360" y="62856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3800520" y="104760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9360" y="297180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258920" y="8568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  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IF TFKey &lt;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MOVE TFRec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TF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IF TFKey &gt;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MOVE MFRec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MF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2143800" y="504720"/>
            <a:ext cx="266400" cy="800640"/>
          </a:xfrm>
          <a:custGeom>
            <a:avLst/>
            <a:gdLst/>
            <a:ahLst/>
            <a:rect l="0" t="0" r="r" b="b"/>
            <a:pathLst>
              <a:path fill="none" w="740" h="2224">
                <a:moveTo>
                  <a:pt x="0" y="2209"/>
                </a:moveTo>
                <a:lnTo>
                  <a:pt x="0" y="2209"/>
                </a:lnTo>
                <a:cubicBezTo>
                  <a:pt x="34" y="2219"/>
                  <a:pt x="69" y="2224"/>
                  <a:pt x="104" y="2224"/>
                </a:cubicBezTo>
                <a:cubicBezTo>
                  <a:pt x="216" y="2224"/>
                  <a:pt x="325" y="2173"/>
                  <a:pt x="422" y="2075"/>
                </a:cubicBezTo>
                <a:cubicBezTo>
                  <a:pt x="519" y="1977"/>
                  <a:pt x="599" y="1837"/>
                  <a:pt x="655" y="1668"/>
                </a:cubicBezTo>
                <a:cubicBezTo>
                  <a:pt x="711" y="1499"/>
                  <a:pt x="740" y="1307"/>
                  <a:pt x="740" y="1112"/>
                </a:cubicBezTo>
                <a:cubicBezTo>
                  <a:pt x="740" y="917"/>
                  <a:pt x="711" y="725"/>
                  <a:pt x="655" y="556"/>
                </a:cubicBezTo>
                <a:cubicBezTo>
                  <a:pt x="599" y="387"/>
                  <a:pt x="519" y="247"/>
                  <a:pt x="422" y="149"/>
                </a:cubicBezTo>
                <a:cubicBezTo>
                  <a:pt x="325" y="51"/>
                  <a:pt x="216" y="0"/>
                  <a:pt x="104" y="0"/>
                </a:cubicBezTo>
              </a:path>
            </a:pathLst>
          </a:custGeom>
          <a:ln w="12600">
            <a:solidFill>
              <a:srgbClr val="CC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2169000" y="998640"/>
            <a:ext cx="2060280" cy="573120"/>
          </a:xfrm>
          <a:custGeom>
            <a:avLst/>
            <a:gdLst/>
            <a:ahLst/>
            <a:rect l="0" t="0" r="r" b="b"/>
            <a:pathLst>
              <a:path fill="none" w="5723" h="1592">
                <a:moveTo>
                  <a:pt x="0" y="1060"/>
                </a:moveTo>
                <a:lnTo>
                  <a:pt x="0" y="1060"/>
                </a:lnTo>
                <a:cubicBezTo>
                  <a:pt x="250" y="1198"/>
                  <a:pt x="557" y="1314"/>
                  <a:pt x="904" y="1402"/>
                </a:cubicBezTo>
                <a:cubicBezTo>
                  <a:pt x="1392" y="1527"/>
                  <a:pt x="1946" y="1592"/>
                  <a:pt x="2510" y="1592"/>
                </a:cubicBezTo>
                <a:cubicBezTo>
                  <a:pt x="3074" y="1592"/>
                  <a:pt x="3628" y="1527"/>
                  <a:pt x="4117" y="1402"/>
                </a:cubicBezTo>
                <a:cubicBezTo>
                  <a:pt x="4605" y="1278"/>
                  <a:pt x="5011" y="1099"/>
                  <a:pt x="5293" y="884"/>
                </a:cubicBezTo>
                <a:cubicBezTo>
                  <a:pt x="5575" y="669"/>
                  <a:pt x="5723" y="425"/>
                  <a:pt x="5723" y="176"/>
                </a:cubicBezTo>
                <a:cubicBezTo>
                  <a:pt x="5723" y="117"/>
                  <a:pt x="5715" y="58"/>
                  <a:pt x="5698" y="0"/>
                </a:cubicBezTo>
              </a:path>
            </a:pathLst>
          </a:custGeom>
          <a:ln w="12600">
            <a:solidFill>
              <a:srgbClr val="CC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3218040" y="2106720"/>
            <a:ext cx="1523880" cy="156060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  <a:spcBef>
                <a:spcPts val="720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If the  TFkey is less than the MFkey, then the transaction file record must come before the master file record so we write the transaction file record to the new file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3867120" y="380880"/>
            <a:ext cx="779400" cy="8701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9360" y="80028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3800520" y="104760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9360" y="297180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258920" y="8568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  IF TFKey &lt;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MOVE TFRec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READ TF </a:t>
            </a:r>
            <a:r>
              <a:rPr lang="en-US" sz="1000" b="0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IF TFKey &gt;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MOVE MFRec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READ MF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847800" y="485640"/>
            <a:ext cx="590760" cy="171720"/>
          </a:xfrm>
          <a:custGeom>
            <a:avLst/>
            <a:gdLst/>
            <a:ahLst/>
            <a:rect l="0" t="0" r="r" b="b"/>
            <a:pathLst>
              <a:path fill="none" w="1641" h="477">
                <a:moveTo>
                  <a:pt x="1641" y="0"/>
                </a:moveTo>
                <a:lnTo>
                  <a:pt x="1641" y="0"/>
                </a:lnTo>
                <a:cubicBezTo>
                  <a:pt x="1353" y="0"/>
                  <a:pt x="1070" y="22"/>
                  <a:pt x="820" y="64"/>
                </a:cubicBezTo>
                <a:cubicBezTo>
                  <a:pt x="571" y="106"/>
                  <a:pt x="364" y="166"/>
                  <a:pt x="220" y="239"/>
                </a:cubicBezTo>
                <a:cubicBezTo>
                  <a:pt x="76" y="311"/>
                  <a:pt x="0" y="393"/>
                  <a:pt x="0" y="477"/>
                </a:cubicBezTo>
              </a:path>
            </a:pathLst>
          </a:custGeom>
          <a:ln w="12600">
            <a:solidFill>
              <a:srgbClr val="CC00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3867120" y="3808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965240" y="1327320"/>
            <a:ext cx="104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9900"/>
                </a:solidFill>
                <a:effectLst/>
                <a:uFillTx/>
                <a:latin typeface="Arial"/>
                <a:ea typeface="Arial"/>
              </a:rPr>
              <a:t>Result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952560" y="619200"/>
            <a:ext cx="1162440" cy="705240"/>
          </a:xfrm>
          <a:custGeom>
            <a:avLst/>
            <a:gdLst/>
            <a:ahLst/>
            <a:rect l="0" t="0" r="r" b="b"/>
            <a:pathLst>
              <a:path fill="none" w="3229" h="1959">
                <a:moveTo>
                  <a:pt x="3229" y="1959"/>
                </a:moveTo>
                <a:lnTo>
                  <a:pt x="3229" y="1959"/>
                </a:lnTo>
                <a:lnTo>
                  <a:pt x="3229" y="1959"/>
                </a:lnTo>
                <a:cubicBezTo>
                  <a:pt x="3229" y="1615"/>
                  <a:pt x="3080" y="1277"/>
                  <a:pt x="2796" y="979"/>
                </a:cubicBezTo>
                <a:cubicBezTo>
                  <a:pt x="2513" y="682"/>
                  <a:pt x="2105" y="434"/>
                  <a:pt x="1614" y="262"/>
                </a:cubicBezTo>
                <a:cubicBezTo>
                  <a:pt x="1124" y="91"/>
                  <a:pt x="567" y="0"/>
                  <a:pt x="0" y="0"/>
                </a:cubicBezTo>
              </a:path>
            </a:pathLst>
          </a:custGeom>
          <a:ln w="25560">
            <a:solidFill>
              <a:srgbClr val="CC0000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1028880" y="1819440"/>
            <a:ext cx="1105200" cy="1029240"/>
          </a:xfrm>
          <a:custGeom>
            <a:avLst/>
            <a:gdLst/>
            <a:ahLst/>
            <a:rect l="0" t="0" r="r" b="b"/>
            <a:pathLst>
              <a:path fill="none" w="3070" h="2859">
                <a:moveTo>
                  <a:pt x="0" y="2859"/>
                </a:moveTo>
                <a:lnTo>
                  <a:pt x="0" y="2859"/>
                </a:lnTo>
                <a:cubicBezTo>
                  <a:pt x="539" y="2859"/>
                  <a:pt x="1068" y="2727"/>
                  <a:pt x="1535" y="2476"/>
                </a:cubicBezTo>
                <a:cubicBezTo>
                  <a:pt x="2002" y="2225"/>
                  <a:pt x="2389" y="1864"/>
                  <a:pt x="2659" y="1429"/>
                </a:cubicBezTo>
                <a:cubicBezTo>
                  <a:pt x="2928" y="995"/>
                  <a:pt x="3070" y="502"/>
                  <a:pt x="3070" y="0"/>
                </a:cubicBezTo>
              </a:path>
            </a:pathLst>
          </a:custGeom>
          <a:ln w="25560">
            <a:solidFill>
              <a:srgbClr val="CC0000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3009960" y="1552680"/>
            <a:ext cx="723960" cy="0"/>
          </a:xfrm>
          <a:prstGeom prst="line">
            <a:avLst/>
          </a:prstGeom>
          <a:ln w="2556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