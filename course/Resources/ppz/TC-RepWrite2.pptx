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presProps.xml" ContentType="application/vnd.openxmlformats-officedocument.presentationml.pres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Lst>
  <p:sldSz cx="3886200" cy="525780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Master0">
    <p:spTree>
      <p:nvGrpSpPr>
        <p:cNvPr id="1" name=""/>
        <p:cNvGrpSpPr/>
        <p:nvPr/>
      </p:nvGrpSpPr>
      <p:grpSpPr>
        <a:xfrm>
          <a:off x="0" y="0"/>
          <a:ext cx="0" cy="0"/>
          <a:chOff x="0" y="0"/>
          <a:chExt cx="0" cy="0"/>
        </a:xfrm>
      </p:grpSpPr>
      <p:sp>
        <p:nvSpPr>
          <p:cNvPr id="5" name="PlaceHolder 1"/>
          <p:cNvSpPr>
            <a:spLocks noGrp="1"/>
          </p:cNvSpPr>
          <p:nvPr>
            <p:ph type="title"/>
          </p:nvPr>
        </p:nvSpPr>
        <p:spPr>
          <a:xfrm>
            <a:off x="194040" y="23400"/>
            <a:ext cx="3497040" cy="12502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6" name="PlaceHolder 2"/>
          <p:cNvSpPr>
            <a:spLocks noGrp="1"/>
          </p:cNvSpPr>
          <p:nvPr>
            <p:ph type="subTitle"/>
          </p:nvPr>
        </p:nvSpPr>
        <p:spPr>
          <a:xfrm>
            <a:off x="194040" y="1230120"/>
            <a:ext cx="3497040" cy="304884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0">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
          <p:cNvSpPr/>
          <p:nvPr/>
        </p:nvSpPr>
        <p:spPr>
          <a:xfrm>
            <a:off x="0" y="0"/>
            <a:ext cx="3886200" cy="5257800"/>
          </a:xfrm>
          <a:prstGeom prst="rect">
            <a:avLst/>
          </a:prstGeom>
          <a:solidFill>
            <a:srgbClr val="FFFFFF"/>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3" name="PlaceHolder 1"/>
          <p:cNvSpPr>
            <a:spLocks noGrp="1"/>
          </p:cNvSpPr>
          <p:nvPr>
            <p:ph type="title"/>
          </p:nvPr>
        </p:nvSpPr>
        <p:spPr>
          <a:xfrm>
            <a:off x="194040" y="209520"/>
            <a:ext cx="3497040" cy="87768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4" name="PlaceHolder 2"/>
          <p:cNvSpPr>
            <a:spLocks noGrp="1"/>
          </p:cNvSpPr>
          <p:nvPr>
            <p:ph type="body"/>
          </p:nvPr>
        </p:nvSpPr>
        <p:spPr>
          <a:xfrm>
            <a:off x="194040" y="1230120"/>
            <a:ext cx="3497040" cy="3048840"/>
          </a:xfrm>
          <a:prstGeom prst="rect">
            <a:avLst/>
          </a:prstGeom>
          <a:noFill/>
          <a:ln w="0">
            <a:noFill/>
          </a:ln>
        </p:spPr>
        <p:txBody>
          <a:bodyPr lIns="0" tIns="0" rIns="0" bIns="0" anchor="t">
            <a:normAutofit fontScale="70000" lnSpcReduction="19999"/>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 name=""/>
          <p:cNvSpPr txBox="1"/>
          <p:nvPr/>
        </p:nvSpPr>
        <p:spPr>
          <a:xfrm>
            <a:off x="0" y="142920"/>
            <a:ext cx="3811680" cy="4511520"/>
          </a:xfrm>
          <a:prstGeom prst="rect">
            <a:avLst/>
          </a:prstGeom>
          <a:noFill/>
          <a:ln w="0">
            <a:noFill/>
          </a:ln>
        </p:spPr>
        <p:txBody>
          <a:bodyPr lIns="0" tIns="0" rIns="0" bIns="0" anchor="t">
            <a:spAutoFit/>
          </a:bodyPr>
          <a:p>
            <a:pPr>
              <a:lnSpc>
                <a:spcPct val="75000"/>
              </a:lnSpc>
            </a:pPr>
            <a:r>
              <a:rPr lang="en-US" sz="800" b="0" u="none" strike="noStrike">
                <a:solidFill>
                  <a:srgbClr val="000000"/>
                </a:solidFill>
                <a:effectLst/>
                <a:uFillTx/>
                <a:latin typeface="Courier New"/>
                <a:ea typeface="Courier New"/>
              </a:rPr>
              <a:t>     $ SET SOURCEFORMAT"FREE"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IDENTIFICATION DIVISION.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PROGRAM-ID.  ReportExample2.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AUTHOR.  Michael Coughlan.</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ENVIRONMENT DIVISION.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INPUT-OUTPUT SECTION.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FILE-CONTROL.</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SELECT SalesFile ASSIGN TO "GBSALES.DAT"</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ORGANIZATION IS LINE SEQUENTIAL.</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SELECT PrintFile ASSIGN TO "SALESREPORT2.LPT".</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DATA DIVISION.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FILE SECTION.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FD  SalesFile.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SalesRecord.</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88 EndOfFile  VALUE HIGH-VALUES.</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CityCode         PIC 9.</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SalesPersonNum   PIC 9.</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ValueOfSale      PIC 9(4)V99.</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FD  PrintFile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REPORT IS SalesReport.</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WORKING-STORAGE SECTION.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NameTable.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TableValues.</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FILLER        PIC X(18) VALUE "Dublin   Belfast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FILLER        PIC X(18) VALUE "Cork     Galway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FILLER        PIC X(18) VALUE "Sligo    Waterford".</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FILLER        PIC X(9)  VALUE "Limerick".</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FILLER REDEFINES TableValues.</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CityName     PIC X(9) OCCURS 7 TIMES.</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REPORT SECTION.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RD  SalesReport</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CONTROLS ARE SalesPersonNum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PAGE LIMIT IS 66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HEADING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FIRST DETAIL 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LAST DETAIL 42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FOOTING 52.</a:t>
            </a:r>
            <a:endParaRPr lang="en-US" sz="800" b="0" u="none" strike="noStrike">
              <a:solidFill>
                <a:srgbClr val="000000"/>
              </a:solidFill>
              <a:effectLst/>
              <a:uFillTx/>
              <a:latin typeface="Arial"/>
            </a:endParaRPr>
          </a:p>
        </p:txBody>
      </p:sp>
      <p:sp>
        <p:nvSpPr>
          <p:cNvPr id="8" name=""/>
          <p:cNvSpPr txBox="1"/>
          <p:nvPr/>
        </p:nvSpPr>
        <p:spPr>
          <a:xfrm>
            <a:off x="2209680" y="152280"/>
            <a:ext cx="1514520" cy="752400"/>
          </a:xfrm>
          <a:prstGeom prst="rect">
            <a:avLst/>
          </a:prstGeom>
          <a:solidFill>
            <a:srgbClr val="FFFFCC"/>
          </a:solidFill>
          <a:ln w="12600">
            <a:solidFill>
              <a:srgbClr val="000000"/>
            </a:solidFill>
            <a:round/>
          </a:ln>
        </p:spPr>
        <p:txBody>
          <a:bodyPr lIns="0" tIns="0" rIns="0" bIns="0" anchor="t">
            <a:spAutoFit/>
          </a:bodyPr>
          <a:p>
            <a:pPr algn="ctr">
              <a:lnSpc>
                <a:spcPct val="85000"/>
              </a:lnSpc>
            </a:pP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Click to view the program commentary</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 name=""/>
          <p:cNvSpPr txBox="1"/>
          <p:nvPr/>
        </p:nvSpPr>
        <p:spPr>
          <a:xfrm>
            <a:off x="0" y="142920"/>
            <a:ext cx="3811680" cy="4511520"/>
          </a:xfrm>
          <a:prstGeom prst="rect">
            <a:avLst/>
          </a:prstGeom>
          <a:noFill/>
          <a:ln w="0">
            <a:noFill/>
          </a:ln>
        </p:spPr>
        <p:txBody>
          <a:bodyPr lIns="0" tIns="0" rIns="0" bIns="0" anchor="t">
            <a:spAutoFit/>
          </a:bodyPr>
          <a:p>
            <a:pPr>
              <a:lnSpc>
                <a:spcPct val="75000"/>
              </a:lnSpc>
            </a:pPr>
            <a:r>
              <a:rPr lang="en-US" sz="800" b="0" u="none" strike="noStrike">
                <a:solidFill>
                  <a:srgbClr val="000000"/>
                </a:solidFill>
                <a:effectLst/>
                <a:uFillTx/>
                <a:latin typeface="Courier New"/>
                <a:ea typeface="Courier New"/>
              </a:rPr>
              <a:t>     $ SET SOURCEFORMAT"FREE"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IDENTIFICATION DIVISION.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PROGRAM-ID.  ReportExample2.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AUTHOR.  Michael Coughlan.</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ENVIRONMENT DIVISION.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INPUT-OUTPUT SECTION.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FILE-CONTROL.</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SELECT SalesFile ASSIGN TO "GBSALES.DAT"</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ORGANIZATION IS LINE SEQUENTIAL.</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a:t>
            </a:r>
            <a:r>
              <a:rPr lang="en-US" sz="800" b="1" u="none" strike="noStrike">
                <a:solidFill>
                  <a:srgbClr val="CC0000"/>
                </a:solidFill>
                <a:effectLst/>
                <a:uFillTx/>
                <a:latin typeface="Courier New"/>
                <a:ea typeface="Courier New"/>
              </a:rPr>
              <a:t>SELECT PrintFile ASSIGN TO "SALESREPORT2.LPT"</a:t>
            </a:r>
            <a:r>
              <a:rPr lang="en-US" sz="800" b="1" u="none" strike="noStrike">
                <a:solidFill>
                  <a:srgbClr val="000000"/>
                </a:solidFill>
                <a:effectLst/>
                <a:uFillTx/>
                <a:latin typeface="Courier New"/>
                <a:ea typeface="Courier New"/>
              </a:rPr>
              <a:t>.</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DATA DIVISION.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FILE SECTION.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FD  SalesFile.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SalesRecord.</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88 EndOfFile  VALUE HIGH-VALUES.</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CityCode         PIC 9.</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SalesPersonNum   PIC 9.</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ValueOfSale      PIC 9(4)V99.</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1" u="none" strike="noStrike">
                <a:solidFill>
                  <a:srgbClr val="CC0000"/>
                </a:solidFill>
                <a:effectLst/>
                <a:uFillTx/>
                <a:latin typeface="Courier New"/>
                <a:ea typeface="Courier New"/>
              </a:rPr>
              <a:t>FD  PrintFile</a:t>
            </a:r>
            <a:endParaRPr lang="en-US" sz="800" b="0" u="none" strike="noStrike">
              <a:solidFill>
                <a:srgbClr val="000000"/>
              </a:solidFill>
              <a:effectLst/>
              <a:uFillTx/>
              <a:latin typeface="Arial"/>
            </a:endParaRPr>
          </a:p>
          <a:p>
            <a:pPr>
              <a:lnSpc>
                <a:spcPct val="75000"/>
              </a:lnSpc>
            </a:pPr>
            <a:r>
              <a:rPr lang="en-US" sz="800" b="1" u="none" strike="noStrike">
                <a:solidFill>
                  <a:srgbClr val="CC0000"/>
                </a:solidFill>
                <a:effectLst/>
                <a:uFillTx/>
                <a:latin typeface="Courier New"/>
                <a:ea typeface="Courier New"/>
              </a:rPr>
              <a:t>   REPORT IS SalesReport.</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WORKING-STORAGE SECTION.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NameTable.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TableValues.</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FILLER        PIC X(18) VALUE "Dublin   Belfast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FILLER        PIC X(18) VALUE "Cork     Galway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FILLER        PIC X(18) VALUE "Sligo    Waterford".</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FILLER        PIC X(9)  VALUE "Limerick".</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FILLER REDEFINES TableValues.</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CityName     PIC X(9) OCCURS 7 TIMES.</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REPORT SECTION.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RD  SalesReport</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CONTROLS ARE SalesPersonNum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PAGE LIMIT IS 66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HEADING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FIRST DETAIL 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LAST DETAIL 42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FOOTING 52.</a:t>
            </a:r>
            <a:endParaRPr lang="en-US" sz="800" b="0" u="none" strike="noStrike">
              <a:solidFill>
                <a:srgbClr val="000000"/>
              </a:solidFill>
              <a:effectLst/>
              <a:uFillTx/>
              <a:latin typeface="Arial"/>
            </a:endParaRPr>
          </a:p>
        </p:txBody>
      </p:sp>
      <p:grpSp>
        <p:nvGrpSpPr>
          <p:cNvPr id="10" name=""/>
          <p:cNvGrpSpPr/>
          <p:nvPr/>
        </p:nvGrpSpPr>
        <p:grpSpPr>
          <a:xfrm>
            <a:off x="936000" y="1133640"/>
            <a:ext cx="2846880" cy="1734840"/>
            <a:chOff x="936000" y="1133640"/>
            <a:chExt cx="2846880" cy="1734840"/>
          </a:xfrm>
        </p:grpSpPr>
        <p:sp>
          <p:nvSpPr>
            <p:cNvPr id="11" name=""/>
            <p:cNvSpPr txBox="1"/>
            <p:nvPr/>
          </p:nvSpPr>
          <p:spPr>
            <a:xfrm>
              <a:off x="2352600" y="1336680"/>
              <a:ext cx="1430280" cy="1441440"/>
            </a:xfrm>
            <a:prstGeom prst="rect">
              <a:avLst/>
            </a:prstGeom>
            <a:solidFill>
              <a:srgbClr val="FFFFCC"/>
            </a:solidFill>
            <a:ln w="12600">
              <a:solidFill>
                <a:srgbClr val="000000"/>
              </a:solidFill>
              <a:round/>
            </a:ln>
          </p:spPr>
          <p:txBody>
            <a:bodyPr lIns="0" tIns="0" rIns="0" bIns="0" anchor="t">
              <a:spAutoFit/>
            </a:bodyPr>
            <a:p>
              <a:pPr algn="ctr">
                <a:lnSpc>
                  <a:spcPct val="85000"/>
                </a:lnSpc>
              </a:pPr>
              <a:r>
                <a:rPr lang="en-US" sz="1000" b="0" u="none" strike="noStrike">
                  <a:solidFill>
                    <a:srgbClr val="000000"/>
                  </a:solidFill>
                  <a:effectLst/>
                  <a:uFillTx/>
                  <a:latin typeface="Times New Roman"/>
                  <a:ea typeface="Times New Roman"/>
                </a:rPr>
                <a:t>Just like ordinary print file, a Report Writer file must have a SELECT and ASSIGN entry in the FILE-CONTROL paragraph and a corresponding FD entry in the FILE SECTION. </a:t>
              </a:r>
              <a:endParaRPr lang="en-US" sz="1000" b="0" u="none" strike="noStrike">
                <a:solidFill>
                  <a:srgbClr val="000000"/>
                </a:solidFill>
                <a:effectLst/>
                <a:uFillTx/>
                <a:latin typeface="Arial"/>
              </a:endParaRPr>
            </a:p>
          </p:txBody>
        </p:sp>
        <p:sp>
          <p:nvSpPr>
            <p:cNvPr id="12" name=""/>
            <p:cNvSpPr/>
            <p:nvPr/>
          </p:nvSpPr>
          <p:spPr>
            <a:xfrm>
              <a:off x="3162240" y="1133640"/>
              <a:ext cx="572400" cy="848520"/>
            </a:xfrm>
            <a:custGeom>
              <a:avLst/>
              <a:gdLst/>
              <a:ahLst/>
              <a:rect l="0" t="0" r="r" b="b"/>
              <a:pathLst>
                <a:path fill="none" w="1590" h="2357">
                  <a:moveTo>
                    <a:pt x="1360" y="2357"/>
                  </a:moveTo>
                  <a:lnTo>
                    <a:pt x="1360" y="2357"/>
                  </a:lnTo>
                  <a:cubicBezTo>
                    <a:pt x="1365" y="2348"/>
                    <a:pt x="1371" y="2338"/>
                    <a:pt x="1377" y="2329"/>
                  </a:cubicBezTo>
                  <a:cubicBezTo>
                    <a:pt x="1516" y="2093"/>
                    <a:pt x="1590" y="1825"/>
                    <a:pt x="1590" y="1553"/>
                  </a:cubicBezTo>
                  <a:cubicBezTo>
                    <a:pt x="1590" y="1280"/>
                    <a:pt x="1516" y="1012"/>
                    <a:pt x="1377" y="776"/>
                  </a:cubicBezTo>
                  <a:cubicBezTo>
                    <a:pt x="1237" y="540"/>
                    <a:pt x="1037" y="344"/>
                    <a:pt x="795" y="208"/>
                  </a:cubicBezTo>
                  <a:cubicBezTo>
                    <a:pt x="553" y="72"/>
                    <a:pt x="279" y="0"/>
                    <a:pt x="1" y="0"/>
                  </a:cubicBezTo>
                  <a:cubicBezTo>
                    <a:pt x="0" y="0"/>
                    <a:pt x="0" y="0"/>
                    <a:pt x="0" y="0"/>
                  </a:cubicBezTo>
                </a:path>
              </a:pathLst>
            </a:custGeom>
            <a:ln w="12600">
              <a:solidFill>
                <a:srgbClr val="CC0000"/>
              </a:solidFill>
              <a:round/>
              <a:headEnd len="med" type="triangle" w="me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13" name=""/>
            <p:cNvSpPr/>
            <p:nvPr/>
          </p:nvSpPr>
          <p:spPr>
            <a:xfrm>
              <a:off x="936000" y="2456640"/>
              <a:ext cx="2170080" cy="411840"/>
            </a:xfrm>
            <a:custGeom>
              <a:avLst/>
              <a:gdLst/>
              <a:ahLst/>
              <a:rect l="0" t="0" r="r" b="b"/>
              <a:pathLst>
                <a:path fill="none" w="6028" h="1144">
                  <a:moveTo>
                    <a:pt x="0" y="184"/>
                  </a:moveTo>
                  <a:lnTo>
                    <a:pt x="0" y="184"/>
                  </a:lnTo>
                  <a:cubicBezTo>
                    <a:pt x="65" y="312"/>
                    <a:pt x="183" y="435"/>
                    <a:pt x="349" y="548"/>
                  </a:cubicBezTo>
                  <a:cubicBezTo>
                    <a:pt x="617" y="729"/>
                    <a:pt x="1001" y="879"/>
                    <a:pt x="1464" y="984"/>
                  </a:cubicBezTo>
                  <a:cubicBezTo>
                    <a:pt x="1927" y="1089"/>
                    <a:pt x="2452" y="1144"/>
                    <a:pt x="2986" y="1144"/>
                  </a:cubicBezTo>
                  <a:cubicBezTo>
                    <a:pt x="3520" y="1144"/>
                    <a:pt x="4045" y="1089"/>
                    <a:pt x="4508" y="984"/>
                  </a:cubicBezTo>
                  <a:cubicBezTo>
                    <a:pt x="4971" y="879"/>
                    <a:pt x="5355" y="729"/>
                    <a:pt x="5623" y="548"/>
                  </a:cubicBezTo>
                  <a:cubicBezTo>
                    <a:pt x="5869" y="381"/>
                    <a:pt x="6008" y="193"/>
                    <a:pt x="6028" y="0"/>
                  </a:cubicBezTo>
                </a:path>
              </a:pathLst>
            </a:custGeom>
            <a:ln w="12600">
              <a:solidFill>
                <a:srgbClr val="CC0000"/>
              </a:solidFill>
              <a:round/>
              <a:tailEnd len="med" type="triangle" w="med"/>
            </a:ln>
          </p:spPr>
          <p:txBody>
            <a:bodyPr lIns="96120" tIns="51120" rIns="96120" bIns="51120" anchor="t">
              <a:noAutofit/>
            </a:bodyPr>
            <a:p>
              <a:endParaRPr lang="en-US" sz="1800" b="0" u="none" strike="noStrike">
                <a:solidFill>
                  <a:srgbClr val="000000"/>
                </a:solidFill>
                <a:effectLst/>
                <a:uFillTx/>
                <a:latin typeface="Arial"/>
              </a:endParaRPr>
            </a:p>
          </p:txBody>
        </p:sp>
      </p:grpSp>
      <p:sp>
        <p:nvSpPr>
          <p:cNvPr id="14" name=""/>
          <p:cNvSpPr txBox="1"/>
          <p:nvPr/>
        </p:nvSpPr>
        <p:spPr>
          <a:xfrm>
            <a:off x="2330280" y="1309680"/>
            <a:ext cx="1527120" cy="1538280"/>
          </a:xfrm>
          <a:prstGeom prst="rect">
            <a:avLst/>
          </a:prstGeom>
          <a:solidFill>
            <a:srgbClr val="FFFFCC"/>
          </a:solidFill>
          <a:ln w="12600">
            <a:solidFill>
              <a:srgbClr val="000000"/>
            </a:solidFill>
            <a:round/>
          </a:ln>
        </p:spPr>
        <p:txBody>
          <a:bodyPr lIns="0" tIns="0" rIns="0" bIns="0" anchor="t">
            <a:spAutoFit/>
          </a:bodyPr>
          <a:p>
            <a:pPr algn="ctr">
              <a:lnSpc>
                <a:spcPct val="85000"/>
              </a:lnSpc>
            </a:pPr>
            <a:r>
              <a:rPr lang="en-US" sz="1000" b="0" u="none" strike="noStrike">
                <a:solidFill>
                  <a:srgbClr val="000000"/>
                </a:solidFill>
                <a:effectLst/>
                <a:uFillTx/>
                <a:latin typeface="Times New Roman"/>
                <a:ea typeface="Times New Roman"/>
              </a:rPr>
              <a:t>The FD entry of an ordinary print file would be followed by a record description of the print line  such as - </a:t>
            </a:r>
            <a:endParaRPr lang="en-US" sz="1000" b="0" u="none" strike="noStrike">
              <a:solidFill>
                <a:srgbClr val="000000"/>
              </a:solidFill>
              <a:effectLst/>
              <a:uFillTx/>
              <a:latin typeface="Arial"/>
            </a:endParaRPr>
          </a:p>
          <a:p>
            <a:pPr>
              <a:lnSpc>
                <a:spcPct val="85000"/>
              </a:lnSpc>
            </a:pPr>
            <a:endParaRPr lang="en-US" sz="1000" b="0" u="none" strike="noStrike">
              <a:solidFill>
                <a:srgbClr val="000000"/>
              </a:solidFill>
              <a:effectLst/>
              <a:uFillTx/>
              <a:latin typeface="Arial"/>
            </a:endParaRPr>
          </a:p>
          <a:p>
            <a:pPr>
              <a:lnSpc>
                <a:spcPct val="85000"/>
              </a:lnSpc>
            </a:pPr>
            <a:r>
              <a:rPr lang="en-US" sz="1000" b="0" u="none" strike="noStrike">
                <a:solidFill>
                  <a:srgbClr val="000000"/>
                </a:solidFill>
                <a:effectLst/>
                <a:uFillTx/>
                <a:latin typeface="Times New Roman"/>
                <a:ea typeface="Times New Roman"/>
              </a:rPr>
              <a:t>FD PrintFile.</a:t>
            </a:r>
            <a:endParaRPr lang="en-US" sz="1000" b="0" u="none" strike="noStrike">
              <a:solidFill>
                <a:srgbClr val="000000"/>
              </a:solidFill>
              <a:effectLst/>
              <a:uFillTx/>
              <a:latin typeface="Arial"/>
            </a:endParaRPr>
          </a:p>
          <a:p>
            <a:pPr>
              <a:lnSpc>
                <a:spcPct val="85000"/>
              </a:lnSpc>
            </a:pPr>
            <a:r>
              <a:rPr lang="en-US" sz="1000" b="0" u="none" strike="noStrike">
                <a:solidFill>
                  <a:srgbClr val="000000"/>
                </a:solidFill>
                <a:effectLst/>
                <a:uFillTx/>
                <a:latin typeface="Times New Roman"/>
                <a:ea typeface="Times New Roman"/>
              </a:rPr>
              <a:t>01  PrintLine PIC X(80).</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 name=""/>
          <p:cNvSpPr txBox="1"/>
          <p:nvPr/>
        </p:nvSpPr>
        <p:spPr>
          <a:xfrm>
            <a:off x="0" y="142920"/>
            <a:ext cx="3811680" cy="4511520"/>
          </a:xfrm>
          <a:prstGeom prst="rect">
            <a:avLst/>
          </a:prstGeom>
          <a:noFill/>
          <a:ln w="0">
            <a:noFill/>
          </a:ln>
        </p:spPr>
        <p:txBody>
          <a:bodyPr lIns="0" tIns="0" rIns="0" bIns="0" anchor="t">
            <a:spAutoFit/>
          </a:bodyPr>
          <a:p>
            <a:pPr>
              <a:lnSpc>
                <a:spcPct val="75000"/>
              </a:lnSpc>
            </a:pPr>
            <a:r>
              <a:rPr lang="en-US" sz="800" b="0" u="none" strike="noStrike">
                <a:solidFill>
                  <a:srgbClr val="000000"/>
                </a:solidFill>
                <a:effectLst/>
                <a:uFillTx/>
                <a:latin typeface="Courier New"/>
                <a:ea typeface="Courier New"/>
              </a:rPr>
              <a:t>     $ SET SOURCEFORMAT"FREE"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IDENTIFICATION DIVISION.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PROGRAM-ID.  ReportExample2.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AUTHOR.  Michael Coughlan.</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ENVIRONMENT DIVISION.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INPUT-OUTPUT SECTION.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FILE-CONTROL.</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SELECT SalesFile ASSIGN TO "GBSALES.DAT"</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ORGANIZATION IS LINE SEQUENTIAL.</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a:t>
            </a:r>
            <a:r>
              <a:rPr lang="en-US" sz="800" b="1" u="none" strike="noStrike">
                <a:solidFill>
                  <a:srgbClr val="CC0000"/>
                </a:solidFill>
                <a:effectLst/>
                <a:uFillTx/>
                <a:latin typeface="Courier New"/>
                <a:ea typeface="Courier New"/>
              </a:rPr>
              <a:t>SELECT PrintFile ASSIGN TO "SALESREPORT2.LPT"</a:t>
            </a:r>
            <a:r>
              <a:rPr lang="en-US" sz="800" b="1" u="none" strike="noStrike">
                <a:solidFill>
                  <a:srgbClr val="000000"/>
                </a:solidFill>
                <a:effectLst/>
                <a:uFillTx/>
                <a:latin typeface="Courier New"/>
                <a:ea typeface="Courier New"/>
              </a:rPr>
              <a:t>.</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DATA DIVISION.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FILE SECTION.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FD  SalesFile.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SalesRecord.</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88 EndOfFile  VALUE HIGH-VALUES.</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CityCode         PIC 9.</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SalesPersonNum   PIC 9.</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ValueOfSale      PIC 9(4)V99.</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1" u="none" strike="noStrike">
                <a:solidFill>
                  <a:srgbClr val="CC0000"/>
                </a:solidFill>
                <a:effectLst/>
                <a:uFillTx/>
                <a:latin typeface="Courier New"/>
                <a:ea typeface="Courier New"/>
              </a:rPr>
              <a:t>FD  PrintFile</a:t>
            </a:r>
            <a:endParaRPr lang="en-US" sz="800" b="0" u="none" strike="noStrike">
              <a:solidFill>
                <a:srgbClr val="000000"/>
              </a:solidFill>
              <a:effectLst/>
              <a:uFillTx/>
              <a:latin typeface="Arial"/>
            </a:endParaRPr>
          </a:p>
          <a:p>
            <a:pPr>
              <a:lnSpc>
                <a:spcPct val="75000"/>
              </a:lnSpc>
            </a:pPr>
            <a:r>
              <a:rPr lang="en-US" sz="800" b="1" u="none" strike="noStrike">
                <a:solidFill>
                  <a:srgbClr val="CC0000"/>
                </a:solidFill>
                <a:effectLst/>
                <a:uFillTx/>
                <a:latin typeface="Courier New"/>
                <a:ea typeface="Courier New"/>
              </a:rPr>
              <a:t>   REPORT IS SalesReport.</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WORKING-STORAGE SECTION.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NameTable.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TableValues.</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FILLER        PIC X(18) VALUE "Dublin   Belfast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FILLER        PIC X(18) VALUE "Cork     Galway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FILLER        PIC X(18) VALUE "Sligo    Waterford".</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FILLER        PIC X(9)  VALUE "Limerick".</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FILLER REDEFINES TableValues.</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CityName     PIC X(9) OCCURS 7 TIMES.</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1" u="none" strike="noStrike">
                <a:solidFill>
                  <a:srgbClr val="CC0000"/>
                </a:solidFill>
                <a:effectLst/>
                <a:uFillTx/>
                <a:latin typeface="Courier New"/>
                <a:ea typeface="Courier New"/>
              </a:rPr>
              <a:t>REPORT SECTION.</a:t>
            </a:r>
            <a:endParaRPr lang="en-US" sz="800" b="0" u="none" strike="noStrike">
              <a:solidFill>
                <a:srgbClr val="000000"/>
              </a:solidFill>
              <a:effectLst/>
              <a:uFillTx/>
              <a:latin typeface="Arial"/>
            </a:endParaRPr>
          </a:p>
          <a:p>
            <a:pPr>
              <a:lnSpc>
                <a:spcPct val="75000"/>
              </a:lnSpc>
            </a:pPr>
            <a:r>
              <a:rPr lang="en-US" sz="800" b="1" u="none" strike="noStrike">
                <a:solidFill>
                  <a:srgbClr val="CC0000"/>
                </a:solidFill>
                <a:effectLst/>
                <a:uFillTx/>
                <a:latin typeface="Courier New"/>
                <a:ea typeface="Courier New"/>
              </a:rPr>
              <a:t>RD  SalesReport</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CONTROLS ARE SalesPersonNum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PAGE LIMIT IS 66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HEADING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FIRST DETAIL 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LAST DETAIL 42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FOOTING 52.</a:t>
            </a:r>
            <a:endParaRPr lang="en-US" sz="800" b="0" u="none" strike="noStrike">
              <a:solidFill>
                <a:srgbClr val="000000"/>
              </a:solidFill>
              <a:effectLst/>
              <a:uFillTx/>
              <a:latin typeface="Arial"/>
            </a:endParaRPr>
          </a:p>
        </p:txBody>
      </p:sp>
      <p:grpSp>
        <p:nvGrpSpPr>
          <p:cNvPr id="16" name=""/>
          <p:cNvGrpSpPr/>
          <p:nvPr/>
        </p:nvGrpSpPr>
        <p:grpSpPr>
          <a:xfrm>
            <a:off x="1047600" y="1314360"/>
            <a:ext cx="2743560" cy="2694600"/>
            <a:chOff x="1047600" y="1314360"/>
            <a:chExt cx="2743560" cy="2694600"/>
          </a:xfrm>
        </p:grpSpPr>
        <p:sp>
          <p:nvSpPr>
            <p:cNvPr id="17" name=""/>
            <p:cNvSpPr txBox="1"/>
            <p:nvPr/>
          </p:nvSpPr>
          <p:spPr>
            <a:xfrm>
              <a:off x="2276640" y="1314360"/>
              <a:ext cx="1514520" cy="1503360"/>
            </a:xfrm>
            <a:prstGeom prst="rect">
              <a:avLst/>
            </a:prstGeom>
            <a:solidFill>
              <a:srgbClr val="FFFFCC"/>
            </a:solidFill>
            <a:ln w="12600">
              <a:solidFill>
                <a:srgbClr val="000000"/>
              </a:solidFill>
              <a:round/>
            </a:ln>
          </p:spPr>
          <p:txBody>
            <a:bodyPr lIns="0" tIns="0" rIns="0" bIns="0" anchor="t">
              <a:spAutoFit/>
            </a:bodyPr>
            <a:p>
              <a:pPr algn="ctr">
                <a:lnSpc>
                  <a:spcPct val="85000"/>
                </a:lnSpc>
              </a:pP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But in the Report Writer the FD entry contains a clause linking the file name with a Report described in the </a:t>
              </a:r>
              <a:r>
                <a:rPr lang="en-US" sz="1000" b="1" u="none" strike="noStrike">
                  <a:solidFill>
                    <a:srgbClr val="000000"/>
                  </a:solidFill>
                  <a:effectLst/>
                  <a:uFillTx/>
                  <a:latin typeface="Times New Roman"/>
                  <a:ea typeface="Times New Roman"/>
                </a:rPr>
                <a:t>REPORT SECTION</a:t>
              </a:r>
              <a:r>
                <a:rPr lang="en-US" sz="1000" b="0" u="none" strike="noStrike">
                  <a:solidFill>
                    <a:srgbClr val="000000"/>
                  </a:solidFill>
                  <a:effectLst/>
                  <a:uFillTx/>
                  <a:latin typeface="Times New Roman"/>
                  <a:ea typeface="Times New Roman"/>
                </a:rPr>
                <a:t>.</a:t>
              </a:r>
              <a:endParaRPr lang="en-US" sz="1000" b="0" u="none" strike="noStrike">
                <a:solidFill>
                  <a:srgbClr val="000000"/>
                </a:solidFill>
                <a:effectLst/>
                <a:uFillTx/>
                <a:latin typeface="Arial"/>
              </a:endParaRPr>
            </a:p>
          </p:txBody>
        </p:sp>
        <p:sp>
          <p:nvSpPr>
            <p:cNvPr id="18" name=""/>
            <p:cNvSpPr/>
            <p:nvPr/>
          </p:nvSpPr>
          <p:spPr>
            <a:xfrm>
              <a:off x="1047600" y="2489040"/>
              <a:ext cx="1123920" cy="1519920"/>
            </a:xfrm>
            <a:custGeom>
              <a:avLst/>
              <a:gdLst/>
              <a:ahLst/>
              <a:rect l="0" t="0" r="r" b="b"/>
              <a:pathLst>
                <a:path fill="none" w="3122" h="4222">
                  <a:moveTo>
                    <a:pt x="0" y="4222"/>
                  </a:moveTo>
                  <a:lnTo>
                    <a:pt x="0" y="4222"/>
                  </a:lnTo>
                  <a:cubicBezTo>
                    <a:pt x="548" y="4222"/>
                    <a:pt x="1086" y="4120"/>
                    <a:pt x="1561" y="3926"/>
                  </a:cubicBezTo>
                  <a:cubicBezTo>
                    <a:pt x="2035" y="3732"/>
                    <a:pt x="2430" y="3453"/>
                    <a:pt x="2704" y="3117"/>
                  </a:cubicBezTo>
                  <a:cubicBezTo>
                    <a:pt x="2978" y="2781"/>
                    <a:pt x="3122" y="2400"/>
                    <a:pt x="3122" y="2012"/>
                  </a:cubicBezTo>
                  <a:cubicBezTo>
                    <a:pt x="3122" y="1624"/>
                    <a:pt x="2978" y="1243"/>
                    <a:pt x="2704" y="907"/>
                  </a:cubicBezTo>
                  <a:cubicBezTo>
                    <a:pt x="2430" y="571"/>
                    <a:pt x="2035" y="292"/>
                    <a:pt x="1561" y="98"/>
                  </a:cubicBezTo>
                  <a:cubicBezTo>
                    <a:pt x="1473" y="62"/>
                    <a:pt x="1383" y="30"/>
                    <a:pt x="1291" y="0"/>
                  </a:cubicBezTo>
                </a:path>
              </a:pathLst>
            </a:custGeom>
            <a:ln w="12600">
              <a:solidFill>
                <a:srgbClr val="CC0000"/>
              </a:solidFill>
              <a:round/>
              <a:tailEnd len="med" type="triangle" w="med"/>
            </a:ln>
          </p:spPr>
          <p:txBody>
            <a:bodyPr lIns="96120" tIns="51120" rIns="96120" bIns="51120" anchor="t">
              <a:noAutofit/>
            </a:bodyPr>
            <a:p>
              <a:endParaRPr lang="en-US" sz="1800" b="0" u="none" strike="noStrike">
                <a:solidFill>
                  <a:srgbClr val="000000"/>
                </a:solidFill>
                <a:effectLst/>
                <a:uFillTx/>
                <a:latin typeface="Arial"/>
              </a:endParaRPr>
            </a:p>
          </p:txBody>
        </p:sp>
      </p:gr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 name=""/>
          <p:cNvSpPr txBox="1"/>
          <p:nvPr/>
        </p:nvSpPr>
        <p:spPr>
          <a:xfrm>
            <a:off x="0" y="28440"/>
            <a:ext cx="3871800" cy="5156280"/>
          </a:xfrm>
          <a:prstGeom prst="rect">
            <a:avLst/>
          </a:prstGeom>
          <a:noFill/>
          <a:ln w="0">
            <a:noFill/>
          </a:ln>
        </p:spPr>
        <p:txBody>
          <a:bodyPr lIns="0" tIns="0" rIns="0" bIns="0" anchor="t">
            <a:spAutoFit/>
          </a:bodyPr>
          <a:p>
            <a:pPr>
              <a:lnSpc>
                <a:spcPct val="75000"/>
              </a:lnSpc>
            </a:pPr>
            <a:r>
              <a:rPr lang="en-US" sz="800" b="0" u="none" strike="noStrike">
                <a:solidFill>
                  <a:srgbClr val="000000"/>
                </a:solidFill>
                <a:effectLst/>
                <a:uFillTx/>
                <a:latin typeface="Courier New"/>
                <a:ea typeface="Courier New"/>
              </a:rPr>
              <a:t>REPORT SECTION.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RD  SalesReport</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CONTROLS ARE SalesPersonNum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PAGE LIMIT IS 66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HEADING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FIRST DETAIL 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LAST DETAIL 42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FOOTING 52.</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a:t>
            </a:r>
            <a:r>
              <a:rPr lang="en-US" sz="800" b="1" u="none" strike="noStrike">
                <a:solidFill>
                  <a:srgbClr val="CC0000"/>
                </a:solidFill>
                <a:effectLst/>
                <a:uFillTx/>
                <a:latin typeface="Courier New"/>
                <a:ea typeface="Courier New"/>
              </a:rPr>
              <a:t>TYPE IS PAGE HEADING.</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12     PIC X(32)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"An example COBOL Report Program".</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6      PIC X(17)</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"Bible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23     PIC X(26)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 - Sales and Salary Report".</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4.</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      PIC X(4)  VALUE "City".</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12     PIC X(11) VALUE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28     PIC X(4)  VALUE "Sale".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5.</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      PIC X(4)  VALUE "Name".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13     PIC X(6)  VALUE "Number".</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28     PIC X(5)  VALUE "Value".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DetailLine TYPE IS DETAIL.</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PLUS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      PIC X(9)</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SOURCE CityName(CityCode).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15     PIC 9</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SOURCE SalesPersonNum.</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25     PIC $$,$$$.99 SOURCE ValueOfSale.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SalesPersonGrp</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TYPE IS CONTROL FOOTING SalesPersonNum NEXT GROUP PLUS 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PLUS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15     PIC X(21)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"Sales for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37     PIC 9 SOURCE SalesPersonNum.</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43     PIC X VALUE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SMS COLUMN 45 PIC $$$$$,$$$.99 SUM ValueOfSale.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TYPE IS PAGE FOOTING.</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53.</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      PIC X(29)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"Programmer - Michael Coughlan".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45     PIC X(6) VALUE "Page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52     PIC Z9 SOURCE PAGE-COUNTER.</a:t>
            </a:r>
            <a:endParaRPr lang="en-US" sz="800" b="0" u="none" strike="noStrike">
              <a:solidFill>
                <a:srgbClr val="000000"/>
              </a:solidFill>
              <a:effectLst/>
              <a:uFillTx/>
              <a:latin typeface="Arial"/>
            </a:endParaRPr>
          </a:p>
        </p:txBody>
      </p:sp>
      <p:sp>
        <p:nvSpPr>
          <p:cNvPr id="20" name=""/>
          <p:cNvSpPr txBox="1"/>
          <p:nvPr/>
        </p:nvSpPr>
        <p:spPr>
          <a:xfrm>
            <a:off x="1971720" y="47520"/>
            <a:ext cx="1762200" cy="1200240"/>
          </a:xfrm>
          <a:prstGeom prst="rect">
            <a:avLst/>
          </a:prstGeom>
          <a:solidFill>
            <a:srgbClr val="FFFFCC"/>
          </a:solidFill>
          <a:ln w="12600">
            <a:solidFill>
              <a:srgbClr val="000000"/>
            </a:solidFill>
            <a:round/>
          </a:ln>
        </p:spPr>
        <p:txBody>
          <a:bodyPr lIns="0" tIns="0" rIns="0" bIns="0" anchor="t">
            <a:spAutoFit/>
          </a:bodyPr>
          <a:p>
            <a:pPr algn="ctr">
              <a:lnSpc>
                <a:spcPct val="85000"/>
              </a:lnSpc>
            </a:pPr>
            <a:r>
              <a:rPr lang="en-US" sz="1000" b="0" u="none" strike="noStrike">
                <a:solidFill>
                  <a:srgbClr val="000000"/>
                </a:solidFill>
                <a:effectLst/>
                <a:uFillTx/>
                <a:latin typeface="Times New Roman"/>
                <a:ea typeface="Times New Roman"/>
              </a:rPr>
              <a:t>Report groups are defined in the REPORT SECTION.  </a:t>
            </a:r>
            <a:endParaRPr lang="en-US" sz="1000" b="0" u="none" strike="noStrike">
              <a:solidFill>
                <a:srgbClr val="000000"/>
              </a:solidFill>
              <a:effectLst/>
              <a:uFillTx/>
              <a:latin typeface="Arial"/>
            </a:endParaRPr>
          </a:p>
          <a:p>
            <a:pPr algn="ctr">
              <a:lnSpc>
                <a:spcPct val="85000"/>
              </a:lnSpc>
            </a:pP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Let’s start by defining the report group that must be printed when a page heading is required.</a:t>
            </a:r>
            <a:endParaRPr lang="en-US" sz="1000" b="0" u="none" strike="noStrike">
              <a:solidFill>
                <a:srgbClr val="000000"/>
              </a:solidFill>
              <a:effectLst/>
              <a:uFillTx/>
              <a:latin typeface="Arial"/>
            </a:endParaRPr>
          </a:p>
        </p:txBody>
      </p:sp>
      <p:sp>
        <p:nvSpPr>
          <p:cNvPr id="21" name=""/>
          <p:cNvSpPr txBox="1"/>
          <p:nvPr/>
        </p:nvSpPr>
        <p:spPr>
          <a:xfrm>
            <a:off x="1971720" y="47520"/>
            <a:ext cx="1762200" cy="1200240"/>
          </a:xfrm>
          <a:prstGeom prst="rect">
            <a:avLst/>
          </a:prstGeom>
          <a:solidFill>
            <a:srgbClr val="FFFFCC"/>
          </a:solidFill>
          <a:ln w="12600">
            <a:solidFill>
              <a:srgbClr val="000000"/>
            </a:solidFill>
            <a:round/>
          </a:ln>
        </p:spPr>
        <p:txBody>
          <a:bodyPr lIns="0" tIns="0" rIns="0" bIns="0" anchor="t">
            <a:spAutoFit/>
          </a:bodyPr>
          <a:p>
            <a:pPr algn="ctr">
              <a:lnSpc>
                <a:spcPct val="85000"/>
              </a:lnSpc>
            </a:pPr>
            <a:r>
              <a:rPr lang="en-US" sz="1000" b="0" u="none" strike="noStrike">
                <a:solidFill>
                  <a:srgbClr val="000000"/>
                </a:solidFill>
                <a:effectLst/>
                <a:uFillTx/>
                <a:latin typeface="Times New Roman"/>
                <a:ea typeface="Times New Roman"/>
              </a:rPr>
              <a:t>Each report group is a record and must start with a 01 level number.  There are 7 possible types of report group and the the first entry in the report group must specify what type the group is.  </a:t>
            </a:r>
            <a:endParaRPr lang="en-US" sz="1000" b="0" u="none" strike="noStrike">
              <a:solidFill>
                <a:srgbClr val="000000"/>
              </a:solidFill>
              <a:effectLst/>
              <a:uFillTx/>
              <a:latin typeface="Arial"/>
            </a:endParaRPr>
          </a:p>
        </p:txBody>
      </p:sp>
      <p:sp>
        <p:nvSpPr>
          <p:cNvPr id="22" name=""/>
          <p:cNvSpPr txBox="1"/>
          <p:nvPr/>
        </p:nvSpPr>
        <p:spPr>
          <a:xfrm>
            <a:off x="1971720" y="47520"/>
            <a:ext cx="1762200" cy="1200240"/>
          </a:xfrm>
          <a:prstGeom prst="rect">
            <a:avLst/>
          </a:prstGeom>
          <a:solidFill>
            <a:srgbClr val="FFFFCC"/>
          </a:solidFill>
          <a:ln w="12600">
            <a:solidFill>
              <a:srgbClr val="000000"/>
            </a:solidFill>
            <a:round/>
          </a:ln>
        </p:spPr>
        <p:txBody>
          <a:bodyPr lIns="0" tIns="0" rIns="0" bIns="0" anchor="t">
            <a:spAutoFit/>
          </a:bodyPr>
          <a:p>
            <a:pPr algn="ctr">
              <a:lnSpc>
                <a:spcPct val="85000"/>
              </a:lnSpc>
            </a:pPr>
            <a:r>
              <a:rPr lang="en-US" sz="1000" b="0" u="none" strike="noStrike">
                <a:solidFill>
                  <a:srgbClr val="000000"/>
                </a:solidFill>
                <a:effectLst/>
                <a:uFillTx/>
                <a:latin typeface="Times New Roman"/>
                <a:ea typeface="Times New Roman"/>
              </a:rPr>
              <a:t>In this case it is a PAGE HEADING group. </a:t>
            </a:r>
            <a:endParaRPr lang="en-US" sz="1000" b="0" u="none" strike="noStrike">
              <a:solidFill>
                <a:srgbClr val="000000"/>
              </a:solidFill>
              <a:effectLst/>
              <a:uFillTx/>
              <a:latin typeface="Arial"/>
            </a:endParaRPr>
          </a:p>
          <a:p>
            <a:pPr algn="ctr">
              <a:lnSpc>
                <a:spcPct val="85000"/>
              </a:lnSpc>
            </a:pP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Note that we do not need to give the group record a name if we don’t refer to it later.</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 name=""/>
          <p:cNvSpPr txBox="1"/>
          <p:nvPr/>
        </p:nvSpPr>
        <p:spPr>
          <a:xfrm>
            <a:off x="0" y="28440"/>
            <a:ext cx="3871800" cy="5156280"/>
          </a:xfrm>
          <a:prstGeom prst="rect">
            <a:avLst/>
          </a:prstGeom>
          <a:noFill/>
          <a:ln w="0">
            <a:noFill/>
          </a:ln>
        </p:spPr>
        <p:txBody>
          <a:bodyPr lIns="0" tIns="0" rIns="0" bIns="0" anchor="t">
            <a:spAutoFit/>
          </a:bodyPr>
          <a:p>
            <a:pPr>
              <a:lnSpc>
                <a:spcPct val="75000"/>
              </a:lnSpc>
            </a:pPr>
            <a:r>
              <a:rPr lang="en-US" sz="800" b="0" u="none" strike="noStrike">
                <a:solidFill>
                  <a:srgbClr val="000000"/>
                </a:solidFill>
                <a:effectLst/>
                <a:uFillTx/>
                <a:latin typeface="Courier New"/>
                <a:ea typeface="Courier New"/>
              </a:rPr>
              <a:t>REPORT SECTION.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RD  SalesReport</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CONTROLS ARE SalesPersonNum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PAGE LIMIT IS 66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HEADING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FIRST DETAIL 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LAST DETAIL 42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FOOTING 52.</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TYPE IS PAGE HEADING.</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a:t>
            </a:r>
            <a:r>
              <a:rPr lang="en-US" sz="800" b="1" u="none" strike="noStrike">
                <a:solidFill>
                  <a:srgbClr val="CC0000"/>
                </a:solidFill>
                <a:effectLst/>
                <a:uFillTx/>
                <a:latin typeface="Courier New"/>
                <a:ea typeface="Courier New"/>
              </a:rPr>
              <a:t>LINE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12     PIC X(32)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"An example COBOL Report Program".</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a:t>
            </a:r>
            <a:r>
              <a:rPr lang="en-US" sz="800" b="1" u="none" strike="noStrike">
                <a:solidFill>
                  <a:srgbClr val="CC0000"/>
                </a:solidFill>
                <a:effectLst/>
                <a:uFillTx/>
                <a:latin typeface="Courier New"/>
                <a:ea typeface="Courier New"/>
              </a:rPr>
              <a:t>LINE 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6      PIC X(17)</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"Bible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23     PIC X(26)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 - Sales and Salary Report".</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a:t>
            </a:r>
            <a:r>
              <a:rPr lang="en-US" sz="800" b="1" u="none" strike="noStrike">
                <a:solidFill>
                  <a:srgbClr val="CC0000"/>
                </a:solidFill>
                <a:effectLst/>
                <a:uFillTx/>
                <a:latin typeface="Courier New"/>
                <a:ea typeface="Courier New"/>
              </a:rPr>
              <a:t>LINE 4.</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      PIC X(4)  VALUE "City".</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12     PIC X(11) VALUE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28     PIC X(4)  VALUE "Sale".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a:t>
            </a:r>
            <a:r>
              <a:rPr lang="en-US" sz="800" b="1" u="none" strike="noStrike">
                <a:solidFill>
                  <a:srgbClr val="CC0000"/>
                </a:solidFill>
                <a:effectLst/>
                <a:uFillTx/>
                <a:latin typeface="Courier New"/>
                <a:ea typeface="Courier New"/>
              </a:rPr>
              <a:t>LINE 5.</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      PIC X(4)  VALUE "Name".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13     PIC X(6)  VALUE "Number".</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28     PIC X(5)  VALUE "Value".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DetailLine TYPE IS DETAIL.</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PLUS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      PIC X(9)</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SOURCE CityName(CityCode).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15     PIC 9</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SOURCE SalesPersonNum.</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25     PIC $$,$$$.99 SOURCE ValueOfSale.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SalesPersonGrp</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TYPE IS CONTROL FOOTING SalesPersonNum NEXT GROUP PLUS 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PLUS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15     PIC X(21)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"Sales for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37     PIC 9 SOURCE SalesPersonNum.</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43     PIC X VALUE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SMS COLUMN 45 PIC $$$$$,$$$.99 SUM ValueOfSale.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TYPE IS PAGE FOOTING.</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53.</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      PIC X(29)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"Programmer - Michael Coughlan".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45     PIC X(6) VALUE "Page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52     PIC Z9 SOURCE PAGE-COUNTER.</a:t>
            </a:r>
            <a:endParaRPr lang="en-US" sz="800" b="0" u="none" strike="noStrike">
              <a:solidFill>
                <a:srgbClr val="000000"/>
              </a:solidFill>
              <a:effectLst/>
              <a:uFillTx/>
              <a:latin typeface="Arial"/>
            </a:endParaRPr>
          </a:p>
        </p:txBody>
      </p:sp>
      <p:sp>
        <p:nvSpPr>
          <p:cNvPr id="24" name=""/>
          <p:cNvSpPr txBox="1"/>
          <p:nvPr/>
        </p:nvSpPr>
        <p:spPr>
          <a:xfrm>
            <a:off x="2084400" y="38160"/>
            <a:ext cx="1762200" cy="1200240"/>
          </a:xfrm>
          <a:prstGeom prst="rect">
            <a:avLst/>
          </a:prstGeom>
          <a:solidFill>
            <a:srgbClr val="FFFFCC"/>
          </a:solidFill>
          <a:ln w="12600">
            <a:solidFill>
              <a:srgbClr val="000000"/>
            </a:solidFill>
            <a:round/>
          </a:ln>
        </p:spPr>
        <p:txBody>
          <a:bodyPr lIns="0" tIns="0" rIns="0" bIns="0" anchor="t">
            <a:spAutoFit/>
          </a:bodyPr>
          <a:p>
            <a:pPr algn="ctr">
              <a:lnSpc>
                <a:spcPct val="85000"/>
              </a:lnSpc>
            </a:pPr>
            <a:r>
              <a:rPr lang="en-US" sz="1000" b="0" u="none" strike="noStrike">
                <a:solidFill>
                  <a:srgbClr val="000000"/>
                </a:solidFill>
                <a:effectLst/>
                <a:uFillTx/>
                <a:latin typeface="Times New Roman"/>
                <a:ea typeface="Times New Roman"/>
              </a:rPr>
              <a:t>To tell the Report Writer where we want each line to be printed we use the LINE [IS] phrase (the IS part is optional).</a:t>
            </a:r>
            <a:endParaRPr lang="en-US" sz="1000" b="0" u="none" strike="noStrike">
              <a:solidFill>
                <a:srgbClr val="000000"/>
              </a:solidFill>
              <a:effectLst/>
              <a:uFillTx/>
              <a:latin typeface="Arial"/>
            </a:endParaRPr>
          </a:p>
        </p:txBody>
      </p:sp>
      <p:sp>
        <p:nvSpPr>
          <p:cNvPr id="25" name=""/>
          <p:cNvSpPr txBox="1"/>
          <p:nvPr/>
        </p:nvSpPr>
        <p:spPr>
          <a:xfrm>
            <a:off x="2084400" y="38160"/>
            <a:ext cx="1762200" cy="1200240"/>
          </a:xfrm>
          <a:prstGeom prst="rect">
            <a:avLst/>
          </a:prstGeom>
          <a:solidFill>
            <a:srgbClr val="FFFFCC"/>
          </a:solidFill>
          <a:ln w="12600">
            <a:solidFill>
              <a:srgbClr val="000000"/>
            </a:solidFill>
            <a:round/>
          </a:ln>
        </p:spPr>
        <p:txBody>
          <a:bodyPr lIns="0" tIns="0" rIns="0" bIns="0" anchor="t">
            <a:spAutoFit/>
          </a:bodyPr>
          <a:p>
            <a:pPr algn="ctr">
              <a:lnSpc>
                <a:spcPct val="85000"/>
              </a:lnSpc>
              <a:tabLst>
                <a:tab pos="114480" algn="l"/>
              </a:tabLst>
            </a:pPr>
            <a:r>
              <a:rPr lang="en-US" sz="1000" b="0" u="none" strike="noStrike">
                <a:solidFill>
                  <a:srgbClr val="000000"/>
                </a:solidFill>
                <a:effectLst/>
                <a:uFillTx/>
                <a:latin typeface="Times New Roman"/>
                <a:ea typeface="Times New Roman"/>
              </a:rPr>
              <a:t>The LINE [IS] phrase allows us to specify both dynamic and static positioning.  </a:t>
            </a:r>
            <a:endParaRPr lang="en-US" sz="1000" b="0" u="none" strike="noStrike">
              <a:solidFill>
                <a:srgbClr val="000000"/>
              </a:solidFill>
              <a:effectLst/>
              <a:uFillTx/>
              <a:latin typeface="Arial"/>
            </a:endParaRPr>
          </a:p>
          <a:p>
            <a:pPr algn="ctr">
              <a:lnSpc>
                <a:spcPct val="85000"/>
              </a:lnSpc>
              <a:tabLst>
                <a:tab pos="114480" algn="l"/>
              </a:tabLst>
            </a:pPr>
            <a:r>
              <a:rPr lang="en-US" sz="1000" b="0" u="none" strike="noStrike">
                <a:solidFill>
                  <a:srgbClr val="000000"/>
                </a:solidFill>
                <a:effectLst/>
                <a:uFillTx/>
                <a:latin typeface="Times New Roman"/>
                <a:ea typeface="Times New Roman"/>
              </a:rPr>
              <a:t>We can print on a specific line, on a specific line on the next page or on the current line + increment.</a:t>
            </a:r>
            <a:endParaRPr lang="en-US" sz="1000" b="0" u="none" strike="noStrike">
              <a:solidFill>
                <a:srgbClr val="000000"/>
              </a:solidFill>
              <a:effectLst/>
              <a:uFillTx/>
              <a:latin typeface="Arial"/>
            </a:endParaRPr>
          </a:p>
        </p:txBody>
      </p:sp>
      <p:grpSp>
        <p:nvGrpSpPr>
          <p:cNvPr id="26" name=""/>
          <p:cNvGrpSpPr/>
          <p:nvPr/>
        </p:nvGrpSpPr>
        <p:grpSpPr>
          <a:xfrm>
            <a:off x="733320" y="36360"/>
            <a:ext cx="3110040" cy="2448000"/>
            <a:chOff x="733320" y="36360"/>
            <a:chExt cx="3110040" cy="2448000"/>
          </a:xfrm>
        </p:grpSpPr>
        <p:sp>
          <p:nvSpPr>
            <p:cNvPr id="27" name=""/>
            <p:cNvSpPr txBox="1"/>
            <p:nvPr/>
          </p:nvSpPr>
          <p:spPr>
            <a:xfrm>
              <a:off x="2081160" y="36360"/>
              <a:ext cx="1762200" cy="1200240"/>
            </a:xfrm>
            <a:prstGeom prst="rect">
              <a:avLst/>
            </a:prstGeom>
            <a:solidFill>
              <a:srgbClr val="FFFFCC"/>
            </a:solidFill>
            <a:ln w="12600">
              <a:solidFill>
                <a:srgbClr val="000000"/>
              </a:solidFill>
              <a:round/>
            </a:ln>
          </p:spPr>
          <p:txBody>
            <a:bodyPr lIns="0" tIns="0" rIns="0" bIns="0" anchor="t">
              <a:spAutoFit/>
            </a:bodyPr>
            <a:p>
              <a:pPr algn="ctr">
                <a:lnSpc>
                  <a:spcPct val="85000"/>
                </a:lnSpc>
              </a:pP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We want the page heading printed on the same line on each new page so we explicitly state the line number. </a:t>
              </a:r>
              <a:endParaRPr lang="en-US" sz="1000" b="0" u="none" strike="noStrike">
                <a:solidFill>
                  <a:srgbClr val="000000"/>
                </a:solidFill>
                <a:effectLst/>
                <a:uFillTx/>
                <a:latin typeface="Arial"/>
              </a:endParaRPr>
            </a:p>
          </p:txBody>
        </p:sp>
        <p:sp>
          <p:nvSpPr>
            <p:cNvPr id="28" name=""/>
            <p:cNvSpPr/>
            <p:nvPr/>
          </p:nvSpPr>
          <p:spPr>
            <a:xfrm>
              <a:off x="743040" y="950760"/>
              <a:ext cx="152280" cy="152280"/>
            </a:xfrm>
            <a:prstGeom prst="ellipse">
              <a:avLst/>
            </a:prstGeom>
            <a:noFill/>
            <a:ln w="12600">
              <a:solidFill>
                <a:srgbClr val="CC0000"/>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29" name=""/>
            <p:cNvSpPr/>
            <p:nvPr/>
          </p:nvSpPr>
          <p:spPr>
            <a:xfrm>
              <a:off x="733320" y="1312920"/>
              <a:ext cx="152280" cy="152280"/>
            </a:xfrm>
            <a:prstGeom prst="ellipse">
              <a:avLst/>
            </a:prstGeom>
            <a:noFill/>
            <a:ln w="12600">
              <a:solidFill>
                <a:srgbClr val="CC0000"/>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30" name=""/>
            <p:cNvSpPr/>
            <p:nvPr/>
          </p:nvSpPr>
          <p:spPr>
            <a:xfrm>
              <a:off x="733320" y="1855800"/>
              <a:ext cx="152280" cy="152280"/>
            </a:xfrm>
            <a:prstGeom prst="ellipse">
              <a:avLst/>
            </a:prstGeom>
            <a:noFill/>
            <a:ln w="12600">
              <a:solidFill>
                <a:srgbClr val="CC0000"/>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31" name=""/>
            <p:cNvSpPr/>
            <p:nvPr/>
          </p:nvSpPr>
          <p:spPr>
            <a:xfrm>
              <a:off x="752400" y="2332080"/>
              <a:ext cx="152280" cy="152280"/>
            </a:xfrm>
            <a:prstGeom prst="ellipse">
              <a:avLst/>
            </a:prstGeom>
            <a:noFill/>
            <a:ln w="12600">
              <a:solidFill>
                <a:srgbClr val="CC0000"/>
              </a:solidFill>
              <a:round/>
            </a:ln>
          </p:spPr>
          <p:txBody>
            <a:bodyPr lIns="96120" tIns="51120" rIns="96120" bIns="51120" anchor="t">
              <a:noAutofit/>
            </a:bodyPr>
            <a:p>
              <a:endParaRPr lang="en-US" sz="1800" b="0" u="none" strike="noStrike">
                <a:solidFill>
                  <a:srgbClr val="000000"/>
                </a:solidFill>
                <a:effectLst/>
                <a:uFillTx/>
                <a:latin typeface="Arial"/>
              </a:endParaRPr>
            </a:p>
          </p:txBody>
        </p:sp>
      </p:gr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 name=""/>
          <p:cNvSpPr txBox="1"/>
          <p:nvPr/>
        </p:nvSpPr>
        <p:spPr>
          <a:xfrm>
            <a:off x="0" y="28440"/>
            <a:ext cx="3871800" cy="5156280"/>
          </a:xfrm>
          <a:prstGeom prst="rect">
            <a:avLst/>
          </a:prstGeom>
          <a:noFill/>
          <a:ln w="0">
            <a:noFill/>
          </a:ln>
        </p:spPr>
        <p:txBody>
          <a:bodyPr lIns="0" tIns="0" rIns="0" bIns="0" anchor="t">
            <a:spAutoFit/>
          </a:bodyPr>
          <a:p>
            <a:pPr>
              <a:lnSpc>
                <a:spcPct val="75000"/>
              </a:lnSpc>
            </a:pPr>
            <a:r>
              <a:rPr lang="en-US" sz="800" b="0" u="none" strike="noStrike">
                <a:solidFill>
                  <a:srgbClr val="000000"/>
                </a:solidFill>
                <a:effectLst/>
                <a:uFillTx/>
                <a:latin typeface="Courier New"/>
                <a:ea typeface="Courier New"/>
              </a:rPr>
              <a:t>REPORT SECTION.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RD  SalesReport</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CONTROLS ARE SalesPersonNum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PAGE LIMIT IS 66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HEADING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FIRST DETAIL 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LAST DETAIL 42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FOOTING 52.</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TYPE IS PAGE HEADING.</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a:t>
            </a:r>
            <a:r>
              <a:rPr lang="en-US" sz="800" b="1" u="none" strike="noStrike">
                <a:solidFill>
                  <a:srgbClr val="CC0000"/>
                </a:solidFill>
                <a:effectLst/>
                <a:uFillTx/>
                <a:latin typeface="Courier New"/>
                <a:ea typeface="Courier New"/>
              </a:rPr>
              <a:t>COLUMN 12</a:t>
            </a:r>
            <a:r>
              <a:rPr lang="en-US" sz="800" b="0" u="none" strike="noStrike">
                <a:solidFill>
                  <a:srgbClr val="000000"/>
                </a:solidFill>
                <a:effectLst/>
                <a:uFillTx/>
                <a:latin typeface="Courier New"/>
                <a:ea typeface="Courier New"/>
              </a:rPr>
              <a:t>     PIC X(32)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"An example COBOL Report Program".</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a:t>
            </a:r>
            <a:r>
              <a:rPr lang="en-US" sz="800" b="1" u="none" strike="noStrike">
                <a:solidFill>
                  <a:srgbClr val="000000"/>
                </a:solidFill>
                <a:effectLst/>
                <a:uFillTx/>
                <a:latin typeface="Courier New"/>
                <a:ea typeface="Courier New"/>
              </a:rPr>
              <a:t>2.</a:t>
            </a:r>
            <a:endParaRPr lang="en-US" sz="800" b="0" u="none" strike="noStrike">
              <a:solidFill>
                <a:srgbClr val="000000"/>
              </a:solidFill>
              <a:effectLst/>
              <a:uFillTx/>
              <a:latin typeface="Arial"/>
            </a:endParaRPr>
          </a:p>
          <a:p>
            <a:pPr>
              <a:lnSpc>
                <a:spcPct val="75000"/>
              </a:lnSpc>
            </a:pPr>
            <a:r>
              <a:rPr lang="en-US" sz="800" b="1" u="none" strike="noStrike">
                <a:solidFill>
                  <a:srgbClr val="000000"/>
                </a:solidFill>
                <a:effectLst/>
                <a:uFillTx/>
                <a:latin typeface="Courier New"/>
                <a:ea typeface="Courier New"/>
              </a:rPr>
              <a:t>      03 </a:t>
            </a:r>
            <a:r>
              <a:rPr lang="en-US" sz="800" b="1" u="none" strike="noStrike">
                <a:solidFill>
                  <a:srgbClr val="CC0000"/>
                </a:solidFill>
                <a:effectLst/>
                <a:uFillTx/>
                <a:latin typeface="Courier New"/>
                <a:ea typeface="Courier New"/>
              </a:rPr>
              <a:t>COLUMN 6</a:t>
            </a:r>
            <a:r>
              <a:rPr lang="en-US" sz="800" b="0" u="none" strike="noStrike">
                <a:solidFill>
                  <a:srgbClr val="000000"/>
                </a:solidFill>
                <a:effectLst/>
                <a:uFillTx/>
                <a:latin typeface="Courier New"/>
                <a:ea typeface="Courier New"/>
              </a:rPr>
              <a:t>      PIC X(17)</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"Bible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a:t>
            </a:r>
            <a:r>
              <a:rPr lang="en-US" sz="800" b="1" u="none" strike="noStrike">
                <a:solidFill>
                  <a:srgbClr val="CC0000"/>
                </a:solidFill>
                <a:effectLst/>
                <a:uFillTx/>
                <a:latin typeface="Courier New"/>
                <a:ea typeface="Courier New"/>
              </a:rPr>
              <a:t>COLUMN 23</a:t>
            </a:r>
            <a:r>
              <a:rPr lang="en-US" sz="800" b="0" u="none" strike="noStrike">
                <a:solidFill>
                  <a:srgbClr val="000000"/>
                </a:solidFill>
                <a:effectLst/>
                <a:uFillTx/>
                <a:latin typeface="Courier New"/>
                <a:ea typeface="Courier New"/>
              </a:rPr>
              <a:t>     PIC X(26)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 - Sales and Salary Report".</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4.</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a:t>
            </a:r>
            <a:r>
              <a:rPr lang="en-US" sz="800" b="1" u="none" strike="noStrike">
                <a:solidFill>
                  <a:srgbClr val="CC0000"/>
                </a:solidFill>
                <a:effectLst/>
                <a:uFillTx/>
                <a:latin typeface="Courier New"/>
                <a:ea typeface="Courier New"/>
              </a:rPr>
              <a:t>COLUMN 2</a:t>
            </a:r>
            <a:r>
              <a:rPr lang="en-US" sz="800" b="0" u="none" strike="noStrike">
                <a:solidFill>
                  <a:srgbClr val="000000"/>
                </a:solidFill>
                <a:effectLst/>
                <a:uFillTx/>
                <a:latin typeface="Courier New"/>
                <a:ea typeface="Courier New"/>
              </a:rPr>
              <a:t>      PIC X(4)  VALUE "City".</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a:t>
            </a:r>
            <a:r>
              <a:rPr lang="en-US" sz="800" b="1" u="none" strike="noStrike">
                <a:solidFill>
                  <a:srgbClr val="CC0000"/>
                </a:solidFill>
                <a:effectLst/>
                <a:uFillTx/>
                <a:latin typeface="Courier New"/>
                <a:ea typeface="Courier New"/>
              </a:rPr>
              <a:t>COLUMN 12</a:t>
            </a:r>
            <a:r>
              <a:rPr lang="en-US" sz="800" b="0" u="none" strike="noStrike">
                <a:solidFill>
                  <a:srgbClr val="000000"/>
                </a:solidFill>
                <a:effectLst/>
                <a:uFillTx/>
                <a:latin typeface="Courier New"/>
                <a:ea typeface="Courier New"/>
              </a:rPr>
              <a:t>     PIC X(11) VALUE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a:t>
            </a:r>
            <a:r>
              <a:rPr lang="en-US" sz="800" b="1" u="none" strike="noStrike">
                <a:solidFill>
                  <a:srgbClr val="CC0000"/>
                </a:solidFill>
                <a:effectLst/>
                <a:uFillTx/>
                <a:latin typeface="Courier New"/>
                <a:ea typeface="Courier New"/>
              </a:rPr>
              <a:t>COLUMN 28</a:t>
            </a:r>
            <a:r>
              <a:rPr lang="en-US" sz="800" b="0" u="none" strike="noStrike">
                <a:solidFill>
                  <a:srgbClr val="000000"/>
                </a:solidFill>
                <a:effectLst/>
                <a:uFillTx/>
                <a:latin typeface="Courier New"/>
                <a:ea typeface="Courier New"/>
              </a:rPr>
              <a:t>     PIC X(4)  VALUE "Sale".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5.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a:t>
            </a:r>
            <a:r>
              <a:rPr lang="en-US" sz="800" b="1" u="none" strike="noStrike">
                <a:solidFill>
                  <a:srgbClr val="CC0000"/>
                </a:solidFill>
                <a:effectLst/>
                <a:uFillTx/>
                <a:latin typeface="Courier New"/>
                <a:ea typeface="Courier New"/>
              </a:rPr>
              <a:t>COLUMN 2</a:t>
            </a:r>
            <a:r>
              <a:rPr lang="en-US" sz="800" b="0" u="none" strike="noStrike">
                <a:solidFill>
                  <a:srgbClr val="000000"/>
                </a:solidFill>
                <a:effectLst/>
                <a:uFillTx/>
                <a:latin typeface="Courier New"/>
                <a:ea typeface="Courier New"/>
              </a:rPr>
              <a:t>      PIC X(4)  VALUE "Name".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a:t>
            </a:r>
            <a:r>
              <a:rPr lang="en-US" sz="800" b="1" u="none" strike="noStrike">
                <a:solidFill>
                  <a:srgbClr val="CC0000"/>
                </a:solidFill>
                <a:effectLst/>
                <a:uFillTx/>
                <a:latin typeface="Courier New"/>
                <a:ea typeface="Courier New"/>
              </a:rPr>
              <a:t>COLUMN 13</a:t>
            </a:r>
            <a:r>
              <a:rPr lang="en-US" sz="800" b="0" u="none" strike="noStrike">
                <a:solidFill>
                  <a:srgbClr val="000000"/>
                </a:solidFill>
                <a:effectLst/>
                <a:uFillTx/>
                <a:latin typeface="Courier New"/>
                <a:ea typeface="Courier New"/>
              </a:rPr>
              <a:t>     PIC X(6)  VALUE "Number".</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a:t>
            </a:r>
            <a:r>
              <a:rPr lang="en-US" sz="800" b="1" u="none" strike="noStrike">
                <a:solidFill>
                  <a:srgbClr val="CC0000"/>
                </a:solidFill>
                <a:effectLst/>
                <a:uFillTx/>
                <a:latin typeface="Courier New"/>
                <a:ea typeface="Courier New"/>
              </a:rPr>
              <a:t>COLUMN 28</a:t>
            </a:r>
            <a:r>
              <a:rPr lang="en-US" sz="800" b="0" u="none" strike="noStrike">
                <a:solidFill>
                  <a:srgbClr val="000000"/>
                </a:solidFill>
                <a:effectLst/>
                <a:uFillTx/>
                <a:latin typeface="Courier New"/>
                <a:ea typeface="Courier New"/>
              </a:rPr>
              <a:t>     PIC X(5)  VALUE "Value".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DetailLine TYPE IS DETAIL.</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PLUS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      PIC X(9)</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SOURCE CityName(CityCode).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15     PIC 9</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SOURCE SalesPersonNum.</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25     PIC $$,$$$.99 SOURCE ValueOfSale.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SalesPersonGrp</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TYPE IS CONTROL FOOTING SalesPersonNum NEXT GROUP PLUS 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PLUS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15     PIC X(21)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"Sales for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37     PIC 9 SOURCE SalesPersonNum.</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43     PIC X VALUE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SMS COLUMN 45 PIC $$$$$,$$$.99 SUM ValueOfSale.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TYPE IS PAGE FOOTING.</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53.</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      PIC X(29)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"Programmer - Michael Coughlan".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45     PIC X(6) VALUE "Page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52     PIC Z9 SOURCE PAGE-COUNTER.</a:t>
            </a:r>
            <a:endParaRPr lang="en-US" sz="800" b="0" u="none" strike="noStrike">
              <a:solidFill>
                <a:srgbClr val="000000"/>
              </a:solidFill>
              <a:effectLst/>
              <a:uFillTx/>
              <a:latin typeface="Arial"/>
            </a:endParaRPr>
          </a:p>
        </p:txBody>
      </p:sp>
      <p:sp>
        <p:nvSpPr>
          <p:cNvPr id="33" name=""/>
          <p:cNvSpPr txBox="1"/>
          <p:nvPr/>
        </p:nvSpPr>
        <p:spPr>
          <a:xfrm>
            <a:off x="2079720" y="47520"/>
            <a:ext cx="1762200" cy="1200240"/>
          </a:xfrm>
          <a:prstGeom prst="rect">
            <a:avLst/>
          </a:prstGeom>
          <a:solidFill>
            <a:srgbClr val="FFFFCC"/>
          </a:solidFill>
          <a:ln w="12600">
            <a:solidFill>
              <a:srgbClr val="000000"/>
            </a:solidFill>
            <a:round/>
          </a:ln>
        </p:spPr>
        <p:txBody>
          <a:bodyPr lIns="0" tIns="0" rIns="0" bIns="0" anchor="t">
            <a:spAutoFit/>
          </a:bodyPr>
          <a:p>
            <a:pPr algn="ctr">
              <a:lnSpc>
                <a:spcPct val="85000"/>
              </a:lnSpc>
            </a:pPr>
            <a:r>
              <a:rPr lang="en-US" sz="1000" b="0" u="none" strike="noStrike">
                <a:solidFill>
                  <a:srgbClr val="000000"/>
                </a:solidFill>
                <a:effectLst/>
                <a:uFillTx/>
                <a:latin typeface="Times New Roman"/>
                <a:ea typeface="Times New Roman"/>
              </a:rPr>
              <a:t>The COLUMN [IS] phrase allows us to position the characters in each line.</a:t>
            </a:r>
            <a:endParaRPr lang="en-US" sz="1000" b="0" u="none" strike="noStrike">
              <a:solidFill>
                <a:srgbClr val="000000"/>
              </a:solidFill>
              <a:effectLst/>
              <a:uFillTx/>
              <a:latin typeface="Arial"/>
            </a:endParaRPr>
          </a:p>
          <a:p>
            <a:pPr algn="ctr">
              <a:lnSpc>
                <a:spcPct val="85000"/>
              </a:lnSpc>
            </a:pP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Scroll up to the report page in the previous section to see the result of these phrases.</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 name=""/>
          <p:cNvSpPr txBox="1"/>
          <p:nvPr/>
        </p:nvSpPr>
        <p:spPr>
          <a:xfrm>
            <a:off x="0" y="28440"/>
            <a:ext cx="3871800" cy="5156280"/>
          </a:xfrm>
          <a:prstGeom prst="rect">
            <a:avLst/>
          </a:prstGeom>
          <a:noFill/>
          <a:ln w="0">
            <a:noFill/>
          </a:ln>
        </p:spPr>
        <p:txBody>
          <a:bodyPr lIns="0" tIns="0" rIns="0" bIns="0" anchor="t">
            <a:spAutoFit/>
          </a:bodyPr>
          <a:p>
            <a:pPr>
              <a:lnSpc>
                <a:spcPct val="75000"/>
              </a:lnSpc>
            </a:pPr>
            <a:r>
              <a:rPr lang="en-US" sz="800" b="0" u="none" strike="noStrike">
                <a:solidFill>
                  <a:srgbClr val="000000"/>
                </a:solidFill>
                <a:effectLst/>
                <a:uFillTx/>
                <a:latin typeface="Courier New"/>
                <a:ea typeface="Courier New"/>
              </a:rPr>
              <a:t>REPORT SECTION.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RD  SalesReport</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CONTROLS ARE SalesPersonNum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PAGE LIMIT IS 66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HEADING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FIRST DETAIL 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LAST DETAIL 42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FOOTING 52.</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TYPE IS PAGE HEADING.</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12     PIC X(32)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"An example COBOL Report Program".</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6      PIC X(17)</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"Bible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23     PIC X(26)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 - Sales and Salary Report".</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4.</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      PIC X(4)  VALUE "City".</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12     PIC X(11) VALUE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28     PIC X(4)  VALUE "Sale".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5.</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      PIC X(4)  VALUE "Name".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13     PIC X(6)  VALUE "Number".</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28     PIC X(5)  VALUE "Value".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DetailLine TYPE IS DETAIL.</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PLUS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      PIC X(9)</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SOURCE CityName(CityCode).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15     PIC 9</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SOURCE SalesPersonNum.</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25     PIC $$,$$$.99 SOURCE ValueOfSale.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SalesPersonGrp</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TYPE IS CONTROL FOOTING SalesPersonNum NEXT GROUP PLUS 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PLUS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15     PIC X(21)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"Sales for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37     PIC 9 SOURCE SalesPersonNum.</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43     PIC X VALUE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SMS COLUMN 45 PIC $$$$$,$$$.99 SUM ValueOfSale.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a:t>
            </a:r>
            <a:r>
              <a:rPr lang="en-US" sz="800" b="1" u="none" strike="noStrike">
                <a:solidFill>
                  <a:srgbClr val="CC0000"/>
                </a:solidFill>
                <a:effectLst/>
                <a:uFillTx/>
                <a:latin typeface="Courier New"/>
                <a:ea typeface="Courier New"/>
              </a:rPr>
              <a:t>TYPE IS PAGE FOOTING</a:t>
            </a:r>
            <a:r>
              <a:rPr lang="en-US" sz="800" b="0" u="none" strike="noStrike">
                <a:solidFill>
                  <a:srgbClr val="000000"/>
                </a:solidFill>
                <a:effectLst/>
                <a:uFillTx/>
                <a:latin typeface="Courier New"/>
                <a:ea typeface="Courier New"/>
              </a:rPr>
              <a:t>.</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53.</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      PIC X(29)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"Programmer - Michael Coughlan".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45     PIC X(6) VALUE "Page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52     PIC Z9 SOURCE PAGE-COUNTER.</a:t>
            </a:r>
            <a:endParaRPr lang="en-US" sz="800" b="0" u="none" strike="noStrike">
              <a:solidFill>
                <a:srgbClr val="000000"/>
              </a:solidFill>
              <a:effectLst/>
              <a:uFillTx/>
              <a:latin typeface="Arial"/>
            </a:endParaRPr>
          </a:p>
        </p:txBody>
      </p:sp>
      <p:sp>
        <p:nvSpPr>
          <p:cNvPr id="35" name=""/>
          <p:cNvSpPr txBox="1"/>
          <p:nvPr/>
        </p:nvSpPr>
        <p:spPr>
          <a:xfrm>
            <a:off x="2055960" y="1647720"/>
            <a:ext cx="1762200" cy="1455840"/>
          </a:xfrm>
          <a:prstGeom prst="rect">
            <a:avLst/>
          </a:prstGeom>
          <a:solidFill>
            <a:srgbClr val="FFFFCC"/>
          </a:solidFill>
          <a:ln w="12600">
            <a:solidFill>
              <a:srgbClr val="000000"/>
            </a:solidFill>
            <a:round/>
          </a:ln>
        </p:spPr>
        <p:txBody>
          <a:bodyPr lIns="0" tIns="0" rIns="0" bIns="0" anchor="t">
            <a:spAutoFit/>
          </a:bodyPr>
          <a:p>
            <a:pPr algn="ctr">
              <a:lnSpc>
                <a:spcPct val="85000"/>
              </a:lnSpc>
            </a:pPr>
            <a:r>
              <a:rPr lang="en-US" sz="1000" b="0" u="none" strike="noStrike">
                <a:solidFill>
                  <a:srgbClr val="000000"/>
                </a:solidFill>
                <a:effectLst/>
                <a:uFillTx/>
                <a:latin typeface="Times New Roman"/>
                <a:ea typeface="Times New Roman"/>
              </a:rPr>
              <a:t>Now let’s specify the report group required to print the page footing.</a:t>
            </a:r>
            <a:endParaRPr lang="en-US" sz="1000" b="0" u="none" strike="noStrike">
              <a:solidFill>
                <a:srgbClr val="000000"/>
              </a:solidFill>
              <a:effectLst/>
              <a:uFillTx/>
              <a:latin typeface="Arial"/>
            </a:endParaRPr>
          </a:p>
          <a:p>
            <a:pPr algn="ctr">
              <a:lnSpc>
                <a:spcPct val="85000"/>
              </a:lnSpc>
            </a:pP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As before we must specify the type of report group. </a:t>
            </a: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It is a PAGE FOOTING group.</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 name=""/>
          <p:cNvSpPr txBox="1"/>
          <p:nvPr/>
        </p:nvSpPr>
        <p:spPr>
          <a:xfrm>
            <a:off x="0" y="28440"/>
            <a:ext cx="3871800" cy="5156280"/>
          </a:xfrm>
          <a:prstGeom prst="rect">
            <a:avLst/>
          </a:prstGeom>
          <a:noFill/>
          <a:ln w="0">
            <a:noFill/>
          </a:ln>
        </p:spPr>
        <p:txBody>
          <a:bodyPr lIns="0" tIns="0" rIns="0" bIns="0" anchor="t">
            <a:spAutoFit/>
          </a:bodyPr>
          <a:p>
            <a:pPr>
              <a:lnSpc>
                <a:spcPct val="75000"/>
              </a:lnSpc>
            </a:pPr>
            <a:r>
              <a:rPr lang="en-US" sz="800" b="0" u="none" strike="noStrike">
                <a:solidFill>
                  <a:srgbClr val="000000"/>
                </a:solidFill>
                <a:effectLst/>
                <a:uFillTx/>
                <a:latin typeface="Courier New"/>
                <a:ea typeface="Courier New"/>
              </a:rPr>
              <a:t>REPORT SECTION.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RD  SalesReport</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CONTROLS ARE SalesPersonNum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PAGE LIMIT IS 66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HEADING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FIRST DETAIL 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LAST DETAIL 42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FOOTING 52.</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TYPE IS PAGE HEADING.</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12     PIC X(32)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"An example COBOL Report Program".</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6      PIC X(17)</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"Bible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23     PIC X(26)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 - Sales and Salary Report".</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4.</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      PIC X(4)  VALUE "City".</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12     PIC X(11) VALUE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28     PIC X(4)  VALUE "Sale".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5.</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      PIC X(4)  VALUE "Name".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13     PIC X(6)  VALUE "Number".</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28     PIC X(5)  VALUE "Value".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DetailLine TYPE IS DETAIL.</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PLUS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      PIC X(9)</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SOURCE CityName(CityCode).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15     PIC 9</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SOURCE SalesPersonNum.</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25     PIC $$,$$$.99 SOURCE ValueOfSale.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SalesPersonGrp</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TYPE IS CONTROL FOOTING SalesPersonNum NEXT GROUP PLUS 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PLUS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15     PIC X(21)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"Sales for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37     PIC 9 SOURCE SalesPersonNum.</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43     PIC X VALUE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SMS COLUMN 45 PIC $$$$$,$$$.99 SUM ValueOfSale.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a:t>
            </a:r>
            <a:r>
              <a:rPr lang="en-US" sz="800" b="1" u="none" strike="noStrike">
                <a:solidFill>
                  <a:srgbClr val="CC0000"/>
                </a:solidFill>
                <a:effectLst/>
                <a:uFillTx/>
                <a:latin typeface="Courier New"/>
                <a:ea typeface="Courier New"/>
              </a:rPr>
              <a:t>TYPE IS PAGE FOOTING</a:t>
            </a:r>
            <a:r>
              <a:rPr lang="en-US" sz="800" b="0" u="none" strike="noStrike">
                <a:solidFill>
                  <a:srgbClr val="000000"/>
                </a:solidFill>
                <a:effectLst/>
                <a:uFillTx/>
                <a:latin typeface="Courier New"/>
                <a:ea typeface="Courier New"/>
              </a:rPr>
              <a:t>.</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53.</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      PIC X(29)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"Programmer - Michael Coughlan".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45     PIC X(6) VALUE "Page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52     PIC Z9 </a:t>
            </a:r>
            <a:r>
              <a:rPr lang="en-US" sz="800" b="1" u="none" strike="noStrike">
                <a:solidFill>
                  <a:srgbClr val="CC0000"/>
                </a:solidFill>
                <a:effectLst/>
                <a:uFillTx/>
                <a:latin typeface="Courier New"/>
                <a:ea typeface="Courier New"/>
              </a:rPr>
              <a:t>SOURCE PAGE-COUNTER</a:t>
            </a:r>
            <a:r>
              <a:rPr lang="en-US" sz="800" b="0" u="none" strike="noStrike">
                <a:solidFill>
                  <a:srgbClr val="000000"/>
                </a:solidFill>
                <a:effectLst/>
                <a:uFillTx/>
                <a:latin typeface="Courier New"/>
                <a:ea typeface="Courier New"/>
              </a:rPr>
              <a:t>.</a:t>
            </a:r>
            <a:endParaRPr lang="en-US" sz="800" b="0" u="none" strike="noStrike">
              <a:solidFill>
                <a:srgbClr val="000000"/>
              </a:solidFill>
              <a:effectLst/>
              <a:uFillTx/>
              <a:latin typeface="Arial"/>
            </a:endParaRPr>
          </a:p>
        </p:txBody>
      </p:sp>
      <p:sp>
        <p:nvSpPr>
          <p:cNvPr id="37" name=""/>
          <p:cNvSpPr txBox="1"/>
          <p:nvPr/>
        </p:nvSpPr>
        <p:spPr>
          <a:xfrm>
            <a:off x="2048040" y="1019160"/>
            <a:ext cx="1771560" cy="3124080"/>
          </a:xfrm>
          <a:prstGeom prst="rect">
            <a:avLst/>
          </a:prstGeom>
          <a:solidFill>
            <a:srgbClr val="FFFFCC"/>
          </a:solidFill>
          <a:ln w="12600">
            <a:solidFill>
              <a:srgbClr val="000000"/>
            </a:solidFill>
            <a:round/>
          </a:ln>
        </p:spPr>
        <p:txBody>
          <a:bodyPr lIns="0" tIns="0" rIns="0" bIns="0" anchor="t">
            <a:spAutoFit/>
          </a:bodyPr>
          <a:p>
            <a:pPr algn="ctr">
              <a:lnSpc>
                <a:spcPct val="85000"/>
              </a:lnSpc>
            </a:pPr>
            <a:r>
              <a:rPr lang="en-US" sz="1000" b="0" u="none" strike="noStrike">
                <a:solidFill>
                  <a:srgbClr val="000000"/>
                </a:solidFill>
                <a:effectLst/>
                <a:uFillTx/>
                <a:latin typeface="Times New Roman"/>
                <a:ea typeface="Times New Roman"/>
              </a:rPr>
              <a:t>The SOURCE phrase allows a programmer to tell the Report Writer </a:t>
            </a:r>
            <a:r>
              <a:rPr lang="en-US" sz="1000" b="1" u="none" strike="noStrike">
                <a:solidFill>
                  <a:srgbClr val="000000"/>
                </a:solidFill>
                <a:effectLst/>
                <a:uFillTx/>
                <a:latin typeface="Times New Roman"/>
                <a:ea typeface="Times New Roman"/>
              </a:rPr>
              <a:t>where</a:t>
            </a:r>
            <a:r>
              <a:rPr lang="en-US" sz="1000" b="0" u="none" strike="noStrike">
                <a:solidFill>
                  <a:srgbClr val="000000"/>
                </a:solidFill>
                <a:effectLst/>
                <a:uFillTx/>
                <a:latin typeface="Times New Roman"/>
                <a:ea typeface="Times New Roman"/>
              </a:rPr>
              <a:t> to find the value to be printed.</a:t>
            </a:r>
            <a:endParaRPr lang="en-US" sz="1000" b="0" u="none" strike="noStrike">
              <a:solidFill>
                <a:srgbClr val="000000"/>
              </a:solidFill>
              <a:effectLst/>
              <a:uFillTx/>
              <a:latin typeface="Arial"/>
            </a:endParaRPr>
          </a:p>
          <a:p>
            <a:pPr algn="ctr">
              <a:lnSpc>
                <a:spcPct val="85000"/>
              </a:lnSpc>
            </a:pP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We want to print a page number in the page footing and we do this by using the SOURCE PAGE-COUNTER phrase.</a:t>
            </a:r>
            <a:endParaRPr lang="en-US" sz="1000" b="0" u="none" strike="noStrike">
              <a:solidFill>
                <a:srgbClr val="000000"/>
              </a:solidFill>
              <a:effectLst/>
              <a:uFillTx/>
              <a:latin typeface="Arial"/>
            </a:endParaRPr>
          </a:p>
          <a:p>
            <a:pPr algn="ctr">
              <a:lnSpc>
                <a:spcPct val="85000"/>
              </a:lnSpc>
            </a:pP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PAGE-COUNTER is a special register that allows programs to access the page count.</a:t>
            </a:r>
            <a:endParaRPr lang="en-US" sz="1000" b="0" u="none" strike="noStrike">
              <a:solidFill>
                <a:srgbClr val="000000"/>
              </a:solidFill>
              <a:effectLst/>
              <a:uFillTx/>
              <a:latin typeface="Arial"/>
            </a:endParaRPr>
          </a:p>
          <a:p>
            <a:pPr algn="ctr">
              <a:lnSpc>
                <a:spcPct val="85000"/>
              </a:lnSpc>
            </a:pP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Each report in the Report Section has an associated  PAGE-COUNTER</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
          <p:cNvSpPr txBox="1"/>
          <p:nvPr/>
        </p:nvSpPr>
        <p:spPr>
          <a:xfrm>
            <a:off x="0" y="28440"/>
            <a:ext cx="3871800" cy="5156280"/>
          </a:xfrm>
          <a:prstGeom prst="rect">
            <a:avLst/>
          </a:prstGeom>
          <a:noFill/>
          <a:ln w="0">
            <a:noFill/>
          </a:ln>
        </p:spPr>
        <p:txBody>
          <a:bodyPr lIns="0" tIns="0" rIns="0" bIns="0" anchor="t">
            <a:spAutoFit/>
          </a:bodyPr>
          <a:p>
            <a:pPr>
              <a:lnSpc>
                <a:spcPct val="75000"/>
              </a:lnSpc>
            </a:pPr>
            <a:r>
              <a:rPr lang="en-US" sz="800" b="0" u="none" strike="noStrike">
                <a:solidFill>
                  <a:srgbClr val="000000"/>
                </a:solidFill>
                <a:effectLst/>
                <a:uFillTx/>
                <a:latin typeface="Courier New"/>
                <a:ea typeface="Courier New"/>
              </a:rPr>
              <a:t>REPORT SECTION.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RD  SalesReport</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CONTROLS ARE SalesPersonNum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PAGE LIMIT IS 66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HEADING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FIRST DETAIL 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LAST DETAIL 42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FOOTING 52.</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TYPE IS PAGE HEADING.</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12     PIC X(32)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"An example COBOL Report Program".</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6      PIC X(17)</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"Bible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23     PIC X(26)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 - Sales and Salary Report".</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4.</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      PIC X(4)  VALUE "City".</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12     PIC X(11) VALUE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28     PIC X(4)  VALUE "Sale".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5.</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      PIC X(4)  VALUE "Name".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13     PIC X(6)  VALUE "Number".</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28     PIC X(5)  VALUE "Value".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a:t>
            </a:r>
            <a:r>
              <a:rPr lang="en-US" sz="800" b="1" u="none" strike="noStrike">
                <a:solidFill>
                  <a:srgbClr val="CC0000"/>
                </a:solidFill>
                <a:effectLst/>
                <a:uFillTx/>
                <a:latin typeface="Courier New"/>
                <a:ea typeface="Courier New"/>
              </a:rPr>
              <a:t>DetailLine TYPE IS DETAIL</a:t>
            </a:r>
            <a:r>
              <a:rPr lang="en-US" sz="800" b="0" u="none" strike="noStrike">
                <a:solidFill>
                  <a:srgbClr val="000000"/>
                </a:solidFill>
                <a:effectLst/>
                <a:uFillTx/>
                <a:latin typeface="Courier New"/>
                <a:ea typeface="Courier New"/>
              </a:rPr>
              <a:t>.</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PLUS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      PIC X(9)</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SOURCE CityName(CityCode).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15     PIC 9</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SOURCE SalesPersonNum.</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25     PIC $$,$$$.99 SOURCE ValueOfSale.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SalesPersonGrp</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TYPE IS CONTROL FOOTING SalesPersonNum NEXT GROUP PLUS 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PLUS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15     PIC X(21)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"Sales for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37     PIC 9 SOURCE SalesPersonNum.</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43     PIC X VALUE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SMS COLUMN 45 PIC $$$$$,$$$.99 SUM ValueOfSale.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TYPE IS PAGE FOOTING.</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53.</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      PIC X(29)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"Programmer - Michael Coughlan".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45     PIC X(6) VALUE "Page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52     PIC Z9 SOURCE PAGE-COUNTER.</a:t>
            </a:r>
            <a:endParaRPr lang="en-US" sz="800" b="0" u="none" strike="noStrike">
              <a:solidFill>
                <a:srgbClr val="000000"/>
              </a:solidFill>
              <a:effectLst/>
              <a:uFillTx/>
              <a:latin typeface="Arial"/>
            </a:endParaRPr>
          </a:p>
        </p:txBody>
      </p:sp>
      <p:sp>
        <p:nvSpPr>
          <p:cNvPr id="39" name=""/>
          <p:cNvSpPr txBox="1"/>
          <p:nvPr/>
        </p:nvSpPr>
        <p:spPr>
          <a:xfrm>
            <a:off x="1971720" y="1019160"/>
            <a:ext cx="1762200" cy="1438200"/>
          </a:xfrm>
          <a:prstGeom prst="rect">
            <a:avLst/>
          </a:prstGeom>
          <a:solidFill>
            <a:srgbClr val="FFFFCC"/>
          </a:solidFill>
          <a:ln w="12600">
            <a:solidFill>
              <a:srgbClr val="000000"/>
            </a:solidFill>
            <a:round/>
          </a:ln>
        </p:spPr>
        <p:txBody>
          <a:bodyPr lIns="0" tIns="0" rIns="0" bIns="0" anchor="t">
            <a:spAutoFit/>
          </a:bodyPr>
          <a:p>
            <a:pPr algn="ctr">
              <a:lnSpc>
                <a:spcPct val="85000"/>
              </a:lnSpc>
            </a:pPr>
            <a:r>
              <a:rPr lang="en-US" sz="1000" b="0" u="none" strike="noStrike">
                <a:solidFill>
                  <a:srgbClr val="000000"/>
                </a:solidFill>
                <a:effectLst/>
                <a:uFillTx/>
                <a:latin typeface="Times New Roman"/>
                <a:ea typeface="Times New Roman"/>
              </a:rPr>
              <a:t>Now let’s specify the group that gets printed each time we want to display a sales record. </a:t>
            </a:r>
            <a:endParaRPr lang="en-US" sz="1000" b="0" u="none" strike="noStrike">
              <a:solidFill>
                <a:srgbClr val="000000"/>
              </a:solidFill>
              <a:effectLst/>
              <a:uFillTx/>
              <a:latin typeface="Arial"/>
            </a:endParaRPr>
          </a:p>
          <a:p>
            <a:pPr algn="ctr">
              <a:lnSpc>
                <a:spcPct val="85000"/>
              </a:lnSpc>
            </a:pP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This is a DETAIL group.  The DETAIL group is printed each time the GENERATE statement is executed.</a:t>
            </a:r>
            <a:endParaRPr lang="en-US" sz="1000" b="0" u="none" strike="noStrike">
              <a:solidFill>
                <a:srgbClr val="000000"/>
              </a:solidFill>
              <a:effectLst/>
              <a:uFillTx/>
              <a:latin typeface="Arial"/>
            </a:endParaRPr>
          </a:p>
        </p:txBody>
      </p:sp>
      <p:sp>
        <p:nvSpPr>
          <p:cNvPr id="40" name=""/>
          <p:cNvSpPr txBox="1"/>
          <p:nvPr/>
        </p:nvSpPr>
        <p:spPr>
          <a:xfrm>
            <a:off x="1971720" y="1019160"/>
            <a:ext cx="1762200" cy="1428840"/>
          </a:xfrm>
          <a:prstGeom prst="rect">
            <a:avLst/>
          </a:prstGeom>
          <a:solidFill>
            <a:srgbClr val="FFFFCC"/>
          </a:solidFill>
          <a:ln w="12600">
            <a:solidFill>
              <a:srgbClr val="000000"/>
            </a:solidFill>
            <a:round/>
          </a:ln>
        </p:spPr>
        <p:txBody>
          <a:bodyPr lIns="0" tIns="0" rIns="0" bIns="0" anchor="t">
            <a:spAutoFit/>
          </a:bodyPr>
          <a:p>
            <a:pPr algn="ctr">
              <a:lnSpc>
                <a:spcPct val="85000"/>
              </a:lnSpc>
            </a:pPr>
            <a:r>
              <a:rPr lang="en-US" sz="1000" b="0" u="none" strike="noStrike">
                <a:solidFill>
                  <a:srgbClr val="000000"/>
                </a:solidFill>
                <a:effectLst/>
                <a:uFillTx/>
                <a:latin typeface="Times New Roman"/>
                <a:ea typeface="Times New Roman"/>
              </a:rPr>
              <a:t>The DETAIL group has been given the name DetailLine because we need to refer to it in the GENERATE statement.</a:t>
            </a:r>
            <a:endParaRPr lang="en-US" sz="1000" b="0" u="none" strike="noStrike">
              <a:solidFill>
                <a:srgbClr val="000000"/>
              </a:solidFill>
              <a:effectLst/>
              <a:uFillTx/>
              <a:latin typeface="Arial"/>
            </a:endParaRPr>
          </a:p>
          <a:p>
            <a:pPr algn="ctr">
              <a:lnSpc>
                <a:spcPct val="85000"/>
              </a:lnSpc>
            </a:pP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The SOURCE clause gets the values for the various print items.</a:t>
            </a:r>
            <a:endParaRPr lang="en-US" sz="1000" b="0" u="none" strike="noStrike">
              <a:solidFill>
                <a:srgbClr val="000000"/>
              </a:solidFill>
              <a:effectLst/>
              <a:uFillTx/>
              <a:latin typeface="Arial"/>
            </a:endParaRPr>
          </a:p>
        </p:txBody>
      </p:sp>
      <p:sp>
        <p:nvSpPr>
          <p:cNvPr id="41" name=""/>
          <p:cNvSpPr txBox="1"/>
          <p:nvPr/>
        </p:nvSpPr>
        <p:spPr>
          <a:xfrm>
            <a:off x="1971720" y="1019160"/>
            <a:ext cx="1762200" cy="1428840"/>
          </a:xfrm>
          <a:prstGeom prst="rect">
            <a:avLst/>
          </a:prstGeom>
          <a:solidFill>
            <a:srgbClr val="FFFFCC"/>
          </a:solidFill>
          <a:ln w="12600">
            <a:solidFill>
              <a:srgbClr val="000000"/>
            </a:solidFill>
            <a:round/>
          </a:ln>
        </p:spPr>
        <p:txBody>
          <a:bodyPr lIns="0" tIns="0" rIns="0" bIns="0" anchor="t">
            <a:spAutoFit/>
          </a:bodyPr>
          <a:p>
            <a:pPr algn="ctr">
              <a:lnSpc>
                <a:spcPct val="85000"/>
              </a:lnSpc>
            </a:pPr>
            <a:r>
              <a:rPr lang="en-US" sz="1000" b="0" u="none" strike="noStrike">
                <a:solidFill>
                  <a:srgbClr val="000000"/>
                </a:solidFill>
                <a:effectLst/>
                <a:uFillTx/>
                <a:latin typeface="Times New Roman"/>
                <a:ea typeface="Times New Roman"/>
              </a:rPr>
              <a:t>The LINE IS PLUS 1 phrase prints the sales information on the next line unless a new page is required.</a:t>
            </a:r>
            <a:endParaRPr lang="en-US" sz="1000" b="0" u="none" strike="noStrike">
              <a:solidFill>
                <a:srgbClr val="000000"/>
              </a:solidFill>
              <a:effectLst/>
              <a:uFillTx/>
              <a:latin typeface="Arial"/>
            </a:endParaRPr>
          </a:p>
          <a:p>
            <a:pPr algn="ctr">
              <a:lnSpc>
                <a:spcPct val="85000"/>
              </a:lnSpc>
            </a:pP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If a new page is required the line is printed on the next page.</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 name=""/>
          <p:cNvSpPr txBox="1"/>
          <p:nvPr/>
        </p:nvSpPr>
        <p:spPr>
          <a:xfrm>
            <a:off x="0" y="28440"/>
            <a:ext cx="3871800" cy="5156280"/>
          </a:xfrm>
          <a:prstGeom prst="rect">
            <a:avLst/>
          </a:prstGeom>
          <a:noFill/>
          <a:ln w="0">
            <a:noFill/>
          </a:ln>
        </p:spPr>
        <p:txBody>
          <a:bodyPr lIns="0" tIns="0" rIns="0" bIns="0" anchor="t">
            <a:spAutoFit/>
          </a:bodyPr>
          <a:p>
            <a:pPr>
              <a:lnSpc>
                <a:spcPct val="75000"/>
              </a:lnSpc>
            </a:pPr>
            <a:r>
              <a:rPr lang="en-US" sz="800" b="0" u="none" strike="noStrike">
                <a:solidFill>
                  <a:srgbClr val="000000"/>
                </a:solidFill>
                <a:effectLst/>
                <a:uFillTx/>
                <a:latin typeface="Courier New"/>
                <a:ea typeface="Courier New"/>
              </a:rPr>
              <a:t>REPORT SECTION.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RD  SalesReport</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CONTROLS ARE SalesPersonNum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PAGE LIMIT IS 66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HEADING 1</a:t>
            </a:r>
            <a:endParaRPr lang="en-US" sz="800" b="0" u="none" strike="noStrike">
              <a:solidFill>
                <a:srgbClr val="000000"/>
              </a:solidFill>
              <a:effectLst/>
              <a:uFillTx/>
              <a:latin typeface="Arial"/>
            </a:endParaRPr>
          </a:p>
          <a:p>
            <a:pPr>
              <a:lnSpc>
                <a:spcPct val="75000"/>
              </a:lnSpc>
            </a:pPr>
            <a:r>
              <a:rPr lang="en-US" sz="800" b="0" u="none" strike="noStrike">
                <a:solidFill>
                  <a:srgbClr val="CC0000"/>
                </a:solidFill>
                <a:effectLst/>
                <a:uFillTx/>
                <a:latin typeface="Courier New"/>
                <a:ea typeface="Courier New"/>
              </a:rPr>
              <a:t>   </a:t>
            </a:r>
            <a:r>
              <a:rPr lang="en-US" sz="800" b="1" u="none" strike="noStrike">
                <a:solidFill>
                  <a:srgbClr val="CC0000"/>
                </a:solidFill>
                <a:effectLst/>
                <a:uFillTx/>
                <a:latin typeface="Courier New"/>
                <a:ea typeface="Courier New"/>
              </a:rPr>
              <a:t>FIRST DETAIL 6</a:t>
            </a:r>
            <a:endParaRPr lang="en-US" sz="800" b="0" u="none" strike="noStrike">
              <a:solidFill>
                <a:srgbClr val="000000"/>
              </a:solidFill>
              <a:effectLst/>
              <a:uFillTx/>
              <a:latin typeface="Arial"/>
            </a:endParaRPr>
          </a:p>
          <a:p>
            <a:pPr>
              <a:lnSpc>
                <a:spcPct val="75000"/>
              </a:lnSpc>
            </a:pPr>
            <a:r>
              <a:rPr lang="en-US" sz="800" b="1" u="none" strike="noStrike">
                <a:solidFill>
                  <a:srgbClr val="CC0000"/>
                </a:solidFill>
                <a:effectLst/>
                <a:uFillTx/>
                <a:latin typeface="Courier New"/>
                <a:ea typeface="Courier New"/>
              </a:rPr>
              <a:t>   LAST DETAIL 42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FOOTING 52.</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TYPE IS PAGE HEADING.</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12     PIC X(32)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"An example COBOL Report Program".</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6      PIC X(17)</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"Bible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23     PIC X(26)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 - Sales and Salary Report".</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4.</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      PIC X(4)  VALUE "City".</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12     PIC X(11) VALUE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28     PIC X(4)  VALUE "Sale".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5.</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      PIC X(4)  VALUE "Name".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13     PIC X(6)  VALUE "Number".</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28     PIC X(5)  VALUE "Value".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DetailLine TYPE IS DETAIL.</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PLUS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      PIC X(9)</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SOURCE CityName(CityCode).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15     PIC 9</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SOURCE SalesPersonNum.</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25     PIC $$,$$$.99 SOURCE ValueOfSale.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SalesPersonGrp</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TYPE IS CONTROL FOOTING SalesPersonNum NEXT GROUP PLUS 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PLUS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15     PIC X(21)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"Sales for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37     PIC 9 SOURCE SalesPersonNum.</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43     PIC X VALUE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SMS COLUMN 45 PIC $$$$$,$$$.99 SUM ValueOfSale.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TYPE IS PAGE FOOTING.</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53.</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      PIC X(29)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"Programmer - Michael Coughlan".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45     PIC X(6) VALUE "Page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52     PIC Z9 SOURCE PAGE-COUNTER.</a:t>
            </a:r>
            <a:endParaRPr lang="en-US" sz="800" b="0" u="none" strike="noStrike">
              <a:solidFill>
                <a:srgbClr val="000000"/>
              </a:solidFill>
              <a:effectLst/>
              <a:uFillTx/>
              <a:latin typeface="Arial"/>
            </a:endParaRPr>
          </a:p>
        </p:txBody>
      </p:sp>
      <p:sp>
        <p:nvSpPr>
          <p:cNvPr id="43" name=""/>
          <p:cNvSpPr txBox="1"/>
          <p:nvPr/>
        </p:nvSpPr>
        <p:spPr>
          <a:xfrm>
            <a:off x="1971720" y="1019160"/>
            <a:ext cx="1762200" cy="1704960"/>
          </a:xfrm>
          <a:prstGeom prst="rect">
            <a:avLst/>
          </a:prstGeom>
          <a:solidFill>
            <a:srgbClr val="FFFFCC"/>
          </a:solidFill>
          <a:ln w="12600">
            <a:solidFill>
              <a:srgbClr val="000000"/>
            </a:solidFill>
            <a:round/>
          </a:ln>
        </p:spPr>
        <p:txBody>
          <a:bodyPr lIns="0" tIns="0" rIns="0" bIns="0" anchor="t">
            <a:spAutoFit/>
          </a:bodyPr>
          <a:p>
            <a:pPr algn="ctr">
              <a:lnSpc>
                <a:spcPct val="85000"/>
              </a:lnSpc>
            </a:pPr>
            <a:r>
              <a:rPr lang="en-US" sz="1000" b="0" u="none" strike="noStrike">
                <a:solidFill>
                  <a:srgbClr val="000000"/>
                </a:solidFill>
                <a:effectLst/>
                <a:uFillTx/>
                <a:latin typeface="Times New Roman"/>
                <a:ea typeface="Times New Roman"/>
              </a:rPr>
              <a:t>How does the Report Writer know when new page is required?</a:t>
            </a:r>
            <a:endParaRPr lang="en-US" sz="1000" b="0" u="none" strike="noStrike">
              <a:solidFill>
                <a:srgbClr val="000000"/>
              </a:solidFill>
              <a:effectLst/>
              <a:uFillTx/>
              <a:latin typeface="Arial"/>
            </a:endParaRPr>
          </a:p>
          <a:p>
            <a:pPr algn="ctr">
              <a:lnSpc>
                <a:spcPct val="85000"/>
              </a:lnSpc>
            </a:pP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It knows when a new page is required because it keeps a line count and the programmer specifies where the last detail line can be printed .</a:t>
            </a:r>
            <a:endParaRPr lang="en-US" sz="1000" b="0" u="none" strike="noStrike">
              <a:solidFill>
                <a:srgbClr val="000000"/>
              </a:solidFill>
              <a:effectLst/>
              <a:uFillTx/>
              <a:latin typeface="Arial"/>
            </a:endParaRPr>
          </a:p>
        </p:txBody>
      </p:sp>
      <p:sp>
        <p:nvSpPr>
          <p:cNvPr id="44" name=""/>
          <p:cNvSpPr txBox="1"/>
          <p:nvPr/>
        </p:nvSpPr>
        <p:spPr>
          <a:xfrm>
            <a:off x="1971720" y="1019160"/>
            <a:ext cx="1762200" cy="1704960"/>
          </a:xfrm>
          <a:prstGeom prst="rect">
            <a:avLst/>
          </a:prstGeom>
          <a:solidFill>
            <a:srgbClr val="FFFFCC"/>
          </a:solidFill>
          <a:ln w="12600">
            <a:solidFill>
              <a:srgbClr val="000000"/>
            </a:solidFill>
            <a:round/>
          </a:ln>
        </p:spPr>
        <p:txBody>
          <a:bodyPr lIns="0" tIns="0" rIns="0" bIns="0" anchor="t">
            <a:spAutoFit/>
          </a:bodyPr>
          <a:p>
            <a:pPr algn="ctr">
              <a:lnSpc>
                <a:spcPct val="85000"/>
              </a:lnSpc>
            </a:pPr>
            <a:r>
              <a:rPr lang="en-US" sz="1000" b="0" u="none" strike="noStrike">
                <a:solidFill>
                  <a:srgbClr val="000000"/>
                </a:solidFill>
                <a:effectLst/>
                <a:uFillTx/>
                <a:latin typeface="Times New Roman"/>
                <a:ea typeface="Times New Roman"/>
              </a:rPr>
              <a:t>The FIRST and LAST DETAIL clauses specify where detail lines can appear. </a:t>
            </a:r>
            <a:endParaRPr lang="en-US" sz="1000" b="0" u="none" strike="noStrike">
              <a:solidFill>
                <a:srgbClr val="000000"/>
              </a:solidFill>
              <a:effectLst/>
              <a:uFillTx/>
              <a:latin typeface="Arial"/>
            </a:endParaRPr>
          </a:p>
          <a:p>
            <a:pPr algn="ctr">
              <a:lnSpc>
                <a:spcPct val="85000"/>
              </a:lnSpc>
            </a:pP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When the line count is greater than the value in LAST DETAIL the Report Writer goes to a new page.</a:t>
            </a:r>
            <a:endParaRPr lang="en-US" sz="1000" b="0" u="none" strike="noStrike">
              <a:solidFill>
                <a:srgbClr val="000000"/>
              </a:solidFill>
              <a:effectLst/>
              <a:uFillTx/>
              <a:latin typeface="Arial"/>
            </a:endParaRPr>
          </a:p>
        </p:txBody>
      </p:sp>
      <p:sp>
        <p:nvSpPr>
          <p:cNvPr id="45" name=""/>
          <p:cNvSpPr txBox="1"/>
          <p:nvPr/>
        </p:nvSpPr>
        <p:spPr>
          <a:xfrm>
            <a:off x="1971720" y="1019160"/>
            <a:ext cx="1762200" cy="1704960"/>
          </a:xfrm>
          <a:prstGeom prst="rect">
            <a:avLst/>
          </a:prstGeom>
          <a:solidFill>
            <a:srgbClr val="FFFFCC"/>
          </a:solidFill>
          <a:ln w="12600">
            <a:solidFill>
              <a:srgbClr val="000000"/>
            </a:solidFill>
            <a:round/>
          </a:ln>
        </p:spPr>
        <p:txBody>
          <a:bodyPr lIns="0" tIns="0" rIns="0" bIns="0" anchor="t">
            <a:spAutoFit/>
          </a:bodyPr>
          <a:p>
            <a:pPr algn="ctr">
              <a:lnSpc>
                <a:spcPct val="85000"/>
              </a:lnSpc>
            </a:pPr>
            <a:r>
              <a:rPr lang="en-US" sz="1000" b="0" u="none" strike="noStrike">
                <a:solidFill>
                  <a:srgbClr val="000000"/>
                </a:solidFill>
                <a:effectLst/>
                <a:uFillTx/>
                <a:latin typeface="Times New Roman"/>
                <a:ea typeface="Times New Roman"/>
              </a:rPr>
              <a:t>PAGE LIMIT specifies the size of the page.</a:t>
            </a:r>
            <a:endParaRPr lang="en-US" sz="1000" b="0" u="none" strike="noStrike">
              <a:solidFill>
                <a:srgbClr val="000000"/>
              </a:solidFill>
              <a:effectLst/>
              <a:uFillTx/>
              <a:latin typeface="Arial"/>
            </a:endParaRPr>
          </a:p>
          <a:p>
            <a:pPr algn="ctr">
              <a:lnSpc>
                <a:spcPct val="85000"/>
              </a:lnSpc>
            </a:pP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HEADING specifies where the first heading line can be printed.</a:t>
            </a:r>
            <a:endParaRPr lang="en-US" sz="1000" b="0" u="none" strike="noStrike">
              <a:solidFill>
                <a:srgbClr val="000000"/>
              </a:solidFill>
              <a:effectLst/>
              <a:uFillTx/>
              <a:latin typeface="Arial"/>
            </a:endParaRPr>
          </a:p>
          <a:p>
            <a:pPr algn="ctr">
              <a:lnSpc>
                <a:spcPct val="85000"/>
              </a:lnSpc>
            </a:pP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FOOTING specifieds where the first footing line can be printed.</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 name=""/>
          <p:cNvSpPr txBox="1"/>
          <p:nvPr/>
        </p:nvSpPr>
        <p:spPr>
          <a:xfrm>
            <a:off x="0" y="28440"/>
            <a:ext cx="3871800" cy="5156280"/>
          </a:xfrm>
          <a:prstGeom prst="rect">
            <a:avLst/>
          </a:prstGeom>
          <a:noFill/>
          <a:ln w="0">
            <a:noFill/>
          </a:ln>
        </p:spPr>
        <p:txBody>
          <a:bodyPr lIns="0" tIns="0" rIns="0" bIns="0" anchor="t">
            <a:spAutoFit/>
          </a:bodyPr>
          <a:p>
            <a:pPr>
              <a:lnSpc>
                <a:spcPct val="75000"/>
              </a:lnSpc>
            </a:pPr>
            <a:r>
              <a:rPr lang="en-US" sz="800" b="0" u="none" strike="noStrike">
                <a:solidFill>
                  <a:srgbClr val="000000"/>
                </a:solidFill>
                <a:effectLst/>
                <a:uFillTx/>
                <a:latin typeface="Courier New"/>
                <a:ea typeface="Courier New"/>
              </a:rPr>
              <a:t>REPORT SECTION.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RD  SalesReport</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CONTROLS ARE SalesPersonNum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PAGE LIMIT IS 66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HEADING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FIRST DETAIL 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LAST DETAIL 42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FOOTING 52.</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TYPE IS PAGE HEADING.</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12     PIC X(32)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"An example COBOL Report Program".</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6      PIC X(17)</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"Bible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23     PIC X(26)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 - Sales and Salary Report".</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4.</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      PIC X(4)  VALUE "City".</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12     PIC X(11) VALUE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28     PIC X(4)  VALUE "Sale".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5.</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      PIC X(4)  VALUE "Name".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13     PIC X(6)  VALUE "Number".</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28     PIC X(5)  VALUE "Value".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DetailLine TYPE IS DETAIL.</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PLUS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      PIC X(9)</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SOURCE CityName(CityCode).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15     PIC 9</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SOURCE SalesPersonNum.</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25     PIC $$,$$$.99 SOURCE ValueOfSale.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1" u="none" strike="noStrike">
                <a:solidFill>
                  <a:srgbClr val="CC0000"/>
                </a:solidFill>
                <a:effectLst/>
                <a:uFillTx/>
                <a:latin typeface="Courier New"/>
                <a:ea typeface="Courier New"/>
              </a:rPr>
              <a:t>01  SalesPersonGrp</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TYPE IS CONTROL FOOTING SalesPersonNum NEXT GROUP PLUS 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PLUS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15     PIC X(21)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"Sales for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37     PIC 9 SOURCE SalesPersonNum.</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43     PIC X VALUE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SMS COLUMN 45 PIC $$$$$,$$$.99 SUM ValueOfSale.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TYPE IS PAGE FOOTING.</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53.</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      PIC X(29)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"Programmer - Michael Coughlan".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45     PIC X(6) VALUE "Page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52     PIC Z9 SOURCE PAGE-COUNTER.</a:t>
            </a:r>
            <a:endParaRPr lang="en-US" sz="800" b="0" u="none" strike="noStrike">
              <a:solidFill>
                <a:srgbClr val="000000"/>
              </a:solidFill>
              <a:effectLst/>
              <a:uFillTx/>
              <a:latin typeface="Arial"/>
            </a:endParaRPr>
          </a:p>
        </p:txBody>
      </p:sp>
      <p:sp>
        <p:nvSpPr>
          <p:cNvPr id="47" name=""/>
          <p:cNvSpPr txBox="1"/>
          <p:nvPr/>
        </p:nvSpPr>
        <p:spPr>
          <a:xfrm>
            <a:off x="1971720" y="1019160"/>
            <a:ext cx="1762200" cy="2124000"/>
          </a:xfrm>
          <a:prstGeom prst="rect">
            <a:avLst/>
          </a:prstGeom>
          <a:solidFill>
            <a:srgbClr val="FFFFCC"/>
          </a:solidFill>
          <a:ln w="12600">
            <a:solidFill>
              <a:srgbClr val="000000"/>
            </a:solidFill>
            <a:round/>
          </a:ln>
        </p:spPr>
        <p:txBody>
          <a:bodyPr lIns="0" tIns="0" rIns="0" bIns="0" anchor="t">
            <a:spAutoFit/>
          </a:bodyPr>
          <a:p>
            <a:pPr algn="ctr">
              <a:lnSpc>
                <a:spcPct val="85000"/>
              </a:lnSpc>
            </a:pPr>
            <a:r>
              <a:rPr lang="en-US" sz="1000" b="0" u="none" strike="noStrike">
                <a:solidFill>
                  <a:srgbClr val="000000"/>
                </a:solidFill>
                <a:effectLst/>
                <a:uFillTx/>
                <a:latin typeface="Times New Roman"/>
                <a:ea typeface="Times New Roman"/>
              </a:rPr>
              <a:t>When the salesperson number changes  we want to print the total sales for the salesperson.</a:t>
            </a:r>
            <a:endParaRPr lang="en-US" sz="1000" b="0" u="none" strike="noStrike">
              <a:solidFill>
                <a:srgbClr val="000000"/>
              </a:solidFill>
              <a:effectLst/>
              <a:uFillTx/>
              <a:latin typeface="Arial"/>
            </a:endParaRPr>
          </a:p>
          <a:p>
            <a:pPr algn="ctr">
              <a:lnSpc>
                <a:spcPct val="85000"/>
              </a:lnSpc>
            </a:pP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We can set up a report group (as shown) that describes </a:t>
            </a:r>
            <a:r>
              <a:rPr lang="en-US" sz="1000" b="1" u="none" strike="noStrike">
                <a:solidFill>
                  <a:srgbClr val="000000"/>
                </a:solidFill>
                <a:effectLst/>
                <a:uFillTx/>
                <a:latin typeface="Times New Roman"/>
                <a:ea typeface="Times New Roman"/>
              </a:rPr>
              <a:t>what</a:t>
            </a:r>
            <a:r>
              <a:rPr lang="en-US" sz="1000" b="0" u="none" strike="noStrike">
                <a:solidFill>
                  <a:srgbClr val="000000"/>
                </a:solidFill>
                <a:effectLst/>
                <a:uFillTx/>
                <a:latin typeface="Times New Roman"/>
                <a:ea typeface="Times New Roman"/>
              </a:rPr>
              <a:t> to print each time the salesperson number changes.  </a:t>
            </a:r>
            <a:endParaRPr lang="en-US" sz="1000" b="0" u="none" strike="noStrike">
              <a:solidFill>
                <a:srgbClr val="000000"/>
              </a:solidFill>
              <a:effectLst/>
              <a:uFillTx/>
              <a:latin typeface="Arial"/>
            </a:endParaRPr>
          </a:p>
          <a:p>
            <a:pPr algn="ctr">
              <a:lnSpc>
                <a:spcPct val="85000"/>
              </a:lnSpc>
            </a:pP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But how will the Report Writer know </a:t>
            </a:r>
            <a:r>
              <a:rPr lang="en-US" sz="1000" b="1" u="none" strike="noStrike">
                <a:solidFill>
                  <a:srgbClr val="000000"/>
                </a:solidFill>
                <a:effectLst/>
                <a:uFillTx/>
                <a:latin typeface="Times New Roman"/>
                <a:ea typeface="Times New Roman"/>
              </a:rPr>
              <a:t>when</a:t>
            </a:r>
            <a:r>
              <a:rPr lang="en-US" sz="1000" b="0" u="none" strike="noStrike">
                <a:solidFill>
                  <a:srgbClr val="000000"/>
                </a:solidFill>
                <a:effectLst/>
                <a:uFillTx/>
                <a:latin typeface="Times New Roman"/>
                <a:ea typeface="Times New Roman"/>
              </a:rPr>
              <a:t> to print this group? </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
          <p:cNvSpPr txBox="1"/>
          <p:nvPr/>
        </p:nvSpPr>
        <p:spPr>
          <a:xfrm>
            <a:off x="0" y="28440"/>
            <a:ext cx="3871800" cy="5156280"/>
          </a:xfrm>
          <a:prstGeom prst="rect">
            <a:avLst/>
          </a:prstGeom>
          <a:noFill/>
          <a:ln w="0">
            <a:noFill/>
          </a:ln>
        </p:spPr>
        <p:txBody>
          <a:bodyPr lIns="0" tIns="0" rIns="0" bIns="0" anchor="t">
            <a:spAutoFit/>
          </a:bodyPr>
          <a:p>
            <a:pPr>
              <a:lnSpc>
                <a:spcPct val="75000"/>
              </a:lnSpc>
            </a:pPr>
            <a:r>
              <a:rPr lang="en-US" sz="800" b="0" u="none" strike="noStrike">
                <a:solidFill>
                  <a:srgbClr val="000000"/>
                </a:solidFill>
                <a:effectLst/>
                <a:uFillTx/>
                <a:latin typeface="Courier New"/>
                <a:ea typeface="Courier New"/>
              </a:rPr>
              <a:t>REPORT SECTION.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RD  SalesReport</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CONTROLS ARE SalesPersonNum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PAGE LIMIT IS 66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HEADING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FIRST DETAIL 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LAST DETAIL 42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FOOTING 52.</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TYPE IS PAGE HEADING.</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12     PIC X(32)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"An example COBOL Report Program".</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6      PIC X(17)</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"Bible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23     PIC X(26)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 - Sales and Salary Report".</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4.</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      PIC X(4)  VALUE "City".</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12     PIC X(11) VALUE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28     PIC X(4)  VALUE "Sale".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5.</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      PIC X(4)  VALUE "Name".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13     PIC X(6)  VALUE "Number".</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28     PIC X(5)  VALUE "Value".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DetailLine TYPE IS DETAIL.</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PLUS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      PIC X(9)</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SOURCE CityName(CityCode).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15     PIC 9</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SOURCE SalesPersonNum.</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25     PIC $$,$$$.99 SOURCE ValueOfSale.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1" u="none" strike="noStrike">
                <a:solidFill>
                  <a:srgbClr val="CC0000"/>
                </a:solidFill>
                <a:effectLst/>
                <a:uFillTx/>
                <a:latin typeface="Courier New"/>
                <a:ea typeface="Courier New"/>
              </a:rPr>
              <a:t>01  SalesPersonGrp</a:t>
            </a:r>
            <a:endParaRPr lang="en-US" sz="800" b="0" u="none" strike="noStrike">
              <a:solidFill>
                <a:srgbClr val="000000"/>
              </a:solidFill>
              <a:effectLst/>
              <a:uFillTx/>
              <a:latin typeface="Arial"/>
            </a:endParaRPr>
          </a:p>
          <a:p>
            <a:pPr>
              <a:lnSpc>
                <a:spcPct val="75000"/>
              </a:lnSpc>
            </a:pPr>
            <a:r>
              <a:rPr lang="en-US" sz="800" b="1" u="none" strike="noStrike">
                <a:solidFill>
                  <a:srgbClr val="CC0000"/>
                </a:solidFill>
                <a:effectLst/>
                <a:uFillTx/>
                <a:latin typeface="Courier New"/>
                <a:ea typeface="Courier New"/>
              </a:rPr>
              <a:t>   TYPE IS CONTROL FOOTING SalesPersonNum NEXT GROUP PLUS 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PLUS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15     PIC X(21)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"Sales for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37     PIC 9 SOURCE SalesPersonNum.</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43     PIC X VALUE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SMS COLUMN 45 PIC $$$$$,$$$.99 SUM ValueOfSale.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TYPE IS PAGE FOOTING.</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53.</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      PIC X(29)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"Programmer - Michael Coughlan".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45     PIC X(6) VALUE "Page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52     PIC Z9 SOURCE PAGE-COUNTER.</a:t>
            </a:r>
            <a:endParaRPr lang="en-US" sz="800" b="0" u="none" strike="noStrike">
              <a:solidFill>
                <a:srgbClr val="000000"/>
              </a:solidFill>
              <a:effectLst/>
              <a:uFillTx/>
              <a:latin typeface="Arial"/>
            </a:endParaRPr>
          </a:p>
        </p:txBody>
      </p:sp>
      <p:sp>
        <p:nvSpPr>
          <p:cNvPr id="49" name=""/>
          <p:cNvSpPr txBox="1"/>
          <p:nvPr/>
        </p:nvSpPr>
        <p:spPr>
          <a:xfrm>
            <a:off x="1971720" y="1647720"/>
            <a:ext cx="1762200" cy="1677960"/>
          </a:xfrm>
          <a:prstGeom prst="rect">
            <a:avLst/>
          </a:prstGeom>
          <a:solidFill>
            <a:srgbClr val="FFFFCC"/>
          </a:solidFill>
          <a:ln w="12600">
            <a:solidFill>
              <a:srgbClr val="000000"/>
            </a:solidFill>
            <a:round/>
          </a:ln>
        </p:spPr>
        <p:txBody>
          <a:bodyPr lIns="0" tIns="0" rIns="0" bIns="0" anchor="t">
            <a:spAutoFit/>
          </a:bodyPr>
          <a:p>
            <a:pPr algn="ctr">
              <a:lnSpc>
                <a:spcPct val="85000"/>
              </a:lnSpc>
            </a:pPr>
            <a:r>
              <a:rPr lang="en-US" sz="1000" b="0" u="none" strike="noStrike">
                <a:solidFill>
                  <a:srgbClr val="000000"/>
                </a:solidFill>
                <a:effectLst/>
                <a:uFillTx/>
                <a:latin typeface="Times New Roman"/>
                <a:ea typeface="Times New Roman"/>
              </a:rPr>
              <a:t>The Report Writer knows that this group must be printed when there is a control break because we specified that the type of this group is CONTROL FOOTING.</a:t>
            </a:r>
            <a:endParaRPr lang="en-US" sz="1000" b="0" u="none" strike="noStrike">
              <a:solidFill>
                <a:srgbClr val="000000"/>
              </a:solidFill>
              <a:effectLst/>
              <a:uFillTx/>
              <a:latin typeface="Arial"/>
            </a:endParaRPr>
          </a:p>
          <a:p>
            <a:pPr algn="ctr">
              <a:lnSpc>
                <a:spcPct val="85000"/>
              </a:lnSpc>
            </a:pP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But how does the Report Writer know </a:t>
            </a:r>
            <a:r>
              <a:rPr lang="en-US" sz="1000" b="1" u="none" strike="noStrike">
                <a:solidFill>
                  <a:srgbClr val="000000"/>
                </a:solidFill>
                <a:effectLst/>
                <a:uFillTx/>
                <a:latin typeface="Times New Roman"/>
                <a:ea typeface="Times New Roman"/>
              </a:rPr>
              <a:t>when</a:t>
            </a:r>
            <a:r>
              <a:rPr lang="en-US" sz="1000" b="0" u="none" strike="noStrike">
                <a:solidFill>
                  <a:srgbClr val="000000"/>
                </a:solidFill>
                <a:effectLst/>
                <a:uFillTx/>
                <a:latin typeface="Times New Roman"/>
                <a:ea typeface="Times New Roman"/>
              </a:rPr>
              <a:t> a control break occurs?</a:t>
            </a:r>
            <a:endParaRPr lang="en-US" sz="1000" b="0" u="none" strike="noStrike">
              <a:solidFill>
                <a:srgbClr val="000000"/>
              </a:solidFill>
              <a:effectLst/>
              <a:uFillTx/>
              <a:latin typeface="Arial"/>
            </a:endParaRPr>
          </a:p>
        </p:txBody>
      </p:sp>
      <p:grpSp>
        <p:nvGrpSpPr>
          <p:cNvPr id="50" name=""/>
          <p:cNvGrpSpPr/>
          <p:nvPr/>
        </p:nvGrpSpPr>
        <p:grpSpPr>
          <a:xfrm>
            <a:off x="1724040" y="1619280"/>
            <a:ext cx="2075040" cy="2276640"/>
            <a:chOff x="1724040" y="1619280"/>
            <a:chExt cx="2075040" cy="2276640"/>
          </a:xfrm>
        </p:grpSpPr>
        <p:sp>
          <p:nvSpPr>
            <p:cNvPr id="51" name=""/>
            <p:cNvSpPr txBox="1"/>
            <p:nvPr/>
          </p:nvSpPr>
          <p:spPr>
            <a:xfrm>
              <a:off x="1971720" y="1619280"/>
              <a:ext cx="1827360" cy="2160720"/>
            </a:xfrm>
            <a:prstGeom prst="rect">
              <a:avLst/>
            </a:prstGeom>
            <a:solidFill>
              <a:srgbClr val="FFFFCC"/>
            </a:solidFill>
            <a:ln w="12600">
              <a:solidFill>
                <a:srgbClr val="000000"/>
              </a:solidFill>
              <a:round/>
            </a:ln>
          </p:spPr>
          <p:txBody>
            <a:bodyPr lIns="0" tIns="0" rIns="0" bIns="0" anchor="t">
              <a:spAutoFit/>
            </a:bodyPr>
            <a:p>
              <a:pPr algn="ctr">
                <a:lnSpc>
                  <a:spcPct val="85000"/>
                </a:lnSpc>
              </a:pPr>
              <a:r>
                <a:rPr lang="en-US" sz="1000" b="0" u="none" strike="noStrike">
                  <a:solidFill>
                    <a:srgbClr val="000000"/>
                  </a:solidFill>
                  <a:effectLst/>
                  <a:uFillTx/>
                  <a:latin typeface="Times New Roman"/>
                  <a:ea typeface="Times New Roman"/>
                </a:rPr>
                <a:t>When we specify that a group is a control group, we must also specify the name of the control break data-item.  The Report Writer monitors the value in this item and when it changes a control break occurs.</a:t>
              </a:r>
              <a:endParaRPr lang="en-US" sz="1000" b="0" u="none" strike="noStrike">
                <a:solidFill>
                  <a:srgbClr val="000000"/>
                </a:solidFill>
                <a:effectLst/>
                <a:uFillTx/>
                <a:latin typeface="Arial"/>
              </a:endParaRPr>
            </a:p>
            <a:p>
              <a:pPr algn="ctr">
                <a:lnSpc>
                  <a:spcPct val="85000"/>
                </a:lnSpc>
              </a:pP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But if there is more than one control break item how does the Report  Writer establish the relationship between them?</a:t>
              </a:r>
              <a:endParaRPr lang="en-US" sz="1000" b="0" u="none" strike="noStrike">
                <a:solidFill>
                  <a:srgbClr val="000000"/>
                </a:solidFill>
                <a:effectLst/>
                <a:uFillTx/>
                <a:latin typeface="Arial"/>
              </a:endParaRPr>
            </a:p>
          </p:txBody>
        </p:sp>
        <p:sp>
          <p:nvSpPr>
            <p:cNvPr id="52" name=""/>
            <p:cNvSpPr/>
            <p:nvPr/>
          </p:nvSpPr>
          <p:spPr>
            <a:xfrm>
              <a:off x="1724040" y="3645000"/>
              <a:ext cx="923760" cy="250920"/>
            </a:xfrm>
            <a:prstGeom prst="rect">
              <a:avLst/>
            </a:prstGeom>
            <a:noFill/>
            <a:ln w="12600">
              <a:solidFill>
                <a:srgbClr val="CC0000"/>
              </a:solidFill>
              <a:round/>
            </a:ln>
          </p:spPr>
          <p:txBody>
            <a:bodyPr lIns="96120" tIns="51120" rIns="96120" bIns="51120" anchor="t">
              <a:noAutofit/>
            </a:bodyPr>
            <a:p>
              <a:endParaRPr lang="en-US" sz="1800" b="0" u="none" strike="noStrike">
                <a:solidFill>
                  <a:srgbClr val="000000"/>
                </a:solidFill>
                <a:effectLst/>
                <a:uFillTx/>
                <a:latin typeface="Arial"/>
              </a:endParaRPr>
            </a:p>
          </p:txBody>
        </p:sp>
      </p:gr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 name=""/>
          <p:cNvSpPr txBox="1"/>
          <p:nvPr/>
        </p:nvSpPr>
        <p:spPr>
          <a:xfrm>
            <a:off x="0" y="28440"/>
            <a:ext cx="3871800" cy="5156280"/>
          </a:xfrm>
          <a:prstGeom prst="rect">
            <a:avLst/>
          </a:prstGeom>
          <a:noFill/>
          <a:ln w="0">
            <a:noFill/>
          </a:ln>
        </p:spPr>
        <p:txBody>
          <a:bodyPr lIns="0" tIns="0" rIns="0" bIns="0" anchor="t">
            <a:spAutoFit/>
          </a:bodyPr>
          <a:p>
            <a:pPr>
              <a:lnSpc>
                <a:spcPct val="75000"/>
              </a:lnSpc>
            </a:pPr>
            <a:r>
              <a:rPr lang="en-US" sz="800" b="0" u="none" strike="noStrike">
                <a:solidFill>
                  <a:srgbClr val="000000"/>
                </a:solidFill>
                <a:effectLst/>
                <a:uFillTx/>
                <a:latin typeface="Courier New"/>
                <a:ea typeface="Courier New"/>
              </a:rPr>
              <a:t>REPORT SECTION.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RD  SalesReport</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a:t>
            </a:r>
            <a:r>
              <a:rPr lang="en-US" sz="800" b="1" u="none" strike="noStrike">
                <a:solidFill>
                  <a:srgbClr val="CC0000"/>
                </a:solidFill>
                <a:effectLst/>
                <a:uFillTx/>
                <a:latin typeface="Courier New"/>
                <a:ea typeface="Courier New"/>
              </a:rPr>
              <a:t>CONTROLS ARE SalesPersonNum</a:t>
            </a:r>
            <a:r>
              <a:rPr lang="en-US" sz="800" b="0" u="none" strike="noStrike">
                <a:solidFill>
                  <a:srgbClr val="000000"/>
                </a:solidFill>
                <a:effectLst/>
                <a:uFillTx/>
                <a:latin typeface="Courier New"/>
                <a:ea typeface="Courier New"/>
              </a:rPr>
              <a:t>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PAGE LIMIT IS 66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HEADING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FIRST DETAIL 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LAST DETAIL 42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FOOTING 52.</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TYPE IS PAGE HEADING.</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12     PIC X(32)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"An example COBOL Report Program".</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6      PIC X(17)</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"Bible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23     PIC X(26)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 - Sales and Salary Report".</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4.</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      PIC X(4)  VALUE "City".</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12     PIC X(11) VALUE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28     PIC X(4)  VALUE "Sale".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5.</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      PIC X(4)  VALUE "Name".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13     PIC X(6)  VALUE "Number".</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28     PIC X(5)  VALUE "Value".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DetailLine TYPE IS DETAIL.</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PLUS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      PIC X(9)</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SOURCE CityName(CityCode).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15     PIC 9</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SOURCE SalesPersonNum.</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25     PIC $$,$$$.99 SOURCE ValueOfSale.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1" u="none" strike="noStrike">
                <a:solidFill>
                  <a:srgbClr val="CC0000"/>
                </a:solidFill>
                <a:effectLst/>
                <a:uFillTx/>
                <a:latin typeface="Courier New"/>
                <a:ea typeface="Courier New"/>
              </a:rPr>
              <a:t>01  SalesPersonGrp</a:t>
            </a:r>
            <a:endParaRPr lang="en-US" sz="800" b="0" u="none" strike="noStrike">
              <a:solidFill>
                <a:srgbClr val="000000"/>
              </a:solidFill>
              <a:effectLst/>
              <a:uFillTx/>
              <a:latin typeface="Arial"/>
            </a:endParaRPr>
          </a:p>
          <a:p>
            <a:pPr>
              <a:lnSpc>
                <a:spcPct val="75000"/>
              </a:lnSpc>
            </a:pPr>
            <a:r>
              <a:rPr lang="en-US" sz="800" b="1" u="none" strike="noStrike">
                <a:solidFill>
                  <a:srgbClr val="CC0000"/>
                </a:solidFill>
                <a:effectLst/>
                <a:uFillTx/>
                <a:latin typeface="Courier New"/>
                <a:ea typeface="Courier New"/>
              </a:rPr>
              <a:t>   TYPE IS CONTROL FOOTING SalesPersonNum NEXT GROUP PLUS 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PLUS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15     PIC X(21)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"Sales for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37     PIC 9 SOURCE SalesPersonNum.</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43     PIC X VALUE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SMS COLUMN 45 PIC $$$$$,$$$.99 SUM ValueOfSale.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TYPE IS PAGE FOOTING.</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53.</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      PIC X(29)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"Programmer - Michael Coughlan".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45     PIC X(6) VALUE "Page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52     PIC Z9 SOURCE PAGE-COUNTER.</a:t>
            </a:r>
            <a:endParaRPr lang="en-US" sz="800" b="0" u="none" strike="noStrike">
              <a:solidFill>
                <a:srgbClr val="000000"/>
              </a:solidFill>
              <a:effectLst/>
              <a:uFillTx/>
              <a:latin typeface="Arial"/>
            </a:endParaRPr>
          </a:p>
        </p:txBody>
      </p:sp>
      <p:sp>
        <p:nvSpPr>
          <p:cNvPr id="54" name=""/>
          <p:cNvSpPr txBox="1"/>
          <p:nvPr/>
        </p:nvSpPr>
        <p:spPr>
          <a:xfrm>
            <a:off x="1971720" y="1647720"/>
            <a:ext cx="1754280" cy="1773360"/>
          </a:xfrm>
          <a:prstGeom prst="rect">
            <a:avLst/>
          </a:prstGeom>
          <a:solidFill>
            <a:srgbClr val="FFFFCC"/>
          </a:solidFill>
          <a:ln w="12600">
            <a:solidFill>
              <a:srgbClr val="000000"/>
            </a:solidFill>
            <a:round/>
          </a:ln>
        </p:spPr>
        <p:txBody>
          <a:bodyPr lIns="0" tIns="0" rIns="0" bIns="0" anchor="t">
            <a:spAutoFit/>
          </a:bodyPr>
          <a:p>
            <a:pPr algn="ctr">
              <a:lnSpc>
                <a:spcPct val="85000"/>
              </a:lnSpc>
            </a:pPr>
            <a:r>
              <a:rPr lang="en-US" sz="1000" b="0" u="none" strike="noStrike">
                <a:solidFill>
                  <a:srgbClr val="000000"/>
                </a:solidFill>
                <a:effectLst/>
                <a:uFillTx/>
                <a:latin typeface="Times New Roman"/>
                <a:ea typeface="Times New Roman"/>
              </a:rPr>
              <a:t>The order of the control breaks is established by the CONTROLS ARE phrase in the report’s RD entry.  The control break items are given in order of seniority.  </a:t>
            </a: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If a senior control break occurs ,it automatically causes a control break on all items junior to it.</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 name=""/>
          <p:cNvSpPr txBox="1"/>
          <p:nvPr/>
        </p:nvSpPr>
        <p:spPr>
          <a:xfrm>
            <a:off x="0" y="28440"/>
            <a:ext cx="3871800" cy="5156280"/>
          </a:xfrm>
          <a:prstGeom prst="rect">
            <a:avLst/>
          </a:prstGeom>
          <a:noFill/>
          <a:ln w="0">
            <a:noFill/>
          </a:ln>
        </p:spPr>
        <p:txBody>
          <a:bodyPr lIns="0" tIns="0" rIns="0" bIns="0" anchor="t">
            <a:spAutoFit/>
          </a:bodyPr>
          <a:p>
            <a:pPr>
              <a:lnSpc>
                <a:spcPct val="75000"/>
              </a:lnSpc>
            </a:pPr>
            <a:r>
              <a:rPr lang="en-US" sz="800" b="0" u="none" strike="noStrike">
                <a:solidFill>
                  <a:srgbClr val="000000"/>
                </a:solidFill>
                <a:effectLst/>
                <a:uFillTx/>
                <a:latin typeface="Courier New"/>
                <a:ea typeface="Courier New"/>
              </a:rPr>
              <a:t>REPORT SECTION.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RD  SalesReport</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CONTROLS ARE SalesPersonNum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PAGE LIMIT IS 66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HEADING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FIRST DETAIL 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LAST DETAIL 42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FOOTING 52.</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TYPE IS PAGE HEADING.</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12     PIC X(32)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"An example COBOL Report Program".</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6      PIC X(17)</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"Bible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23     PIC X(26)</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 - Sales and Salary Report".</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4.</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      PIC X(4)  VALUE "City".</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12     PIC X(11) VALUE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28     PIC X(4)  VALUE "Sale".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5.</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      PIC X(4)  VALUE "Name".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13     PIC X(6)  VALUE "Number".</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28     PIC X(5)  VALUE "Value".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DetailLine TYPE IS DETAIL.</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PLUS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      PIC X(9)</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SOURCE CityName(CityCode).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15     PIC 9</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SOURCE SalesPersonNum.</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25     PIC $$,$$$.99 SOURCE ValueOfSale.</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SalesPersonGrp</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TYPE IS CONTROL FOOTING SalesPersonNum NEXT GROUP PLUS 2.</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PLUS 1.</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15     PIC X(21)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"Sales for salesperson".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37     PIC 9 SOURCE SalesPersonNum.</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43     PIC X VALUE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a:t>
            </a:r>
            <a:r>
              <a:rPr lang="en-US" sz="800" b="1" u="none" strike="noStrike">
                <a:solidFill>
                  <a:srgbClr val="CC0000"/>
                </a:solidFill>
                <a:effectLst/>
                <a:uFillTx/>
                <a:latin typeface="Courier New"/>
                <a:ea typeface="Courier New"/>
              </a:rPr>
              <a:t>SMS</a:t>
            </a:r>
            <a:r>
              <a:rPr lang="en-US" sz="800" b="0" u="none" strike="noStrike">
                <a:solidFill>
                  <a:srgbClr val="000000"/>
                </a:solidFill>
                <a:effectLst/>
                <a:uFillTx/>
                <a:latin typeface="Courier New"/>
                <a:ea typeface="Courier New"/>
              </a:rPr>
              <a:t> COLUMN 45 PIC $$$$$,$$$.99 </a:t>
            </a:r>
            <a:r>
              <a:rPr lang="en-US" sz="800" b="1" u="none" strike="noStrike">
                <a:solidFill>
                  <a:srgbClr val="CC0000"/>
                </a:solidFill>
                <a:effectLst/>
                <a:uFillTx/>
                <a:latin typeface="Courier New"/>
                <a:ea typeface="Courier New"/>
              </a:rPr>
              <a:t>SUM ValueOfSale</a:t>
            </a:r>
            <a:r>
              <a:rPr lang="en-US" sz="800" b="0" u="none" strike="noStrike">
                <a:solidFill>
                  <a:srgbClr val="000000"/>
                </a:solidFill>
                <a:effectLst/>
                <a:uFillTx/>
                <a:latin typeface="Courier New"/>
                <a:ea typeface="Courier New"/>
              </a:rPr>
              <a:t>.</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01  TYPE IS PAGE FOOTING.</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02 LINE IS 53.</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1      PIC X(29)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VALUE "Programmer - Michael Coughlan".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45     PIC X(6) VALUE "Page :".</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03 COLUMN 52     PIC Z9 SOURCE PAGE-COUNTER.</a:t>
            </a:r>
            <a:endParaRPr lang="en-US" sz="800" b="0" u="none" strike="noStrike">
              <a:solidFill>
                <a:srgbClr val="000000"/>
              </a:solidFill>
              <a:effectLst/>
              <a:uFillTx/>
              <a:latin typeface="Arial"/>
            </a:endParaRPr>
          </a:p>
        </p:txBody>
      </p:sp>
      <p:sp>
        <p:nvSpPr>
          <p:cNvPr id="56" name=""/>
          <p:cNvSpPr txBox="1"/>
          <p:nvPr/>
        </p:nvSpPr>
        <p:spPr>
          <a:xfrm>
            <a:off x="1971720" y="1647720"/>
            <a:ext cx="1754280" cy="1773360"/>
          </a:xfrm>
          <a:prstGeom prst="rect">
            <a:avLst/>
          </a:prstGeom>
          <a:solidFill>
            <a:srgbClr val="FFFFCC"/>
          </a:solidFill>
          <a:ln w="12600">
            <a:solidFill>
              <a:srgbClr val="000000"/>
            </a:solidFill>
            <a:round/>
          </a:ln>
        </p:spPr>
        <p:txBody>
          <a:bodyPr lIns="0" tIns="0" rIns="0" bIns="0" anchor="t">
            <a:spAutoFit/>
          </a:bodyPr>
          <a:p>
            <a:pPr algn="ctr">
              <a:lnSpc>
                <a:spcPct val="85000"/>
              </a:lnSpc>
            </a:pPr>
            <a:r>
              <a:rPr lang="en-US" sz="1000" b="0" u="none" strike="noStrike">
                <a:solidFill>
                  <a:srgbClr val="000000"/>
                </a:solidFill>
                <a:effectLst/>
                <a:uFillTx/>
                <a:latin typeface="Times New Roman"/>
                <a:ea typeface="Times New Roman"/>
              </a:rPr>
              <a:t>We want to print the total sales for the salesperson but to do that we need to sum all the salesperson’s sales.</a:t>
            </a:r>
            <a:endParaRPr lang="en-US" sz="1000" b="0" u="none" strike="noStrike">
              <a:solidFill>
                <a:srgbClr val="000000"/>
              </a:solidFill>
              <a:effectLst/>
              <a:uFillTx/>
              <a:latin typeface="Arial"/>
            </a:endParaRPr>
          </a:p>
          <a:p>
            <a:pPr algn="ctr">
              <a:lnSpc>
                <a:spcPct val="85000"/>
              </a:lnSpc>
            </a:pP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We can get the Report Writer to sum all the sales for us automatically by using the SUM clause. </a:t>
            </a:r>
            <a:endParaRPr lang="en-US" sz="1000" b="0" u="none" strike="noStrike">
              <a:solidFill>
                <a:srgbClr val="000000"/>
              </a:solidFill>
              <a:effectLst/>
              <a:uFillTx/>
              <a:latin typeface="Arial"/>
            </a:endParaRPr>
          </a:p>
        </p:txBody>
      </p:sp>
      <p:sp>
        <p:nvSpPr>
          <p:cNvPr id="57" name=""/>
          <p:cNvSpPr txBox="1"/>
          <p:nvPr/>
        </p:nvSpPr>
        <p:spPr>
          <a:xfrm>
            <a:off x="1971720" y="1647720"/>
            <a:ext cx="1754280" cy="1773360"/>
          </a:xfrm>
          <a:prstGeom prst="rect">
            <a:avLst/>
          </a:prstGeom>
          <a:solidFill>
            <a:srgbClr val="FFFFCC"/>
          </a:solidFill>
          <a:ln w="12600">
            <a:solidFill>
              <a:srgbClr val="000000"/>
            </a:solidFill>
            <a:round/>
          </a:ln>
        </p:spPr>
        <p:txBody>
          <a:bodyPr lIns="0" tIns="0" rIns="0" bIns="0" anchor="t">
            <a:spAutoFit/>
          </a:bodyPr>
          <a:p>
            <a:pPr algn="ctr">
              <a:lnSpc>
                <a:spcPct val="85000"/>
              </a:lnSpc>
            </a:pPr>
            <a:r>
              <a:rPr lang="en-US" sz="1000" b="0" u="none" strike="noStrike">
                <a:solidFill>
                  <a:srgbClr val="000000"/>
                </a:solidFill>
                <a:effectLst/>
                <a:uFillTx/>
                <a:latin typeface="Times New Roman"/>
                <a:ea typeface="Times New Roman"/>
              </a:rPr>
              <a:t>In this instance the SUM clause adds the contents of the ValueOfSale to the salesperson total each time a GENERATE statement is executed.</a:t>
            </a:r>
            <a:endParaRPr lang="en-US" sz="1000" b="0" u="none" strike="noStrike">
              <a:solidFill>
                <a:srgbClr val="000000"/>
              </a:solidFill>
              <a:effectLst/>
              <a:uFillTx/>
              <a:latin typeface="Arial"/>
            </a:endParaRPr>
          </a:p>
          <a:p>
            <a:pPr algn="ctr">
              <a:lnSpc>
                <a:spcPct val="85000"/>
              </a:lnSpc>
            </a:pP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When the salesperson total is printed it is reset to zero.</a:t>
            </a:r>
            <a:endParaRPr lang="en-US" sz="1000" b="0" u="none" strike="noStrike">
              <a:solidFill>
                <a:srgbClr val="000000"/>
              </a:solidFill>
              <a:effectLst/>
              <a:uFillTx/>
              <a:latin typeface="Arial"/>
            </a:endParaRPr>
          </a:p>
        </p:txBody>
      </p:sp>
      <p:sp>
        <p:nvSpPr>
          <p:cNvPr id="58" name=""/>
          <p:cNvSpPr txBox="1"/>
          <p:nvPr/>
        </p:nvSpPr>
        <p:spPr>
          <a:xfrm>
            <a:off x="1971720" y="1657440"/>
            <a:ext cx="1754280" cy="1773360"/>
          </a:xfrm>
          <a:prstGeom prst="rect">
            <a:avLst/>
          </a:prstGeom>
          <a:solidFill>
            <a:srgbClr val="FFFFCC"/>
          </a:solidFill>
          <a:ln w="12600">
            <a:solidFill>
              <a:srgbClr val="000000"/>
            </a:solidFill>
            <a:round/>
          </a:ln>
        </p:spPr>
        <p:txBody>
          <a:bodyPr lIns="0" tIns="0" rIns="0" bIns="0" anchor="t">
            <a:spAutoFit/>
          </a:bodyPr>
          <a:p>
            <a:pPr algn="ctr">
              <a:lnSpc>
                <a:spcPct val="85000"/>
              </a:lnSpc>
            </a:pPr>
            <a:r>
              <a:rPr lang="en-US" sz="1000" b="0" u="none" strike="noStrike">
                <a:solidFill>
                  <a:srgbClr val="000000"/>
                </a:solidFill>
                <a:effectLst/>
                <a:uFillTx/>
                <a:latin typeface="Times New Roman"/>
                <a:ea typeface="Times New Roman"/>
              </a:rPr>
              <a:t>We have identified the item that contains the salesperson total with the name SMS.</a:t>
            </a:r>
            <a:endParaRPr lang="en-US" sz="1000" b="0" u="none" strike="noStrike">
              <a:solidFill>
                <a:srgbClr val="000000"/>
              </a:solidFill>
              <a:effectLst/>
              <a:uFillTx/>
              <a:latin typeface="Arial"/>
            </a:endParaRPr>
          </a:p>
          <a:p>
            <a:pPr algn="ctr">
              <a:lnSpc>
                <a:spcPct val="85000"/>
              </a:lnSpc>
            </a:pP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In this program we don’t actually need to identify this itembecause we never refer to it but it is declared now because we will refer to it when we extend the program.</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 name=""/>
          <p:cNvSpPr txBox="1"/>
          <p:nvPr/>
        </p:nvSpPr>
        <p:spPr>
          <a:xfrm>
            <a:off x="0" y="28440"/>
            <a:ext cx="3871800" cy="2025720"/>
          </a:xfrm>
          <a:prstGeom prst="rect">
            <a:avLst/>
          </a:prstGeom>
          <a:noFill/>
          <a:ln w="0">
            <a:noFill/>
          </a:ln>
        </p:spPr>
        <p:txBody>
          <a:bodyPr lIns="0" tIns="0" rIns="0" bIns="0" anchor="t">
            <a:spAutoFit/>
          </a:bodyPr>
          <a:p>
            <a:pPr>
              <a:lnSpc>
                <a:spcPct val="75000"/>
              </a:lnSpc>
            </a:pPr>
            <a:r>
              <a:rPr lang="en-US" sz="800" b="0" u="none" strike="noStrike">
                <a:solidFill>
                  <a:srgbClr val="000000"/>
                </a:solidFill>
                <a:effectLst/>
                <a:uFillTx/>
                <a:latin typeface="Courier New"/>
                <a:ea typeface="Courier New"/>
              </a:rPr>
              <a:t>PROCEDURE DIVISION.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Begin.</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OPEN INPUT SalesFile.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OPEN OUTPUT PrintFile.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READ SalesFile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AT END SET EndOfFile TO TRUE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END-READ.</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a:t>
            </a:r>
            <a:r>
              <a:rPr lang="en-US" sz="800" b="1" u="none" strike="noStrike">
                <a:solidFill>
                  <a:srgbClr val="CC0000"/>
                </a:solidFill>
                <a:effectLst/>
                <a:uFillTx/>
                <a:latin typeface="Courier New"/>
                <a:ea typeface="Courier New"/>
              </a:rPr>
              <a:t>INITIATE SalesReport.</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PERFORM PrintSalaryReport</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UNTIL EndOfFile.</a:t>
            </a:r>
            <a:endParaRPr lang="en-US" sz="800" b="0" u="none" strike="noStrike">
              <a:solidFill>
                <a:srgbClr val="000000"/>
              </a:solidFill>
              <a:effectLst/>
              <a:uFillTx/>
              <a:latin typeface="Arial"/>
            </a:endParaRPr>
          </a:p>
          <a:p>
            <a:pPr>
              <a:lnSpc>
                <a:spcPct val="75000"/>
              </a:lnSpc>
            </a:pPr>
            <a:r>
              <a:rPr lang="en-US" sz="800" b="1" u="none" strike="noStrike">
                <a:solidFill>
                  <a:srgbClr val="CC0000"/>
                </a:solidFill>
                <a:effectLst/>
                <a:uFillTx/>
                <a:latin typeface="Courier New"/>
                <a:ea typeface="Courier New"/>
              </a:rPr>
              <a:t>   TERMINATE SalesReport.</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CLOSE SalesFile, PrintFile.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STOP RUN.</a:t>
            </a: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PrintSalaryReport.</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a:t>
            </a:r>
            <a:r>
              <a:rPr lang="en-US" sz="800" b="1" u="none" strike="noStrike">
                <a:solidFill>
                  <a:srgbClr val="CC0000"/>
                </a:solidFill>
                <a:effectLst/>
                <a:uFillTx/>
                <a:latin typeface="Courier New"/>
                <a:ea typeface="Courier New"/>
              </a:rPr>
              <a:t>GENERATE DetailLine.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READ SalesFile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AT END SET EndOfFile TO TRUE</a:t>
            </a:r>
            <a:endParaRPr lang="en-US" sz="800" b="0" u="none" strike="noStrike">
              <a:solidFill>
                <a:srgbClr val="000000"/>
              </a:solidFill>
              <a:effectLst/>
              <a:uFillTx/>
              <a:latin typeface="Arial"/>
            </a:endParaRPr>
          </a:p>
          <a:p>
            <a:pPr>
              <a:lnSpc>
                <a:spcPct val="75000"/>
              </a:lnSpc>
            </a:pPr>
            <a:r>
              <a:rPr lang="en-US" sz="800" b="0" u="none" strike="noStrike">
                <a:solidFill>
                  <a:srgbClr val="000000"/>
                </a:solidFill>
                <a:effectLst/>
                <a:uFillTx/>
                <a:latin typeface="Courier New"/>
                <a:ea typeface="Courier New"/>
              </a:rPr>
              <a:t>   END-READ.</a:t>
            </a:r>
            <a:endParaRPr lang="en-US" sz="800" b="0" u="none" strike="noStrike">
              <a:solidFill>
                <a:srgbClr val="000000"/>
              </a:solidFill>
              <a:effectLst/>
              <a:uFillTx/>
              <a:latin typeface="Arial"/>
            </a:endParaRPr>
          </a:p>
        </p:txBody>
      </p:sp>
      <p:sp>
        <p:nvSpPr>
          <p:cNvPr id="60" name=""/>
          <p:cNvSpPr txBox="1"/>
          <p:nvPr/>
        </p:nvSpPr>
        <p:spPr>
          <a:xfrm>
            <a:off x="1971720" y="2076480"/>
            <a:ext cx="1754280" cy="1914480"/>
          </a:xfrm>
          <a:prstGeom prst="rect">
            <a:avLst/>
          </a:prstGeom>
          <a:solidFill>
            <a:srgbClr val="FFFFCC"/>
          </a:solidFill>
          <a:ln w="12600">
            <a:solidFill>
              <a:srgbClr val="000000"/>
            </a:solidFill>
            <a:round/>
          </a:ln>
        </p:spPr>
        <p:txBody>
          <a:bodyPr lIns="0" tIns="0" rIns="0" bIns="0" anchor="t">
            <a:spAutoFit/>
          </a:bodyPr>
          <a:p>
            <a:pPr algn="ctr">
              <a:lnSpc>
                <a:spcPct val="85000"/>
              </a:lnSpc>
            </a:pPr>
            <a:r>
              <a:rPr lang="en-US" sz="1000" b="0" u="none" strike="noStrike">
                <a:solidFill>
                  <a:srgbClr val="000000"/>
                </a:solidFill>
                <a:effectLst/>
                <a:uFillTx/>
                <a:latin typeface="Times New Roman"/>
                <a:ea typeface="Times New Roman"/>
              </a:rPr>
              <a:t>All the work of creating the report is done in the Data Division.  </a:t>
            </a:r>
            <a:endParaRPr lang="en-US" sz="1000" b="0" u="none" strike="noStrike">
              <a:solidFill>
                <a:srgbClr val="000000"/>
              </a:solidFill>
              <a:effectLst/>
              <a:uFillTx/>
              <a:latin typeface="Arial"/>
            </a:endParaRPr>
          </a:p>
          <a:p>
            <a:pPr algn="ctr">
              <a:lnSpc>
                <a:spcPct val="85000"/>
              </a:lnSpc>
            </a:pP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In the Procedure Division the only statements we need to produce the report are - </a:t>
            </a: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INITIATE</a:t>
            </a: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GENERATE</a:t>
            </a: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TERMINATE</a:t>
            </a:r>
            <a:endParaRPr lang="en-US" sz="1000" b="0" u="none" strike="noStrike">
              <a:solidFill>
                <a:srgbClr val="000000"/>
              </a:solidFill>
              <a:effectLst/>
              <a:uFillTx/>
              <a:latin typeface="Arial"/>
            </a:endParaRPr>
          </a:p>
        </p:txBody>
      </p:sp>
      <p:sp>
        <p:nvSpPr>
          <p:cNvPr id="61" name=""/>
          <p:cNvSpPr txBox="1"/>
          <p:nvPr/>
        </p:nvSpPr>
        <p:spPr>
          <a:xfrm>
            <a:off x="1971720" y="1905120"/>
            <a:ext cx="1819440" cy="2790720"/>
          </a:xfrm>
          <a:prstGeom prst="rect">
            <a:avLst/>
          </a:prstGeom>
          <a:solidFill>
            <a:srgbClr val="FFFFCC"/>
          </a:solidFill>
          <a:ln w="12600">
            <a:solidFill>
              <a:srgbClr val="000000"/>
            </a:solidFill>
            <a:round/>
          </a:ln>
        </p:spPr>
        <p:txBody>
          <a:bodyPr lIns="0" tIns="0" rIns="0" bIns="0" anchor="t">
            <a:spAutoFit/>
          </a:bodyPr>
          <a:p>
            <a:pPr algn="ctr">
              <a:lnSpc>
                <a:spcPct val="85000"/>
              </a:lnSpc>
            </a:pPr>
            <a:r>
              <a:rPr lang="en-US" sz="1000" b="0" u="none" strike="noStrike">
                <a:solidFill>
                  <a:srgbClr val="000000"/>
                </a:solidFill>
                <a:effectLst/>
                <a:uFillTx/>
                <a:latin typeface="Times New Roman"/>
                <a:ea typeface="Times New Roman"/>
              </a:rPr>
              <a:t>The INITIATE statement sets up the report and in it we specify which report we want to set up.</a:t>
            </a:r>
            <a:endParaRPr lang="en-US" sz="1000" b="0" u="none" strike="noStrike">
              <a:solidFill>
                <a:srgbClr val="000000"/>
              </a:solidFill>
              <a:effectLst/>
              <a:uFillTx/>
              <a:latin typeface="Arial"/>
            </a:endParaRPr>
          </a:p>
          <a:p>
            <a:pPr algn="ctr">
              <a:lnSpc>
                <a:spcPct val="85000"/>
              </a:lnSpc>
            </a:pP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The TERMINATE closes down the report and we must specify which report to close.  </a:t>
            </a:r>
            <a:endParaRPr lang="en-US" sz="1000" b="0" u="none" strike="noStrike">
              <a:solidFill>
                <a:srgbClr val="000000"/>
              </a:solidFill>
              <a:effectLst/>
              <a:uFillTx/>
              <a:latin typeface="Arial"/>
            </a:endParaRPr>
          </a:p>
          <a:p>
            <a:pPr algn="ctr">
              <a:lnSpc>
                <a:spcPct val="85000"/>
              </a:lnSpc>
            </a:pP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The GENERATE statement prints the detail lines and must specify the name we have assigned to the DETAIL group.</a:t>
            </a:r>
            <a:endParaRPr lang="en-US" sz="1000" b="0" u="none" strike="noStrike">
              <a:solidFill>
                <a:srgbClr val="000000"/>
              </a:solidFill>
              <a:effectLst/>
              <a:uFillTx/>
              <a:latin typeface="Arial"/>
            </a:endParaRPr>
          </a:p>
          <a:p>
            <a:pPr algn="ctr">
              <a:lnSpc>
                <a:spcPct val="85000"/>
              </a:lnSpc>
            </a:pPr>
            <a:endParaRPr lang="en-US" sz="1000" b="0" u="none" strike="noStrike">
              <a:solidFill>
                <a:srgbClr val="000000"/>
              </a:solidFill>
              <a:effectLst/>
              <a:uFillTx/>
              <a:latin typeface="Arial"/>
            </a:endParaRPr>
          </a:p>
          <a:p>
            <a:pPr algn="ctr">
              <a:lnSpc>
                <a:spcPct val="85000"/>
              </a:lnSpc>
            </a:pPr>
            <a:r>
              <a:rPr lang="en-US" sz="1000" b="0" u="none" strike="noStrike">
                <a:solidFill>
                  <a:srgbClr val="000000"/>
                </a:solidFill>
                <a:effectLst/>
                <a:uFillTx/>
                <a:latin typeface="Times New Roman"/>
                <a:ea typeface="Times New Roman"/>
              </a:rPr>
              <a:t>Each time we read a record we generate a detail line.</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 name=""/>
          <p:cNvSpPr txBox="1"/>
          <p:nvPr/>
        </p:nvSpPr>
        <p:spPr>
          <a:xfrm>
            <a:off x="12600" y="1720800"/>
            <a:ext cx="3859200" cy="457200"/>
          </a:xfrm>
          <a:prstGeom prst="rect">
            <a:avLst/>
          </a:prstGeom>
          <a:noFill/>
          <a:ln w="0">
            <a:noFill/>
          </a:ln>
        </p:spPr>
        <p:txBody>
          <a:bodyPr lIns="0" tIns="0" rIns="0" bIns="0" anchor="t">
            <a:spAutoFit/>
          </a:bodyPr>
          <a:p>
            <a:pPr algn="ctr">
              <a:lnSpc>
                <a:spcPct val="100000"/>
              </a:lnSpc>
            </a:pPr>
            <a:r>
              <a:rPr lang="en-US" sz="2400" b="0" u="none" strike="noStrike">
                <a:solidFill>
                  <a:srgbClr val="CC0000"/>
                </a:solidFill>
                <a:effectLst/>
                <a:uFillTx/>
                <a:latin typeface="Times New Roman"/>
                <a:ea typeface="Times New Roman"/>
              </a:rPr>
              <a:t>End of commentary</a:t>
            </a:r>
            <a:endParaRPr lang="en-US" sz="2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LibreOffice/26.2.2.2$Windows_X86_64 LibreOffice_project/1f77d10d6938fd34972958f64b2bcfa54f8b1ba5</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Michael Coughlan</dc:creator>
  <dc:description/>
  <dc:language>en-US</dc:language>
  <cp:lastModifiedBy>Michael Coughlan</cp:lastModifiedBy>
  <cp:revision>0</cp:revision>
  <dc:subject/>
  <dc:title>No Slide Title</dc:title>
</cp:coreProperties>
</file>