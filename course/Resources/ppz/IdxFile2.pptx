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Lst>
  <p:sldSz cx="4762500" cy="4953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0">
    <p:spTree>
      <p:nvGrpSpPr>
        <p:cNvPr id="1" name=""/>
        <p:cNvGrpSpPr/>
        <p:nvPr/>
      </p:nvGrpSpPr>
      <p:grpSpPr>
        <a:xfrm>
          <a:off x="0" y="0"/>
          <a:ext cx="0" cy="0"/>
          <a:chOff x="0" y="0"/>
          <a:chExt cx="0" cy="0"/>
        </a:xfrm>
      </p:grpSpPr>
      <p:sp>
        <p:nvSpPr>
          <p:cNvPr id="6" name="PlaceHolder 1"/>
          <p:cNvSpPr>
            <a:spLocks noGrp="1"/>
          </p:cNvSpPr>
          <p:nvPr>
            <p:ph type="title"/>
          </p:nvPr>
        </p:nvSpPr>
        <p:spPr>
          <a:xfrm>
            <a:off x="237960" y="197280"/>
            <a:ext cx="4285800" cy="82656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7" name="PlaceHolder 2"/>
          <p:cNvSpPr>
            <a:spLocks noGrp="1"/>
          </p:cNvSpPr>
          <p:nvPr>
            <p:ph type="subTitle"/>
          </p:nvPr>
        </p:nvSpPr>
        <p:spPr>
          <a:xfrm>
            <a:off x="237960" y="1158840"/>
            <a:ext cx="4285800" cy="2872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0">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
          <p:cNvSpPr/>
          <p:nvPr/>
        </p:nvSpPr>
        <p:spPr>
          <a:xfrm>
            <a:off x="0" y="0"/>
            <a:ext cx="4762440" cy="4952880"/>
          </a:xfrm>
          <a:prstGeom prst="rect">
            <a:avLst/>
          </a:prstGeom>
          <a:solidFill>
            <a:srgbClr val="FFFFFF"/>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3" name=""/>
          <p:cNvSpPr/>
          <p:nvPr/>
        </p:nvSpPr>
        <p:spPr>
          <a:xfrm>
            <a:off x="14400" y="12600"/>
            <a:ext cx="4734000" cy="4927680"/>
          </a:xfrm>
          <a:prstGeom prst="rect">
            <a:avLst/>
          </a:prstGeom>
          <a:noFill/>
          <a:ln w="12600">
            <a:solidFill>
              <a:srgbClr val="00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4" name="PlaceHolder 1"/>
          <p:cNvSpPr>
            <a:spLocks noGrp="1"/>
          </p:cNvSpPr>
          <p:nvPr>
            <p:ph type="title"/>
          </p:nvPr>
        </p:nvSpPr>
        <p:spPr>
          <a:xfrm>
            <a:off x="237960" y="197280"/>
            <a:ext cx="4285800" cy="82656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237960" y="1158840"/>
            <a:ext cx="4285800" cy="2872080"/>
          </a:xfrm>
          <a:prstGeom prst="rect">
            <a:avLst/>
          </a:prstGeom>
          <a:noFill/>
          <a:ln w="0">
            <a:noFill/>
          </a:ln>
        </p:spPr>
        <p:txBody>
          <a:bodyPr lIns="0" tIns="0" rIns="0" bIns="0" anchor="t">
            <a:normAutofit fontScale="85000" lnSpcReduction="19999"/>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
          <p:cNvSpPr txBox="1"/>
          <p:nvPr/>
        </p:nvSpPr>
        <p:spPr>
          <a:xfrm>
            <a:off x="1006560" y="647640"/>
            <a:ext cx="2975040" cy="2803680"/>
          </a:xfrm>
          <a:prstGeom prst="rect">
            <a:avLst/>
          </a:prstGeom>
          <a:noFill/>
          <a:ln w="0">
            <a:noFill/>
          </a:ln>
        </p:spPr>
        <p:txBody>
          <a:bodyPr lIns="0" tIns="0" rIns="0" bIns="0" anchor="t">
            <a:spAutoFit/>
          </a:bodyPr>
          <a:p>
            <a:pPr algn="ctr">
              <a:lnSpc>
                <a:spcPct val="100000"/>
              </a:lnSpc>
            </a:pPr>
            <a:r>
              <a:rPr lang="en-US" sz="1800" b="1" u="none" strike="noStrike">
                <a:solidFill>
                  <a:srgbClr val="CC0000"/>
                </a:solidFill>
                <a:effectLst/>
                <a:uFillTx/>
                <a:latin typeface="Arial"/>
                <a:ea typeface="Arial"/>
              </a:rPr>
              <a:t>Reading an Indexed file Sequentially.</a:t>
            </a:r>
            <a:endParaRPr lang="en-US" sz="1800" b="0" u="none" strike="noStrike">
              <a:solidFill>
                <a:srgbClr val="000000"/>
              </a:solidFill>
              <a:effectLst/>
              <a:uFillTx/>
              <a:latin typeface="Arial"/>
            </a:endParaRPr>
          </a:p>
          <a:p>
            <a:pPr algn="ctr">
              <a:lnSpc>
                <a:spcPct val="100000"/>
              </a:lnSpc>
            </a:pPr>
            <a:endParaRPr lang="en-US" sz="1800" b="0" u="none" strike="noStrike">
              <a:solidFill>
                <a:srgbClr val="000000"/>
              </a:solidFill>
              <a:effectLst/>
              <a:uFillTx/>
              <a:latin typeface="Arial"/>
            </a:endParaRPr>
          </a:p>
          <a:p>
            <a:pPr algn="ctr">
              <a:lnSpc>
                <a:spcPct val="100000"/>
              </a:lnSpc>
            </a:pPr>
            <a:r>
              <a:rPr lang="en-US" sz="1800" b="1" u="none" strike="noStrike">
                <a:solidFill>
                  <a:srgbClr val="CC0000"/>
                </a:solidFill>
                <a:effectLst/>
                <a:uFillTx/>
                <a:latin typeface="Arial"/>
                <a:ea typeface="Arial"/>
              </a:rPr>
              <a:t>Example program</a:t>
            </a:r>
            <a:endParaRPr lang="en-US" sz="1800" b="0" u="none" strike="noStrike">
              <a:solidFill>
                <a:srgbClr val="000000"/>
              </a:solidFill>
              <a:effectLst/>
              <a:uFillTx/>
              <a:latin typeface="Arial"/>
            </a:endParaRPr>
          </a:p>
          <a:p>
            <a:pPr algn="ctr">
              <a:lnSpc>
                <a:spcPct val="100000"/>
              </a:lnSpc>
            </a:pPr>
            <a:endParaRPr lang="en-US" sz="2400" b="0" u="none" strike="noStrike">
              <a:solidFill>
                <a:srgbClr val="000000"/>
              </a:solidFill>
              <a:effectLst/>
              <a:uFillTx/>
              <a:latin typeface="Arial"/>
            </a:endParaRPr>
          </a:p>
          <a:p>
            <a:pPr algn="ctr">
              <a:lnSpc>
                <a:spcPct val="100000"/>
              </a:lnSpc>
            </a:pPr>
            <a:endParaRPr lang="en-US" sz="2400" b="0" u="none" strike="noStrike">
              <a:solidFill>
                <a:srgbClr val="000000"/>
              </a:solidFill>
              <a:effectLst/>
              <a:uFillTx/>
              <a:latin typeface="Arial"/>
            </a:endParaRPr>
          </a:p>
          <a:p>
            <a:pPr algn="ctr">
              <a:lnSpc>
                <a:spcPct val="100000"/>
              </a:lnSpc>
            </a:pPr>
            <a:r>
              <a:rPr lang="en-US" sz="1400" b="1" u="none" strike="noStrike">
                <a:solidFill>
                  <a:srgbClr val="000000"/>
                </a:solidFill>
                <a:effectLst/>
                <a:uFillTx/>
                <a:latin typeface="Times New Roman"/>
                <a:ea typeface="Times New Roman"/>
              </a:rPr>
              <a:t>Click to view.</a:t>
            </a:r>
            <a:endParaRPr lang="en-US" sz="1400" b="0" u="none" strike="noStrike">
              <a:solidFill>
                <a:srgbClr val="000000"/>
              </a:solidFill>
              <a:effectLst/>
              <a:uFillTx/>
              <a:latin typeface="Arial"/>
            </a:endParaRPr>
          </a:p>
          <a:p>
            <a:pPr algn="ctr">
              <a:lnSpc>
                <a:spcPct val="100000"/>
              </a:lnSpc>
            </a:pPr>
            <a:endParaRPr lang="en-US" sz="1400" b="0" u="none" strike="noStrike">
              <a:solidFill>
                <a:srgbClr val="000000"/>
              </a:solidFill>
              <a:effectLst/>
              <a:uFillTx/>
              <a:latin typeface="Arial"/>
            </a:endParaRPr>
          </a:p>
          <a:p>
            <a:pPr algn="ctr">
              <a:lnSpc>
                <a:spcPct val="100000"/>
              </a:lnSpc>
            </a:pPr>
            <a:r>
              <a:rPr lang="en-US" sz="1000" b="0" u="none" strike="noStrike">
                <a:solidFill>
                  <a:srgbClr val="000000"/>
                </a:solidFill>
                <a:effectLst/>
                <a:uFillTx/>
                <a:latin typeface="Times New Roman"/>
                <a:ea typeface="Times New Roman"/>
              </a:rPr>
              <a:t>When viewing the program left click (or press the Page Up key) to see next comment and right click (or press Page Down) to see the previous comment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 name=""/>
          <p:cNvSpPr txBox="1"/>
          <p:nvPr/>
        </p:nvSpPr>
        <p:spPr>
          <a:xfrm>
            <a:off x="108000" y="68400"/>
            <a:ext cx="3537000" cy="36000000"/>
          </a:xfrm>
          <a:prstGeom prst="rect">
            <a:avLst/>
          </a:prstGeom>
          <a:noFill/>
          <a:ln w="0">
            <a:noFill/>
          </a:ln>
        </p:spPr>
        <p:txBody>
          <a:bodyPr lIns="0" tIns="0" rIns="0" bIns="0" anchor="t">
            <a:spAutoFit/>
          </a:bodyPr>
          <a:p>
            <a:pPr>
              <a:lnSpc>
                <a:spcPct val="85000"/>
              </a:lnSpc>
              <a:spcBef>
                <a:spcPts val="118587"/>
              </a:spcBef>
            </a:pPr>
            <a:r>
              <a:rPr lang="en-US" sz="1000" b="1" u="none" strike="noStrike">
                <a:solidFill>
                  <a:srgbClr val="000000"/>
                </a:solidFill>
                <a:effectLst/>
                <a:uFillTx/>
                <a:latin typeface="Courier New"/>
                <a:ea typeface="Courier New"/>
              </a:rPr>
              <a:t>$ SET SOURCEFORMAT"FREE"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IDENTIFICATION DIVISION.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PROGRAM-ID.  ReadingIndexedFile.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Sequential reading of an indexed file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ENVIRONMENT DIVISION.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INPUT-OUTPUT SECTION.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FILE-CONTROL.</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SELECT VideoFile ASSIGN TO "VIDEO.DAT"</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ORGANIZATION IS INDEXED</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ACCESS MODE IS DYNAMIC</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RECORD KEY IS VideoCode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ALTERNATE RECORD KEY IS VideoTitle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WITH DUPLICATES</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FILE STATUS IS VideoStatus.</a:t>
            </a:r>
            <a:endParaRPr lang="en-US" sz="1000" b="0" u="none" strike="noStrike">
              <a:solidFill>
                <a:srgbClr val="000000"/>
              </a:solidFill>
              <a:effectLst/>
              <a:uFillTx/>
              <a:latin typeface="Arial"/>
            </a:endParaRPr>
          </a:p>
          <a:p>
            <a:pPr>
              <a:lnSpc>
                <a:spcPct val="85000"/>
              </a:lnSpc>
              <a:spcBef>
                <a:spcPts val="118587"/>
              </a:spcBef>
            </a:pP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DATA DIVISION.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FILE SECTION.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FD VideoFile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01 VideoRecord.</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88 EndOfFile VALUE HIGH-VALUE.</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VideoCode               PIC 9(5).</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VideoTitle              PIC X(40).</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SupplierCode            PIC 99.</a:t>
            </a:r>
            <a:endParaRPr lang="en-US" sz="1000" b="0" u="none" strike="noStrike">
              <a:solidFill>
                <a:srgbClr val="000000"/>
              </a:solidFill>
              <a:effectLst/>
              <a:uFillTx/>
              <a:latin typeface="Arial"/>
            </a:endParaRPr>
          </a:p>
          <a:p>
            <a:pPr>
              <a:lnSpc>
                <a:spcPct val="85000"/>
              </a:lnSpc>
              <a:spcBef>
                <a:spcPts val="118587"/>
              </a:spcBef>
            </a:pP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WORKING-STORAGE SECTION.</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01 VideoStatus                PIC X(2).</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01 RequiredSequence           PIC 9.</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88 VideoCodeSequence       VALUE 1.</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88 VideoTitleSequence      VALUE 2.</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01 PrnVideoRecord.</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PrnVideoCode            PIC 9(5).</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PrnVideoTitle           PIC BBBBX(40).</a:t>
            </a:r>
            <a:endParaRPr lang="en-US" sz="1000" b="0" u="none" strike="noStrike">
              <a:solidFill>
                <a:srgbClr val="000000"/>
              </a:solidFill>
              <a:effectLst/>
              <a:uFillTx/>
              <a:latin typeface="Arial"/>
            </a:endParaRPr>
          </a:p>
          <a:p>
            <a:pPr>
              <a:lnSpc>
                <a:spcPct val="85000"/>
              </a:lnSpc>
              <a:spcBef>
                <a:spcPts val="118587"/>
              </a:spcBef>
            </a:pPr>
            <a:r>
              <a:rPr lang="en-US" sz="1000" b="1" u="none" strike="noStrike">
                <a:solidFill>
                  <a:srgbClr val="000000"/>
                </a:solidFill>
                <a:effectLst/>
                <a:uFillTx/>
                <a:latin typeface="Courier New"/>
                <a:ea typeface="Courier New"/>
              </a:rPr>
              <a:t>  02 PrnSupplierCode         PIC BBBB99.</a:t>
            </a:r>
            <a:endParaRPr lang="en-US" sz="1000" b="0" u="none" strike="noStrike">
              <a:solidFill>
                <a:srgbClr val="000000"/>
              </a:solidFill>
              <a:effectLst/>
              <a:uFillTx/>
              <a:latin typeface="Arial"/>
            </a:endParaRPr>
          </a:p>
        </p:txBody>
      </p:sp>
      <p:sp>
        <p:nvSpPr>
          <p:cNvPr id="10" name=""/>
          <p:cNvSpPr txBox="1"/>
          <p:nvPr/>
        </p:nvSpPr>
        <p:spPr>
          <a:xfrm>
            <a:off x="3363840" y="1928880"/>
            <a:ext cx="1282680" cy="123336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In this program we show how to read an Indexed file Sequentially on either the primary key or the alternate key.</a:t>
            </a:r>
            <a:endParaRPr lang="en-US" sz="1000" b="0" u="none" strike="noStrike">
              <a:solidFill>
                <a:srgbClr val="000000"/>
              </a:solidFill>
              <a:effectLst/>
              <a:uFillTx/>
              <a:latin typeface="Arial"/>
            </a:endParaRPr>
          </a:p>
        </p:txBody>
      </p:sp>
      <p:grpSp>
        <p:nvGrpSpPr>
          <p:cNvPr id="11" name=""/>
          <p:cNvGrpSpPr/>
          <p:nvPr/>
        </p:nvGrpSpPr>
        <p:grpSpPr>
          <a:xfrm>
            <a:off x="76320" y="2500200"/>
            <a:ext cx="4565520" cy="1738440"/>
            <a:chOff x="76320" y="2500200"/>
            <a:chExt cx="4565520" cy="1738440"/>
          </a:xfrm>
        </p:grpSpPr>
        <p:sp>
          <p:nvSpPr>
            <p:cNvPr id="12" name=""/>
            <p:cNvSpPr txBox="1"/>
            <p:nvPr/>
          </p:nvSpPr>
          <p:spPr>
            <a:xfrm>
              <a:off x="3359160" y="2500200"/>
              <a:ext cx="1282680" cy="103356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These condition names tell us upon what key the user wants the file to be read</a:t>
              </a:r>
              <a:endParaRPr lang="en-US" sz="1000" b="0" u="none" strike="noStrike">
                <a:solidFill>
                  <a:srgbClr val="000000"/>
                </a:solidFill>
                <a:effectLst/>
                <a:uFillTx/>
                <a:latin typeface="Arial"/>
              </a:endParaRPr>
            </a:p>
          </p:txBody>
        </p:sp>
        <p:sp>
          <p:nvSpPr>
            <p:cNvPr id="13" name=""/>
            <p:cNvSpPr/>
            <p:nvPr/>
          </p:nvSpPr>
          <p:spPr>
            <a:xfrm>
              <a:off x="76320" y="3809880"/>
              <a:ext cx="3267000" cy="42876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
          <p:cNvSpPr txBox="1"/>
          <p:nvPr/>
        </p:nvSpPr>
        <p:spPr>
          <a:xfrm>
            <a:off x="33480" y="55440"/>
            <a:ext cx="4680000" cy="4187880"/>
          </a:xfrm>
          <a:prstGeom prst="rect">
            <a:avLst/>
          </a:prstGeom>
          <a:noFill/>
          <a:ln w="0">
            <a:noFill/>
          </a:ln>
        </p:spPr>
        <p:txBody>
          <a:bodyPr lIns="0" tIns="0" rIns="0" bIns="0" anchor="t">
            <a:spAutoFit/>
          </a:bodyPr>
          <a:p>
            <a:pPr>
              <a:lnSpc>
                <a:spcPct val="90000"/>
              </a:lnSpc>
            </a:pPr>
            <a:r>
              <a:rPr lang="en-US" sz="1000" b="1" u="none" strike="noStrike">
                <a:solidFill>
                  <a:srgbClr val="000000"/>
                </a:solidFill>
                <a:effectLst/>
                <a:uFillTx/>
                <a:latin typeface="Courier New"/>
                <a:ea typeface="Courier New"/>
              </a:rPr>
              <a:t>PROCEDURE DIVISION.</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Begin.</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OPEN INPUT VideoFile.</a:t>
            </a:r>
            <a:endParaRPr lang="en-US" sz="1000" b="0" u="none" strike="noStrike">
              <a:solidFill>
                <a:srgbClr val="000000"/>
              </a:solidFill>
              <a:effectLst/>
              <a:uFillTx/>
              <a:latin typeface="Arial"/>
            </a:endParaRPr>
          </a:p>
          <a:p>
            <a:pPr>
              <a:lnSpc>
                <a:spcPct val="90000"/>
              </a:lnSpc>
            </a:pP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DISPLAY "Enter key : 1=VideoCode, 2=VideoTitle -&gt;"</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WITH NO ADVANCING.</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ACCEPT RequiredSequence.</a:t>
            </a:r>
            <a:endParaRPr lang="en-US" sz="1000" b="0" u="none" strike="noStrike">
              <a:solidFill>
                <a:srgbClr val="000000"/>
              </a:solidFill>
              <a:effectLst/>
              <a:uFillTx/>
              <a:latin typeface="Arial"/>
            </a:endParaRPr>
          </a:p>
          <a:p>
            <a:pPr>
              <a:lnSpc>
                <a:spcPct val="90000"/>
              </a:lnSpc>
            </a:pP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IF VideoTitleSequence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MOVE SPACES TO VideoTitle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START VideoFile KEY IS GREATER THAN VideoTitle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INVALID KEY  DISPLAY "VIDEO STATUS :- ", VideoStatus</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END-START</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END-IF   </a:t>
            </a:r>
            <a:endParaRPr lang="en-US" sz="1000" b="0" u="none" strike="noStrike">
              <a:solidFill>
                <a:srgbClr val="000000"/>
              </a:solidFill>
              <a:effectLst/>
              <a:uFillTx/>
              <a:latin typeface="Arial"/>
            </a:endParaRPr>
          </a:p>
          <a:p>
            <a:pPr>
              <a:lnSpc>
                <a:spcPct val="90000"/>
              </a:lnSpc>
            </a:pP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READ VideoFile NEXT RECORD </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AT END SET EndOfFile TO TRUE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END-READ.</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PERFORM UNTIL EndOfFile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MOVE VideoCode TO PrnVideoCode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MOVE VideoTitle TO PrnVideoTitle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MOVE SupplierCode TO PrnSupplierCode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DISPLAY  PrnVideoRecord</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READ VideoFile NEXT RECORD </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AT END SET EndOfFile TO TRUE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END-READ</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END-PERFORM.</a:t>
            </a:r>
            <a:endParaRPr lang="en-US" sz="1000" b="0" u="none" strike="noStrike">
              <a:solidFill>
                <a:srgbClr val="000000"/>
              </a:solidFill>
              <a:effectLst/>
              <a:uFillTx/>
              <a:latin typeface="Arial"/>
            </a:endParaRPr>
          </a:p>
          <a:p>
            <a:pPr>
              <a:lnSpc>
                <a:spcPct val="90000"/>
              </a:lnSpc>
            </a:pP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CLOSE VideoFile.</a:t>
            </a:r>
            <a:endParaRPr lang="en-US" sz="1000" b="0" u="none" strike="noStrike">
              <a:solidFill>
                <a:srgbClr val="000000"/>
              </a:solidFill>
              <a:effectLst/>
              <a:uFillTx/>
              <a:latin typeface="Arial"/>
            </a:endParaRPr>
          </a:p>
          <a:p>
            <a:pPr>
              <a:lnSpc>
                <a:spcPct val="90000"/>
              </a:lnSpc>
            </a:pPr>
            <a:r>
              <a:rPr lang="en-US" sz="1000" b="1" u="none" strike="noStrike">
                <a:solidFill>
                  <a:srgbClr val="000000"/>
                </a:solidFill>
                <a:effectLst/>
                <a:uFillTx/>
                <a:latin typeface="Courier New"/>
                <a:ea typeface="Courier New"/>
              </a:rPr>
              <a:t>  STOP RUN.</a:t>
            </a:r>
            <a:endParaRPr lang="en-US" sz="1000" b="0" u="none" strike="noStrike">
              <a:solidFill>
                <a:srgbClr val="000000"/>
              </a:solidFill>
              <a:effectLst/>
              <a:uFillTx/>
              <a:latin typeface="Arial"/>
            </a:endParaRPr>
          </a:p>
        </p:txBody>
      </p:sp>
      <p:grpSp>
        <p:nvGrpSpPr>
          <p:cNvPr id="15" name=""/>
          <p:cNvGrpSpPr/>
          <p:nvPr/>
        </p:nvGrpSpPr>
        <p:grpSpPr>
          <a:xfrm>
            <a:off x="181080" y="565200"/>
            <a:ext cx="4466880" cy="2444760"/>
            <a:chOff x="181080" y="565200"/>
            <a:chExt cx="4466880" cy="2444760"/>
          </a:xfrm>
        </p:grpSpPr>
        <p:sp>
          <p:nvSpPr>
            <p:cNvPr id="16" name=""/>
            <p:cNvSpPr/>
            <p:nvPr/>
          </p:nvSpPr>
          <p:spPr>
            <a:xfrm>
              <a:off x="181080" y="565200"/>
              <a:ext cx="3990960" cy="51120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7" name=""/>
            <p:cNvSpPr txBox="1"/>
            <p:nvPr/>
          </p:nvSpPr>
          <p:spPr>
            <a:xfrm>
              <a:off x="2914560" y="1790640"/>
              <a:ext cx="1733400" cy="121932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The file can be read in sequence on either the VideCode or VideoTitle.</a:t>
              </a:r>
              <a:endParaRPr lang="en-US" sz="1000" b="0" u="none" strike="noStrike">
                <a:solidFill>
                  <a:srgbClr val="000000"/>
                </a:solidFill>
                <a:effectLst/>
                <a:uFillTx/>
                <a:latin typeface="Arial"/>
              </a:endParaRPr>
            </a:p>
            <a:p>
              <a:pPr algn="ctr">
                <a:lnSpc>
                  <a:spcPct val="90000"/>
                </a:lnSpc>
              </a:pPr>
              <a:endParaRPr lang="en-US" sz="1000" b="0" u="none" strike="noStrike">
                <a:solidFill>
                  <a:srgbClr val="000000"/>
                </a:solidFill>
                <a:effectLst/>
                <a:uFillTx/>
                <a:latin typeface="Arial"/>
              </a:endParaRPr>
            </a:p>
            <a:p>
              <a:pPr algn="ctr">
                <a:lnSpc>
                  <a:spcPct val="90000"/>
                </a:lnSpc>
              </a:pPr>
              <a:r>
                <a:rPr lang="en-US" sz="1000" b="0" u="none" strike="noStrike">
                  <a:solidFill>
                    <a:srgbClr val="000000"/>
                  </a:solidFill>
                  <a:effectLst/>
                  <a:uFillTx/>
                  <a:latin typeface="Times New Roman"/>
                  <a:ea typeface="Times New Roman"/>
                </a:rPr>
                <a:t>The program starts by asking the user what key to use.</a:t>
              </a:r>
              <a:endParaRPr lang="en-US" sz="1000" b="0" u="none" strike="noStrike">
                <a:solidFill>
                  <a:srgbClr val="000000"/>
                </a:solidFill>
                <a:effectLst/>
                <a:uFillTx/>
                <a:latin typeface="Arial"/>
              </a:endParaRPr>
            </a:p>
          </p:txBody>
        </p:sp>
      </p:grpSp>
      <p:grpSp>
        <p:nvGrpSpPr>
          <p:cNvPr id="18" name=""/>
          <p:cNvGrpSpPr/>
          <p:nvPr/>
        </p:nvGrpSpPr>
        <p:grpSpPr>
          <a:xfrm>
            <a:off x="181080" y="2065320"/>
            <a:ext cx="4489200" cy="2343240"/>
            <a:chOff x="181080" y="2065320"/>
            <a:chExt cx="4489200" cy="2343240"/>
          </a:xfrm>
        </p:grpSpPr>
        <p:sp>
          <p:nvSpPr>
            <p:cNvPr id="19" name=""/>
            <p:cNvSpPr txBox="1"/>
            <p:nvPr/>
          </p:nvSpPr>
          <p:spPr>
            <a:xfrm>
              <a:off x="3409920" y="2284560"/>
              <a:ext cx="1260360" cy="212400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This read statement has no key phrase to tell the file system which key to use when reading the file. </a:t>
              </a:r>
              <a:endParaRPr lang="en-US" sz="1000" b="0" u="none" strike="noStrike">
                <a:solidFill>
                  <a:srgbClr val="000000"/>
                </a:solidFill>
                <a:effectLst/>
                <a:uFillTx/>
                <a:latin typeface="Arial"/>
              </a:endParaRPr>
            </a:p>
            <a:p>
              <a:pPr algn="ctr">
                <a:lnSpc>
                  <a:spcPct val="90000"/>
                </a:lnSpc>
              </a:pPr>
              <a:endParaRPr lang="en-US" sz="1000" b="0" u="none" strike="noStrike">
                <a:solidFill>
                  <a:srgbClr val="000000"/>
                </a:solidFill>
                <a:effectLst/>
                <a:uFillTx/>
                <a:latin typeface="Arial"/>
              </a:endParaRPr>
            </a:p>
            <a:p>
              <a:pPr algn="ctr">
                <a:lnSpc>
                  <a:spcPct val="90000"/>
                </a:lnSpc>
              </a:pPr>
              <a:r>
                <a:rPr lang="en-US" sz="1000" b="0" u="none" strike="noStrike">
                  <a:solidFill>
                    <a:srgbClr val="000000"/>
                  </a:solidFill>
                  <a:effectLst/>
                  <a:uFillTx/>
                  <a:latin typeface="Times New Roman"/>
                  <a:ea typeface="Times New Roman"/>
                </a:rPr>
                <a:t>So how does the file system know which key sequence to use when reading the file?   </a:t>
              </a:r>
              <a:endParaRPr lang="en-US" sz="1000" b="0" u="none" strike="noStrike">
                <a:solidFill>
                  <a:srgbClr val="000000"/>
                </a:solidFill>
                <a:effectLst/>
                <a:uFillTx/>
                <a:latin typeface="Arial"/>
              </a:endParaRPr>
            </a:p>
          </p:txBody>
        </p:sp>
        <p:sp>
          <p:nvSpPr>
            <p:cNvPr id="20" name=""/>
            <p:cNvSpPr/>
            <p:nvPr/>
          </p:nvSpPr>
          <p:spPr>
            <a:xfrm>
              <a:off x="181080" y="2065320"/>
              <a:ext cx="2562120" cy="48564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grpSp>
      <p:sp>
        <p:nvSpPr>
          <p:cNvPr id="21" name=""/>
          <p:cNvSpPr txBox="1"/>
          <p:nvPr/>
        </p:nvSpPr>
        <p:spPr>
          <a:xfrm>
            <a:off x="3352680" y="2000160"/>
            <a:ext cx="1380960" cy="286704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A Key Of Reference is used to decide which key sequence to use when reading the file sequentially.</a:t>
            </a:r>
            <a:endParaRPr lang="en-US" sz="1000" b="0" u="none" strike="noStrike">
              <a:solidFill>
                <a:srgbClr val="000000"/>
              </a:solidFill>
              <a:effectLst/>
              <a:uFillTx/>
              <a:latin typeface="Arial"/>
            </a:endParaRPr>
          </a:p>
          <a:p>
            <a:pPr algn="ctr">
              <a:lnSpc>
                <a:spcPct val="90000"/>
              </a:lnSpc>
            </a:pPr>
            <a:endParaRPr lang="en-US" sz="1000" b="0" u="none" strike="noStrike">
              <a:solidFill>
                <a:srgbClr val="000000"/>
              </a:solidFill>
              <a:effectLst/>
              <a:uFillTx/>
              <a:latin typeface="Arial"/>
            </a:endParaRPr>
          </a:p>
          <a:p>
            <a:pPr algn="ctr">
              <a:lnSpc>
                <a:spcPct val="90000"/>
              </a:lnSpc>
            </a:pPr>
            <a:r>
              <a:rPr lang="en-US" sz="1000" b="0" u="none" strike="noStrike">
                <a:solidFill>
                  <a:srgbClr val="000000"/>
                </a:solidFill>
                <a:effectLst/>
                <a:uFillTx/>
                <a:latin typeface="Times New Roman"/>
                <a:ea typeface="Times New Roman"/>
              </a:rPr>
              <a:t>By default the primary key is established as the Key Of Reference.</a:t>
            </a:r>
            <a:endParaRPr lang="en-US" sz="1000" b="0" u="none" strike="noStrike">
              <a:solidFill>
                <a:srgbClr val="000000"/>
              </a:solidFill>
              <a:effectLst/>
              <a:uFillTx/>
              <a:latin typeface="Arial"/>
            </a:endParaRPr>
          </a:p>
          <a:p>
            <a:pPr algn="ctr">
              <a:lnSpc>
                <a:spcPct val="90000"/>
              </a:lnSpc>
            </a:pPr>
            <a:endParaRPr lang="en-US" sz="1000" b="0" u="none" strike="noStrike">
              <a:solidFill>
                <a:srgbClr val="000000"/>
              </a:solidFill>
              <a:effectLst/>
              <a:uFillTx/>
              <a:latin typeface="Arial"/>
            </a:endParaRPr>
          </a:p>
          <a:p>
            <a:pPr algn="ctr">
              <a:lnSpc>
                <a:spcPct val="90000"/>
              </a:lnSpc>
            </a:pPr>
            <a:r>
              <a:rPr lang="en-US" sz="1000" b="0" u="none" strike="noStrike">
                <a:solidFill>
                  <a:srgbClr val="000000"/>
                </a:solidFill>
                <a:effectLst/>
                <a:uFillTx/>
                <a:latin typeface="Times New Roman"/>
                <a:ea typeface="Times New Roman"/>
              </a:rPr>
              <a:t>Since VideoCode is the primary key, nothing extra needs to be done to read the file sequentially on this key.</a:t>
            </a:r>
            <a:endParaRPr lang="en-US" sz="1000" b="0" u="none" strike="noStrike">
              <a:solidFill>
                <a:srgbClr val="000000"/>
              </a:solidFill>
              <a:effectLst/>
              <a:uFillTx/>
              <a:latin typeface="Arial"/>
            </a:endParaRPr>
          </a:p>
        </p:txBody>
      </p:sp>
      <p:grpSp>
        <p:nvGrpSpPr>
          <p:cNvPr id="22" name=""/>
          <p:cNvGrpSpPr/>
          <p:nvPr/>
        </p:nvGrpSpPr>
        <p:grpSpPr>
          <a:xfrm>
            <a:off x="181080" y="1133640"/>
            <a:ext cx="4495680" cy="3428640"/>
            <a:chOff x="181080" y="1133640"/>
            <a:chExt cx="4495680" cy="3428640"/>
          </a:xfrm>
        </p:grpSpPr>
        <p:sp>
          <p:nvSpPr>
            <p:cNvPr id="23" name=""/>
            <p:cNvSpPr/>
            <p:nvPr/>
          </p:nvSpPr>
          <p:spPr>
            <a:xfrm>
              <a:off x="181080" y="1133640"/>
              <a:ext cx="4495680" cy="94284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4" name=""/>
            <p:cNvSpPr txBox="1"/>
            <p:nvPr/>
          </p:nvSpPr>
          <p:spPr>
            <a:xfrm>
              <a:off x="3009960" y="3228840"/>
              <a:ext cx="1657440" cy="133344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If VideoTitle is chosen then,  before we can read the file, we must establish VideoTitle as the Key Of Reference.</a:t>
              </a:r>
              <a:endParaRPr lang="en-US" sz="1000" b="0" u="none" strike="noStrike">
                <a:solidFill>
                  <a:srgbClr val="000000"/>
                </a:solidFill>
                <a:effectLst/>
                <a:uFillTx/>
                <a:latin typeface="Arial"/>
              </a:endParaRPr>
            </a:p>
            <a:p>
              <a:pPr algn="ctr">
                <a:lnSpc>
                  <a:spcPct val="90000"/>
                </a:lnSpc>
              </a:pPr>
              <a:r>
                <a:rPr lang="en-US" sz="1000" b="0" u="none" strike="noStrike">
                  <a:solidFill>
                    <a:srgbClr val="000000"/>
                  </a:solidFill>
                  <a:effectLst/>
                  <a:uFillTx/>
                  <a:latin typeface="Times New Roman"/>
                  <a:ea typeface="Times New Roman"/>
                </a:rPr>
                <a:t>We do this with the </a:t>
              </a:r>
              <a:r>
                <a:rPr lang="en-US" sz="900" b="0" u="none" strike="noStrike">
                  <a:solidFill>
                    <a:srgbClr val="000000"/>
                  </a:solidFill>
                  <a:effectLst/>
                  <a:uFillTx/>
                  <a:latin typeface="Times New Roman"/>
                  <a:ea typeface="Times New Roman"/>
                </a:rPr>
                <a:t>START </a:t>
              </a:r>
              <a:r>
                <a:rPr lang="en-US" sz="1000" b="0" u="none" strike="noStrike">
                  <a:solidFill>
                    <a:srgbClr val="000000"/>
                  </a:solidFill>
                  <a:effectLst/>
                  <a:uFillTx/>
                  <a:latin typeface="Times New Roman"/>
                  <a:ea typeface="Times New Roman"/>
                </a:rPr>
                <a:t>verb.</a:t>
              </a:r>
              <a:endParaRPr lang="en-US" sz="1000" b="0" u="none" strike="noStrike">
                <a:solidFill>
                  <a:srgbClr val="000000"/>
                </a:solidFill>
                <a:effectLst/>
                <a:uFillTx/>
                <a:latin typeface="Arial"/>
              </a:endParaRPr>
            </a:p>
          </p:txBody>
        </p:sp>
      </p:grpSp>
      <p:grpSp>
        <p:nvGrpSpPr>
          <p:cNvPr id="25" name=""/>
          <p:cNvGrpSpPr/>
          <p:nvPr/>
        </p:nvGrpSpPr>
        <p:grpSpPr>
          <a:xfrm>
            <a:off x="181080" y="1303200"/>
            <a:ext cx="4495680" cy="3457800"/>
            <a:chOff x="181080" y="1303200"/>
            <a:chExt cx="4495680" cy="3457800"/>
          </a:xfrm>
        </p:grpSpPr>
        <p:sp>
          <p:nvSpPr>
            <p:cNvPr id="26" name=""/>
            <p:cNvSpPr txBox="1"/>
            <p:nvPr/>
          </p:nvSpPr>
          <p:spPr>
            <a:xfrm>
              <a:off x="2009880" y="3579840"/>
              <a:ext cx="2467080" cy="1181160"/>
            </a:xfrm>
            <a:prstGeom prst="rect">
              <a:avLst/>
            </a:prstGeom>
            <a:solidFill>
              <a:srgbClr val="FFFF99"/>
            </a:solidFill>
            <a:ln w="12600">
              <a:solidFill>
                <a:srgbClr val="000000"/>
              </a:solidFill>
              <a:round/>
            </a:ln>
          </p:spPr>
          <p:txBody>
            <a:bodyPr lIns="0" tIns="0" rIns="0" bIns="0" anchor="t">
              <a:spAutoFit/>
            </a:bodyPr>
            <a:p>
              <a:pPr algn="ctr">
                <a:lnSpc>
                  <a:spcPct val="90000"/>
                </a:lnSpc>
              </a:pPr>
              <a:r>
                <a:rPr lang="en-US" sz="1000" b="0" u="none" strike="noStrike">
                  <a:solidFill>
                    <a:srgbClr val="000000"/>
                  </a:solidFill>
                  <a:effectLst/>
                  <a:uFillTx/>
                  <a:latin typeface="Times New Roman"/>
                  <a:ea typeface="Times New Roman"/>
                </a:rPr>
                <a:t>The START establishes the VideoTitle as the Key Of Reference and positions the Next Record Pointer at the first record in the file (positions the pointer so that the value of the key in the file is greater than the spaces currently in VideoTitle).</a:t>
              </a:r>
              <a:endParaRPr lang="en-US" sz="1000" b="0" u="none" strike="noStrike">
                <a:solidFill>
                  <a:srgbClr val="000000"/>
                </a:solidFill>
                <a:effectLst/>
                <a:uFillTx/>
                <a:latin typeface="Arial"/>
              </a:endParaRPr>
            </a:p>
          </p:txBody>
        </p:sp>
        <p:sp>
          <p:nvSpPr>
            <p:cNvPr id="27" name=""/>
            <p:cNvSpPr/>
            <p:nvPr/>
          </p:nvSpPr>
          <p:spPr>
            <a:xfrm>
              <a:off x="181080" y="1303200"/>
              <a:ext cx="4495680" cy="561960"/>
            </a:xfrm>
            <a:prstGeom prst="rect">
              <a:avLst/>
            </a:prstGeom>
            <a:noFill/>
            <a:ln w="12600">
              <a:solidFill>
                <a:srgbClr val="CC0000"/>
              </a:solidFill>
              <a:round/>
            </a:ln>
          </p:spPr>
          <p:txBody>
            <a:bodyPr lIns="96120" tIns="51120" rIns="96120" bIns="51120" anchor="t">
              <a:noAutofit/>
            </a:bodyPr>
            <a:p>
              <a:endParaRPr lang="en-US" sz="1800" b="0" u="none" strike="noStrike">
                <a:solidFill>
                  <a:srgbClr val="000000"/>
                </a:solidFill>
                <a:effectLst/>
                <a:uFillTx/>
                <a:latin typeface="Arial"/>
              </a:endParaRPr>
            </a:p>
          </p:txBody>
        </p:sp>
      </p:gr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LibreOffice/26.2.2.2$Windows_X86_64 LibreOffice_project/1f77d10d6938fd34972958f64b2bcfa54f8b1ba5</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Michael Coughlan</dc:creator>
  <dc:description/>
  <dc:language>en-US</dc:language>
  <cp:lastModifiedBy>Michael Coughlan</cp:lastModifiedBy>
  <cp:revision>0</cp:revision>
  <dc:subject/>
  <dc:title>No Slide Title</dc:title>
</cp:coreProperties>
</file>