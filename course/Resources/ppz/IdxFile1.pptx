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56" r:id="rId3"/>
    <p:sldId id="258" r:id="rId4"/>
  </p:sldIdLst>
  <p:sldSz cx="4762500" cy="4953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6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336600"/>
    <a:srgbClr val="FFFF00"/>
    <a:srgbClr val="000099"/>
    <a:srgbClr val="A50021"/>
    <a:srgbClr val="FFFF99"/>
    <a:srgbClr val="CCFF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3" d="100"/>
          <a:sy n="173" d="100"/>
        </p:scale>
        <p:origin x="1302" y="138"/>
      </p:cViewPr>
      <p:guideLst>
        <p:guide orient="horz" pos="156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56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2AA752-3C1B-583E-FCBD-404FE4D0EA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D05600B-7EB2-737A-FCFB-AB3A59A6B30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772B871-AB62-6CFE-FD52-A6467C2DAB99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787525" y="692150"/>
            <a:ext cx="32829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2BEC9E0-0059-6E85-138F-0D4E8A0C11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638DF32-5DA2-9F34-6EB5-D42DA7E851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835A5DC7-5DB8-4299-464B-F541072EF6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0174DC0C-F62C-4182-9165-B3CEBA7A652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45D6BAB-3A88-6829-D914-EA487BAE4A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B12259-549B-455A-80E1-314C651CBFED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2CB77906-3476-80C0-FD17-B70695BB35C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DD3D9B0-7445-4619-4482-D5D3BC4F5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6875-44FD-0C7F-A3BA-01B06C566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811213"/>
            <a:ext cx="3571875" cy="17240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9C61C-253D-FBAE-BDB9-53511EA38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601913"/>
            <a:ext cx="3571875" cy="11953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7C7D8-5137-4646-46DA-ABC588301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F409F-8E1C-984D-2FD1-A3F79130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873A5-C4EF-0815-13E8-B9E21DE1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B25AC-0B61-41B9-8898-3DEBEAEA22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37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D29E-6B37-DC1A-A2C6-6A238B8F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FCF21-78B3-F064-F377-969F3C051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5C389-7B87-FA37-F8CC-15486DC23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59298-DF6F-DF63-3C24-9380D8BB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0040E-3B6D-9AA0-0739-9F5558781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F826B6-10F4-4E86-AD32-752C7CA8C5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63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3BBA-D844-BF66-B464-029BBE6B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1235075"/>
            <a:ext cx="4106862" cy="20605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916D3-6DED-36E2-4C04-F991A5F04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3314700"/>
            <a:ext cx="4106862" cy="10826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76B95-FD03-1E16-5EDB-3AD408805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91F0-1927-E429-05CF-5E35B26C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B95B-8FF5-D6FC-E0C5-AD6BDCF6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B2582-B5F7-4410-98FF-C21B0962E0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601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0E8D-C895-882F-5E57-3541EE023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E5CE-2ABA-41ED-C58E-346C86A05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430338"/>
            <a:ext cx="1949450" cy="297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0FAE0-F991-F0D7-E789-0058F507A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430338"/>
            <a:ext cx="1949450" cy="297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8AAB7-5E73-5BF1-D19A-C99620EB6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00150-DDFB-CC4D-8B32-87AC5AAE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F8438-494A-A94E-94B5-024B90E0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4D8B1-77F3-4C20-A4C7-406C3E3D5F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0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21F1-B422-2814-DEC5-01DE4905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63525"/>
            <a:ext cx="4106862" cy="9572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78F10-148A-8402-13EA-BAF761512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1214438"/>
            <a:ext cx="2014537" cy="5953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989C3-C9B4-8D95-AFE5-6A8D4D13F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809750"/>
            <a:ext cx="2014537" cy="266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A4586-8D11-9210-44B7-26218F8CE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1214438"/>
            <a:ext cx="2024062" cy="5953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260C3-1475-8719-3826-8555C86E1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809750"/>
            <a:ext cx="2024062" cy="266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DC89F3-33D5-2D8C-05B9-006D7A8D1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8B8AA-6F04-36B2-7861-5B78581F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F1E6AF-997B-A753-FC97-2A3CFFE0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EAF3B-14C6-45FC-9FE3-1AD6C0C000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79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3B02-C88F-1B90-067B-53C86CDF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B6E69-F8DE-F671-E72D-8FFD8D8A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774B7-08BC-CEA6-2CDF-F6FB7E81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ADCF8-D240-2B4B-A1A2-4FFEB88D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8C7EC-DEF2-4D09-940E-5981EACC0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37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7B509-7F94-6BD5-723C-88FE4D24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5A0E64-FDC6-22DD-C4F0-147ACDFB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FB75-09FA-02CD-7D7A-51267749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7951F1-76E5-445E-87C5-7406E95AE9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859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CCF8-BC4A-9BD5-FB16-9055E8787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330200"/>
            <a:ext cx="1535112" cy="1155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6993-0153-E91B-F9FE-F3216C739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712788"/>
            <a:ext cx="2411412" cy="35194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E224C-DC26-65E7-3867-15FB7048A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485900"/>
            <a:ext cx="1535112" cy="27527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DE7F6-25ED-11B1-E82D-BEEA441F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9B2FB-772B-C14E-C669-F7C137D5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3369A-DC30-DE87-E3A5-18F790E1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85ACE5-310C-4AE4-AD2C-F5C78B0A60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49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75EB-EFF3-4CCB-F645-ADCE70B1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330200"/>
            <a:ext cx="1535112" cy="1155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EED048-0F43-7E68-9640-77EC0E01D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712788"/>
            <a:ext cx="2411412" cy="3519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132C4-BFBC-A3EF-E2D5-4B8AE59CD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485900"/>
            <a:ext cx="1535112" cy="27527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C24C4-1DC1-B6E7-28DF-3766070E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F1483-485B-8874-B2F2-31A41ABE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032E4-D1DA-F905-66AD-B021586B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9F1D7A-DD90-416B-AFCB-244284EF33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61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0E50-520F-15B1-C264-B86D5767A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B2C2B-9E2D-C489-876F-4C206FCD7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0075A-3023-3BBF-416A-F95FA77A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5EC0-B009-9CBE-A6FB-CA4BCDE8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4C0F3-7C62-2F17-EA9F-2AC8134C7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FCEC1-12DB-462F-B606-5A6FF648F4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69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78806-8201-20D2-DD74-8DCB1B8CA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394075" y="438150"/>
            <a:ext cx="1012825" cy="3963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423BF-7DD9-27C8-1D8C-876A9EF3B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5600" y="438150"/>
            <a:ext cx="2886075" cy="3963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E179B-FAD5-03D8-8E92-E1AFB331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FF003-3FA2-BB62-485B-CB2D8CBC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5984D-40AC-FDCA-3004-C5B0A7F9E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D49E6C-340D-43B3-AEC7-9BF9ECA798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7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1390BC2-3ECE-70F2-6971-BAA5E6848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438150"/>
            <a:ext cx="40513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100" tIns="22225" rIns="38100" bIns="2222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38B110-2358-9959-CEB9-575A6539C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1430338"/>
            <a:ext cx="40513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100" tIns="22225" rIns="38100" bIns="222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4D13D74-5084-21F6-A7A4-CB50F68290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5600" y="4514850"/>
            <a:ext cx="993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100" tIns="22225" rIns="38100" bIns="22225" numCol="1" anchor="ctr" anchorCtr="0" compatLnSpc="1">
            <a:prstTxWarp prst="textNoShape">
              <a:avLst/>
            </a:prstTxWarp>
          </a:bodyPr>
          <a:lstStyle>
            <a:lvl1pPr defTabSz="158750">
              <a:defRPr sz="5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CBA4B3B-D239-D71A-A49C-44070B5315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28775" y="4514850"/>
            <a:ext cx="15049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100" tIns="22225" rIns="38100" bIns="22225" numCol="1" anchor="ctr" anchorCtr="0" compatLnSpc="1">
            <a:prstTxWarp prst="textNoShape">
              <a:avLst/>
            </a:prstTxWarp>
          </a:bodyPr>
          <a:lstStyle>
            <a:lvl1pPr algn="ctr" defTabSz="158750">
              <a:defRPr sz="5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AEFAFD-623A-82CF-8924-492C0B400D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13125" y="4514850"/>
            <a:ext cx="993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100" tIns="22225" rIns="38100" bIns="22225" numCol="1" anchor="ctr" anchorCtr="0" compatLnSpc="1">
            <a:prstTxWarp prst="textNoShape">
              <a:avLst/>
            </a:prstTxWarp>
          </a:bodyPr>
          <a:lstStyle>
            <a:lvl1pPr algn="r" defTabSz="158750">
              <a:defRPr sz="500"/>
            </a:lvl1pPr>
          </a:lstStyle>
          <a:p>
            <a:fld id="{393CEC95-EC0A-4762-AD72-3A517AE3DF9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DFE9918-BB2E-E050-02C1-03D6090A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8" y="19050"/>
            <a:ext cx="4721225" cy="491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58750" rtl="0" eaLnBrk="0" fontAlgn="base" hangingPunct="0">
        <a:spcBef>
          <a:spcPct val="0"/>
        </a:spcBef>
        <a:spcAft>
          <a:spcPct val="0"/>
        </a:spcAft>
        <a:defRPr sz="19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2pPr>
      <a:lvl3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3pPr>
      <a:lvl4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4pPr>
      <a:lvl5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39700" indent="-139700" algn="l" defTabSz="158750" rtl="0" eaLnBrk="0" fontAlgn="base" hangingPunct="0">
        <a:spcBef>
          <a:spcPct val="20000"/>
        </a:spcBef>
        <a:spcAft>
          <a:spcPct val="0"/>
        </a:spcAft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09563" indent="-55563" algn="l" defTabSz="158750" rtl="0" eaLnBrk="0" fontAlgn="base" hangingPunct="0">
        <a:spcBef>
          <a:spcPct val="20000"/>
        </a:spcBef>
        <a:spcAft>
          <a:spcPct val="0"/>
        </a:spcAft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476250" indent="-52388" algn="l" defTabSz="158750" rtl="0" eaLnBrk="0" fontAlgn="base" hangingPunct="0">
        <a:spcBef>
          <a:spcPct val="20000"/>
        </a:spcBef>
        <a:spcAft>
          <a:spcPct val="0"/>
        </a:spcAft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6750" indent="-76200" algn="l" defTabSz="158750" rtl="0" eaLnBrk="0" fontAlgn="base" hangingPunct="0">
        <a:spcBef>
          <a:spcPct val="20000"/>
        </a:spcBef>
        <a:spcAft>
          <a:spcPct val="0"/>
        </a:spcAft>
        <a:buChar char="–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76200" algn="l" defTabSz="158750" rtl="0" eaLnBrk="0" fontAlgn="base" hangingPunct="0">
        <a:spcBef>
          <a:spcPct val="20000"/>
        </a:spcBef>
        <a:spcAft>
          <a:spcPct val="0"/>
        </a:spcAft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D156F9-5EC0-6422-BA59-FB2B4E1BC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828675"/>
            <a:ext cx="2974975" cy="280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Creating an Indexed file from a Sequential file.</a:t>
            </a:r>
          </a:p>
          <a:p>
            <a:pPr algn="ctr"/>
            <a:endParaRPr lang="en-US" altLang="en-US" sz="1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Example program</a:t>
            </a:r>
          </a:p>
          <a:p>
            <a:pPr algn="ctr"/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/>
              <a:t>Click to view.</a:t>
            </a:r>
          </a:p>
          <a:p>
            <a:pPr algn="ctr"/>
            <a:endParaRPr lang="en-US" altLang="en-US" sz="1400" b="1"/>
          </a:p>
          <a:p>
            <a:pPr algn="ctr"/>
            <a:r>
              <a:rPr lang="en-US" altLang="en-US" sz="1000"/>
              <a:t>When viewing the program left click (or press the Page Up key to see next comment and right click (or press Page Down) to see the previous comment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D705FDB-6721-A2E4-867A-BC18BD807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73025"/>
            <a:ext cx="3994150" cy="485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PROGRAM-ID.  CreateIndexedFromSeq.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* Creates an indexed file  from a sequential file.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ENVIRONMENT DIVISION.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INPUT-OUTPUT SECTION.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FILE-CONTROL.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SELECT VideoFile ASSIGN TO "VIDEO.DAT"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ORGANIZATION IS INDEXED   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ACCESS MODE IS RANDOM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RECORD KEY IS VideoCode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ALTERNATE RECORD KEY IS VideoTitle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WITH DUPLICATES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FILE STATUS IS VideoStatus.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SELECT SeqVideoFile ASSIGN TO "INVIDEO.DAT".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FD VideoFile.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01 VideoRecord.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02 VideoCode                PIC 9(5).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02 VideoTitle               PIC X(40).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02 VideoSupplierCode        PIC 99.</a:t>
            </a:r>
          </a:p>
          <a:p>
            <a:pPr>
              <a:lnSpc>
                <a:spcPct val="90000"/>
              </a:lnSpc>
            </a:pPr>
            <a:endParaRPr lang="en-US" altLang="en-US" sz="1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FD SeqVideoFile.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01 SeqVideoRecord.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88 EndOfFile VALUE HIGH-VALUES.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02 SeqVideoCode             PIC 9(5).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02 SeqVideoTitle            PIC X(40).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02 SeqVideoSupplierCode     PIC 99.</a:t>
            </a:r>
          </a:p>
          <a:p>
            <a:pPr>
              <a:lnSpc>
                <a:spcPct val="90000"/>
              </a:lnSpc>
            </a:pPr>
            <a:endParaRPr lang="en-US" altLang="en-US" sz="1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9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01   VideoStatus               PIC X(2).</a:t>
            </a:r>
          </a:p>
        </p:txBody>
      </p:sp>
      <p:grpSp>
        <p:nvGrpSpPr>
          <p:cNvPr id="4101" name="Group 5">
            <a:extLst>
              <a:ext uri="{FF2B5EF4-FFF2-40B4-BE49-F238E27FC236}">
                <a16:creationId xmlns:a16="http://schemas.microsoft.com/office/drawing/2014/main" id="{C8E9E4D8-1DCE-CFDF-CE50-797BB3EAED7F}"/>
              </a:ext>
            </a:extLst>
          </p:cNvPr>
          <p:cNvGrpSpPr>
            <a:grpSpLocks/>
          </p:cNvGrpSpPr>
          <p:nvPr/>
        </p:nvGrpSpPr>
        <p:grpSpPr bwMode="auto">
          <a:xfrm>
            <a:off x="393700" y="1146175"/>
            <a:ext cx="4311650" cy="2400300"/>
            <a:chOff x="248" y="722"/>
            <a:chExt cx="2716" cy="1512"/>
          </a:xfrm>
        </p:grpSpPr>
        <p:sp>
          <p:nvSpPr>
            <p:cNvPr id="4099" name="Rectangle 3">
              <a:extLst>
                <a:ext uri="{FF2B5EF4-FFF2-40B4-BE49-F238E27FC236}">
                  <a16:creationId xmlns:a16="http://schemas.microsoft.com/office/drawing/2014/main" id="{1C81520F-6743-E1C6-40AB-E2F577D1E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" y="722"/>
              <a:ext cx="2168" cy="656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" name="AutoShape 4">
              <a:extLst>
                <a:ext uri="{FF2B5EF4-FFF2-40B4-BE49-F238E27FC236}">
                  <a16:creationId xmlns:a16="http://schemas.microsoft.com/office/drawing/2014/main" id="{6891CDCA-6E0F-0172-F405-05B1E993322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06" y="1525"/>
              <a:ext cx="758" cy="591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000" b="1"/>
                <a:t>First</a:t>
              </a:r>
              <a:endParaRPr lang="en-US" altLang="en-US" sz="1000"/>
            </a:p>
            <a:p>
              <a:pPr algn="ctr">
                <a:lnSpc>
                  <a:spcPct val="90000"/>
                </a:lnSpc>
              </a:pPr>
              <a:r>
                <a:rPr lang="en-US" altLang="en-US" sz="1000"/>
                <a:t>Let’s look at the new </a:t>
              </a:r>
              <a:r>
                <a:rPr lang="en-US" altLang="en-US" sz="900"/>
                <a:t>SELECT </a:t>
              </a:r>
              <a:r>
                <a:rPr lang="en-US" altLang="en-US" sz="1000"/>
                <a:t>and </a:t>
              </a:r>
              <a:r>
                <a:rPr lang="en-US" altLang="en-US" sz="900"/>
                <a:t>ASSIGN </a:t>
              </a:r>
              <a:r>
                <a:rPr lang="en-US" altLang="en-US" sz="1000"/>
                <a:t>clauses we need for an Indexed file. </a:t>
              </a:r>
            </a:p>
          </p:txBody>
        </p:sp>
      </p:grpSp>
      <p:grpSp>
        <p:nvGrpSpPr>
          <p:cNvPr id="4104" name="Group 8">
            <a:extLst>
              <a:ext uri="{FF2B5EF4-FFF2-40B4-BE49-F238E27FC236}">
                <a16:creationId xmlns:a16="http://schemas.microsoft.com/office/drawing/2014/main" id="{8EC3E2D9-AAE1-7D33-FFA0-A0FCF479FAED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1308100"/>
            <a:ext cx="3940175" cy="2889250"/>
            <a:chOff x="490" y="824"/>
            <a:chExt cx="2482" cy="1820"/>
          </a:xfrm>
        </p:grpSpPr>
        <p:sp>
          <p:nvSpPr>
            <p:cNvPr id="4102" name="Rectangle 6">
              <a:extLst>
                <a:ext uri="{FF2B5EF4-FFF2-40B4-BE49-F238E27FC236}">
                  <a16:creationId xmlns:a16="http://schemas.microsoft.com/office/drawing/2014/main" id="{60959FE6-664B-649E-F603-36305A010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824"/>
              <a:ext cx="1778" cy="189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" name="AutoShape 7">
              <a:extLst>
                <a:ext uri="{FF2B5EF4-FFF2-40B4-BE49-F238E27FC236}">
                  <a16:creationId xmlns:a16="http://schemas.microsoft.com/office/drawing/2014/main" id="{B32AADD4-E355-33B2-BCE9-FEA1FB340B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68" y="1671"/>
              <a:ext cx="804" cy="811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000"/>
                <a:t>The </a:t>
              </a:r>
              <a:r>
                <a:rPr lang="en-US" altLang="en-US" sz="900"/>
                <a:t>ORGANIZATION</a:t>
              </a:r>
              <a:r>
                <a:rPr lang="en-US" altLang="en-US" sz="1000"/>
                <a:t> phrase specifies that the file Indexed.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000"/>
                <a:t>The </a:t>
              </a:r>
              <a:r>
                <a:rPr lang="en-US" altLang="en-US" sz="900"/>
                <a:t>ACCESS MODE</a:t>
              </a:r>
              <a:r>
                <a:rPr lang="en-US" altLang="en-US" sz="1000"/>
                <a:t> chosen is </a:t>
              </a:r>
              <a:r>
                <a:rPr lang="en-US" altLang="en-US" sz="900"/>
                <a:t>RANDOM</a:t>
              </a:r>
              <a:r>
                <a:rPr lang="en-US" altLang="en-US" sz="800"/>
                <a:t>,</a:t>
              </a:r>
              <a:r>
                <a:rPr lang="en-US" altLang="en-US" sz="1000"/>
                <a:t> meaning that we only intend to access this file directly. </a:t>
              </a:r>
            </a:p>
          </p:txBody>
        </p:sp>
      </p:grpSp>
      <p:grpSp>
        <p:nvGrpSpPr>
          <p:cNvPr id="4108" name="Group 12">
            <a:extLst>
              <a:ext uri="{FF2B5EF4-FFF2-40B4-BE49-F238E27FC236}">
                <a16:creationId xmlns:a16="http://schemas.microsoft.com/office/drawing/2014/main" id="{FEBD26E6-CA29-69D5-C031-51BE008A0C77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1600200"/>
            <a:ext cx="3941763" cy="3101975"/>
            <a:chOff x="490" y="1008"/>
            <a:chExt cx="2483" cy="1954"/>
          </a:xfrm>
        </p:grpSpPr>
        <p:sp>
          <p:nvSpPr>
            <p:cNvPr id="4105" name="Rectangle 9">
              <a:extLst>
                <a:ext uri="{FF2B5EF4-FFF2-40B4-BE49-F238E27FC236}">
                  <a16:creationId xmlns:a16="http://schemas.microsoft.com/office/drawing/2014/main" id="{AE11A976-03E0-892F-EB7E-98928FDFF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1008"/>
              <a:ext cx="1779" cy="88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AutoShape 10">
              <a:extLst>
                <a:ext uri="{FF2B5EF4-FFF2-40B4-BE49-F238E27FC236}">
                  <a16:creationId xmlns:a16="http://schemas.microsoft.com/office/drawing/2014/main" id="{07EC99C8-4148-E260-C6A2-59280FB824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07" y="1809"/>
              <a:ext cx="766" cy="961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000"/>
                <a:t>The </a:t>
              </a:r>
              <a:r>
                <a:rPr lang="en-US" altLang="en-US" sz="900"/>
                <a:t>RECORD KEY</a:t>
              </a:r>
              <a:r>
                <a:rPr lang="en-US" altLang="en-US" sz="1000"/>
                <a:t> phrase identifies the primary key.  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000"/>
                <a:t>This key cannot have duplicate values. It must be unique</a:t>
              </a:r>
            </a:p>
            <a:p>
              <a:pPr algn="ctr">
                <a:lnSpc>
                  <a:spcPct val="90000"/>
                </a:lnSpc>
              </a:pPr>
              <a:endParaRPr lang="en-US" altLang="en-US" sz="1000"/>
            </a:p>
            <a:p>
              <a:pPr algn="ctr">
                <a:lnSpc>
                  <a:spcPct val="90000"/>
                </a:lnSpc>
              </a:pPr>
              <a:r>
                <a:rPr lang="en-US" altLang="en-US" sz="1000"/>
                <a:t>The key </a:t>
              </a:r>
              <a:r>
                <a:rPr lang="en-US" altLang="en-US" sz="1000" b="1"/>
                <a:t>must </a:t>
              </a:r>
              <a:r>
                <a:rPr lang="en-US" altLang="en-US" sz="1000"/>
                <a:t>be part of the record description. </a:t>
              </a:r>
            </a:p>
          </p:txBody>
        </p:sp>
        <p:sp>
          <p:nvSpPr>
            <p:cNvPr id="4107" name="Arc 11">
              <a:extLst>
                <a:ext uri="{FF2B5EF4-FFF2-40B4-BE49-F238E27FC236}">
                  <a16:creationId xmlns:a16="http://schemas.microsoft.com/office/drawing/2014/main" id="{937EE5E9-B50E-676D-A155-4741221FC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1059"/>
              <a:ext cx="1165" cy="870"/>
            </a:xfrm>
            <a:custGeom>
              <a:avLst/>
              <a:gdLst>
                <a:gd name="G0" fmla="+- 6194 0 0"/>
                <a:gd name="G1" fmla="+- 15507 0 0"/>
                <a:gd name="G2" fmla="+- 21600 0 0"/>
                <a:gd name="T0" fmla="*/ 21230 w 27794"/>
                <a:gd name="T1" fmla="*/ 0 h 37107"/>
                <a:gd name="T2" fmla="*/ 0 w 27794"/>
                <a:gd name="T3" fmla="*/ 36200 h 37107"/>
                <a:gd name="T4" fmla="*/ 6194 w 27794"/>
                <a:gd name="T5" fmla="*/ 15507 h 37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794" h="37107" fill="none" extrusionOk="0">
                  <a:moveTo>
                    <a:pt x="21230" y="-1"/>
                  </a:moveTo>
                  <a:cubicBezTo>
                    <a:pt x="25425" y="4068"/>
                    <a:pt x="27794" y="9662"/>
                    <a:pt x="27794" y="15507"/>
                  </a:cubicBezTo>
                  <a:cubicBezTo>
                    <a:pt x="27794" y="27436"/>
                    <a:pt x="18123" y="37107"/>
                    <a:pt x="6194" y="37107"/>
                  </a:cubicBezTo>
                  <a:cubicBezTo>
                    <a:pt x="4096" y="37106"/>
                    <a:pt x="2009" y="36801"/>
                    <a:pt x="0" y="36199"/>
                  </a:cubicBezTo>
                </a:path>
                <a:path w="27794" h="37107" stroke="0" extrusionOk="0">
                  <a:moveTo>
                    <a:pt x="21230" y="-1"/>
                  </a:moveTo>
                  <a:cubicBezTo>
                    <a:pt x="25425" y="4068"/>
                    <a:pt x="27794" y="9662"/>
                    <a:pt x="27794" y="15507"/>
                  </a:cubicBezTo>
                  <a:cubicBezTo>
                    <a:pt x="27794" y="27436"/>
                    <a:pt x="18123" y="37107"/>
                    <a:pt x="6194" y="37107"/>
                  </a:cubicBezTo>
                  <a:cubicBezTo>
                    <a:pt x="4096" y="37106"/>
                    <a:pt x="2009" y="36801"/>
                    <a:pt x="0" y="36199"/>
                  </a:cubicBezTo>
                  <a:lnTo>
                    <a:pt x="6194" y="15507"/>
                  </a:lnTo>
                  <a:close/>
                </a:path>
              </a:pathLst>
            </a:custGeom>
            <a:noFill/>
            <a:ln w="12700" cap="rnd">
              <a:solidFill>
                <a:srgbClr val="CC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12" name="Group 16">
            <a:extLst>
              <a:ext uri="{FF2B5EF4-FFF2-40B4-BE49-F238E27FC236}">
                <a16:creationId xmlns:a16="http://schemas.microsoft.com/office/drawing/2014/main" id="{65160B6B-5CC2-A5A1-5FC2-F4C8FA6A7E3C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1752600"/>
            <a:ext cx="3976688" cy="3157538"/>
            <a:chOff x="490" y="1104"/>
            <a:chExt cx="2505" cy="1989"/>
          </a:xfrm>
        </p:grpSpPr>
        <p:sp>
          <p:nvSpPr>
            <p:cNvPr id="4109" name="AutoShape 13">
              <a:extLst>
                <a:ext uri="{FF2B5EF4-FFF2-40B4-BE49-F238E27FC236}">
                  <a16:creationId xmlns:a16="http://schemas.microsoft.com/office/drawing/2014/main" id="{82DE1D52-EF0F-CBA3-4770-CE970A3980E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95" y="1845"/>
              <a:ext cx="800" cy="1040"/>
            </a:xfrm>
            <a:prstGeom prst="wedgeRoundRectCallout">
              <a:avLst>
                <a:gd name="adj1" fmla="val -421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000"/>
                <a:t>The </a:t>
              </a:r>
              <a:r>
                <a:rPr lang="en-US" altLang="en-US" sz="900"/>
                <a:t>ALTERNATE RECORD KEY</a:t>
              </a:r>
              <a:r>
                <a:rPr lang="en-US" altLang="en-US" sz="1000"/>
                <a:t> phrase identifies the alternate key.  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900"/>
                <a:t>WITH DUPLICATES</a:t>
              </a:r>
              <a:r>
                <a:rPr lang="en-US" altLang="en-US" sz="1000"/>
                <a:t> specifies that values of this key do not have to be unique.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000"/>
                <a:t>The key </a:t>
              </a:r>
              <a:r>
                <a:rPr lang="en-US" altLang="en-US" sz="1000" b="1"/>
                <a:t>must </a:t>
              </a:r>
              <a:r>
                <a:rPr lang="en-US" altLang="en-US" sz="1000"/>
                <a:t>be part of the record description. </a:t>
              </a:r>
            </a:p>
          </p:txBody>
        </p:sp>
        <p:sp>
          <p:nvSpPr>
            <p:cNvPr id="4110" name="Rectangle 14">
              <a:extLst>
                <a:ext uri="{FF2B5EF4-FFF2-40B4-BE49-F238E27FC236}">
                  <a16:creationId xmlns:a16="http://schemas.microsoft.com/office/drawing/2014/main" id="{E435910F-A5C7-7EE3-F004-4EAFB3BF7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" y="1104"/>
              <a:ext cx="1779" cy="176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1" name="Arc 15">
              <a:extLst>
                <a:ext uri="{FF2B5EF4-FFF2-40B4-BE49-F238E27FC236}">
                  <a16:creationId xmlns:a16="http://schemas.microsoft.com/office/drawing/2014/main" id="{140D28D1-899A-7614-D212-6B0568E2B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1170"/>
              <a:ext cx="1627" cy="879"/>
            </a:xfrm>
            <a:custGeom>
              <a:avLst/>
              <a:gdLst>
                <a:gd name="G0" fmla="+- 6175 0 0"/>
                <a:gd name="G1" fmla="+- 13533 0 0"/>
                <a:gd name="G2" fmla="+- 21600 0 0"/>
                <a:gd name="T0" fmla="*/ 23010 w 27775"/>
                <a:gd name="T1" fmla="*/ 0 h 35133"/>
                <a:gd name="T2" fmla="*/ 0 w 27775"/>
                <a:gd name="T3" fmla="*/ 34231 h 35133"/>
                <a:gd name="T4" fmla="*/ 6175 w 27775"/>
                <a:gd name="T5" fmla="*/ 13533 h 35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775" h="35133" fill="none" extrusionOk="0">
                  <a:moveTo>
                    <a:pt x="23010" y="-1"/>
                  </a:moveTo>
                  <a:cubicBezTo>
                    <a:pt x="26093" y="3836"/>
                    <a:pt x="27775" y="8610"/>
                    <a:pt x="27775" y="13533"/>
                  </a:cubicBezTo>
                  <a:cubicBezTo>
                    <a:pt x="27775" y="25462"/>
                    <a:pt x="18104" y="35133"/>
                    <a:pt x="6175" y="35133"/>
                  </a:cubicBezTo>
                  <a:cubicBezTo>
                    <a:pt x="4083" y="35132"/>
                    <a:pt x="2003" y="34829"/>
                    <a:pt x="-1" y="34231"/>
                  </a:cubicBezTo>
                </a:path>
                <a:path w="27775" h="35133" stroke="0" extrusionOk="0">
                  <a:moveTo>
                    <a:pt x="23010" y="-1"/>
                  </a:moveTo>
                  <a:cubicBezTo>
                    <a:pt x="26093" y="3836"/>
                    <a:pt x="27775" y="8610"/>
                    <a:pt x="27775" y="13533"/>
                  </a:cubicBezTo>
                  <a:cubicBezTo>
                    <a:pt x="27775" y="25462"/>
                    <a:pt x="18104" y="35133"/>
                    <a:pt x="6175" y="35133"/>
                  </a:cubicBezTo>
                  <a:cubicBezTo>
                    <a:pt x="4083" y="35132"/>
                    <a:pt x="2003" y="34829"/>
                    <a:pt x="-1" y="34231"/>
                  </a:cubicBezTo>
                  <a:lnTo>
                    <a:pt x="6175" y="13533"/>
                  </a:lnTo>
                  <a:close/>
                </a:path>
              </a:pathLst>
            </a:custGeom>
            <a:noFill/>
            <a:ln w="12700" cap="rnd">
              <a:solidFill>
                <a:srgbClr val="CC0000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7D9406-8E31-9E65-7B1E-ADC7C28B9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374650"/>
            <a:ext cx="4756150" cy="283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Begin.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OPEN INPUT SeqVideoFile.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OPEN OUTPUT VideoFile.</a:t>
            </a:r>
          </a:p>
          <a:p>
            <a:pPr>
              <a:lnSpc>
                <a:spcPct val="95000"/>
              </a:lnSpc>
            </a:pPr>
            <a:endParaRPr lang="en-US" altLang="en-US" sz="1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READ SeqVideoFile 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AT END SET EndOfFile TO TRUE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END-READ.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EndOfFile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WRITE VideoRecord FROM SeqVideoRecord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INVALID KEY DISPLAY "VIDEO STATUS :- ", VideoStatus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END-WRITE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READ SeqVideoFile 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AT END SET EndOfFile TO TRUE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END-READ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END-PERFORM.</a:t>
            </a:r>
          </a:p>
          <a:p>
            <a:pPr>
              <a:lnSpc>
                <a:spcPct val="95000"/>
              </a:lnSpc>
            </a:pPr>
            <a:endParaRPr lang="en-US" altLang="en-US" sz="10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CLOSE VideoFile, SeqVideoFile.</a:t>
            </a:r>
          </a:p>
          <a:p>
            <a:pPr>
              <a:lnSpc>
                <a:spcPct val="95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2F016D7-C91E-63FA-A86D-D54F85CCE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1704975"/>
            <a:ext cx="4244975" cy="43180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AutoShape 4">
            <a:extLst>
              <a:ext uri="{FF2B5EF4-FFF2-40B4-BE49-F238E27FC236}">
                <a16:creationId xmlns:a16="http://schemas.microsoft.com/office/drawing/2014/main" id="{6B754F6E-2F80-6FCE-F80D-873C3910D62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08188" y="3138488"/>
            <a:ext cx="2692400" cy="78448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9050" rIns="0" bIns="19050" anchorCtr="1"/>
          <a:lstStyle/>
          <a:p>
            <a:pPr>
              <a:lnSpc>
                <a:spcPct val="90000"/>
              </a:lnSpc>
            </a:pPr>
            <a:r>
              <a:rPr lang="en-US" altLang="en-US" sz="1000"/>
              <a:t>The </a:t>
            </a:r>
            <a:r>
              <a:rPr lang="en-US" altLang="en-US" sz="900"/>
              <a:t>WRITE..FROM</a:t>
            </a:r>
            <a:r>
              <a:rPr lang="en-US" altLang="en-US" sz="1000"/>
              <a:t> statement is a shorthand way of saying ;</a:t>
            </a:r>
          </a:p>
          <a:p>
            <a:pPr>
              <a:lnSpc>
                <a:spcPct val="90000"/>
              </a:lnSpc>
            </a:pPr>
            <a:r>
              <a:rPr lang="en-US" altLang="en-US" sz="1000"/>
              <a:t>   MOVE SeqVideoRecord TO VideoRecord</a:t>
            </a:r>
          </a:p>
          <a:p>
            <a:pPr>
              <a:lnSpc>
                <a:spcPct val="90000"/>
              </a:lnSpc>
            </a:pPr>
            <a:r>
              <a:rPr lang="en-US" altLang="en-US" sz="1000"/>
              <a:t>   WRITE VideoRecord.</a:t>
            </a:r>
            <a:br>
              <a:rPr lang="en-US" altLang="en-US" sz="1000"/>
            </a:br>
            <a:endParaRPr lang="en-US" altLang="en-US" sz="1000"/>
          </a:p>
        </p:txBody>
      </p:sp>
      <p:grpSp>
        <p:nvGrpSpPr>
          <p:cNvPr id="6161" name="Group 17">
            <a:extLst>
              <a:ext uri="{FF2B5EF4-FFF2-40B4-BE49-F238E27FC236}">
                <a16:creationId xmlns:a16="http://schemas.microsoft.com/office/drawing/2014/main" id="{52842250-C525-FA0D-28E3-7ADA9FD609AC}"/>
              </a:ext>
            </a:extLst>
          </p:cNvPr>
          <p:cNvGrpSpPr>
            <a:grpSpLocks/>
          </p:cNvGrpSpPr>
          <p:nvPr/>
        </p:nvGrpSpPr>
        <p:grpSpPr bwMode="auto">
          <a:xfrm>
            <a:off x="2014538" y="3175000"/>
            <a:ext cx="2692400" cy="1473200"/>
            <a:chOff x="1269" y="2000"/>
            <a:chExt cx="1696" cy="928"/>
          </a:xfrm>
        </p:grpSpPr>
        <p:sp>
          <p:nvSpPr>
            <p:cNvPr id="6149" name="AutoShape 5">
              <a:extLst>
                <a:ext uri="{FF2B5EF4-FFF2-40B4-BE49-F238E27FC236}">
                  <a16:creationId xmlns:a16="http://schemas.microsoft.com/office/drawing/2014/main" id="{5FDF11A3-DA45-B9D9-E0D8-F2B028C105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69" y="2000"/>
              <a:ext cx="1696" cy="773"/>
            </a:xfrm>
            <a:prstGeom prst="wedgeRoundRectCallout">
              <a:avLst>
                <a:gd name="adj1" fmla="val -50000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000"/>
                <a:t>This moves the key values ( part of the record ) into the Indexed key areas.</a:t>
              </a:r>
            </a:p>
            <a:p>
              <a:pPr>
                <a:lnSpc>
                  <a:spcPct val="90000"/>
                </a:lnSpc>
              </a:pPr>
              <a:br>
                <a:rPr lang="en-US" altLang="en-US" sz="1000"/>
              </a:br>
              <a:endParaRPr lang="en-US" altLang="en-US" sz="1000"/>
            </a:p>
          </p:txBody>
        </p:sp>
        <p:sp>
          <p:nvSpPr>
            <p:cNvPr id="6150" name="Rectangle 6">
              <a:extLst>
                <a:ext uri="{FF2B5EF4-FFF2-40B4-BE49-F238E27FC236}">
                  <a16:creationId xmlns:a16="http://schemas.microsoft.com/office/drawing/2014/main" id="{1F68CF28-08F1-FB81-BDD5-F838A0DCA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8" y="2260"/>
              <a:ext cx="500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900">
                  <a:solidFill>
                    <a:srgbClr val="000000"/>
                  </a:solidFill>
                </a:rPr>
                <a:t>VideoRecord</a:t>
              </a:r>
            </a:p>
          </p:txBody>
        </p:sp>
        <p:sp>
          <p:nvSpPr>
            <p:cNvPr id="6151" name="Rectangle 7">
              <a:extLst>
                <a:ext uri="{FF2B5EF4-FFF2-40B4-BE49-F238E27FC236}">
                  <a16:creationId xmlns:a16="http://schemas.microsoft.com/office/drawing/2014/main" id="{4EBB9D50-53C9-6707-173B-F3D72CE55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8" y="2566"/>
              <a:ext cx="60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900"/>
                <a:t>SeqVideoRecord</a:t>
              </a:r>
            </a:p>
          </p:txBody>
        </p:sp>
        <p:sp>
          <p:nvSpPr>
            <p:cNvPr id="6152" name="Rectangle 8">
              <a:extLst>
                <a:ext uri="{FF2B5EF4-FFF2-40B4-BE49-F238E27FC236}">
                  <a16:creationId xmlns:a16="http://schemas.microsoft.com/office/drawing/2014/main" id="{8480DCB0-71D9-198F-5C35-B906D5F82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2292"/>
              <a:ext cx="828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800"/>
                <a:t>Key            Alt Key</a:t>
              </a:r>
            </a:p>
          </p:txBody>
        </p:sp>
        <p:sp>
          <p:nvSpPr>
            <p:cNvPr id="6153" name="Line 9">
              <a:extLst>
                <a:ext uri="{FF2B5EF4-FFF2-40B4-BE49-F238E27FC236}">
                  <a16:creationId xmlns:a16="http://schemas.microsoft.com/office/drawing/2014/main" id="{0D37F21C-35FC-AC7A-8C56-0EB9A85ED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1" y="2294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Line 10">
              <a:extLst>
                <a:ext uri="{FF2B5EF4-FFF2-40B4-BE49-F238E27FC236}">
                  <a16:creationId xmlns:a16="http://schemas.microsoft.com/office/drawing/2014/main" id="{9DC2478A-95B6-686B-F62C-6D395C183C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" y="2290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" name="Rectangle 11">
              <a:extLst>
                <a:ext uri="{FF2B5EF4-FFF2-40B4-BE49-F238E27FC236}">
                  <a16:creationId xmlns:a16="http://schemas.microsoft.com/office/drawing/2014/main" id="{E622BD51-7989-A1B3-373D-0ED2570DA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2588"/>
              <a:ext cx="828" cy="8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8100" tIns="46038" rIns="38100" bIns="46038" anchor="ctr"/>
            <a:lstStyle/>
            <a:p>
              <a:r>
                <a:rPr lang="en-US" altLang="en-US" sz="800"/>
                <a:t>VCode            VTitle</a:t>
              </a:r>
            </a:p>
          </p:txBody>
        </p:sp>
        <p:sp>
          <p:nvSpPr>
            <p:cNvPr id="6156" name="Line 12">
              <a:extLst>
                <a:ext uri="{FF2B5EF4-FFF2-40B4-BE49-F238E27FC236}">
                  <a16:creationId xmlns:a16="http://schemas.microsoft.com/office/drawing/2014/main" id="{7E4378A9-3EA1-0914-F9B9-6DAA6B102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1" y="2590"/>
              <a:ext cx="0" cy="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" name="Line 13">
              <a:extLst>
                <a:ext uri="{FF2B5EF4-FFF2-40B4-BE49-F238E27FC236}">
                  <a16:creationId xmlns:a16="http://schemas.microsoft.com/office/drawing/2014/main" id="{65BC61FB-7382-8156-B238-8D144FAF6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" y="2586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Line 14">
              <a:extLst>
                <a:ext uri="{FF2B5EF4-FFF2-40B4-BE49-F238E27FC236}">
                  <a16:creationId xmlns:a16="http://schemas.microsoft.com/office/drawing/2014/main" id="{CCCAD5FB-BC5C-CC25-70E9-3525701757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0" y="2372"/>
              <a:ext cx="0" cy="2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9" name="Line 15">
              <a:extLst>
                <a:ext uri="{FF2B5EF4-FFF2-40B4-BE49-F238E27FC236}">
                  <a16:creationId xmlns:a16="http://schemas.microsoft.com/office/drawing/2014/main" id="{7B0327AA-DDD8-D8CF-5F80-9BD3F8CCA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" y="2372"/>
              <a:ext cx="0" cy="2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Line 16">
              <a:extLst>
                <a:ext uri="{FF2B5EF4-FFF2-40B4-BE49-F238E27FC236}">
                  <a16:creationId xmlns:a16="http://schemas.microsoft.com/office/drawing/2014/main" id="{DA55705F-4389-5205-51B1-67FA49A63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2" y="2364"/>
              <a:ext cx="0" cy="2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62" name="AutoShape 18">
            <a:extLst>
              <a:ext uri="{FF2B5EF4-FFF2-40B4-BE49-F238E27FC236}">
                <a16:creationId xmlns:a16="http://schemas.microsoft.com/office/drawing/2014/main" id="{A05CB3C1-D8F4-1F2E-629C-4917BDF422B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01900" y="3776663"/>
            <a:ext cx="1720850" cy="720989"/>
          </a:xfrm>
          <a:prstGeom prst="wedgeRoundRectCallout">
            <a:avLst>
              <a:gd name="adj1" fmla="val -50000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9050" rIns="0" bIns="19050" anchorCtr="1"/>
          <a:lstStyle/>
          <a:p>
            <a:pPr algn="ctr">
              <a:lnSpc>
                <a:spcPct val="90000"/>
              </a:lnSpc>
            </a:pPr>
            <a:r>
              <a:rPr lang="en-US" altLang="en-US" sz="1000"/>
              <a:t>When the </a:t>
            </a:r>
            <a:r>
              <a:rPr lang="en-US" altLang="en-US" sz="900"/>
              <a:t>WRITE </a:t>
            </a:r>
            <a:r>
              <a:rPr lang="en-US" altLang="en-US" sz="1000"/>
              <a:t>is executed these values are used to write the record to the correct location.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 autoUpdateAnimBg="0"/>
      <p:bldP spid="6162" grpId="0" animBg="1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1252</TotalTime>
  <Words>451</Words>
  <Application>Microsoft Office PowerPoint</Application>
  <PresentationFormat>Custom</PresentationFormat>
  <Paragraphs>81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30</cp:revision>
  <dcterms:created xsi:type="dcterms:W3CDTF">1995-06-17T23:31:02Z</dcterms:created>
  <dcterms:modified xsi:type="dcterms:W3CDTF">2026-05-13T01:05:29Z</dcterms:modified>
</cp:coreProperties>
</file>