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4762500" cy="4953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97280"/>
            <a:ext cx="4285800" cy="82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1158840"/>
            <a:ext cx="4285800" cy="287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4952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14400" y="12600"/>
            <a:ext cx="4734000" cy="49276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97280"/>
            <a:ext cx="4285800" cy="82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1158840"/>
            <a:ext cx="4285800" cy="287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798480" y="828720"/>
            <a:ext cx="2975040" cy="280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Creating an Indexed file from a Sequential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Example 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the program left click (or press the Page Up key to see next comment and right click (or press Page Down) to see the previous comment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117360" y="73080"/>
            <a:ext cx="3994200" cy="360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CreateIndexedFromSeq.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* Creates an indexed file  from a sequential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ENVIRONMENT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INPUT-OUTPUT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FILE-CONTROL.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SELECT VideoFile ASSIGN TO "VIDEO.DAT"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ORGANIZATION IS INDEXED 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ACCESS MODE IS RANDOM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RECORD KEY IS VideoCode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ALTERNATE RECORD KEY IS VideoTitle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WITH DUPLICATES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FILE STATUS IS VideoStatus.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SELECT SeqVideoFile ASSIGN TO "INVIDEO.DAT".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FD VideoFile.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VideoRecord.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VideoCode                PIC 9(5).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VideoTitle               PIC X(40).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VideoSupplierCode        PIC 99.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FD SeqVideoFile.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SeqVideoRecord.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EndOfFile VALUE HIGH-VALUES.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SeqVideoCode             PIC 9(5).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SeqVideoTitle            PIC X(40).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SeqVideoSupplierCode     PIC 99.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8587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 VideoStatus               PIC X(2).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"/>
          <p:cNvGrpSpPr/>
          <p:nvPr/>
        </p:nvGrpSpPr>
        <p:grpSpPr>
          <a:xfrm>
            <a:off x="380880" y="1133640"/>
            <a:ext cx="4330800" cy="2419200"/>
            <a:chOff x="380880" y="1133640"/>
            <a:chExt cx="4330800" cy="2419200"/>
          </a:xfrm>
        </p:grpSpPr>
        <p:sp>
          <p:nvSpPr>
            <p:cNvPr id="11" name=""/>
            <p:cNvSpPr/>
            <p:nvPr/>
          </p:nvSpPr>
          <p:spPr>
            <a:xfrm>
              <a:off x="380880" y="1133640"/>
              <a:ext cx="3467160" cy="1066680"/>
            </a:xfrm>
            <a:prstGeom prst="rect">
              <a:avLst/>
            </a:prstGeom>
            <a:noFill/>
            <a:ln w="25560">
              <a:solidFill>
                <a:srgbClr val="3333CC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 txBox="1"/>
            <p:nvPr/>
          </p:nvSpPr>
          <p:spPr>
            <a:xfrm>
              <a:off x="3495600" y="2414520"/>
              <a:ext cx="1216080" cy="113832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First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Let’s look at the new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SELECT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and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ASSIGN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clauses we need for an Indexed file.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"/>
          <p:cNvGrpSpPr/>
          <p:nvPr/>
        </p:nvGrpSpPr>
        <p:grpSpPr>
          <a:xfrm>
            <a:off x="771480" y="1301760"/>
            <a:ext cx="3953160" cy="2901960"/>
            <a:chOff x="771480" y="1301760"/>
            <a:chExt cx="3953160" cy="2901960"/>
          </a:xfrm>
        </p:grpSpPr>
        <p:sp>
          <p:nvSpPr>
            <p:cNvPr id="14" name=""/>
            <p:cNvSpPr/>
            <p:nvPr/>
          </p:nvSpPr>
          <p:spPr>
            <a:xfrm>
              <a:off x="771480" y="1301760"/>
              <a:ext cx="2835360" cy="31284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 txBox="1"/>
            <p:nvPr/>
          </p:nvSpPr>
          <p:spPr>
            <a:xfrm>
              <a:off x="3435480" y="2646360"/>
              <a:ext cx="1289160" cy="155736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ORGANIZATION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phrase specifies that the file Indexed.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ACCESS MODE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chosen is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RANDOM</a:t>
              </a:r>
              <a:r>
                <a:rPr lang="en-US" sz="8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,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meaning that we only intend to access this file directly.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"/>
          <p:cNvGrpSpPr/>
          <p:nvPr/>
        </p:nvGrpSpPr>
        <p:grpSpPr>
          <a:xfrm>
            <a:off x="771480" y="1593720"/>
            <a:ext cx="3954600" cy="3115080"/>
            <a:chOff x="771480" y="1593720"/>
            <a:chExt cx="3954600" cy="3115080"/>
          </a:xfrm>
        </p:grpSpPr>
        <p:sp>
          <p:nvSpPr>
            <p:cNvPr id="17" name=""/>
            <p:cNvSpPr/>
            <p:nvPr/>
          </p:nvSpPr>
          <p:spPr>
            <a:xfrm>
              <a:off x="771480" y="1593720"/>
              <a:ext cx="2836800" cy="15228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 txBox="1"/>
            <p:nvPr/>
          </p:nvSpPr>
          <p:spPr>
            <a:xfrm>
              <a:off x="3497400" y="2865600"/>
              <a:ext cx="1228680" cy="184320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RECORD KEY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phrase identifies the primary key. 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This key cannot have duplicate values. It must be unique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key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must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be part of the record description.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"/>
            <p:cNvSpPr/>
            <p:nvPr/>
          </p:nvSpPr>
          <p:spPr>
            <a:xfrm>
              <a:off x="1362600" y="1680840"/>
              <a:ext cx="1847520" cy="1380240"/>
            </a:xfrm>
            <a:custGeom>
              <a:avLst/>
              <a:gdLst/>
              <a:ahLst/>
              <a:rect l="0" t="0" r="r" b="b"/>
              <a:pathLst>
                <a:path fill="none" w="5132" h="3834">
                  <a:moveTo>
                    <a:pt x="0" y="3741"/>
                  </a:moveTo>
                  <a:lnTo>
                    <a:pt x="0" y="3741"/>
                  </a:lnTo>
                  <a:cubicBezTo>
                    <a:pt x="369" y="3802"/>
                    <a:pt x="753" y="3834"/>
                    <a:pt x="1138" y="3834"/>
                  </a:cubicBezTo>
                  <a:cubicBezTo>
                    <a:pt x="1839" y="3834"/>
                    <a:pt x="2528" y="3730"/>
                    <a:pt x="3135" y="3534"/>
                  </a:cubicBezTo>
                  <a:cubicBezTo>
                    <a:pt x="3742" y="3338"/>
                    <a:pt x="4246" y="3056"/>
                    <a:pt x="4597" y="2717"/>
                  </a:cubicBezTo>
                  <a:cubicBezTo>
                    <a:pt x="4947" y="2377"/>
                    <a:pt x="5132" y="1992"/>
                    <a:pt x="5132" y="1600"/>
                  </a:cubicBezTo>
                  <a:cubicBezTo>
                    <a:pt x="5132" y="1208"/>
                    <a:pt x="4947" y="823"/>
                    <a:pt x="4597" y="483"/>
                  </a:cubicBezTo>
                  <a:cubicBezTo>
                    <a:pt x="4414" y="306"/>
                    <a:pt x="4187" y="143"/>
                    <a:pt x="3925" y="0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" name=""/>
          <p:cNvGrpSpPr/>
          <p:nvPr/>
        </p:nvGrpSpPr>
        <p:grpSpPr>
          <a:xfrm>
            <a:off x="771480" y="1746360"/>
            <a:ext cx="3989520" cy="3170160"/>
            <a:chOff x="771480" y="1746360"/>
            <a:chExt cx="3989520" cy="3170160"/>
          </a:xfrm>
        </p:grpSpPr>
        <p:sp>
          <p:nvSpPr>
            <p:cNvPr id="21" name=""/>
            <p:cNvSpPr txBox="1"/>
            <p:nvPr/>
          </p:nvSpPr>
          <p:spPr>
            <a:xfrm>
              <a:off x="3478320" y="2922480"/>
              <a:ext cx="1282680" cy="199404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</a:t>
              </a: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ALTERNATE RECORD KEY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phrase identifies the alternate key. 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WITH DUPLICATES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 specifies that values of this key do not have to be unique.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The key </a:t>
              </a:r>
              <a:r>
                <a:rPr lang="en-US" sz="10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must </a:t>
              </a: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be part of the record description. 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"/>
            <p:cNvSpPr/>
            <p:nvPr/>
          </p:nvSpPr>
          <p:spPr>
            <a:xfrm>
              <a:off x="771480" y="1746360"/>
              <a:ext cx="2836800" cy="291960"/>
            </a:xfrm>
            <a:prstGeom prst="rect">
              <a:avLst/>
            </a:prstGeom>
            <a:noFill/>
            <a:ln w="12600">
              <a:solidFill>
                <a:srgbClr val="CC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"/>
            <p:cNvSpPr/>
            <p:nvPr/>
          </p:nvSpPr>
          <p:spPr>
            <a:xfrm>
              <a:off x="1410480" y="1856880"/>
              <a:ext cx="2581200" cy="1394640"/>
            </a:xfrm>
            <a:custGeom>
              <a:avLst/>
              <a:gdLst/>
              <a:ahLst/>
              <a:rect l="0" t="0" r="r" b="b"/>
              <a:pathLst>
                <a:path fill="none" w="7170" h="3874">
                  <a:moveTo>
                    <a:pt x="0" y="3775"/>
                  </a:moveTo>
                  <a:lnTo>
                    <a:pt x="0" y="3775"/>
                  </a:lnTo>
                  <a:cubicBezTo>
                    <a:pt x="516" y="3841"/>
                    <a:pt x="1052" y="3874"/>
                    <a:pt x="1591" y="3874"/>
                  </a:cubicBezTo>
                  <a:cubicBezTo>
                    <a:pt x="2570" y="3874"/>
                    <a:pt x="3532" y="3764"/>
                    <a:pt x="4380" y="3555"/>
                  </a:cubicBezTo>
                  <a:cubicBezTo>
                    <a:pt x="5228" y="3345"/>
                    <a:pt x="5933" y="3045"/>
                    <a:pt x="6422" y="2682"/>
                  </a:cubicBezTo>
                  <a:cubicBezTo>
                    <a:pt x="6912" y="2320"/>
                    <a:pt x="7170" y="1909"/>
                    <a:pt x="7170" y="1490"/>
                  </a:cubicBezTo>
                  <a:cubicBezTo>
                    <a:pt x="7170" y="1072"/>
                    <a:pt x="6912" y="661"/>
                    <a:pt x="6422" y="299"/>
                  </a:cubicBezTo>
                  <a:cubicBezTo>
                    <a:pt x="6281" y="194"/>
                    <a:pt x="6121" y="94"/>
                    <a:pt x="5945" y="0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 txBox="1"/>
          <p:nvPr/>
        </p:nvSpPr>
        <p:spPr>
          <a:xfrm>
            <a:off x="4680" y="374760"/>
            <a:ext cx="4756320" cy="28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OPEN INPUT SeqVideoFile.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OPEN OUTPUT VideoFile.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READ SeqVideoFile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AT END SET EndOfFile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END-READ.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EndOfFile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WRITE VideoRecord FROM SeqVideoRecord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INVALID KEY DISPLAY "VIDEO STATUS :- ", VideoStatus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END-WRITE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READ SeqVideoFile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AT END SET EndOfFile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CLOSE VideoFile, SeqVideoFile.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438120" y="1698480"/>
            <a:ext cx="4257720" cy="44460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2001960" y="3132000"/>
            <a:ext cx="2705040" cy="9540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WRITE..FROM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statement is a shorthand way of saying 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MOVE SeqVideoRecord TO VideoRecord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WRITE VideoRecord.</a:t>
            </a:r>
            <a:br>
              <a:rPr sz="1000"/>
            </a:b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" name=""/>
          <p:cNvGrpSpPr/>
          <p:nvPr/>
        </p:nvGrpSpPr>
        <p:grpSpPr>
          <a:xfrm>
            <a:off x="2008080" y="3168720"/>
            <a:ext cx="2705040" cy="1486080"/>
            <a:chOff x="2008080" y="3168720"/>
            <a:chExt cx="2705040" cy="1486080"/>
          </a:xfrm>
        </p:grpSpPr>
        <p:sp>
          <p:nvSpPr>
            <p:cNvPr id="28" name=""/>
            <p:cNvSpPr txBox="1"/>
            <p:nvPr/>
          </p:nvSpPr>
          <p:spPr>
            <a:xfrm>
              <a:off x="2008080" y="3168720"/>
              <a:ext cx="2705040" cy="1486080"/>
            </a:xfrm>
            <a:prstGeom prst="rect">
              <a:avLst/>
            </a:prstGeom>
            <a:solidFill>
              <a:srgbClr val="FFFF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90000"/>
                </a:lnSpc>
              </a:pPr>
              <a:r>
                <a:rPr lang="en-US" sz="10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This moves the key values ( part of the record ) into the Indexed key areas.</a:t>
              </a: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</a:pPr>
              <a:br>
                <a:rPr sz="1000"/>
              </a:br>
              <a:endPara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"/>
            <p:cNvSpPr txBox="1"/>
            <p:nvPr/>
          </p:nvSpPr>
          <p:spPr>
            <a:xfrm>
              <a:off x="2155680" y="3587760"/>
              <a:ext cx="793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VideoRecord</a:t>
              </a:r>
              <a:endPara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" name=""/>
            <p:cNvSpPr txBox="1"/>
            <p:nvPr/>
          </p:nvSpPr>
          <p:spPr>
            <a:xfrm>
              <a:off x="2155680" y="4073400"/>
              <a:ext cx="96516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9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SeqVideoRecord</a:t>
              </a:r>
              <a:endPara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"/>
            <p:cNvSpPr txBox="1"/>
            <p:nvPr/>
          </p:nvSpPr>
          <p:spPr>
            <a:xfrm>
              <a:off x="3116160" y="3632040"/>
              <a:ext cx="1327320" cy="152280"/>
            </a:xfrm>
            <a:prstGeom prst="rect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8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Key            Alt Key</a:t>
              </a:r>
              <a:endPara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" name=""/>
            <p:cNvSpPr/>
            <p:nvPr/>
          </p:nvSpPr>
          <p:spPr>
            <a:xfrm>
              <a:off x="3510000" y="3641760"/>
              <a:ext cx="0" cy="14436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4253040" y="3635280"/>
              <a:ext cx="0" cy="14292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" name=""/>
            <p:cNvSpPr txBox="1"/>
            <p:nvPr/>
          </p:nvSpPr>
          <p:spPr>
            <a:xfrm>
              <a:off x="3116160" y="4102200"/>
              <a:ext cx="1327320" cy="152280"/>
            </a:xfrm>
            <a:prstGeom prst="rect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800" b="0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VCode            VTitle</a:t>
              </a:r>
              <a:endPara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3510000" y="4111560"/>
              <a:ext cx="0" cy="14148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4253040" y="4105440"/>
              <a:ext cx="0" cy="14256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"/>
            <p:cNvSpPr/>
            <p:nvPr/>
          </p:nvSpPr>
          <p:spPr>
            <a:xfrm flipV="1">
              <a:off x="3349800" y="3765600"/>
              <a:ext cx="0" cy="349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/>
            <p:nvPr/>
          </p:nvSpPr>
          <p:spPr>
            <a:xfrm flipV="1">
              <a:off x="3851280" y="3765600"/>
              <a:ext cx="0" cy="349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"/>
            <p:cNvSpPr/>
            <p:nvPr/>
          </p:nvSpPr>
          <p:spPr>
            <a:xfrm flipV="1">
              <a:off x="4352760" y="3753000"/>
              <a:ext cx="0" cy="349200"/>
            </a:xfrm>
            <a:prstGeom prst="line">
              <a:avLst/>
            </a:prstGeom>
            <a:ln w="1260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" name=""/>
          <p:cNvSpPr txBox="1"/>
          <p:nvPr/>
        </p:nvSpPr>
        <p:spPr>
          <a:xfrm>
            <a:off x="2495520" y="3770280"/>
            <a:ext cx="1733400" cy="8780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the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WRITE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is executed these values are used to write the record to the correct location.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