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4764088" cy="36576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38240"/>
            <a:ext cx="428724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55720"/>
            <a:ext cx="428724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4240" cy="3657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1160"/>
            <a:ext cx="4746600" cy="36385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45800"/>
            <a:ext cx="4287240" cy="61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55720"/>
            <a:ext cx="428724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420840" y="477720"/>
            <a:ext cx="4152600" cy="193680"/>
            <a:chOff x="420840" y="477720"/>
            <a:chExt cx="4152600" cy="193680"/>
          </a:xfrm>
        </p:grpSpPr>
        <p:sp>
          <p:nvSpPr>
            <p:cNvPr id="9" name=""/>
            <p:cNvSpPr txBox="1"/>
            <p:nvPr/>
          </p:nvSpPr>
          <p:spPr>
            <a:xfrm>
              <a:off x="420840" y="477720"/>
              <a:ext cx="13892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 txBox="1"/>
            <p:nvPr/>
          </p:nvSpPr>
          <p:spPr>
            <a:xfrm>
              <a:off x="1803240" y="477720"/>
              <a:ext cx="13874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 txBox="1"/>
            <p:nvPr/>
          </p:nvSpPr>
          <p:spPr>
            <a:xfrm>
              <a:off x="3178080" y="477720"/>
              <a:ext cx="139536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" name=""/>
          <p:cNvSpPr txBox="1"/>
          <p:nvPr/>
        </p:nvSpPr>
        <p:spPr>
          <a:xfrm>
            <a:off x="419040" y="6634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01600" y="6634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800360" y="663480"/>
            <a:ext cx="70020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482920" y="663480"/>
            <a:ext cx="7034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176640" y="6634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868560" y="6634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19040" y="8398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101600" y="8398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800360" y="839880"/>
            <a:ext cx="70020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2482920" y="839880"/>
            <a:ext cx="7034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176640" y="8398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868560" y="8398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95120" y="482760"/>
            <a:ext cx="2109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2840" y="692280"/>
            <a:ext cx="3729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6633"/>
                </a:solidFill>
                <a:effectLst/>
                <a:uFillTx/>
                <a:latin typeface="Times New Roman"/>
                <a:ea typeface="Times New Roman"/>
              </a:rPr>
              <a:t>Gender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254320" y="1720800"/>
            <a:ext cx="46512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PopTotal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 flipV="1">
            <a:off x="952560" y="1104840"/>
            <a:ext cx="1533600" cy="56844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 flipV="1">
            <a:off x="1447920" y="1104840"/>
            <a:ext cx="1038240" cy="56844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 flipH="1" flipV="1">
            <a:off x="2171880" y="1057320"/>
            <a:ext cx="314280" cy="60012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V="1">
            <a:off x="2486160" y="1066680"/>
            <a:ext cx="361800" cy="59076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V="1">
            <a:off x="2486160" y="1109520"/>
            <a:ext cx="1062000" cy="56376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 flipV="1">
            <a:off x="2486160" y="1111320"/>
            <a:ext cx="1780920" cy="56196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19040" y="2048040"/>
            <a:ext cx="3186000" cy="71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PopulationTable.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02 Age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393939"/>
                </a:solidFill>
                <a:effectLst/>
                <a:uFillTx/>
                <a:latin typeface="Courier New"/>
                <a:ea typeface="Courier New"/>
              </a:rPr>
              <a:t>04 PopTotal   PIC 9(6).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336600" y="222120"/>
            <a:ext cx="14684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PopulationTable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"/>
          <p:cNvGrpSpPr/>
          <p:nvPr/>
        </p:nvGrpSpPr>
        <p:grpSpPr>
          <a:xfrm>
            <a:off x="239760" y="182520"/>
            <a:ext cx="4152960" cy="193680"/>
            <a:chOff x="239760" y="182520"/>
            <a:chExt cx="4152960" cy="193680"/>
          </a:xfrm>
        </p:grpSpPr>
        <p:sp>
          <p:nvSpPr>
            <p:cNvPr id="36" name=""/>
            <p:cNvSpPr txBox="1"/>
            <p:nvPr/>
          </p:nvSpPr>
          <p:spPr>
            <a:xfrm>
              <a:off x="239760" y="182520"/>
              <a:ext cx="13892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 txBox="1"/>
            <p:nvPr/>
          </p:nvSpPr>
          <p:spPr>
            <a:xfrm>
              <a:off x="1622520" y="182520"/>
              <a:ext cx="13874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 txBox="1"/>
            <p:nvPr/>
          </p:nvSpPr>
          <p:spPr>
            <a:xfrm>
              <a:off x="2997360" y="182520"/>
              <a:ext cx="139536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" name=""/>
          <p:cNvSpPr txBox="1"/>
          <p:nvPr/>
        </p:nvSpPr>
        <p:spPr>
          <a:xfrm>
            <a:off x="2379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92088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619280" y="368280"/>
            <a:ext cx="70020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301840" y="368280"/>
            <a:ext cx="7034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9955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68784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379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2088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619280" y="544680"/>
            <a:ext cx="70020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301840" y="544680"/>
            <a:ext cx="7034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9955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368784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24000" y="2128680"/>
            <a:ext cx="3278160" cy="9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PopulationTable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 TO PopTotal(3,1)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456 TO Gender(3,2)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1255 TO PopTotal(2,2)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Age(3)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37960" y="906480"/>
            <a:ext cx="3186000" cy="71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PopulationTable.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02 Age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393939"/>
                </a:solidFill>
                <a:effectLst/>
                <a:uFillTx/>
                <a:latin typeface="Courier New"/>
                <a:ea typeface="Courier New"/>
              </a:rPr>
              <a:t>04 PopTotal   PIC 9(6).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"/>
          <p:cNvGrpSpPr/>
          <p:nvPr/>
        </p:nvGrpSpPr>
        <p:grpSpPr>
          <a:xfrm>
            <a:off x="239760" y="182520"/>
            <a:ext cx="4152960" cy="193680"/>
            <a:chOff x="239760" y="182520"/>
            <a:chExt cx="4152960" cy="193680"/>
          </a:xfrm>
        </p:grpSpPr>
        <p:sp>
          <p:nvSpPr>
            <p:cNvPr id="54" name=""/>
            <p:cNvSpPr txBox="1"/>
            <p:nvPr/>
          </p:nvSpPr>
          <p:spPr>
            <a:xfrm>
              <a:off x="239760" y="182520"/>
              <a:ext cx="13892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 txBox="1"/>
            <p:nvPr/>
          </p:nvSpPr>
          <p:spPr>
            <a:xfrm>
              <a:off x="1622520" y="182520"/>
              <a:ext cx="13874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 txBox="1"/>
            <p:nvPr/>
          </p:nvSpPr>
          <p:spPr>
            <a:xfrm>
              <a:off x="2997360" y="182520"/>
              <a:ext cx="139536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" name=""/>
          <p:cNvSpPr txBox="1"/>
          <p:nvPr/>
        </p:nvSpPr>
        <p:spPr>
          <a:xfrm>
            <a:off x="2379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2088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619280" y="368280"/>
            <a:ext cx="70020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301840" y="368280"/>
            <a:ext cx="7034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9955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68784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379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2088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619280" y="544680"/>
            <a:ext cx="70020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2301840" y="544680"/>
            <a:ext cx="7034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9955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68784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24000" y="2128680"/>
            <a:ext cx="3278160" cy="9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MOVE ZEROS TO PopulationTable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 TO PopTotal(3,1)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456 TO Gender(3,2)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1255 TO PopTotal(2,2)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Age(3)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37960" y="906480"/>
            <a:ext cx="3186000" cy="71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PopulationTable.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02 Age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393939"/>
                </a:solidFill>
                <a:effectLst/>
                <a:uFillTx/>
                <a:latin typeface="Courier New"/>
                <a:ea typeface="Courier New"/>
              </a:rPr>
              <a:t>04 PopTotal   PIC 9(6).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"/>
          <p:cNvGrpSpPr/>
          <p:nvPr/>
        </p:nvGrpSpPr>
        <p:grpSpPr>
          <a:xfrm>
            <a:off x="239760" y="182520"/>
            <a:ext cx="4152960" cy="193680"/>
            <a:chOff x="239760" y="182520"/>
            <a:chExt cx="4152960" cy="193680"/>
          </a:xfrm>
        </p:grpSpPr>
        <p:sp>
          <p:nvSpPr>
            <p:cNvPr id="72" name=""/>
            <p:cNvSpPr txBox="1"/>
            <p:nvPr/>
          </p:nvSpPr>
          <p:spPr>
            <a:xfrm>
              <a:off x="239760" y="182520"/>
              <a:ext cx="13892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 txBox="1"/>
            <p:nvPr/>
          </p:nvSpPr>
          <p:spPr>
            <a:xfrm>
              <a:off x="1622520" y="182520"/>
              <a:ext cx="13874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 txBox="1"/>
            <p:nvPr/>
          </p:nvSpPr>
          <p:spPr>
            <a:xfrm>
              <a:off x="2997360" y="182520"/>
              <a:ext cx="139536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"/>
          <p:cNvSpPr txBox="1"/>
          <p:nvPr/>
        </p:nvSpPr>
        <p:spPr>
          <a:xfrm>
            <a:off x="2379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92088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619280" y="368280"/>
            <a:ext cx="70020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301840" y="368280"/>
            <a:ext cx="7034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9955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68784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379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92088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619280" y="544680"/>
            <a:ext cx="70020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301840" y="544680"/>
            <a:ext cx="7034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9955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000123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68784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24000" y="2128680"/>
            <a:ext cx="3278160" cy="9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PopulationTable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MOVE 123 TO PopTotal(</a:t>
            </a: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4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456 TO Gender(3,2)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1255 TO PopTotal(2,2)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Age(3)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37960" y="906480"/>
            <a:ext cx="3186000" cy="71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PopulationTable.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02 Age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393939"/>
                </a:solidFill>
                <a:effectLst/>
                <a:uFillTx/>
                <a:latin typeface="Courier New"/>
                <a:ea typeface="Courier New"/>
              </a:rPr>
              <a:t>04 PopTotal   PIC 9(6).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"/>
          <p:cNvGrpSpPr/>
          <p:nvPr/>
        </p:nvGrpSpPr>
        <p:grpSpPr>
          <a:xfrm>
            <a:off x="239760" y="182520"/>
            <a:ext cx="4152960" cy="193680"/>
            <a:chOff x="239760" y="182520"/>
            <a:chExt cx="4152960" cy="193680"/>
          </a:xfrm>
        </p:grpSpPr>
        <p:sp>
          <p:nvSpPr>
            <p:cNvPr id="90" name=""/>
            <p:cNvSpPr txBox="1"/>
            <p:nvPr/>
          </p:nvSpPr>
          <p:spPr>
            <a:xfrm>
              <a:off x="239760" y="182520"/>
              <a:ext cx="13892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 txBox="1"/>
            <p:nvPr/>
          </p:nvSpPr>
          <p:spPr>
            <a:xfrm>
              <a:off x="1622520" y="182520"/>
              <a:ext cx="13874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 txBox="1"/>
            <p:nvPr/>
          </p:nvSpPr>
          <p:spPr>
            <a:xfrm>
              <a:off x="2997360" y="182520"/>
              <a:ext cx="139536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"/>
          <p:cNvSpPr txBox="1"/>
          <p:nvPr/>
        </p:nvSpPr>
        <p:spPr>
          <a:xfrm>
            <a:off x="2379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92088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619280" y="368280"/>
            <a:ext cx="70020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301840" y="368280"/>
            <a:ext cx="7034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9955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68784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379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92088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619280" y="544680"/>
            <a:ext cx="70020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301840" y="544680"/>
            <a:ext cx="7034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001255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9955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000123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68784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456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24000" y="2128680"/>
            <a:ext cx="3278160" cy="9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PopulationTable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 TO PopTotal(3,1)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MOVE 456 TO Gender(</a:t>
            </a: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4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1255 TO PopTotal(2,2)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Age(3)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37960" y="906480"/>
            <a:ext cx="3186000" cy="71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PopulationTable.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02 Age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393939"/>
                </a:solidFill>
                <a:effectLst/>
                <a:uFillTx/>
                <a:latin typeface="Courier New"/>
                <a:ea typeface="Courier New"/>
              </a:rPr>
              <a:t>04 PopTotal   PIC 9(6).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278160" y="966960"/>
            <a:ext cx="1389240" cy="10605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Watch out for this.  Although Gender maps to the same area as PopTotal it is not the same.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270240" y="950760"/>
            <a:ext cx="1434960" cy="14763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Gender is a group item even though it only has one part.  Group items are alphanumeric and data is moved into an alphanumeric item from left to right.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"/>
          <p:cNvGrpSpPr/>
          <p:nvPr/>
        </p:nvGrpSpPr>
        <p:grpSpPr>
          <a:xfrm>
            <a:off x="239760" y="182520"/>
            <a:ext cx="4152960" cy="193680"/>
            <a:chOff x="239760" y="182520"/>
            <a:chExt cx="4152960" cy="193680"/>
          </a:xfrm>
        </p:grpSpPr>
        <p:sp>
          <p:nvSpPr>
            <p:cNvPr id="110" name=""/>
            <p:cNvSpPr txBox="1"/>
            <p:nvPr/>
          </p:nvSpPr>
          <p:spPr>
            <a:xfrm>
              <a:off x="239760" y="182520"/>
              <a:ext cx="13892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 txBox="1"/>
            <p:nvPr/>
          </p:nvSpPr>
          <p:spPr>
            <a:xfrm>
              <a:off x="1622520" y="182520"/>
              <a:ext cx="13874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 txBox="1"/>
            <p:nvPr/>
          </p:nvSpPr>
          <p:spPr>
            <a:xfrm>
              <a:off x="2997360" y="182520"/>
              <a:ext cx="139536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" name=""/>
          <p:cNvSpPr txBox="1"/>
          <p:nvPr/>
        </p:nvSpPr>
        <p:spPr>
          <a:xfrm>
            <a:off x="2379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92088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619280" y="368280"/>
            <a:ext cx="70020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301840" y="368280"/>
            <a:ext cx="7034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9955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68784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379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92088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619280" y="544680"/>
            <a:ext cx="70020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301840" y="544680"/>
            <a:ext cx="7034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001255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9955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000123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68784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456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24000" y="2128680"/>
            <a:ext cx="3278160" cy="9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PopulationTable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 TO PopTotal(3,1)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456 TO Gender(3,2)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ADD 1255 TO PopTotal(</a:t>
            </a: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4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Age(3)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37960" y="906480"/>
            <a:ext cx="3186000" cy="71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PopulationTable.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02 Age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393939"/>
                </a:solidFill>
                <a:effectLst/>
                <a:uFillTx/>
                <a:latin typeface="Courier New"/>
                <a:ea typeface="Courier New"/>
              </a:rPr>
              <a:t>04 PopTotal   PIC 9(6).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 txBox="1"/>
          <p:nvPr/>
        </p:nvSpPr>
        <p:spPr>
          <a:xfrm>
            <a:off x="324000" y="2128680"/>
            <a:ext cx="3278160" cy="9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ZEROS TO PopulationTable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123 TO PopTotal(3,1)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456 TO Gender(3,2)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1255 TO PopTotal(2,2)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MOVE ZEROS TO Age(</a:t>
            </a:r>
            <a:r>
              <a:rPr lang="en-US" sz="14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"/>
          <p:cNvGrpSpPr/>
          <p:nvPr/>
        </p:nvGrpSpPr>
        <p:grpSpPr>
          <a:xfrm>
            <a:off x="239760" y="182520"/>
            <a:ext cx="4152960" cy="193680"/>
            <a:chOff x="239760" y="182520"/>
            <a:chExt cx="4152960" cy="193680"/>
          </a:xfrm>
        </p:grpSpPr>
        <p:sp>
          <p:nvSpPr>
            <p:cNvPr id="129" name=""/>
            <p:cNvSpPr txBox="1"/>
            <p:nvPr/>
          </p:nvSpPr>
          <p:spPr>
            <a:xfrm>
              <a:off x="239760" y="182520"/>
              <a:ext cx="13892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"/>
            <p:cNvSpPr txBox="1"/>
            <p:nvPr/>
          </p:nvSpPr>
          <p:spPr>
            <a:xfrm>
              <a:off x="1622520" y="182520"/>
              <a:ext cx="138744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"/>
            <p:cNvSpPr txBox="1"/>
            <p:nvPr/>
          </p:nvSpPr>
          <p:spPr>
            <a:xfrm>
              <a:off x="2997360" y="182520"/>
              <a:ext cx="1395360" cy="193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B2B2B2"/>
              </a:outerShdw>
            </a:effectLst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2" name=""/>
          <p:cNvSpPr txBox="1"/>
          <p:nvPr/>
        </p:nvSpPr>
        <p:spPr>
          <a:xfrm>
            <a:off x="2379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92088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619280" y="368280"/>
            <a:ext cx="70020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301840" y="368280"/>
            <a:ext cx="7034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995560" y="368280"/>
            <a:ext cx="70164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687840" y="368280"/>
            <a:ext cx="704880" cy="1810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379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92088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619280" y="544680"/>
            <a:ext cx="70020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301840" y="544680"/>
            <a:ext cx="7034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5F5F5F"/>
                </a:solidFill>
                <a:effectLst/>
                <a:uFillTx/>
                <a:latin typeface="Courier New"/>
                <a:ea typeface="Courier New"/>
              </a:rPr>
              <a:t>001255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995560" y="544680"/>
            <a:ext cx="70164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687840" y="544680"/>
            <a:ext cx="704880" cy="3096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000000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237960" y="906480"/>
            <a:ext cx="3186000" cy="71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PopulationTable.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02 Age OCCURS 3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99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1" u="none" strike="noStrike">
                <a:solidFill>
                  <a:srgbClr val="006633"/>
                </a:solidFill>
                <a:effectLst/>
                <a:uFillTx/>
                <a:latin typeface="Courier New"/>
                <a:ea typeface="Courier New"/>
              </a:rPr>
              <a:t>03 Gender OCCURS 2 TIMES.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393939"/>
                </a:solidFill>
                <a:effectLst/>
                <a:uFillTx/>
                <a:latin typeface="Courier New"/>
                <a:ea typeface="Courier New"/>
              </a:rPr>
              <a:t>04 PopTotal   PIC 9(6).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