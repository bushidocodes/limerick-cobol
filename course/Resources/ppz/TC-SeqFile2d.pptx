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ppt/theme/themeOverride9.xml" ContentType="application/vnd.openxmlformats-officedocument.themeOverride+xml"/>
  <Override PartName="/ppt/theme/themeOverride10.xml" ContentType="application/vnd.openxmlformats-officedocument.themeOverride+xml"/>
  <Override PartName="/ppt/theme/themeOverride11.xml" ContentType="application/vnd.openxmlformats-officedocument.themeOverride+xml"/>
  <Override PartName="/ppt/theme/themeOverride12.xml" ContentType="application/vnd.openxmlformats-officedocument.themeOverride+xml"/>
  <Override PartName="/ppt/theme/themeOverride13.xml" ContentType="application/vnd.openxmlformats-officedocument.themeOverride+xml"/>
  <Override PartName="/ppt/theme/themeOverride14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handoutMasterIdLst>
    <p:handoutMasterId r:id="rId17"/>
  </p:handoutMasterIdLst>
  <p:sldIdLst>
    <p:sldId id="282" r:id="rId2"/>
    <p:sldId id="296" r:id="rId3"/>
    <p:sldId id="303" r:id="rId4"/>
    <p:sldId id="285" r:id="rId5"/>
    <p:sldId id="304" r:id="rId6"/>
    <p:sldId id="305" r:id="rId7"/>
    <p:sldId id="306" r:id="rId8"/>
    <p:sldId id="307" r:id="rId9"/>
    <p:sldId id="308" r:id="rId10"/>
    <p:sldId id="309" r:id="rId11"/>
    <p:sldId id="310" r:id="rId12"/>
    <p:sldId id="311" r:id="rId13"/>
    <p:sldId id="312" r:id="rId14"/>
    <p:sldId id="302" r:id="rId15"/>
  </p:sldIdLst>
  <p:sldSz cx="4762500" cy="3810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rgbClr val="009900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rgbClr val="009900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rgbClr val="009900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rgbClr val="009900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rgbClr val="009900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rgbClr val="009900"/>
        </a:solidFill>
        <a:latin typeface="Times New Roman" panose="02020603050405020304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rgbClr val="009900"/>
        </a:solidFill>
        <a:latin typeface="Times New Roman" panose="02020603050405020304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rgbClr val="009900"/>
        </a:solidFill>
        <a:latin typeface="Times New Roman" panose="02020603050405020304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rgbClr val="009900"/>
        </a:solidFill>
        <a:latin typeface="Times New Roman" panose="02020603050405020304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00">
          <p15:clr>
            <a:srgbClr val="A4A3A4"/>
          </p15:clr>
        </p15:guide>
        <p15:guide id="2" pos="150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1200">
          <p15:clr>
            <a:srgbClr val="A4A3A4"/>
          </p15:clr>
        </p15:guide>
        <p15:guide id="2" pos="150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300"/>
    <a:srgbClr val="CC0000"/>
    <a:srgbClr val="FFFF00"/>
    <a:srgbClr val="CCFFCC"/>
    <a:srgbClr val="EEFFEE"/>
    <a:srgbClr val="FFFFCC"/>
    <a:srgbClr val="FFFF99"/>
    <a:srgbClr val="00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222" d="100"/>
          <a:sy n="222" d="100"/>
        </p:scale>
        <p:origin x="570" y="174"/>
      </p:cViewPr>
      <p:guideLst>
        <p:guide orient="horz" pos="1200"/>
        <p:guide pos="150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70" d="100"/>
          <a:sy n="70" d="100"/>
        </p:scale>
        <p:origin x="-1704" y="-78"/>
      </p:cViewPr>
      <p:guideLst>
        <p:guide orient="horz" pos="1200"/>
        <p:guide pos="150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A62FD9A5-F5AE-D997-9D52-4A1C73E48958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t" anchorCtr="0" compatLnSpc="1">
            <a:prstTxWarp prst="textNoShape">
              <a:avLst/>
            </a:prstTxWarp>
          </a:bodyPr>
          <a:lstStyle>
            <a:lvl1pPr>
              <a:defRPr sz="1000" i="1">
                <a:solidFill>
                  <a:schemeClr val="tx1"/>
                </a:solidFill>
              </a:defRPr>
            </a:lvl1pPr>
          </a:lstStyle>
          <a:p>
            <a:endParaRPr lang="en-US" altLang="en-US"/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FECCE1FA-70B2-267A-ABE1-D09CA8497735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t" anchorCtr="0" compatLnSpc="1">
            <a:prstTxWarp prst="textNoShape">
              <a:avLst/>
            </a:prstTxWarp>
          </a:bodyPr>
          <a:lstStyle>
            <a:lvl1pPr algn="r">
              <a:defRPr sz="1000" i="1">
                <a:solidFill>
                  <a:schemeClr val="tx1"/>
                </a:solidFill>
              </a:defRPr>
            </a:lvl1pPr>
          </a:lstStyle>
          <a:p>
            <a:endParaRPr lang="en-US" altLang="en-US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995273BD-DC14-22BB-299F-7D09369C6511}"/>
              </a:ext>
            </a:extLst>
          </p:cNvPr>
          <p:cNvSpPr>
            <a:spLocks noRot="1" noChangeArrowheads="1" noTextEdit="1"/>
          </p:cNvSpPr>
          <p:nvPr>
            <p:ph type="sldImg" idx="2"/>
          </p:nvPr>
        </p:nvSpPr>
        <p:spPr bwMode="auto">
          <a:xfrm>
            <a:off x="1292225" y="692150"/>
            <a:ext cx="4273550" cy="34163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2053" name="Rectangle 5">
            <a:extLst>
              <a:ext uri="{FF2B5EF4-FFF2-40B4-BE49-F238E27FC236}">
                <a16:creationId xmlns:a16="http://schemas.microsoft.com/office/drawing/2014/main" id="{195F20F9-4E03-4C22-7DFD-5F822D653EAA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2054" name="Rectangle 6">
            <a:extLst>
              <a:ext uri="{FF2B5EF4-FFF2-40B4-BE49-F238E27FC236}">
                <a16:creationId xmlns:a16="http://schemas.microsoft.com/office/drawing/2014/main" id="{1F6FD9FA-9733-C2A4-8C1A-F73974BA0862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b" anchorCtr="0" compatLnSpc="1">
            <a:prstTxWarp prst="textNoShape">
              <a:avLst/>
            </a:prstTxWarp>
          </a:bodyPr>
          <a:lstStyle>
            <a:lvl1pPr>
              <a:defRPr sz="1000" i="1">
                <a:solidFill>
                  <a:schemeClr val="tx1"/>
                </a:solidFill>
              </a:defRPr>
            </a:lvl1pPr>
          </a:lstStyle>
          <a:p>
            <a:endParaRPr lang="en-US" altLang="en-US"/>
          </a:p>
        </p:txBody>
      </p:sp>
      <p:sp>
        <p:nvSpPr>
          <p:cNvPr id="2055" name="Rectangle 7">
            <a:extLst>
              <a:ext uri="{FF2B5EF4-FFF2-40B4-BE49-F238E27FC236}">
                <a16:creationId xmlns:a16="http://schemas.microsoft.com/office/drawing/2014/main" id="{752D9AF1-11A4-2676-DECB-A7A370BDB5D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b" anchorCtr="0" compatLnSpc="1">
            <a:prstTxWarp prst="textNoShape">
              <a:avLst/>
            </a:prstTxWarp>
          </a:bodyPr>
          <a:lstStyle>
            <a:lvl1pPr algn="r">
              <a:defRPr sz="1000" i="1">
                <a:solidFill>
                  <a:schemeClr val="tx1"/>
                </a:solidFill>
              </a:defRPr>
            </a:lvl1pPr>
          </a:lstStyle>
          <a:p>
            <a:fld id="{A508B101-20AD-4FC2-8C74-CA1B836C7CD7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21F04-BCA9-1540-0C82-A4A5A79AD1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5313" y="623888"/>
            <a:ext cx="3571875" cy="1325562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B756DB-BDC3-11C9-4A89-FCD7080C65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5313" y="2001838"/>
            <a:ext cx="3571875" cy="9191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920326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0D023D-60BA-2577-575E-FD64D1FA33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203200"/>
            <a:ext cx="4108450" cy="736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723E1-E29A-C136-083E-2DBA32882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7025" y="1014413"/>
            <a:ext cx="4108450" cy="241776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349969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4706C-3B3C-8DB2-EEC5-B63445245B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949325"/>
            <a:ext cx="4106862" cy="1585913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1EA09B-4191-344C-EBDB-050248A2B9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5438" y="2549525"/>
            <a:ext cx="4106862" cy="8334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77366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CB6C8-78BB-0460-ADF0-F04A8277E0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203200"/>
            <a:ext cx="4108450" cy="736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FFD4AC-2F98-9665-E119-E3BF8AA074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7025" y="1014413"/>
            <a:ext cx="1978025" cy="241776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E09A16-5824-59BE-444B-C8FF07A42C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457450" y="1014413"/>
            <a:ext cx="1978025" cy="241776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977883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748681-E8B1-339A-607F-B916A0915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203200"/>
            <a:ext cx="4106862" cy="736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02DDA6-E9A4-4ECE-5D4D-4811D7A040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8613" y="933450"/>
            <a:ext cx="2014537" cy="45878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DF6649-72D5-DC5E-F9FF-A804396AFB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8613" y="1392238"/>
            <a:ext cx="2014537" cy="204628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B7ED5C-48E1-6087-560D-9C61EE9D3B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411413" y="933450"/>
            <a:ext cx="2024062" cy="45878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56A36C6-16E3-BE44-7F8E-9C123B5CEE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2411413" y="1392238"/>
            <a:ext cx="2024062" cy="204628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154058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3C73B-C4FD-7499-7B21-6EB6EFA42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203200"/>
            <a:ext cx="4108450" cy="736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247661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85715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B7700-140F-74F3-620F-CD3015FA2C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254000"/>
            <a:ext cx="1535112" cy="8890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802CBE-5036-35B7-2642-507E2C45DA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4063" y="549275"/>
            <a:ext cx="2411412" cy="2706688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F10C19-4DBA-C3E2-F9BB-CA42DB6053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8613" y="1143000"/>
            <a:ext cx="1535112" cy="21177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136891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FB405-E77A-6C16-3D5F-661A2ADFF6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254000"/>
            <a:ext cx="1535112" cy="8890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CEAB18-84D3-0962-8FE2-CF8E49AD72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2024063" y="549275"/>
            <a:ext cx="2411412" cy="2706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BABC38-4BCE-62C7-764C-D25EC1620B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8613" y="1143000"/>
            <a:ext cx="1535112" cy="21177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301443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423212-B222-062C-D1D8-956F08E36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203200"/>
            <a:ext cx="4108450" cy="736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55A1CF-DA2F-4C79-1847-56A3E5C96C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27025" y="1014413"/>
            <a:ext cx="4108450" cy="2417762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744817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437E0AC-EB48-A6AC-856C-3D65DD4989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3408363" y="203200"/>
            <a:ext cx="1027112" cy="322897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4AA3A3-E6EA-BEA2-42AA-D141E32D9E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27025" y="203200"/>
            <a:ext cx="2928938" cy="32289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56707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B5C3BE60-FF34-5B0E-C4F9-01F344AB9B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25400"/>
            <a:ext cx="4730750" cy="3773488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AAF58C2C-B5D7-91EB-D776-E031D4D666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4875" y="517525"/>
            <a:ext cx="2933700" cy="2254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 algn="ctr"/>
            <a:r>
              <a:rPr lang="en-US" altLang="en-US" sz="1800" b="1">
                <a:solidFill>
                  <a:srgbClr val="CC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Deleting records from an ordered Sequential file</a:t>
            </a:r>
          </a:p>
          <a:p>
            <a:pPr algn="ctr"/>
            <a:endParaRPr lang="en-US" altLang="en-US" b="1">
              <a:solidFill>
                <a:srgbClr val="A50021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  <a:p>
            <a:pPr algn="ctr"/>
            <a:r>
              <a:rPr lang="en-US" altLang="en-US" sz="1400" b="1">
                <a:solidFill>
                  <a:schemeClr val="tx1"/>
                </a:solidFill>
              </a:rPr>
              <a:t>Click to view.</a:t>
            </a:r>
          </a:p>
          <a:p>
            <a:pPr algn="ctr"/>
            <a:endParaRPr lang="en-US" altLang="en-US" sz="1400" b="1">
              <a:solidFill>
                <a:schemeClr val="tx1"/>
              </a:solidFill>
            </a:endParaRPr>
          </a:p>
          <a:p>
            <a:pPr algn="ctr"/>
            <a:r>
              <a:rPr lang="en-US" altLang="en-US" sz="1000">
                <a:solidFill>
                  <a:schemeClr val="tx1"/>
                </a:solidFill>
              </a:rPr>
              <a:t>When viewing , left click (or press the Page Up key) to see the next frame and right click (or press Page Down)  to see the previous frame.</a:t>
            </a:r>
            <a:endParaRPr lang="en-US" altLang="en-US" b="1">
              <a:solidFill>
                <a:srgbClr val="000099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  <a:p>
            <a:pPr algn="ctr"/>
            <a:endParaRPr lang="en-US" altLang="en-US" b="1">
              <a:solidFill>
                <a:srgbClr val="000099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0AC50EE2-1392-B85A-8E7D-16C984C2CD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5238" y="82550"/>
            <a:ext cx="2366962" cy="3606800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lIns="38100" tIns="19050" rIns="38100" bIns="19050"/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FILE SECTION.</a:t>
            </a: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PROCEDURE DIVISION.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OPEN INPUT TF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OPEN INPUT MF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OPEN OUTPUT NF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READ TF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AT END SET EndTF TO TRUE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END-READ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READ MF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AT END SET EndMF TO TRUE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END-READ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PERFORM UNTIL EndTF AND EndMF </a:t>
            </a:r>
          </a:p>
          <a:p>
            <a:pPr>
              <a:lnSpc>
                <a:spcPct val="85000"/>
              </a:lnSpc>
            </a:pPr>
            <a:r>
              <a:rPr lang="en-US" altLang="en-US" sz="1000">
                <a:latin typeface="Courier New" panose="02070309020205020404" pitchFamily="49" charset="0"/>
              </a:rPr>
              <a:t>     etc</a:t>
            </a:r>
            <a:r>
              <a:rPr lang="en-US" altLang="en-US" sz="1000" b="1">
                <a:latin typeface="Courier New" panose="02070309020205020404" pitchFamily="49" charset="0"/>
              </a:rPr>
              <a:t>  </a:t>
            </a:r>
          </a:p>
        </p:txBody>
      </p:sp>
      <p:sp>
        <p:nvSpPr>
          <p:cNvPr id="4099" name="Rectangle 3">
            <a:extLst>
              <a:ext uri="{FF2B5EF4-FFF2-40B4-BE49-F238E27FC236}">
                <a16:creationId xmlns:a16="http://schemas.microsoft.com/office/drawing/2014/main" id="{D5A82DBB-DBB1-2A6D-3C41-4CD8DE53BC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" y="387350"/>
            <a:ext cx="766763" cy="6223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RecordB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RecordK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RecordM</a:t>
            </a:r>
          </a:p>
        </p:txBody>
      </p:sp>
      <p:sp>
        <p:nvSpPr>
          <p:cNvPr id="4100" name="Rectangle 4">
            <a:extLst>
              <a:ext uri="{FF2B5EF4-FFF2-40B4-BE49-F238E27FC236}">
                <a16:creationId xmlns:a16="http://schemas.microsoft.com/office/drawing/2014/main" id="{8A39637B-E3F0-C945-3B8E-54A9F55B0A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" y="212725"/>
            <a:ext cx="912813" cy="168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Trans File (TF)</a:t>
            </a:r>
          </a:p>
        </p:txBody>
      </p:sp>
      <p:sp>
        <p:nvSpPr>
          <p:cNvPr id="4101" name="Rectangle 5">
            <a:extLst>
              <a:ext uri="{FF2B5EF4-FFF2-40B4-BE49-F238E27FC236}">
                <a16:creationId xmlns:a16="http://schemas.microsoft.com/office/drawing/2014/main" id="{7885290F-7BBA-95F4-E826-5E50D05689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" y="2390775"/>
            <a:ext cx="766763" cy="130175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RecordA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RecordB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RecordG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RecordH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RecordK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RecordM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RecordN</a:t>
            </a:r>
          </a:p>
        </p:txBody>
      </p:sp>
      <p:sp>
        <p:nvSpPr>
          <p:cNvPr id="4102" name="Rectangle 6">
            <a:extLst>
              <a:ext uri="{FF2B5EF4-FFF2-40B4-BE49-F238E27FC236}">
                <a16:creationId xmlns:a16="http://schemas.microsoft.com/office/drawing/2014/main" id="{5576A21F-F817-B47D-B903-313E4E6107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" y="2205038"/>
            <a:ext cx="1012825" cy="19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Master File (MF</a:t>
            </a:r>
            <a:r>
              <a:rPr lang="en-US" altLang="en-US" sz="1200" b="1"/>
              <a:t>)</a:t>
            </a:r>
          </a:p>
        </p:txBody>
      </p:sp>
      <p:sp>
        <p:nvSpPr>
          <p:cNvPr id="4103" name="Rectangle 7">
            <a:extLst>
              <a:ext uri="{FF2B5EF4-FFF2-40B4-BE49-F238E27FC236}">
                <a16:creationId xmlns:a16="http://schemas.microsoft.com/office/drawing/2014/main" id="{A62D9E79-E234-9971-76F9-3E2B5464C0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73500" y="387350"/>
            <a:ext cx="766763" cy="23495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4104" name="Rectangle 8">
            <a:extLst>
              <a:ext uri="{FF2B5EF4-FFF2-40B4-BE49-F238E27FC236}">
                <a16:creationId xmlns:a16="http://schemas.microsoft.com/office/drawing/2014/main" id="{28C4699E-4B76-E891-5B2E-4E385DD97A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68738" y="187325"/>
            <a:ext cx="815975" cy="19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NewFile (NF</a:t>
            </a:r>
            <a:r>
              <a:rPr lang="en-US" altLang="en-US" sz="1200" b="1">
                <a:latin typeface="Times New Roman" panose="02020603050405020304" pitchFamily="18" charset="0"/>
              </a:rPr>
              <a:t>)</a:t>
            </a:r>
          </a:p>
        </p:txBody>
      </p:sp>
      <p:sp>
        <p:nvSpPr>
          <p:cNvPr id="4105" name="AutoShape 9">
            <a:extLst>
              <a:ext uri="{FF2B5EF4-FFF2-40B4-BE49-F238E27FC236}">
                <a16:creationId xmlns:a16="http://schemas.microsoft.com/office/drawing/2014/main" id="{DEBE0EC4-0E7D-45C4-8B55-EDA084C4FB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248285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106" name="AutoShape 10">
            <a:extLst>
              <a:ext uri="{FF2B5EF4-FFF2-40B4-BE49-F238E27FC236}">
                <a16:creationId xmlns:a16="http://schemas.microsoft.com/office/drawing/2014/main" id="{7C569A3F-30E9-7DD2-B4BE-8AA4259513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46355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107" name="AutoShape 11">
            <a:extLst>
              <a:ext uri="{FF2B5EF4-FFF2-40B4-BE49-F238E27FC236}">
                <a16:creationId xmlns:a16="http://schemas.microsoft.com/office/drawing/2014/main" id="{507EE76B-4182-BEA4-F1AD-7CB467F82C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8725" y="44450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108" name="Rectangle 12">
            <a:extLst>
              <a:ext uri="{FF2B5EF4-FFF2-40B4-BE49-F238E27FC236}">
                <a16:creationId xmlns:a16="http://schemas.microsoft.com/office/drawing/2014/main" id="{F6618496-142E-02C7-6D15-971EFCB2F6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5575" y="385763"/>
            <a:ext cx="1463675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109" name="Rectangle 13">
            <a:extLst>
              <a:ext uri="{FF2B5EF4-FFF2-40B4-BE49-F238E27FC236}">
                <a16:creationId xmlns:a16="http://schemas.microsoft.com/office/drawing/2014/main" id="{F859639F-022D-B9BB-58DD-0E358B3C72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3500" y="204788"/>
            <a:ext cx="460375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TFRec</a:t>
            </a:r>
          </a:p>
        </p:txBody>
      </p:sp>
      <p:sp>
        <p:nvSpPr>
          <p:cNvPr id="4110" name="Rectangle 14">
            <a:extLst>
              <a:ext uri="{FF2B5EF4-FFF2-40B4-BE49-F238E27FC236}">
                <a16:creationId xmlns:a16="http://schemas.microsoft.com/office/drawing/2014/main" id="{2F0023D3-1B6A-0F6E-184F-3E6B765701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750" y="795338"/>
            <a:ext cx="1460500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111" name="Rectangle 15">
            <a:extLst>
              <a:ext uri="{FF2B5EF4-FFF2-40B4-BE49-F238E27FC236}">
                <a16:creationId xmlns:a16="http://schemas.microsoft.com/office/drawing/2014/main" id="{74BF828C-0F90-B030-DDE8-2EFC910CDB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623888"/>
            <a:ext cx="48895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MFRec</a:t>
            </a:r>
          </a:p>
        </p:txBody>
      </p:sp>
      <p:sp>
        <p:nvSpPr>
          <p:cNvPr id="4112" name="Rectangle 16">
            <a:extLst>
              <a:ext uri="{FF2B5EF4-FFF2-40B4-BE49-F238E27FC236}">
                <a16:creationId xmlns:a16="http://schemas.microsoft.com/office/drawing/2014/main" id="{118BC868-EDF5-F3F8-02D4-AAA5F1816F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750" y="1214438"/>
            <a:ext cx="1460500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113" name="Rectangle 17">
            <a:extLst>
              <a:ext uri="{FF2B5EF4-FFF2-40B4-BE49-F238E27FC236}">
                <a16:creationId xmlns:a16="http://schemas.microsoft.com/office/drawing/2014/main" id="{B6740016-3511-2EDC-27AA-D4A9237EAF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1042988"/>
            <a:ext cx="471488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NFRec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>
            <a:extLst>
              <a:ext uri="{FF2B5EF4-FFF2-40B4-BE49-F238E27FC236}">
                <a16:creationId xmlns:a16="http://schemas.microsoft.com/office/drawing/2014/main" id="{8D706A01-BFDE-1659-374E-B6B1BFF5F4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5238" y="82550"/>
            <a:ext cx="2366962" cy="3606800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lIns="38100" tIns="19050" rIns="38100" bIns="19050"/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FILE SECTION.</a:t>
            </a: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PROCEDURE DIVISION.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OPEN INPUT TF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OPEN INPUT MF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OPEN OUTPUT NF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READ TF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  AT END SET EndTF TO TRUE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END-READ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READ MF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  AT END SET EndMF TO TRUE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END-READ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PERFORM UNTIL EndTF AND EndMF </a:t>
            </a:r>
          </a:p>
          <a:p>
            <a:pPr>
              <a:lnSpc>
                <a:spcPct val="85000"/>
              </a:lnSpc>
            </a:pPr>
            <a:r>
              <a:rPr lang="en-US" altLang="en-US" sz="1000">
                <a:latin typeface="Courier New" panose="02070309020205020404" pitchFamily="49" charset="0"/>
              </a:rPr>
              <a:t>     etc</a:t>
            </a:r>
            <a:r>
              <a:rPr lang="en-US" altLang="en-US" sz="1000" b="1">
                <a:latin typeface="Courier New" panose="02070309020205020404" pitchFamily="49" charset="0"/>
              </a:rPr>
              <a:t>  </a:t>
            </a:r>
          </a:p>
        </p:txBody>
      </p:sp>
      <p:sp>
        <p:nvSpPr>
          <p:cNvPr id="5123" name="Rectangle 3">
            <a:extLst>
              <a:ext uri="{FF2B5EF4-FFF2-40B4-BE49-F238E27FC236}">
                <a16:creationId xmlns:a16="http://schemas.microsoft.com/office/drawing/2014/main" id="{BADE0BA1-6BB9-97B3-B057-56FF3B425F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" y="387350"/>
            <a:ext cx="766763" cy="6223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RecordB</a:t>
            </a:r>
            <a:endParaRPr lang="en-US" altLang="en-US" sz="1200" b="1">
              <a:latin typeface="Courier New" panose="02070309020205020404" pitchFamily="49" charset="0"/>
            </a:endParaRP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RecordK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RecordM</a:t>
            </a:r>
          </a:p>
        </p:txBody>
      </p:sp>
      <p:sp>
        <p:nvSpPr>
          <p:cNvPr id="5124" name="Rectangle 4">
            <a:extLst>
              <a:ext uri="{FF2B5EF4-FFF2-40B4-BE49-F238E27FC236}">
                <a16:creationId xmlns:a16="http://schemas.microsoft.com/office/drawing/2014/main" id="{B1977EE2-51BA-C721-A6E6-DACBB63575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" y="212725"/>
            <a:ext cx="912813" cy="168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Trans File (TF)</a:t>
            </a:r>
          </a:p>
        </p:txBody>
      </p:sp>
      <p:sp>
        <p:nvSpPr>
          <p:cNvPr id="5125" name="Rectangle 5">
            <a:extLst>
              <a:ext uri="{FF2B5EF4-FFF2-40B4-BE49-F238E27FC236}">
                <a16:creationId xmlns:a16="http://schemas.microsoft.com/office/drawing/2014/main" id="{84B41876-1A24-2190-B7BF-9E39077C85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" y="2390775"/>
            <a:ext cx="766763" cy="130175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RecordA</a:t>
            </a:r>
            <a:endParaRPr lang="en-US" altLang="en-US" sz="1200" b="1">
              <a:latin typeface="Courier New" panose="02070309020205020404" pitchFamily="49" charset="0"/>
            </a:endParaRP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RecordB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RecordG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RecordH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RecordK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RecordM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RecordN</a:t>
            </a:r>
          </a:p>
        </p:txBody>
      </p:sp>
      <p:sp>
        <p:nvSpPr>
          <p:cNvPr id="5126" name="Rectangle 6">
            <a:extLst>
              <a:ext uri="{FF2B5EF4-FFF2-40B4-BE49-F238E27FC236}">
                <a16:creationId xmlns:a16="http://schemas.microsoft.com/office/drawing/2014/main" id="{79568FE7-0810-DC6E-75F8-8708E9602C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" y="2205038"/>
            <a:ext cx="1012825" cy="19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Master File (MF</a:t>
            </a:r>
            <a:r>
              <a:rPr lang="en-US" altLang="en-US" sz="1200" b="1"/>
              <a:t>)</a:t>
            </a:r>
          </a:p>
        </p:txBody>
      </p:sp>
      <p:sp>
        <p:nvSpPr>
          <p:cNvPr id="5127" name="Rectangle 7">
            <a:extLst>
              <a:ext uri="{FF2B5EF4-FFF2-40B4-BE49-F238E27FC236}">
                <a16:creationId xmlns:a16="http://schemas.microsoft.com/office/drawing/2014/main" id="{443F9450-0041-50A6-1D94-33B5F89C49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73500" y="387350"/>
            <a:ext cx="766763" cy="23495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5128" name="Rectangle 8">
            <a:extLst>
              <a:ext uri="{FF2B5EF4-FFF2-40B4-BE49-F238E27FC236}">
                <a16:creationId xmlns:a16="http://schemas.microsoft.com/office/drawing/2014/main" id="{1D171387-D169-AAE4-BC4C-68DFE3531E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68738" y="187325"/>
            <a:ext cx="815975" cy="19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NewFile (NF</a:t>
            </a:r>
            <a:r>
              <a:rPr lang="en-US" altLang="en-US" sz="1200" b="1">
                <a:latin typeface="Times New Roman" panose="02020603050405020304" pitchFamily="18" charset="0"/>
              </a:rPr>
              <a:t>)</a:t>
            </a:r>
          </a:p>
        </p:txBody>
      </p:sp>
      <p:sp>
        <p:nvSpPr>
          <p:cNvPr id="5129" name="AutoShape 9">
            <a:extLst>
              <a:ext uri="{FF2B5EF4-FFF2-40B4-BE49-F238E27FC236}">
                <a16:creationId xmlns:a16="http://schemas.microsoft.com/office/drawing/2014/main" id="{CB372353-48D9-9DD6-C120-5EF6DD9318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263525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5130" name="AutoShape 10">
            <a:extLst>
              <a:ext uri="{FF2B5EF4-FFF2-40B4-BE49-F238E27FC236}">
                <a16:creationId xmlns:a16="http://schemas.microsoft.com/office/drawing/2014/main" id="{2C0B1F96-E27B-1F01-21FA-F0D6DB95A8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63500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5131" name="AutoShape 11">
            <a:extLst>
              <a:ext uri="{FF2B5EF4-FFF2-40B4-BE49-F238E27FC236}">
                <a16:creationId xmlns:a16="http://schemas.microsoft.com/office/drawing/2014/main" id="{BA4F1528-A0A6-A404-22EE-81269077A8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8725" y="44450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5132" name="Rectangle 12">
            <a:extLst>
              <a:ext uri="{FF2B5EF4-FFF2-40B4-BE49-F238E27FC236}">
                <a16:creationId xmlns:a16="http://schemas.microsoft.com/office/drawing/2014/main" id="{0071EFA7-59B5-AA8C-ADDD-CF0C79F0CA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5575" y="385763"/>
            <a:ext cx="1463675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RecordB</a:t>
            </a:r>
          </a:p>
        </p:txBody>
      </p:sp>
      <p:sp>
        <p:nvSpPr>
          <p:cNvPr id="5133" name="Rectangle 13">
            <a:extLst>
              <a:ext uri="{FF2B5EF4-FFF2-40B4-BE49-F238E27FC236}">
                <a16:creationId xmlns:a16="http://schemas.microsoft.com/office/drawing/2014/main" id="{06E12FF1-C477-1751-8BBA-E6FE5E25EC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3500" y="204788"/>
            <a:ext cx="460375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TFRec</a:t>
            </a:r>
          </a:p>
        </p:txBody>
      </p:sp>
      <p:sp>
        <p:nvSpPr>
          <p:cNvPr id="5134" name="Rectangle 14">
            <a:extLst>
              <a:ext uri="{FF2B5EF4-FFF2-40B4-BE49-F238E27FC236}">
                <a16:creationId xmlns:a16="http://schemas.microsoft.com/office/drawing/2014/main" id="{ABC7236A-E6CF-63BA-EB1A-E90D4B5CAD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750" y="795338"/>
            <a:ext cx="1460500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RecordA</a:t>
            </a:r>
          </a:p>
        </p:txBody>
      </p:sp>
      <p:sp>
        <p:nvSpPr>
          <p:cNvPr id="5135" name="Rectangle 15">
            <a:extLst>
              <a:ext uri="{FF2B5EF4-FFF2-40B4-BE49-F238E27FC236}">
                <a16:creationId xmlns:a16="http://schemas.microsoft.com/office/drawing/2014/main" id="{B347F1C4-38C3-552B-6FFE-58044BFC07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623888"/>
            <a:ext cx="48895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MFRec</a:t>
            </a:r>
          </a:p>
        </p:txBody>
      </p:sp>
      <p:sp>
        <p:nvSpPr>
          <p:cNvPr id="5136" name="Rectangle 16">
            <a:extLst>
              <a:ext uri="{FF2B5EF4-FFF2-40B4-BE49-F238E27FC236}">
                <a16:creationId xmlns:a16="http://schemas.microsoft.com/office/drawing/2014/main" id="{37029C33-C6B0-2FBD-F273-A862F79CD0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750" y="1214438"/>
            <a:ext cx="1460500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5137" name="Rectangle 17">
            <a:extLst>
              <a:ext uri="{FF2B5EF4-FFF2-40B4-BE49-F238E27FC236}">
                <a16:creationId xmlns:a16="http://schemas.microsoft.com/office/drawing/2014/main" id="{2738146B-CF66-A90D-1BE2-939252D16B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1042988"/>
            <a:ext cx="471488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NFRec</a:t>
            </a:r>
          </a:p>
        </p:txBody>
      </p:sp>
      <p:sp>
        <p:nvSpPr>
          <p:cNvPr id="5138" name="Line 18">
            <a:extLst>
              <a:ext uri="{FF2B5EF4-FFF2-40B4-BE49-F238E27FC236}">
                <a16:creationId xmlns:a16="http://schemas.microsoft.com/office/drawing/2014/main" id="{35B49351-71E0-B589-BFE6-DA49C58FC0CF}"/>
              </a:ext>
            </a:extLst>
          </p:cNvPr>
          <p:cNvSpPr>
            <a:spLocks noChangeShapeType="1"/>
          </p:cNvSpPr>
          <p:nvPr/>
        </p:nvSpPr>
        <p:spPr bwMode="auto">
          <a:xfrm>
            <a:off x="866775" y="514350"/>
            <a:ext cx="533400" cy="0"/>
          </a:xfrm>
          <a:prstGeom prst="line">
            <a:avLst/>
          </a:prstGeom>
          <a:noFill/>
          <a:ln w="12700">
            <a:solidFill>
              <a:srgbClr val="CC0000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39" name="Arc 19">
            <a:extLst>
              <a:ext uri="{FF2B5EF4-FFF2-40B4-BE49-F238E27FC236}">
                <a16:creationId xmlns:a16="http://schemas.microsoft.com/office/drawing/2014/main" id="{C8BA0CBF-3DF4-6D09-AE1E-FE6AF594DE53}"/>
              </a:ext>
            </a:extLst>
          </p:cNvPr>
          <p:cNvSpPr>
            <a:spLocks/>
          </p:cNvSpPr>
          <p:nvPr/>
        </p:nvSpPr>
        <p:spPr bwMode="auto">
          <a:xfrm>
            <a:off x="523875" y="915988"/>
            <a:ext cx="914400" cy="1524000"/>
          </a:xfrm>
          <a:custGeom>
            <a:avLst/>
            <a:gdLst>
              <a:gd name="G0" fmla="+- 21600 0 0"/>
              <a:gd name="G1" fmla="+- 21600 0 0"/>
              <a:gd name="G2" fmla="+- 21600 0 0"/>
              <a:gd name="T0" fmla="*/ 0 w 21600"/>
              <a:gd name="T1" fmla="*/ 21600 h 21600"/>
              <a:gd name="T2" fmla="*/ 21562 w 21600"/>
              <a:gd name="T3" fmla="*/ 0 h 21600"/>
              <a:gd name="T4" fmla="*/ 21600 w 21600"/>
              <a:gd name="T5" fmla="*/ 216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599"/>
                </a:moveTo>
                <a:cubicBezTo>
                  <a:pt x="0" y="9685"/>
                  <a:pt x="9647" y="20"/>
                  <a:pt x="21562" y="0"/>
                </a:cubicBezTo>
              </a:path>
              <a:path w="21600" h="21600" stroke="0" extrusionOk="0">
                <a:moveTo>
                  <a:pt x="0" y="21599"/>
                </a:moveTo>
                <a:cubicBezTo>
                  <a:pt x="0" y="9685"/>
                  <a:pt x="9647" y="20"/>
                  <a:pt x="21562" y="0"/>
                </a:cubicBezTo>
                <a:lnTo>
                  <a:pt x="21600" y="21600"/>
                </a:lnTo>
                <a:close/>
              </a:path>
            </a:pathLst>
          </a:custGeom>
          <a:noFill/>
          <a:ln w="12700" cap="rnd">
            <a:solidFill>
              <a:srgbClr val="CC0000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36704FED-D00E-A27C-72EB-A86312D931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5238" y="92075"/>
            <a:ext cx="2366962" cy="3597275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38100" tIns="19050" rIns="38100" bIns="19050"/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FILE SECTION.</a:t>
            </a: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PROCEDURE DIVISION.</a:t>
            </a:r>
          </a:p>
          <a:p>
            <a:pPr>
              <a:lnSpc>
                <a:spcPct val="85000"/>
              </a:lnSpc>
            </a:pPr>
            <a:r>
              <a:rPr lang="en-US" altLang="en-US" sz="1000">
                <a:latin typeface="Courier New" panose="02070309020205020404" pitchFamily="49" charset="0"/>
              </a:rPr>
              <a:t>      etc.</a:t>
            </a:r>
          </a:p>
          <a:p>
            <a:pPr>
              <a:lnSpc>
                <a:spcPct val="85000"/>
              </a:lnSpc>
            </a:pPr>
            <a:r>
              <a:rPr lang="en-US" altLang="en-US" sz="1000">
                <a:latin typeface="Courier New" panose="02070309020205020404" pitchFamily="49" charset="0"/>
              </a:rPr>
              <a:t>      etc.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PERFORM UNTIL EndTF AND EndMF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  IF TFKey NOT = MFKey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     MOVE MFRec TO NFRec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     WRITE NFRec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READ MF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ELSE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READ TF </a:t>
            </a:r>
            <a:r>
              <a:rPr lang="en-US" altLang="en-US" sz="1000">
                <a:latin typeface="Courier New" panose="02070309020205020404" pitchFamily="49" charset="0"/>
              </a:rPr>
              <a:t>etc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READ MF </a:t>
            </a:r>
            <a:r>
              <a:rPr lang="en-US" altLang="en-US" sz="1000">
                <a:latin typeface="Courier New" panose="02070309020205020404" pitchFamily="49" charset="0"/>
              </a:rPr>
              <a:t>etc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END-IF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END-PERFORM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33C0D9AE-DBAB-757D-327B-28BC70BEB8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" y="387350"/>
            <a:ext cx="766763" cy="6223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RecordB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RecordK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RecordM</a:t>
            </a:r>
          </a:p>
        </p:txBody>
      </p:sp>
      <p:sp>
        <p:nvSpPr>
          <p:cNvPr id="6148" name="Rectangle 4">
            <a:extLst>
              <a:ext uri="{FF2B5EF4-FFF2-40B4-BE49-F238E27FC236}">
                <a16:creationId xmlns:a16="http://schemas.microsoft.com/office/drawing/2014/main" id="{E2352E77-5DB0-B894-2759-A4ACD4F563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" y="212725"/>
            <a:ext cx="912813" cy="168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Trans File (TF)</a:t>
            </a:r>
          </a:p>
        </p:txBody>
      </p:sp>
      <p:sp>
        <p:nvSpPr>
          <p:cNvPr id="6149" name="Rectangle 5">
            <a:extLst>
              <a:ext uri="{FF2B5EF4-FFF2-40B4-BE49-F238E27FC236}">
                <a16:creationId xmlns:a16="http://schemas.microsoft.com/office/drawing/2014/main" id="{83918B1A-B4DC-49A5-87F0-592A4F9B8A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" y="2390775"/>
            <a:ext cx="766763" cy="130175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RecordA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RecordB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RecordG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RecordH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RecordK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RecordM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RecordN</a:t>
            </a:r>
          </a:p>
        </p:txBody>
      </p:sp>
      <p:sp>
        <p:nvSpPr>
          <p:cNvPr id="6150" name="Rectangle 6">
            <a:extLst>
              <a:ext uri="{FF2B5EF4-FFF2-40B4-BE49-F238E27FC236}">
                <a16:creationId xmlns:a16="http://schemas.microsoft.com/office/drawing/2014/main" id="{1FD5D194-07B3-7967-7FBE-E424ED087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" y="2205038"/>
            <a:ext cx="1012825" cy="19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Master File (MF</a:t>
            </a:r>
            <a:r>
              <a:rPr lang="en-US" altLang="en-US" sz="1200" b="1"/>
              <a:t>)</a:t>
            </a:r>
          </a:p>
        </p:txBody>
      </p:sp>
      <p:sp>
        <p:nvSpPr>
          <p:cNvPr id="6151" name="Rectangle 7">
            <a:extLst>
              <a:ext uri="{FF2B5EF4-FFF2-40B4-BE49-F238E27FC236}">
                <a16:creationId xmlns:a16="http://schemas.microsoft.com/office/drawing/2014/main" id="{BCFD9585-0690-107D-8EB0-998434B567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73500" y="387350"/>
            <a:ext cx="766763" cy="4921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/>
          <a:p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RecordA</a:t>
            </a:r>
          </a:p>
          <a:p>
            <a:endParaRPr lang="en-US" altLang="en-US" sz="1200" b="1">
              <a:solidFill>
                <a:srgbClr val="CC0000"/>
              </a:solidFill>
              <a:latin typeface="Courier New" panose="02070309020205020404" pitchFamily="49" charset="0"/>
            </a:endParaRPr>
          </a:p>
        </p:txBody>
      </p:sp>
      <p:sp>
        <p:nvSpPr>
          <p:cNvPr id="6152" name="Rectangle 8">
            <a:extLst>
              <a:ext uri="{FF2B5EF4-FFF2-40B4-BE49-F238E27FC236}">
                <a16:creationId xmlns:a16="http://schemas.microsoft.com/office/drawing/2014/main" id="{6286EE63-2C6A-2F4A-535B-9688A80D8D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5575" y="385763"/>
            <a:ext cx="1463675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RecordB</a:t>
            </a:r>
          </a:p>
        </p:txBody>
      </p:sp>
      <p:sp>
        <p:nvSpPr>
          <p:cNvPr id="6153" name="Rectangle 9">
            <a:extLst>
              <a:ext uri="{FF2B5EF4-FFF2-40B4-BE49-F238E27FC236}">
                <a16:creationId xmlns:a16="http://schemas.microsoft.com/office/drawing/2014/main" id="{2E7C819F-F073-5D64-C2EA-6E64E0A6CF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3500" y="204788"/>
            <a:ext cx="460375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TFRec</a:t>
            </a:r>
          </a:p>
        </p:txBody>
      </p:sp>
      <p:sp>
        <p:nvSpPr>
          <p:cNvPr id="6154" name="Rectangle 10">
            <a:extLst>
              <a:ext uri="{FF2B5EF4-FFF2-40B4-BE49-F238E27FC236}">
                <a16:creationId xmlns:a16="http://schemas.microsoft.com/office/drawing/2014/main" id="{1BA263F6-81B0-906F-C983-66F25FDF01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750" y="795338"/>
            <a:ext cx="1460500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RecordA</a:t>
            </a:r>
          </a:p>
        </p:txBody>
      </p:sp>
      <p:sp>
        <p:nvSpPr>
          <p:cNvPr id="6155" name="Rectangle 11">
            <a:extLst>
              <a:ext uri="{FF2B5EF4-FFF2-40B4-BE49-F238E27FC236}">
                <a16:creationId xmlns:a16="http://schemas.microsoft.com/office/drawing/2014/main" id="{DDA37251-AEC0-BC43-DC13-BB89D28C38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623888"/>
            <a:ext cx="48895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MFRec</a:t>
            </a:r>
          </a:p>
        </p:txBody>
      </p:sp>
      <p:sp>
        <p:nvSpPr>
          <p:cNvPr id="6156" name="Rectangle 12">
            <a:extLst>
              <a:ext uri="{FF2B5EF4-FFF2-40B4-BE49-F238E27FC236}">
                <a16:creationId xmlns:a16="http://schemas.microsoft.com/office/drawing/2014/main" id="{B349CD58-7F74-F6CD-647B-19476FA2E2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750" y="1214438"/>
            <a:ext cx="1460500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RecordA</a:t>
            </a:r>
          </a:p>
        </p:txBody>
      </p:sp>
      <p:sp>
        <p:nvSpPr>
          <p:cNvPr id="6157" name="Rectangle 13">
            <a:extLst>
              <a:ext uri="{FF2B5EF4-FFF2-40B4-BE49-F238E27FC236}">
                <a16:creationId xmlns:a16="http://schemas.microsoft.com/office/drawing/2014/main" id="{963DC5C6-F21C-F649-BB30-295BC4C775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1042988"/>
            <a:ext cx="471488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NFRec</a:t>
            </a:r>
          </a:p>
        </p:txBody>
      </p:sp>
      <p:sp>
        <p:nvSpPr>
          <p:cNvPr id="6158" name="Rectangle 14">
            <a:extLst>
              <a:ext uri="{FF2B5EF4-FFF2-40B4-BE49-F238E27FC236}">
                <a16:creationId xmlns:a16="http://schemas.microsoft.com/office/drawing/2014/main" id="{EADB408E-2E8D-B867-C53E-2F3EA098BB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68738" y="187325"/>
            <a:ext cx="815975" cy="19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NewFile (NF</a:t>
            </a:r>
            <a:r>
              <a:rPr lang="en-US" altLang="en-US" sz="1200" b="1">
                <a:latin typeface="Times New Roman" panose="02020603050405020304" pitchFamily="18" charset="0"/>
              </a:rPr>
              <a:t>)</a:t>
            </a:r>
          </a:p>
        </p:txBody>
      </p:sp>
      <p:sp>
        <p:nvSpPr>
          <p:cNvPr id="6159" name="AutoShape 15">
            <a:extLst>
              <a:ext uri="{FF2B5EF4-FFF2-40B4-BE49-F238E27FC236}">
                <a16:creationId xmlns:a16="http://schemas.microsoft.com/office/drawing/2014/main" id="{E605B1CD-92CF-74F8-EA8F-D99122127F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263525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60" name="AutoShape 16">
            <a:extLst>
              <a:ext uri="{FF2B5EF4-FFF2-40B4-BE49-F238E27FC236}">
                <a16:creationId xmlns:a16="http://schemas.microsoft.com/office/drawing/2014/main" id="{A3414690-9DC6-13F1-25DE-44CE904DF1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63500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61" name="AutoShape 17">
            <a:extLst>
              <a:ext uri="{FF2B5EF4-FFF2-40B4-BE49-F238E27FC236}">
                <a16:creationId xmlns:a16="http://schemas.microsoft.com/office/drawing/2014/main" id="{FB67FBF2-7A9B-C22F-FDD4-2835EDC1D5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87775" y="71120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62" name="Arc 18">
            <a:extLst>
              <a:ext uri="{FF2B5EF4-FFF2-40B4-BE49-F238E27FC236}">
                <a16:creationId xmlns:a16="http://schemas.microsoft.com/office/drawing/2014/main" id="{84EC3594-94A7-7181-BD67-9E133BD29DC1}"/>
              </a:ext>
            </a:extLst>
          </p:cNvPr>
          <p:cNvSpPr>
            <a:spLocks/>
          </p:cNvSpPr>
          <p:nvPr/>
        </p:nvSpPr>
        <p:spPr bwMode="auto">
          <a:xfrm>
            <a:off x="2141538" y="915988"/>
            <a:ext cx="325437" cy="400050"/>
          </a:xfrm>
          <a:custGeom>
            <a:avLst/>
            <a:gdLst>
              <a:gd name="G0" fmla="+- 106 0 0"/>
              <a:gd name="G1" fmla="+- 21600 0 0"/>
              <a:gd name="G2" fmla="+- 21600 0 0"/>
              <a:gd name="T0" fmla="*/ 0 w 21706"/>
              <a:gd name="T1" fmla="*/ 0 h 43200"/>
              <a:gd name="T2" fmla="*/ 106 w 21706"/>
              <a:gd name="T3" fmla="*/ 43200 h 43200"/>
              <a:gd name="T4" fmla="*/ 106 w 21706"/>
              <a:gd name="T5" fmla="*/ 21600 h 432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706" h="43200" fill="none" extrusionOk="0">
                <a:moveTo>
                  <a:pt x="0" y="0"/>
                </a:moveTo>
                <a:cubicBezTo>
                  <a:pt x="35" y="0"/>
                  <a:pt x="70" y="0"/>
                  <a:pt x="106" y="0"/>
                </a:cubicBezTo>
                <a:cubicBezTo>
                  <a:pt x="12035" y="0"/>
                  <a:pt x="21706" y="9670"/>
                  <a:pt x="21706" y="21600"/>
                </a:cubicBezTo>
                <a:cubicBezTo>
                  <a:pt x="21706" y="33529"/>
                  <a:pt x="12035" y="43200"/>
                  <a:pt x="105" y="43200"/>
                </a:cubicBezTo>
              </a:path>
              <a:path w="21706" h="43200" stroke="0" extrusionOk="0">
                <a:moveTo>
                  <a:pt x="0" y="0"/>
                </a:moveTo>
                <a:cubicBezTo>
                  <a:pt x="35" y="0"/>
                  <a:pt x="70" y="0"/>
                  <a:pt x="106" y="0"/>
                </a:cubicBezTo>
                <a:cubicBezTo>
                  <a:pt x="12035" y="0"/>
                  <a:pt x="21706" y="9670"/>
                  <a:pt x="21706" y="21600"/>
                </a:cubicBezTo>
                <a:cubicBezTo>
                  <a:pt x="21706" y="33529"/>
                  <a:pt x="12035" y="43200"/>
                  <a:pt x="105" y="43200"/>
                </a:cubicBezTo>
                <a:lnTo>
                  <a:pt x="106" y="21600"/>
                </a:lnTo>
                <a:close/>
              </a:path>
            </a:pathLst>
          </a:custGeom>
          <a:noFill/>
          <a:ln w="12700" cap="rnd">
            <a:solidFill>
              <a:srgbClr val="CC0000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63" name="Arc 19">
            <a:extLst>
              <a:ext uri="{FF2B5EF4-FFF2-40B4-BE49-F238E27FC236}">
                <a16:creationId xmlns:a16="http://schemas.microsoft.com/office/drawing/2014/main" id="{09B12BC8-1280-E307-52C3-7E925B05D748}"/>
              </a:ext>
            </a:extLst>
          </p:cNvPr>
          <p:cNvSpPr>
            <a:spLocks/>
          </p:cNvSpPr>
          <p:nvPr/>
        </p:nvSpPr>
        <p:spPr bwMode="auto">
          <a:xfrm>
            <a:off x="2143125" y="628650"/>
            <a:ext cx="2114550" cy="857250"/>
          </a:xfrm>
          <a:custGeom>
            <a:avLst/>
            <a:gdLst>
              <a:gd name="G0" fmla="+- 10551 0 0"/>
              <a:gd name="G1" fmla="+- 0 0 0"/>
              <a:gd name="G2" fmla="+- 21600 0 0"/>
              <a:gd name="T0" fmla="*/ 32151 w 32151"/>
              <a:gd name="T1" fmla="*/ 0 h 21600"/>
              <a:gd name="T2" fmla="*/ 0 w 32151"/>
              <a:gd name="T3" fmla="*/ 18848 h 21600"/>
              <a:gd name="T4" fmla="*/ 10551 w 32151"/>
              <a:gd name="T5" fmla="*/ 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32151" h="21600" fill="none" extrusionOk="0">
                <a:moveTo>
                  <a:pt x="32151" y="0"/>
                </a:moveTo>
                <a:cubicBezTo>
                  <a:pt x="32151" y="11929"/>
                  <a:pt x="22480" y="21600"/>
                  <a:pt x="10551" y="21600"/>
                </a:cubicBezTo>
                <a:cubicBezTo>
                  <a:pt x="6856" y="21599"/>
                  <a:pt x="3223" y="20652"/>
                  <a:pt x="0" y="18847"/>
                </a:cubicBezTo>
              </a:path>
              <a:path w="32151" h="21600" stroke="0" extrusionOk="0">
                <a:moveTo>
                  <a:pt x="32151" y="0"/>
                </a:moveTo>
                <a:cubicBezTo>
                  <a:pt x="32151" y="11929"/>
                  <a:pt x="22480" y="21600"/>
                  <a:pt x="10551" y="21600"/>
                </a:cubicBezTo>
                <a:cubicBezTo>
                  <a:pt x="6856" y="21599"/>
                  <a:pt x="3223" y="20652"/>
                  <a:pt x="0" y="18847"/>
                </a:cubicBezTo>
                <a:lnTo>
                  <a:pt x="10551" y="0"/>
                </a:lnTo>
                <a:close/>
              </a:path>
            </a:pathLst>
          </a:custGeom>
          <a:noFill/>
          <a:ln w="12700" cap="rnd">
            <a:solidFill>
              <a:srgbClr val="CC0000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>
            <a:extLst>
              <a:ext uri="{FF2B5EF4-FFF2-40B4-BE49-F238E27FC236}">
                <a16:creationId xmlns:a16="http://schemas.microsoft.com/office/drawing/2014/main" id="{2B67FA12-5504-191E-8C8D-2A8A826A93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5238" y="92075"/>
            <a:ext cx="2366962" cy="3597275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38100" tIns="19050" rIns="38100" bIns="19050"/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FILE SECTION.</a:t>
            </a: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PROCEDURE DIVISION.</a:t>
            </a:r>
          </a:p>
          <a:p>
            <a:pPr>
              <a:lnSpc>
                <a:spcPct val="85000"/>
              </a:lnSpc>
            </a:pPr>
            <a:r>
              <a:rPr lang="en-US" altLang="en-US" sz="1000">
                <a:latin typeface="Courier New" panose="02070309020205020404" pitchFamily="49" charset="0"/>
              </a:rPr>
              <a:t>      etc.</a:t>
            </a:r>
          </a:p>
          <a:p>
            <a:pPr>
              <a:lnSpc>
                <a:spcPct val="85000"/>
              </a:lnSpc>
            </a:pPr>
            <a:r>
              <a:rPr lang="en-US" altLang="en-US" sz="1000">
                <a:latin typeface="Courier New" panose="02070309020205020404" pitchFamily="49" charset="0"/>
              </a:rPr>
              <a:t>      etc.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PERFORM UNTIL EndTF AND EndMF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IF TFKey NOT = MFKey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MOVE MFRec TO NFRec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WRITE NFRec</a:t>
            </a:r>
            <a:endParaRPr lang="en-US" altLang="en-US" sz="1000" b="1">
              <a:solidFill>
                <a:srgbClr val="CC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</a:t>
            </a: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READ MF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ELSE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READ TF </a:t>
            </a:r>
            <a:r>
              <a:rPr lang="en-US" altLang="en-US" sz="1000">
                <a:latin typeface="Courier New" panose="02070309020205020404" pitchFamily="49" charset="0"/>
              </a:rPr>
              <a:t>etc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READ MF </a:t>
            </a:r>
            <a:r>
              <a:rPr lang="en-US" altLang="en-US" sz="1000">
                <a:latin typeface="Courier New" panose="02070309020205020404" pitchFamily="49" charset="0"/>
              </a:rPr>
              <a:t>etc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END-IF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END-PERFORM</a:t>
            </a:r>
          </a:p>
        </p:txBody>
      </p:sp>
      <p:sp>
        <p:nvSpPr>
          <p:cNvPr id="7171" name="Rectangle 3">
            <a:extLst>
              <a:ext uri="{FF2B5EF4-FFF2-40B4-BE49-F238E27FC236}">
                <a16:creationId xmlns:a16="http://schemas.microsoft.com/office/drawing/2014/main" id="{60233CED-541A-2C3A-9F79-11739B08A3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" y="387350"/>
            <a:ext cx="766763" cy="6223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RecordB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RecordK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RecordM</a:t>
            </a:r>
          </a:p>
        </p:txBody>
      </p:sp>
      <p:sp>
        <p:nvSpPr>
          <p:cNvPr id="7172" name="Rectangle 4">
            <a:extLst>
              <a:ext uri="{FF2B5EF4-FFF2-40B4-BE49-F238E27FC236}">
                <a16:creationId xmlns:a16="http://schemas.microsoft.com/office/drawing/2014/main" id="{CBCE178B-EFC0-4981-59FF-EAE96D3436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" y="212725"/>
            <a:ext cx="912813" cy="168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Trans File (TF)</a:t>
            </a:r>
          </a:p>
        </p:txBody>
      </p:sp>
      <p:sp>
        <p:nvSpPr>
          <p:cNvPr id="7173" name="Rectangle 5">
            <a:extLst>
              <a:ext uri="{FF2B5EF4-FFF2-40B4-BE49-F238E27FC236}">
                <a16:creationId xmlns:a16="http://schemas.microsoft.com/office/drawing/2014/main" id="{C4659148-DBCE-9B6E-8173-95FEAC8102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" y="2390775"/>
            <a:ext cx="766763" cy="130175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RecordA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RecordB</a:t>
            </a:r>
            <a:endParaRPr lang="en-US" altLang="en-US" sz="1200" b="1">
              <a:latin typeface="Courier New" panose="02070309020205020404" pitchFamily="49" charset="0"/>
            </a:endParaRP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RecordG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RecordH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RecordK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RecordM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RecordN</a:t>
            </a:r>
          </a:p>
        </p:txBody>
      </p:sp>
      <p:sp>
        <p:nvSpPr>
          <p:cNvPr id="7174" name="Rectangle 6">
            <a:extLst>
              <a:ext uri="{FF2B5EF4-FFF2-40B4-BE49-F238E27FC236}">
                <a16:creationId xmlns:a16="http://schemas.microsoft.com/office/drawing/2014/main" id="{46F7CF78-34E3-6C8F-A851-9642D54462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" y="2205038"/>
            <a:ext cx="1012825" cy="19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Master File (MF</a:t>
            </a:r>
            <a:r>
              <a:rPr lang="en-US" altLang="en-US" sz="1200" b="1"/>
              <a:t>)</a:t>
            </a:r>
          </a:p>
        </p:txBody>
      </p:sp>
      <p:sp>
        <p:nvSpPr>
          <p:cNvPr id="7175" name="Rectangle 7">
            <a:extLst>
              <a:ext uri="{FF2B5EF4-FFF2-40B4-BE49-F238E27FC236}">
                <a16:creationId xmlns:a16="http://schemas.microsoft.com/office/drawing/2014/main" id="{29473300-5AB3-BECA-C3EE-DE120519F2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73500" y="387350"/>
            <a:ext cx="766763" cy="4921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/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RecordA</a:t>
            </a:r>
            <a:endParaRPr lang="en-US" altLang="en-US" sz="1200" b="1">
              <a:solidFill>
                <a:srgbClr val="CC0000"/>
              </a:solidFill>
              <a:latin typeface="Courier New" panose="02070309020205020404" pitchFamily="49" charset="0"/>
            </a:endParaRPr>
          </a:p>
          <a:p>
            <a:endParaRPr lang="en-US" altLang="en-US" sz="1200" b="1">
              <a:solidFill>
                <a:srgbClr val="CC0000"/>
              </a:solidFill>
              <a:latin typeface="Courier New" panose="02070309020205020404" pitchFamily="49" charset="0"/>
            </a:endParaRPr>
          </a:p>
        </p:txBody>
      </p:sp>
      <p:sp>
        <p:nvSpPr>
          <p:cNvPr id="7176" name="Rectangle 8">
            <a:extLst>
              <a:ext uri="{FF2B5EF4-FFF2-40B4-BE49-F238E27FC236}">
                <a16:creationId xmlns:a16="http://schemas.microsoft.com/office/drawing/2014/main" id="{6AF8F55D-7411-1FD7-9D5C-3CBB9EE356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5575" y="385763"/>
            <a:ext cx="1463675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RecordB</a:t>
            </a:r>
          </a:p>
        </p:txBody>
      </p:sp>
      <p:sp>
        <p:nvSpPr>
          <p:cNvPr id="7177" name="Rectangle 9">
            <a:extLst>
              <a:ext uri="{FF2B5EF4-FFF2-40B4-BE49-F238E27FC236}">
                <a16:creationId xmlns:a16="http://schemas.microsoft.com/office/drawing/2014/main" id="{79B6B423-D31A-BCE7-059A-F1862B7EA6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3500" y="204788"/>
            <a:ext cx="460375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TFRec</a:t>
            </a:r>
          </a:p>
        </p:txBody>
      </p:sp>
      <p:sp>
        <p:nvSpPr>
          <p:cNvPr id="7178" name="Rectangle 10">
            <a:extLst>
              <a:ext uri="{FF2B5EF4-FFF2-40B4-BE49-F238E27FC236}">
                <a16:creationId xmlns:a16="http://schemas.microsoft.com/office/drawing/2014/main" id="{A063DA75-0DAD-51A5-DE59-5C9E001398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750" y="795338"/>
            <a:ext cx="1460500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RecordB</a:t>
            </a:r>
          </a:p>
        </p:txBody>
      </p:sp>
      <p:sp>
        <p:nvSpPr>
          <p:cNvPr id="7179" name="Rectangle 11">
            <a:extLst>
              <a:ext uri="{FF2B5EF4-FFF2-40B4-BE49-F238E27FC236}">
                <a16:creationId xmlns:a16="http://schemas.microsoft.com/office/drawing/2014/main" id="{CCA781BE-5295-28CD-A589-62D769033B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623888"/>
            <a:ext cx="48895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MFRec</a:t>
            </a:r>
          </a:p>
        </p:txBody>
      </p:sp>
      <p:sp>
        <p:nvSpPr>
          <p:cNvPr id="7180" name="Rectangle 12">
            <a:extLst>
              <a:ext uri="{FF2B5EF4-FFF2-40B4-BE49-F238E27FC236}">
                <a16:creationId xmlns:a16="http://schemas.microsoft.com/office/drawing/2014/main" id="{5FA60B5B-EDC1-CA0D-13FE-DB4B3F36DC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750" y="1214438"/>
            <a:ext cx="1460500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RecordA</a:t>
            </a:r>
          </a:p>
        </p:txBody>
      </p:sp>
      <p:sp>
        <p:nvSpPr>
          <p:cNvPr id="7181" name="Rectangle 13">
            <a:extLst>
              <a:ext uri="{FF2B5EF4-FFF2-40B4-BE49-F238E27FC236}">
                <a16:creationId xmlns:a16="http://schemas.microsoft.com/office/drawing/2014/main" id="{42761E77-966A-BE47-D4AF-65CD753A67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1042988"/>
            <a:ext cx="471488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NFRec</a:t>
            </a:r>
          </a:p>
        </p:txBody>
      </p:sp>
      <p:sp>
        <p:nvSpPr>
          <p:cNvPr id="7182" name="Rectangle 14">
            <a:extLst>
              <a:ext uri="{FF2B5EF4-FFF2-40B4-BE49-F238E27FC236}">
                <a16:creationId xmlns:a16="http://schemas.microsoft.com/office/drawing/2014/main" id="{34DC1C74-2327-7D74-7320-CEB0EDCEA0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68738" y="187325"/>
            <a:ext cx="815975" cy="19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NewFile (NF</a:t>
            </a:r>
            <a:r>
              <a:rPr lang="en-US" altLang="en-US" sz="1200" b="1">
                <a:latin typeface="Times New Roman" panose="02020603050405020304" pitchFamily="18" charset="0"/>
              </a:rPr>
              <a:t>)</a:t>
            </a:r>
          </a:p>
        </p:txBody>
      </p:sp>
      <p:sp>
        <p:nvSpPr>
          <p:cNvPr id="7183" name="AutoShape 15">
            <a:extLst>
              <a:ext uri="{FF2B5EF4-FFF2-40B4-BE49-F238E27FC236}">
                <a16:creationId xmlns:a16="http://schemas.microsoft.com/office/drawing/2014/main" id="{BAF19278-7166-C2B3-0F9E-D20313003D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282575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7184" name="AutoShape 16">
            <a:extLst>
              <a:ext uri="{FF2B5EF4-FFF2-40B4-BE49-F238E27FC236}">
                <a16:creationId xmlns:a16="http://schemas.microsoft.com/office/drawing/2014/main" id="{3C3FF34B-B2F1-C301-F9A8-F0393B2D3A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63500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7185" name="AutoShape 17">
            <a:extLst>
              <a:ext uri="{FF2B5EF4-FFF2-40B4-BE49-F238E27FC236}">
                <a16:creationId xmlns:a16="http://schemas.microsoft.com/office/drawing/2014/main" id="{ABE79D39-B63C-6BCB-4C05-623565209C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87775" y="71120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7186" name="Arc 18">
            <a:extLst>
              <a:ext uri="{FF2B5EF4-FFF2-40B4-BE49-F238E27FC236}">
                <a16:creationId xmlns:a16="http://schemas.microsoft.com/office/drawing/2014/main" id="{85A15648-1296-7795-DA2D-E38C3B194C5F}"/>
              </a:ext>
            </a:extLst>
          </p:cNvPr>
          <p:cNvSpPr>
            <a:spLocks/>
          </p:cNvSpPr>
          <p:nvPr/>
        </p:nvSpPr>
        <p:spPr bwMode="auto">
          <a:xfrm>
            <a:off x="457200" y="923925"/>
            <a:ext cx="971550" cy="1695450"/>
          </a:xfrm>
          <a:custGeom>
            <a:avLst/>
            <a:gdLst>
              <a:gd name="G0" fmla="+- 21600 0 0"/>
              <a:gd name="G1" fmla="+- 21600 0 0"/>
              <a:gd name="G2" fmla="+- 21600 0 0"/>
              <a:gd name="T0" fmla="*/ 0 w 21600"/>
              <a:gd name="T1" fmla="*/ 21600 h 21600"/>
              <a:gd name="T2" fmla="*/ 21565 w 21600"/>
              <a:gd name="T3" fmla="*/ 0 h 21600"/>
              <a:gd name="T4" fmla="*/ 21600 w 21600"/>
              <a:gd name="T5" fmla="*/ 216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599"/>
                </a:moveTo>
                <a:cubicBezTo>
                  <a:pt x="0" y="9684"/>
                  <a:pt x="9649" y="19"/>
                  <a:pt x="21565" y="0"/>
                </a:cubicBezTo>
              </a:path>
              <a:path w="21600" h="21600" stroke="0" extrusionOk="0">
                <a:moveTo>
                  <a:pt x="0" y="21599"/>
                </a:moveTo>
                <a:cubicBezTo>
                  <a:pt x="0" y="9684"/>
                  <a:pt x="9649" y="19"/>
                  <a:pt x="21565" y="0"/>
                </a:cubicBezTo>
                <a:lnTo>
                  <a:pt x="21600" y="21600"/>
                </a:lnTo>
                <a:close/>
              </a:path>
            </a:pathLst>
          </a:custGeom>
          <a:noFill/>
          <a:ln w="12700" cap="rnd">
            <a:solidFill>
              <a:srgbClr val="CC0000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6C8875FE-4131-EDA2-19E8-FE0689A8DE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5238" y="92075"/>
            <a:ext cx="2366962" cy="3597275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38100" tIns="19050" rIns="38100" bIns="19050"/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FILE SECTION.</a:t>
            </a: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PROCEDURE DIVISION.</a:t>
            </a:r>
          </a:p>
          <a:p>
            <a:pPr>
              <a:lnSpc>
                <a:spcPct val="85000"/>
              </a:lnSpc>
            </a:pPr>
            <a:r>
              <a:rPr lang="en-US" altLang="en-US" sz="1000">
                <a:latin typeface="Courier New" panose="02070309020205020404" pitchFamily="49" charset="0"/>
              </a:rPr>
              <a:t>      etc.</a:t>
            </a:r>
          </a:p>
          <a:p>
            <a:pPr>
              <a:lnSpc>
                <a:spcPct val="85000"/>
              </a:lnSpc>
            </a:pPr>
            <a:r>
              <a:rPr lang="en-US" altLang="en-US" sz="1000">
                <a:latin typeface="Courier New" panose="02070309020205020404" pitchFamily="49" charset="0"/>
              </a:rPr>
              <a:t>      etc.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PERFORM UNTIL EndTF AND EndMF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IF TFKey NOT = MFKey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MOVE MFRec TO NFRec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WRITE NFRec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READ MF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   ELSE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     READ TF </a:t>
            </a:r>
            <a:r>
              <a:rPr lang="en-US" altLang="en-US" sz="1000">
                <a:solidFill>
                  <a:srgbClr val="CC0000"/>
                </a:solidFill>
                <a:latin typeface="Courier New" panose="02070309020205020404" pitchFamily="49" charset="0"/>
              </a:rPr>
              <a:t>etc</a:t>
            </a:r>
            <a:endParaRPr lang="en-US" altLang="en-US" sz="1000" b="1">
              <a:solidFill>
                <a:srgbClr val="CC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03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     READ MF </a:t>
            </a:r>
            <a:r>
              <a:rPr lang="en-US" altLang="en-US" sz="1000">
                <a:solidFill>
                  <a:srgbClr val="CC0000"/>
                </a:solidFill>
                <a:latin typeface="Courier New" panose="02070309020205020404" pitchFamily="49" charset="0"/>
              </a:rPr>
              <a:t>etc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END-IF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END-PERFORM</a:t>
            </a:r>
          </a:p>
        </p:txBody>
      </p:sp>
      <p:sp>
        <p:nvSpPr>
          <p:cNvPr id="8195" name="Rectangle 3">
            <a:extLst>
              <a:ext uri="{FF2B5EF4-FFF2-40B4-BE49-F238E27FC236}">
                <a16:creationId xmlns:a16="http://schemas.microsoft.com/office/drawing/2014/main" id="{82B9D542-6376-26BA-2E67-CCB054093F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" y="387350"/>
            <a:ext cx="766763" cy="6223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RecordB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RecordK</a:t>
            </a:r>
            <a:endParaRPr lang="en-US" altLang="en-US" sz="1200" b="1">
              <a:latin typeface="Courier New" panose="02070309020205020404" pitchFamily="49" charset="0"/>
            </a:endParaRP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RecordM</a:t>
            </a:r>
          </a:p>
        </p:txBody>
      </p:sp>
      <p:sp>
        <p:nvSpPr>
          <p:cNvPr id="8196" name="Rectangle 4">
            <a:extLst>
              <a:ext uri="{FF2B5EF4-FFF2-40B4-BE49-F238E27FC236}">
                <a16:creationId xmlns:a16="http://schemas.microsoft.com/office/drawing/2014/main" id="{0F3F1403-E82E-6C32-8124-1911DDA563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" y="212725"/>
            <a:ext cx="912813" cy="168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Trans File (TF)</a:t>
            </a:r>
          </a:p>
        </p:txBody>
      </p:sp>
      <p:sp>
        <p:nvSpPr>
          <p:cNvPr id="8197" name="Rectangle 5">
            <a:extLst>
              <a:ext uri="{FF2B5EF4-FFF2-40B4-BE49-F238E27FC236}">
                <a16:creationId xmlns:a16="http://schemas.microsoft.com/office/drawing/2014/main" id="{001CB360-80DF-24F4-1771-2F11A6F267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" y="2390775"/>
            <a:ext cx="766763" cy="130175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RecordA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RecordB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RecordG</a:t>
            </a:r>
            <a:endParaRPr lang="en-US" altLang="en-US" sz="1200" b="1">
              <a:latin typeface="Courier New" panose="02070309020205020404" pitchFamily="49" charset="0"/>
            </a:endParaRP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RecordH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RecordK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RecordM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RecordN</a:t>
            </a:r>
          </a:p>
        </p:txBody>
      </p:sp>
      <p:sp>
        <p:nvSpPr>
          <p:cNvPr id="8198" name="Rectangle 6">
            <a:extLst>
              <a:ext uri="{FF2B5EF4-FFF2-40B4-BE49-F238E27FC236}">
                <a16:creationId xmlns:a16="http://schemas.microsoft.com/office/drawing/2014/main" id="{35488B67-E7FC-9D5F-0F27-AED5751661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" y="2205038"/>
            <a:ext cx="1012825" cy="19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Master File (MF</a:t>
            </a:r>
            <a:r>
              <a:rPr lang="en-US" altLang="en-US" sz="1200" b="1"/>
              <a:t>)</a:t>
            </a:r>
          </a:p>
        </p:txBody>
      </p:sp>
      <p:sp>
        <p:nvSpPr>
          <p:cNvPr id="8199" name="Rectangle 7">
            <a:extLst>
              <a:ext uri="{FF2B5EF4-FFF2-40B4-BE49-F238E27FC236}">
                <a16:creationId xmlns:a16="http://schemas.microsoft.com/office/drawing/2014/main" id="{C6AD8B6D-295A-0243-19E3-5BEAD62B7E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73500" y="387350"/>
            <a:ext cx="766763" cy="4921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/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RecordA</a:t>
            </a:r>
            <a:endParaRPr lang="en-US" altLang="en-US" sz="1200" b="1">
              <a:solidFill>
                <a:srgbClr val="CC0000"/>
              </a:solidFill>
              <a:latin typeface="Courier New" panose="02070309020205020404" pitchFamily="49" charset="0"/>
            </a:endParaRPr>
          </a:p>
          <a:p>
            <a:endParaRPr lang="en-US" altLang="en-US" sz="1200" b="1">
              <a:solidFill>
                <a:srgbClr val="CC0000"/>
              </a:solidFill>
              <a:latin typeface="Courier New" panose="02070309020205020404" pitchFamily="49" charset="0"/>
            </a:endParaRPr>
          </a:p>
        </p:txBody>
      </p:sp>
      <p:sp>
        <p:nvSpPr>
          <p:cNvPr id="8200" name="Rectangle 8">
            <a:extLst>
              <a:ext uri="{FF2B5EF4-FFF2-40B4-BE49-F238E27FC236}">
                <a16:creationId xmlns:a16="http://schemas.microsoft.com/office/drawing/2014/main" id="{30C1B038-E6FB-C9B8-45F8-B220E93DB0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5575" y="385763"/>
            <a:ext cx="1463675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RecordK</a:t>
            </a:r>
          </a:p>
        </p:txBody>
      </p:sp>
      <p:sp>
        <p:nvSpPr>
          <p:cNvPr id="8201" name="Rectangle 9">
            <a:extLst>
              <a:ext uri="{FF2B5EF4-FFF2-40B4-BE49-F238E27FC236}">
                <a16:creationId xmlns:a16="http://schemas.microsoft.com/office/drawing/2014/main" id="{8CBB52C6-9CFC-A2D1-FF1E-7F22EE3E35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3500" y="204788"/>
            <a:ext cx="460375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TFRec</a:t>
            </a:r>
          </a:p>
        </p:txBody>
      </p:sp>
      <p:sp>
        <p:nvSpPr>
          <p:cNvPr id="8202" name="Rectangle 10">
            <a:extLst>
              <a:ext uri="{FF2B5EF4-FFF2-40B4-BE49-F238E27FC236}">
                <a16:creationId xmlns:a16="http://schemas.microsoft.com/office/drawing/2014/main" id="{A6222C24-CC5A-B8BA-D7B9-A2404CB4D5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750" y="795338"/>
            <a:ext cx="1460500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RecordG</a:t>
            </a:r>
          </a:p>
        </p:txBody>
      </p:sp>
      <p:sp>
        <p:nvSpPr>
          <p:cNvPr id="8203" name="Rectangle 11">
            <a:extLst>
              <a:ext uri="{FF2B5EF4-FFF2-40B4-BE49-F238E27FC236}">
                <a16:creationId xmlns:a16="http://schemas.microsoft.com/office/drawing/2014/main" id="{AD357D84-26DD-F082-6436-524D3F15BF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623888"/>
            <a:ext cx="48895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MFRec</a:t>
            </a:r>
          </a:p>
        </p:txBody>
      </p:sp>
      <p:sp>
        <p:nvSpPr>
          <p:cNvPr id="8204" name="Rectangle 12">
            <a:extLst>
              <a:ext uri="{FF2B5EF4-FFF2-40B4-BE49-F238E27FC236}">
                <a16:creationId xmlns:a16="http://schemas.microsoft.com/office/drawing/2014/main" id="{9DA99BC9-92F6-6A6E-BFFB-605A72E944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750" y="1214438"/>
            <a:ext cx="1460500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RecordA</a:t>
            </a:r>
          </a:p>
        </p:txBody>
      </p:sp>
      <p:sp>
        <p:nvSpPr>
          <p:cNvPr id="8205" name="Rectangle 13">
            <a:extLst>
              <a:ext uri="{FF2B5EF4-FFF2-40B4-BE49-F238E27FC236}">
                <a16:creationId xmlns:a16="http://schemas.microsoft.com/office/drawing/2014/main" id="{11A42D0C-2A29-DC84-EB34-93F6004902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1042988"/>
            <a:ext cx="471488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NFRec</a:t>
            </a:r>
          </a:p>
        </p:txBody>
      </p:sp>
      <p:sp>
        <p:nvSpPr>
          <p:cNvPr id="8206" name="Rectangle 14">
            <a:extLst>
              <a:ext uri="{FF2B5EF4-FFF2-40B4-BE49-F238E27FC236}">
                <a16:creationId xmlns:a16="http://schemas.microsoft.com/office/drawing/2014/main" id="{B561CCA0-334D-5AAE-B6C6-09CB8ADA51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68738" y="187325"/>
            <a:ext cx="815975" cy="19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NewFile (NF</a:t>
            </a:r>
            <a:r>
              <a:rPr lang="en-US" altLang="en-US" sz="1200" b="1">
                <a:latin typeface="Times New Roman" panose="02020603050405020304" pitchFamily="18" charset="0"/>
              </a:rPr>
              <a:t>)</a:t>
            </a:r>
          </a:p>
        </p:txBody>
      </p:sp>
      <p:sp>
        <p:nvSpPr>
          <p:cNvPr id="8207" name="AutoShape 15">
            <a:extLst>
              <a:ext uri="{FF2B5EF4-FFF2-40B4-BE49-F238E27FC236}">
                <a16:creationId xmlns:a16="http://schemas.microsoft.com/office/drawing/2014/main" id="{E61C658C-17C1-9D50-6669-8C33EBBC55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297815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8208" name="AutoShape 16">
            <a:extLst>
              <a:ext uri="{FF2B5EF4-FFF2-40B4-BE49-F238E27FC236}">
                <a16:creationId xmlns:a16="http://schemas.microsoft.com/office/drawing/2014/main" id="{0F65E0D7-D485-5A2E-F6F9-008B97B174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80645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8209" name="AutoShape 17">
            <a:extLst>
              <a:ext uri="{FF2B5EF4-FFF2-40B4-BE49-F238E27FC236}">
                <a16:creationId xmlns:a16="http://schemas.microsoft.com/office/drawing/2014/main" id="{C6B20F0E-DC25-3AAA-EE63-5D584E1323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87775" y="71120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8210" name="Line 18">
            <a:extLst>
              <a:ext uri="{FF2B5EF4-FFF2-40B4-BE49-F238E27FC236}">
                <a16:creationId xmlns:a16="http://schemas.microsoft.com/office/drawing/2014/main" id="{A786660B-FFDF-4216-DDEE-08258BC0AE9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38200" y="485775"/>
            <a:ext cx="533400" cy="190500"/>
          </a:xfrm>
          <a:prstGeom prst="line">
            <a:avLst/>
          </a:prstGeom>
          <a:noFill/>
          <a:ln w="12700">
            <a:solidFill>
              <a:srgbClr val="CC0000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1" name="Arc 19">
            <a:extLst>
              <a:ext uri="{FF2B5EF4-FFF2-40B4-BE49-F238E27FC236}">
                <a16:creationId xmlns:a16="http://schemas.microsoft.com/office/drawing/2014/main" id="{67EF530B-958D-8590-8E6A-311664C324BD}"/>
              </a:ext>
            </a:extLst>
          </p:cNvPr>
          <p:cNvSpPr>
            <a:spLocks/>
          </p:cNvSpPr>
          <p:nvPr/>
        </p:nvSpPr>
        <p:spPr bwMode="auto">
          <a:xfrm>
            <a:off x="457200" y="923925"/>
            <a:ext cx="971550" cy="1924050"/>
          </a:xfrm>
          <a:custGeom>
            <a:avLst/>
            <a:gdLst>
              <a:gd name="G0" fmla="+- 21600 0 0"/>
              <a:gd name="G1" fmla="+- 21600 0 0"/>
              <a:gd name="G2" fmla="+- 21600 0 0"/>
              <a:gd name="T0" fmla="*/ 0 w 21600"/>
              <a:gd name="T1" fmla="*/ 21600 h 21600"/>
              <a:gd name="T2" fmla="*/ 21565 w 21600"/>
              <a:gd name="T3" fmla="*/ 0 h 21600"/>
              <a:gd name="T4" fmla="*/ 21600 w 21600"/>
              <a:gd name="T5" fmla="*/ 216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599"/>
                </a:moveTo>
                <a:cubicBezTo>
                  <a:pt x="0" y="9684"/>
                  <a:pt x="9649" y="19"/>
                  <a:pt x="21565" y="0"/>
                </a:cubicBezTo>
              </a:path>
              <a:path w="21600" h="21600" stroke="0" extrusionOk="0">
                <a:moveTo>
                  <a:pt x="0" y="21599"/>
                </a:moveTo>
                <a:cubicBezTo>
                  <a:pt x="0" y="9684"/>
                  <a:pt x="9649" y="19"/>
                  <a:pt x="21565" y="0"/>
                </a:cubicBezTo>
                <a:lnTo>
                  <a:pt x="21600" y="21600"/>
                </a:lnTo>
                <a:close/>
              </a:path>
            </a:pathLst>
          </a:custGeom>
          <a:noFill/>
          <a:ln w="12700" cap="rnd">
            <a:solidFill>
              <a:srgbClr val="CC0000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>
            <a:extLst>
              <a:ext uri="{FF2B5EF4-FFF2-40B4-BE49-F238E27FC236}">
                <a16:creationId xmlns:a16="http://schemas.microsoft.com/office/drawing/2014/main" id="{176AE32E-41BE-EB09-6917-9897E11251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5238" y="92075"/>
            <a:ext cx="2366962" cy="3597275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38100" tIns="19050" rIns="38100" bIns="19050"/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FILE SECTION.</a:t>
            </a: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PROCEDURE DIVISION.</a:t>
            </a:r>
          </a:p>
          <a:p>
            <a:pPr>
              <a:lnSpc>
                <a:spcPct val="85000"/>
              </a:lnSpc>
            </a:pPr>
            <a:r>
              <a:rPr lang="en-US" altLang="en-US" sz="1000">
                <a:latin typeface="Courier New" panose="02070309020205020404" pitchFamily="49" charset="0"/>
              </a:rPr>
              <a:t>      etc.</a:t>
            </a:r>
          </a:p>
          <a:p>
            <a:pPr>
              <a:lnSpc>
                <a:spcPct val="85000"/>
              </a:lnSpc>
            </a:pPr>
            <a:r>
              <a:rPr lang="en-US" altLang="en-US" sz="1000">
                <a:latin typeface="Courier New" panose="02070309020205020404" pitchFamily="49" charset="0"/>
              </a:rPr>
              <a:t>      etc.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PERFORM UNTIL EndTF AND EndMF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  IF TFKey NOT = MFKey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     MOVE MFRec TO NFRec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     WRITE NFRec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READ MF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ELSE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READ TF </a:t>
            </a:r>
            <a:r>
              <a:rPr lang="en-US" altLang="en-US" sz="1000">
                <a:latin typeface="Courier New" panose="02070309020205020404" pitchFamily="49" charset="0"/>
              </a:rPr>
              <a:t>etc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READ MF </a:t>
            </a:r>
            <a:r>
              <a:rPr lang="en-US" altLang="en-US" sz="1000">
                <a:latin typeface="Courier New" panose="02070309020205020404" pitchFamily="49" charset="0"/>
              </a:rPr>
              <a:t>etc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END-IF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END-PERFORM</a:t>
            </a:r>
          </a:p>
        </p:txBody>
      </p:sp>
      <p:sp>
        <p:nvSpPr>
          <p:cNvPr id="9219" name="Rectangle 3">
            <a:extLst>
              <a:ext uri="{FF2B5EF4-FFF2-40B4-BE49-F238E27FC236}">
                <a16:creationId xmlns:a16="http://schemas.microsoft.com/office/drawing/2014/main" id="{A15AA70F-29C3-F705-0FB4-639C6B1B09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" y="387350"/>
            <a:ext cx="766763" cy="6223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RecordB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RecordK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RecordM</a:t>
            </a:r>
          </a:p>
        </p:txBody>
      </p:sp>
      <p:sp>
        <p:nvSpPr>
          <p:cNvPr id="9220" name="Rectangle 4">
            <a:extLst>
              <a:ext uri="{FF2B5EF4-FFF2-40B4-BE49-F238E27FC236}">
                <a16:creationId xmlns:a16="http://schemas.microsoft.com/office/drawing/2014/main" id="{0C2F6D94-561D-7048-37E1-17F5ED9A12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" y="212725"/>
            <a:ext cx="912813" cy="168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Trans File (TF)</a:t>
            </a:r>
          </a:p>
        </p:txBody>
      </p:sp>
      <p:sp>
        <p:nvSpPr>
          <p:cNvPr id="9221" name="Rectangle 5">
            <a:extLst>
              <a:ext uri="{FF2B5EF4-FFF2-40B4-BE49-F238E27FC236}">
                <a16:creationId xmlns:a16="http://schemas.microsoft.com/office/drawing/2014/main" id="{1CD186A4-0AEF-7A97-2C60-9F2F7569B0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" y="2390775"/>
            <a:ext cx="766763" cy="130175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RecordA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RecordB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RecordG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RecordH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RecordK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RecordM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RecordN</a:t>
            </a:r>
          </a:p>
        </p:txBody>
      </p:sp>
      <p:sp>
        <p:nvSpPr>
          <p:cNvPr id="9222" name="Rectangle 6">
            <a:extLst>
              <a:ext uri="{FF2B5EF4-FFF2-40B4-BE49-F238E27FC236}">
                <a16:creationId xmlns:a16="http://schemas.microsoft.com/office/drawing/2014/main" id="{FC4E32D6-D301-5C0A-6655-F6098446BB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" y="2205038"/>
            <a:ext cx="1012825" cy="19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Master File (MF</a:t>
            </a:r>
            <a:r>
              <a:rPr lang="en-US" altLang="en-US" sz="1200" b="1"/>
              <a:t>)</a:t>
            </a:r>
          </a:p>
        </p:txBody>
      </p:sp>
      <p:sp>
        <p:nvSpPr>
          <p:cNvPr id="9223" name="Rectangle 7">
            <a:extLst>
              <a:ext uri="{FF2B5EF4-FFF2-40B4-BE49-F238E27FC236}">
                <a16:creationId xmlns:a16="http://schemas.microsoft.com/office/drawing/2014/main" id="{B8A05602-8073-B147-FFCA-9EA210407A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73500" y="387350"/>
            <a:ext cx="766763" cy="674688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/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RecordA</a:t>
            </a:r>
            <a:endParaRPr lang="en-US" altLang="en-US" sz="1200" b="1">
              <a:solidFill>
                <a:srgbClr val="CC0000"/>
              </a:solidFill>
              <a:latin typeface="Courier New" panose="02070309020205020404" pitchFamily="49" charset="0"/>
            </a:endParaRPr>
          </a:p>
          <a:p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RecordG</a:t>
            </a:r>
          </a:p>
          <a:p>
            <a:endParaRPr lang="en-US" altLang="en-US" sz="1200" b="1">
              <a:solidFill>
                <a:srgbClr val="CC0000"/>
              </a:solidFill>
              <a:latin typeface="Courier New" panose="02070309020205020404" pitchFamily="49" charset="0"/>
            </a:endParaRPr>
          </a:p>
        </p:txBody>
      </p:sp>
      <p:sp>
        <p:nvSpPr>
          <p:cNvPr id="9224" name="Rectangle 8">
            <a:extLst>
              <a:ext uri="{FF2B5EF4-FFF2-40B4-BE49-F238E27FC236}">
                <a16:creationId xmlns:a16="http://schemas.microsoft.com/office/drawing/2014/main" id="{6F9A074A-328A-16D1-0716-39032C1DD0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5575" y="385763"/>
            <a:ext cx="1463675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RecordK</a:t>
            </a:r>
          </a:p>
        </p:txBody>
      </p:sp>
      <p:sp>
        <p:nvSpPr>
          <p:cNvPr id="9225" name="Rectangle 9">
            <a:extLst>
              <a:ext uri="{FF2B5EF4-FFF2-40B4-BE49-F238E27FC236}">
                <a16:creationId xmlns:a16="http://schemas.microsoft.com/office/drawing/2014/main" id="{9894A26D-C0CE-7640-57F6-48FF7CAD94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3500" y="204788"/>
            <a:ext cx="460375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TFRec</a:t>
            </a:r>
          </a:p>
        </p:txBody>
      </p:sp>
      <p:sp>
        <p:nvSpPr>
          <p:cNvPr id="9226" name="Rectangle 10">
            <a:extLst>
              <a:ext uri="{FF2B5EF4-FFF2-40B4-BE49-F238E27FC236}">
                <a16:creationId xmlns:a16="http://schemas.microsoft.com/office/drawing/2014/main" id="{0FACE716-EBA8-385D-D0A8-C618EBDA1F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750" y="795338"/>
            <a:ext cx="1460500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RecordG</a:t>
            </a:r>
          </a:p>
        </p:txBody>
      </p:sp>
      <p:sp>
        <p:nvSpPr>
          <p:cNvPr id="9227" name="Rectangle 11">
            <a:extLst>
              <a:ext uri="{FF2B5EF4-FFF2-40B4-BE49-F238E27FC236}">
                <a16:creationId xmlns:a16="http://schemas.microsoft.com/office/drawing/2014/main" id="{36DC96A8-B5F8-FF8C-F120-281D061533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623888"/>
            <a:ext cx="48895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MFRec</a:t>
            </a:r>
          </a:p>
        </p:txBody>
      </p:sp>
      <p:sp>
        <p:nvSpPr>
          <p:cNvPr id="9228" name="Rectangle 12">
            <a:extLst>
              <a:ext uri="{FF2B5EF4-FFF2-40B4-BE49-F238E27FC236}">
                <a16:creationId xmlns:a16="http://schemas.microsoft.com/office/drawing/2014/main" id="{3FB08985-0295-17E6-7870-CF917A5ABB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750" y="1214438"/>
            <a:ext cx="1460500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RecordG</a:t>
            </a:r>
          </a:p>
        </p:txBody>
      </p:sp>
      <p:sp>
        <p:nvSpPr>
          <p:cNvPr id="9229" name="Rectangle 13">
            <a:extLst>
              <a:ext uri="{FF2B5EF4-FFF2-40B4-BE49-F238E27FC236}">
                <a16:creationId xmlns:a16="http://schemas.microsoft.com/office/drawing/2014/main" id="{B24E5E96-78D2-F96B-DE16-0DCEED3053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1042988"/>
            <a:ext cx="471488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NFRec</a:t>
            </a:r>
          </a:p>
        </p:txBody>
      </p:sp>
      <p:sp>
        <p:nvSpPr>
          <p:cNvPr id="9230" name="Rectangle 14">
            <a:extLst>
              <a:ext uri="{FF2B5EF4-FFF2-40B4-BE49-F238E27FC236}">
                <a16:creationId xmlns:a16="http://schemas.microsoft.com/office/drawing/2014/main" id="{B423FAA9-B42D-ACFF-9CBE-18B409AA39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68738" y="187325"/>
            <a:ext cx="815975" cy="19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NewFile (NF</a:t>
            </a:r>
            <a:r>
              <a:rPr lang="en-US" altLang="en-US" sz="1200" b="1">
                <a:latin typeface="Times New Roman" panose="02020603050405020304" pitchFamily="18" charset="0"/>
              </a:rPr>
              <a:t>)</a:t>
            </a:r>
          </a:p>
        </p:txBody>
      </p:sp>
      <p:sp>
        <p:nvSpPr>
          <p:cNvPr id="9231" name="AutoShape 15">
            <a:extLst>
              <a:ext uri="{FF2B5EF4-FFF2-40B4-BE49-F238E27FC236}">
                <a16:creationId xmlns:a16="http://schemas.microsoft.com/office/drawing/2014/main" id="{F8D1D124-41D8-A4EA-80ED-B9461179B8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297815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232" name="AutoShape 16">
            <a:extLst>
              <a:ext uri="{FF2B5EF4-FFF2-40B4-BE49-F238E27FC236}">
                <a16:creationId xmlns:a16="http://schemas.microsoft.com/office/drawing/2014/main" id="{1DC5A2F1-7F94-45DB-D9CA-7B82D43532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80645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233" name="AutoShape 17">
            <a:extLst>
              <a:ext uri="{FF2B5EF4-FFF2-40B4-BE49-F238E27FC236}">
                <a16:creationId xmlns:a16="http://schemas.microsoft.com/office/drawing/2014/main" id="{BA62791A-3299-91DF-EA21-1B8034C5FE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87775" y="84455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234" name="Arc 18">
            <a:extLst>
              <a:ext uri="{FF2B5EF4-FFF2-40B4-BE49-F238E27FC236}">
                <a16:creationId xmlns:a16="http://schemas.microsoft.com/office/drawing/2014/main" id="{0E491018-239A-2842-9BF7-F2C6FECC6623}"/>
              </a:ext>
            </a:extLst>
          </p:cNvPr>
          <p:cNvSpPr>
            <a:spLocks/>
          </p:cNvSpPr>
          <p:nvPr/>
        </p:nvSpPr>
        <p:spPr bwMode="auto">
          <a:xfrm>
            <a:off x="2141538" y="915988"/>
            <a:ext cx="325437" cy="400050"/>
          </a:xfrm>
          <a:custGeom>
            <a:avLst/>
            <a:gdLst>
              <a:gd name="G0" fmla="+- 106 0 0"/>
              <a:gd name="G1" fmla="+- 21600 0 0"/>
              <a:gd name="G2" fmla="+- 21600 0 0"/>
              <a:gd name="T0" fmla="*/ 0 w 21706"/>
              <a:gd name="T1" fmla="*/ 0 h 43200"/>
              <a:gd name="T2" fmla="*/ 106 w 21706"/>
              <a:gd name="T3" fmla="*/ 43200 h 43200"/>
              <a:gd name="T4" fmla="*/ 106 w 21706"/>
              <a:gd name="T5" fmla="*/ 21600 h 432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706" h="43200" fill="none" extrusionOk="0">
                <a:moveTo>
                  <a:pt x="0" y="0"/>
                </a:moveTo>
                <a:cubicBezTo>
                  <a:pt x="35" y="0"/>
                  <a:pt x="70" y="0"/>
                  <a:pt x="106" y="0"/>
                </a:cubicBezTo>
                <a:cubicBezTo>
                  <a:pt x="12035" y="0"/>
                  <a:pt x="21706" y="9670"/>
                  <a:pt x="21706" y="21600"/>
                </a:cubicBezTo>
                <a:cubicBezTo>
                  <a:pt x="21706" y="33529"/>
                  <a:pt x="12035" y="43200"/>
                  <a:pt x="105" y="43200"/>
                </a:cubicBezTo>
              </a:path>
              <a:path w="21706" h="43200" stroke="0" extrusionOk="0">
                <a:moveTo>
                  <a:pt x="0" y="0"/>
                </a:moveTo>
                <a:cubicBezTo>
                  <a:pt x="35" y="0"/>
                  <a:pt x="70" y="0"/>
                  <a:pt x="106" y="0"/>
                </a:cubicBezTo>
                <a:cubicBezTo>
                  <a:pt x="12035" y="0"/>
                  <a:pt x="21706" y="9670"/>
                  <a:pt x="21706" y="21600"/>
                </a:cubicBezTo>
                <a:cubicBezTo>
                  <a:pt x="21706" y="33529"/>
                  <a:pt x="12035" y="43200"/>
                  <a:pt x="105" y="43200"/>
                </a:cubicBezTo>
                <a:lnTo>
                  <a:pt x="106" y="21600"/>
                </a:lnTo>
                <a:close/>
              </a:path>
            </a:pathLst>
          </a:custGeom>
          <a:noFill/>
          <a:ln w="12700" cap="rnd">
            <a:solidFill>
              <a:srgbClr val="CC0000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5" name="Arc 19">
            <a:extLst>
              <a:ext uri="{FF2B5EF4-FFF2-40B4-BE49-F238E27FC236}">
                <a16:creationId xmlns:a16="http://schemas.microsoft.com/office/drawing/2014/main" id="{5470B8BE-AF45-9E06-8C46-D629FAC2CBAD}"/>
              </a:ext>
            </a:extLst>
          </p:cNvPr>
          <p:cNvSpPr>
            <a:spLocks/>
          </p:cNvSpPr>
          <p:nvPr/>
        </p:nvSpPr>
        <p:spPr bwMode="auto">
          <a:xfrm>
            <a:off x="2143125" y="798513"/>
            <a:ext cx="2076450" cy="592137"/>
          </a:xfrm>
          <a:custGeom>
            <a:avLst/>
            <a:gdLst>
              <a:gd name="G0" fmla="+- 0 0 0"/>
              <a:gd name="G1" fmla="+- 2379 0 0"/>
              <a:gd name="G2" fmla="+- 21600 0 0"/>
              <a:gd name="T0" fmla="*/ 21469 w 21600"/>
              <a:gd name="T1" fmla="*/ 0 h 23979"/>
              <a:gd name="T2" fmla="*/ 0 w 21600"/>
              <a:gd name="T3" fmla="*/ 23979 h 23979"/>
              <a:gd name="T4" fmla="*/ 0 w 21600"/>
              <a:gd name="T5" fmla="*/ 2379 h 239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23979" fill="none" extrusionOk="0">
                <a:moveTo>
                  <a:pt x="21468" y="0"/>
                </a:moveTo>
                <a:cubicBezTo>
                  <a:pt x="21556" y="790"/>
                  <a:pt x="21600" y="1584"/>
                  <a:pt x="21600" y="2379"/>
                </a:cubicBezTo>
                <a:cubicBezTo>
                  <a:pt x="21600" y="14308"/>
                  <a:pt x="11929" y="23979"/>
                  <a:pt x="-1" y="23979"/>
                </a:cubicBezTo>
              </a:path>
              <a:path w="21600" h="23979" stroke="0" extrusionOk="0">
                <a:moveTo>
                  <a:pt x="21468" y="0"/>
                </a:moveTo>
                <a:cubicBezTo>
                  <a:pt x="21556" y="790"/>
                  <a:pt x="21600" y="1584"/>
                  <a:pt x="21600" y="2379"/>
                </a:cubicBezTo>
                <a:cubicBezTo>
                  <a:pt x="21600" y="14308"/>
                  <a:pt x="11929" y="23979"/>
                  <a:pt x="-1" y="23979"/>
                </a:cubicBezTo>
                <a:lnTo>
                  <a:pt x="0" y="2379"/>
                </a:lnTo>
                <a:close/>
              </a:path>
            </a:pathLst>
          </a:custGeom>
          <a:noFill/>
          <a:ln w="12700" cap="rnd">
            <a:solidFill>
              <a:srgbClr val="CC0000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>
            <a:extLst>
              <a:ext uri="{FF2B5EF4-FFF2-40B4-BE49-F238E27FC236}">
                <a16:creationId xmlns:a16="http://schemas.microsoft.com/office/drawing/2014/main" id="{70F043DA-3388-5DFF-E94D-A0858AB544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5238" y="92075"/>
            <a:ext cx="2366962" cy="3597275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38100" tIns="19050" rIns="38100" bIns="19050"/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FILE SECTION.</a:t>
            </a: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PROCEDURE DIVISION.</a:t>
            </a:r>
          </a:p>
          <a:p>
            <a:pPr>
              <a:lnSpc>
                <a:spcPct val="85000"/>
              </a:lnSpc>
            </a:pPr>
            <a:r>
              <a:rPr lang="en-US" altLang="en-US" sz="1000">
                <a:latin typeface="Courier New" panose="02070309020205020404" pitchFamily="49" charset="0"/>
              </a:rPr>
              <a:t>      etc.</a:t>
            </a:r>
          </a:p>
          <a:p>
            <a:pPr>
              <a:lnSpc>
                <a:spcPct val="85000"/>
              </a:lnSpc>
            </a:pPr>
            <a:r>
              <a:rPr lang="en-US" altLang="en-US" sz="1000">
                <a:latin typeface="Courier New" panose="02070309020205020404" pitchFamily="49" charset="0"/>
              </a:rPr>
              <a:t>      etc.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PERFORM UNTIL EndTF AND EndMF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IF TFKey NOT = MFKey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MOVE MFRec TO NFRec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WRITE NFRec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     READ MF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ELSE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READ TF </a:t>
            </a:r>
            <a:r>
              <a:rPr lang="en-US" altLang="en-US" sz="1000">
                <a:latin typeface="Courier New" panose="02070309020205020404" pitchFamily="49" charset="0"/>
              </a:rPr>
              <a:t>etc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READ MF </a:t>
            </a:r>
            <a:r>
              <a:rPr lang="en-US" altLang="en-US" sz="1000">
                <a:latin typeface="Courier New" panose="02070309020205020404" pitchFamily="49" charset="0"/>
              </a:rPr>
              <a:t>etc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END-IF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END-PERFORM</a:t>
            </a:r>
          </a:p>
        </p:txBody>
      </p:sp>
      <p:sp>
        <p:nvSpPr>
          <p:cNvPr id="10243" name="Rectangle 3">
            <a:extLst>
              <a:ext uri="{FF2B5EF4-FFF2-40B4-BE49-F238E27FC236}">
                <a16:creationId xmlns:a16="http://schemas.microsoft.com/office/drawing/2014/main" id="{806333E4-A68D-855A-60AC-DB8C373117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" y="387350"/>
            <a:ext cx="766763" cy="6223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RecordB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RecordK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RecordM</a:t>
            </a:r>
          </a:p>
        </p:txBody>
      </p:sp>
      <p:sp>
        <p:nvSpPr>
          <p:cNvPr id="10244" name="Rectangle 4">
            <a:extLst>
              <a:ext uri="{FF2B5EF4-FFF2-40B4-BE49-F238E27FC236}">
                <a16:creationId xmlns:a16="http://schemas.microsoft.com/office/drawing/2014/main" id="{26EE30BE-68BC-59BB-2B77-2C308652BA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" y="212725"/>
            <a:ext cx="912813" cy="168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Trans File (TF)</a:t>
            </a:r>
          </a:p>
        </p:txBody>
      </p:sp>
      <p:sp>
        <p:nvSpPr>
          <p:cNvPr id="10245" name="Rectangle 5">
            <a:extLst>
              <a:ext uri="{FF2B5EF4-FFF2-40B4-BE49-F238E27FC236}">
                <a16:creationId xmlns:a16="http://schemas.microsoft.com/office/drawing/2014/main" id="{9B0E27E0-95D1-CD9E-9C30-64A4EC3935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" y="2390775"/>
            <a:ext cx="766763" cy="130175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RecordA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RecordB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RecordG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RecordH</a:t>
            </a:r>
            <a:endParaRPr lang="en-US" altLang="en-US" sz="1200" b="1">
              <a:latin typeface="Courier New" panose="02070309020205020404" pitchFamily="49" charset="0"/>
            </a:endParaRP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RecordK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RecordM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RecordN</a:t>
            </a:r>
          </a:p>
        </p:txBody>
      </p:sp>
      <p:sp>
        <p:nvSpPr>
          <p:cNvPr id="10246" name="Rectangle 6">
            <a:extLst>
              <a:ext uri="{FF2B5EF4-FFF2-40B4-BE49-F238E27FC236}">
                <a16:creationId xmlns:a16="http://schemas.microsoft.com/office/drawing/2014/main" id="{A9267C6B-6475-0050-DF13-162127CE88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" y="2205038"/>
            <a:ext cx="1012825" cy="19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Master File (MF</a:t>
            </a:r>
            <a:r>
              <a:rPr lang="en-US" altLang="en-US" sz="1200" b="1"/>
              <a:t>)</a:t>
            </a:r>
          </a:p>
        </p:txBody>
      </p:sp>
      <p:sp>
        <p:nvSpPr>
          <p:cNvPr id="10247" name="Rectangle 7">
            <a:extLst>
              <a:ext uri="{FF2B5EF4-FFF2-40B4-BE49-F238E27FC236}">
                <a16:creationId xmlns:a16="http://schemas.microsoft.com/office/drawing/2014/main" id="{26AABE73-7DF2-0809-43D1-D003EDF270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73500" y="387350"/>
            <a:ext cx="766763" cy="674688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/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RecordA</a:t>
            </a:r>
            <a:endParaRPr lang="en-US" altLang="en-US" sz="1200" b="1">
              <a:solidFill>
                <a:srgbClr val="CC0000"/>
              </a:solidFill>
              <a:latin typeface="Courier New" panose="02070309020205020404" pitchFamily="49" charset="0"/>
            </a:endParaRPr>
          </a:p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RecordG</a:t>
            </a:r>
            <a:endParaRPr lang="en-US" altLang="en-US" sz="1200" b="1">
              <a:solidFill>
                <a:srgbClr val="CC0000"/>
              </a:solidFill>
              <a:latin typeface="Courier New" panose="02070309020205020404" pitchFamily="49" charset="0"/>
            </a:endParaRPr>
          </a:p>
          <a:p>
            <a:endParaRPr lang="en-US" altLang="en-US" sz="1200" b="1">
              <a:solidFill>
                <a:srgbClr val="CC0000"/>
              </a:solidFill>
              <a:latin typeface="Courier New" panose="02070309020205020404" pitchFamily="49" charset="0"/>
            </a:endParaRPr>
          </a:p>
        </p:txBody>
      </p:sp>
      <p:sp>
        <p:nvSpPr>
          <p:cNvPr id="10248" name="Rectangle 8">
            <a:extLst>
              <a:ext uri="{FF2B5EF4-FFF2-40B4-BE49-F238E27FC236}">
                <a16:creationId xmlns:a16="http://schemas.microsoft.com/office/drawing/2014/main" id="{89F5D1AD-622D-D925-56CD-FF6A03AF2D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5575" y="385763"/>
            <a:ext cx="1463675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RecordK</a:t>
            </a:r>
          </a:p>
        </p:txBody>
      </p:sp>
      <p:sp>
        <p:nvSpPr>
          <p:cNvPr id="10249" name="Rectangle 9">
            <a:extLst>
              <a:ext uri="{FF2B5EF4-FFF2-40B4-BE49-F238E27FC236}">
                <a16:creationId xmlns:a16="http://schemas.microsoft.com/office/drawing/2014/main" id="{FFFB82BB-C5B8-41EA-48E9-96F2CD1BCF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3500" y="204788"/>
            <a:ext cx="460375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TFRec</a:t>
            </a:r>
          </a:p>
        </p:txBody>
      </p:sp>
      <p:sp>
        <p:nvSpPr>
          <p:cNvPr id="10250" name="Rectangle 10">
            <a:extLst>
              <a:ext uri="{FF2B5EF4-FFF2-40B4-BE49-F238E27FC236}">
                <a16:creationId xmlns:a16="http://schemas.microsoft.com/office/drawing/2014/main" id="{059A5163-459C-2FBB-4D71-FBDEAC1173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750" y="795338"/>
            <a:ext cx="1460500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RecordH</a:t>
            </a:r>
          </a:p>
        </p:txBody>
      </p:sp>
      <p:sp>
        <p:nvSpPr>
          <p:cNvPr id="10251" name="Rectangle 11">
            <a:extLst>
              <a:ext uri="{FF2B5EF4-FFF2-40B4-BE49-F238E27FC236}">
                <a16:creationId xmlns:a16="http://schemas.microsoft.com/office/drawing/2014/main" id="{79FA6EC4-3E41-1B31-D815-C7CB2A275D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623888"/>
            <a:ext cx="48895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MFRec</a:t>
            </a:r>
          </a:p>
        </p:txBody>
      </p:sp>
      <p:sp>
        <p:nvSpPr>
          <p:cNvPr id="10252" name="Rectangle 12">
            <a:extLst>
              <a:ext uri="{FF2B5EF4-FFF2-40B4-BE49-F238E27FC236}">
                <a16:creationId xmlns:a16="http://schemas.microsoft.com/office/drawing/2014/main" id="{55957907-4E62-8D4F-49F9-97733D97DE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750" y="1214438"/>
            <a:ext cx="1460500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RecordG</a:t>
            </a:r>
          </a:p>
        </p:txBody>
      </p:sp>
      <p:sp>
        <p:nvSpPr>
          <p:cNvPr id="10253" name="Rectangle 13">
            <a:extLst>
              <a:ext uri="{FF2B5EF4-FFF2-40B4-BE49-F238E27FC236}">
                <a16:creationId xmlns:a16="http://schemas.microsoft.com/office/drawing/2014/main" id="{3CB27C68-0081-EAD0-9A11-7016F17019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1042988"/>
            <a:ext cx="471488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NFRec</a:t>
            </a:r>
          </a:p>
        </p:txBody>
      </p:sp>
      <p:sp>
        <p:nvSpPr>
          <p:cNvPr id="10254" name="Rectangle 14">
            <a:extLst>
              <a:ext uri="{FF2B5EF4-FFF2-40B4-BE49-F238E27FC236}">
                <a16:creationId xmlns:a16="http://schemas.microsoft.com/office/drawing/2014/main" id="{2470D9B6-3945-0706-8303-56D1AC0396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68738" y="187325"/>
            <a:ext cx="815975" cy="19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NewFile (NF</a:t>
            </a:r>
            <a:r>
              <a:rPr lang="en-US" altLang="en-US" sz="1200" b="1">
                <a:latin typeface="Times New Roman" panose="02020603050405020304" pitchFamily="18" charset="0"/>
              </a:rPr>
              <a:t>)</a:t>
            </a:r>
          </a:p>
        </p:txBody>
      </p:sp>
      <p:sp>
        <p:nvSpPr>
          <p:cNvPr id="10255" name="AutoShape 15">
            <a:extLst>
              <a:ext uri="{FF2B5EF4-FFF2-40B4-BE49-F238E27FC236}">
                <a16:creationId xmlns:a16="http://schemas.microsoft.com/office/drawing/2014/main" id="{D795934A-F440-AC3E-BD46-33770C0C79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313055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0256" name="AutoShape 16">
            <a:extLst>
              <a:ext uri="{FF2B5EF4-FFF2-40B4-BE49-F238E27FC236}">
                <a16:creationId xmlns:a16="http://schemas.microsoft.com/office/drawing/2014/main" id="{B2DF9A23-3926-7232-372D-E2D87925B3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80645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0257" name="AutoShape 17">
            <a:extLst>
              <a:ext uri="{FF2B5EF4-FFF2-40B4-BE49-F238E27FC236}">
                <a16:creationId xmlns:a16="http://schemas.microsoft.com/office/drawing/2014/main" id="{965DF39F-34EB-7C45-BF39-B7B2FF6F32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87775" y="84455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0258" name="Arc 18">
            <a:extLst>
              <a:ext uri="{FF2B5EF4-FFF2-40B4-BE49-F238E27FC236}">
                <a16:creationId xmlns:a16="http://schemas.microsoft.com/office/drawing/2014/main" id="{A0B652E9-B058-FB96-0F5F-47821E2E741B}"/>
              </a:ext>
            </a:extLst>
          </p:cNvPr>
          <p:cNvSpPr>
            <a:spLocks/>
          </p:cNvSpPr>
          <p:nvPr/>
        </p:nvSpPr>
        <p:spPr bwMode="auto">
          <a:xfrm>
            <a:off x="438150" y="914400"/>
            <a:ext cx="1009650" cy="2095500"/>
          </a:xfrm>
          <a:custGeom>
            <a:avLst/>
            <a:gdLst>
              <a:gd name="G0" fmla="+- 21600 0 0"/>
              <a:gd name="G1" fmla="+- 21600 0 0"/>
              <a:gd name="G2" fmla="+- 21600 0 0"/>
              <a:gd name="T0" fmla="*/ 0 w 21600"/>
              <a:gd name="T1" fmla="*/ 21600 h 21600"/>
              <a:gd name="T2" fmla="*/ 21566 w 21600"/>
              <a:gd name="T3" fmla="*/ 0 h 21600"/>
              <a:gd name="T4" fmla="*/ 21600 w 21600"/>
              <a:gd name="T5" fmla="*/ 216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599"/>
                </a:moveTo>
                <a:cubicBezTo>
                  <a:pt x="0" y="9683"/>
                  <a:pt x="9649" y="18"/>
                  <a:pt x="21566" y="0"/>
                </a:cubicBezTo>
              </a:path>
              <a:path w="21600" h="21600" stroke="0" extrusionOk="0">
                <a:moveTo>
                  <a:pt x="0" y="21599"/>
                </a:moveTo>
                <a:cubicBezTo>
                  <a:pt x="0" y="9683"/>
                  <a:pt x="9649" y="18"/>
                  <a:pt x="21566" y="0"/>
                </a:cubicBezTo>
                <a:lnTo>
                  <a:pt x="21600" y="21600"/>
                </a:lnTo>
                <a:close/>
              </a:path>
            </a:pathLst>
          </a:custGeom>
          <a:noFill/>
          <a:ln w="12700" cap="rnd">
            <a:solidFill>
              <a:srgbClr val="CC0000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>
            <a:extLst>
              <a:ext uri="{FF2B5EF4-FFF2-40B4-BE49-F238E27FC236}">
                <a16:creationId xmlns:a16="http://schemas.microsoft.com/office/drawing/2014/main" id="{A9BD74B9-C275-EA3D-16F9-47F67F7073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5238" y="92075"/>
            <a:ext cx="2366962" cy="3597275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38100" tIns="19050" rIns="38100" bIns="19050"/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FILE SECTION.</a:t>
            </a: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PROCEDURE DIVISION.</a:t>
            </a:r>
          </a:p>
          <a:p>
            <a:pPr>
              <a:lnSpc>
                <a:spcPct val="85000"/>
              </a:lnSpc>
            </a:pPr>
            <a:r>
              <a:rPr lang="en-US" altLang="en-US" sz="1000">
                <a:latin typeface="Courier New" panose="02070309020205020404" pitchFamily="49" charset="0"/>
              </a:rPr>
              <a:t>      etc.</a:t>
            </a:r>
          </a:p>
          <a:p>
            <a:pPr>
              <a:lnSpc>
                <a:spcPct val="85000"/>
              </a:lnSpc>
            </a:pPr>
            <a:r>
              <a:rPr lang="en-US" altLang="en-US" sz="1000">
                <a:latin typeface="Courier New" panose="02070309020205020404" pitchFamily="49" charset="0"/>
              </a:rPr>
              <a:t>      etc.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PERFORM UNTIL EndTF AND EndMF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  IF TFKey NOT = MFKey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     MOVE MFRec TO NFRec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     WRITE NFRec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READ MF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ELSE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READ TF </a:t>
            </a:r>
            <a:r>
              <a:rPr lang="en-US" altLang="en-US" sz="1000">
                <a:latin typeface="Courier New" panose="02070309020205020404" pitchFamily="49" charset="0"/>
              </a:rPr>
              <a:t>etc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READ MF </a:t>
            </a:r>
            <a:r>
              <a:rPr lang="en-US" altLang="en-US" sz="1000">
                <a:latin typeface="Courier New" panose="02070309020205020404" pitchFamily="49" charset="0"/>
              </a:rPr>
              <a:t>etc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END-IF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END-PERFORM</a:t>
            </a:r>
          </a:p>
        </p:txBody>
      </p:sp>
      <p:sp>
        <p:nvSpPr>
          <p:cNvPr id="11267" name="Rectangle 3">
            <a:extLst>
              <a:ext uri="{FF2B5EF4-FFF2-40B4-BE49-F238E27FC236}">
                <a16:creationId xmlns:a16="http://schemas.microsoft.com/office/drawing/2014/main" id="{CF7E5C7B-CE35-24C6-B1A9-E2FC2AF7C7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" y="387350"/>
            <a:ext cx="766763" cy="6223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RecordB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RecordK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RecordM</a:t>
            </a:r>
          </a:p>
        </p:txBody>
      </p:sp>
      <p:sp>
        <p:nvSpPr>
          <p:cNvPr id="11268" name="Rectangle 4">
            <a:extLst>
              <a:ext uri="{FF2B5EF4-FFF2-40B4-BE49-F238E27FC236}">
                <a16:creationId xmlns:a16="http://schemas.microsoft.com/office/drawing/2014/main" id="{6E1AB64B-4F76-10D3-7ACE-32CF3E533F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" y="212725"/>
            <a:ext cx="912813" cy="168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Trans File (TF)</a:t>
            </a:r>
          </a:p>
        </p:txBody>
      </p:sp>
      <p:sp>
        <p:nvSpPr>
          <p:cNvPr id="11269" name="Rectangle 5">
            <a:extLst>
              <a:ext uri="{FF2B5EF4-FFF2-40B4-BE49-F238E27FC236}">
                <a16:creationId xmlns:a16="http://schemas.microsoft.com/office/drawing/2014/main" id="{29758E2F-F051-96EA-24BD-465F52FEBF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" y="2390775"/>
            <a:ext cx="766763" cy="130175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RecordA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RecordB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RecordG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RecordH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RecordK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RecordM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RecordN</a:t>
            </a:r>
          </a:p>
        </p:txBody>
      </p:sp>
      <p:sp>
        <p:nvSpPr>
          <p:cNvPr id="11270" name="Rectangle 6">
            <a:extLst>
              <a:ext uri="{FF2B5EF4-FFF2-40B4-BE49-F238E27FC236}">
                <a16:creationId xmlns:a16="http://schemas.microsoft.com/office/drawing/2014/main" id="{3E6722DB-0552-6AE0-B360-10D8D85B80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" y="2205038"/>
            <a:ext cx="1012825" cy="19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Master File (MF</a:t>
            </a:r>
            <a:r>
              <a:rPr lang="en-US" altLang="en-US" sz="1200" b="1"/>
              <a:t>)</a:t>
            </a:r>
          </a:p>
        </p:txBody>
      </p:sp>
      <p:sp>
        <p:nvSpPr>
          <p:cNvPr id="11271" name="Rectangle 7">
            <a:extLst>
              <a:ext uri="{FF2B5EF4-FFF2-40B4-BE49-F238E27FC236}">
                <a16:creationId xmlns:a16="http://schemas.microsoft.com/office/drawing/2014/main" id="{9C542802-BC81-5B09-2A00-32ABE88DDB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73500" y="387350"/>
            <a:ext cx="766763" cy="85725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/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RecordA</a:t>
            </a:r>
            <a:endParaRPr lang="en-US" altLang="en-US" sz="1200" b="1">
              <a:solidFill>
                <a:srgbClr val="CC0000"/>
              </a:solidFill>
              <a:latin typeface="Courier New" panose="02070309020205020404" pitchFamily="49" charset="0"/>
            </a:endParaRPr>
          </a:p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RecordG</a:t>
            </a:r>
            <a:endParaRPr lang="en-US" altLang="en-US" sz="1200" b="1">
              <a:solidFill>
                <a:srgbClr val="CC0000"/>
              </a:solidFill>
              <a:latin typeface="Courier New" panose="02070309020205020404" pitchFamily="49" charset="0"/>
            </a:endParaRPr>
          </a:p>
          <a:p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RecordH</a:t>
            </a:r>
          </a:p>
          <a:p>
            <a:endParaRPr lang="en-US" altLang="en-US" sz="1200" b="1">
              <a:solidFill>
                <a:srgbClr val="CC0000"/>
              </a:solidFill>
              <a:latin typeface="Courier New" panose="02070309020205020404" pitchFamily="49" charset="0"/>
            </a:endParaRPr>
          </a:p>
        </p:txBody>
      </p:sp>
      <p:sp>
        <p:nvSpPr>
          <p:cNvPr id="11272" name="Rectangle 8">
            <a:extLst>
              <a:ext uri="{FF2B5EF4-FFF2-40B4-BE49-F238E27FC236}">
                <a16:creationId xmlns:a16="http://schemas.microsoft.com/office/drawing/2014/main" id="{1F5C2929-7921-EDE4-FA97-45422F05F5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5575" y="385763"/>
            <a:ext cx="1463675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RecordK</a:t>
            </a:r>
          </a:p>
        </p:txBody>
      </p:sp>
      <p:sp>
        <p:nvSpPr>
          <p:cNvPr id="11273" name="Rectangle 9">
            <a:extLst>
              <a:ext uri="{FF2B5EF4-FFF2-40B4-BE49-F238E27FC236}">
                <a16:creationId xmlns:a16="http://schemas.microsoft.com/office/drawing/2014/main" id="{658574AD-D736-B606-AFD7-0F0F7044F7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3500" y="204788"/>
            <a:ext cx="460375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TFRec</a:t>
            </a:r>
          </a:p>
        </p:txBody>
      </p:sp>
      <p:sp>
        <p:nvSpPr>
          <p:cNvPr id="11274" name="Rectangle 10">
            <a:extLst>
              <a:ext uri="{FF2B5EF4-FFF2-40B4-BE49-F238E27FC236}">
                <a16:creationId xmlns:a16="http://schemas.microsoft.com/office/drawing/2014/main" id="{8DF31034-435E-E556-1912-8083ED140B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750" y="795338"/>
            <a:ext cx="1460500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RecordH</a:t>
            </a:r>
          </a:p>
        </p:txBody>
      </p:sp>
      <p:sp>
        <p:nvSpPr>
          <p:cNvPr id="11275" name="Rectangle 11">
            <a:extLst>
              <a:ext uri="{FF2B5EF4-FFF2-40B4-BE49-F238E27FC236}">
                <a16:creationId xmlns:a16="http://schemas.microsoft.com/office/drawing/2014/main" id="{1AED60DD-B2C3-3814-CAD7-609A25AA19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623888"/>
            <a:ext cx="48895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MFRec</a:t>
            </a:r>
          </a:p>
        </p:txBody>
      </p:sp>
      <p:sp>
        <p:nvSpPr>
          <p:cNvPr id="11276" name="Rectangle 12">
            <a:extLst>
              <a:ext uri="{FF2B5EF4-FFF2-40B4-BE49-F238E27FC236}">
                <a16:creationId xmlns:a16="http://schemas.microsoft.com/office/drawing/2014/main" id="{3B327684-A585-2FC7-3918-C29FA43D2E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750" y="1214438"/>
            <a:ext cx="1460500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RecordH</a:t>
            </a:r>
          </a:p>
        </p:txBody>
      </p:sp>
      <p:sp>
        <p:nvSpPr>
          <p:cNvPr id="11277" name="Rectangle 13">
            <a:extLst>
              <a:ext uri="{FF2B5EF4-FFF2-40B4-BE49-F238E27FC236}">
                <a16:creationId xmlns:a16="http://schemas.microsoft.com/office/drawing/2014/main" id="{5509A2CD-40BB-6F19-D45D-B262860F44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1042988"/>
            <a:ext cx="471488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NFRec</a:t>
            </a:r>
          </a:p>
        </p:txBody>
      </p:sp>
      <p:sp>
        <p:nvSpPr>
          <p:cNvPr id="11278" name="Rectangle 14">
            <a:extLst>
              <a:ext uri="{FF2B5EF4-FFF2-40B4-BE49-F238E27FC236}">
                <a16:creationId xmlns:a16="http://schemas.microsoft.com/office/drawing/2014/main" id="{A4539854-5FC1-CAB9-41B7-F10C32A9DF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68738" y="187325"/>
            <a:ext cx="815975" cy="19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NewFile (NF</a:t>
            </a:r>
            <a:r>
              <a:rPr lang="en-US" altLang="en-US" sz="1200" b="1">
                <a:latin typeface="Times New Roman" panose="02020603050405020304" pitchFamily="18" charset="0"/>
              </a:rPr>
              <a:t>)</a:t>
            </a:r>
          </a:p>
        </p:txBody>
      </p:sp>
      <p:sp>
        <p:nvSpPr>
          <p:cNvPr id="11279" name="AutoShape 15">
            <a:extLst>
              <a:ext uri="{FF2B5EF4-FFF2-40B4-BE49-F238E27FC236}">
                <a16:creationId xmlns:a16="http://schemas.microsoft.com/office/drawing/2014/main" id="{63F6F8EC-9617-A5AD-0275-CEFBC3ED7E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313055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80" name="AutoShape 16">
            <a:extLst>
              <a:ext uri="{FF2B5EF4-FFF2-40B4-BE49-F238E27FC236}">
                <a16:creationId xmlns:a16="http://schemas.microsoft.com/office/drawing/2014/main" id="{C42DD60B-1A8C-B9FD-66EA-0C89D14989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80645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81" name="AutoShape 17">
            <a:extLst>
              <a:ext uri="{FF2B5EF4-FFF2-40B4-BE49-F238E27FC236}">
                <a16:creationId xmlns:a16="http://schemas.microsoft.com/office/drawing/2014/main" id="{9180784E-B3AC-AC3A-F174-B3BFA477B0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87775" y="109220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82" name="Arc 18">
            <a:extLst>
              <a:ext uri="{FF2B5EF4-FFF2-40B4-BE49-F238E27FC236}">
                <a16:creationId xmlns:a16="http://schemas.microsoft.com/office/drawing/2014/main" id="{8DEA87FF-B510-F18B-CB19-CCC822A482C8}"/>
              </a:ext>
            </a:extLst>
          </p:cNvPr>
          <p:cNvSpPr>
            <a:spLocks/>
          </p:cNvSpPr>
          <p:nvPr/>
        </p:nvSpPr>
        <p:spPr bwMode="auto">
          <a:xfrm>
            <a:off x="2141538" y="915988"/>
            <a:ext cx="325437" cy="400050"/>
          </a:xfrm>
          <a:custGeom>
            <a:avLst/>
            <a:gdLst>
              <a:gd name="G0" fmla="+- 106 0 0"/>
              <a:gd name="G1" fmla="+- 21600 0 0"/>
              <a:gd name="G2" fmla="+- 21600 0 0"/>
              <a:gd name="T0" fmla="*/ 0 w 21706"/>
              <a:gd name="T1" fmla="*/ 0 h 43200"/>
              <a:gd name="T2" fmla="*/ 106 w 21706"/>
              <a:gd name="T3" fmla="*/ 43200 h 43200"/>
              <a:gd name="T4" fmla="*/ 106 w 21706"/>
              <a:gd name="T5" fmla="*/ 21600 h 432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706" h="43200" fill="none" extrusionOk="0">
                <a:moveTo>
                  <a:pt x="0" y="0"/>
                </a:moveTo>
                <a:cubicBezTo>
                  <a:pt x="35" y="0"/>
                  <a:pt x="70" y="0"/>
                  <a:pt x="106" y="0"/>
                </a:cubicBezTo>
                <a:cubicBezTo>
                  <a:pt x="12035" y="0"/>
                  <a:pt x="21706" y="9670"/>
                  <a:pt x="21706" y="21600"/>
                </a:cubicBezTo>
                <a:cubicBezTo>
                  <a:pt x="21706" y="33529"/>
                  <a:pt x="12035" y="43200"/>
                  <a:pt x="105" y="43200"/>
                </a:cubicBezTo>
              </a:path>
              <a:path w="21706" h="43200" stroke="0" extrusionOk="0">
                <a:moveTo>
                  <a:pt x="0" y="0"/>
                </a:moveTo>
                <a:cubicBezTo>
                  <a:pt x="35" y="0"/>
                  <a:pt x="70" y="0"/>
                  <a:pt x="106" y="0"/>
                </a:cubicBezTo>
                <a:cubicBezTo>
                  <a:pt x="12035" y="0"/>
                  <a:pt x="21706" y="9670"/>
                  <a:pt x="21706" y="21600"/>
                </a:cubicBezTo>
                <a:cubicBezTo>
                  <a:pt x="21706" y="33529"/>
                  <a:pt x="12035" y="43200"/>
                  <a:pt x="105" y="43200"/>
                </a:cubicBezTo>
                <a:lnTo>
                  <a:pt x="106" y="21600"/>
                </a:lnTo>
                <a:close/>
              </a:path>
            </a:pathLst>
          </a:custGeom>
          <a:noFill/>
          <a:ln w="12700" cap="rnd">
            <a:solidFill>
              <a:srgbClr val="CC0000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83" name="Arc 19">
            <a:extLst>
              <a:ext uri="{FF2B5EF4-FFF2-40B4-BE49-F238E27FC236}">
                <a16:creationId xmlns:a16="http://schemas.microsoft.com/office/drawing/2014/main" id="{BC5EBA4C-86E3-DA7C-62EC-E33429A92C16}"/>
              </a:ext>
            </a:extLst>
          </p:cNvPr>
          <p:cNvSpPr>
            <a:spLocks/>
          </p:cNvSpPr>
          <p:nvPr/>
        </p:nvSpPr>
        <p:spPr bwMode="auto">
          <a:xfrm>
            <a:off x="2160588" y="949325"/>
            <a:ext cx="2058987" cy="612775"/>
          </a:xfrm>
          <a:custGeom>
            <a:avLst/>
            <a:gdLst>
              <a:gd name="G0" fmla="+- 15865 0 0"/>
              <a:gd name="G1" fmla="+- 2360 0 0"/>
              <a:gd name="G2" fmla="+- 21600 0 0"/>
              <a:gd name="T0" fmla="*/ 37336 w 37465"/>
              <a:gd name="T1" fmla="*/ 0 h 23960"/>
              <a:gd name="T2" fmla="*/ 0 w 37465"/>
              <a:gd name="T3" fmla="*/ 17019 h 23960"/>
              <a:gd name="T4" fmla="*/ 15865 w 37465"/>
              <a:gd name="T5" fmla="*/ 2360 h 239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37465" h="23960" fill="none" extrusionOk="0">
                <a:moveTo>
                  <a:pt x="37335" y="0"/>
                </a:moveTo>
                <a:cubicBezTo>
                  <a:pt x="37421" y="783"/>
                  <a:pt x="37465" y="1571"/>
                  <a:pt x="37465" y="2360"/>
                </a:cubicBezTo>
                <a:cubicBezTo>
                  <a:pt x="37465" y="14289"/>
                  <a:pt x="27794" y="23960"/>
                  <a:pt x="15865" y="23960"/>
                </a:cubicBezTo>
                <a:cubicBezTo>
                  <a:pt x="9840" y="23959"/>
                  <a:pt x="4089" y="21443"/>
                  <a:pt x="0" y="17018"/>
                </a:cubicBezTo>
              </a:path>
              <a:path w="37465" h="23960" stroke="0" extrusionOk="0">
                <a:moveTo>
                  <a:pt x="37335" y="0"/>
                </a:moveTo>
                <a:cubicBezTo>
                  <a:pt x="37421" y="783"/>
                  <a:pt x="37465" y="1571"/>
                  <a:pt x="37465" y="2360"/>
                </a:cubicBezTo>
                <a:cubicBezTo>
                  <a:pt x="37465" y="14289"/>
                  <a:pt x="27794" y="23960"/>
                  <a:pt x="15865" y="23960"/>
                </a:cubicBezTo>
                <a:cubicBezTo>
                  <a:pt x="9840" y="23959"/>
                  <a:pt x="4089" y="21443"/>
                  <a:pt x="0" y="17018"/>
                </a:cubicBezTo>
                <a:lnTo>
                  <a:pt x="15865" y="2360"/>
                </a:lnTo>
                <a:close/>
              </a:path>
            </a:pathLst>
          </a:custGeom>
          <a:noFill/>
          <a:ln w="12700" cap="rnd">
            <a:solidFill>
              <a:srgbClr val="CC0000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>
            <a:extLst>
              <a:ext uri="{FF2B5EF4-FFF2-40B4-BE49-F238E27FC236}">
                <a16:creationId xmlns:a16="http://schemas.microsoft.com/office/drawing/2014/main" id="{E67B6D08-0916-3F78-C579-321CD32E00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5238" y="92075"/>
            <a:ext cx="2366962" cy="3597275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38100" tIns="19050" rIns="38100" bIns="19050"/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FILE SECTION.</a:t>
            </a: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PROCEDURE DIVISION.</a:t>
            </a:r>
          </a:p>
          <a:p>
            <a:pPr>
              <a:lnSpc>
                <a:spcPct val="85000"/>
              </a:lnSpc>
            </a:pPr>
            <a:r>
              <a:rPr lang="en-US" altLang="en-US" sz="1000">
                <a:latin typeface="Courier New" panose="02070309020205020404" pitchFamily="49" charset="0"/>
              </a:rPr>
              <a:t>      etc.</a:t>
            </a:r>
          </a:p>
          <a:p>
            <a:pPr>
              <a:lnSpc>
                <a:spcPct val="85000"/>
              </a:lnSpc>
            </a:pPr>
            <a:r>
              <a:rPr lang="en-US" altLang="en-US" sz="1000">
                <a:latin typeface="Courier New" panose="02070309020205020404" pitchFamily="49" charset="0"/>
              </a:rPr>
              <a:t>      etc.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PERFORM UNTIL EndTF AND EndMF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IF TFKey NOT = MFKey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MOVE MFRec TO NFRec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WRITE NFRec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     READ MF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ELSE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READ TF </a:t>
            </a:r>
            <a:r>
              <a:rPr lang="en-US" altLang="en-US" sz="1000">
                <a:latin typeface="Courier New" panose="02070309020205020404" pitchFamily="49" charset="0"/>
              </a:rPr>
              <a:t>etc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READ MF </a:t>
            </a:r>
            <a:r>
              <a:rPr lang="en-US" altLang="en-US" sz="1000">
                <a:latin typeface="Courier New" panose="02070309020205020404" pitchFamily="49" charset="0"/>
              </a:rPr>
              <a:t>etc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END-IF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END-PERFORM</a:t>
            </a:r>
          </a:p>
        </p:txBody>
      </p:sp>
      <p:sp>
        <p:nvSpPr>
          <p:cNvPr id="12291" name="Rectangle 3">
            <a:extLst>
              <a:ext uri="{FF2B5EF4-FFF2-40B4-BE49-F238E27FC236}">
                <a16:creationId xmlns:a16="http://schemas.microsoft.com/office/drawing/2014/main" id="{22799BBD-C4E7-10A5-406F-707C4B1F93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" y="387350"/>
            <a:ext cx="766763" cy="6223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RecordB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RecordK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RecordM</a:t>
            </a:r>
          </a:p>
        </p:txBody>
      </p:sp>
      <p:sp>
        <p:nvSpPr>
          <p:cNvPr id="12292" name="Rectangle 4">
            <a:extLst>
              <a:ext uri="{FF2B5EF4-FFF2-40B4-BE49-F238E27FC236}">
                <a16:creationId xmlns:a16="http://schemas.microsoft.com/office/drawing/2014/main" id="{CCBD287D-0D07-190B-C8B4-CBDDE1C478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" y="212725"/>
            <a:ext cx="912813" cy="168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Trans File (TF)</a:t>
            </a:r>
          </a:p>
        </p:txBody>
      </p:sp>
      <p:sp>
        <p:nvSpPr>
          <p:cNvPr id="12293" name="Rectangle 5">
            <a:extLst>
              <a:ext uri="{FF2B5EF4-FFF2-40B4-BE49-F238E27FC236}">
                <a16:creationId xmlns:a16="http://schemas.microsoft.com/office/drawing/2014/main" id="{D75CAAEF-8FC8-54ED-B4B6-3854A6FEDC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" y="2390775"/>
            <a:ext cx="766763" cy="130175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RecordA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RecordB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RecordG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RecordH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RecordK</a:t>
            </a:r>
            <a:endParaRPr lang="en-US" altLang="en-US" sz="1200" b="1">
              <a:latin typeface="Courier New" panose="02070309020205020404" pitchFamily="49" charset="0"/>
            </a:endParaRP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RecordM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RecordN</a:t>
            </a:r>
          </a:p>
        </p:txBody>
      </p:sp>
      <p:sp>
        <p:nvSpPr>
          <p:cNvPr id="12294" name="Rectangle 6">
            <a:extLst>
              <a:ext uri="{FF2B5EF4-FFF2-40B4-BE49-F238E27FC236}">
                <a16:creationId xmlns:a16="http://schemas.microsoft.com/office/drawing/2014/main" id="{E2A98024-91F1-1595-B8D6-91ECCEAA42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" y="2205038"/>
            <a:ext cx="1012825" cy="19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Master File (MF</a:t>
            </a:r>
            <a:r>
              <a:rPr lang="en-US" altLang="en-US" sz="1200" b="1"/>
              <a:t>)</a:t>
            </a:r>
          </a:p>
        </p:txBody>
      </p:sp>
      <p:sp>
        <p:nvSpPr>
          <p:cNvPr id="12295" name="Rectangle 7">
            <a:extLst>
              <a:ext uri="{FF2B5EF4-FFF2-40B4-BE49-F238E27FC236}">
                <a16:creationId xmlns:a16="http://schemas.microsoft.com/office/drawing/2014/main" id="{C9767AC7-2F09-555E-D3A1-ABED9F4D2D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73500" y="387350"/>
            <a:ext cx="766763" cy="85725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/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RecordA</a:t>
            </a:r>
            <a:endParaRPr lang="en-US" altLang="en-US" sz="1200" b="1">
              <a:solidFill>
                <a:srgbClr val="CC0000"/>
              </a:solidFill>
              <a:latin typeface="Courier New" panose="02070309020205020404" pitchFamily="49" charset="0"/>
            </a:endParaRPr>
          </a:p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RecordG</a:t>
            </a:r>
            <a:endParaRPr lang="en-US" altLang="en-US" sz="1200" b="1">
              <a:solidFill>
                <a:srgbClr val="CC0000"/>
              </a:solidFill>
              <a:latin typeface="Courier New" panose="02070309020205020404" pitchFamily="49" charset="0"/>
            </a:endParaRPr>
          </a:p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RecordH</a:t>
            </a:r>
            <a:endParaRPr lang="en-US" altLang="en-US" sz="1200" b="1">
              <a:solidFill>
                <a:srgbClr val="CC0000"/>
              </a:solidFill>
              <a:latin typeface="Courier New" panose="02070309020205020404" pitchFamily="49" charset="0"/>
            </a:endParaRPr>
          </a:p>
          <a:p>
            <a:endParaRPr lang="en-US" altLang="en-US" sz="1200" b="1">
              <a:solidFill>
                <a:srgbClr val="CC0000"/>
              </a:solidFill>
              <a:latin typeface="Courier New" panose="02070309020205020404" pitchFamily="49" charset="0"/>
            </a:endParaRPr>
          </a:p>
        </p:txBody>
      </p:sp>
      <p:sp>
        <p:nvSpPr>
          <p:cNvPr id="12296" name="Rectangle 8">
            <a:extLst>
              <a:ext uri="{FF2B5EF4-FFF2-40B4-BE49-F238E27FC236}">
                <a16:creationId xmlns:a16="http://schemas.microsoft.com/office/drawing/2014/main" id="{84424C52-E88C-CF95-90B7-DD389E0266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5575" y="385763"/>
            <a:ext cx="1463675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RecordK</a:t>
            </a:r>
          </a:p>
        </p:txBody>
      </p:sp>
      <p:sp>
        <p:nvSpPr>
          <p:cNvPr id="12297" name="Rectangle 9">
            <a:extLst>
              <a:ext uri="{FF2B5EF4-FFF2-40B4-BE49-F238E27FC236}">
                <a16:creationId xmlns:a16="http://schemas.microsoft.com/office/drawing/2014/main" id="{24B294D4-FF66-35B7-99CD-9FE19139F2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3500" y="204788"/>
            <a:ext cx="460375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TFRec</a:t>
            </a:r>
          </a:p>
        </p:txBody>
      </p:sp>
      <p:sp>
        <p:nvSpPr>
          <p:cNvPr id="12298" name="Rectangle 10">
            <a:extLst>
              <a:ext uri="{FF2B5EF4-FFF2-40B4-BE49-F238E27FC236}">
                <a16:creationId xmlns:a16="http://schemas.microsoft.com/office/drawing/2014/main" id="{30439C69-5966-E768-371A-EA27FC6EED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750" y="795338"/>
            <a:ext cx="1460500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RecordK</a:t>
            </a:r>
          </a:p>
        </p:txBody>
      </p:sp>
      <p:sp>
        <p:nvSpPr>
          <p:cNvPr id="12299" name="Rectangle 11">
            <a:extLst>
              <a:ext uri="{FF2B5EF4-FFF2-40B4-BE49-F238E27FC236}">
                <a16:creationId xmlns:a16="http://schemas.microsoft.com/office/drawing/2014/main" id="{BF50554C-C8DC-77C4-2131-6B51CF3E63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623888"/>
            <a:ext cx="48895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MFRec</a:t>
            </a:r>
          </a:p>
        </p:txBody>
      </p:sp>
      <p:sp>
        <p:nvSpPr>
          <p:cNvPr id="12300" name="Rectangle 12">
            <a:extLst>
              <a:ext uri="{FF2B5EF4-FFF2-40B4-BE49-F238E27FC236}">
                <a16:creationId xmlns:a16="http://schemas.microsoft.com/office/drawing/2014/main" id="{C0A110BD-B899-910C-5763-2CFFA546F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750" y="1214438"/>
            <a:ext cx="1460500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RecordH</a:t>
            </a:r>
          </a:p>
        </p:txBody>
      </p:sp>
      <p:sp>
        <p:nvSpPr>
          <p:cNvPr id="12301" name="Rectangle 13">
            <a:extLst>
              <a:ext uri="{FF2B5EF4-FFF2-40B4-BE49-F238E27FC236}">
                <a16:creationId xmlns:a16="http://schemas.microsoft.com/office/drawing/2014/main" id="{43CFD7A1-5988-D58F-432B-911D72F63A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1042988"/>
            <a:ext cx="471488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NFRec</a:t>
            </a:r>
          </a:p>
        </p:txBody>
      </p:sp>
      <p:sp>
        <p:nvSpPr>
          <p:cNvPr id="12302" name="Rectangle 14">
            <a:extLst>
              <a:ext uri="{FF2B5EF4-FFF2-40B4-BE49-F238E27FC236}">
                <a16:creationId xmlns:a16="http://schemas.microsoft.com/office/drawing/2014/main" id="{38AAAD98-DFD2-ABA9-BF2C-104C13957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68738" y="187325"/>
            <a:ext cx="815975" cy="19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NewFile (NF</a:t>
            </a:r>
            <a:r>
              <a:rPr lang="en-US" altLang="en-US" sz="1200" b="1">
                <a:latin typeface="Times New Roman" panose="02020603050405020304" pitchFamily="18" charset="0"/>
              </a:rPr>
              <a:t>)</a:t>
            </a:r>
          </a:p>
        </p:txBody>
      </p:sp>
      <p:sp>
        <p:nvSpPr>
          <p:cNvPr id="12303" name="AutoShape 15">
            <a:extLst>
              <a:ext uri="{FF2B5EF4-FFF2-40B4-BE49-F238E27FC236}">
                <a16:creationId xmlns:a16="http://schemas.microsoft.com/office/drawing/2014/main" id="{54476214-187C-7E5E-0AEC-C22CB12D38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330200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2304" name="AutoShape 16">
            <a:extLst>
              <a:ext uri="{FF2B5EF4-FFF2-40B4-BE49-F238E27FC236}">
                <a16:creationId xmlns:a16="http://schemas.microsoft.com/office/drawing/2014/main" id="{FE5C4C4A-E7B3-F511-C786-D798F913C6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80645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2305" name="AutoShape 17">
            <a:extLst>
              <a:ext uri="{FF2B5EF4-FFF2-40B4-BE49-F238E27FC236}">
                <a16:creationId xmlns:a16="http://schemas.microsoft.com/office/drawing/2014/main" id="{A6D9AD3F-3F9C-09D3-FDF1-F30611CF41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87775" y="109220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2306" name="Arc 18">
            <a:extLst>
              <a:ext uri="{FF2B5EF4-FFF2-40B4-BE49-F238E27FC236}">
                <a16:creationId xmlns:a16="http://schemas.microsoft.com/office/drawing/2014/main" id="{35FF017D-0C4D-61AB-E580-64EE46372206}"/>
              </a:ext>
            </a:extLst>
          </p:cNvPr>
          <p:cNvSpPr>
            <a:spLocks/>
          </p:cNvSpPr>
          <p:nvPr/>
        </p:nvSpPr>
        <p:spPr bwMode="auto">
          <a:xfrm>
            <a:off x="438150" y="895350"/>
            <a:ext cx="990600" cy="2228850"/>
          </a:xfrm>
          <a:custGeom>
            <a:avLst/>
            <a:gdLst>
              <a:gd name="G0" fmla="+- 21600 0 0"/>
              <a:gd name="G1" fmla="+- 21600 0 0"/>
              <a:gd name="G2" fmla="+- 21600 0 0"/>
              <a:gd name="T0" fmla="*/ 0 w 21600"/>
              <a:gd name="T1" fmla="*/ 21600 h 21600"/>
              <a:gd name="T2" fmla="*/ 21565 w 21600"/>
              <a:gd name="T3" fmla="*/ 0 h 21600"/>
              <a:gd name="T4" fmla="*/ 21600 w 21600"/>
              <a:gd name="T5" fmla="*/ 216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599"/>
                </a:moveTo>
                <a:cubicBezTo>
                  <a:pt x="0" y="9684"/>
                  <a:pt x="9649" y="19"/>
                  <a:pt x="21565" y="0"/>
                </a:cubicBezTo>
              </a:path>
              <a:path w="21600" h="21600" stroke="0" extrusionOk="0">
                <a:moveTo>
                  <a:pt x="0" y="21599"/>
                </a:moveTo>
                <a:cubicBezTo>
                  <a:pt x="0" y="9684"/>
                  <a:pt x="9649" y="19"/>
                  <a:pt x="21565" y="0"/>
                </a:cubicBezTo>
                <a:lnTo>
                  <a:pt x="21600" y="21600"/>
                </a:lnTo>
                <a:close/>
              </a:path>
            </a:pathLst>
          </a:custGeom>
          <a:noFill/>
          <a:ln w="12700" cap="rnd">
            <a:solidFill>
              <a:srgbClr val="CC0000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>
            <a:extLst>
              <a:ext uri="{FF2B5EF4-FFF2-40B4-BE49-F238E27FC236}">
                <a16:creationId xmlns:a16="http://schemas.microsoft.com/office/drawing/2014/main" id="{574CA506-F2A8-B3C6-8B63-737290F905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5238" y="92075"/>
            <a:ext cx="2366962" cy="3597275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38100" tIns="19050" rIns="38100" bIns="19050"/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FILE SECTION.</a:t>
            </a: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PROCEDURE DIVISION.</a:t>
            </a:r>
          </a:p>
          <a:p>
            <a:pPr>
              <a:lnSpc>
                <a:spcPct val="85000"/>
              </a:lnSpc>
            </a:pPr>
            <a:r>
              <a:rPr lang="en-US" altLang="en-US" sz="1000">
                <a:latin typeface="Courier New" panose="02070309020205020404" pitchFamily="49" charset="0"/>
              </a:rPr>
              <a:t>      etc.</a:t>
            </a:r>
          </a:p>
          <a:p>
            <a:pPr>
              <a:lnSpc>
                <a:spcPct val="85000"/>
              </a:lnSpc>
            </a:pPr>
            <a:r>
              <a:rPr lang="en-US" altLang="en-US" sz="1000">
                <a:latin typeface="Courier New" panose="02070309020205020404" pitchFamily="49" charset="0"/>
              </a:rPr>
              <a:t>      etc.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PERFORM UNTIL EndTF AND EndMF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IF TFKey NOT = MFKey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MOVE MFRec TO NFRec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WRITE NFRec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READ MF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   ELSE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     READ TF </a:t>
            </a:r>
            <a:r>
              <a:rPr lang="en-US" altLang="en-US" sz="1000">
                <a:solidFill>
                  <a:srgbClr val="CC0000"/>
                </a:solidFill>
                <a:latin typeface="Courier New" panose="02070309020205020404" pitchFamily="49" charset="0"/>
              </a:rPr>
              <a:t>etc</a:t>
            </a:r>
            <a:endParaRPr lang="en-US" altLang="en-US" sz="1000" b="1">
              <a:solidFill>
                <a:srgbClr val="CC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03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     READ MF </a:t>
            </a:r>
            <a:r>
              <a:rPr lang="en-US" altLang="en-US" sz="1000">
                <a:solidFill>
                  <a:srgbClr val="CC0000"/>
                </a:solidFill>
                <a:latin typeface="Courier New" panose="02070309020205020404" pitchFamily="49" charset="0"/>
              </a:rPr>
              <a:t>etc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END-IF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END-PERFORM</a:t>
            </a:r>
          </a:p>
        </p:txBody>
      </p:sp>
      <p:sp>
        <p:nvSpPr>
          <p:cNvPr id="13315" name="Rectangle 3">
            <a:extLst>
              <a:ext uri="{FF2B5EF4-FFF2-40B4-BE49-F238E27FC236}">
                <a16:creationId xmlns:a16="http://schemas.microsoft.com/office/drawing/2014/main" id="{5111A614-EA38-2B2E-B743-A9D8DD1E9A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" y="387350"/>
            <a:ext cx="766763" cy="6223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RecordB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RecordK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RecordM</a:t>
            </a:r>
          </a:p>
        </p:txBody>
      </p:sp>
      <p:sp>
        <p:nvSpPr>
          <p:cNvPr id="13316" name="Rectangle 4">
            <a:extLst>
              <a:ext uri="{FF2B5EF4-FFF2-40B4-BE49-F238E27FC236}">
                <a16:creationId xmlns:a16="http://schemas.microsoft.com/office/drawing/2014/main" id="{709C0D9C-0740-372F-9B17-9E24E39E22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" y="212725"/>
            <a:ext cx="912813" cy="168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Trans File (TF)</a:t>
            </a:r>
          </a:p>
        </p:txBody>
      </p:sp>
      <p:sp>
        <p:nvSpPr>
          <p:cNvPr id="13317" name="Rectangle 5">
            <a:extLst>
              <a:ext uri="{FF2B5EF4-FFF2-40B4-BE49-F238E27FC236}">
                <a16:creationId xmlns:a16="http://schemas.microsoft.com/office/drawing/2014/main" id="{BD77AD1D-75EF-0F23-6872-4D4079782B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" y="2390775"/>
            <a:ext cx="766763" cy="130175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RecordA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RecordB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RecordG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RecordH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RecordK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RecordM</a:t>
            </a:r>
            <a:endParaRPr lang="en-US" altLang="en-US" sz="1200" b="1">
              <a:latin typeface="Courier New" panose="02070309020205020404" pitchFamily="49" charset="0"/>
            </a:endParaRP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RecordN</a:t>
            </a:r>
          </a:p>
        </p:txBody>
      </p:sp>
      <p:sp>
        <p:nvSpPr>
          <p:cNvPr id="13318" name="Rectangle 6">
            <a:extLst>
              <a:ext uri="{FF2B5EF4-FFF2-40B4-BE49-F238E27FC236}">
                <a16:creationId xmlns:a16="http://schemas.microsoft.com/office/drawing/2014/main" id="{64A0354D-AE05-13D8-72D4-A636B54367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" y="2205038"/>
            <a:ext cx="1012825" cy="19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Master File (MF</a:t>
            </a:r>
            <a:r>
              <a:rPr lang="en-US" altLang="en-US" sz="1200" b="1"/>
              <a:t>)</a:t>
            </a:r>
          </a:p>
        </p:txBody>
      </p:sp>
      <p:sp>
        <p:nvSpPr>
          <p:cNvPr id="13319" name="Rectangle 7">
            <a:extLst>
              <a:ext uri="{FF2B5EF4-FFF2-40B4-BE49-F238E27FC236}">
                <a16:creationId xmlns:a16="http://schemas.microsoft.com/office/drawing/2014/main" id="{449C9C00-E38E-4216-FD21-2F20B7DEA0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73500" y="387350"/>
            <a:ext cx="766763" cy="85725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/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RecordA</a:t>
            </a:r>
            <a:endParaRPr lang="en-US" altLang="en-US" sz="1200" b="1">
              <a:solidFill>
                <a:srgbClr val="CC0000"/>
              </a:solidFill>
              <a:latin typeface="Courier New" panose="02070309020205020404" pitchFamily="49" charset="0"/>
            </a:endParaRPr>
          </a:p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RecordG</a:t>
            </a:r>
            <a:endParaRPr lang="en-US" altLang="en-US" sz="1200" b="1">
              <a:solidFill>
                <a:srgbClr val="CC0000"/>
              </a:solidFill>
              <a:latin typeface="Courier New" panose="02070309020205020404" pitchFamily="49" charset="0"/>
            </a:endParaRPr>
          </a:p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RecordH</a:t>
            </a:r>
            <a:endParaRPr lang="en-US" altLang="en-US" sz="1200" b="1">
              <a:solidFill>
                <a:srgbClr val="CC0000"/>
              </a:solidFill>
              <a:latin typeface="Courier New" panose="02070309020205020404" pitchFamily="49" charset="0"/>
            </a:endParaRPr>
          </a:p>
          <a:p>
            <a:endParaRPr lang="en-US" altLang="en-US" sz="1200" b="1">
              <a:solidFill>
                <a:srgbClr val="CC0000"/>
              </a:solidFill>
              <a:latin typeface="Courier New" panose="02070309020205020404" pitchFamily="49" charset="0"/>
            </a:endParaRPr>
          </a:p>
        </p:txBody>
      </p:sp>
      <p:sp>
        <p:nvSpPr>
          <p:cNvPr id="13320" name="Rectangle 8">
            <a:extLst>
              <a:ext uri="{FF2B5EF4-FFF2-40B4-BE49-F238E27FC236}">
                <a16:creationId xmlns:a16="http://schemas.microsoft.com/office/drawing/2014/main" id="{7703201C-5480-08FA-0698-02ACF49D79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5575" y="385763"/>
            <a:ext cx="1463675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RecordM</a:t>
            </a:r>
          </a:p>
        </p:txBody>
      </p:sp>
      <p:sp>
        <p:nvSpPr>
          <p:cNvPr id="13321" name="Rectangle 9">
            <a:extLst>
              <a:ext uri="{FF2B5EF4-FFF2-40B4-BE49-F238E27FC236}">
                <a16:creationId xmlns:a16="http://schemas.microsoft.com/office/drawing/2014/main" id="{A14844EB-FD83-FB88-5FFA-C2FCE755C2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3500" y="204788"/>
            <a:ext cx="460375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TFRec</a:t>
            </a:r>
          </a:p>
        </p:txBody>
      </p:sp>
      <p:sp>
        <p:nvSpPr>
          <p:cNvPr id="13322" name="Rectangle 10">
            <a:extLst>
              <a:ext uri="{FF2B5EF4-FFF2-40B4-BE49-F238E27FC236}">
                <a16:creationId xmlns:a16="http://schemas.microsoft.com/office/drawing/2014/main" id="{5503DEA8-D0D4-121D-50CF-B916C845E1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750" y="795338"/>
            <a:ext cx="1460500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RecordM</a:t>
            </a:r>
          </a:p>
        </p:txBody>
      </p:sp>
      <p:sp>
        <p:nvSpPr>
          <p:cNvPr id="13323" name="Rectangle 11">
            <a:extLst>
              <a:ext uri="{FF2B5EF4-FFF2-40B4-BE49-F238E27FC236}">
                <a16:creationId xmlns:a16="http://schemas.microsoft.com/office/drawing/2014/main" id="{B8CF3FBD-3B95-2CC4-A707-D138FB0038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623888"/>
            <a:ext cx="48895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MFRec</a:t>
            </a:r>
          </a:p>
        </p:txBody>
      </p:sp>
      <p:sp>
        <p:nvSpPr>
          <p:cNvPr id="13324" name="Rectangle 12">
            <a:extLst>
              <a:ext uri="{FF2B5EF4-FFF2-40B4-BE49-F238E27FC236}">
                <a16:creationId xmlns:a16="http://schemas.microsoft.com/office/drawing/2014/main" id="{DCF524E6-9332-0B91-185C-7B979A306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750" y="1214438"/>
            <a:ext cx="1460500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RecordH</a:t>
            </a:r>
          </a:p>
        </p:txBody>
      </p:sp>
      <p:sp>
        <p:nvSpPr>
          <p:cNvPr id="13325" name="Rectangle 13">
            <a:extLst>
              <a:ext uri="{FF2B5EF4-FFF2-40B4-BE49-F238E27FC236}">
                <a16:creationId xmlns:a16="http://schemas.microsoft.com/office/drawing/2014/main" id="{A7E4E671-8EE4-0C01-4C07-53B4CD61EB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1042988"/>
            <a:ext cx="471488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NFRec</a:t>
            </a:r>
          </a:p>
        </p:txBody>
      </p:sp>
      <p:sp>
        <p:nvSpPr>
          <p:cNvPr id="13326" name="Rectangle 14">
            <a:extLst>
              <a:ext uri="{FF2B5EF4-FFF2-40B4-BE49-F238E27FC236}">
                <a16:creationId xmlns:a16="http://schemas.microsoft.com/office/drawing/2014/main" id="{C1ABDA6C-89B6-ABA8-343F-01D6CE3DA3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68738" y="187325"/>
            <a:ext cx="815975" cy="19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NewFile (NF</a:t>
            </a:r>
            <a:r>
              <a:rPr lang="en-US" altLang="en-US" sz="1200" b="1">
                <a:latin typeface="Times New Roman" panose="02020603050405020304" pitchFamily="18" charset="0"/>
              </a:rPr>
              <a:t>)</a:t>
            </a:r>
          </a:p>
        </p:txBody>
      </p:sp>
      <p:sp>
        <p:nvSpPr>
          <p:cNvPr id="13327" name="AutoShape 15">
            <a:extLst>
              <a:ext uri="{FF2B5EF4-FFF2-40B4-BE49-F238E27FC236}">
                <a16:creationId xmlns:a16="http://schemas.microsoft.com/office/drawing/2014/main" id="{47B53852-8074-D303-5069-A8A380CEDF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347345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3328" name="AutoShape 16">
            <a:extLst>
              <a:ext uri="{FF2B5EF4-FFF2-40B4-BE49-F238E27FC236}">
                <a16:creationId xmlns:a16="http://schemas.microsoft.com/office/drawing/2014/main" id="{8FBF3BA6-C05E-490D-B46D-CE2229868A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87775" y="109220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3329" name="Arc 17">
            <a:extLst>
              <a:ext uri="{FF2B5EF4-FFF2-40B4-BE49-F238E27FC236}">
                <a16:creationId xmlns:a16="http://schemas.microsoft.com/office/drawing/2014/main" id="{EB5974CE-18B8-51A9-3007-631EA8B1C7BB}"/>
              </a:ext>
            </a:extLst>
          </p:cNvPr>
          <p:cNvSpPr>
            <a:spLocks/>
          </p:cNvSpPr>
          <p:nvPr/>
        </p:nvSpPr>
        <p:spPr bwMode="auto">
          <a:xfrm>
            <a:off x="438150" y="896938"/>
            <a:ext cx="1009650" cy="2400300"/>
          </a:xfrm>
          <a:custGeom>
            <a:avLst/>
            <a:gdLst>
              <a:gd name="G0" fmla="+- 21600 0 0"/>
              <a:gd name="G1" fmla="+- 21600 0 0"/>
              <a:gd name="G2" fmla="+- 21600 0 0"/>
              <a:gd name="T0" fmla="*/ 0 w 21600"/>
              <a:gd name="T1" fmla="*/ 21600 h 21600"/>
              <a:gd name="T2" fmla="*/ 21566 w 21600"/>
              <a:gd name="T3" fmla="*/ 0 h 21600"/>
              <a:gd name="T4" fmla="*/ 21600 w 21600"/>
              <a:gd name="T5" fmla="*/ 216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599"/>
                </a:moveTo>
                <a:cubicBezTo>
                  <a:pt x="0" y="9683"/>
                  <a:pt x="9649" y="18"/>
                  <a:pt x="21566" y="0"/>
                </a:cubicBezTo>
              </a:path>
              <a:path w="21600" h="21600" stroke="0" extrusionOk="0">
                <a:moveTo>
                  <a:pt x="0" y="21599"/>
                </a:moveTo>
                <a:cubicBezTo>
                  <a:pt x="0" y="9683"/>
                  <a:pt x="9649" y="18"/>
                  <a:pt x="21566" y="0"/>
                </a:cubicBezTo>
                <a:lnTo>
                  <a:pt x="21600" y="21600"/>
                </a:lnTo>
                <a:close/>
              </a:path>
            </a:pathLst>
          </a:custGeom>
          <a:noFill/>
          <a:ln w="12700" cap="rnd">
            <a:solidFill>
              <a:srgbClr val="CC0000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0" name="Line 18">
            <a:extLst>
              <a:ext uri="{FF2B5EF4-FFF2-40B4-BE49-F238E27FC236}">
                <a16:creationId xmlns:a16="http://schemas.microsoft.com/office/drawing/2014/main" id="{4E424565-7DD1-63B2-EFB8-8985528CA5A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57250" y="495300"/>
            <a:ext cx="571500" cy="381000"/>
          </a:xfrm>
          <a:prstGeom prst="line">
            <a:avLst/>
          </a:prstGeom>
          <a:noFill/>
          <a:ln w="12700">
            <a:solidFill>
              <a:srgbClr val="CC0000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1" name="AutoShape 19">
            <a:extLst>
              <a:ext uri="{FF2B5EF4-FFF2-40B4-BE49-F238E27FC236}">
                <a16:creationId xmlns:a16="http://schemas.microsoft.com/office/drawing/2014/main" id="{F61A9F25-623A-71BA-7180-1CF9D023C5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101600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D8F7D431-26CF-0297-187B-EE0FF49151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5238" y="92075"/>
            <a:ext cx="2366962" cy="3597275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38100" tIns="19050" rIns="38100" bIns="19050"/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FILE SECTION.</a:t>
            </a: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PROCEDURE DIVISION.</a:t>
            </a:r>
          </a:p>
          <a:p>
            <a:pPr>
              <a:lnSpc>
                <a:spcPct val="85000"/>
              </a:lnSpc>
            </a:pPr>
            <a:r>
              <a:rPr lang="en-US" altLang="en-US" sz="1000">
                <a:latin typeface="Courier New" panose="02070309020205020404" pitchFamily="49" charset="0"/>
              </a:rPr>
              <a:t>      etc.</a:t>
            </a:r>
          </a:p>
          <a:p>
            <a:pPr>
              <a:lnSpc>
                <a:spcPct val="85000"/>
              </a:lnSpc>
            </a:pPr>
            <a:r>
              <a:rPr lang="en-US" altLang="en-US" sz="1000">
                <a:latin typeface="Courier New" panose="02070309020205020404" pitchFamily="49" charset="0"/>
              </a:rPr>
              <a:t>      etc.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PERFORM UNTIL EndTF AND EndMF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IF TFKey NOT = MFKey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MOVE MFRec TO NFRec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WRITE NFRec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READ MF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   ELSE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     READ TF </a:t>
            </a:r>
            <a:r>
              <a:rPr lang="en-US" altLang="en-US" sz="1000">
                <a:solidFill>
                  <a:srgbClr val="CC0000"/>
                </a:solidFill>
                <a:latin typeface="Courier New" panose="02070309020205020404" pitchFamily="49" charset="0"/>
              </a:rPr>
              <a:t>etc</a:t>
            </a:r>
            <a:endParaRPr lang="en-US" altLang="en-US" sz="1000" b="1">
              <a:solidFill>
                <a:srgbClr val="CC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03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     READ MF </a:t>
            </a:r>
            <a:r>
              <a:rPr lang="en-US" altLang="en-US" sz="1000">
                <a:solidFill>
                  <a:srgbClr val="CC0000"/>
                </a:solidFill>
                <a:latin typeface="Courier New" panose="02070309020205020404" pitchFamily="49" charset="0"/>
              </a:rPr>
              <a:t>etc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END-IF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END-PERFORM</a:t>
            </a:r>
          </a:p>
        </p:txBody>
      </p:sp>
      <p:sp>
        <p:nvSpPr>
          <p:cNvPr id="14339" name="Rectangle 3">
            <a:extLst>
              <a:ext uri="{FF2B5EF4-FFF2-40B4-BE49-F238E27FC236}">
                <a16:creationId xmlns:a16="http://schemas.microsoft.com/office/drawing/2014/main" id="{3FD221DA-A9E7-3CB6-525C-DC3940BB8B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" y="387350"/>
            <a:ext cx="766763" cy="6223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RecordB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RecordK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RecordM</a:t>
            </a:r>
          </a:p>
        </p:txBody>
      </p:sp>
      <p:sp>
        <p:nvSpPr>
          <p:cNvPr id="14340" name="Rectangle 4">
            <a:extLst>
              <a:ext uri="{FF2B5EF4-FFF2-40B4-BE49-F238E27FC236}">
                <a16:creationId xmlns:a16="http://schemas.microsoft.com/office/drawing/2014/main" id="{09616267-CDB2-73F8-A375-E4D1F2D016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" y="212725"/>
            <a:ext cx="912813" cy="168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Trans File (TF)</a:t>
            </a:r>
          </a:p>
        </p:txBody>
      </p:sp>
      <p:sp>
        <p:nvSpPr>
          <p:cNvPr id="14341" name="Rectangle 5">
            <a:extLst>
              <a:ext uri="{FF2B5EF4-FFF2-40B4-BE49-F238E27FC236}">
                <a16:creationId xmlns:a16="http://schemas.microsoft.com/office/drawing/2014/main" id="{44A6D17F-AF61-378E-216C-3F74FD18C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" y="2390775"/>
            <a:ext cx="766763" cy="130175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RecordA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RecordB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RecordG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RecordH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RecordK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RecordM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RecordN</a:t>
            </a:r>
          </a:p>
        </p:txBody>
      </p:sp>
      <p:sp>
        <p:nvSpPr>
          <p:cNvPr id="14342" name="Rectangle 6">
            <a:extLst>
              <a:ext uri="{FF2B5EF4-FFF2-40B4-BE49-F238E27FC236}">
                <a16:creationId xmlns:a16="http://schemas.microsoft.com/office/drawing/2014/main" id="{8DB82D98-AA90-82B4-99E7-CEB3B53F15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" y="2205038"/>
            <a:ext cx="1012825" cy="19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Master File (MF</a:t>
            </a:r>
            <a:r>
              <a:rPr lang="en-US" altLang="en-US" sz="1200" b="1"/>
              <a:t>)</a:t>
            </a:r>
          </a:p>
        </p:txBody>
      </p:sp>
      <p:sp>
        <p:nvSpPr>
          <p:cNvPr id="14343" name="Rectangle 7">
            <a:extLst>
              <a:ext uri="{FF2B5EF4-FFF2-40B4-BE49-F238E27FC236}">
                <a16:creationId xmlns:a16="http://schemas.microsoft.com/office/drawing/2014/main" id="{E91E13FC-9CE0-D69C-4A61-B3D4FAE051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73500" y="387350"/>
            <a:ext cx="766763" cy="85725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/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RecordA</a:t>
            </a:r>
            <a:endParaRPr lang="en-US" altLang="en-US" sz="1200" b="1">
              <a:solidFill>
                <a:srgbClr val="CC0000"/>
              </a:solidFill>
              <a:latin typeface="Courier New" panose="02070309020205020404" pitchFamily="49" charset="0"/>
            </a:endParaRPr>
          </a:p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RecordG</a:t>
            </a:r>
            <a:endParaRPr lang="en-US" altLang="en-US" sz="1200" b="1">
              <a:solidFill>
                <a:srgbClr val="CC0000"/>
              </a:solidFill>
              <a:latin typeface="Courier New" panose="02070309020205020404" pitchFamily="49" charset="0"/>
            </a:endParaRPr>
          </a:p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RecordH</a:t>
            </a:r>
            <a:endParaRPr lang="en-US" altLang="en-US" sz="1200" b="1">
              <a:solidFill>
                <a:srgbClr val="CC0000"/>
              </a:solidFill>
              <a:latin typeface="Courier New" panose="02070309020205020404" pitchFamily="49" charset="0"/>
            </a:endParaRPr>
          </a:p>
          <a:p>
            <a:endParaRPr lang="en-US" altLang="en-US" sz="1200" b="1">
              <a:solidFill>
                <a:srgbClr val="CC0000"/>
              </a:solidFill>
              <a:latin typeface="Courier New" panose="02070309020205020404" pitchFamily="49" charset="0"/>
            </a:endParaRPr>
          </a:p>
        </p:txBody>
      </p:sp>
      <p:sp>
        <p:nvSpPr>
          <p:cNvPr id="14344" name="Rectangle 8">
            <a:extLst>
              <a:ext uri="{FF2B5EF4-FFF2-40B4-BE49-F238E27FC236}">
                <a16:creationId xmlns:a16="http://schemas.microsoft.com/office/drawing/2014/main" id="{01022275-E0F8-50D8-96C4-BA1B182BB8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5575" y="385763"/>
            <a:ext cx="1463675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400">
                <a:solidFill>
                  <a:srgbClr val="CC0000"/>
                </a:solidFill>
                <a:latin typeface="Wingdings" panose="05000000000000000000" pitchFamily="2" charset="2"/>
              </a:rPr>
              <a:t>JJJJJJJJJ</a:t>
            </a:r>
          </a:p>
        </p:txBody>
      </p:sp>
      <p:sp>
        <p:nvSpPr>
          <p:cNvPr id="14345" name="Rectangle 9">
            <a:extLst>
              <a:ext uri="{FF2B5EF4-FFF2-40B4-BE49-F238E27FC236}">
                <a16:creationId xmlns:a16="http://schemas.microsoft.com/office/drawing/2014/main" id="{B133B8F0-D57F-9FEC-22EE-7FA57D90D0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3500" y="204788"/>
            <a:ext cx="460375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TFRec</a:t>
            </a:r>
          </a:p>
        </p:txBody>
      </p:sp>
      <p:sp>
        <p:nvSpPr>
          <p:cNvPr id="14346" name="Rectangle 10">
            <a:extLst>
              <a:ext uri="{FF2B5EF4-FFF2-40B4-BE49-F238E27FC236}">
                <a16:creationId xmlns:a16="http://schemas.microsoft.com/office/drawing/2014/main" id="{95296E2A-C241-03EC-A3FB-13BB1504E0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750" y="795338"/>
            <a:ext cx="1460500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RecordN</a:t>
            </a:r>
          </a:p>
        </p:txBody>
      </p:sp>
      <p:sp>
        <p:nvSpPr>
          <p:cNvPr id="14347" name="Rectangle 11">
            <a:extLst>
              <a:ext uri="{FF2B5EF4-FFF2-40B4-BE49-F238E27FC236}">
                <a16:creationId xmlns:a16="http://schemas.microsoft.com/office/drawing/2014/main" id="{9136DB61-AE4B-D6D3-7B8C-B5D971B555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623888"/>
            <a:ext cx="48895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MFRec</a:t>
            </a:r>
          </a:p>
        </p:txBody>
      </p:sp>
      <p:sp>
        <p:nvSpPr>
          <p:cNvPr id="14348" name="Rectangle 12">
            <a:extLst>
              <a:ext uri="{FF2B5EF4-FFF2-40B4-BE49-F238E27FC236}">
                <a16:creationId xmlns:a16="http://schemas.microsoft.com/office/drawing/2014/main" id="{4F22A3FE-2BD9-5C06-A704-0E76BD29C5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750" y="1214438"/>
            <a:ext cx="1460500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RecordH</a:t>
            </a:r>
          </a:p>
        </p:txBody>
      </p:sp>
      <p:sp>
        <p:nvSpPr>
          <p:cNvPr id="14349" name="Rectangle 13">
            <a:extLst>
              <a:ext uri="{FF2B5EF4-FFF2-40B4-BE49-F238E27FC236}">
                <a16:creationId xmlns:a16="http://schemas.microsoft.com/office/drawing/2014/main" id="{93F94665-97EA-8781-989C-28D6FE809F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1042988"/>
            <a:ext cx="471488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NFRec</a:t>
            </a:r>
          </a:p>
        </p:txBody>
      </p:sp>
      <p:sp>
        <p:nvSpPr>
          <p:cNvPr id="14350" name="Rectangle 14">
            <a:extLst>
              <a:ext uri="{FF2B5EF4-FFF2-40B4-BE49-F238E27FC236}">
                <a16:creationId xmlns:a16="http://schemas.microsoft.com/office/drawing/2014/main" id="{74911754-D9BE-FAC7-0252-41F3253191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68738" y="187325"/>
            <a:ext cx="815975" cy="19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NewFile (NF</a:t>
            </a:r>
            <a:r>
              <a:rPr lang="en-US" altLang="en-US" sz="1200" b="1">
                <a:latin typeface="Times New Roman" panose="02020603050405020304" pitchFamily="18" charset="0"/>
              </a:rPr>
              <a:t>)</a:t>
            </a:r>
          </a:p>
        </p:txBody>
      </p:sp>
      <p:sp>
        <p:nvSpPr>
          <p:cNvPr id="14351" name="AutoShape 15">
            <a:extLst>
              <a:ext uri="{FF2B5EF4-FFF2-40B4-BE49-F238E27FC236}">
                <a16:creationId xmlns:a16="http://schemas.microsoft.com/office/drawing/2014/main" id="{A8CCB856-6961-C311-6B86-2A8CAD7DC6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3640138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4352" name="AutoShape 16">
            <a:extLst>
              <a:ext uri="{FF2B5EF4-FFF2-40B4-BE49-F238E27FC236}">
                <a16:creationId xmlns:a16="http://schemas.microsoft.com/office/drawing/2014/main" id="{E8BCDDDD-FF48-D75C-D68A-0AF9A468D4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101600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4353" name="AutoShape 17">
            <a:extLst>
              <a:ext uri="{FF2B5EF4-FFF2-40B4-BE49-F238E27FC236}">
                <a16:creationId xmlns:a16="http://schemas.microsoft.com/office/drawing/2014/main" id="{8AC8EF58-F47F-8A9B-B09B-6B56C22DA2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87775" y="109220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4354" name="Arc 18">
            <a:extLst>
              <a:ext uri="{FF2B5EF4-FFF2-40B4-BE49-F238E27FC236}">
                <a16:creationId xmlns:a16="http://schemas.microsoft.com/office/drawing/2014/main" id="{579932EC-0A52-0B1D-025F-27B50BBFC06D}"/>
              </a:ext>
            </a:extLst>
          </p:cNvPr>
          <p:cNvSpPr>
            <a:spLocks/>
          </p:cNvSpPr>
          <p:nvPr/>
        </p:nvSpPr>
        <p:spPr bwMode="auto">
          <a:xfrm>
            <a:off x="438150" y="895350"/>
            <a:ext cx="1009650" cy="2590800"/>
          </a:xfrm>
          <a:custGeom>
            <a:avLst/>
            <a:gdLst>
              <a:gd name="G0" fmla="+- 21600 0 0"/>
              <a:gd name="G1" fmla="+- 21600 0 0"/>
              <a:gd name="G2" fmla="+- 21600 0 0"/>
              <a:gd name="T0" fmla="*/ 0 w 21600"/>
              <a:gd name="T1" fmla="*/ 21600 h 21600"/>
              <a:gd name="T2" fmla="*/ 21566 w 21600"/>
              <a:gd name="T3" fmla="*/ 0 h 21600"/>
              <a:gd name="T4" fmla="*/ 21600 w 21600"/>
              <a:gd name="T5" fmla="*/ 216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599"/>
                </a:moveTo>
                <a:cubicBezTo>
                  <a:pt x="0" y="9683"/>
                  <a:pt x="9649" y="18"/>
                  <a:pt x="21566" y="0"/>
                </a:cubicBezTo>
              </a:path>
              <a:path w="21600" h="21600" stroke="0" extrusionOk="0">
                <a:moveTo>
                  <a:pt x="0" y="21599"/>
                </a:moveTo>
                <a:cubicBezTo>
                  <a:pt x="0" y="9683"/>
                  <a:pt x="9649" y="18"/>
                  <a:pt x="21566" y="0"/>
                </a:cubicBezTo>
                <a:lnTo>
                  <a:pt x="21600" y="21600"/>
                </a:lnTo>
                <a:close/>
              </a:path>
            </a:pathLst>
          </a:custGeom>
          <a:noFill/>
          <a:ln w="12700" cap="rnd">
            <a:solidFill>
              <a:srgbClr val="CC0000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55" name="AutoShape 19">
            <a:extLst>
              <a:ext uri="{FF2B5EF4-FFF2-40B4-BE49-F238E27FC236}">
                <a16:creationId xmlns:a16="http://schemas.microsoft.com/office/drawing/2014/main" id="{BD21755B-C2F2-622C-E037-2A07B048FA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3350" y="101600"/>
            <a:ext cx="1054100" cy="211667"/>
          </a:xfrm>
          <a:prstGeom prst="wedgeRoundRectCallout">
            <a:avLst>
              <a:gd name="adj1" fmla="val -41671"/>
              <a:gd name="adj2" fmla="val 66667"/>
              <a:gd name="adj3" fmla="val 16667"/>
            </a:avLst>
          </a:prstGeom>
          <a:solidFill>
            <a:srgbClr val="FFFF99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HIGH-VALUES</a:t>
            </a:r>
          </a:p>
        </p:txBody>
      </p:sp>
      <p:sp>
        <p:nvSpPr>
          <p:cNvPr id="14356" name="Arc 20">
            <a:extLst>
              <a:ext uri="{FF2B5EF4-FFF2-40B4-BE49-F238E27FC236}">
                <a16:creationId xmlns:a16="http://schemas.microsoft.com/office/drawing/2014/main" id="{599D1C45-960A-511D-08D6-BD5E8238C4F3}"/>
              </a:ext>
            </a:extLst>
          </p:cNvPr>
          <p:cNvSpPr>
            <a:spLocks/>
          </p:cNvSpPr>
          <p:nvPr/>
        </p:nvSpPr>
        <p:spPr bwMode="auto">
          <a:xfrm>
            <a:off x="1011238" y="457200"/>
            <a:ext cx="400050" cy="476250"/>
          </a:xfrm>
          <a:custGeom>
            <a:avLst/>
            <a:gdLst>
              <a:gd name="G0" fmla="+- 21600 0 0"/>
              <a:gd name="G1" fmla="+- 21600 0 0"/>
              <a:gd name="G2" fmla="+- 21600 0 0"/>
              <a:gd name="T0" fmla="*/ 0 w 21600"/>
              <a:gd name="T1" fmla="*/ 21600 h 21600"/>
              <a:gd name="T2" fmla="*/ 21514 w 21600"/>
              <a:gd name="T3" fmla="*/ 0 h 21600"/>
              <a:gd name="T4" fmla="*/ 21600 w 21600"/>
              <a:gd name="T5" fmla="*/ 216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599"/>
                </a:moveTo>
                <a:cubicBezTo>
                  <a:pt x="0" y="9704"/>
                  <a:pt x="9618" y="47"/>
                  <a:pt x="21514" y="0"/>
                </a:cubicBezTo>
              </a:path>
              <a:path w="21600" h="21600" stroke="0" extrusionOk="0">
                <a:moveTo>
                  <a:pt x="0" y="21599"/>
                </a:moveTo>
                <a:cubicBezTo>
                  <a:pt x="0" y="9704"/>
                  <a:pt x="9618" y="47"/>
                  <a:pt x="21514" y="0"/>
                </a:cubicBezTo>
                <a:lnTo>
                  <a:pt x="21600" y="21600"/>
                </a:lnTo>
                <a:close/>
              </a:path>
            </a:pathLst>
          </a:custGeom>
          <a:noFill/>
          <a:ln w="12700" cap="rnd">
            <a:solidFill>
              <a:srgbClr val="CC0000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57" name="Arc 21">
            <a:extLst>
              <a:ext uri="{FF2B5EF4-FFF2-40B4-BE49-F238E27FC236}">
                <a16:creationId xmlns:a16="http://schemas.microsoft.com/office/drawing/2014/main" id="{A8460EE8-A36B-71CB-8B49-8A30B9C611E0}"/>
              </a:ext>
            </a:extLst>
          </p:cNvPr>
          <p:cNvSpPr>
            <a:spLocks/>
          </p:cNvSpPr>
          <p:nvPr/>
        </p:nvSpPr>
        <p:spPr bwMode="auto">
          <a:xfrm>
            <a:off x="133350" y="895350"/>
            <a:ext cx="877888" cy="342900"/>
          </a:xfrm>
          <a:custGeom>
            <a:avLst/>
            <a:gdLst>
              <a:gd name="G0" fmla="+- 14216 0 0"/>
              <a:gd name="G1" fmla="+- 0 0 0"/>
              <a:gd name="G2" fmla="+- 21600 0 0"/>
              <a:gd name="T0" fmla="*/ 35816 w 35816"/>
              <a:gd name="T1" fmla="*/ 0 h 21600"/>
              <a:gd name="T2" fmla="*/ 0 w 35816"/>
              <a:gd name="T3" fmla="*/ 16262 h 21600"/>
              <a:gd name="T4" fmla="*/ 14216 w 35816"/>
              <a:gd name="T5" fmla="*/ 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35816" h="21600" fill="none" extrusionOk="0">
                <a:moveTo>
                  <a:pt x="35816" y="0"/>
                </a:moveTo>
                <a:cubicBezTo>
                  <a:pt x="35816" y="11929"/>
                  <a:pt x="26145" y="21600"/>
                  <a:pt x="14216" y="21600"/>
                </a:cubicBezTo>
                <a:cubicBezTo>
                  <a:pt x="8987" y="21599"/>
                  <a:pt x="3936" y="19703"/>
                  <a:pt x="-1" y="16262"/>
                </a:cubicBezTo>
              </a:path>
              <a:path w="35816" h="21600" stroke="0" extrusionOk="0">
                <a:moveTo>
                  <a:pt x="35816" y="0"/>
                </a:moveTo>
                <a:cubicBezTo>
                  <a:pt x="35816" y="11929"/>
                  <a:pt x="26145" y="21600"/>
                  <a:pt x="14216" y="21600"/>
                </a:cubicBezTo>
                <a:cubicBezTo>
                  <a:pt x="8987" y="21599"/>
                  <a:pt x="3936" y="19703"/>
                  <a:pt x="-1" y="16262"/>
                </a:cubicBezTo>
                <a:lnTo>
                  <a:pt x="14216" y="0"/>
                </a:lnTo>
                <a:close/>
              </a:path>
            </a:pathLst>
          </a:custGeom>
          <a:noFill/>
          <a:ln w="12700" cap="rnd">
            <a:solidFill>
              <a:srgbClr val="CC0000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>
            <a:extLst>
              <a:ext uri="{FF2B5EF4-FFF2-40B4-BE49-F238E27FC236}">
                <a16:creationId xmlns:a16="http://schemas.microsoft.com/office/drawing/2014/main" id="{0B92C251-0AA4-4DBA-426F-20B3EEDB7B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5238" y="92075"/>
            <a:ext cx="2366962" cy="3597275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38100" tIns="19050" rIns="38100" bIns="19050"/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FILE SECTION.</a:t>
            </a: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PROCEDURE DIVISION.</a:t>
            </a:r>
          </a:p>
          <a:p>
            <a:pPr>
              <a:lnSpc>
                <a:spcPct val="85000"/>
              </a:lnSpc>
            </a:pPr>
            <a:r>
              <a:rPr lang="en-US" altLang="en-US" sz="1000">
                <a:latin typeface="Courier New" panose="02070309020205020404" pitchFamily="49" charset="0"/>
              </a:rPr>
              <a:t>      etc.</a:t>
            </a:r>
          </a:p>
          <a:p>
            <a:pPr>
              <a:lnSpc>
                <a:spcPct val="85000"/>
              </a:lnSpc>
            </a:pPr>
            <a:r>
              <a:rPr lang="en-US" altLang="en-US" sz="1000">
                <a:latin typeface="Courier New" panose="02070309020205020404" pitchFamily="49" charset="0"/>
              </a:rPr>
              <a:t>      etc.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PERFORM UNTIL EndTF AND EndMF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  IF TFKey NOT = MFKey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     MOVE MFRec TO NFRec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     WRITE NFRec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READ MF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ELSE</a:t>
            </a: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READ TF </a:t>
            </a:r>
            <a:r>
              <a:rPr lang="en-US" altLang="en-US" sz="1000">
                <a:latin typeface="Courier New" panose="02070309020205020404" pitchFamily="49" charset="0"/>
              </a:rPr>
              <a:t>etc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READ MF </a:t>
            </a:r>
            <a:r>
              <a:rPr lang="en-US" altLang="en-US" sz="1000">
                <a:latin typeface="Courier New" panose="02070309020205020404" pitchFamily="49" charset="0"/>
              </a:rPr>
              <a:t>etc</a:t>
            </a: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103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END-IF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END-PERFORM</a:t>
            </a:r>
          </a:p>
        </p:txBody>
      </p:sp>
      <p:sp>
        <p:nvSpPr>
          <p:cNvPr id="15363" name="Rectangle 3">
            <a:extLst>
              <a:ext uri="{FF2B5EF4-FFF2-40B4-BE49-F238E27FC236}">
                <a16:creationId xmlns:a16="http://schemas.microsoft.com/office/drawing/2014/main" id="{5C9933A8-34A9-2A45-97CE-0D9531C235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" y="387350"/>
            <a:ext cx="766763" cy="6223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RecordB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RecordK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RecordM</a:t>
            </a:r>
          </a:p>
        </p:txBody>
      </p:sp>
      <p:sp>
        <p:nvSpPr>
          <p:cNvPr id="15364" name="Rectangle 4">
            <a:extLst>
              <a:ext uri="{FF2B5EF4-FFF2-40B4-BE49-F238E27FC236}">
                <a16:creationId xmlns:a16="http://schemas.microsoft.com/office/drawing/2014/main" id="{71F8856C-0628-90FD-8D6D-09B54FBCAB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" y="212725"/>
            <a:ext cx="912813" cy="168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Trans File (TF)</a:t>
            </a:r>
          </a:p>
        </p:txBody>
      </p:sp>
      <p:sp>
        <p:nvSpPr>
          <p:cNvPr id="15365" name="Rectangle 5">
            <a:extLst>
              <a:ext uri="{FF2B5EF4-FFF2-40B4-BE49-F238E27FC236}">
                <a16:creationId xmlns:a16="http://schemas.microsoft.com/office/drawing/2014/main" id="{42994504-6A19-B9D0-EB4D-B81B8CD20F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" y="2390775"/>
            <a:ext cx="766763" cy="130175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RecordA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RecordB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RecordG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RecordH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RecordK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RecordM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RecordN</a:t>
            </a:r>
          </a:p>
        </p:txBody>
      </p:sp>
      <p:sp>
        <p:nvSpPr>
          <p:cNvPr id="15366" name="Rectangle 6">
            <a:extLst>
              <a:ext uri="{FF2B5EF4-FFF2-40B4-BE49-F238E27FC236}">
                <a16:creationId xmlns:a16="http://schemas.microsoft.com/office/drawing/2014/main" id="{4630F1DB-208C-8589-7B17-9E2FC11131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" y="2205038"/>
            <a:ext cx="1012825" cy="19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Master File (MF</a:t>
            </a:r>
            <a:r>
              <a:rPr lang="en-US" altLang="en-US" sz="1200" b="1"/>
              <a:t>)</a:t>
            </a:r>
          </a:p>
        </p:txBody>
      </p:sp>
      <p:sp>
        <p:nvSpPr>
          <p:cNvPr id="15367" name="Rectangle 7">
            <a:extLst>
              <a:ext uri="{FF2B5EF4-FFF2-40B4-BE49-F238E27FC236}">
                <a16:creationId xmlns:a16="http://schemas.microsoft.com/office/drawing/2014/main" id="{F8912C96-21CC-4AF8-58C2-01B412CEA5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73500" y="387350"/>
            <a:ext cx="766763" cy="103981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/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RecordA</a:t>
            </a:r>
            <a:endParaRPr lang="en-US" altLang="en-US" sz="1200" b="1">
              <a:solidFill>
                <a:srgbClr val="CC0000"/>
              </a:solidFill>
              <a:latin typeface="Courier New" panose="02070309020205020404" pitchFamily="49" charset="0"/>
            </a:endParaRPr>
          </a:p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RecordG</a:t>
            </a:r>
            <a:endParaRPr lang="en-US" altLang="en-US" sz="1200" b="1">
              <a:solidFill>
                <a:srgbClr val="CC0000"/>
              </a:solidFill>
              <a:latin typeface="Courier New" panose="02070309020205020404" pitchFamily="49" charset="0"/>
            </a:endParaRPr>
          </a:p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RecordH</a:t>
            </a:r>
            <a:endParaRPr lang="en-US" altLang="en-US" sz="1200" b="1">
              <a:solidFill>
                <a:srgbClr val="CC0000"/>
              </a:solidFill>
              <a:latin typeface="Courier New" panose="02070309020205020404" pitchFamily="49" charset="0"/>
            </a:endParaRPr>
          </a:p>
          <a:p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RecordN</a:t>
            </a:r>
          </a:p>
          <a:p>
            <a:endParaRPr lang="en-US" altLang="en-US" sz="1200" b="1">
              <a:solidFill>
                <a:srgbClr val="CC0000"/>
              </a:solidFill>
              <a:latin typeface="Courier New" panose="02070309020205020404" pitchFamily="49" charset="0"/>
            </a:endParaRPr>
          </a:p>
        </p:txBody>
      </p:sp>
      <p:sp>
        <p:nvSpPr>
          <p:cNvPr id="15368" name="Rectangle 8">
            <a:extLst>
              <a:ext uri="{FF2B5EF4-FFF2-40B4-BE49-F238E27FC236}">
                <a16:creationId xmlns:a16="http://schemas.microsoft.com/office/drawing/2014/main" id="{1D1BC8CA-7223-A4EB-A1D5-A9DAB321BA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5575" y="385763"/>
            <a:ext cx="1463675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400">
                <a:solidFill>
                  <a:srgbClr val="CC0000"/>
                </a:solidFill>
                <a:latin typeface="Wingdings" panose="05000000000000000000" pitchFamily="2" charset="2"/>
              </a:rPr>
              <a:t>JJJJJJJJJ</a:t>
            </a:r>
          </a:p>
        </p:txBody>
      </p:sp>
      <p:sp>
        <p:nvSpPr>
          <p:cNvPr id="15369" name="Rectangle 9">
            <a:extLst>
              <a:ext uri="{FF2B5EF4-FFF2-40B4-BE49-F238E27FC236}">
                <a16:creationId xmlns:a16="http://schemas.microsoft.com/office/drawing/2014/main" id="{F8E26682-C46A-5806-38FA-4D160E9FC5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3500" y="204788"/>
            <a:ext cx="460375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TFRec</a:t>
            </a:r>
          </a:p>
        </p:txBody>
      </p:sp>
      <p:sp>
        <p:nvSpPr>
          <p:cNvPr id="15370" name="Rectangle 10">
            <a:extLst>
              <a:ext uri="{FF2B5EF4-FFF2-40B4-BE49-F238E27FC236}">
                <a16:creationId xmlns:a16="http://schemas.microsoft.com/office/drawing/2014/main" id="{F45A26A0-A79F-4DFC-807E-45168C76FE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750" y="795338"/>
            <a:ext cx="1460500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RecordN</a:t>
            </a:r>
          </a:p>
        </p:txBody>
      </p:sp>
      <p:sp>
        <p:nvSpPr>
          <p:cNvPr id="15371" name="Rectangle 11">
            <a:extLst>
              <a:ext uri="{FF2B5EF4-FFF2-40B4-BE49-F238E27FC236}">
                <a16:creationId xmlns:a16="http://schemas.microsoft.com/office/drawing/2014/main" id="{85EEC20E-580E-E4AE-C3EF-E5D2ABB1C1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623888"/>
            <a:ext cx="48895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MFRec</a:t>
            </a:r>
          </a:p>
        </p:txBody>
      </p:sp>
      <p:sp>
        <p:nvSpPr>
          <p:cNvPr id="15372" name="Rectangle 12">
            <a:extLst>
              <a:ext uri="{FF2B5EF4-FFF2-40B4-BE49-F238E27FC236}">
                <a16:creationId xmlns:a16="http://schemas.microsoft.com/office/drawing/2014/main" id="{02BF964B-0D9D-CCCD-024C-4205005884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750" y="1214438"/>
            <a:ext cx="1460500" cy="2063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/>
          <a:lstStyle/>
          <a:p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RecordN</a:t>
            </a:r>
          </a:p>
        </p:txBody>
      </p:sp>
      <p:sp>
        <p:nvSpPr>
          <p:cNvPr id="15373" name="Rectangle 13">
            <a:extLst>
              <a:ext uri="{FF2B5EF4-FFF2-40B4-BE49-F238E27FC236}">
                <a16:creationId xmlns:a16="http://schemas.microsoft.com/office/drawing/2014/main" id="{89C638AA-799C-80CC-AD7F-1583AF6DE6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1042988"/>
            <a:ext cx="471488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800">
                <a:solidFill>
                  <a:schemeClr val="tx1"/>
                </a:solidFill>
              </a:rPr>
              <a:t>NFRec</a:t>
            </a:r>
          </a:p>
        </p:txBody>
      </p:sp>
      <p:sp>
        <p:nvSpPr>
          <p:cNvPr id="15374" name="Rectangle 14">
            <a:extLst>
              <a:ext uri="{FF2B5EF4-FFF2-40B4-BE49-F238E27FC236}">
                <a16:creationId xmlns:a16="http://schemas.microsoft.com/office/drawing/2014/main" id="{4DD9FE7A-BBB7-3746-A47C-4FCAD2F4D8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68738" y="187325"/>
            <a:ext cx="815975" cy="19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NewFile (NF</a:t>
            </a:r>
            <a:r>
              <a:rPr lang="en-US" altLang="en-US" sz="1200" b="1">
                <a:latin typeface="Times New Roman" panose="02020603050405020304" pitchFamily="18" charset="0"/>
              </a:rPr>
              <a:t>)</a:t>
            </a:r>
          </a:p>
        </p:txBody>
      </p:sp>
      <p:sp>
        <p:nvSpPr>
          <p:cNvPr id="15375" name="AutoShape 15">
            <a:extLst>
              <a:ext uri="{FF2B5EF4-FFF2-40B4-BE49-F238E27FC236}">
                <a16:creationId xmlns:a16="http://schemas.microsoft.com/office/drawing/2014/main" id="{08B1E66E-0F13-4479-344B-B356746C8B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3640138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5376" name="AutoShape 16">
            <a:extLst>
              <a:ext uri="{FF2B5EF4-FFF2-40B4-BE49-F238E27FC236}">
                <a16:creationId xmlns:a16="http://schemas.microsoft.com/office/drawing/2014/main" id="{A4ADE275-13C1-CEE2-242B-9BE59E9DF5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101600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5377" name="AutoShape 17">
            <a:extLst>
              <a:ext uri="{FF2B5EF4-FFF2-40B4-BE49-F238E27FC236}">
                <a16:creationId xmlns:a16="http://schemas.microsoft.com/office/drawing/2014/main" id="{A5F5EB8C-A906-4452-FFEA-B05F395676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87775" y="1263650"/>
            <a:ext cx="92075" cy="111125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5378" name="AutoShape 18">
            <a:extLst>
              <a:ext uri="{FF2B5EF4-FFF2-40B4-BE49-F238E27FC236}">
                <a16:creationId xmlns:a16="http://schemas.microsoft.com/office/drawing/2014/main" id="{688AFA9A-6CD5-CE26-5F88-70B960FD34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3350" y="101600"/>
            <a:ext cx="1054100" cy="211667"/>
          </a:xfrm>
          <a:prstGeom prst="wedgeRoundRectCallout">
            <a:avLst>
              <a:gd name="adj1" fmla="val -41671"/>
              <a:gd name="adj2" fmla="val 66667"/>
              <a:gd name="adj3" fmla="val 16667"/>
            </a:avLst>
          </a:prstGeom>
          <a:solidFill>
            <a:srgbClr val="FFFF99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HIGH-VALUES</a:t>
            </a:r>
          </a:p>
        </p:txBody>
      </p:sp>
      <p:sp>
        <p:nvSpPr>
          <p:cNvPr id="15379" name="Arc 19">
            <a:extLst>
              <a:ext uri="{FF2B5EF4-FFF2-40B4-BE49-F238E27FC236}">
                <a16:creationId xmlns:a16="http://schemas.microsoft.com/office/drawing/2014/main" id="{EB987B6A-6927-4F92-BAFB-07AAB415B99A}"/>
              </a:ext>
            </a:extLst>
          </p:cNvPr>
          <p:cNvSpPr>
            <a:spLocks/>
          </p:cNvSpPr>
          <p:nvPr/>
        </p:nvSpPr>
        <p:spPr bwMode="auto">
          <a:xfrm>
            <a:off x="2141538" y="915988"/>
            <a:ext cx="325437" cy="400050"/>
          </a:xfrm>
          <a:custGeom>
            <a:avLst/>
            <a:gdLst>
              <a:gd name="G0" fmla="+- 106 0 0"/>
              <a:gd name="G1" fmla="+- 21600 0 0"/>
              <a:gd name="G2" fmla="+- 21600 0 0"/>
              <a:gd name="T0" fmla="*/ 0 w 21706"/>
              <a:gd name="T1" fmla="*/ 0 h 43200"/>
              <a:gd name="T2" fmla="*/ 106 w 21706"/>
              <a:gd name="T3" fmla="*/ 43200 h 43200"/>
              <a:gd name="T4" fmla="*/ 106 w 21706"/>
              <a:gd name="T5" fmla="*/ 21600 h 432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706" h="43200" fill="none" extrusionOk="0">
                <a:moveTo>
                  <a:pt x="0" y="0"/>
                </a:moveTo>
                <a:cubicBezTo>
                  <a:pt x="35" y="0"/>
                  <a:pt x="70" y="0"/>
                  <a:pt x="106" y="0"/>
                </a:cubicBezTo>
                <a:cubicBezTo>
                  <a:pt x="12035" y="0"/>
                  <a:pt x="21706" y="9670"/>
                  <a:pt x="21706" y="21600"/>
                </a:cubicBezTo>
                <a:cubicBezTo>
                  <a:pt x="21706" y="33529"/>
                  <a:pt x="12035" y="43200"/>
                  <a:pt x="105" y="43200"/>
                </a:cubicBezTo>
              </a:path>
              <a:path w="21706" h="43200" stroke="0" extrusionOk="0">
                <a:moveTo>
                  <a:pt x="0" y="0"/>
                </a:moveTo>
                <a:cubicBezTo>
                  <a:pt x="35" y="0"/>
                  <a:pt x="70" y="0"/>
                  <a:pt x="106" y="0"/>
                </a:cubicBezTo>
                <a:cubicBezTo>
                  <a:pt x="12035" y="0"/>
                  <a:pt x="21706" y="9670"/>
                  <a:pt x="21706" y="21600"/>
                </a:cubicBezTo>
                <a:cubicBezTo>
                  <a:pt x="21706" y="33529"/>
                  <a:pt x="12035" y="43200"/>
                  <a:pt x="105" y="43200"/>
                </a:cubicBezTo>
                <a:lnTo>
                  <a:pt x="106" y="21600"/>
                </a:lnTo>
                <a:close/>
              </a:path>
            </a:pathLst>
          </a:custGeom>
          <a:noFill/>
          <a:ln w="12700" cap="rnd">
            <a:solidFill>
              <a:srgbClr val="CC0000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80" name="Arc 20">
            <a:extLst>
              <a:ext uri="{FF2B5EF4-FFF2-40B4-BE49-F238E27FC236}">
                <a16:creationId xmlns:a16="http://schemas.microsoft.com/office/drawing/2014/main" id="{FCDFC30C-ECF3-22DB-0C86-A21EC1060A97}"/>
              </a:ext>
            </a:extLst>
          </p:cNvPr>
          <p:cNvSpPr>
            <a:spLocks/>
          </p:cNvSpPr>
          <p:nvPr/>
        </p:nvSpPr>
        <p:spPr bwMode="auto">
          <a:xfrm>
            <a:off x="1827213" y="1235075"/>
            <a:ext cx="2363787" cy="536575"/>
          </a:xfrm>
          <a:custGeom>
            <a:avLst/>
            <a:gdLst>
              <a:gd name="G0" fmla="+- 20613 0 0"/>
              <a:gd name="G1" fmla="+- 0 0 0"/>
              <a:gd name="G2" fmla="+- 21600 0 0"/>
              <a:gd name="T0" fmla="*/ 42213 w 42213"/>
              <a:gd name="T1" fmla="*/ 128 h 21600"/>
              <a:gd name="T2" fmla="*/ 0 w 42213"/>
              <a:gd name="T3" fmla="*/ 6456 h 21600"/>
              <a:gd name="T4" fmla="*/ 20613 w 42213"/>
              <a:gd name="T5" fmla="*/ 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42213" h="21600" fill="none" extrusionOk="0">
                <a:moveTo>
                  <a:pt x="42212" y="127"/>
                </a:moveTo>
                <a:cubicBezTo>
                  <a:pt x="42142" y="12007"/>
                  <a:pt x="32492" y="21599"/>
                  <a:pt x="20613" y="21599"/>
                </a:cubicBezTo>
                <a:cubicBezTo>
                  <a:pt x="11170" y="21599"/>
                  <a:pt x="2822" y="15466"/>
                  <a:pt x="0" y="6455"/>
                </a:cubicBezTo>
              </a:path>
              <a:path w="42213" h="21600" stroke="0" extrusionOk="0">
                <a:moveTo>
                  <a:pt x="42212" y="127"/>
                </a:moveTo>
                <a:cubicBezTo>
                  <a:pt x="42142" y="12007"/>
                  <a:pt x="32492" y="21599"/>
                  <a:pt x="20613" y="21599"/>
                </a:cubicBezTo>
                <a:cubicBezTo>
                  <a:pt x="11170" y="21599"/>
                  <a:pt x="2822" y="15466"/>
                  <a:pt x="0" y="6455"/>
                </a:cubicBezTo>
                <a:lnTo>
                  <a:pt x="20613" y="0"/>
                </a:lnTo>
                <a:close/>
              </a:path>
            </a:pathLst>
          </a:custGeom>
          <a:noFill/>
          <a:ln w="12700" cap="rnd">
            <a:solidFill>
              <a:srgbClr val="CC0000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>
            <a:extLst>
              <a:ext uri="{FF2B5EF4-FFF2-40B4-BE49-F238E27FC236}">
                <a16:creationId xmlns:a16="http://schemas.microsoft.com/office/drawing/2014/main" id="{1F014009-E96C-C76A-EA65-704F1C95D3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" y="387350"/>
            <a:ext cx="766763" cy="6223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RecordB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RecordK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RecordM</a:t>
            </a:r>
          </a:p>
        </p:txBody>
      </p:sp>
      <p:sp>
        <p:nvSpPr>
          <p:cNvPr id="16387" name="Rectangle 3">
            <a:extLst>
              <a:ext uri="{FF2B5EF4-FFF2-40B4-BE49-F238E27FC236}">
                <a16:creationId xmlns:a16="http://schemas.microsoft.com/office/drawing/2014/main" id="{E8F9576A-F1F0-6ABA-D4FD-FAD8D30A79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" y="212725"/>
            <a:ext cx="912813" cy="168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Trans File (TF)</a:t>
            </a:r>
          </a:p>
        </p:txBody>
      </p:sp>
      <p:sp>
        <p:nvSpPr>
          <p:cNvPr id="16388" name="Rectangle 4">
            <a:extLst>
              <a:ext uri="{FF2B5EF4-FFF2-40B4-BE49-F238E27FC236}">
                <a16:creationId xmlns:a16="http://schemas.microsoft.com/office/drawing/2014/main" id="{8006D1B5-3894-9EB0-FBCF-D5C614BB5F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" y="2390775"/>
            <a:ext cx="766763" cy="130175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57150" tIns="57150" rIns="57150" bIns="571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RecordA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RecordB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RecordG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RecordH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RecordK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RecordM</a:t>
            </a:r>
          </a:p>
          <a:p>
            <a:pPr algn="ctr"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RecordN</a:t>
            </a:r>
          </a:p>
        </p:txBody>
      </p:sp>
      <p:sp>
        <p:nvSpPr>
          <p:cNvPr id="16389" name="Rectangle 5">
            <a:extLst>
              <a:ext uri="{FF2B5EF4-FFF2-40B4-BE49-F238E27FC236}">
                <a16:creationId xmlns:a16="http://schemas.microsoft.com/office/drawing/2014/main" id="{93505C95-D01B-D2D4-7F11-A7A239B0A2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" y="2205038"/>
            <a:ext cx="1012825" cy="19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Master File (MF</a:t>
            </a:r>
            <a:r>
              <a:rPr lang="en-US" altLang="en-US" sz="1200" b="1"/>
              <a:t>)</a:t>
            </a:r>
          </a:p>
        </p:txBody>
      </p:sp>
      <p:sp>
        <p:nvSpPr>
          <p:cNvPr id="16390" name="Rectangle 6">
            <a:extLst>
              <a:ext uri="{FF2B5EF4-FFF2-40B4-BE49-F238E27FC236}">
                <a16:creationId xmlns:a16="http://schemas.microsoft.com/office/drawing/2014/main" id="{5850F2F5-825E-F35A-BBE6-18C6AAAD8A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54450" y="1149350"/>
            <a:ext cx="766763" cy="8048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folHlink">
                <a:alpha val="50000"/>
              </a:schemeClr>
            </a:outerShdw>
          </a:effectLst>
        </p:spPr>
        <p:txBody>
          <a:bodyPr lIns="57150" tIns="57150" rIns="57150" bIns="57150">
            <a:spAutoFit/>
          </a:bodyPr>
          <a:lstStyle/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RecordA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RecordG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RecordH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RecordN</a:t>
            </a:r>
          </a:p>
        </p:txBody>
      </p:sp>
      <p:sp>
        <p:nvSpPr>
          <p:cNvPr id="16391" name="Rectangle 7">
            <a:extLst>
              <a:ext uri="{FF2B5EF4-FFF2-40B4-BE49-F238E27FC236}">
                <a16:creationId xmlns:a16="http://schemas.microsoft.com/office/drawing/2014/main" id="{8A8D9E28-7B3F-3217-D35D-C2266A8E64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9688" y="949325"/>
            <a:ext cx="815975" cy="19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>
            <a:lvl1pPr marL="190500" indent="-190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en-US" altLang="en-US" sz="1000" b="1"/>
              <a:t>NewFile (NF</a:t>
            </a:r>
            <a:r>
              <a:rPr lang="en-US" altLang="en-US" sz="1200" b="1">
                <a:latin typeface="Times New Roman" panose="02020603050405020304" pitchFamily="18" charset="0"/>
              </a:rPr>
              <a:t>)</a:t>
            </a:r>
          </a:p>
        </p:txBody>
      </p:sp>
      <p:sp>
        <p:nvSpPr>
          <p:cNvPr id="16392" name="Rectangle 8">
            <a:extLst>
              <a:ext uri="{FF2B5EF4-FFF2-40B4-BE49-F238E27FC236}">
                <a16:creationId xmlns:a16="http://schemas.microsoft.com/office/drawing/2014/main" id="{9DF35F5B-FFC2-C88A-C776-9BF07D01E6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5325" y="1327150"/>
            <a:ext cx="10477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Result</a:t>
            </a:r>
          </a:p>
        </p:txBody>
      </p:sp>
      <p:sp>
        <p:nvSpPr>
          <p:cNvPr id="16393" name="Arc 9">
            <a:extLst>
              <a:ext uri="{FF2B5EF4-FFF2-40B4-BE49-F238E27FC236}">
                <a16:creationId xmlns:a16="http://schemas.microsoft.com/office/drawing/2014/main" id="{D58A12AD-3364-4F54-F20D-B3619E76FC6B}"/>
              </a:ext>
            </a:extLst>
          </p:cNvPr>
          <p:cNvSpPr>
            <a:spLocks/>
          </p:cNvSpPr>
          <p:nvPr/>
        </p:nvSpPr>
        <p:spPr bwMode="auto">
          <a:xfrm>
            <a:off x="950913" y="619125"/>
            <a:ext cx="1163637" cy="704850"/>
          </a:xfrm>
          <a:custGeom>
            <a:avLst/>
            <a:gdLst>
              <a:gd name="G0" fmla="+- 30 0 0"/>
              <a:gd name="G1" fmla="+- 21600 0 0"/>
              <a:gd name="G2" fmla="+- 21600 0 0"/>
              <a:gd name="T0" fmla="*/ 0 w 21630"/>
              <a:gd name="T1" fmla="*/ 0 h 21600"/>
              <a:gd name="T2" fmla="*/ 21630 w 21630"/>
              <a:gd name="T3" fmla="*/ 21600 h 21600"/>
              <a:gd name="T4" fmla="*/ 30 w 21630"/>
              <a:gd name="T5" fmla="*/ 216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30" h="21600" fill="none" extrusionOk="0">
                <a:moveTo>
                  <a:pt x="0" y="0"/>
                </a:moveTo>
                <a:cubicBezTo>
                  <a:pt x="10" y="0"/>
                  <a:pt x="20" y="0"/>
                  <a:pt x="30" y="0"/>
                </a:cubicBezTo>
                <a:cubicBezTo>
                  <a:pt x="11959" y="0"/>
                  <a:pt x="21630" y="9670"/>
                  <a:pt x="21630" y="21600"/>
                </a:cubicBezTo>
              </a:path>
              <a:path w="21630" h="21600" stroke="0" extrusionOk="0">
                <a:moveTo>
                  <a:pt x="0" y="0"/>
                </a:moveTo>
                <a:cubicBezTo>
                  <a:pt x="10" y="0"/>
                  <a:pt x="20" y="0"/>
                  <a:pt x="30" y="0"/>
                </a:cubicBezTo>
                <a:cubicBezTo>
                  <a:pt x="11959" y="0"/>
                  <a:pt x="21630" y="9670"/>
                  <a:pt x="21630" y="21600"/>
                </a:cubicBezTo>
                <a:lnTo>
                  <a:pt x="30" y="21600"/>
                </a:lnTo>
                <a:close/>
              </a:path>
            </a:pathLst>
          </a:custGeom>
          <a:noFill/>
          <a:ln w="25400" cap="rnd">
            <a:solidFill>
              <a:srgbClr val="CC0000"/>
            </a:solidFill>
            <a:round/>
            <a:headEnd type="none" w="sm" len="sm"/>
            <a:tailEnd type="stealth" w="med" len="med"/>
          </a:ln>
          <a:effectLst>
            <a:outerShdw dist="35921" dir="2700000" algn="ctr" rotWithShape="0">
              <a:schemeClr val="folHlink">
                <a:alpha val="5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394" name="Arc 10">
            <a:extLst>
              <a:ext uri="{FF2B5EF4-FFF2-40B4-BE49-F238E27FC236}">
                <a16:creationId xmlns:a16="http://schemas.microsoft.com/office/drawing/2014/main" id="{C60A3BDB-ABA3-A10D-59AA-2DF87D93A408}"/>
              </a:ext>
            </a:extLst>
          </p:cNvPr>
          <p:cNvSpPr>
            <a:spLocks/>
          </p:cNvSpPr>
          <p:nvPr/>
        </p:nvSpPr>
        <p:spPr bwMode="auto">
          <a:xfrm>
            <a:off x="1028700" y="1819275"/>
            <a:ext cx="1104900" cy="1028700"/>
          </a:xfrm>
          <a:custGeom>
            <a:avLst/>
            <a:gdLst>
              <a:gd name="G0" fmla="+- 0 0 0"/>
              <a:gd name="G1" fmla="+- 0 0 0"/>
              <a:gd name="G2" fmla="+- 21600 0 0"/>
              <a:gd name="T0" fmla="*/ 21600 w 21600"/>
              <a:gd name="T1" fmla="*/ 0 h 21600"/>
              <a:gd name="T2" fmla="*/ 0 w 21600"/>
              <a:gd name="T3" fmla="*/ 21600 h 21600"/>
              <a:gd name="T4" fmla="*/ 0 w 21600"/>
              <a:gd name="T5" fmla="*/ 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0"/>
                </a:moveTo>
                <a:cubicBezTo>
                  <a:pt x="21600" y="11929"/>
                  <a:pt x="11929" y="21599"/>
                  <a:pt x="0" y="21599"/>
                </a:cubicBezTo>
              </a:path>
              <a:path w="21600" h="21600" stroke="0" extrusionOk="0">
                <a:moveTo>
                  <a:pt x="21600" y="0"/>
                </a:moveTo>
                <a:cubicBezTo>
                  <a:pt x="21600" y="11929"/>
                  <a:pt x="11929" y="21599"/>
                  <a:pt x="0" y="21599"/>
                </a:cubicBezTo>
                <a:lnTo>
                  <a:pt x="0" y="0"/>
                </a:lnTo>
                <a:close/>
              </a:path>
            </a:pathLst>
          </a:custGeom>
          <a:noFill/>
          <a:ln w="25400" cap="rnd">
            <a:solidFill>
              <a:srgbClr val="CC0000"/>
            </a:solidFill>
            <a:round/>
            <a:headEnd type="stealth" w="med" len="med"/>
            <a:tailEnd type="none" w="sm" len="sm"/>
          </a:ln>
          <a:effectLst>
            <a:outerShdw dist="35921" dir="2700000" algn="ctr" rotWithShape="0">
              <a:schemeClr val="folHlink">
                <a:alpha val="5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395" name="Line 11">
            <a:extLst>
              <a:ext uri="{FF2B5EF4-FFF2-40B4-BE49-F238E27FC236}">
                <a16:creationId xmlns:a16="http://schemas.microsoft.com/office/drawing/2014/main" id="{716F785E-417A-67A1-AFC8-9820F30D7DD8}"/>
              </a:ext>
            </a:extLst>
          </p:cNvPr>
          <p:cNvSpPr>
            <a:spLocks noChangeShapeType="1"/>
          </p:cNvSpPr>
          <p:nvPr/>
        </p:nvSpPr>
        <p:spPr bwMode="auto">
          <a:xfrm>
            <a:off x="3009900" y="1552575"/>
            <a:ext cx="723900" cy="0"/>
          </a:xfrm>
          <a:prstGeom prst="line">
            <a:avLst/>
          </a:prstGeom>
          <a:noFill/>
          <a:ln w="25400">
            <a:solidFill>
              <a:srgbClr val="CC0000"/>
            </a:solidFill>
            <a:round/>
            <a:headEnd type="none" w="sm" len="sm"/>
            <a:tailEnd type="stealth" w="med" len="med"/>
          </a:ln>
          <a:effectLst>
            <a:outerShdw dist="35921" dir="2700000" algn="ctr" rotWithShape="0">
              <a:schemeClr val="folHlink">
                <a:alpha val="5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396" name="Rectangle 12">
            <a:extLst>
              <a:ext uri="{FF2B5EF4-FFF2-40B4-BE49-F238E27FC236}">
                <a16:creationId xmlns:a16="http://schemas.microsoft.com/office/drawing/2014/main" id="{A6CD4BF0-1540-5B33-6D2B-A8EB82D7EC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1600" y="708025"/>
            <a:ext cx="563563" cy="13652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38100" tIns="0" rIns="38100" bIns="0">
            <a:spAutoFit/>
          </a:bodyPr>
          <a:lstStyle/>
          <a:p>
            <a:pPr>
              <a:lnSpc>
                <a:spcPct val="90000"/>
              </a:lnSpc>
            </a:pPr>
            <a:r>
              <a:rPr lang="en-US" altLang="en-US" sz="1000" b="1">
                <a:solidFill>
                  <a:schemeClr val="tx1"/>
                </a:solidFill>
                <a:latin typeface="Arial" panose="020B0604020202020204" pitchFamily="34" charset="0"/>
              </a:rPr>
              <a:t>remove 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Blank Presentation">
  <a:themeElements>
    <a:clrScheme name="Blank Presentation 1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Blank Presentatio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>
          <a:outerShdw dist="53882" dir="2700000" algn="ctr" rotWithShape="0">
            <a:schemeClr val="folHlink">
              <a:alpha val="50000"/>
            </a:schemeClr>
          </a:outerShdw>
        </a:effec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400" b="0" i="0" u="none" strike="noStrike" cap="none" normalizeH="0" baseline="0" smtClean="0">
            <a:ln>
              <a:noFill/>
            </a:ln>
            <a:solidFill>
              <a:srgbClr val="009900"/>
            </a:solidFill>
            <a:effectLst/>
            <a:latin typeface="Times New Roman" panose="02020603050405020304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>
          <a:outerShdw dist="53882" dir="2700000" algn="ctr" rotWithShape="0">
            <a:schemeClr val="folHlink">
              <a:alpha val="50000"/>
            </a:schemeClr>
          </a:outerShdw>
        </a:effec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400" b="0" i="0" u="none" strike="noStrike" cap="none" normalizeH="0" baseline="0" smtClean="0">
            <a:ln>
              <a:noFill/>
            </a:ln>
            <a:solidFill>
              <a:srgbClr val="009900"/>
            </a:solidFill>
            <a:effectLst/>
            <a:latin typeface="Times New Roman" panose="02020603050405020304" pitchFamily="18" charset="0"/>
          </a:defRPr>
        </a:defPPr>
      </a:lst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2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3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4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5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6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7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8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9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10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11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12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13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14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E:\MSOffice\Templates\Blank Presentation.pot</Template>
  <TotalTime>2872</TotalTime>
  <Words>1009</Words>
  <Application>Microsoft Office PowerPoint</Application>
  <PresentationFormat>Custom</PresentationFormat>
  <Paragraphs>547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Times New Roman</vt:lpstr>
      <vt:lpstr>Courier New</vt:lpstr>
      <vt:lpstr>Wingdings</vt:lpstr>
      <vt:lpstr>Blank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 Slide Title</dc:title>
  <dc:creator>Michael Coughlan</dc:creator>
  <cp:lastModifiedBy>Sean McBride</cp:lastModifiedBy>
  <cp:revision>41</cp:revision>
  <dcterms:created xsi:type="dcterms:W3CDTF">1995-06-17T23:31:02Z</dcterms:created>
  <dcterms:modified xsi:type="dcterms:W3CDTF">2026-05-13T01:06:59Z</dcterms:modified>
</cp:coreProperties>
</file>