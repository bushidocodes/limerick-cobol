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3886200" cy="52578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4">
          <p15:clr>
            <a:srgbClr val="A4A3A4"/>
          </p15:clr>
        </p15:guide>
        <p15:guide id="2" pos="60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E9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4" d="100"/>
          <a:sy n="164" d="100"/>
        </p:scale>
        <p:origin x="1950" y="126"/>
      </p:cViewPr>
      <p:guideLst>
        <p:guide orient="horz" pos="414"/>
        <p:guide pos="60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1F2D5-82A3-CD2D-F7ED-27B7B5341A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775" y="860425"/>
            <a:ext cx="2914650" cy="1830388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65E6D9-E469-34C9-1DB4-FE840E9EC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775" y="2762250"/>
            <a:ext cx="2914650" cy="12684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B89B2-A043-B6BF-7E7B-3D2594458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3A90C-3307-10DD-A51F-422CE3299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B99F7-AF46-1E27-AA4D-DC2C83B35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C67DA8-1DF3-4D36-85D9-84B8F25D4A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6148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42DEE-CAF7-A01F-6053-1D203E92F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8216C-0E04-D217-9B57-8884A0721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C7B32-5EC7-FD8E-3696-25FECA75E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5D85B-9E90-E107-520D-7CAC679E3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85FCE-B097-0B15-8607-49B82DA64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3337DA-6063-4854-8456-FDCB514D619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8984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2194C-F2E9-8FCB-C778-42C29EEB8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113" y="1311275"/>
            <a:ext cx="3351212" cy="218598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F0EC53-295B-A49B-C1E6-FA508D90B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5113" y="3517900"/>
            <a:ext cx="3351212" cy="115093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623C2-B5CD-C5D9-E653-F3D9B2526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7C795-E5E2-9772-A9A6-2A7583BC7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22256-2D28-B17E-4DD3-BC93F6DC3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ECBAF2-414A-4EF2-B5F5-B30103AC5A1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6332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E3AB9-4D7A-355A-C851-677F1A14C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8A0FC-C403-F5ED-3BAE-DEA4C5D4CE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2100" y="1519238"/>
            <a:ext cx="1574800" cy="31543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877EFB-C489-7965-704E-5EFA824472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19300" y="1519238"/>
            <a:ext cx="1574800" cy="31543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614F06-C590-E4B2-C4FF-BE490F4A7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26C03-7733-A2C5-D007-D5610B318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E0AD5-6927-1B55-CE8B-F56A7A0AA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2AE159-65FB-469C-AB72-FF2522D8AEF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1623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99429-8A8C-363E-2955-5928E0ABA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288" y="279400"/>
            <a:ext cx="3351212" cy="10175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11129-0D6D-EDB0-5329-41EE6EBED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8288" y="1289050"/>
            <a:ext cx="1643062" cy="6318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1500F9-EC3A-2823-42EC-08055E0B8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8288" y="1920875"/>
            <a:ext cx="1643062" cy="2824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EE085E-0782-A035-3016-475F97E972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966913" y="1289050"/>
            <a:ext cx="1652587" cy="6318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D03904-1D05-20E2-5F9E-18A08F0738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966913" y="1920875"/>
            <a:ext cx="1652587" cy="2824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C05626-F696-3324-DC4E-EBC01CAFD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D2A897-81B0-6391-5223-55AF337C5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DA2200-60BC-A813-AE59-8D2DDF3C7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E58BB3-A646-43B6-8A21-ECD038F650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5556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09375-0AF1-9012-A3BC-B88F37068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DF33A0-9E51-970D-292E-F1218A08A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1B0E40-67CB-1936-3935-BDBB32893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92048D-9077-0777-717E-D34C75F2C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3CD75A-EEE2-486B-ACD8-2022F8BE80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8308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EA32BE-B46C-DCDB-74CB-14DD93287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3DC4D8-1682-E9B1-6133-D80E00024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F83A9D-B1FF-7CAB-9A74-B148CF6A9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F8EFA0-5CB3-4587-8352-3E8CD0B84BC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8081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2538A-0F43-E393-7A6D-0834917BB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288" y="350838"/>
            <a:ext cx="1252537" cy="122713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E824E-BB82-F6B9-8802-EEEA4CF73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2588" y="757238"/>
            <a:ext cx="1966912" cy="37369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05D67-BDD1-006B-E4ED-6838300FE3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8288" y="1577975"/>
            <a:ext cx="1252537" cy="2921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FD02B7-DF9E-A142-BD62-101ED6027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F3BAFE-7F71-EB87-8C9B-90AAE73BB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B9262-196C-D881-2ADD-295ED6887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5DB9D4-FC83-403A-A6F1-F684BD6BD25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7190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15608-1E00-F340-7EA5-39909CA71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288" y="350838"/>
            <a:ext cx="1252537" cy="122713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2AF7A2-2859-7468-7720-0E1BC9C3EF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652588" y="757238"/>
            <a:ext cx="1966912" cy="37369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D953FE-17DC-E908-D559-895885365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8288" y="1577975"/>
            <a:ext cx="1252537" cy="2921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C7D008-46CA-2EA0-3B4F-F04565E11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2B4CA-2DB2-D3B6-7181-01F22A216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35E8C-74F6-9997-B415-CA87587F3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3D0306-6F80-45EA-BCB2-8260AE05C3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8872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D1307-7B17-A91E-3537-CC16C471B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AF2582-5C5B-098E-FB13-88E5AB6293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249CC-934B-D0CA-6651-57287F5F1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9EC3E-73C8-1460-230B-CFD96EF4E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FB4D4-012B-6024-541B-A1A9353D8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165448-27AB-4F08-9E4D-AB9B5375458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0403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D68174-4C92-EE57-8034-6B1FD0275A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2768600" y="466725"/>
            <a:ext cx="825500" cy="42068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B2D2AC-B198-B40F-36BD-5918B970A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92100" y="466725"/>
            <a:ext cx="2324100" cy="4206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38D5A-F211-CCFE-742F-753356352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7119B-FB5F-314C-0FEC-FB7DF26C3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D4823-1470-ECF7-AB3D-2585BC395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9AA1D9-EEEC-460B-B73A-374132E0DEC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8938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1F7909F-E231-59DC-FFD0-6DD6E253C8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2100" y="466725"/>
            <a:ext cx="3302000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9688" tIns="19050" rIns="39688" bIns="190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826AAC-5761-CD74-6689-3E8EEB0B7E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92100" y="1519238"/>
            <a:ext cx="3302000" cy="315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9688" tIns="19050" rIns="39688" bIns="190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EFEB9AA-154C-EB63-C261-26F0597BB9E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92100" y="4791075"/>
            <a:ext cx="809625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9688" tIns="19050" rIns="39688" bIns="19050" numCol="1" anchor="ctr" anchorCtr="0" compatLnSpc="1">
            <a:prstTxWarp prst="textNoShape">
              <a:avLst/>
            </a:prstTxWarp>
          </a:bodyPr>
          <a:lstStyle>
            <a:lvl1pPr defTabSz="165100">
              <a:defRPr sz="6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C57672F-C8C5-8481-C4C6-B2B19822CD2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327150" y="4791075"/>
            <a:ext cx="1231900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9688" tIns="19050" rIns="39688" bIns="19050" numCol="1" anchor="ctr" anchorCtr="0" compatLnSpc="1">
            <a:prstTxWarp prst="textNoShape">
              <a:avLst/>
            </a:prstTxWarp>
          </a:bodyPr>
          <a:lstStyle>
            <a:lvl1pPr algn="ctr" defTabSz="165100">
              <a:defRPr sz="6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9215948-A1FD-EC96-C404-7E4BC117960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784475" y="4791075"/>
            <a:ext cx="809625" cy="34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39688" tIns="19050" rIns="39688" bIns="19050" numCol="1" anchor="ctr" anchorCtr="0" compatLnSpc="1">
            <a:prstTxWarp prst="textNoShape">
              <a:avLst/>
            </a:prstTxWarp>
          </a:bodyPr>
          <a:lstStyle>
            <a:lvl1pPr algn="r" defTabSz="165100">
              <a:defRPr sz="600"/>
            </a:lvl1pPr>
          </a:lstStyle>
          <a:p>
            <a:fld id="{52660E32-EA32-47C3-A994-DE823F45CEE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65100" rtl="0" eaLnBrk="0" fontAlgn="base" hangingPunct="0">
        <a:spcBef>
          <a:spcPct val="0"/>
        </a:spcBef>
        <a:spcAft>
          <a:spcPct val="0"/>
        </a:spcAft>
        <a:defRPr sz="19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65100" rtl="0" eaLnBrk="0" fontAlgn="base" hangingPunct="0">
        <a:spcBef>
          <a:spcPct val="0"/>
        </a:spcBef>
        <a:spcAft>
          <a:spcPct val="0"/>
        </a:spcAft>
        <a:defRPr sz="1900">
          <a:solidFill>
            <a:schemeClr val="tx2"/>
          </a:solidFill>
          <a:latin typeface="Times New Roman" panose="02020603050405020304" pitchFamily="18" charset="0"/>
        </a:defRPr>
      </a:lvl2pPr>
      <a:lvl3pPr algn="ctr" defTabSz="165100" rtl="0" eaLnBrk="0" fontAlgn="base" hangingPunct="0">
        <a:spcBef>
          <a:spcPct val="0"/>
        </a:spcBef>
        <a:spcAft>
          <a:spcPct val="0"/>
        </a:spcAft>
        <a:defRPr sz="1900">
          <a:solidFill>
            <a:schemeClr val="tx2"/>
          </a:solidFill>
          <a:latin typeface="Times New Roman" panose="02020603050405020304" pitchFamily="18" charset="0"/>
        </a:defRPr>
      </a:lvl3pPr>
      <a:lvl4pPr algn="ctr" defTabSz="165100" rtl="0" eaLnBrk="0" fontAlgn="base" hangingPunct="0">
        <a:spcBef>
          <a:spcPct val="0"/>
        </a:spcBef>
        <a:spcAft>
          <a:spcPct val="0"/>
        </a:spcAft>
        <a:defRPr sz="1900">
          <a:solidFill>
            <a:schemeClr val="tx2"/>
          </a:solidFill>
          <a:latin typeface="Times New Roman" panose="02020603050405020304" pitchFamily="18" charset="0"/>
        </a:defRPr>
      </a:lvl4pPr>
      <a:lvl5pPr algn="ctr" defTabSz="165100" rtl="0" eaLnBrk="0" fontAlgn="base" hangingPunct="0">
        <a:spcBef>
          <a:spcPct val="0"/>
        </a:spcBef>
        <a:spcAft>
          <a:spcPct val="0"/>
        </a:spcAft>
        <a:defRPr sz="1900">
          <a:solidFill>
            <a:schemeClr val="tx2"/>
          </a:solidFill>
          <a:latin typeface="Times New Roman" panose="02020603050405020304" pitchFamily="18" charset="0"/>
        </a:defRPr>
      </a:lvl5pPr>
      <a:lvl6pPr marL="457200" algn="ctr" defTabSz="165100" rtl="0" eaLnBrk="0" fontAlgn="base" hangingPunct="0">
        <a:spcBef>
          <a:spcPct val="0"/>
        </a:spcBef>
        <a:spcAft>
          <a:spcPct val="0"/>
        </a:spcAft>
        <a:defRPr sz="1900">
          <a:solidFill>
            <a:schemeClr val="tx2"/>
          </a:solidFill>
          <a:latin typeface="Times New Roman" panose="02020603050405020304" pitchFamily="18" charset="0"/>
        </a:defRPr>
      </a:lvl6pPr>
      <a:lvl7pPr marL="914400" algn="ctr" defTabSz="165100" rtl="0" eaLnBrk="0" fontAlgn="base" hangingPunct="0">
        <a:spcBef>
          <a:spcPct val="0"/>
        </a:spcBef>
        <a:spcAft>
          <a:spcPct val="0"/>
        </a:spcAft>
        <a:defRPr sz="19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defTabSz="165100" rtl="0" eaLnBrk="0" fontAlgn="base" hangingPunct="0">
        <a:spcBef>
          <a:spcPct val="0"/>
        </a:spcBef>
        <a:spcAft>
          <a:spcPct val="0"/>
        </a:spcAft>
        <a:defRPr sz="19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defTabSz="165100" rtl="0" eaLnBrk="0" fontAlgn="base" hangingPunct="0">
        <a:spcBef>
          <a:spcPct val="0"/>
        </a:spcBef>
        <a:spcAft>
          <a:spcPct val="0"/>
        </a:spcAft>
        <a:defRPr sz="19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146050" indent="-146050" algn="l" defTabSz="165100" rtl="0" eaLnBrk="0" fontAlgn="base" hangingPunct="0">
        <a:spcBef>
          <a:spcPct val="20000"/>
        </a:spcBef>
        <a:spcAft>
          <a:spcPct val="0"/>
        </a:spcAft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15913" indent="-55563" algn="l" defTabSz="165100" rtl="0" eaLnBrk="0" fontAlgn="base" hangingPunct="0">
        <a:spcBef>
          <a:spcPct val="20000"/>
        </a:spcBef>
        <a:spcAft>
          <a:spcPct val="0"/>
        </a:spcAft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85775" indent="-55563" algn="l" defTabSz="165100" rtl="0" eaLnBrk="0" fontAlgn="base" hangingPunct="0">
        <a:spcBef>
          <a:spcPct val="20000"/>
        </a:spcBef>
        <a:spcAft>
          <a:spcPct val="0"/>
        </a:spcAft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79450" indent="-79375" algn="l" defTabSz="165100" rtl="0" eaLnBrk="0" fontAlgn="base" hangingPunct="0">
        <a:spcBef>
          <a:spcPct val="20000"/>
        </a:spcBef>
        <a:spcAft>
          <a:spcPct val="0"/>
        </a:spcAft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874713" indent="-80963" algn="l" defTabSz="165100" rtl="0" eaLnBrk="0" fontAlgn="base" hangingPunct="0">
        <a:spcBef>
          <a:spcPct val="20000"/>
        </a:spcBef>
        <a:spcAft>
          <a:spcPct val="0"/>
        </a:spcAft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F0DE399-942E-5B56-D7B5-7B17235B5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884613" cy="491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/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An example COBOL Report Program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Bible Salesperson - Sales and Salary Report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City      Salesperson     Sale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Name       Number         Value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Dublin        1           $111.50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$222.50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1     =      $334.00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Dublin        2         $1,111.50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$1,222.50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$1,333.50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2     =    $3,667.50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Dublin        3           $777.70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3     =      $777.70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Dublin            =    $4,779.20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Belfast       1           $111.50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$222.50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1     =      $334.00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Belfast       2         $1,111.50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$1,222.50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2     =    $2,334.00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Belfast       3           $111.10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$111.10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3     =      $222.20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Belfast       4           $111.50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$1,502.50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$2,505.50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4     =    $4,119.50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Belfast           =    $7,009.70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Programmer - Michael Coughlan               Page :  1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2051" name="AutoShape 3">
            <a:extLst>
              <a:ext uri="{FF2B5EF4-FFF2-40B4-BE49-F238E27FC236}">
                <a16:creationId xmlns:a16="http://schemas.microsoft.com/office/drawing/2014/main" id="{6BD75570-9ACC-E3FF-650B-FDCFDF98173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58850" y="2178050"/>
            <a:ext cx="2730500" cy="838729"/>
          </a:xfrm>
          <a:prstGeom prst="wedgeRoundRectCallout">
            <a:avLst>
              <a:gd name="adj1" fmla="val -48838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/>
            <a:r>
              <a:rPr lang="en-US" altLang="en-US" sz="1000"/>
              <a:t>To produce this Sales and Salary report, the Report Writer program must do the following tasks:</a:t>
            </a:r>
            <a:endParaRPr lang="en-US" altLang="en-US" sz="1200"/>
          </a:p>
          <a:p>
            <a:pPr algn="ctr"/>
            <a:r>
              <a:rPr lang="en-US" altLang="en-US" sz="1200"/>
              <a:t>(</a:t>
            </a:r>
            <a:r>
              <a:rPr lang="en-US" altLang="en-US" sz="800" b="1" u="sng">
                <a:solidFill>
                  <a:schemeClr val="accent2"/>
                </a:solidFill>
              </a:rPr>
              <a:t>click to continue</a:t>
            </a:r>
            <a:r>
              <a:rPr lang="en-US" altLang="en-US" sz="120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3564CDB-D7D7-1716-E06D-5C191F733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884613" cy="491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/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An example COBOL Report Program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Bible Salesperson - Sales and Salary Report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City      Salesperson     Sale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Name       Number         Value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Dublin        1           $111.50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$222.50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1     =      $334.00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Dublin        2         $1,111.50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$1,222.50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$1,333.50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2     =    $3,667.50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Dublin        3           $777.70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3     =      $777.70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Dublin            =    $4,779.20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Belfast       1           $111.50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$222.50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1     =      $334.00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Belfast       2         $1,111.50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$1,222.50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2     =    $2,334.00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Belfast       3           $111.10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$111.10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3     =      $222.20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Belfast       4           $111.50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$1,502.50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$2,505.50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4     =    $4,119.50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Belfast           =    $7,009.70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Programmer - Michael Coughlan               Page :  1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3075" name="AutoShape 3">
            <a:extLst>
              <a:ext uri="{FF2B5EF4-FFF2-40B4-BE49-F238E27FC236}">
                <a16:creationId xmlns:a16="http://schemas.microsoft.com/office/drawing/2014/main" id="{02506D8C-7EC5-E7BD-0A57-37E0C34C62C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58850" y="2178050"/>
            <a:ext cx="2730500" cy="433917"/>
          </a:xfrm>
          <a:prstGeom prst="wedgeRoundRectCallout">
            <a:avLst>
              <a:gd name="adj1" fmla="val -47338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038" rIns="0" bIns="46038"/>
          <a:lstStyle>
            <a:lvl1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000" b="1">
                <a:latin typeface="Times New Roman" panose="02020603050405020304" pitchFamily="18" charset="0"/>
              </a:rPr>
              <a:t>1.</a:t>
            </a:r>
            <a:r>
              <a:rPr lang="en-US" altLang="en-US" sz="1000">
                <a:latin typeface="Times New Roman" panose="02020603050405020304" pitchFamily="18" charset="0"/>
              </a:rPr>
              <a:t>	Print headings at the top of each page.</a:t>
            </a:r>
          </a:p>
        </p:txBody>
      </p:sp>
      <p:sp>
        <p:nvSpPr>
          <p:cNvPr id="3076" name="Arc 4">
            <a:extLst>
              <a:ext uri="{FF2B5EF4-FFF2-40B4-BE49-F238E27FC236}">
                <a16:creationId xmlns:a16="http://schemas.microsoft.com/office/drawing/2014/main" id="{B3C39ADD-621D-3558-DF55-667FD4CE23D4}"/>
              </a:ext>
            </a:extLst>
          </p:cNvPr>
          <p:cNvSpPr>
            <a:spLocks/>
          </p:cNvSpPr>
          <p:nvPr/>
        </p:nvSpPr>
        <p:spPr bwMode="auto">
          <a:xfrm>
            <a:off x="2436813" y="315913"/>
            <a:ext cx="954087" cy="1924050"/>
          </a:xfrm>
          <a:custGeom>
            <a:avLst/>
            <a:gdLst>
              <a:gd name="G0" fmla="+- 36 0 0"/>
              <a:gd name="G1" fmla="+- 21600 0 0"/>
              <a:gd name="G2" fmla="+- 21600 0 0"/>
              <a:gd name="T0" fmla="*/ 0 w 21636"/>
              <a:gd name="T1" fmla="*/ 0 h 37471"/>
              <a:gd name="T2" fmla="*/ 14687 w 21636"/>
              <a:gd name="T3" fmla="*/ 37471 h 37471"/>
              <a:gd name="T4" fmla="*/ 36 w 21636"/>
              <a:gd name="T5" fmla="*/ 21600 h 37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36" h="37471" fill="none" extrusionOk="0">
                <a:moveTo>
                  <a:pt x="0" y="0"/>
                </a:moveTo>
                <a:cubicBezTo>
                  <a:pt x="12" y="0"/>
                  <a:pt x="24" y="0"/>
                  <a:pt x="36" y="0"/>
                </a:cubicBezTo>
                <a:cubicBezTo>
                  <a:pt x="11965" y="0"/>
                  <a:pt x="21636" y="9670"/>
                  <a:pt x="21636" y="21600"/>
                </a:cubicBezTo>
                <a:cubicBezTo>
                  <a:pt x="21636" y="27628"/>
                  <a:pt x="19116" y="33382"/>
                  <a:pt x="14687" y="37471"/>
                </a:cubicBezTo>
              </a:path>
              <a:path w="21636" h="37471" stroke="0" extrusionOk="0">
                <a:moveTo>
                  <a:pt x="0" y="0"/>
                </a:moveTo>
                <a:cubicBezTo>
                  <a:pt x="12" y="0"/>
                  <a:pt x="24" y="0"/>
                  <a:pt x="36" y="0"/>
                </a:cubicBezTo>
                <a:cubicBezTo>
                  <a:pt x="11965" y="0"/>
                  <a:pt x="21636" y="9670"/>
                  <a:pt x="21636" y="21600"/>
                </a:cubicBezTo>
                <a:cubicBezTo>
                  <a:pt x="21636" y="27628"/>
                  <a:pt x="19116" y="33382"/>
                  <a:pt x="14687" y="37471"/>
                </a:cubicBezTo>
                <a:lnTo>
                  <a:pt x="36" y="2160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F9E0FA7-08FD-450B-9B73-BB80FE2E7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884613" cy="491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/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An example COBOL Report Program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Bible Salesperson - Sales and Salary Report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City      Salesperson     Sale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Name       Number         Value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Dublin        1           $111.50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$222.50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1     =      $334.00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Dublin        2         $1,111.50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$1,222.50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$1,333.50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2     =    $3,667.50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Dublin        3           $777.70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3     =      $777.70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Dublin            =    $4,779.20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Belfast       1           $111.50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$222.50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1     =      $334.00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Belfast       2         $1,111.50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$1,222.50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2     =    $2,334.00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Belfast       3           $111.10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$111.10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3     =      $222.20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Belfast       4           $111.50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$1,502.50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$2,505.50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4     =    $4,119.50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Belfast           =    $7,009.70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Programmer - Michael Coughlan               Page :  1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4099" name="AutoShape 3">
            <a:extLst>
              <a:ext uri="{FF2B5EF4-FFF2-40B4-BE49-F238E27FC236}">
                <a16:creationId xmlns:a16="http://schemas.microsoft.com/office/drawing/2014/main" id="{5FF92938-68D0-2286-07F6-46E1A16B6C9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58850" y="2178050"/>
            <a:ext cx="2730500" cy="624417"/>
          </a:xfrm>
          <a:prstGeom prst="wedgeRoundRectCallout">
            <a:avLst>
              <a:gd name="adj1" fmla="val -47338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038" rIns="0" bIns="46038"/>
          <a:lstStyle>
            <a:lvl1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000" b="1">
                <a:latin typeface="Times New Roman" panose="02020603050405020304" pitchFamily="18" charset="0"/>
              </a:rPr>
              <a:t>2.</a:t>
            </a:r>
            <a:r>
              <a:rPr lang="en-US" altLang="en-US" sz="1000">
                <a:latin typeface="Times New Roman" panose="02020603050405020304" pitchFamily="18" charset="0"/>
              </a:rPr>
              <a:t>	Print a footer at the bottom of each page 	(</a:t>
            </a:r>
            <a:r>
              <a:rPr lang="en-US" altLang="en-US" sz="800">
                <a:latin typeface="Times New Roman" panose="02020603050405020304" pitchFamily="18" charset="0"/>
              </a:rPr>
              <a:t>showing the name of the programmer and a page 	number</a:t>
            </a:r>
            <a:r>
              <a:rPr lang="en-US" altLang="en-US" sz="1000">
                <a:latin typeface="Times New Roman" panose="02020603050405020304" pitchFamily="18" charset="0"/>
              </a:rPr>
              <a:t>).</a:t>
            </a:r>
          </a:p>
        </p:txBody>
      </p:sp>
      <p:sp>
        <p:nvSpPr>
          <p:cNvPr id="4100" name="Arc 4">
            <a:extLst>
              <a:ext uri="{FF2B5EF4-FFF2-40B4-BE49-F238E27FC236}">
                <a16:creationId xmlns:a16="http://schemas.microsoft.com/office/drawing/2014/main" id="{D8B6A838-5584-71EA-DA7C-A6AED5DCC726}"/>
              </a:ext>
            </a:extLst>
          </p:cNvPr>
          <p:cNvSpPr>
            <a:spLocks/>
          </p:cNvSpPr>
          <p:nvPr/>
        </p:nvSpPr>
        <p:spPr bwMode="auto">
          <a:xfrm>
            <a:off x="342900" y="2486025"/>
            <a:ext cx="885825" cy="2314575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11757 w 21600"/>
              <a:gd name="T1" fmla="*/ 40827 h 40827"/>
              <a:gd name="T2" fmla="*/ 21561 w 21600"/>
              <a:gd name="T3" fmla="*/ 0 h 40827"/>
              <a:gd name="T4" fmla="*/ 21600 w 21600"/>
              <a:gd name="T5" fmla="*/ 21600 h 40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0827" fill="none" extrusionOk="0">
                <a:moveTo>
                  <a:pt x="11757" y="40826"/>
                </a:moveTo>
                <a:cubicBezTo>
                  <a:pt x="4540" y="37132"/>
                  <a:pt x="0" y="29707"/>
                  <a:pt x="0" y="21600"/>
                </a:cubicBezTo>
                <a:cubicBezTo>
                  <a:pt x="0" y="9685"/>
                  <a:pt x="9646" y="21"/>
                  <a:pt x="21561" y="0"/>
                </a:cubicBezTo>
              </a:path>
              <a:path w="21600" h="40827" stroke="0" extrusionOk="0">
                <a:moveTo>
                  <a:pt x="11757" y="40826"/>
                </a:moveTo>
                <a:cubicBezTo>
                  <a:pt x="4540" y="37132"/>
                  <a:pt x="0" y="29707"/>
                  <a:pt x="0" y="21600"/>
                </a:cubicBezTo>
                <a:cubicBezTo>
                  <a:pt x="0" y="9685"/>
                  <a:pt x="9646" y="21"/>
                  <a:pt x="21561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7F0C5A8-9B12-6AA0-7DDA-BC40E5B42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884613" cy="491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/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An example COBOL Report Program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Bible Salesperson - Sales and Salary Report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City      Salesperson     Sale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Name       Number         Value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Dublin        1           $111.50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$222.50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1     =      $334.00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Dublin        2         $1,111.50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$1,222.50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$1,333.50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2     =    $3,667.50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Dublin        3           $777.70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3     =      $777.70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Dublin            =    $4,779.20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Belfast       1           $111.50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$222.50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1     =      $334.00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Belfast       2         $1,111.50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$1,222.50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2     =    $2,334.00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Belfast       3           $111.10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$111.10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3     =      $222.20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Belfast       4           $111.50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$1,502.50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$2,505.50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4     =    $4,119.50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Belfast           =    $7,009.70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Programmer - Michael Coughlan               Page :  1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5123" name="AutoShape 3">
            <a:extLst>
              <a:ext uri="{FF2B5EF4-FFF2-40B4-BE49-F238E27FC236}">
                <a16:creationId xmlns:a16="http://schemas.microsoft.com/office/drawing/2014/main" id="{37A5550F-CFCD-959F-2BF0-999EA02C7D2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58850" y="2178050"/>
            <a:ext cx="2730500" cy="751417"/>
          </a:xfrm>
          <a:prstGeom prst="wedgeRoundRectCallout">
            <a:avLst>
              <a:gd name="adj1" fmla="val -47338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038" rIns="0" bIns="46038"/>
          <a:lstStyle>
            <a:lvl1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000" b="1">
                <a:latin typeface="Times New Roman" panose="02020603050405020304" pitchFamily="18" charset="0"/>
              </a:rPr>
              <a:t>3.</a:t>
            </a:r>
            <a:r>
              <a:rPr lang="en-US" altLang="en-US" sz="1000">
                <a:latin typeface="Times New Roman" panose="02020603050405020304" pitchFamily="18" charset="0"/>
              </a:rPr>
              <a:t>	Keep a line count, and change page when 	the count is  greater than 42 - </a:t>
            </a:r>
            <a:r>
              <a:rPr lang="en-US" altLang="en-US" sz="800">
                <a:latin typeface="Times New Roman" panose="02020603050405020304" pitchFamily="18" charset="0"/>
              </a:rPr>
              <a:t>(unless the next 	thing to print is a salesperson total line, a city total line 	or the final total)</a:t>
            </a:r>
            <a:r>
              <a:rPr lang="en-US" altLang="en-US" sz="1000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DA7504B-E36B-72DE-82D6-C4E3D2186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884613" cy="491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/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An example COBOL Report Program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Bible Salesperson - Sales and Salary Report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City      Salesperson     Sale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Name       Number         Value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Dublin        1           $111.50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$222.50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1     =      $334.00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Dublin        2         $1,111.50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$1,222.50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$1,333.50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2     =    $3,667.50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Dublin        3           $777.70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3     =      $777.70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Dublin            =    $4,779.20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Belfast       1           $111.50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$222.50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1     =      $334.00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Belfast       2         $1,111.50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$1,222.50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2     =    $2,334.00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Belfast       3           $111.10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$111.10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3     =      $222.20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Belfast       4           $111.50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$1,502.50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$2,505.50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4     =    $4,119.50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Belfast           =    $7,009.70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Programmer - Michael Coughlan               Page :  1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6147" name="AutoShape 3">
            <a:extLst>
              <a:ext uri="{FF2B5EF4-FFF2-40B4-BE49-F238E27FC236}">
                <a16:creationId xmlns:a16="http://schemas.microsoft.com/office/drawing/2014/main" id="{7BACE97E-E831-B763-7A51-A1DD8DB19AB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58850" y="2178050"/>
            <a:ext cx="2730500" cy="497417"/>
          </a:xfrm>
          <a:prstGeom prst="wedgeRoundRectCallout">
            <a:avLst>
              <a:gd name="adj1" fmla="val -47338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038" rIns="0" bIns="46038"/>
          <a:lstStyle>
            <a:lvl1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000" b="1">
                <a:latin typeface="Times New Roman" panose="02020603050405020304" pitchFamily="18" charset="0"/>
              </a:rPr>
              <a:t>4.</a:t>
            </a:r>
            <a:r>
              <a:rPr lang="en-US" altLang="en-US" sz="1000">
                <a:latin typeface="Times New Roman" panose="02020603050405020304" pitchFamily="18" charset="0"/>
              </a:rPr>
              <a:t>	Print out the details of a salesperson's sales. 	(</a:t>
            </a:r>
            <a:r>
              <a:rPr lang="en-US" altLang="en-US" sz="800">
                <a:latin typeface="Times New Roman" panose="02020603050405020304" pitchFamily="18" charset="0"/>
              </a:rPr>
              <a:t>Get the city name from a table.</a:t>
            </a:r>
            <a:r>
              <a:rPr lang="en-US" altLang="en-US" sz="100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6148" name="Arc 4">
            <a:extLst>
              <a:ext uri="{FF2B5EF4-FFF2-40B4-BE49-F238E27FC236}">
                <a16:creationId xmlns:a16="http://schemas.microsoft.com/office/drawing/2014/main" id="{07D38F21-FFDC-235C-44B7-E8E09845B2E6}"/>
              </a:ext>
            </a:extLst>
          </p:cNvPr>
          <p:cNvSpPr>
            <a:spLocks/>
          </p:cNvSpPr>
          <p:nvPr/>
        </p:nvSpPr>
        <p:spPr bwMode="auto">
          <a:xfrm>
            <a:off x="2154238" y="1077913"/>
            <a:ext cx="887412" cy="1162050"/>
          </a:xfrm>
          <a:custGeom>
            <a:avLst/>
            <a:gdLst>
              <a:gd name="G0" fmla="+- 967 0 0"/>
              <a:gd name="G1" fmla="+- 21600 0 0"/>
              <a:gd name="G2" fmla="+- 21600 0 0"/>
              <a:gd name="T0" fmla="*/ 0 w 22567"/>
              <a:gd name="T1" fmla="*/ 22 h 21600"/>
              <a:gd name="T2" fmla="*/ 22567 w 22567"/>
              <a:gd name="T3" fmla="*/ 21600 h 21600"/>
              <a:gd name="T4" fmla="*/ 967 w 22567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567" h="21600" fill="none" extrusionOk="0">
                <a:moveTo>
                  <a:pt x="-1" y="21"/>
                </a:moveTo>
                <a:cubicBezTo>
                  <a:pt x="322" y="7"/>
                  <a:pt x="644" y="0"/>
                  <a:pt x="967" y="0"/>
                </a:cubicBezTo>
                <a:cubicBezTo>
                  <a:pt x="12896" y="0"/>
                  <a:pt x="22567" y="9670"/>
                  <a:pt x="22567" y="21600"/>
                </a:cubicBezTo>
              </a:path>
              <a:path w="22567" h="21600" stroke="0" extrusionOk="0">
                <a:moveTo>
                  <a:pt x="-1" y="21"/>
                </a:moveTo>
                <a:cubicBezTo>
                  <a:pt x="322" y="7"/>
                  <a:pt x="644" y="0"/>
                  <a:pt x="967" y="0"/>
                </a:cubicBezTo>
                <a:cubicBezTo>
                  <a:pt x="12896" y="0"/>
                  <a:pt x="22567" y="9670"/>
                  <a:pt x="22567" y="21600"/>
                </a:cubicBezTo>
                <a:lnTo>
                  <a:pt x="967" y="2160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2025038-A59A-C28D-D158-BB5F4FC25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884613" cy="491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/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An example COBOL Report Program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Bible Salesperson - Sales and Salary Report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City      Salesperson     Sale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Name       Number         Value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Dublin        1           $111.50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$222.50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1     =      $334.00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Dublin        2         $1,111.50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$1,222.50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$1,333.50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2     =    $3,667.50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Dublin        3           $777.70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3     =      $777.70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Dublin            =    $4,779.20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Belfast       1           $111.50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$222.50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1     =      $334.00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Belfast       2         $1,111.50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$1,222.50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2     =    $2,334.00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Belfast       3           $111.10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$111.10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3     =      $222.20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Belfast       4           $111.50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$1,502.50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$2,505.50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4     =    $4,119.50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Belfast           =    $7,009.70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Programmer - Michael Coughlan               Page :  1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7171" name="AutoShape 3">
            <a:extLst>
              <a:ext uri="{FF2B5EF4-FFF2-40B4-BE49-F238E27FC236}">
                <a16:creationId xmlns:a16="http://schemas.microsoft.com/office/drawing/2014/main" id="{390335E0-1AE5-B46F-43E7-1C3E7010F10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58850" y="2178050"/>
            <a:ext cx="2730500" cy="687917"/>
          </a:xfrm>
          <a:prstGeom prst="wedgeRoundRectCallout">
            <a:avLst>
              <a:gd name="adj1" fmla="val -47338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038" rIns="0" bIns="46038"/>
          <a:lstStyle>
            <a:lvl1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000" b="1">
                <a:latin typeface="Times New Roman" panose="02020603050405020304" pitchFamily="18" charset="0"/>
              </a:rPr>
              <a:t>5.</a:t>
            </a:r>
            <a:r>
              <a:rPr lang="en-US" altLang="en-US" sz="1000">
                <a:latin typeface="Times New Roman" panose="02020603050405020304" pitchFamily="18" charset="0"/>
              </a:rPr>
              <a:t>	Suppress the salesperson number and city 	name after their first occurrence (</a:t>
            </a:r>
            <a:r>
              <a:rPr lang="en-US" altLang="en-US" sz="800">
                <a:latin typeface="Times New Roman" panose="02020603050405020304" pitchFamily="18" charset="0"/>
              </a:rPr>
              <a:t>but restore 	them if there is a change of page</a:t>
            </a:r>
            <a:r>
              <a:rPr lang="en-US" altLang="en-US" sz="1000">
                <a:latin typeface="Times New Roman" panose="02020603050405020304" pitchFamily="18" charset="0"/>
              </a:rPr>
              <a:t>).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63EA1160-B6F1-F056-3D09-1481EB149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75" y="1063625"/>
            <a:ext cx="1435100" cy="158750"/>
          </a:xfrm>
          <a:prstGeom prst="rect">
            <a:avLst/>
          </a:prstGeom>
          <a:noFill/>
          <a:ln w="12700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3" name="Arc 5">
            <a:extLst>
              <a:ext uri="{FF2B5EF4-FFF2-40B4-BE49-F238E27FC236}">
                <a16:creationId xmlns:a16="http://schemas.microsoft.com/office/drawing/2014/main" id="{E9911652-95E0-2DF9-744A-5A864899A165}"/>
              </a:ext>
            </a:extLst>
          </p:cNvPr>
          <p:cNvSpPr>
            <a:spLocks/>
          </p:cNvSpPr>
          <p:nvPr/>
        </p:nvSpPr>
        <p:spPr bwMode="auto">
          <a:xfrm>
            <a:off x="552450" y="1257300"/>
            <a:ext cx="704850" cy="1247775"/>
          </a:xfrm>
          <a:custGeom>
            <a:avLst/>
            <a:gdLst>
              <a:gd name="G0" fmla="+- 21600 0 0"/>
              <a:gd name="G1" fmla="+- 0 0 0"/>
              <a:gd name="G2" fmla="+- 21600 0 0"/>
              <a:gd name="T0" fmla="*/ 21600 w 21600"/>
              <a:gd name="T1" fmla="*/ 21600 h 21600"/>
              <a:gd name="T2" fmla="*/ 0 w 21600"/>
              <a:gd name="T3" fmla="*/ 0 h 21600"/>
              <a:gd name="T4" fmla="*/ 2160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599"/>
                </a:moveTo>
                <a:cubicBezTo>
                  <a:pt x="9670" y="21599"/>
                  <a:pt x="0" y="11929"/>
                  <a:pt x="0" y="0"/>
                </a:cubicBezTo>
              </a:path>
              <a:path w="21600" h="21600" stroke="0" extrusionOk="0">
                <a:moveTo>
                  <a:pt x="21600" y="21599"/>
                </a:moveTo>
                <a:cubicBezTo>
                  <a:pt x="9670" y="21599"/>
                  <a:pt x="0" y="11929"/>
                  <a:pt x="0" y="0"/>
                </a:cubicBez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4FB24B7-1FE4-986F-D2C5-373193113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884613" cy="491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/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An example COBOL Report Program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Bible Salesperson - Sales and Salary Report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City      Salesperson     Sale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Name       Number         Value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Dublin        1           $111.50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$222.50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1     =      $334.00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Dublin        2         $1,111.50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$1,222.50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$1,333.50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</a:t>
            </a:r>
            <a:r>
              <a:rPr lang="en-US" altLang="en-US" sz="800" b="1">
                <a:solidFill>
                  <a:srgbClr val="CC0000"/>
                </a:solidFill>
                <a:latin typeface="Courier New" panose="02070309020205020404" pitchFamily="49" charset="0"/>
              </a:rPr>
              <a:t>Sales for salesperson 2     =    $3,667.50</a:t>
            </a:r>
            <a:endParaRPr lang="en-US" altLang="en-US" sz="800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Dublin        3           $777.70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3     =      $777.70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Dublin            =    $4,779.20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Belfast       1           $111.50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$222.50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1     =      $334.00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Belfast       2         $1,111.50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$1,222.50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2     =    $2,334.00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Belfast       3           $111.10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$111.10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3     =      $222.20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Belfast       4           $111.50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$1,502.50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$2,505.50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4     =    $4,119.50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Belfast           =    $7,009.70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Programmer - Michael Coughlan               Page :  1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8195" name="AutoShape 3">
            <a:extLst>
              <a:ext uri="{FF2B5EF4-FFF2-40B4-BE49-F238E27FC236}">
                <a16:creationId xmlns:a16="http://schemas.microsoft.com/office/drawing/2014/main" id="{411DCE05-0266-1A88-0236-3E6A7F4A269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58850" y="2166938"/>
            <a:ext cx="2730500" cy="728927"/>
          </a:xfrm>
          <a:prstGeom prst="wedgeRoundRectCallout">
            <a:avLst>
              <a:gd name="adj1" fmla="val -47338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038" rIns="0" bIns="46038"/>
          <a:lstStyle>
            <a:lvl1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000" b="1">
                <a:latin typeface="Times New Roman" panose="02020603050405020304" pitchFamily="18" charset="0"/>
              </a:rPr>
              <a:t>6.</a:t>
            </a:r>
            <a:r>
              <a:rPr lang="en-US" altLang="en-US" sz="1000">
                <a:latin typeface="Times New Roman" panose="02020603050405020304" pitchFamily="18" charset="0"/>
              </a:rPr>
              <a:t>	When the salesman number changes 	print the </a:t>
            </a:r>
            <a:r>
              <a:rPr lang="en-US" altLang="en-US" sz="1000" b="1">
                <a:latin typeface="Times New Roman" panose="02020603050405020304" pitchFamily="18" charset="0"/>
              </a:rPr>
              <a:t>total sales</a:t>
            </a:r>
            <a:r>
              <a:rPr lang="en-US" altLang="en-US" sz="1000">
                <a:latin typeface="Times New Roman" panose="02020603050405020304" pitchFamily="18" charset="0"/>
              </a:rPr>
              <a:t> accumulated for the 	salesperson.</a:t>
            </a:r>
          </a:p>
        </p:txBody>
      </p:sp>
      <p:sp>
        <p:nvSpPr>
          <p:cNvPr id="8196" name="Arc 4">
            <a:extLst>
              <a:ext uri="{FF2B5EF4-FFF2-40B4-BE49-F238E27FC236}">
                <a16:creationId xmlns:a16="http://schemas.microsoft.com/office/drawing/2014/main" id="{E3502821-6186-3F50-2026-8850AB5FCF59}"/>
              </a:ext>
            </a:extLst>
          </p:cNvPr>
          <p:cNvSpPr>
            <a:spLocks/>
          </p:cNvSpPr>
          <p:nvPr/>
        </p:nvSpPr>
        <p:spPr bwMode="auto">
          <a:xfrm>
            <a:off x="3314700" y="1363663"/>
            <a:ext cx="314325" cy="1133475"/>
          </a:xfrm>
          <a:custGeom>
            <a:avLst/>
            <a:gdLst>
              <a:gd name="G0" fmla="+- 0 0 0"/>
              <a:gd name="G1" fmla="+- 21318 0 0"/>
              <a:gd name="G2" fmla="+- 21600 0 0"/>
              <a:gd name="T0" fmla="*/ 3479 w 21600"/>
              <a:gd name="T1" fmla="*/ 0 h 42918"/>
              <a:gd name="T2" fmla="*/ 0 w 21600"/>
              <a:gd name="T3" fmla="*/ 42918 h 42918"/>
              <a:gd name="T4" fmla="*/ 0 w 21600"/>
              <a:gd name="T5" fmla="*/ 21318 h 429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2918" fill="none" extrusionOk="0">
                <a:moveTo>
                  <a:pt x="3478" y="0"/>
                </a:moveTo>
                <a:cubicBezTo>
                  <a:pt x="13927" y="1705"/>
                  <a:pt x="21600" y="10731"/>
                  <a:pt x="21600" y="21318"/>
                </a:cubicBezTo>
                <a:cubicBezTo>
                  <a:pt x="21600" y="33247"/>
                  <a:pt x="11929" y="42917"/>
                  <a:pt x="0" y="42917"/>
                </a:cubicBezTo>
              </a:path>
              <a:path w="21600" h="42918" stroke="0" extrusionOk="0">
                <a:moveTo>
                  <a:pt x="3478" y="0"/>
                </a:moveTo>
                <a:cubicBezTo>
                  <a:pt x="13927" y="1705"/>
                  <a:pt x="21600" y="10731"/>
                  <a:pt x="21600" y="21318"/>
                </a:cubicBezTo>
                <a:cubicBezTo>
                  <a:pt x="21600" y="33247"/>
                  <a:pt x="11929" y="42917"/>
                  <a:pt x="0" y="42917"/>
                </a:cubicBezTo>
                <a:lnTo>
                  <a:pt x="0" y="21318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B8C4465-93E9-7169-0F84-78097A432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884613" cy="491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/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An example COBOL Report Program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Bible Salesperson - Sales and Salary Report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City      Salesperson     Sale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Name       Number         Value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Dublin        1           $111.50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$222.50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1     =      $334.00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Dublin        2         $1,111.50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$1,222.50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$1,333.50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2     =    $3,667.50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Dublin        3           $777.70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3     =      $777.70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</a:t>
            </a:r>
            <a:r>
              <a:rPr lang="en-US" altLang="en-US" sz="800" b="1">
                <a:solidFill>
                  <a:srgbClr val="CC0000"/>
                </a:solidFill>
                <a:latin typeface="Courier New" panose="02070309020205020404" pitchFamily="49" charset="0"/>
              </a:rPr>
              <a:t>Sales for Dublin            =    $4,779.20</a:t>
            </a:r>
            <a:endParaRPr lang="en-US" altLang="en-US" sz="800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Belfast       1           $111.50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$222.50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1     =      $334.00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Belfast       2         $1,111.50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$1,222.50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2     =    $2,334.00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Belfast       3           $111.10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$111.10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3     =      $222.20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Belfast       4           $111.50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$1,502.50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$2,505.50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salesperson 4     =    $4,119.50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Sales for Belfast           =    $7,009.70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                                                    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Programmer - Michael Coughlan               Page :  1   </a:t>
            </a:r>
          </a:p>
          <a:p>
            <a:pPr>
              <a:lnSpc>
                <a:spcPct val="75000"/>
              </a:lnSpc>
            </a:pPr>
            <a:r>
              <a:rPr lang="en-US" altLang="en-US" sz="800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9219" name="AutoShape 3">
            <a:extLst>
              <a:ext uri="{FF2B5EF4-FFF2-40B4-BE49-F238E27FC236}">
                <a16:creationId xmlns:a16="http://schemas.microsoft.com/office/drawing/2014/main" id="{1D22C931-294A-B580-8EC9-503FFC97EF0A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49325" y="2149475"/>
            <a:ext cx="2730500" cy="759354"/>
          </a:xfrm>
          <a:prstGeom prst="wedgeRoundRectCallout">
            <a:avLst>
              <a:gd name="adj1" fmla="val -47338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038" rIns="0" bIns="46038"/>
          <a:lstStyle>
            <a:lvl1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000" b="1">
                <a:latin typeface="Times New Roman" panose="02020603050405020304" pitchFamily="18" charset="0"/>
              </a:rPr>
              <a:t>7.</a:t>
            </a:r>
            <a:r>
              <a:rPr lang="en-US" altLang="en-US" sz="1000">
                <a:latin typeface="Times New Roman" panose="02020603050405020304" pitchFamily="18" charset="0"/>
              </a:rPr>
              <a:t>	When the city code changes print the </a:t>
            </a:r>
            <a:r>
              <a:rPr lang="en-US" altLang="en-US" sz="1000" b="1">
                <a:latin typeface="Times New Roman" panose="02020603050405020304" pitchFamily="18" charset="0"/>
              </a:rPr>
              <a:t>total 	sales</a:t>
            </a:r>
            <a:r>
              <a:rPr lang="en-US" altLang="en-US" sz="1000">
                <a:latin typeface="Times New Roman" panose="02020603050405020304" pitchFamily="18" charset="0"/>
              </a:rPr>
              <a:t> accumulated for the city.</a:t>
            </a:r>
          </a:p>
        </p:txBody>
      </p:sp>
      <p:sp>
        <p:nvSpPr>
          <p:cNvPr id="9220" name="Arc 4">
            <a:extLst>
              <a:ext uri="{FF2B5EF4-FFF2-40B4-BE49-F238E27FC236}">
                <a16:creationId xmlns:a16="http://schemas.microsoft.com/office/drawing/2014/main" id="{72922F7C-410B-EC22-401D-0E2AACD6CC61}"/>
              </a:ext>
            </a:extLst>
          </p:cNvPr>
          <p:cNvSpPr>
            <a:spLocks/>
          </p:cNvSpPr>
          <p:nvPr/>
        </p:nvSpPr>
        <p:spPr bwMode="auto">
          <a:xfrm>
            <a:off x="3333750" y="1895475"/>
            <a:ext cx="228600" cy="601663"/>
          </a:xfrm>
          <a:custGeom>
            <a:avLst/>
            <a:gdLst>
              <a:gd name="G0" fmla="+- 0 0 0"/>
              <a:gd name="G1" fmla="+- 20669 0 0"/>
              <a:gd name="G2" fmla="+- 21600 0 0"/>
              <a:gd name="T0" fmla="*/ 6272 w 21600"/>
              <a:gd name="T1" fmla="*/ 0 h 42269"/>
              <a:gd name="T2" fmla="*/ 0 w 21600"/>
              <a:gd name="T3" fmla="*/ 42269 h 42269"/>
              <a:gd name="T4" fmla="*/ 0 w 21600"/>
              <a:gd name="T5" fmla="*/ 20669 h 42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2269" fill="none" extrusionOk="0">
                <a:moveTo>
                  <a:pt x="6272" y="-1"/>
                </a:moveTo>
                <a:cubicBezTo>
                  <a:pt x="15375" y="2762"/>
                  <a:pt x="21600" y="11155"/>
                  <a:pt x="21600" y="20669"/>
                </a:cubicBezTo>
                <a:cubicBezTo>
                  <a:pt x="21600" y="32598"/>
                  <a:pt x="11929" y="42269"/>
                  <a:pt x="-1" y="42269"/>
                </a:cubicBezTo>
              </a:path>
              <a:path w="21600" h="42269" stroke="0" extrusionOk="0">
                <a:moveTo>
                  <a:pt x="6272" y="-1"/>
                </a:moveTo>
                <a:cubicBezTo>
                  <a:pt x="15375" y="2762"/>
                  <a:pt x="21600" y="11155"/>
                  <a:pt x="21600" y="20669"/>
                </a:cubicBezTo>
                <a:cubicBezTo>
                  <a:pt x="21600" y="32598"/>
                  <a:pt x="11929" y="42269"/>
                  <a:pt x="-1" y="42269"/>
                </a:cubicBezTo>
                <a:lnTo>
                  <a:pt x="0" y="20669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1" name="AutoShape 5">
            <a:extLst>
              <a:ext uri="{FF2B5EF4-FFF2-40B4-BE49-F238E27FC236}">
                <a16:creationId xmlns:a16="http://schemas.microsoft.com/office/drawing/2014/main" id="{643F5137-5156-0890-04FD-83B5C54C677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949325" y="2139950"/>
            <a:ext cx="2787650" cy="775229"/>
          </a:xfrm>
          <a:prstGeom prst="wedgeRoundRectCallout">
            <a:avLst>
              <a:gd name="adj1" fmla="val -47338"/>
              <a:gd name="adj2" fmla="val 66667"/>
              <a:gd name="adj3" fmla="val 16667"/>
            </a:avLst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46038" rIns="0" bIns="46038"/>
          <a:lstStyle>
            <a:lvl1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714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000" b="1">
                <a:latin typeface="Times New Roman" panose="02020603050405020304" pitchFamily="18" charset="0"/>
              </a:rPr>
              <a:t>8.</a:t>
            </a:r>
            <a:r>
              <a:rPr lang="en-US" altLang="en-US" sz="1000">
                <a:latin typeface="Times New Roman" panose="02020603050405020304" pitchFamily="18" charset="0"/>
              </a:rPr>
              <a:t>	 Accumulate all the sales values and print 	them as a final total at the end of the report 	(</a:t>
            </a:r>
            <a:r>
              <a:rPr lang="en-US" altLang="en-US" sz="800">
                <a:latin typeface="Times New Roman" panose="02020603050405020304" pitchFamily="18" charset="0"/>
              </a:rPr>
              <a:t>not shown on this page</a:t>
            </a:r>
            <a:r>
              <a:rPr lang="en-US" altLang="en-US" sz="1000">
                <a:latin typeface="Times New Roman" panose="02020603050405020304" pitchFamily="18" charset="0"/>
              </a:rPr>
              <a:t>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1" grpId="0" animBg="1" autoUpdateAnimBg="0"/>
    </p:bld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C:\MSOffice\Templates\Blank Presentation.pot</Template>
  <TotalTime>80</TotalTime>
  <Words>1631</Words>
  <Application>Microsoft Office PowerPoint</Application>
  <PresentationFormat>Custom</PresentationFormat>
  <Paragraphs>442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Times New Roman</vt:lpstr>
      <vt:lpstr>Courier New</vt:lpstr>
      <vt:lpstr>Blank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Michael Coughlan</dc:creator>
  <cp:lastModifiedBy>Sean McBride</cp:lastModifiedBy>
  <cp:revision>4</cp:revision>
  <dcterms:created xsi:type="dcterms:W3CDTF">1995-06-17T23:31:02Z</dcterms:created>
  <dcterms:modified xsi:type="dcterms:W3CDTF">2026-05-13T01:06:51Z</dcterms:modified>
</cp:coreProperties>
</file>