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9" r:id="rId2"/>
    <p:sldId id="256" r:id="rId3"/>
    <p:sldId id="258" r:id="rId4"/>
  </p:sldIdLst>
  <p:sldSz cx="4762500" cy="4953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6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CC0000"/>
    <a:srgbClr val="336600"/>
    <a:srgbClr val="FFFF00"/>
    <a:srgbClr val="000099"/>
    <a:srgbClr val="A50021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3" d="100"/>
          <a:sy n="173" d="100"/>
        </p:scale>
        <p:origin x="1302" y="138"/>
      </p:cViewPr>
      <p:guideLst>
        <p:guide orient="horz" pos="156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56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3166DFF-FAE5-2B28-88D7-48EF00085B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DA72C80-C953-2CDF-9343-62074C40F04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C54623B-F4FC-0662-7BE2-F6FEE041CF5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787525" y="692150"/>
            <a:ext cx="32829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AE6E4C89-3C83-5165-3FA6-A634C64E010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91B80DF4-3C18-5DF9-35A8-51CDDAE9BE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6E4B72C2-6872-5B37-DBF6-8B6CF6B65C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9C0B8B87-3582-49CE-B3FF-DE2E713A47C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6B86-7747-A768-9389-F59C72A96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811213"/>
            <a:ext cx="3571875" cy="17240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4F4B5A-0FB2-8531-5725-F0D4FC584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601913"/>
            <a:ext cx="3571875" cy="119538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2200E-D992-CC88-08AF-5298989D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4D313-3118-3AC5-095B-FD3DA01B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3B2D8-1940-3966-21DE-D44EAA0E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D6BD80-3DF0-49F1-81DD-9E2D656C9F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637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55F14-51A4-B465-3BFB-F2D9DF71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F9FD5-F909-62DC-BE4E-FFAF990DE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F9A6F-39FE-4CDB-0E70-95CDE1AA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54C96-43CB-B32F-6C02-E8DC23A17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726B8-D03C-0FC0-6440-37A4707A5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8FFD7B-78EE-492C-A627-8732E53698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11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BEABD-2EEC-F24C-4EB4-827A972BA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1235075"/>
            <a:ext cx="4106862" cy="20605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B6A41-A997-1F9B-DEEA-D800EC934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3314700"/>
            <a:ext cx="4106862" cy="1082675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7E89-D14B-258A-9F31-E43A8765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A3EB3-1DF4-5C99-2511-17D810403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AD24B-DEDA-CBF9-AB8C-ECACE500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A6940F-FAEE-438A-9958-27DD19A732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998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55E7-60A0-AE0E-5CA1-6ABBCD1C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237A9-318D-1712-7B01-FFCAFFC00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430338"/>
            <a:ext cx="1949450" cy="297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E0259-35C1-71FE-4546-0DB6DDE4F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430338"/>
            <a:ext cx="1949450" cy="2971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3C3D1-35A9-F93D-B2F0-B4130696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26F86-AACA-1705-4EC5-5F315CDF8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78864-FD7D-7A23-9091-6E636B15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11A071-DF76-447D-B99D-F7154CA31F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362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C0DDE-1843-C1E1-D7C0-2796D6BD9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63525"/>
            <a:ext cx="4106862" cy="9572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D72D-B8A2-F760-66E5-14F9C9ACF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1214438"/>
            <a:ext cx="2014537" cy="5953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A7C77-9FA2-BFF0-FE5F-485BD7FF0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809750"/>
            <a:ext cx="2014537" cy="2660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68D5A-2B65-8243-3EFC-6A8826D8A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1214438"/>
            <a:ext cx="2024062" cy="5953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9141DC-83A4-2C0C-712D-5B8BBB3C8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809750"/>
            <a:ext cx="2024062" cy="2660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EFB5B5-7477-2E7E-4D73-6E76177E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69662-699A-7F00-973B-87D68166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DFE37-8705-FFF6-C256-BD429DB5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FC36AF-B40F-41DB-83DF-8602D8EBDC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506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5460-0BD5-3A73-B1A3-87BE6AFE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4D8E8-739D-9955-49FB-F583A1FCB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4226B4-7CBB-B374-E136-8BC3874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FA8F8-7D0C-5BA1-4D25-ED97AC8C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7B782F-CA08-49DE-876A-1A89A1A800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899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11D217-1080-F6B5-40F3-1574AC5B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7F9ABE-D4FA-9F87-A6A2-7373C55C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8C98F-0831-489D-A90E-A73F52EC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81720A-82F2-47FE-89A3-4BB85FC5ED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0294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B811D-5B83-B815-351D-252727A14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330200"/>
            <a:ext cx="1535112" cy="1155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8ED9-FD26-57AC-0CDB-172517E1B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712788"/>
            <a:ext cx="2411412" cy="35194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564C6-13B5-8024-2AC3-733EC0228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485900"/>
            <a:ext cx="1535112" cy="27527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CDE8E-4D4D-BFBA-C1E8-9B9B50DC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9D9E4-BF40-D414-011F-1CBD5F03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C3A59-77DE-7434-59B7-0A800810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8DC04-F4AC-49DE-B6B5-8A605BD30E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2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B7A3-7FE6-E4E4-43CC-09149332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330200"/>
            <a:ext cx="1535112" cy="1155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36249-E4B7-DE3B-E7EA-5ED4E9593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712788"/>
            <a:ext cx="2411412" cy="3519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2703B-C62A-09D3-90A6-B95397FE0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485900"/>
            <a:ext cx="1535112" cy="27527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0594F-00AC-014B-040D-EA5B8AC4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1BD2E-2543-0BD2-E7B5-7A45C85C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D0E01-E474-4C3E-7DEC-0AF31051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139024-21E2-42FC-ABD4-8A97C6F477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330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F931-0B85-885D-080F-1CA6F4DE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C0453-75FB-0577-E38D-75D2E6CFA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0C19B-699E-5835-8484-F9C731E5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7E6C8-93CD-04B9-ADC8-DCD0796F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C1633-745E-0AD8-9C47-8D4113C7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9BC93-1747-412C-8203-F94CB7BF50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544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54815-8079-7542-5C54-BCFB3986A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394075" y="438150"/>
            <a:ext cx="1012825" cy="39639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D1D40-7DE5-F5C2-C14F-0F5D6797D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5600" y="438150"/>
            <a:ext cx="2886075" cy="39639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8C11D-A919-8CF9-22E4-7B379763E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A28CE-166B-C816-76C8-F7660EFC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B6047-5BF2-6443-9794-14AB06334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214621-130A-4D3C-B931-5261D7F0B5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7971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94AA86E-9D7A-67C8-8BD5-44F6DFE529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438150"/>
            <a:ext cx="40513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100" tIns="22225" rIns="38100" bIns="2222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D8D3B11-7299-5050-555B-CE2EB9D968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5600" y="1430338"/>
            <a:ext cx="40513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8100" tIns="22225" rIns="38100" bIns="222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43E6CC-F547-19D4-E935-EABDF1B788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5600" y="4514850"/>
            <a:ext cx="993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100" tIns="22225" rIns="38100" bIns="22225" numCol="1" anchor="ctr" anchorCtr="0" compatLnSpc="1">
            <a:prstTxWarp prst="textNoShape">
              <a:avLst/>
            </a:prstTxWarp>
          </a:bodyPr>
          <a:lstStyle>
            <a:lvl1pPr defTabSz="158750">
              <a:defRPr sz="5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529BC03-777B-5DB1-49B0-B8ADA34BB0E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28775" y="4514850"/>
            <a:ext cx="1504950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100" tIns="22225" rIns="38100" bIns="22225" numCol="1" anchor="ctr" anchorCtr="0" compatLnSpc="1">
            <a:prstTxWarp prst="textNoShape">
              <a:avLst/>
            </a:prstTxWarp>
          </a:bodyPr>
          <a:lstStyle>
            <a:lvl1pPr algn="ctr" defTabSz="158750">
              <a:defRPr sz="5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A5668F5-D374-797A-4D54-63091E9999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13125" y="4514850"/>
            <a:ext cx="993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8100" tIns="22225" rIns="38100" bIns="22225" numCol="1" anchor="ctr" anchorCtr="0" compatLnSpc="1">
            <a:prstTxWarp prst="textNoShape">
              <a:avLst/>
            </a:prstTxWarp>
          </a:bodyPr>
          <a:lstStyle>
            <a:lvl1pPr algn="r" defTabSz="158750">
              <a:defRPr sz="500"/>
            </a:lvl1pPr>
          </a:lstStyle>
          <a:p>
            <a:fld id="{9B33E2AF-8ED9-4AC2-8CCB-6F62F3134D8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2636586-739F-893B-4052-54386ADFD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8" y="19050"/>
            <a:ext cx="4721225" cy="4914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58750" rtl="0" eaLnBrk="0" fontAlgn="base" hangingPunct="0">
        <a:spcBef>
          <a:spcPct val="0"/>
        </a:spcBef>
        <a:spcAft>
          <a:spcPct val="0"/>
        </a:spcAft>
        <a:defRPr sz="19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2pPr>
      <a:lvl3pPr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3pPr>
      <a:lvl4pPr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4pPr>
      <a:lvl5pPr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5875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39700" indent="-139700" algn="l" defTabSz="158750" rtl="0" eaLnBrk="0" fontAlgn="base" hangingPunct="0">
        <a:spcBef>
          <a:spcPct val="20000"/>
        </a:spcBef>
        <a:spcAft>
          <a:spcPct val="0"/>
        </a:spcAft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09563" indent="-55563" algn="l" defTabSz="158750" rtl="0" eaLnBrk="0" fontAlgn="base" hangingPunct="0">
        <a:spcBef>
          <a:spcPct val="20000"/>
        </a:spcBef>
        <a:spcAft>
          <a:spcPct val="0"/>
        </a:spcAft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476250" indent="-52388" algn="l" defTabSz="158750" rtl="0" eaLnBrk="0" fontAlgn="base" hangingPunct="0">
        <a:spcBef>
          <a:spcPct val="20000"/>
        </a:spcBef>
        <a:spcAft>
          <a:spcPct val="0"/>
        </a:spcAft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66750" indent="-76200" algn="l" defTabSz="158750" rtl="0" eaLnBrk="0" fontAlgn="base" hangingPunct="0">
        <a:spcBef>
          <a:spcPct val="20000"/>
        </a:spcBef>
        <a:spcAft>
          <a:spcPct val="0"/>
        </a:spcAft>
        <a:buChar char="–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76200" algn="l" defTabSz="158750" rtl="0" eaLnBrk="0" fontAlgn="base" hangingPunct="0">
        <a:spcBef>
          <a:spcPct val="20000"/>
        </a:spcBef>
        <a:spcAft>
          <a:spcPct val="0"/>
        </a:spcAft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4BEF293-8D8D-EEE6-28CE-4191CFF8C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475" y="647700"/>
            <a:ext cx="2974975" cy="295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Reading a Relative file directly or sequentially.</a:t>
            </a:r>
          </a:p>
          <a:p>
            <a:pPr algn="ctr"/>
            <a:endParaRPr lang="en-US" altLang="en-US" sz="1800" b="1">
              <a:solidFill>
                <a:srgbClr val="CC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 Example program</a:t>
            </a:r>
          </a:p>
          <a:p>
            <a:pPr algn="ctr"/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/>
              <a:t>Click to view.</a:t>
            </a:r>
          </a:p>
          <a:p>
            <a:pPr algn="ctr"/>
            <a:endParaRPr lang="en-US" altLang="en-US" sz="1400" b="1"/>
          </a:p>
          <a:p>
            <a:pPr algn="ctr"/>
            <a:r>
              <a:rPr lang="en-US" altLang="en-US" sz="1000"/>
              <a:t>When viewing the program left click (or press the Page Up key) to see next comment and right click (or press Page Down) to see the previous comment.</a:t>
            </a:r>
          </a:p>
          <a:p>
            <a:pPr algn="ctr"/>
            <a:endParaRPr lang="en-US" alt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1A1603C-1AFF-49FC-23CE-6D686388F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" y="85725"/>
            <a:ext cx="4048125" cy="481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8163"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76325"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2900"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1063"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8263" defTabSz="1266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65463" defTabSz="1266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22663" defTabSz="1266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9863" defTabSz="1266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$ SET SOURCEFORMAT"FREE"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IDENTIFICATION DIVISION.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PROGRAM-ID.  ReadRelative.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* Reads a Relative file directly or in sequence</a:t>
            </a:r>
          </a:p>
          <a:p>
            <a:pPr>
              <a:lnSpc>
                <a:spcPct val="85000"/>
              </a:lnSpc>
            </a:pPr>
            <a:endParaRPr lang="en-US" altLang="en-US" sz="8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ENVIRONMENT DIVISION.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INPUT-OUTPUT SECTION.</a:t>
            </a: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FILE-CONTROL.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SELECT SupplierFile ASSIGN TO "SUPP.DAT"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ORGANIZATION IS RELATIVE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ACCESS MODE IS DYNAMIC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RELATIVE KEY IS SupplierKey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   FILE STATUS IS SupplierStatus.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DATA DIVISION.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FD SupplierFile.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01  SupplierRecord.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88 EndOfFile  VALUE HIGH-VALUES.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02 SupplierCode         PIC 99.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02 SupplierName         PIC X(20).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02 SupplierAddress      PIC X(60).</a:t>
            </a:r>
          </a:p>
          <a:p>
            <a:pPr>
              <a:lnSpc>
                <a:spcPct val="8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WORKING-STORAGE SECTION.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01  SupplierStatus          PIC X(2).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88 RecordFound          VALUE "00".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01  SupplierKey             PIC 99.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01  PrnSupplierRecord.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02 PrnSupplierCode      PIC BB99.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02 PrnSupplierName      PIC BBX(20).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02 PrnSupplierAddress   PIC BBX(50).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01  ReadType                PIC 9.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88 DirectRead           VALUE 1.</a:t>
            </a:r>
          </a:p>
          <a:p>
            <a:pPr>
              <a:lnSpc>
                <a:spcPct val="8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88 SequentialRead       VALUE 2.</a:t>
            </a:r>
          </a:p>
        </p:txBody>
      </p:sp>
      <p:sp>
        <p:nvSpPr>
          <p:cNvPr id="4099" name="AutoShape 3">
            <a:extLst>
              <a:ext uri="{FF2B5EF4-FFF2-40B4-BE49-F238E27FC236}">
                <a16:creationId xmlns:a16="http://schemas.microsoft.com/office/drawing/2014/main" id="{1DBF0F99-A122-BC3A-7AD0-9B99C787FAB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168650" y="109538"/>
            <a:ext cx="1519238" cy="1019968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9050" rIns="0" bIns="19050" anchorCtr="1"/>
          <a:lstStyle/>
          <a:p>
            <a:pPr algn="ctr">
              <a:lnSpc>
                <a:spcPct val="90000"/>
              </a:lnSpc>
            </a:pPr>
            <a:r>
              <a:rPr lang="en-US" altLang="en-US" sz="1200" b="1"/>
              <a:t>First </a:t>
            </a:r>
            <a:endParaRPr lang="en-US" altLang="en-US" sz="1200"/>
          </a:p>
          <a:p>
            <a:pPr algn="ctr">
              <a:lnSpc>
                <a:spcPct val="90000"/>
              </a:lnSpc>
            </a:pPr>
            <a:r>
              <a:rPr lang="en-US" altLang="en-US" sz="1200"/>
              <a:t>Let’s examine any new entries in the definition of the Relative file.</a:t>
            </a:r>
          </a:p>
        </p:txBody>
      </p:sp>
      <p:grpSp>
        <p:nvGrpSpPr>
          <p:cNvPr id="4102" name="Group 6">
            <a:extLst>
              <a:ext uri="{FF2B5EF4-FFF2-40B4-BE49-F238E27FC236}">
                <a16:creationId xmlns:a16="http://schemas.microsoft.com/office/drawing/2014/main" id="{DE1AB7BC-0DC8-59A3-DC7D-24EDDF1619B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366713"/>
            <a:ext cx="4178300" cy="1246187"/>
            <a:chOff x="340" y="231"/>
            <a:chExt cx="2632" cy="785"/>
          </a:xfrm>
        </p:grpSpPr>
        <p:sp>
          <p:nvSpPr>
            <p:cNvPr id="4100" name="AutoShape 4">
              <a:extLst>
                <a:ext uri="{FF2B5EF4-FFF2-40B4-BE49-F238E27FC236}">
                  <a16:creationId xmlns:a16="http://schemas.microsoft.com/office/drawing/2014/main" id="{256290D8-9390-06B4-68DC-065DE5E700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90" y="231"/>
              <a:ext cx="982" cy="624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000"/>
                <a:t>ACCESS MODE IS DYNAMIC </a:t>
              </a:r>
              <a:r>
                <a:rPr lang="en-US" altLang="en-US" sz="1200"/>
                <a:t>means that we expect to access this file both directly and sequentially.</a:t>
              </a:r>
            </a:p>
          </p:txBody>
        </p:sp>
        <p:sp>
          <p:nvSpPr>
            <p:cNvPr id="4101" name="Rectangle 5">
              <a:extLst>
                <a:ext uri="{FF2B5EF4-FFF2-40B4-BE49-F238E27FC236}">
                  <a16:creationId xmlns:a16="http://schemas.microsoft.com/office/drawing/2014/main" id="{3645834D-593C-756C-979F-3C1E5535F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928"/>
              <a:ext cx="1204" cy="88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5" name="Group 9">
            <a:extLst>
              <a:ext uri="{FF2B5EF4-FFF2-40B4-BE49-F238E27FC236}">
                <a16:creationId xmlns:a16="http://schemas.microsoft.com/office/drawing/2014/main" id="{FD0C738E-352B-976E-A4F3-163AAF4AFE3D}"/>
              </a:ext>
            </a:extLst>
          </p:cNvPr>
          <p:cNvGrpSpPr>
            <a:grpSpLocks/>
          </p:cNvGrpSpPr>
          <p:nvPr/>
        </p:nvGrpSpPr>
        <p:grpSpPr bwMode="auto">
          <a:xfrm>
            <a:off x="53975" y="1433513"/>
            <a:ext cx="4652963" cy="2322512"/>
            <a:chOff x="34" y="903"/>
            <a:chExt cx="2931" cy="1463"/>
          </a:xfrm>
        </p:grpSpPr>
        <p:sp>
          <p:nvSpPr>
            <p:cNvPr id="4103" name="AutoShape 7">
              <a:extLst>
                <a:ext uri="{FF2B5EF4-FFF2-40B4-BE49-F238E27FC236}">
                  <a16:creationId xmlns:a16="http://schemas.microsoft.com/office/drawing/2014/main" id="{D4FD2693-83E5-64D3-C308-0D8CA7701E9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984" y="903"/>
              <a:ext cx="981" cy="849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200"/>
                <a:t>Take note of the condition name monitoring the SupplierStatus.  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en-US" sz="1200"/>
                <a:t>A code of 00 means the operation was successful.</a:t>
              </a:r>
            </a:p>
          </p:txBody>
        </p:sp>
        <p:sp>
          <p:nvSpPr>
            <p:cNvPr id="4104" name="Rectangle 8">
              <a:extLst>
                <a:ext uri="{FF2B5EF4-FFF2-40B4-BE49-F238E27FC236}">
                  <a16:creationId xmlns:a16="http://schemas.microsoft.com/office/drawing/2014/main" id="{CD8E48AE-0897-0CCD-115A-5BBC62F0C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" y="2188"/>
              <a:ext cx="1942" cy="178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776FEBE-CAB2-18E1-5BBD-9B35E1242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" y="219075"/>
            <a:ext cx="458470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38163"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76325"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2900"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51063" defTabSz="12668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8263" defTabSz="1266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65463" defTabSz="1266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22663" defTabSz="1266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79863" defTabSz="1266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BEGIN.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OPEN INPUT SupplierFile.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DISPLAY "Enter Read type (Direct=1, Seq=2)-&gt; "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WITH NO ADVANCING.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ACCEPT ReadType.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IF DirectRead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DISPLAY "Enter supplier key (2 digits)-&gt; "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 WITH NO ADVANCING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ACCEPT SupplierKey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READ SupplierFile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INVALID KEY DISPLAY "SUPP STATUS :-",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                SupplierStatus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END-READ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PERFORM DisplayRecord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END-IF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IF SequentialRead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READ SupplierFile NEXT RECORD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 AT END SET EndOfFile TO TRUE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END-READ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PERFORM UNTIL EndOfFile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 PERFORM DisplayRecord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 READ SupplierFile NEXT RECORD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     AT END SET EndOfFile TO TRUE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    END-READ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END-PERFORM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END-IF</a:t>
            </a:r>
          </a:p>
          <a:p>
            <a:pPr>
              <a:lnSpc>
                <a:spcPct val="70000"/>
              </a:lnSpc>
              <a:spcBef>
                <a:spcPct val="35000"/>
              </a:spcBef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CLOSE  SupplierFile.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STOP RUN.</a:t>
            </a: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DisplayRecord.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IF RecordFound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MOVE SupplierCode TO PrnSupplierCode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MOVE SupplierName TO PrnSupplierName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MOVE SupplierAddress TO PrnSupplierAddress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   DISPLAY PrnSupplierRecord</a:t>
            </a:r>
          </a:p>
          <a:p>
            <a:pPr>
              <a:lnSpc>
                <a:spcPct val="70000"/>
              </a:lnSpc>
            </a:pPr>
            <a:r>
              <a:rPr lang="en-US" altLang="en-US" sz="1000" b="1">
                <a:solidFill>
                  <a:srgbClr val="000000"/>
                </a:solidFill>
                <a:latin typeface="Courier New" panose="02070309020205020404" pitchFamily="49" charset="0"/>
              </a:rPr>
              <a:t>    END-IF.</a:t>
            </a:r>
          </a:p>
        </p:txBody>
      </p:sp>
      <p:grpSp>
        <p:nvGrpSpPr>
          <p:cNvPr id="5125" name="Group 5">
            <a:extLst>
              <a:ext uri="{FF2B5EF4-FFF2-40B4-BE49-F238E27FC236}">
                <a16:creationId xmlns:a16="http://schemas.microsoft.com/office/drawing/2014/main" id="{F13981F5-9BE2-8B91-38A1-3ACB927FF4BB}"/>
              </a:ext>
            </a:extLst>
          </p:cNvPr>
          <p:cNvGrpSpPr>
            <a:grpSpLocks/>
          </p:cNvGrpSpPr>
          <p:nvPr/>
        </p:nvGrpSpPr>
        <p:grpSpPr bwMode="auto">
          <a:xfrm>
            <a:off x="273050" y="65088"/>
            <a:ext cx="4451350" cy="1414462"/>
            <a:chOff x="172" y="41"/>
            <a:chExt cx="2804" cy="891"/>
          </a:xfrm>
        </p:grpSpPr>
        <p:sp>
          <p:nvSpPr>
            <p:cNvPr id="5123" name="Rectangle 3">
              <a:extLst>
                <a:ext uri="{FF2B5EF4-FFF2-40B4-BE49-F238E27FC236}">
                  <a16:creationId xmlns:a16="http://schemas.microsoft.com/office/drawing/2014/main" id="{5DFE9552-7F5D-18A3-9899-8A7A20D9A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" y="328"/>
              <a:ext cx="2326" cy="220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4" name="AutoShape 4">
              <a:extLst>
                <a:ext uri="{FF2B5EF4-FFF2-40B4-BE49-F238E27FC236}">
                  <a16:creationId xmlns:a16="http://schemas.microsoft.com/office/drawing/2014/main" id="{F0CFA18C-3DD5-9E92-F677-0AA216DFE3F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464" y="41"/>
              <a:ext cx="512" cy="743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200"/>
                <a:t>First we find out how the user wants to read the file.</a:t>
              </a:r>
            </a:p>
          </p:txBody>
        </p:sp>
      </p:grp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3CAAA55B-B817-D83A-FBD2-F139A58FEBCB}"/>
              </a:ext>
            </a:extLst>
          </p:cNvPr>
          <p:cNvGrpSpPr>
            <a:grpSpLocks/>
          </p:cNvGrpSpPr>
          <p:nvPr/>
        </p:nvGrpSpPr>
        <p:grpSpPr bwMode="auto">
          <a:xfrm>
            <a:off x="273050" y="876300"/>
            <a:ext cx="4459288" cy="2552700"/>
            <a:chOff x="172" y="552"/>
            <a:chExt cx="2809" cy="1608"/>
          </a:xfrm>
        </p:grpSpPr>
        <p:sp>
          <p:nvSpPr>
            <p:cNvPr id="5126" name="Rectangle 6">
              <a:extLst>
                <a:ext uri="{FF2B5EF4-FFF2-40B4-BE49-F238E27FC236}">
                  <a16:creationId xmlns:a16="http://schemas.microsoft.com/office/drawing/2014/main" id="{CAA5696D-AF07-7026-E5E7-08FA7576A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" y="552"/>
              <a:ext cx="2280" cy="712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" name="AutoShape 7">
              <a:extLst>
                <a:ext uri="{FF2B5EF4-FFF2-40B4-BE49-F238E27FC236}">
                  <a16:creationId xmlns:a16="http://schemas.microsoft.com/office/drawing/2014/main" id="{A238E239-6CA2-5D7B-D5D3-E54EC568AA3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72" y="1064"/>
              <a:ext cx="809" cy="913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200"/>
                <a:t>To read the file directly the user must supply a key value.  We use this value to read the appropriate record from the file. </a:t>
              </a:r>
            </a:p>
          </p:txBody>
        </p:sp>
      </p:grpSp>
      <p:grpSp>
        <p:nvGrpSpPr>
          <p:cNvPr id="5131" name="Group 11">
            <a:extLst>
              <a:ext uri="{FF2B5EF4-FFF2-40B4-BE49-F238E27FC236}">
                <a16:creationId xmlns:a16="http://schemas.microsoft.com/office/drawing/2014/main" id="{674F33C4-05A8-5951-1186-21626CB1DACF}"/>
              </a:ext>
            </a:extLst>
          </p:cNvPr>
          <p:cNvGrpSpPr>
            <a:grpSpLocks/>
          </p:cNvGrpSpPr>
          <p:nvPr/>
        </p:nvGrpSpPr>
        <p:grpSpPr bwMode="auto">
          <a:xfrm>
            <a:off x="273050" y="2012950"/>
            <a:ext cx="4462463" cy="1460500"/>
            <a:chOff x="172" y="1268"/>
            <a:chExt cx="2811" cy="920"/>
          </a:xfrm>
        </p:grpSpPr>
        <p:sp>
          <p:nvSpPr>
            <p:cNvPr id="5129" name="AutoShape 9">
              <a:extLst>
                <a:ext uri="{FF2B5EF4-FFF2-40B4-BE49-F238E27FC236}">
                  <a16:creationId xmlns:a16="http://schemas.microsoft.com/office/drawing/2014/main" id="{C7603926-FC3F-169A-70F4-A1DA849870F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172" y="1307"/>
              <a:ext cx="811" cy="734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200"/>
                <a:t>To read the file sequentially we use a standard “Read Ahead” and loop.</a:t>
              </a:r>
            </a:p>
          </p:txBody>
        </p:sp>
        <p:sp>
          <p:nvSpPr>
            <p:cNvPr id="5130" name="Rectangle 10">
              <a:extLst>
                <a:ext uri="{FF2B5EF4-FFF2-40B4-BE49-F238E27FC236}">
                  <a16:creationId xmlns:a16="http://schemas.microsoft.com/office/drawing/2014/main" id="{CA5B7B5A-65D8-A8E3-EB8D-4565D06D1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" y="1268"/>
              <a:ext cx="1972" cy="768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4" name="Group 14">
            <a:extLst>
              <a:ext uri="{FF2B5EF4-FFF2-40B4-BE49-F238E27FC236}">
                <a16:creationId xmlns:a16="http://schemas.microsoft.com/office/drawing/2014/main" id="{4CB098F1-2747-2C1D-51E7-C288C7F02A82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108200"/>
            <a:ext cx="4164013" cy="1682750"/>
            <a:chOff x="336" y="1328"/>
            <a:chExt cx="2623" cy="1060"/>
          </a:xfrm>
        </p:grpSpPr>
        <p:sp>
          <p:nvSpPr>
            <p:cNvPr id="5132" name="Rectangle 12">
              <a:extLst>
                <a:ext uri="{FF2B5EF4-FFF2-40B4-BE49-F238E27FC236}">
                  <a16:creationId xmlns:a16="http://schemas.microsoft.com/office/drawing/2014/main" id="{F917733A-2AD2-B944-49BD-3AECE935C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328"/>
              <a:ext cx="1684" cy="208"/>
            </a:xfrm>
            <a:prstGeom prst="rect">
              <a:avLst/>
            </a:prstGeom>
            <a:noFill/>
            <a:ln w="1270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3" name="AutoShape 13">
              <a:extLst>
                <a:ext uri="{FF2B5EF4-FFF2-40B4-BE49-F238E27FC236}">
                  <a16:creationId xmlns:a16="http://schemas.microsoft.com/office/drawing/2014/main" id="{07AF672C-725D-E238-BC8F-EEECE375C7B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308" y="1836"/>
              <a:ext cx="1651" cy="460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19050" rIns="0" bIns="19050" anchorCtr="1"/>
            <a:lstStyle/>
            <a:p>
              <a:pPr algn="ctr">
                <a:lnSpc>
                  <a:spcPct val="90000"/>
                </a:lnSpc>
              </a:pPr>
              <a:r>
                <a:rPr lang="en-US" altLang="en-US" sz="1200" b="1"/>
                <a:t>Note:</a:t>
              </a:r>
              <a:r>
                <a:rPr lang="en-US" altLang="en-US" sz="1200"/>
                <a:t>  The </a:t>
              </a:r>
              <a:r>
                <a:rPr lang="en-US" altLang="en-US" sz="1000"/>
                <a:t>READ..NEXT</a:t>
              </a:r>
              <a:r>
                <a:rPr lang="en-US" altLang="en-US" sz="1200"/>
                <a:t> </a:t>
              </a:r>
              <a:r>
                <a:rPr lang="en-US" altLang="en-US" sz="1000"/>
                <a:t>RECORD</a:t>
              </a:r>
              <a:r>
                <a:rPr lang="en-US" altLang="en-US" sz="1200"/>
                <a:t> is used when we want to read the file sequentially and the </a:t>
              </a:r>
              <a:r>
                <a:rPr lang="en-US" altLang="en-US" sz="1000"/>
                <a:t>ACCESS MODE</a:t>
              </a:r>
              <a:r>
                <a:rPr lang="en-US" altLang="en-US" sz="1200"/>
                <a:t> is </a:t>
              </a:r>
              <a:r>
                <a:rPr lang="en-US" altLang="en-US" sz="1000"/>
                <a:t>DYNAMIC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1157</TotalTime>
  <Words>493</Words>
  <Application>Microsoft Office PowerPoint</Application>
  <PresentationFormat>Custom</PresentationFormat>
  <Paragraphs>87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28</cp:revision>
  <dcterms:created xsi:type="dcterms:W3CDTF">1995-06-17T23:31:02Z</dcterms:created>
  <dcterms:modified xsi:type="dcterms:W3CDTF">2026-05-13T01:05:53Z</dcterms:modified>
</cp:coreProperties>
</file>