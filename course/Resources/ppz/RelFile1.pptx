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9" r:id="rId2"/>
    <p:sldId id="256" r:id="rId3"/>
    <p:sldId id="258" r:id="rId4"/>
  </p:sldIdLst>
  <p:sldSz cx="4762500" cy="4953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6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EA"/>
    <a:srgbClr val="CC0000"/>
    <a:srgbClr val="336600"/>
    <a:srgbClr val="FFFF00"/>
    <a:srgbClr val="000099"/>
    <a:srgbClr val="A50021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73" d="100"/>
          <a:sy n="173" d="100"/>
        </p:scale>
        <p:origin x="1302" y="138"/>
      </p:cViewPr>
      <p:guideLst>
        <p:guide orient="horz" pos="156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56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5C78E468-7A03-863B-303D-BDBA6E52D31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560115B-44AB-9438-91AD-A807DB92414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BE10814-18C8-87D0-634E-ADDE38EAC23A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787525" y="692150"/>
            <a:ext cx="32829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048F9192-80CD-2D29-FF8B-C73C462EF34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5CB6927-9640-16EA-3762-C611917C068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5F27F670-A104-E493-7884-06A343F6DE0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fld id="{CAD45247-5170-40A4-A4EA-94075247A64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7092-7B23-71B1-9444-CB6C0328B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811213"/>
            <a:ext cx="3571875" cy="1724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6974E9-E5FE-2C1C-2D15-E987E70BDD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601913"/>
            <a:ext cx="3571875" cy="11953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ED652-36D8-CEAB-C0A5-F27CF6DC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0719F-D0C3-4F10-DEF0-C5473E5D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E99E7-4665-0438-F564-09EBC7606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FA053A-AF1E-4936-A03A-2FD13780DC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6292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1CF8C-D55E-A0D8-5325-083F06733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C972-05C2-805F-D251-951ECEE2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E2026-B323-395A-ACD1-24206E58D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734D3-8F2B-53AE-90F5-45CD0F18D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3EF284-2982-6145-593C-985CD1A7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78453C5-C2CD-4AA1-BB15-2365D09A93E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4766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86D91-E218-B723-3A9D-C68D4814A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1235075"/>
            <a:ext cx="4106862" cy="20605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DAA3F-3189-AA55-AC79-94625900E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3314700"/>
            <a:ext cx="4106862" cy="10826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7DB2D-CCBB-BF68-144E-C78050540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10B8B-A812-C4DF-2BEE-8B9A0F84C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EFF36-FFC6-E134-E10D-6E0D3FC77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E49032-51F0-4395-870C-41AF8F69CE4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15919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EBA33-1305-ADA4-17C8-7AC7E1243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41EF5-BB77-04EA-623E-EBE0043DF2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430338"/>
            <a:ext cx="1949450" cy="2971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40DE4-FAA2-1437-98BD-01F43491D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430338"/>
            <a:ext cx="1949450" cy="2971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38288-E9F4-10C4-DA0F-09D84DB8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49B536-31A0-AA84-E167-609CD7B72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9384B-DE74-30ED-53D9-B68983103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5F0B1E-168F-4561-B6E2-C8C4731F7BC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6264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D39BD-8908-9A35-390C-917E830BA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63525"/>
            <a:ext cx="4106862" cy="9572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846E0-004A-77BA-B046-C89428281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1214438"/>
            <a:ext cx="2014537" cy="5953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BFD06-6247-E3EC-C1B9-4F2BDCA5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809750"/>
            <a:ext cx="2014537" cy="266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951057-991A-9449-A4BB-546C05536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1214438"/>
            <a:ext cx="2024062" cy="5953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77964B-3999-0F4D-13FB-15D8D63400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809750"/>
            <a:ext cx="2024062" cy="266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E47401-9F57-7597-D905-59C918C41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3A899-5261-C053-BA61-B20D4D51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C9C7A8-3EBB-1812-5C6E-2B4D0F7BA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1935153-7DA0-44A1-97A5-21F28E4BF4C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56551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21B4-DBBE-1923-1801-6E431AC4D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36DDC0-626C-038A-45D8-C8E274539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C03903-F778-B013-A525-20006DB0C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C8A4E8-6826-FEB9-DF9E-000D9B40F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F03F4C6-CD35-48E8-8406-ABAA6E41ADB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2497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61B7B9-2520-D9DB-722B-E12E08F2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970D5-5EA4-76FC-C49C-32C5726BA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5564B4-698F-4DA2-84E3-1ED5915DA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69AA777-044C-47D5-A367-6C7C57DC715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4735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8203F-BAFA-EBFC-37AC-DB9768E24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30200"/>
            <a:ext cx="1535112" cy="1155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F1FDE-C8F0-2177-70B6-45AD5A0E7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712788"/>
            <a:ext cx="2411412" cy="35194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54043A-2298-3CE2-E57A-03F98B1086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85900"/>
            <a:ext cx="1535112" cy="2752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83B34D-D48C-AEF9-97CC-5F8100D6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3138E-044E-ADF1-B28D-D938A3300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151FB-243A-5650-7AF0-98BFE8CB9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7C9D8D-0F81-4B5C-A314-BAA92876430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6129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68823-69F5-55DC-DCBA-2DBEAC2A3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30200"/>
            <a:ext cx="1535112" cy="1155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47DB8-20B4-82E9-4868-EBCBD56854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712788"/>
            <a:ext cx="2411412" cy="3519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66ED00-ADD7-F441-A4B2-E16A765A9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85900"/>
            <a:ext cx="1535112" cy="2752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E56B12-57B6-08D5-3A37-4644D8A94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FD57C-5BB0-9606-FE30-9BB55A5E8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BBEB3B-FBC2-9921-8BF0-53291F01A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A9679A-5D23-4C2C-BD35-B11C7315D0A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8060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BB8E-1F34-000F-FBB0-CB255C03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AF8FC8-21BA-0E1B-42B4-61347F12B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A2355-F757-7C87-4068-705EB4963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6EF33-0C38-314E-8437-6294C35A9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A49B6-4EBE-5B8F-F42A-7C4846038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8A3A835-BBD6-41A0-A85E-A750BB74A56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6219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96FBE1-F612-FDB0-D358-2240920A96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394075" y="438150"/>
            <a:ext cx="1012825" cy="39639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0059AF-F6B9-9E41-5E51-E235ECC0E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55600" y="438150"/>
            <a:ext cx="2886075" cy="39639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09917-2138-F8E3-13AF-B4D0B2E1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77C00-2DC4-4B84-74F4-24C9773F8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17DF0-21F6-6ACA-EB14-3746C3B4A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818AEA-99A4-4DB5-9A29-0679788E890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8113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B0E27CC-DD89-1CC2-9142-EDDBD93F86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55600" y="438150"/>
            <a:ext cx="40513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8100" tIns="22225" rIns="38100" bIns="2222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CF153B5-BFEF-FCAB-79BC-D02C988AE8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55600" y="1430338"/>
            <a:ext cx="4051300" cy="297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8100" tIns="22225" rIns="38100" bIns="2222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5BB42A9B-8DF2-97F5-D6D6-A2983C98B0E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55600" y="4514850"/>
            <a:ext cx="993775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defTabSz="158750">
              <a:defRPr sz="5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284E4BE-2B16-03C0-B077-3E989F188CB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628775" y="4514850"/>
            <a:ext cx="1504950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algn="ctr" defTabSz="158750">
              <a:defRPr sz="5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6C1273EB-186E-19A1-9A61-EE378A63651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413125" y="4514850"/>
            <a:ext cx="993775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algn="r" defTabSz="158750">
              <a:defRPr sz="500"/>
            </a:lvl1pPr>
          </a:lstStyle>
          <a:p>
            <a:fld id="{EF34C0DB-C6C4-4932-A3E3-3B2064A1CE5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AD737CE7-509C-6783-F776-7A44CB59B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38" y="19050"/>
            <a:ext cx="4721225" cy="4914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58750" rtl="0" eaLnBrk="0" fontAlgn="base" hangingPunct="0">
        <a:spcBef>
          <a:spcPct val="0"/>
        </a:spcBef>
        <a:spcAft>
          <a:spcPct val="0"/>
        </a:spcAft>
        <a:defRPr sz="19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2pPr>
      <a:lvl3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3pPr>
      <a:lvl4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4pPr>
      <a:lvl5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39700" indent="-139700" algn="l" defTabSz="158750" rtl="0" eaLnBrk="0" fontAlgn="base" hangingPunct="0">
        <a:spcBef>
          <a:spcPct val="20000"/>
        </a:spcBef>
        <a:spcAft>
          <a:spcPct val="0"/>
        </a:spcAft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09563" indent="-55563" algn="l" defTabSz="158750" rtl="0" eaLnBrk="0" fontAlgn="base" hangingPunct="0">
        <a:spcBef>
          <a:spcPct val="20000"/>
        </a:spcBef>
        <a:spcAft>
          <a:spcPct val="0"/>
        </a:spcAft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476250" indent="-52388" algn="l" defTabSz="158750" rtl="0" eaLnBrk="0" fontAlgn="base" hangingPunct="0">
        <a:spcBef>
          <a:spcPct val="20000"/>
        </a:spcBef>
        <a:spcAft>
          <a:spcPct val="0"/>
        </a:spcAft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66750" indent="-76200" algn="l" defTabSz="158750" rtl="0" eaLnBrk="0" fontAlgn="base" hangingPunct="0">
        <a:spcBef>
          <a:spcPct val="20000"/>
        </a:spcBef>
        <a:spcAft>
          <a:spcPct val="0"/>
        </a:spcAft>
        <a:buChar char="–"/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76200" algn="l" defTabSz="158750" rtl="0" eaLnBrk="0" fontAlgn="base" hangingPunct="0">
        <a:spcBef>
          <a:spcPct val="20000"/>
        </a:spcBef>
        <a:spcAft>
          <a:spcPct val="0"/>
        </a:spcAft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46ED5E71-8FA5-1368-E8F4-02F578CBC0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75" y="647700"/>
            <a:ext cx="2974975" cy="2955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Creating a Relative file from a Sequential file.</a:t>
            </a:r>
          </a:p>
          <a:p>
            <a:pPr algn="ctr"/>
            <a:endParaRPr lang="en-US" altLang="en-US" sz="1800" b="1">
              <a:solidFill>
                <a:srgbClr val="CC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Example program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/>
              <a:t>Click to view.</a:t>
            </a:r>
          </a:p>
          <a:p>
            <a:pPr algn="ctr"/>
            <a:endParaRPr lang="en-US" altLang="en-US" sz="1400" b="1"/>
          </a:p>
          <a:p>
            <a:pPr algn="ctr"/>
            <a:r>
              <a:rPr lang="en-US" altLang="en-US" sz="1000"/>
              <a:t>When viewing the program left click (or press the Page Up key) to see next comment and right click (or press Page Down) to see the previous comment.</a:t>
            </a:r>
          </a:p>
          <a:p>
            <a:pPr algn="ctr"/>
            <a:endParaRPr lang="en-US" alt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C2B3A42D-4FBF-C864-862E-81C95F4FB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0" y="46038"/>
            <a:ext cx="4048125" cy="4525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38163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76325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2900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51063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082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654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226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798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000" b="1">
                <a:latin typeface="Courier New" panose="02070309020205020404" pitchFamily="49" charset="0"/>
              </a:rPr>
              <a:t>     $ SET SOURCEFORMAT"FREE"</a:t>
            </a:r>
          </a:p>
          <a:p>
            <a:r>
              <a:rPr lang="en-US" altLang="en-US" sz="1000" b="1"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1000" b="1">
                <a:latin typeface="Courier New" panose="02070309020205020404" pitchFamily="49" charset="0"/>
              </a:rPr>
              <a:t>PROGRAM-ID.  CreateRelativeFromSeq.</a:t>
            </a:r>
          </a:p>
          <a:p>
            <a:r>
              <a:rPr lang="en-US" altLang="en-US" sz="1000" b="1">
                <a:latin typeface="Courier New" panose="02070309020205020404" pitchFamily="49" charset="0"/>
              </a:rPr>
              <a:t>ENVIRONMENT DIVISION.</a:t>
            </a:r>
          </a:p>
          <a:p>
            <a:r>
              <a:rPr lang="en-US" altLang="en-US" sz="1000" b="1">
                <a:latin typeface="Courier New" panose="02070309020205020404" pitchFamily="49" charset="0"/>
              </a:rPr>
              <a:t>INPUT-OUTPUT SECTION.</a:t>
            </a:r>
          </a:p>
          <a:p>
            <a:r>
              <a:rPr lang="en-US" altLang="en-US" sz="1000" b="1">
                <a:latin typeface="Courier New" panose="02070309020205020404" pitchFamily="49" charset="0"/>
              </a:rPr>
              <a:t>FILE-CONTROL.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SELECT SupplierFile ASSIGN TO "SUPP.DAT"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 ORGANIZATION IS RELATIVE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 ACCESS MODE IS RANDOM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 RELATIVE KEY IS SupplierKey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 FILE STATUS IS SupplierStatus.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SELECT SupplierFileSeq ASSIGN TO "INSUPP.DAT".</a:t>
            </a:r>
          </a:p>
          <a:p>
            <a:pPr>
              <a:lnSpc>
                <a:spcPct val="9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FD  SupplierFile.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01  SupplierRecord.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SupplierCode               PIC 99.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SupplierName               PIC X(20).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SupplierAddress            PIC X(60).</a:t>
            </a:r>
          </a:p>
          <a:p>
            <a:pPr>
              <a:lnSpc>
                <a:spcPct val="9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FD  SupplierFileSeq.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01  SupplierRecordSeq.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88 EndOfFile    VALUE HIGH-VALUES.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SupplierCodeSeq            PIC 99.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SupplierNameSeq            PIC X(20).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02 SupplierAddressSeq         PIC X(60).</a:t>
            </a:r>
          </a:p>
          <a:p>
            <a:pPr>
              <a:lnSpc>
                <a:spcPct val="95000"/>
              </a:lnSpc>
            </a:pPr>
            <a:endParaRPr lang="en-US" altLang="en-US" sz="1000" b="1">
              <a:latin typeface="Courier New" panose="02070309020205020404" pitchFamily="49" charset="0"/>
            </a:endParaRP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01  SupplierStatus                PIC X(2).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01  SupplierKey                   PIC 99.</a:t>
            </a:r>
          </a:p>
        </p:txBody>
      </p:sp>
      <p:sp>
        <p:nvSpPr>
          <p:cNvPr id="4099" name="AutoShape 3">
            <a:extLst>
              <a:ext uri="{FF2B5EF4-FFF2-40B4-BE49-F238E27FC236}">
                <a16:creationId xmlns:a16="http://schemas.microsoft.com/office/drawing/2014/main" id="{EEC9E277-9DCC-D817-B249-45CE3433E5A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901950" y="139700"/>
            <a:ext cx="1776413" cy="751417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9050" rIns="0" bIns="19050" anchorCtr="1"/>
          <a:lstStyle/>
          <a:p>
            <a:pPr algn="ctr">
              <a:lnSpc>
                <a:spcPct val="90000"/>
              </a:lnSpc>
            </a:pPr>
            <a:r>
              <a:rPr lang="en-US" altLang="en-US" sz="1200" b="1"/>
              <a:t>First </a:t>
            </a:r>
            <a:endParaRPr lang="en-US" altLang="en-US" sz="1200"/>
          </a:p>
          <a:p>
            <a:pPr algn="ctr">
              <a:lnSpc>
                <a:spcPct val="90000"/>
              </a:lnSpc>
            </a:pPr>
            <a:r>
              <a:rPr lang="en-US" altLang="en-US" sz="1200"/>
              <a:t>Let’s look at the new entries we need to define the Relative file</a:t>
            </a:r>
            <a:r>
              <a:rPr lang="en-US" altLang="en-US" sz="1000"/>
              <a:t> </a:t>
            </a:r>
          </a:p>
        </p:txBody>
      </p:sp>
      <p:grpSp>
        <p:nvGrpSpPr>
          <p:cNvPr id="4102" name="Group 6">
            <a:extLst>
              <a:ext uri="{FF2B5EF4-FFF2-40B4-BE49-F238E27FC236}">
                <a16:creationId xmlns:a16="http://schemas.microsoft.com/office/drawing/2014/main" id="{ADC6149D-CCA6-2A94-5041-09FABEDCE861}"/>
              </a:ext>
            </a:extLst>
          </p:cNvPr>
          <p:cNvGrpSpPr>
            <a:grpSpLocks/>
          </p:cNvGrpSpPr>
          <p:nvPr/>
        </p:nvGrpSpPr>
        <p:grpSpPr bwMode="auto">
          <a:xfrm>
            <a:off x="409575" y="206375"/>
            <a:ext cx="4268788" cy="1628775"/>
            <a:chOff x="258" y="130"/>
            <a:chExt cx="2689" cy="1026"/>
          </a:xfrm>
        </p:grpSpPr>
        <p:sp>
          <p:nvSpPr>
            <p:cNvPr id="4100" name="Rectangle 4">
              <a:extLst>
                <a:ext uri="{FF2B5EF4-FFF2-40B4-BE49-F238E27FC236}">
                  <a16:creationId xmlns:a16="http://schemas.microsoft.com/office/drawing/2014/main" id="{DE6D3047-211B-53FF-14EF-54489E988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592"/>
              <a:ext cx="2359" cy="564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1" name="AutoShape 5">
              <a:extLst>
                <a:ext uri="{FF2B5EF4-FFF2-40B4-BE49-F238E27FC236}">
                  <a16:creationId xmlns:a16="http://schemas.microsoft.com/office/drawing/2014/main" id="{C508D2AB-DEAE-3E73-419C-EF98C1A52BD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12" y="130"/>
              <a:ext cx="735" cy="835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In this example the first thing we notice is that the SELECT and ASSIGN clause has been extended and now contains a number of new clauses </a:t>
              </a:r>
            </a:p>
          </p:txBody>
        </p:sp>
      </p:grpSp>
      <p:grpSp>
        <p:nvGrpSpPr>
          <p:cNvPr id="4105" name="Group 9">
            <a:extLst>
              <a:ext uri="{FF2B5EF4-FFF2-40B4-BE49-F238E27FC236}">
                <a16:creationId xmlns:a16="http://schemas.microsoft.com/office/drawing/2014/main" id="{2C7CCD83-6601-7B9A-4C03-4AF6460907FD}"/>
              </a:ext>
            </a:extLst>
          </p:cNvPr>
          <p:cNvGrpSpPr>
            <a:grpSpLocks/>
          </p:cNvGrpSpPr>
          <p:nvPr/>
        </p:nvGrpSpPr>
        <p:grpSpPr bwMode="auto">
          <a:xfrm>
            <a:off x="835025" y="139700"/>
            <a:ext cx="3890963" cy="1093788"/>
            <a:chOff x="526" y="88"/>
            <a:chExt cx="2451" cy="689"/>
          </a:xfrm>
        </p:grpSpPr>
        <p:sp>
          <p:nvSpPr>
            <p:cNvPr id="4103" name="AutoShape 7">
              <a:extLst>
                <a:ext uri="{FF2B5EF4-FFF2-40B4-BE49-F238E27FC236}">
                  <a16:creationId xmlns:a16="http://schemas.microsoft.com/office/drawing/2014/main" id="{A2B52987-FF9B-2D92-0949-69D9B851ABB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16" y="88"/>
              <a:ext cx="761" cy="490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</a:t>
              </a:r>
              <a:r>
                <a:rPr lang="en-US" altLang="en-US" sz="900"/>
                <a:t>ORGANIZATION</a:t>
              </a:r>
              <a:r>
                <a:rPr lang="en-US" altLang="en-US" sz="1000"/>
                <a:t> phrase specifies the organization of the file. </a:t>
              </a:r>
            </a:p>
          </p:txBody>
        </p:sp>
        <p:sp>
          <p:nvSpPr>
            <p:cNvPr id="4104" name="Rectangle 8">
              <a:extLst>
                <a:ext uri="{FF2B5EF4-FFF2-40B4-BE49-F238E27FC236}">
                  <a16:creationId xmlns:a16="http://schemas.microsoft.com/office/drawing/2014/main" id="{D97FBD72-E762-445E-02C6-75DA6A9D6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" y="684"/>
              <a:ext cx="1682" cy="93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08" name="Group 12">
            <a:extLst>
              <a:ext uri="{FF2B5EF4-FFF2-40B4-BE49-F238E27FC236}">
                <a16:creationId xmlns:a16="http://schemas.microsoft.com/office/drawing/2014/main" id="{0CFA7320-417D-3D2C-96AB-0A5E78A184E0}"/>
              </a:ext>
            </a:extLst>
          </p:cNvPr>
          <p:cNvGrpSpPr>
            <a:grpSpLocks/>
          </p:cNvGrpSpPr>
          <p:nvPr/>
        </p:nvGrpSpPr>
        <p:grpSpPr bwMode="auto">
          <a:xfrm>
            <a:off x="835025" y="139700"/>
            <a:ext cx="3873500" cy="2754313"/>
            <a:chOff x="526" y="88"/>
            <a:chExt cx="2440" cy="1735"/>
          </a:xfrm>
        </p:grpSpPr>
        <p:sp>
          <p:nvSpPr>
            <p:cNvPr id="4106" name="AutoShape 10">
              <a:extLst>
                <a:ext uri="{FF2B5EF4-FFF2-40B4-BE49-F238E27FC236}">
                  <a16:creationId xmlns:a16="http://schemas.microsoft.com/office/drawing/2014/main" id="{44B11807-7EC0-E926-AA6D-1EEE9BEC62B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17" y="88"/>
              <a:ext cx="749" cy="1446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</a:t>
              </a:r>
              <a:r>
                <a:rPr lang="en-US" altLang="en-US" sz="900"/>
                <a:t>ACCESS</a:t>
              </a:r>
              <a:r>
                <a:rPr lang="en-US" altLang="en-US" sz="1000"/>
                <a:t> phrase specifies the type of access required on this file.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By specifying </a:t>
              </a:r>
              <a:r>
                <a:rPr lang="en-US" altLang="en-US" sz="900"/>
                <a:t>RANDOM</a:t>
              </a:r>
              <a:r>
                <a:rPr lang="en-US" altLang="en-US" sz="1000"/>
                <a:t> we are saying that we will only access the file directly.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access options are -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900"/>
                <a:t>SEQUENTIAL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900"/>
                <a:t>RANDOM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900"/>
                <a:t>DYNAMIC</a:t>
              </a:r>
            </a:p>
          </p:txBody>
        </p:sp>
        <p:sp>
          <p:nvSpPr>
            <p:cNvPr id="4107" name="Rectangle 11">
              <a:extLst>
                <a:ext uri="{FF2B5EF4-FFF2-40B4-BE49-F238E27FC236}">
                  <a16:creationId xmlns:a16="http://schemas.microsoft.com/office/drawing/2014/main" id="{9FFB31BF-1ED8-8FFA-7584-07161C4D9D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" y="777"/>
              <a:ext cx="1683" cy="98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13" name="Group 17">
            <a:extLst>
              <a:ext uri="{FF2B5EF4-FFF2-40B4-BE49-F238E27FC236}">
                <a16:creationId xmlns:a16="http://schemas.microsoft.com/office/drawing/2014/main" id="{2B8B0B9F-7DDF-C964-2455-70C8BD2095F3}"/>
              </a:ext>
            </a:extLst>
          </p:cNvPr>
          <p:cNvGrpSpPr>
            <a:grpSpLocks/>
          </p:cNvGrpSpPr>
          <p:nvPr/>
        </p:nvGrpSpPr>
        <p:grpSpPr bwMode="auto">
          <a:xfrm>
            <a:off x="438150" y="168275"/>
            <a:ext cx="4287838" cy="4445000"/>
            <a:chOff x="276" y="106"/>
            <a:chExt cx="2701" cy="2800"/>
          </a:xfrm>
        </p:grpSpPr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9C93453A-9B96-6ED2-6ADE-FA36199488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" y="882"/>
              <a:ext cx="1690" cy="82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0" name="Rectangle 14">
              <a:extLst>
                <a:ext uri="{FF2B5EF4-FFF2-40B4-BE49-F238E27FC236}">
                  <a16:creationId xmlns:a16="http://schemas.microsoft.com/office/drawing/2014/main" id="{5E954771-2A43-53F4-FD18-5D2248687E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" y="2798"/>
              <a:ext cx="649" cy="108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1" name="Arc 15">
              <a:extLst>
                <a:ext uri="{FF2B5EF4-FFF2-40B4-BE49-F238E27FC236}">
                  <a16:creationId xmlns:a16="http://schemas.microsoft.com/office/drawing/2014/main" id="{27DEE6AA-E089-63EB-6197-F8B6C2C5F1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22" y="935"/>
              <a:ext cx="1791" cy="1903"/>
            </a:xfrm>
            <a:custGeom>
              <a:avLst/>
              <a:gdLst>
                <a:gd name="G0" fmla="+- 2733 0 0"/>
                <a:gd name="G1" fmla="+- 19431 0 0"/>
                <a:gd name="G2" fmla="+- 21600 0 0"/>
                <a:gd name="T0" fmla="*/ 12168 w 24333"/>
                <a:gd name="T1" fmla="*/ 0 h 41031"/>
                <a:gd name="T2" fmla="*/ 0 w 24333"/>
                <a:gd name="T3" fmla="*/ 40857 h 41031"/>
                <a:gd name="T4" fmla="*/ 2733 w 24333"/>
                <a:gd name="T5" fmla="*/ 19431 h 410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333" h="41031" fill="none" extrusionOk="0">
                  <a:moveTo>
                    <a:pt x="12167" y="0"/>
                  </a:moveTo>
                  <a:cubicBezTo>
                    <a:pt x="19608" y="3613"/>
                    <a:pt x="24333" y="11159"/>
                    <a:pt x="24333" y="19431"/>
                  </a:cubicBezTo>
                  <a:cubicBezTo>
                    <a:pt x="24333" y="31360"/>
                    <a:pt x="14662" y="41031"/>
                    <a:pt x="2733" y="41031"/>
                  </a:cubicBezTo>
                  <a:cubicBezTo>
                    <a:pt x="1819" y="41030"/>
                    <a:pt x="906" y="40973"/>
                    <a:pt x="-1" y="40857"/>
                  </a:cubicBezTo>
                </a:path>
                <a:path w="24333" h="41031" stroke="0" extrusionOk="0">
                  <a:moveTo>
                    <a:pt x="12167" y="0"/>
                  </a:moveTo>
                  <a:cubicBezTo>
                    <a:pt x="19608" y="3613"/>
                    <a:pt x="24333" y="11159"/>
                    <a:pt x="24333" y="19431"/>
                  </a:cubicBezTo>
                  <a:cubicBezTo>
                    <a:pt x="24333" y="31360"/>
                    <a:pt x="14662" y="41031"/>
                    <a:pt x="2733" y="41031"/>
                  </a:cubicBezTo>
                  <a:cubicBezTo>
                    <a:pt x="1819" y="41030"/>
                    <a:pt x="906" y="40973"/>
                    <a:pt x="-1" y="40857"/>
                  </a:cubicBezTo>
                  <a:lnTo>
                    <a:pt x="2733" y="19431"/>
                  </a:lnTo>
                  <a:close/>
                </a:path>
              </a:pathLst>
            </a:custGeom>
            <a:noFill/>
            <a:ln w="12700" cap="rnd">
              <a:solidFill>
                <a:srgbClr val="CC0000"/>
              </a:solidFill>
              <a:round/>
              <a:headEnd type="none" w="sm" len="sm"/>
              <a:tailEnd type="stealth" w="med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2" name="AutoShape 16">
              <a:extLst>
                <a:ext uri="{FF2B5EF4-FFF2-40B4-BE49-F238E27FC236}">
                  <a16:creationId xmlns:a16="http://schemas.microsoft.com/office/drawing/2014/main" id="{50F58140-70D7-D821-82E8-A3732D3167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06" y="106"/>
              <a:ext cx="771" cy="825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</a:t>
              </a:r>
              <a:r>
                <a:rPr lang="en-US" altLang="en-US" sz="900"/>
                <a:t>RELATIVE KEY</a:t>
              </a:r>
              <a:r>
                <a:rPr lang="en-US" altLang="en-US" sz="1000"/>
                <a:t> phrase specifies the key for the file.  Note that the key cannot be part of the record.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It is usually defined in the </a:t>
              </a:r>
              <a:r>
                <a:rPr lang="en-US" altLang="en-US" sz="900"/>
                <a:t>WORKING-STORAGE SECTION</a:t>
              </a:r>
              <a:r>
                <a:rPr lang="en-US" altLang="en-US" sz="1000"/>
                <a:t>. </a:t>
              </a:r>
            </a:p>
          </p:txBody>
        </p:sp>
      </p:grpSp>
      <p:grpSp>
        <p:nvGrpSpPr>
          <p:cNvPr id="4118" name="Group 22">
            <a:extLst>
              <a:ext uri="{FF2B5EF4-FFF2-40B4-BE49-F238E27FC236}">
                <a16:creationId xmlns:a16="http://schemas.microsoft.com/office/drawing/2014/main" id="{989A5923-674F-4851-A5D4-7985CC9ABA6B}"/>
              </a:ext>
            </a:extLst>
          </p:cNvPr>
          <p:cNvGrpSpPr>
            <a:grpSpLocks/>
          </p:cNvGrpSpPr>
          <p:nvPr/>
        </p:nvGrpSpPr>
        <p:grpSpPr bwMode="auto">
          <a:xfrm>
            <a:off x="425450" y="158750"/>
            <a:ext cx="4281488" cy="4262438"/>
            <a:chOff x="268" y="100"/>
            <a:chExt cx="2697" cy="2685"/>
          </a:xfrm>
        </p:grpSpPr>
        <p:sp>
          <p:nvSpPr>
            <p:cNvPr id="4114" name="Rectangle 18">
              <a:extLst>
                <a:ext uri="{FF2B5EF4-FFF2-40B4-BE49-F238E27FC236}">
                  <a16:creationId xmlns:a16="http://schemas.microsoft.com/office/drawing/2014/main" id="{7A2E90BE-3D71-B9C9-F350-A508AB53FF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961"/>
              <a:ext cx="1684" cy="101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5" name="Arc 19">
              <a:extLst>
                <a:ext uri="{FF2B5EF4-FFF2-40B4-BE49-F238E27FC236}">
                  <a16:creationId xmlns:a16="http://schemas.microsoft.com/office/drawing/2014/main" id="{045E52EA-EE4A-F536-73FC-A1441AE71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997" y="1016"/>
              <a:ext cx="1559" cy="1721"/>
            </a:xfrm>
            <a:custGeom>
              <a:avLst/>
              <a:gdLst>
                <a:gd name="G0" fmla="+- 3646 0 0"/>
                <a:gd name="G1" fmla="+- 17817 0 0"/>
                <a:gd name="G2" fmla="+- 21600 0 0"/>
                <a:gd name="T0" fmla="*/ 15857 w 25246"/>
                <a:gd name="T1" fmla="*/ 0 h 39417"/>
                <a:gd name="T2" fmla="*/ 0 w 25246"/>
                <a:gd name="T3" fmla="*/ 39107 h 39417"/>
                <a:gd name="T4" fmla="*/ 3646 w 25246"/>
                <a:gd name="T5" fmla="*/ 17817 h 394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5246" h="39417" fill="none" extrusionOk="0">
                  <a:moveTo>
                    <a:pt x="15857" y="-1"/>
                  </a:moveTo>
                  <a:cubicBezTo>
                    <a:pt x="21733" y="4027"/>
                    <a:pt x="25246" y="10693"/>
                    <a:pt x="25246" y="17817"/>
                  </a:cubicBezTo>
                  <a:cubicBezTo>
                    <a:pt x="25246" y="29746"/>
                    <a:pt x="15575" y="39417"/>
                    <a:pt x="3646" y="39417"/>
                  </a:cubicBezTo>
                  <a:cubicBezTo>
                    <a:pt x="2424" y="39416"/>
                    <a:pt x="1204" y="39313"/>
                    <a:pt x="-1" y="39107"/>
                  </a:cubicBezTo>
                </a:path>
                <a:path w="25246" h="39417" stroke="0" extrusionOk="0">
                  <a:moveTo>
                    <a:pt x="15857" y="-1"/>
                  </a:moveTo>
                  <a:cubicBezTo>
                    <a:pt x="21733" y="4027"/>
                    <a:pt x="25246" y="10693"/>
                    <a:pt x="25246" y="17817"/>
                  </a:cubicBezTo>
                  <a:cubicBezTo>
                    <a:pt x="25246" y="29746"/>
                    <a:pt x="15575" y="39417"/>
                    <a:pt x="3646" y="39417"/>
                  </a:cubicBezTo>
                  <a:cubicBezTo>
                    <a:pt x="2424" y="39416"/>
                    <a:pt x="1204" y="39313"/>
                    <a:pt x="-1" y="39107"/>
                  </a:cubicBezTo>
                  <a:lnTo>
                    <a:pt x="3646" y="17817"/>
                  </a:lnTo>
                  <a:close/>
                </a:path>
              </a:pathLst>
            </a:custGeom>
            <a:noFill/>
            <a:ln w="12700" cap="rnd">
              <a:solidFill>
                <a:srgbClr val="CC0000"/>
              </a:solidFill>
              <a:round/>
              <a:headEnd type="none" w="sm" len="sm"/>
              <a:tailEnd type="stealth" w="med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6" name="AutoShape 20">
              <a:extLst>
                <a:ext uri="{FF2B5EF4-FFF2-40B4-BE49-F238E27FC236}">
                  <a16:creationId xmlns:a16="http://schemas.microsoft.com/office/drawing/2014/main" id="{CCFCF47D-9239-DE2E-D97D-7E303EEEB20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12" y="100"/>
              <a:ext cx="753" cy="1113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FILE STATUS clause specifies a two character area of storage that will hold a code indicating the success or failure of each I-O operation.  If an I-O operation fails, the code will indicate what went wrong.</a:t>
              </a:r>
            </a:p>
          </p:txBody>
        </p:sp>
        <p:sp>
          <p:nvSpPr>
            <p:cNvPr id="4117" name="Rectangle 21">
              <a:extLst>
                <a:ext uri="{FF2B5EF4-FFF2-40B4-BE49-F238E27FC236}">
                  <a16:creationId xmlns:a16="http://schemas.microsoft.com/office/drawing/2014/main" id="{F2A29F59-60F0-287B-C290-4CF8E334A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2682"/>
              <a:ext cx="719" cy="103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10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1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AutoShape 2">
            <a:extLst>
              <a:ext uri="{FF2B5EF4-FFF2-40B4-BE49-F238E27FC236}">
                <a16:creationId xmlns:a16="http://schemas.microsoft.com/office/drawing/2014/main" id="{A664ACCF-D36F-D7A3-69A8-3913E17BAED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59075" y="177800"/>
            <a:ext cx="1843088" cy="775229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9050" rIns="0" bIns="19050" anchorCtr="1"/>
          <a:lstStyle/>
          <a:p>
            <a:pPr algn="ctr">
              <a:lnSpc>
                <a:spcPct val="90000"/>
              </a:lnSpc>
            </a:pPr>
            <a:r>
              <a:rPr lang="en-US" altLang="en-US" sz="1200" b="1"/>
              <a:t>Now</a:t>
            </a:r>
            <a:endParaRPr lang="en-US" altLang="en-US" sz="1200"/>
          </a:p>
          <a:p>
            <a:pPr algn="ctr">
              <a:lnSpc>
                <a:spcPct val="90000"/>
              </a:lnSpc>
            </a:pPr>
            <a:r>
              <a:rPr lang="en-US" altLang="en-US" sz="1200"/>
              <a:t>Let’s look at the Procedure Division for the program.</a:t>
            </a:r>
            <a:r>
              <a:rPr lang="en-US" altLang="en-US" sz="1000"/>
              <a:t> </a:t>
            </a:r>
          </a:p>
        </p:txBody>
      </p:sp>
      <p:grpSp>
        <p:nvGrpSpPr>
          <p:cNvPr id="5125" name="Group 5">
            <a:extLst>
              <a:ext uri="{FF2B5EF4-FFF2-40B4-BE49-F238E27FC236}">
                <a16:creationId xmlns:a16="http://schemas.microsoft.com/office/drawing/2014/main" id="{1D9F9696-0C3E-F220-2DFA-88FE894532E6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165100"/>
            <a:ext cx="4271963" cy="1057275"/>
            <a:chOff x="214" y="104"/>
            <a:chExt cx="2691" cy="666"/>
          </a:xfrm>
        </p:grpSpPr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CC9A2127-9BD4-7C35-213E-919183E62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503"/>
              <a:ext cx="1666" cy="267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" name="AutoShape 4">
              <a:extLst>
                <a:ext uri="{FF2B5EF4-FFF2-40B4-BE49-F238E27FC236}">
                  <a16:creationId xmlns:a16="http://schemas.microsoft.com/office/drawing/2014/main" id="{A87BAF8D-0279-DDD2-01FB-D1222A274E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34" y="104"/>
              <a:ext cx="771" cy="525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program starts by reading the first record in the Sequential file.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 </a:t>
              </a:r>
            </a:p>
          </p:txBody>
        </p:sp>
      </p:grpSp>
      <p:grpSp>
        <p:nvGrpSpPr>
          <p:cNvPr id="5128" name="Group 8">
            <a:extLst>
              <a:ext uri="{FF2B5EF4-FFF2-40B4-BE49-F238E27FC236}">
                <a16:creationId xmlns:a16="http://schemas.microsoft.com/office/drawing/2014/main" id="{138ACA48-1445-6D09-48F2-8B9CE2A94B16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379413"/>
            <a:ext cx="4252913" cy="2422525"/>
            <a:chOff x="214" y="239"/>
            <a:chExt cx="2679" cy="1526"/>
          </a:xfrm>
        </p:grpSpPr>
        <p:sp>
          <p:nvSpPr>
            <p:cNvPr id="5126" name="AutoShape 6">
              <a:extLst>
                <a:ext uri="{FF2B5EF4-FFF2-40B4-BE49-F238E27FC236}">
                  <a16:creationId xmlns:a16="http://schemas.microsoft.com/office/drawing/2014/main" id="{7D6F91CB-3693-7119-B90A-ACA09F7B5B1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40" y="239"/>
              <a:ext cx="753" cy="395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Then control enters the loop which processes the rest of the records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 </a:t>
              </a:r>
            </a:p>
          </p:txBody>
        </p:sp>
        <p:sp>
          <p:nvSpPr>
            <p:cNvPr id="5127" name="Rectangle 7">
              <a:extLst>
                <a:ext uri="{FF2B5EF4-FFF2-40B4-BE49-F238E27FC236}">
                  <a16:creationId xmlns:a16="http://schemas.microsoft.com/office/drawing/2014/main" id="{D1A795DD-18D5-5467-F7BB-AF25B6259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775"/>
              <a:ext cx="2271" cy="990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131" name="Group 11">
            <a:extLst>
              <a:ext uri="{FF2B5EF4-FFF2-40B4-BE49-F238E27FC236}">
                <a16:creationId xmlns:a16="http://schemas.microsoft.com/office/drawing/2014/main" id="{D2403F7F-A095-53DF-C62C-0D1DA507B30A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268288"/>
            <a:ext cx="4267200" cy="1252537"/>
            <a:chOff x="214" y="169"/>
            <a:chExt cx="2688" cy="789"/>
          </a:xfrm>
        </p:grpSpPr>
        <p:sp>
          <p:nvSpPr>
            <p:cNvPr id="5129" name="Rectangle 9">
              <a:extLst>
                <a:ext uri="{FF2B5EF4-FFF2-40B4-BE49-F238E27FC236}">
                  <a16:creationId xmlns:a16="http://schemas.microsoft.com/office/drawing/2014/main" id="{ABAE2300-2F55-6B58-DFC1-C4DF52D025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866"/>
              <a:ext cx="2271" cy="92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AutoShape 10">
              <a:extLst>
                <a:ext uri="{FF2B5EF4-FFF2-40B4-BE49-F238E27FC236}">
                  <a16:creationId xmlns:a16="http://schemas.microsoft.com/office/drawing/2014/main" id="{727E3D0F-6D05-C8C2-80F8-7089C5BD598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50" y="169"/>
              <a:ext cx="752" cy="624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SupplierCode is being used as the key, so the SupplierCode is moved to the Relative key area.  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 </a:t>
              </a:r>
            </a:p>
          </p:txBody>
        </p:sp>
      </p:grpSp>
      <p:grpSp>
        <p:nvGrpSpPr>
          <p:cNvPr id="5134" name="Group 14">
            <a:extLst>
              <a:ext uri="{FF2B5EF4-FFF2-40B4-BE49-F238E27FC236}">
                <a16:creationId xmlns:a16="http://schemas.microsoft.com/office/drawing/2014/main" id="{30ECB1F3-AD78-8D29-4040-830D0C4FF842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508000"/>
            <a:ext cx="4340225" cy="1155700"/>
            <a:chOff x="214" y="320"/>
            <a:chExt cx="2734" cy="728"/>
          </a:xfrm>
        </p:grpSpPr>
        <p:sp>
          <p:nvSpPr>
            <p:cNvPr id="5132" name="Rectangle 12">
              <a:extLst>
                <a:ext uri="{FF2B5EF4-FFF2-40B4-BE49-F238E27FC236}">
                  <a16:creationId xmlns:a16="http://schemas.microsoft.com/office/drawing/2014/main" id="{AC1D0555-194E-92E8-E48F-7DB3E5794C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956"/>
              <a:ext cx="2272" cy="92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AutoShape 13">
              <a:extLst>
                <a:ext uri="{FF2B5EF4-FFF2-40B4-BE49-F238E27FC236}">
                  <a16:creationId xmlns:a16="http://schemas.microsoft.com/office/drawing/2014/main" id="{495D0212-00BC-38E6-9CF3-421D6D08918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98" y="320"/>
              <a:ext cx="850" cy="587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We want to write the Supplier record to the Relative file so we move it to the Relative file’s record buffer.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 </a:t>
              </a:r>
            </a:p>
          </p:txBody>
        </p:sp>
      </p:grpSp>
      <p:grpSp>
        <p:nvGrpSpPr>
          <p:cNvPr id="5137" name="Group 17">
            <a:extLst>
              <a:ext uri="{FF2B5EF4-FFF2-40B4-BE49-F238E27FC236}">
                <a16:creationId xmlns:a16="http://schemas.microsoft.com/office/drawing/2014/main" id="{E2FDB02F-92F0-C7EF-3C8C-15B0D52CA1B5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347663"/>
            <a:ext cx="4360863" cy="1873250"/>
            <a:chOff x="214" y="219"/>
            <a:chExt cx="2747" cy="1180"/>
          </a:xfrm>
        </p:grpSpPr>
        <p:sp>
          <p:nvSpPr>
            <p:cNvPr id="5135" name="AutoShape 15">
              <a:extLst>
                <a:ext uri="{FF2B5EF4-FFF2-40B4-BE49-F238E27FC236}">
                  <a16:creationId xmlns:a16="http://schemas.microsoft.com/office/drawing/2014/main" id="{FDB0F0C3-3147-6718-5B5D-BAE17D7BB42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98" y="219"/>
              <a:ext cx="863" cy="603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WRITE statement uses the value in the Relative Key area to write the contents of the record buffer directly to the file.</a:t>
              </a:r>
            </a:p>
          </p:txBody>
        </p:sp>
        <p:sp>
          <p:nvSpPr>
            <p:cNvPr id="5136" name="Rectangle 16">
              <a:extLst>
                <a:ext uri="{FF2B5EF4-FFF2-40B4-BE49-F238E27FC236}">
                  <a16:creationId xmlns:a16="http://schemas.microsoft.com/office/drawing/2014/main" id="{89876130-6B04-B0B5-1A6C-BB0F4F1309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1046"/>
              <a:ext cx="2271" cy="353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140" name="Group 20">
            <a:extLst>
              <a:ext uri="{FF2B5EF4-FFF2-40B4-BE49-F238E27FC236}">
                <a16:creationId xmlns:a16="http://schemas.microsoft.com/office/drawing/2014/main" id="{30EA0DB1-0C1A-F99D-7B6B-979169E8CB6D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163513"/>
            <a:ext cx="4346575" cy="1914525"/>
            <a:chOff x="214" y="103"/>
            <a:chExt cx="2738" cy="1206"/>
          </a:xfrm>
        </p:grpSpPr>
        <p:sp>
          <p:nvSpPr>
            <p:cNvPr id="5138" name="Rectangle 18">
              <a:extLst>
                <a:ext uri="{FF2B5EF4-FFF2-40B4-BE49-F238E27FC236}">
                  <a16:creationId xmlns:a16="http://schemas.microsoft.com/office/drawing/2014/main" id="{C4F883AF-2AD0-3E46-865B-CF6A240D9C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" y="1125"/>
              <a:ext cx="2277" cy="184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9" name="AutoShape 19">
              <a:extLst>
                <a:ext uri="{FF2B5EF4-FFF2-40B4-BE49-F238E27FC236}">
                  <a16:creationId xmlns:a16="http://schemas.microsoft.com/office/drawing/2014/main" id="{4F40A9EA-C8A8-F26C-A1DA-C13F5E92AD5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72" y="103"/>
              <a:ext cx="880" cy="882"/>
            </a:xfrm>
            <a:prstGeom prst="wedgeRoundRectCallout">
              <a:avLst>
                <a:gd name="adj1" fmla="val -416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 INVALID KEY clause will activate if anything goes wrong with the attempt to WRITE the record.  For instance, a record with this Relative Record Number might already exist in the file.</a:t>
              </a:r>
            </a:p>
          </p:txBody>
        </p:sp>
      </p:grpSp>
      <p:sp>
        <p:nvSpPr>
          <p:cNvPr id="5141" name="Rectangle 21">
            <a:extLst>
              <a:ext uri="{FF2B5EF4-FFF2-40B4-BE49-F238E27FC236}">
                <a16:creationId xmlns:a16="http://schemas.microsoft.com/office/drawing/2014/main" id="{6DF0A1C8-7BA4-FB9C-78BB-4ABF0C558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219075"/>
            <a:ext cx="4048125" cy="304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38163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76325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2900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51063" defTabSz="126682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082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654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226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79863" defTabSz="12668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Begin.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OPEN OUTPUT SupplierFile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OPEN INPUT SupplierFileSeq 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READ SupplierFileSeq 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AT END SET EndOfFile TO TRUE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END-READ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PERFORM UNTIL EndOfFile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MOVE SupplierCodeSeq TO SupplierKey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MOVE SupplierRecordSeq TO SupplierRecord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WRITE SupplierRecord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INVALID KEY 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 DISPLAY "SUPP STATUS :-", SupplierStatus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END-WRITE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READ SupplierFileSeq 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  AT END SET EndOfFile TO TRUE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   END-READ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END-PERFORM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CLOSE  SupplierFile, SupplierFileSeg</a:t>
            </a:r>
          </a:p>
          <a:p>
            <a:pPr>
              <a:lnSpc>
                <a:spcPct val="95000"/>
              </a:lnSpc>
            </a:pPr>
            <a:r>
              <a:rPr lang="en-US" altLang="en-US" sz="1000" b="1">
                <a:latin typeface="Courier New" panose="02070309020205020404" pitchFamily="49" charset="0"/>
              </a:rPr>
              <a:t>    STOP RUN.</a:t>
            </a:r>
          </a:p>
          <a:p>
            <a:endParaRPr lang="en-US" altLang="en-US" sz="1000" b="1">
              <a:latin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12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5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2" grpId="0" animBg="1" autoUpdateAnimBg="0"/>
    </p:bld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1079</TotalTime>
  <Words>569</Words>
  <Application>Microsoft Office PowerPoint</Application>
  <PresentationFormat>Custom</PresentationFormat>
  <Paragraphs>84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25</cp:revision>
  <dcterms:created xsi:type="dcterms:W3CDTF">1995-06-17T23:31:02Z</dcterms:created>
  <dcterms:modified xsi:type="dcterms:W3CDTF">2026-05-13T01:05:53Z</dcterms:modified>
</cp:coreProperties>
</file>