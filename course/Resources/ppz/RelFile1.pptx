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4762500" cy="4953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97280"/>
            <a:ext cx="4285800" cy="82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1158840"/>
            <a:ext cx="4285800" cy="287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4952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14400" y="12600"/>
            <a:ext cx="4734000" cy="492768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97280"/>
            <a:ext cx="4285800" cy="82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1158840"/>
            <a:ext cx="4285800" cy="287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1006560" y="647640"/>
            <a:ext cx="2975040" cy="295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Creating a Relative file from a Sequential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Example program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the program left click (or press the Page Up key) to see next comment and right click (or press Page Down) to see the previous comment.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158760" y="46080"/>
            <a:ext cx="404820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$ SET SOURCEFORMAT"FREE"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CreateRelativeFromSeq.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SELECT SupplierFile ASSIGN TO "SUPP.DAT"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ORGANIZATION IS RELATIVE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ACCESS MODE IS RANDOM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RELATIVE KEY IS SupplierKey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FILE STATUS IS SupplierStatus.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SELECT SupplierFileSeq ASSIGN TO "INSUPP.DAT".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SupplierFile.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SupplierRecord.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SupplierCode               PIC 99.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SupplierName               PIC X(20).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SupplierAddress            PIC X(60).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SupplierFileSeq.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SupplierRecordSeq.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88 EndOfFile    VALUE HIGH-VALUES.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SupplierCodeSeq            PIC 99.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SupplierNameSeq            PIC X(20).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SupplierAddressSeq         PIC X(60).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SupplierStatus                PIC X(2).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SupplierKey                   PIC 99.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895480" y="133200"/>
            <a:ext cx="1789200" cy="91440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First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Let’s look at the new entries we need to define the Relative file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" name=""/>
          <p:cNvGrpSpPr/>
          <p:nvPr/>
        </p:nvGrpSpPr>
        <p:grpSpPr>
          <a:xfrm>
            <a:off x="396720" y="200160"/>
            <a:ext cx="4287960" cy="1647720"/>
            <a:chOff x="396720" y="200160"/>
            <a:chExt cx="4287960" cy="1647720"/>
          </a:xfrm>
        </p:grpSpPr>
        <p:sp>
          <p:nvSpPr>
            <p:cNvPr id="12" name=""/>
            <p:cNvSpPr/>
            <p:nvPr/>
          </p:nvSpPr>
          <p:spPr>
            <a:xfrm>
              <a:off x="396720" y="927000"/>
              <a:ext cx="3770280" cy="920880"/>
            </a:xfrm>
            <a:prstGeom prst="rect">
              <a:avLst/>
            </a:prstGeom>
            <a:noFill/>
            <a:ln w="25560">
              <a:solidFill>
                <a:srgbClr val="3333CC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 txBox="1"/>
            <p:nvPr/>
          </p:nvSpPr>
          <p:spPr>
            <a:xfrm>
              <a:off x="3505320" y="200160"/>
              <a:ext cx="1179360" cy="160344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In this example the first thing we notice is that the SELECT and ASSIGN clause has been extended and now contains a number of new clauses 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" name=""/>
          <p:cNvGrpSpPr/>
          <p:nvPr/>
        </p:nvGrpSpPr>
        <p:grpSpPr>
          <a:xfrm>
            <a:off x="828720" y="133200"/>
            <a:ext cx="3903480" cy="1106640"/>
            <a:chOff x="828720" y="133200"/>
            <a:chExt cx="3903480" cy="1106640"/>
          </a:xfrm>
        </p:grpSpPr>
        <p:sp>
          <p:nvSpPr>
            <p:cNvPr id="15" name=""/>
            <p:cNvSpPr txBox="1"/>
            <p:nvPr/>
          </p:nvSpPr>
          <p:spPr>
            <a:xfrm>
              <a:off x="3511440" y="133200"/>
              <a:ext cx="1220760" cy="94608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The </a:t>
              </a:r>
              <a:r>
                <a:rPr lang="en-US" sz="9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ORGANIZATION</a:t>
              </a: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phrase specifies the organization of the file. 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28720" y="1079640"/>
              <a:ext cx="2682720" cy="16020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" name=""/>
          <p:cNvGrpSpPr/>
          <p:nvPr/>
        </p:nvGrpSpPr>
        <p:grpSpPr>
          <a:xfrm>
            <a:off x="828720" y="133200"/>
            <a:ext cx="3886200" cy="2766960"/>
            <a:chOff x="828720" y="133200"/>
            <a:chExt cx="3886200" cy="2766960"/>
          </a:xfrm>
        </p:grpSpPr>
        <p:sp>
          <p:nvSpPr>
            <p:cNvPr id="18" name=""/>
            <p:cNvSpPr txBox="1"/>
            <p:nvPr/>
          </p:nvSpPr>
          <p:spPr>
            <a:xfrm>
              <a:off x="3513240" y="133200"/>
              <a:ext cx="1201680" cy="276696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The </a:t>
              </a:r>
              <a:r>
                <a:rPr lang="en-US" sz="9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ACCESS</a:t>
              </a: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phrase specifies the type of access required on this file.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By specifying </a:t>
              </a:r>
              <a:r>
                <a:rPr lang="en-US" sz="9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RANDOM</a:t>
              </a: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we are saying that we will only access the file directly.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The access options are -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9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SEQUENTIAL</a:t>
              </a:r>
              <a:endPara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9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RANDOM</a:t>
              </a:r>
              <a:endPara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9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DYNAMIC</a:t>
              </a:r>
              <a:endPara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28720" y="1227240"/>
              <a:ext cx="2684520" cy="16812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" name=""/>
          <p:cNvGrpSpPr/>
          <p:nvPr/>
        </p:nvGrpSpPr>
        <p:grpSpPr>
          <a:xfrm>
            <a:off x="431640" y="162000"/>
            <a:ext cx="4300560" cy="4457880"/>
            <a:chOff x="431640" y="162000"/>
            <a:chExt cx="4300560" cy="4457880"/>
          </a:xfrm>
        </p:grpSpPr>
        <p:sp>
          <p:nvSpPr>
            <p:cNvPr id="21" name=""/>
            <p:cNvSpPr/>
            <p:nvPr/>
          </p:nvSpPr>
          <p:spPr>
            <a:xfrm>
              <a:off x="828720" y="1393920"/>
              <a:ext cx="2695680" cy="14292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431640" y="4435560"/>
              <a:ext cx="1042920" cy="18432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1622880" y="1484280"/>
              <a:ext cx="2843280" cy="3021120"/>
            </a:xfrm>
            <a:custGeom>
              <a:avLst/>
              <a:gdLst/>
              <a:ahLst/>
              <a:rect l="0" t="0" r="r" b="b"/>
              <a:pathLst>
                <a:path fill="none" w="7898" h="8392">
                  <a:moveTo>
                    <a:pt x="0" y="8357"/>
                  </a:moveTo>
                  <a:lnTo>
                    <a:pt x="0" y="8357"/>
                  </a:lnTo>
                  <a:cubicBezTo>
                    <a:pt x="294" y="8381"/>
                    <a:pt x="590" y="8392"/>
                    <a:pt x="886" y="8392"/>
                  </a:cubicBezTo>
                  <a:cubicBezTo>
                    <a:pt x="2117" y="8392"/>
                    <a:pt x="3326" y="8188"/>
                    <a:pt x="4392" y="7800"/>
                  </a:cubicBezTo>
                  <a:cubicBezTo>
                    <a:pt x="5458" y="7413"/>
                    <a:pt x="6343" y="6855"/>
                    <a:pt x="6958" y="6183"/>
                  </a:cubicBezTo>
                  <a:cubicBezTo>
                    <a:pt x="7574" y="5511"/>
                    <a:pt x="7898" y="4749"/>
                    <a:pt x="7898" y="3974"/>
                  </a:cubicBezTo>
                  <a:cubicBezTo>
                    <a:pt x="7898" y="3198"/>
                    <a:pt x="7574" y="2436"/>
                    <a:pt x="6958" y="1765"/>
                  </a:cubicBezTo>
                  <a:cubicBezTo>
                    <a:pt x="6343" y="1093"/>
                    <a:pt x="5458" y="535"/>
                    <a:pt x="4392" y="147"/>
                  </a:cubicBezTo>
                  <a:cubicBezTo>
                    <a:pt x="4248" y="95"/>
                    <a:pt x="4101" y="46"/>
                    <a:pt x="3952" y="0"/>
                  </a:cubicBezTo>
                </a:path>
              </a:pathLst>
            </a:custGeom>
            <a:ln w="12600">
              <a:solidFill>
                <a:srgbClr val="CC0000"/>
              </a:solidFill>
              <a:round/>
              <a:tailEnd len="med" type="triangle" w="med"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 txBox="1"/>
            <p:nvPr/>
          </p:nvSpPr>
          <p:spPr>
            <a:xfrm>
              <a:off x="3495600" y="162000"/>
              <a:ext cx="1236600" cy="158436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The </a:t>
              </a:r>
              <a:r>
                <a:rPr lang="en-US" sz="9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RELATIVE KEY</a:t>
              </a: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 phrase specifies the key for the file.  Note that the key cannot be part of the record.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It is usually defined in the </a:t>
              </a:r>
              <a:r>
                <a:rPr lang="en-US" sz="9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WORKING-STORAGE SECTION</a:t>
              </a: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. 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" name=""/>
          <p:cNvGrpSpPr/>
          <p:nvPr/>
        </p:nvGrpSpPr>
        <p:grpSpPr>
          <a:xfrm>
            <a:off x="419040" y="152280"/>
            <a:ext cx="4294440" cy="4275000"/>
            <a:chOff x="419040" y="152280"/>
            <a:chExt cx="4294440" cy="4275000"/>
          </a:xfrm>
        </p:grpSpPr>
        <p:sp>
          <p:nvSpPr>
            <p:cNvPr id="26" name=""/>
            <p:cNvSpPr/>
            <p:nvPr/>
          </p:nvSpPr>
          <p:spPr>
            <a:xfrm>
              <a:off x="819000" y="1519200"/>
              <a:ext cx="2685960" cy="17316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582920" y="1612800"/>
              <a:ext cx="2474280" cy="2730960"/>
            </a:xfrm>
            <a:custGeom>
              <a:avLst/>
              <a:gdLst/>
              <a:ahLst/>
              <a:rect l="0" t="0" r="r" b="b"/>
              <a:pathLst>
                <a:path fill="none" w="6873" h="7586">
                  <a:moveTo>
                    <a:pt x="0" y="7527"/>
                  </a:moveTo>
                  <a:lnTo>
                    <a:pt x="0" y="7527"/>
                  </a:lnTo>
                  <a:cubicBezTo>
                    <a:pt x="328" y="7567"/>
                    <a:pt x="659" y="7586"/>
                    <a:pt x="991" y="7586"/>
                  </a:cubicBezTo>
                  <a:cubicBezTo>
                    <a:pt x="2024" y="7586"/>
                    <a:pt x="3038" y="7394"/>
                    <a:pt x="3932" y="7029"/>
                  </a:cubicBezTo>
                  <a:cubicBezTo>
                    <a:pt x="4826" y="6664"/>
                    <a:pt x="5569" y="6139"/>
                    <a:pt x="6085" y="5507"/>
                  </a:cubicBezTo>
                  <a:cubicBezTo>
                    <a:pt x="6601" y="4875"/>
                    <a:pt x="6873" y="4158"/>
                    <a:pt x="6873" y="3428"/>
                  </a:cubicBezTo>
                  <a:cubicBezTo>
                    <a:pt x="6873" y="2698"/>
                    <a:pt x="6601" y="1981"/>
                    <a:pt x="6085" y="1349"/>
                  </a:cubicBezTo>
                  <a:cubicBezTo>
                    <a:pt x="5647" y="812"/>
                    <a:pt x="5044" y="351"/>
                    <a:pt x="4321" y="0"/>
                  </a:cubicBezTo>
                </a:path>
              </a:pathLst>
            </a:custGeom>
            <a:ln w="12600">
              <a:solidFill>
                <a:srgbClr val="CC0000"/>
              </a:solidFill>
              <a:round/>
              <a:tailEnd len="med" type="triangle" w="med"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 txBox="1"/>
            <p:nvPr/>
          </p:nvSpPr>
          <p:spPr>
            <a:xfrm>
              <a:off x="3505320" y="152280"/>
              <a:ext cx="1208160" cy="213192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The FILE STATUS clause specifies a two character area of storage that will hold a code indicating the success or failure of each I-O operation.  If an I-O operation fails, the code will indicate what went wrong.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419040" y="4251240"/>
              <a:ext cx="1154160" cy="17604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 txBox="1"/>
          <p:nvPr/>
        </p:nvSpPr>
        <p:spPr>
          <a:xfrm>
            <a:off x="2752560" y="171360"/>
            <a:ext cx="1855800" cy="94284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Let’s look at the Procedure Division for the program.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" name=""/>
          <p:cNvGrpSpPr/>
          <p:nvPr/>
        </p:nvGrpSpPr>
        <p:grpSpPr>
          <a:xfrm>
            <a:off x="333360" y="158760"/>
            <a:ext cx="4284720" cy="1069920"/>
            <a:chOff x="333360" y="158760"/>
            <a:chExt cx="4284720" cy="1069920"/>
          </a:xfrm>
        </p:grpSpPr>
        <p:sp>
          <p:nvSpPr>
            <p:cNvPr id="32" name=""/>
            <p:cNvSpPr/>
            <p:nvPr/>
          </p:nvSpPr>
          <p:spPr>
            <a:xfrm>
              <a:off x="333360" y="792000"/>
              <a:ext cx="2657520" cy="43668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 txBox="1"/>
            <p:nvPr/>
          </p:nvSpPr>
          <p:spPr>
            <a:xfrm>
              <a:off x="3381480" y="158760"/>
              <a:ext cx="1236600" cy="101268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The program starts by reading the first record in the Sequential file.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" name=""/>
          <p:cNvGrpSpPr/>
          <p:nvPr/>
        </p:nvGrpSpPr>
        <p:grpSpPr>
          <a:xfrm>
            <a:off x="333360" y="372960"/>
            <a:ext cx="4265640" cy="2435400"/>
            <a:chOff x="333360" y="372960"/>
            <a:chExt cx="4265640" cy="2435400"/>
          </a:xfrm>
        </p:grpSpPr>
        <p:sp>
          <p:nvSpPr>
            <p:cNvPr id="35" name=""/>
            <p:cNvSpPr txBox="1"/>
            <p:nvPr/>
          </p:nvSpPr>
          <p:spPr>
            <a:xfrm>
              <a:off x="3390840" y="372960"/>
              <a:ext cx="1208160" cy="76500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Then control enters the loop which processes the rest of the records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333360" y="1224000"/>
              <a:ext cx="3618000" cy="158436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" name=""/>
          <p:cNvGrpSpPr/>
          <p:nvPr/>
        </p:nvGrpSpPr>
        <p:grpSpPr>
          <a:xfrm>
            <a:off x="333360" y="262080"/>
            <a:ext cx="4279680" cy="1265040"/>
            <a:chOff x="333360" y="262080"/>
            <a:chExt cx="4279680" cy="1265040"/>
          </a:xfrm>
        </p:grpSpPr>
        <p:sp>
          <p:nvSpPr>
            <p:cNvPr id="38" name=""/>
            <p:cNvSpPr/>
            <p:nvPr/>
          </p:nvSpPr>
          <p:spPr>
            <a:xfrm>
              <a:off x="333360" y="1368360"/>
              <a:ext cx="3618000" cy="15876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 txBox="1"/>
            <p:nvPr/>
          </p:nvSpPr>
          <p:spPr>
            <a:xfrm>
              <a:off x="3406680" y="262080"/>
              <a:ext cx="1206360" cy="120168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The SupplierCode is being used as the key, so the SupplierCode is moved to the Relative key area.  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" name=""/>
          <p:cNvGrpSpPr/>
          <p:nvPr/>
        </p:nvGrpSpPr>
        <p:grpSpPr>
          <a:xfrm>
            <a:off x="333360" y="501480"/>
            <a:ext cx="4353120" cy="1168560"/>
            <a:chOff x="333360" y="501480"/>
            <a:chExt cx="4353120" cy="1168560"/>
          </a:xfrm>
        </p:grpSpPr>
        <p:sp>
          <p:nvSpPr>
            <p:cNvPr id="41" name=""/>
            <p:cNvSpPr/>
            <p:nvPr/>
          </p:nvSpPr>
          <p:spPr>
            <a:xfrm>
              <a:off x="333360" y="1511280"/>
              <a:ext cx="3619440" cy="15876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 txBox="1"/>
            <p:nvPr/>
          </p:nvSpPr>
          <p:spPr>
            <a:xfrm>
              <a:off x="3324240" y="501480"/>
              <a:ext cx="1362240" cy="113040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We want to write the Supplier record to the Relative file so we move it to the Relative file’s record buffer.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" name=""/>
          <p:cNvGrpSpPr/>
          <p:nvPr/>
        </p:nvGrpSpPr>
        <p:grpSpPr>
          <a:xfrm>
            <a:off x="333360" y="341280"/>
            <a:ext cx="4373640" cy="1886040"/>
            <a:chOff x="333360" y="341280"/>
            <a:chExt cx="4373640" cy="1886040"/>
          </a:xfrm>
        </p:grpSpPr>
        <p:sp>
          <p:nvSpPr>
            <p:cNvPr id="44" name=""/>
            <p:cNvSpPr txBox="1"/>
            <p:nvPr/>
          </p:nvSpPr>
          <p:spPr>
            <a:xfrm>
              <a:off x="3324240" y="341280"/>
              <a:ext cx="1382760" cy="116208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The WRITE statement uses the value in the Relative Key area to write the contents of the record buffer directly to the file.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333360" y="1654200"/>
              <a:ext cx="3618000" cy="57312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" name=""/>
          <p:cNvGrpSpPr/>
          <p:nvPr/>
        </p:nvGrpSpPr>
        <p:grpSpPr>
          <a:xfrm>
            <a:off x="333360" y="157320"/>
            <a:ext cx="4359240" cy="1927080"/>
            <a:chOff x="333360" y="157320"/>
            <a:chExt cx="4359240" cy="1927080"/>
          </a:xfrm>
        </p:grpSpPr>
        <p:sp>
          <p:nvSpPr>
            <p:cNvPr id="47" name=""/>
            <p:cNvSpPr/>
            <p:nvPr/>
          </p:nvSpPr>
          <p:spPr>
            <a:xfrm>
              <a:off x="333360" y="1779480"/>
              <a:ext cx="3627360" cy="30492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 txBox="1"/>
            <p:nvPr/>
          </p:nvSpPr>
          <p:spPr>
            <a:xfrm>
              <a:off x="3282840" y="157320"/>
              <a:ext cx="1409760" cy="169236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The INVALID KEY clause will activate if anything goes wrong with the attempt to WRITE the record.  For instance, a record with this Relative Record Number might already exist in the file.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" name=""/>
          <p:cNvSpPr txBox="1"/>
          <p:nvPr/>
        </p:nvSpPr>
        <p:spPr>
          <a:xfrm>
            <a:off x="111240" y="219240"/>
            <a:ext cx="4048200" cy="30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OUTPUT SupplierFile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INPUT SupplierFileSeq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READ SupplierFileSeq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AT END SET EndOfFile TO 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PERFORM UNTIL EndOfFile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MOVE SupplierCodeSeq TO SupplierKey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MOVE SupplierRecordSeq TO SupplierRecord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WRITE SupplierRecord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INVALID KEY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DISPLAY "SUPP STATUS :-", SupplierStatus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END-WRITE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READ SupplierFileSeq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AT END SET EndOfFile TO 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CLOSE  SupplierFile, SupplierFileSeg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