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4762500" cy="304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0">
    <p:spTree>
      <p:nvGrpSpPr>
        <p:cNvPr id="1" name=""/>
        <p:cNvGrpSpPr/>
        <p:nvPr/>
      </p:nvGrpSpPr>
      <p:grpSpPr>
        <a:xfrm>
          <a:off x="0" y="0"/>
          <a:ext cx="0" cy="0"/>
          <a:chOff x="0" y="0"/>
          <a:chExt cx="0" cy="0"/>
        </a:xfrm>
      </p:grpSpPr>
      <p:sp>
        <p:nvSpPr>
          <p:cNvPr id="6" name="PlaceHolder 1"/>
          <p:cNvSpPr>
            <a:spLocks noGrp="1"/>
          </p:cNvSpPr>
          <p:nvPr>
            <p:ph type="title"/>
          </p:nvPr>
        </p:nvSpPr>
        <p:spPr>
          <a:xfrm>
            <a:off x="237960" y="63000"/>
            <a:ext cx="42858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7" name="PlaceHolder 2"/>
          <p:cNvSpPr>
            <a:spLocks noGrp="1"/>
          </p:cNvSpPr>
          <p:nvPr>
            <p:ph type="subTitle"/>
          </p:nvPr>
        </p:nvSpPr>
        <p:spPr>
          <a:xfrm>
            <a:off x="237960" y="713160"/>
            <a:ext cx="4285800" cy="17672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0">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
          <p:cNvSpPr/>
          <p:nvPr/>
        </p:nvSpPr>
        <p:spPr>
          <a:xfrm>
            <a:off x="0" y="0"/>
            <a:ext cx="4762440" cy="3048120"/>
          </a:xfrm>
          <a:prstGeom prst="rect">
            <a:avLst/>
          </a:prstGeom>
          <a:solidFill>
            <a:srgbClr val="FFFFFF"/>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 name=""/>
          <p:cNvSpPr/>
          <p:nvPr/>
        </p:nvSpPr>
        <p:spPr>
          <a:xfrm>
            <a:off x="9360" y="9360"/>
            <a:ext cx="4746600" cy="3032280"/>
          </a:xfrm>
          <a:prstGeom prst="rect">
            <a:avLst/>
          </a:prstGeom>
          <a:no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4" name="PlaceHolder 1"/>
          <p:cNvSpPr>
            <a:spLocks noGrp="1"/>
          </p:cNvSpPr>
          <p:nvPr>
            <p:ph type="title"/>
          </p:nvPr>
        </p:nvSpPr>
        <p:spPr>
          <a:xfrm>
            <a:off x="237960" y="121320"/>
            <a:ext cx="4285800" cy="50832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237960" y="713160"/>
            <a:ext cx="4285800" cy="1767240"/>
          </a:xfrm>
          <a:prstGeom prst="rect">
            <a:avLst/>
          </a:prstGeom>
          <a:noFill/>
          <a:ln w="0">
            <a:noFill/>
          </a:ln>
        </p:spPr>
        <p:txBody>
          <a:bodyPr lIns="0" tIns="0" rIns="0" bIns="0" anchor="t">
            <a:normAutofit fontScale="62500" lnSpcReduction="19999"/>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
          <p:cNvSpPr txBox="1"/>
          <p:nvPr/>
        </p:nvSpPr>
        <p:spPr>
          <a:xfrm>
            <a:off x="87480" y="317520"/>
            <a:ext cx="4573440" cy="2681280"/>
          </a:xfrm>
          <a:prstGeom prst="rect">
            <a:avLst/>
          </a:prstGeom>
          <a:noFill/>
          <a:ln w="0">
            <a:noFill/>
          </a:ln>
        </p:spPr>
        <p:txBody>
          <a:bodyPr lIns="0" tIns="0" rIns="0" bIns="0" anchor="t">
            <a:spAutoFit/>
          </a:bodyPr>
          <a:p>
            <a:pPr algn="ctr">
              <a:lnSpc>
                <a:spcPct val="100000"/>
              </a:lnSpc>
            </a:pPr>
            <a:r>
              <a:rPr lang="en-US" sz="2400" b="0" u="none" strike="noStrike">
                <a:solidFill>
                  <a:srgbClr val="CC0000"/>
                </a:solidFill>
                <a:effectLst/>
                <a:uFillTx/>
                <a:latin typeface="Arial"/>
                <a:ea typeface="Arial"/>
              </a:rPr>
              <a:t>Reference Modification</a:t>
            </a:r>
            <a:endParaRPr lang="en-US" sz="2400" b="0" u="none" strike="noStrike">
              <a:solidFill>
                <a:srgbClr val="000000"/>
              </a:solidFill>
              <a:effectLst/>
              <a:uFillTx/>
              <a:latin typeface="Arial"/>
            </a:endParaRPr>
          </a:p>
          <a:p>
            <a:pPr algn="ctr">
              <a:lnSpc>
                <a:spcPct val="100000"/>
              </a:lnSpc>
            </a:pPr>
            <a:r>
              <a:rPr lang="en-US" sz="2000" b="0" u="none" strike="noStrike">
                <a:solidFill>
                  <a:srgbClr val="CC0000"/>
                </a:solidFill>
                <a:effectLst/>
                <a:uFillTx/>
                <a:latin typeface="Arial"/>
                <a:ea typeface="Arial"/>
              </a:rPr>
              <a:t>xString examples</a:t>
            </a:r>
            <a:endParaRPr lang="en-US" sz="2000" b="0" u="none" strike="noStrike">
              <a:solidFill>
                <a:srgbClr val="000000"/>
              </a:solidFill>
              <a:effectLst/>
              <a:uFillTx/>
              <a:latin typeface="Arial"/>
            </a:endParaRPr>
          </a:p>
          <a:p>
            <a:pPr algn="ctr">
              <a:lnSpc>
                <a:spcPct val="100000"/>
              </a:lnSpc>
            </a:pPr>
            <a:endParaRPr lang="en-US" sz="1200" b="0" u="none" strike="noStrike">
              <a:solidFill>
                <a:srgbClr val="000000"/>
              </a:solidFill>
              <a:effectLst/>
              <a:uFillTx/>
              <a:latin typeface="Arial"/>
            </a:endParaRPr>
          </a:p>
          <a:p>
            <a:pPr algn="ctr">
              <a:lnSpc>
                <a:spcPct val="100000"/>
              </a:lnSpc>
            </a:pPr>
            <a:r>
              <a:rPr lang="en-US" sz="1200" b="1" u="none" strike="noStrike">
                <a:solidFill>
                  <a:srgbClr val="000000"/>
                </a:solidFill>
                <a:effectLst/>
                <a:uFillTx/>
                <a:latin typeface="Times New Roman"/>
                <a:ea typeface="Times New Roman"/>
              </a:rPr>
              <a:t>Instructions</a:t>
            </a:r>
            <a:endParaRPr lang="en-US" sz="12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ea typeface="Times New Roman"/>
              </a:rPr>
              <a:t>These examples work on the data items defined above. Reference Modification is used to manipulate the text contained in xString.</a:t>
            </a:r>
            <a:endParaRPr lang="en-US" sz="10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ea typeface="Times New Roman"/>
              </a:rPr>
              <a:t>  </a:t>
            </a:r>
            <a:endParaRPr lang="en-US" sz="10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ea typeface="Times New Roman"/>
              </a:rPr>
              <a:t>To get maximum benefit from these examples try to see if you can work out for yourself what will happen before revealing the answer by clicking through the frames. </a:t>
            </a:r>
            <a:endParaRPr lang="en-US" sz="1000" b="0" u="none" strike="noStrike">
              <a:solidFill>
                <a:srgbClr val="000000"/>
              </a:solidFill>
              <a:effectLst/>
              <a:uFillTx/>
              <a:latin typeface="Arial"/>
            </a:endParaRPr>
          </a:p>
          <a:p>
            <a:pPr>
              <a:lnSpc>
                <a:spcPct val="100000"/>
              </a:lnSpc>
            </a:pPr>
            <a:endParaRPr lang="en-US" sz="1000" b="0" u="none" strike="noStrike">
              <a:solidFill>
                <a:srgbClr val="000000"/>
              </a:solidFill>
              <a:effectLst/>
              <a:uFillTx/>
              <a:latin typeface="Arial"/>
            </a:endParaRPr>
          </a:p>
          <a:p>
            <a:pPr algn="ctr">
              <a:lnSpc>
                <a:spcPct val="100000"/>
              </a:lnSpc>
            </a:pPr>
            <a:r>
              <a:rPr lang="en-US" sz="1200" b="1" u="none" strike="noStrike">
                <a:solidFill>
                  <a:srgbClr val="000000"/>
                </a:solidFill>
                <a:effectLst/>
                <a:uFillTx/>
                <a:latin typeface="Times New Roman"/>
                <a:ea typeface="Times New Roman"/>
              </a:rPr>
              <a:t>Viewing frames</a:t>
            </a:r>
            <a:endParaRPr lang="en-US" sz="1200" b="0" u="none" strike="noStrike">
              <a:solidFill>
                <a:srgbClr val="000000"/>
              </a:solidFill>
              <a:effectLst/>
              <a:uFillTx/>
              <a:latin typeface="Arial"/>
            </a:endParaRPr>
          </a:p>
          <a:p>
            <a:pPr>
              <a:lnSpc>
                <a:spcPct val="100000"/>
              </a:lnSpc>
            </a:pPr>
            <a:r>
              <a:rPr lang="en-US" sz="1000" b="0" u="none" strike="noStrike">
                <a:solidFill>
                  <a:srgbClr val="000000"/>
                </a:solidFill>
                <a:effectLst/>
                <a:uFillTx/>
                <a:latin typeface="Times New Roman"/>
                <a:ea typeface="Times New Roman"/>
              </a:rPr>
              <a:t>Click on this text to see the first example then left click (or press the Page Up key) to see the next frame and right click (or press Page Down)  to see the previous frame.</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0"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1" name=""/>
          <p:cNvSpPr txBox="1"/>
          <p:nvPr/>
        </p:nvSpPr>
        <p:spPr>
          <a:xfrm>
            <a:off x="60480" y="115884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xString(9:3).</a:t>
            </a:r>
            <a:endParaRPr lang="en-US" sz="1600" b="0" u="none" strike="noStrike">
              <a:solidFill>
                <a:srgbClr val="000000"/>
              </a:solidFill>
              <a:effectLst/>
              <a:uFillTx/>
              <a:latin typeface="Arial"/>
            </a:endParaRPr>
          </a:p>
        </p:txBody>
      </p:sp>
      <p:sp>
        <p:nvSpPr>
          <p:cNvPr id="12"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3333CC"/>
                </a:solidFill>
                <a:effectLst/>
                <a:uFillTx/>
                <a:latin typeface="Arial"/>
                <a:ea typeface="Arial"/>
              </a:rPr>
              <a:t>xString</a:t>
            </a:r>
            <a:endParaRPr lang="en-US" sz="1600" b="0" u="none" strike="noStrike">
              <a:solidFill>
                <a:srgbClr val="000000"/>
              </a:solidFill>
              <a:effectLst/>
              <a:uFillTx/>
              <a:latin typeface="Arial"/>
            </a:endParaRPr>
          </a:p>
        </p:txBody>
      </p:sp>
      <p:sp>
        <p:nvSpPr>
          <p:cNvPr id="13"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4" name=""/>
          <p:cNvSpPr txBox="1"/>
          <p:nvPr/>
        </p:nvSpPr>
        <p:spPr>
          <a:xfrm>
            <a:off x="31680" y="2717640"/>
            <a:ext cx="539640" cy="304920"/>
          </a:xfrm>
          <a:prstGeom prst="rect">
            <a:avLst/>
          </a:prstGeom>
          <a:noFill/>
          <a:ln w="0">
            <a:noFill/>
          </a:ln>
        </p:spPr>
        <p:txBody>
          <a:bodyPr lIns="0" tIns="0" rIns="0" bIns="0" anchor="t">
            <a:spAutoFit/>
          </a:bodyPr>
          <a:p>
            <a:pPr>
              <a:lnSpc>
                <a:spcPct val="100000"/>
              </a:lnSpc>
            </a:pPr>
            <a:r>
              <a:rPr lang="en-US" sz="1400" b="0" u="none" strike="noStrike">
                <a:solidFill>
                  <a:srgbClr val="3333CC"/>
                </a:solidFill>
                <a:effectLst/>
                <a:uFillTx/>
                <a:latin typeface="Arial"/>
                <a:ea typeface="Arial"/>
              </a:rPr>
              <a:t>EG1</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6"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7" name=""/>
          <p:cNvSpPr txBox="1"/>
          <p:nvPr/>
        </p:nvSpPr>
        <p:spPr>
          <a:xfrm>
            <a:off x="60480" y="115884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xString(9:3).</a:t>
            </a:r>
            <a:endParaRPr lang="en-US" sz="1600" b="0" u="none" strike="noStrike">
              <a:solidFill>
                <a:srgbClr val="000000"/>
              </a:solidFill>
              <a:effectLst/>
              <a:uFillTx/>
              <a:latin typeface="Arial"/>
            </a:endParaRPr>
          </a:p>
        </p:txBody>
      </p:sp>
      <p:sp>
        <p:nvSpPr>
          <p:cNvPr id="18"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19" name=""/>
          <p:cNvSpPr/>
          <p:nvPr/>
        </p:nvSpPr>
        <p:spPr>
          <a:xfrm>
            <a:off x="1028880" y="343080"/>
            <a:ext cx="0" cy="28548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0"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1" name=""/>
          <p:cNvSpPr/>
          <p:nvPr/>
        </p:nvSpPr>
        <p:spPr>
          <a:xfrm flipH="1" flipV="1">
            <a:off x="1114560" y="743040"/>
            <a:ext cx="961920" cy="52380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a:t>
            </a:r>
            <a:r>
              <a:rPr lang="en-US" sz="1600" b="1" u="none" strike="noStrike">
                <a:solidFill>
                  <a:srgbClr val="FF3300"/>
                </a:solidFill>
                <a:effectLst/>
                <a:uFillTx/>
                <a:latin typeface="Courier New"/>
                <a:ea typeface="Courier New"/>
              </a:rPr>
              <a:t>the</a:t>
            </a:r>
            <a:r>
              <a:rPr lang="en-US" sz="1600" b="1" u="none" strike="noStrike">
                <a:solidFill>
                  <a:srgbClr val="000000"/>
                </a:solidFill>
                <a:effectLst/>
                <a:uFillTx/>
                <a:latin typeface="Courier New"/>
                <a:ea typeface="Courier New"/>
              </a:rPr>
              <a:t>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23"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24" name=""/>
          <p:cNvSpPr txBox="1"/>
          <p:nvPr/>
        </p:nvSpPr>
        <p:spPr>
          <a:xfrm>
            <a:off x="60480" y="115884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xString(9:3).</a:t>
            </a:r>
            <a:endParaRPr lang="en-US" sz="1600" b="0" u="none" strike="noStrike">
              <a:solidFill>
                <a:srgbClr val="000000"/>
              </a:solidFill>
              <a:effectLst/>
              <a:uFillTx/>
              <a:latin typeface="Arial"/>
            </a:endParaRPr>
          </a:p>
        </p:txBody>
      </p:sp>
      <p:sp>
        <p:nvSpPr>
          <p:cNvPr id="25"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26" name=""/>
          <p:cNvSpPr/>
          <p:nvPr/>
        </p:nvSpPr>
        <p:spPr>
          <a:xfrm>
            <a:off x="1028880" y="343080"/>
            <a:ext cx="0" cy="28548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7" name=""/>
          <p:cNvSpPr/>
          <p:nvPr/>
        </p:nvSpPr>
        <p:spPr>
          <a:xfrm>
            <a:off x="1028880" y="628560"/>
            <a:ext cx="380880" cy="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8"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9" name=""/>
          <p:cNvSpPr/>
          <p:nvPr/>
        </p:nvSpPr>
        <p:spPr>
          <a:xfrm flipH="1" flipV="1">
            <a:off x="1257480" y="657360"/>
            <a:ext cx="1114200" cy="60948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a:t>
            </a:r>
            <a:r>
              <a:rPr lang="en-US" sz="1600" b="1" u="none" strike="noStrike">
                <a:solidFill>
                  <a:srgbClr val="FF3300"/>
                </a:solidFill>
                <a:effectLst/>
                <a:uFillTx/>
                <a:latin typeface="Courier New"/>
                <a:ea typeface="Courier New"/>
              </a:rPr>
              <a:t>the</a:t>
            </a:r>
            <a:r>
              <a:rPr lang="en-US" sz="1600" b="1" u="none" strike="noStrike">
                <a:solidFill>
                  <a:srgbClr val="000000"/>
                </a:solidFill>
                <a:effectLst/>
                <a:uFillTx/>
                <a:latin typeface="Courier New"/>
                <a:ea typeface="Courier New"/>
              </a:rPr>
              <a:t>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31"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32" name=""/>
          <p:cNvSpPr txBox="1"/>
          <p:nvPr/>
        </p:nvSpPr>
        <p:spPr>
          <a:xfrm>
            <a:off x="60480" y="115884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FF3300"/>
                </a:solidFill>
                <a:effectLst/>
                <a:uFillTx/>
                <a:latin typeface="Courier New"/>
                <a:ea typeface="Courier New"/>
              </a:rPr>
              <a:t>DISPLAY xString(9:3).</a:t>
            </a:r>
            <a:endParaRPr lang="en-US" sz="1600" b="0" u="none" strike="noStrike">
              <a:solidFill>
                <a:srgbClr val="000000"/>
              </a:solidFill>
              <a:effectLst/>
              <a:uFillTx/>
              <a:latin typeface="Arial"/>
            </a:endParaRPr>
          </a:p>
        </p:txBody>
      </p:sp>
      <p:sp>
        <p:nvSpPr>
          <p:cNvPr id="33"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34" name=""/>
          <p:cNvSpPr txBox="1"/>
          <p:nvPr/>
        </p:nvSpPr>
        <p:spPr>
          <a:xfrm>
            <a:off x="1193760" y="2173320"/>
            <a:ext cx="3346560" cy="66528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100000"/>
              </a:lnSpc>
            </a:pPr>
            <a:r>
              <a:rPr lang="en-US" sz="1800" b="1" u="none" strike="noStrike">
                <a:solidFill>
                  <a:srgbClr val="009900"/>
                </a:solidFill>
                <a:effectLst/>
                <a:uFillTx/>
                <a:latin typeface="Arial"/>
                <a:ea typeface="Arial"/>
              </a:rPr>
              <a:t>the</a:t>
            </a:r>
            <a:endParaRPr lang="en-US" sz="1800" b="0" u="none" strike="noStrike">
              <a:solidFill>
                <a:srgbClr val="000000"/>
              </a:solidFill>
              <a:effectLst/>
              <a:uFillTx/>
              <a:latin typeface="Arial"/>
            </a:endParaRPr>
          </a:p>
        </p:txBody>
      </p:sp>
      <p:sp>
        <p:nvSpPr>
          <p:cNvPr id="35" name=""/>
          <p:cNvSpPr/>
          <p:nvPr/>
        </p:nvSpPr>
        <p:spPr>
          <a:xfrm>
            <a:off x="1400040" y="1486080"/>
            <a:ext cx="0" cy="85716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37"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38" name=""/>
          <p:cNvSpPr txBox="1"/>
          <p:nvPr/>
        </p:nvSpPr>
        <p:spPr>
          <a:xfrm>
            <a:off x="60480" y="1158840"/>
            <a:ext cx="433080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xString(13:SubStrSize).</a:t>
            </a:r>
            <a:endParaRPr lang="en-US" sz="1600" b="0" u="none" strike="noStrike">
              <a:solidFill>
                <a:srgbClr val="000000"/>
              </a:solidFill>
              <a:effectLst/>
              <a:uFillTx/>
              <a:latin typeface="Arial"/>
            </a:endParaRPr>
          </a:p>
        </p:txBody>
      </p:sp>
      <p:sp>
        <p:nvSpPr>
          <p:cNvPr id="39"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3333CC"/>
                </a:solidFill>
                <a:effectLst/>
                <a:uFillTx/>
                <a:latin typeface="Arial"/>
                <a:ea typeface="Arial"/>
              </a:rPr>
              <a:t>xString</a:t>
            </a:r>
            <a:endParaRPr lang="en-US" sz="1600" b="0" u="none" strike="noStrike">
              <a:solidFill>
                <a:srgbClr val="000000"/>
              </a:solidFill>
              <a:effectLst/>
              <a:uFillTx/>
              <a:latin typeface="Arial"/>
            </a:endParaRPr>
          </a:p>
        </p:txBody>
      </p:sp>
      <p:sp>
        <p:nvSpPr>
          <p:cNvPr id="40"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41" name=""/>
          <p:cNvSpPr txBox="1"/>
          <p:nvPr/>
        </p:nvSpPr>
        <p:spPr>
          <a:xfrm>
            <a:off x="31680" y="2717640"/>
            <a:ext cx="539640" cy="304920"/>
          </a:xfrm>
          <a:prstGeom prst="rect">
            <a:avLst/>
          </a:prstGeom>
          <a:noFill/>
          <a:ln w="0">
            <a:noFill/>
          </a:ln>
        </p:spPr>
        <p:txBody>
          <a:bodyPr lIns="0" tIns="0" rIns="0" bIns="0" anchor="t">
            <a:spAutoFit/>
          </a:bodyPr>
          <a:p>
            <a:pPr>
              <a:lnSpc>
                <a:spcPct val="100000"/>
              </a:lnSpc>
            </a:pPr>
            <a:r>
              <a:rPr lang="en-US" sz="1400" b="0" u="none" strike="noStrike">
                <a:solidFill>
                  <a:srgbClr val="3333CC"/>
                </a:solidFill>
                <a:effectLst/>
                <a:uFillTx/>
                <a:latin typeface="Arial"/>
                <a:ea typeface="Arial"/>
              </a:rPr>
              <a:t>EG2</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43"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44" name=""/>
          <p:cNvSpPr txBox="1"/>
          <p:nvPr/>
        </p:nvSpPr>
        <p:spPr>
          <a:xfrm>
            <a:off x="60480" y="1158840"/>
            <a:ext cx="433080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xString(13:SubStrSize).</a:t>
            </a:r>
            <a:endParaRPr lang="en-US" sz="1600" b="0" u="none" strike="noStrike">
              <a:solidFill>
                <a:srgbClr val="000000"/>
              </a:solidFill>
              <a:effectLst/>
              <a:uFillTx/>
              <a:latin typeface="Arial"/>
            </a:endParaRPr>
          </a:p>
        </p:txBody>
      </p:sp>
      <p:sp>
        <p:nvSpPr>
          <p:cNvPr id="45"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46" name=""/>
          <p:cNvSpPr/>
          <p:nvPr/>
        </p:nvSpPr>
        <p:spPr>
          <a:xfrm>
            <a:off x="1523880" y="35244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47"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48" name=""/>
          <p:cNvSpPr/>
          <p:nvPr/>
        </p:nvSpPr>
        <p:spPr>
          <a:xfrm flipH="1" flipV="1">
            <a:off x="1609560" y="752400"/>
            <a:ext cx="495360" cy="49536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t>
            </a:r>
            <a:r>
              <a:rPr lang="en-US" sz="1600" b="1" u="none" strike="noStrike">
                <a:solidFill>
                  <a:srgbClr val="FF3300"/>
                </a:solidFill>
                <a:effectLst/>
                <a:uFillTx/>
                <a:latin typeface="Courier New"/>
                <a:ea typeface="Courier New"/>
              </a:rPr>
              <a:t>alphanumeric</a:t>
            </a:r>
            <a:r>
              <a:rPr lang="en-US" sz="1600" b="1" u="none" strike="noStrike">
                <a:solidFill>
                  <a:srgbClr val="000000"/>
                </a:solidFill>
                <a:effectLst/>
                <a:uFillTx/>
                <a:latin typeface="Courier New"/>
                <a:ea typeface="Courier New"/>
              </a:rPr>
              <a:t>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50"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51" name=""/>
          <p:cNvSpPr txBox="1"/>
          <p:nvPr/>
        </p:nvSpPr>
        <p:spPr>
          <a:xfrm>
            <a:off x="60480" y="1158840"/>
            <a:ext cx="433080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xString(13:SubStrSize).</a:t>
            </a:r>
            <a:endParaRPr lang="en-US" sz="1600" b="0" u="none" strike="noStrike">
              <a:solidFill>
                <a:srgbClr val="000000"/>
              </a:solidFill>
              <a:effectLst/>
              <a:uFillTx/>
              <a:latin typeface="Arial"/>
            </a:endParaRPr>
          </a:p>
        </p:txBody>
      </p:sp>
      <p:sp>
        <p:nvSpPr>
          <p:cNvPr id="52"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53" name=""/>
          <p:cNvSpPr/>
          <p:nvPr/>
        </p:nvSpPr>
        <p:spPr>
          <a:xfrm>
            <a:off x="1523880" y="35244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54" name=""/>
          <p:cNvSpPr/>
          <p:nvPr/>
        </p:nvSpPr>
        <p:spPr>
          <a:xfrm>
            <a:off x="1533600" y="638280"/>
            <a:ext cx="1476360" cy="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55"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56" name=""/>
          <p:cNvSpPr/>
          <p:nvPr/>
        </p:nvSpPr>
        <p:spPr>
          <a:xfrm flipH="1" flipV="1">
            <a:off x="2495520" y="666720"/>
            <a:ext cx="324000" cy="55260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7" name=""/>
          <p:cNvSpPr txBox="1"/>
          <p:nvPr/>
        </p:nvSpPr>
        <p:spPr>
          <a:xfrm>
            <a:off x="2908440" y="1135080"/>
            <a:ext cx="325440" cy="244440"/>
          </a:xfrm>
          <a:prstGeom prst="rect">
            <a:avLst/>
          </a:prstGeom>
          <a:noFill/>
          <a:ln w="0">
            <a:noFill/>
          </a:ln>
        </p:spPr>
        <p:txBody>
          <a:bodyPr lIns="0" tIns="0" rIns="0" bIns="0" anchor="t">
            <a:spAutoFit/>
          </a:bodyPr>
          <a:p>
            <a:pPr>
              <a:lnSpc>
                <a:spcPct val="100000"/>
              </a:lnSpc>
            </a:pPr>
            <a:r>
              <a:rPr lang="en-US" sz="1000" b="1" u="none" strike="noStrike">
                <a:solidFill>
                  <a:srgbClr val="FF3300"/>
                </a:solidFill>
                <a:effectLst/>
                <a:uFillTx/>
                <a:latin typeface="Arial"/>
                <a:ea typeface="Arial"/>
              </a:rPr>
              <a:t>12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t>
            </a:r>
            <a:r>
              <a:rPr lang="en-US" sz="1600" b="1" u="none" strike="noStrike">
                <a:solidFill>
                  <a:srgbClr val="FF3300"/>
                </a:solidFill>
                <a:effectLst/>
                <a:uFillTx/>
                <a:latin typeface="Courier New"/>
                <a:ea typeface="Courier New"/>
              </a:rPr>
              <a:t>alphanumeric</a:t>
            </a:r>
            <a:r>
              <a:rPr lang="en-US" sz="1600" b="1" u="none" strike="noStrike">
                <a:solidFill>
                  <a:srgbClr val="000000"/>
                </a:solidFill>
                <a:effectLst/>
                <a:uFillTx/>
                <a:latin typeface="Courier New"/>
                <a:ea typeface="Courier New"/>
              </a:rPr>
              <a:t>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59"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60" name=""/>
          <p:cNvSpPr txBox="1"/>
          <p:nvPr/>
        </p:nvSpPr>
        <p:spPr>
          <a:xfrm>
            <a:off x="60480" y="1158840"/>
            <a:ext cx="433080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FF3300"/>
                </a:solidFill>
                <a:effectLst/>
                <a:uFillTx/>
                <a:latin typeface="Courier New"/>
                <a:ea typeface="Courier New"/>
              </a:rPr>
              <a:t>DISPLAY xString(13:SubStrSize).</a:t>
            </a:r>
            <a:endParaRPr lang="en-US" sz="1600" b="0" u="none" strike="noStrike">
              <a:solidFill>
                <a:srgbClr val="000000"/>
              </a:solidFill>
              <a:effectLst/>
              <a:uFillTx/>
              <a:latin typeface="Arial"/>
            </a:endParaRPr>
          </a:p>
        </p:txBody>
      </p:sp>
      <p:sp>
        <p:nvSpPr>
          <p:cNvPr id="61"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62" name=""/>
          <p:cNvSpPr txBox="1"/>
          <p:nvPr/>
        </p:nvSpPr>
        <p:spPr>
          <a:xfrm>
            <a:off x="1193760" y="2173320"/>
            <a:ext cx="3346560" cy="66528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100000"/>
              </a:lnSpc>
            </a:pPr>
            <a:r>
              <a:rPr lang="en-US" sz="1800" b="1" u="none" strike="noStrike">
                <a:solidFill>
                  <a:srgbClr val="009900"/>
                </a:solidFill>
                <a:effectLst/>
                <a:uFillTx/>
                <a:latin typeface="Arial"/>
                <a:ea typeface="Arial"/>
              </a:rPr>
              <a:t>alphanumeric</a:t>
            </a:r>
            <a:endParaRPr lang="en-US" sz="1800" b="0" u="none" strike="noStrike">
              <a:solidFill>
                <a:srgbClr val="000000"/>
              </a:solidFill>
              <a:effectLst/>
              <a:uFillTx/>
              <a:latin typeface="Arial"/>
            </a:endParaRPr>
          </a:p>
        </p:txBody>
      </p:sp>
      <p:sp>
        <p:nvSpPr>
          <p:cNvPr id="63" name=""/>
          <p:cNvSpPr/>
          <p:nvPr/>
        </p:nvSpPr>
        <p:spPr>
          <a:xfrm>
            <a:off x="1400040" y="1486080"/>
            <a:ext cx="0" cy="85716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65"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66" name=""/>
          <p:cNvSpPr txBox="1"/>
          <p:nvPr/>
        </p:nvSpPr>
        <p:spPr>
          <a:xfrm>
            <a:off x="60480" y="1158840"/>
            <a:ext cx="346392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xString(StartPos:).</a:t>
            </a:r>
            <a:endParaRPr lang="en-US" sz="1600" b="0" u="none" strike="noStrike">
              <a:solidFill>
                <a:srgbClr val="000000"/>
              </a:solidFill>
              <a:effectLst/>
              <a:uFillTx/>
              <a:latin typeface="Arial"/>
            </a:endParaRPr>
          </a:p>
        </p:txBody>
      </p:sp>
      <p:sp>
        <p:nvSpPr>
          <p:cNvPr id="67"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3333CC"/>
                </a:solidFill>
                <a:effectLst/>
                <a:uFillTx/>
                <a:latin typeface="Arial"/>
                <a:ea typeface="Arial"/>
              </a:rPr>
              <a:t>xString</a:t>
            </a:r>
            <a:endParaRPr lang="en-US" sz="1600" b="0" u="none" strike="noStrike">
              <a:solidFill>
                <a:srgbClr val="000000"/>
              </a:solidFill>
              <a:effectLst/>
              <a:uFillTx/>
              <a:latin typeface="Arial"/>
            </a:endParaRPr>
          </a:p>
        </p:txBody>
      </p:sp>
      <p:sp>
        <p:nvSpPr>
          <p:cNvPr id="68"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69" name=""/>
          <p:cNvSpPr txBox="1"/>
          <p:nvPr/>
        </p:nvSpPr>
        <p:spPr>
          <a:xfrm>
            <a:off x="31680" y="2717640"/>
            <a:ext cx="539640" cy="304920"/>
          </a:xfrm>
          <a:prstGeom prst="rect">
            <a:avLst/>
          </a:prstGeom>
          <a:noFill/>
          <a:ln w="0">
            <a:noFill/>
          </a:ln>
        </p:spPr>
        <p:txBody>
          <a:bodyPr lIns="0" tIns="0" rIns="0" bIns="0" anchor="t">
            <a:spAutoFit/>
          </a:bodyPr>
          <a:p>
            <a:pPr>
              <a:lnSpc>
                <a:spcPct val="100000"/>
              </a:lnSpc>
            </a:pPr>
            <a:r>
              <a:rPr lang="en-US" sz="1400" b="0" u="none" strike="noStrike">
                <a:solidFill>
                  <a:srgbClr val="3333CC"/>
                </a:solidFill>
                <a:effectLst/>
                <a:uFillTx/>
                <a:latin typeface="Arial"/>
                <a:ea typeface="Arial"/>
              </a:rPr>
              <a:t>EG3</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71"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72" name=""/>
          <p:cNvSpPr txBox="1"/>
          <p:nvPr/>
        </p:nvSpPr>
        <p:spPr>
          <a:xfrm>
            <a:off x="60480" y="1158840"/>
            <a:ext cx="346392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xString(StartPos:).</a:t>
            </a:r>
            <a:endParaRPr lang="en-US" sz="1600" b="0" u="none" strike="noStrike">
              <a:solidFill>
                <a:srgbClr val="000000"/>
              </a:solidFill>
              <a:effectLst/>
              <a:uFillTx/>
              <a:latin typeface="Arial"/>
            </a:endParaRPr>
          </a:p>
        </p:txBody>
      </p:sp>
      <p:sp>
        <p:nvSpPr>
          <p:cNvPr id="73"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74" name=""/>
          <p:cNvSpPr/>
          <p:nvPr/>
        </p:nvSpPr>
        <p:spPr>
          <a:xfrm>
            <a:off x="2133720" y="35244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75"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76" name=""/>
          <p:cNvSpPr/>
          <p:nvPr/>
        </p:nvSpPr>
        <p:spPr>
          <a:xfrm flipH="1" flipV="1">
            <a:off x="2219400" y="752400"/>
            <a:ext cx="266760" cy="42876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77" name=""/>
          <p:cNvSpPr txBox="1"/>
          <p:nvPr/>
        </p:nvSpPr>
        <p:spPr>
          <a:xfrm>
            <a:off x="2355840" y="1125360"/>
            <a:ext cx="325440" cy="244440"/>
          </a:xfrm>
          <a:prstGeom prst="rect">
            <a:avLst/>
          </a:prstGeom>
          <a:noFill/>
          <a:ln w="0">
            <a:noFill/>
          </a:ln>
        </p:spPr>
        <p:txBody>
          <a:bodyPr lIns="0" tIns="0" rIns="0" bIns="0" anchor="t">
            <a:spAutoFit/>
          </a:bodyPr>
          <a:p>
            <a:pPr>
              <a:lnSpc>
                <a:spcPct val="100000"/>
              </a:lnSpc>
            </a:pPr>
            <a:r>
              <a:rPr lang="en-US" sz="1000" b="1" u="none" strike="noStrike">
                <a:solidFill>
                  <a:srgbClr val="FF3300"/>
                </a:solidFill>
                <a:effectLst/>
                <a:uFillTx/>
                <a:latin typeface="Arial"/>
                <a:ea typeface="Arial"/>
              </a:rPr>
              <a:t>18</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a:t>
            </a:r>
            <a:r>
              <a:rPr lang="en-US" sz="1600" b="1" u="none" strike="noStrike">
                <a:solidFill>
                  <a:srgbClr val="FF3300"/>
                </a:solidFill>
                <a:effectLst/>
                <a:uFillTx/>
                <a:latin typeface="Courier New"/>
                <a:ea typeface="Courier New"/>
              </a:rPr>
              <a:t>numeric</a:t>
            </a:r>
            <a:r>
              <a:rPr lang="en-US" sz="1600" b="1" u="none" strike="noStrike">
                <a:solidFill>
                  <a:srgbClr val="000000"/>
                </a:solidFill>
                <a:effectLst/>
                <a:uFillTx/>
                <a:latin typeface="Courier New"/>
                <a:ea typeface="Courier New"/>
              </a:rPr>
              <a:t> </a:t>
            </a:r>
            <a:r>
              <a:rPr lang="en-US" sz="1600" b="1" u="none" strike="noStrike">
                <a:solidFill>
                  <a:srgbClr val="FF3300"/>
                </a:solidFill>
                <a:effectLst/>
                <a:uFillTx/>
                <a:latin typeface="Courier New"/>
                <a:ea typeface="Courier New"/>
              </a:rPr>
              <a:t>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79"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80" name=""/>
          <p:cNvSpPr txBox="1"/>
          <p:nvPr/>
        </p:nvSpPr>
        <p:spPr>
          <a:xfrm>
            <a:off x="60480" y="1158840"/>
            <a:ext cx="346392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xString(StartPos:).</a:t>
            </a:r>
            <a:endParaRPr lang="en-US" sz="1600" b="0" u="none" strike="noStrike">
              <a:solidFill>
                <a:srgbClr val="000000"/>
              </a:solidFill>
              <a:effectLst/>
              <a:uFillTx/>
              <a:latin typeface="Arial"/>
            </a:endParaRPr>
          </a:p>
        </p:txBody>
      </p:sp>
      <p:sp>
        <p:nvSpPr>
          <p:cNvPr id="81"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82" name=""/>
          <p:cNvSpPr/>
          <p:nvPr/>
        </p:nvSpPr>
        <p:spPr>
          <a:xfrm>
            <a:off x="2133720" y="35244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83" name=""/>
          <p:cNvSpPr/>
          <p:nvPr/>
        </p:nvSpPr>
        <p:spPr>
          <a:xfrm>
            <a:off x="2133720" y="628560"/>
            <a:ext cx="2581200" cy="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84"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85" name=""/>
          <p:cNvSpPr/>
          <p:nvPr/>
        </p:nvSpPr>
        <p:spPr>
          <a:xfrm flipV="1">
            <a:off x="3133800" y="685800"/>
            <a:ext cx="0" cy="64764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86" name=""/>
          <p:cNvSpPr txBox="1"/>
          <p:nvPr/>
        </p:nvSpPr>
        <p:spPr>
          <a:xfrm>
            <a:off x="2746440" y="871560"/>
            <a:ext cx="836640" cy="21420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To end of string</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a:t>
            </a:r>
            <a:r>
              <a:rPr lang="en-US" sz="1600" b="1" u="none" strike="noStrike">
                <a:solidFill>
                  <a:srgbClr val="FF3300"/>
                </a:solidFill>
                <a:effectLst/>
                <a:uFillTx/>
                <a:latin typeface="Courier New"/>
                <a:ea typeface="Courier New"/>
              </a:rPr>
              <a:t>numeric</a:t>
            </a:r>
            <a:r>
              <a:rPr lang="en-US" sz="1600" b="1" u="none" strike="noStrike">
                <a:solidFill>
                  <a:srgbClr val="000000"/>
                </a:solidFill>
                <a:effectLst/>
                <a:uFillTx/>
                <a:latin typeface="Courier New"/>
                <a:ea typeface="Courier New"/>
              </a:rPr>
              <a:t> </a:t>
            </a:r>
            <a:r>
              <a:rPr lang="en-US" sz="1600" b="1" u="none" strike="noStrike">
                <a:solidFill>
                  <a:srgbClr val="FF3300"/>
                </a:solidFill>
                <a:effectLst/>
                <a:uFillTx/>
                <a:latin typeface="Courier New"/>
                <a:ea typeface="Courier New"/>
              </a:rPr>
              <a:t>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88"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89" name=""/>
          <p:cNvSpPr txBox="1"/>
          <p:nvPr/>
        </p:nvSpPr>
        <p:spPr>
          <a:xfrm>
            <a:off x="60480" y="1158840"/>
            <a:ext cx="346392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FF3300"/>
                </a:solidFill>
                <a:effectLst/>
                <a:uFillTx/>
                <a:latin typeface="Courier New"/>
                <a:ea typeface="Courier New"/>
              </a:rPr>
              <a:t>DISPLAY xString(StartPos:).</a:t>
            </a:r>
            <a:endParaRPr lang="en-US" sz="1600" b="0" u="none" strike="noStrike">
              <a:solidFill>
                <a:srgbClr val="000000"/>
              </a:solidFill>
              <a:effectLst/>
              <a:uFillTx/>
              <a:latin typeface="Arial"/>
            </a:endParaRPr>
          </a:p>
        </p:txBody>
      </p:sp>
      <p:sp>
        <p:nvSpPr>
          <p:cNvPr id="90"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91" name=""/>
          <p:cNvSpPr txBox="1"/>
          <p:nvPr/>
        </p:nvSpPr>
        <p:spPr>
          <a:xfrm>
            <a:off x="1193760" y="2173320"/>
            <a:ext cx="3346560" cy="66528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100000"/>
              </a:lnSpc>
            </a:pPr>
            <a:r>
              <a:rPr lang="en-US" sz="1800" b="1" u="none" strike="noStrike">
                <a:solidFill>
                  <a:srgbClr val="009900"/>
                </a:solidFill>
                <a:effectLst/>
                <a:uFillTx/>
                <a:latin typeface="Arial"/>
                <a:ea typeface="Arial"/>
              </a:rPr>
              <a:t>numeric string</a:t>
            </a:r>
            <a:endParaRPr lang="en-US" sz="1800" b="0" u="none" strike="noStrike">
              <a:solidFill>
                <a:srgbClr val="000000"/>
              </a:solidFill>
              <a:effectLst/>
              <a:uFillTx/>
              <a:latin typeface="Arial"/>
            </a:endParaRPr>
          </a:p>
        </p:txBody>
      </p:sp>
      <p:sp>
        <p:nvSpPr>
          <p:cNvPr id="92" name=""/>
          <p:cNvSpPr/>
          <p:nvPr/>
        </p:nvSpPr>
        <p:spPr>
          <a:xfrm>
            <a:off x="1400040" y="1486080"/>
            <a:ext cx="0" cy="85716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94"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95" name=""/>
          <p:cNvSpPr txBox="1"/>
          <p:nvPr/>
        </p:nvSpPr>
        <p:spPr>
          <a:xfrm>
            <a:off x="60480" y="1158840"/>
            <a:ext cx="4349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xString(13:SubStrSize - 7).</a:t>
            </a:r>
            <a:endParaRPr lang="en-US" sz="1600" b="0" u="none" strike="noStrike">
              <a:solidFill>
                <a:srgbClr val="000000"/>
              </a:solidFill>
              <a:effectLst/>
              <a:uFillTx/>
              <a:latin typeface="Arial"/>
            </a:endParaRPr>
          </a:p>
        </p:txBody>
      </p:sp>
      <p:sp>
        <p:nvSpPr>
          <p:cNvPr id="96"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3333CC"/>
                </a:solidFill>
                <a:effectLst/>
                <a:uFillTx/>
                <a:latin typeface="Arial"/>
                <a:ea typeface="Arial"/>
              </a:rPr>
              <a:t>xString</a:t>
            </a:r>
            <a:endParaRPr lang="en-US" sz="1600" b="0" u="none" strike="noStrike">
              <a:solidFill>
                <a:srgbClr val="000000"/>
              </a:solidFill>
              <a:effectLst/>
              <a:uFillTx/>
              <a:latin typeface="Arial"/>
            </a:endParaRPr>
          </a:p>
        </p:txBody>
      </p:sp>
      <p:sp>
        <p:nvSpPr>
          <p:cNvPr id="97"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98" name=""/>
          <p:cNvSpPr txBox="1"/>
          <p:nvPr/>
        </p:nvSpPr>
        <p:spPr>
          <a:xfrm>
            <a:off x="31680" y="2717640"/>
            <a:ext cx="539640" cy="304920"/>
          </a:xfrm>
          <a:prstGeom prst="rect">
            <a:avLst/>
          </a:prstGeom>
          <a:noFill/>
          <a:ln w="0">
            <a:noFill/>
          </a:ln>
        </p:spPr>
        <p:txBody>
          <a:bodyPr lIns="0" tIns="0" rIns="0" bIns="0" anchor="t">
            <a:spAutoFit/>
          </a:bodyPr>
          <a:p>
            <a:pPr>
              <a:lnSpc>
                <a:spcPct val="100000"/>
              </a:lnSpc>
            </a:pPr>
            <a:r>
              <a:rPr lang="en-US" sz="1400" b="0" u="none" strike="noStrike">
                <a:solidFill>
                  <a:srgbClr val="3333CC"/>
                </a:solidFill>
                <a:effectLst/>
                <a:uFillTx/>
                <a:latin typeface="Arial"/>
                <a:ea typeface="Arial"/>
              </a:rPr>
              <a:t>EG4</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00"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01" name=""/>
          <p:cNvSpPr txBox="1"/>
          <p:nvPr/>
        </p:nvSpPr>
        <p:spPr>
          <a:xfrm>
            <a:off x="60480" y="1158840"/>
            <a:ext cx="4349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xString(13:SubStrSize - 7).</a:t>
            </a:r>
            <a:endParaRPr lang="en-US" sz="1600" b="0" u="none" strike="noStrike">
              <a:solidFill>
                <a:srgbClr val="000000"/>
              </a:solidFill>
              <a:effectLst/>
              <a:uFillTx/>
              <a:latin typeface="Arial"/>
            </a:endParaRPr>
          </a:p>
        </p:txBody>
      </p:sp>
      <p:sp>
        <p:nvSpPr>
          <p:cNvPr id="102"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103" name=""/>
          <p:cNvSpPr/>
          <p:nvPr/>
        </p:nvSpPr>
        <p:spPr>
          <a:xfrm>
            <a:off x="1514520" y="35244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04"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05" name=""/>
          <p:cNvSpPr/>
          <p:nvPr/>
        </p:nvSpPr>
        <p:spPr>
          <a:xfrm flipH="1" flipV="1">
            <a:off x="1581120" y="743040"/>
            <a:ext cx="514440" cy="51444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t>
            </a:r>
            <a:r>
              <a:rPr lang="en-US" sz="1600" b="1" u="none" strike="noStrike">
                <a:solidFill>
                  <a:srgbClr val="FF3300"/>
                </a:solidFill>
                <a:effectLst/>
                <a:uFillTx/>
                <a:latin typeface="Courier New"/>
                <a:ea typeface="Courier New"/>
              </a:rPr>
              <a:t>alpha</a:t>
            </a:r>
            <a:r>
              <a:rPr lang="en-US" sz="1600" b="1" u="none" strike="noStrike">
                <a:solidFill>
                  <a:srgbClr val="000000"/>
                </a:solidFill>
                <a:effectLst/>
                <a:uFillTx/>
                <a:latin typeface="Courier New"/>
                <a:ea typeface="Courier New"/>
              </a:rPr>
              <a:t>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07"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08" name=""/>
          <p:cNvSpPr txBox="1"/>
          <p:nvPr/>
        </p:nvSpPr>
        <p:spPr>
          <a:xfrm>
            <a:off x="60480" y="1158840"/>
            <a:ext cx="4349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xString(13:SubStrSize - 7).</a:t>
            </a:r>
            <a:endParaRPr lang="en-US" sz="1600" b="0" u="none" strike="noStrike">
              <a:solidFill>
                <a:srgbClr val="000000"/>
              </a:solidFill>
              <a:effectLst/>
              <a:uFillTx/>
              <a:latin typeface="Arial"/>
            </a:endParaRPr>
          </a:p>
        </p:txBody>
      </p:sp>
      <p:sp>
        <p:nvSpPr>
          <p:cNvPr id="109"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110" name=""/>
          <p:cNvSpPr/>
          <p:nvPr/>
        </p:nvSpPr>
        <p:spPr>
          <a:xfrm>
            <a:off x="1514520" y="35244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11" name=""/>
          <p:cNvSpPr/>
          <p:nvPr/>
        </p:nvSpPr>
        <p:spPr>
          <a:xfrm>
            <a:off x="1533600" y="628560"/>
            <a:ext cx="609480" cy="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12" name=""/>
          <p:cNvSpPr/>
          <p:nvPr/>
        </p:nvSpPr>
        <p:spPr>
          <a:xfrm>
            <a:off x="1193760" y="2173320"/>
            <a:ext cx="3346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13" name=""/>
          <p:cNvSpPr txBox="1"/>
          <p:nvPr/>
        </p:nvSpPr>
        <p:spPr>
          <a:xfrm>
            <a:off x="2946240" y="1135080"/>
            <a:ext cx="325440" cy="244440"/>
          </a:xfrm>
          <a:prstGeom prst="rect">
            <a:avLst/>
          </a:prstGeom>
          <a:noFill/>
          <a:ln w="0">
            <a:noFill/>
          </a:ln>
        </p:spPr>
        <p:txBody>
          <a:bodyPr lIns="0" tIns="0" rIns="0" bIns="0" anchor="t">
            <a:spAutoFit/>
          </a:bodyPr>
          <a:p>
            <a:pPr>
              <a:lnSpc>
                <a:spcPct val="100000"/>
              </a:lnSpc>
            </a:pPr>
            <a:r>
              <a:rPr lang="en-US" sz="1000" b="1" u="none" strike="noStrike">
                <a:solidFill>
                  <a:srgbClr val="FF3300"/>
                </a:solidFill>
                <a:effectLst/>
                <a:uFillTx/>
                <a:latin typeface="Arial"/>
                <a:ea typeface="Arial"/>
              </a:rPr>
              <a:t>12</a:t>
            </a:r>
            <a:endParaRPr lang="en-US" sz="1000" b="0" u="none" strike="noStrike">
              <a:solidFill>
                <a:srgbClr val="000000"/>
              </a:solidFill>
              <a:effectLst/>
              <a:uFillTx/>
              <a:latin typeface="Arial"/>
            </a:endParaRPr>
          </a:p>
        </p:txBody>
      </p:sp>
      <p:sp>
        <p:nvSpPr>
          <p:cNvPr id="114" name=""/>
          <p:cNvSpPr/>
          <p:nvPr/>
        </p:nvSpPr>
        <p:spPr>
          <a:xfrm flipH="1" flipV="1">
            <a:off x="1866960" y="666720"/>
            <a:ext cx="1638360" cy="56196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t>
            </a:r>
            <a:r>
              <a:rPr lang="en-US" sz="1600" b="1" u="none" strike="noStrike">
                <a:solidFill>
                  <a:srgbClr val="FF3300"/>
                </a:solidFill>
                <a:effectLst/>
                <a:uFillTx/>
                <a:latin typeface="Courier New"/>
                <a:ea typeface="Courier New"/>
              </a:rPr>
              <a:t>alpha</a:t>
            </a:r>
            <a:r>
              <a:rPr lang="en-US" sz="1600" b="1" u="none" strike="noStrike">
                <a:solidFill>
                  <a:srgbClr val="000000"/>
                </a:solidFill>
                <a:effectLst/>
                <a:uFillTx/>
                <a:latin typeface="Courier New"/>
                <a:ea typeface="Courier New"/>
              </a:rPr>
              <a:t>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16"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17" name=""/>
          <p:cNvSpPr txBox="1"/>
          <p:nvPr/>
        </p:nvSpPr>
        <p:spPr>
          <a:xfrm>
            <a:off x="60480" y="1158840"/>
            <a:ext cx="4349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FF3300"/>
                </a:solidFill>
                <a:effectLst/>
                <a:uFillTx/>
                <a:latin typeface="Courier New"/>
                <a:ea typeface="Courier New"/>
              </a:rPr>
              <a:t>DISPLAY xString(13:SubStrSize - 7).</a:t>
            </a:r>
            <a:endParaRPr lang="en-US" sz="1600" b="0" u="none" strike="noStrike">
              <a:solidFill>
                <a:srgbClr val="000000"/>
              </a:solidFill>
              <a:effectLst/>
              <a:uFillTx/>
              <a:latin typeface="Arial"/>
            </a:endParaRPr>
          </a:p>
        </p:txBody>
      </p:sp>
      <p:sp>
        <p:nvSpPr>
          <p:cNvPr id="118"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119" name=""/>
          <p:cNvSpPr txBox="1"/>
          <p:nvPr/>
        </p:nvSpPr>
        <p:spPr>
          <a:xfrm>
            <a:off x="1193760" y="2173320"/>
            <a:ext cx="3346560" cy="66528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100000"/>
              </a:lnSpc>
            </a:pPr>
            <a:r>
              <a:rPr lang="en-US" sz="1800" b="1" u="none" strike="noStrike">
                <a:solidFill>
                  <a:srgbClr val="009900"/>
                </a:solidFill>
                <a:effectLst/>
                <a:uFillTx/>
                <a:latin typeface="Arial"/>
                <a:ea typeface="Arial"/>
              </a:rPr>
              <a:t>alpha</a:t>
            </a:r>
            <a:endParaRPr lang="en-US" sz="1800" b="0" u="none" strike="noStrike">
              <a:solidFill>
                <a:srgbClr val="000000"/>
              </a:solidFill>
              <a:effectLst/>
              <a:uFillTx/>
              <a:latin typeface="Arial"/>
            </a:endParaRPr>
          </a:p>
        </p:txBody>
      </p:sp>
      <p:sp>
        <p:nvSpPr>
          <p:cNvPr id="120" name=""/>
          <p:cNvSpPr/>
          <p:nvPr/>
        </p:nvSpPr>
        <p:spPr>
          <a:xfrm>
            <a:off x="1400040" y="1486080"/>
            <a:ext cx="0" cy="85716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22"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23" name=""/>
          <p:cNvSpPr txBox="1"/>
          <p:nvPr/>
        </p:nvSpPr>
        <p:spPr>
          <a:xfrm>
            <a:off x="69840" y="1019160"/>
            <a:ext cx="4587840" cy="66672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MOVE "Fred was here" TO xString(18:4)</a:t>
            </a:r>
            <a:endParaRPr lang="en-US" sz="1600" b="0" u="none" strike="noStrike">
              <a:solidFill>
                <a:srgbClr val="000000"/>
              </a:solidFill>
              <a:effectLst/>
              <a:uFillTx/>
              <a:latin typeface="Arial"/>
            </a:endParaRPr>
          </a:p>
          <a:p>
            <a:pPr>
              <a:lnSpc>
                <a:spcPct val="90000"/>
              </a:lnSpc>
              <a:tabLst>
                <a:tab pos="3333600" algn="l"/>
              </a:tabLst>
            </a:pPr>
            <a:r>
              <a:rPr lang="en-US" sz="1600" b="1" u="none" strike="noStrike">
                <a:solidFill>
                  <a:srgbClr val="000000"/>
                </a:solidFill>
                <a:effectLst/>
                <a:uFillTx/>
                <a:latin typeface="Courier New"/>
                <a:ea typeface="Courier New"/>
              </a:rPr>
              <a:t>DISPLAY xString.</a:t>
            </a:r>
            <a:endParaRPr lang="en-US" sz="1600" b="0" u="none" strike="noStrike">
              <a:solidFill>
                <a:srgbClr val="000000"/>
              </a:solidFill>
              <a:effectLst/>
              <a:uFillTx/>
              <a:latin typeface="Arial"/>
            </a:endParaRPr>
          </a:p>
        </p:txBody>
      </p:sp>
      <p:sp>
        <p:nvSpPr>
          <p:cNvPr id="124"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3333CC"/>
                </a:solidFill>
                <a:effectLst/>
                <a:uFillTx/>
                <a:latin typeface="Arial"/>
                <a:ea typeface="Arial"/>
              </a:rPr>
              <a:t>xString</a:t>
            </a:r>
            <a:endParaRPr lang="en-US" sz="1600" b="0" u="none" strike="noStrike">
              <a:solidFill>
                <a:srgbClr val="000000"/>
              </a:solidFill>
              <a:effectLst/>
              <a:uFillTx/>
              <a:latin typeface="Arial"/>
            </a:endParaRPr>
          </a:p>
        </p:txBody>
      </p:sp>
      <p:sp>
        <p:nvSpPr>
          <p:cNvPr id="125" name=""/>
          <p:cNvSpPr/>
          <p:nvPr/>
        </p:nvSpPr>
        <p:spPr>
          <a:xfrm>
            <a:off x="1193760" y="2173320"/>
            <a:ext cx="3454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26" name=""/>
          <p:cNvSpPr txBox="1"/>
          <p:nvPr/>
        </p:nvSpPr>
        <p:spPr>
          <a:xfrm>
            <a:off x="31680" y="2717640"/>
            <a:ext cx="539640" cy="304920"/>
          </a:xfrm>
          <a:prstGeom prst="rect">
            <a:avLst/>
          </a:prstGeom>
          <a:noFill/>
          <a:ln w="0">
            <a:noFill/>
          </a:ln>
        </p:spPr>
        <p:txBody>
          <a:bodyPr lIns="0" tIns="0" rIns="0" bIns="0" anchor="t">
            <a:spAutoFit/>
          </a:bodyPr>
          <a:p>
            <a:pPr>
              <a:lnSpc>
                <a:spcPct val="100000"/>
              </a:lnSpc>
            </a:pPr>
            <a:r>
              <a:rPr lang="en-US" sz="1400" b="0" u="none" strike="noStrike">
                <a:solidFill>
                  <a:srgbClr val="3333CC"/>
                </a:solidFill>
                <a:effectLst/>
                <a:uFillTx/>
                <a:latin typeface="Arial"/>
                <a:ea typeface="Arial"/>
              </a:rPr>
              <a:t>EG5</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28"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29" name=""/>
          <p:cNvSpPr txBox="1"/>
          <p:nvPr/>
        </p:nvSpPr>
        <p:spPr>
          <a:xfrm>
            <a:off x="69840" y="1019160"/>
            <a:ext cx="4587840" cy="66672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MOVE "Fred was here" TO xString(18:4)</a:t>
            </a:r>
            <a:endParaRPr lang="en-US" sz="1600" b="0" u="none" strike="noStrike">
              <a:solidFill>
                <a:srgbClr val="000000"/>
              </a:solidFill>
              <a:effectLst/>
              <a:uFillTx/>
              <a:latin typeface="Arial"/>
            </a:endParaRPr>
          </a:p>
          <a:p>
            <a:pPr>
              <a:lnSpc>
                <a:spcPct val="90000"/>
              </a:lnSpc>
              <a:tabLst>
                <a:tab pos="3333600" algn="l"/>
              </a:tabLst>
            </a:pPr>
            <a:r>
              <a:rPr lang="en-US" sz="1600" b="1" u="none" strike="noStrike">
                <a:solidFill>
                  <a:srgbClr val="000000"/>
                </a:solidFill>
                <a:effectLst/>
                <a:uFillTx/>
                <a:latin typeface="Courier New"/>
                <a:ea typeface="Courier New"/>
              </a:rPr>
              <a:t>DISPLAY xString.</a:t>
            </a:r>
            <a:endParaRPr lang="en-US" sz="1600" b="0" u="none" strike="noStrike">
              <a:solidFill>
                <a:srgbClr val="000000"/>
              </a:solidFill>
              <a:effectLst/>
              <a:uFillTx/>
              <a:latin typeface="Arial"/>
            </a:endParaRPr>
          </a:p>
        </p:txBody>
      </p:sp>
      <p:sp>
        <p:nvSpPr>
          <p:cNvPr id="130"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131" name=""/>
          <p:cNvSpPr/>
          <p:nvPr/>
        </p:nvSpPr>
        <p:spPr>
          <a:xfrm>
            <a:off x="2133720" y="343080"/>
            <a:ext cx="0" cy="28548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32" name=""/>
          <p:cNvSpPr/>
          <p:nvPr/>
        </p:nvSpPr>
        <p:spPr>
          <a:xfrm>
            <a:off x="1193760" y="2173320"/>
            <a:ext cx="3454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33" name=""/>
          <p:cNvSpPr/>
          <p:nvPr/>
        </p:nvSpPr>
        <p:spPr>
          <a:xfrm flipH="1" flipV="1">
            <a:off x="2219400" y="752400"/>
            <a:ext cx="1866960" cy="40968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alphanumeric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35"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36" name=""/>
          <p:cNvSpPr txBox="1"/>
          <p:nvPr/>
        </p:nvSpPr>
        <p:spPr>
          <a:xfrm>
            <a:off x="69840" y="1019160"/>
            <a:ext cx="4587840" cy="66672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MOVE "Fred was here" TO xString(18:4)</a:t>
            </a:r>
            <a:endParaRPr lang="en-US" sz="1600" b="0" u="none" strike="noStrike">
              <a:solidFill>
                <a:srgbClr val="000000"/>
              </a:solidFill>
              <a:effectLst/>
              <a:uFillTx/>
              <a:latin typeface="Arial"/>
            </a:endParaRPr>
          </a:p>
          <a:p>
            <a:pPr>
              <a:lnSpc>
                <a:spcPct val="90000"/>
              </a:lnSpc>
              <a:tabLst>
                <a:tab pos="3333600" algn="l"/>
              </a:tabLst>
            </a:pPr>
            <a:r>
              <a:rPr lang="en-US" sz="1600" b="1" u="none" strike="noStrike">
                <a:solidFill>
                  <a:srgbClr val="000000"/>
                </a:solidFill>
                <a:effectLst/>
                <a:uFillTx/>
                <a:latin typeface="Courier New"/>
                <a:ea typeface="Courier New"/>
              </a:rPr>
              <a:t>DISPLAY xString.</a:t>
            </a:r>
            <a:endParaRPr lang="en-US" sz="1600" b="0" u="none" strike="noStrike">
              <a:solidFill>
                <a:srgbClr val="000000"/>
              </a:solidFill>
              <a:effectLst/>
              <a:uFillTx/>
              <a:latin typeface="Arial"/>
            </a:endParaRPr>
          </a:p>
        </p:txBody>
      </p:sp>
      <p:sp>
        <p:nvSpPr>
          <p:cNvPr id="137"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138" name=""/>
          <p:cNvSpPr/>
          <p:nvPr/>
        </p:nvSpPr>
        <p:spPr>
          <a:xfrm>
            <a:off x="2133720" y="343080"/>
            <a:ext cx="0" cy="28548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39" name=""/>
          <p:cNvSpPr/>
          <p:nvPr/>
        </p:nvSpPr>
        <p:spPr>
          <a:xfrm>
            <a:off x="2133720" y="619200"/>
            <a:ext cx="504720" cy="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40" name=""/>
          <p:cNvSpPr/>
          <p:nvPr/>
        </p:nvSpPr>
        <p:spPr>
          <a:xfrm>
            <a:off x="1193760" y="2173320"/>
            <a:ext cx="3454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41" name=""/>
          <p:cNvSpPr/>
          <p:nvPr/>
        </p:nvSpPr>
        <p:spPr>
          <a:xfrm flipH="1" flipV="1">
            <a:off x="2514600" y="676440"/>
            <a:ext cx="1895400" cy="45720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a:t>
            </a:r>
            <a:r>
              <a:rPr lang="en-US" sz="1600" b="1" u="none" strike="noStrike">
                <a:solidFill>
                  <a:srgbClr val="FF3300"/>
                </a:solidFill>
                <a:effectLst/>
                <a:uFillTx/>
                <a:latin typeface="Courier New"/>
                <a:ea typeface="Courier New"/>
              </a:rPr>
              <a:t>Fred</a:t>
            </a:r>
            <a:r>
              <a:rPr lang="en-US" sz="1600" b="1" u="none" strike="noStrike">
                <a:solidFill>
                  <a:srgbClr val="000000"/>
                </a:solidFill>
                <a:effectLst/>
                <a:uFillTx/>
                <a:latin typeface="Courier New"/>
                <a:ea typeface="Courier New"/>
              </a:rPr>
              <a:t>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43"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44" name=""/>
          <p:cNvSpPr txBox="1"/>
          <p:nvPr/>
        </p:nvSpPr>
        <p:spPr>
          <a:xfrm>
            <a:off x="69840" y="1019160"/>
            <a:ext cx="4587840" cy="66672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FF3300"/>
                </a:solidFill>
                <a:effectLst/>
                <a:uFillTx/>
                <a:latin typeface="Courier New"/>
                <a:ea typeface="Courier New"/>
              </a:rPr>
              <a:t>MOVE "Fred was here" TO xString(18:4)</a:t>
            </a:r>
            <a:endParaRPr lang="en-US" sz="1600" b="0" u="none" strike="noStrike">
              <a:solidFill>
                <a:srgbClr val="000000"/>
              </a:solidFill>
              <a:effectLst/>
              <a:uFillTx/>
              <a:latin typeface="Arial"/>
            </a:endParaRPr>
          </a:p>
          <a:p>
            <a:pPr>
              <a:lnSpc>
                <a:spcPct val="90000"/>
              </a:lnSpc>
              <a:tabLst>
                <a:tab pos="3333600" algn="l"/>
              </a:tabLst>
            </a:pPr>
            <a:r>
              <a:rPr lang="en-US" sz="1600" b="1" u="none" strike="noStrike">
                <a:solidFill>
                  <a:srgbClr val="000000"/>
                </a:solidFill>
                <a:effectLst/>
                <a:uFillTx/>
                <a:latin typeface="Courier New"/>
                <a:ea typeface="Courier New"/>
              </a:rPr>
              <a:t>DISPLAY xString.</a:t>
            </a:r>
            <a:endParaRPr lang="en-US" sz="1600" b="0" u="none" strike="noStrike">
              <a:solidFill>
                <a:srgbClr val="000000"/>
              </a:solidFill>
              <a:effectLst/>
              <a:uFillTx/>
              <a:latin typeface="Arial"/>
            </a:endParaRPr>
          </a:p>
        </p:txBody>
      </p:sp>
      <p:sp>
        <p:nvSpPr>
          <p:cNvPr id="145"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146" name=""/>
          <p:cNvSpPr/>
          <p:nvPr/>
        </p:nvSpPr>
        <p:spPr>
          <a:xfrm>
            <a:off x="2133720" y="343080"/>
            <a:ext cx="0" cy="28548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47" name=""/>
          <p:cNvSpPr/>
          <p:nvPr/>
        </p:nvSpPr>
        <p:spPr>
          <a:xfrm>
            <a:off x="2133720" y="619200"/>
            <a:ext cx="504720" cy="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48" name=""/>
          <p:cNvSpPr/>
          <p:nvPr/>
        </p:nvSpPr>
        <p:spPr>
          <a:xfrm>
            <a:off x="1193760" y="2173320"/>
            <a:ext cx="345456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49" name=""/>
          <p:cNvSpPr/>
          <p:nvPr/>
        </p:nvSpPr>
        <p:spPr>
          <a:xfrm flipV="1">
            <a:off x="1114560" y="571680"/>
            <a:ext cx="1257120" cy="58068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
          <p:cNvSpPr txBox="1"/>
          <p:nvPr/>
        </p:nvSpPr>
        <p:spPr>
          <a:xfrm>
            <a:off x="36360" y="345960"/>
            <a:ext cx="4686480" cy="28908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This is the alpha</a:t>
            </a:r>
            <a:r>
              <a:rPr lang="en-US" sz="1600" b="1" u="none" strike="noStrike">
                <a:solidFill>
                  <a:srgbClr val="FF3300"/>
                </a:solidFill>
                <a:effectLst/>
                <a:uFillTx/>
                <a:latin typeface="Courier New"/>
                <a:ea typeface="Courier New"/>
              </a:rPr>
              <a:t>Fred</a:t>
            </a:r>
            <a:r>
              <a:rPr lang="en-US" sz="1600" b="1" u="none" strike="noStrike">
                <a:solidFill>
                  <a:srgbClr val="000000"/>
                </a:solidFill>
                <a:effectLst/>
                <a:uFillTx/>
                <a:latin typeface="Courier New"/>
                <a:ea typeface="Courier New"/>
              </a:rPr>
              <a:t>ric string</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51" name=""/>
          <p:cNvSpPr txBox="1"/>
          <p:nvPr/>
        </p:nvSpPr>
        <p:spPr>
          <a:xfrm>
            <a:off x="100080" y="638280"/>
            <a:ext cx="463248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1 2 3 4 5 6 7 8 9 </a:t>
            </a:r>
            <a:r>
              <a:rPr lang="en-US" sz="800" b="1" u="none" strike="noStrike">
                <a:solidFill>
                  <a:srgbClr val="000000"/>
                </a:solidFill>
                <a:effectLst/>
                <a:uFillTx/>
                <a:latin typeface="Courier New"/>
                <a:ea typeface="Courier New"/>
              </a:rPr>
              <a:t>0</a:t>
            </a:r>
            <a:r>
              <a:rPr lang="en-US" sz="800" b="0" u="none" strike="noStrike">
                <a:solidFill>
                  <a:srgbClr val="000000"/>
                </a:solidFill>
                <a:effectLst/>
                <a:uFillTx/>
                <a:latin typeface="Courier New"/>
                <a:ea typeface="Courier New"/>
              </a:rPr>
              <a:t> 1 2 3 4 5 6 7 8 </a:t>
            </a:r>
            <a:endParaRPr lang="en-US" sz="800" b="0" u="none" strike="noStrike">
              <a:solidFill>
                <a:srgbClr val="000000"/>
              </a:solidFill>
              <a:effectLst/>
              <a:uFillTx/>
              <a:latin typeface="Arial"/>
            </a:endParaRPr>
          </a:p>
        </p:txBody>
      </p:sp>
      <p:sp>
        <p:nvSpPr>
          <p:cNvPr id="152" name=""/>
          <p:cNvSpPr txBox="1"/>
          <p:nvPr/>
        </p:nvSpPr>
        <p:spPr>
          <a:xfrm>
            <a:off x="69840" y="1019160"/>
            <a:ext cx="4587840" cy="66672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MOVE "Fred was here" TO xString(18:4)</a:t>
            </a:r>
            <a:endParaRPr lang="en-US" sz="1600" b="0" u="none" strike="noStrike">
              <a:solidFill>
                <a:srgbClr val="000000"/>
              </a:solidFill>
              <a:effectLst/>
              <a:uFillTx/>
              <a:latin typeface="Arial"/>
            </a:endParaRPr>
          </a:p>
          <a:p>
            <a:pPr>
              <a:lnSpc>
                <a:spcPct val="90000"/>
              </a:lnSpc>
              <a:tabLst>
                <a:tab pos="3333600" algn="l"/>
              </a:tabLst>
            </a:pPr>
            <a:r>
              <a:rPr lang="en-US" sz="1600" b="1" u="none" strike="noStrike">
                <a:solidFill>
                  <a:srgbClr val="FF3300"/>
                </a:solidFill>
                <a:effectLst/>
                <a:uFillTx/>
                <a:latin typeface="Courier New"/>
                <a:ea typeface="Courier New"/>
              </a:rPr>
              <a:t>DISPLAY xString.</a:t>
            </a:r>
            <a:endParaRPr lang="en-US" sz="1600" b="0" u="none" strike="noStrike">
              <a:solidFill>
                <a:srgbClr val="000000"/>
              </a:solidFill>
              <a:effectLst/>
              <a:uFillTx/>
              <a:latin typeface="Arial"/>
            </a:endParaRPr>
          </a:p>
        </p:txBody>
      </p:sp>
      <p:sp>
        <p:nvSpPr>
          <p:cNvPr id="153" name=""/>
          <p:cNvSpPr txBox="1"/>
          <p:nvPr/>
        </p:nvSpPr>
        <p:spPr>
          <a:xfrm>
            <a:off x="66600" y="7308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xString</a:t>
            </a:r>
            <a:endParaRPr lang="en-US" sz="1600" b="0" u="none" strike="noStrike">
              <a:solidFill>
                <a:srgbClr val="000000"/>
              </a:solidFill>
              <a:effectLst/>
              <a:uFillTx/>
              <a:latin typeface="Arial"/>
            </a:endParaRPr>
          </a:p>
        </p:txBody>
      </p:sp>
      <p:sp>
        <p:nvSpPr>
          <p:cNvPr id="154" name=""/>
          <p:cNvSpPr txBox="1"/>
          <p:nvPr/>
        </p:nvSpPr>
        <p:spPr>
          <a:xfrm>
            <a:off x="1193760" y="2173320"/>
            <a:ext cx="3454560" cy="66528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100000"/>
              </a:lnSpc>
            </a:pPr>
            <a:r>
              <a:rPr lang="en-US" sz="1800" b="1" u="none" strike="noStrike">
                <a:solidFill>
                  <a:srgbClr val="009900"/>
                </a:solidFill>
                <a:effectLst/>
                <a:uFillTx/>
                <a:latin typeface="Arial"/>
                <a:ea typeface="Arial"/>
              </a:rPr>
              <a:t>This is the alphaFredric string</a:t>
            </a:r>
            <a:endParaRPr lang="en-US" sz="1800" b="0" u="none" strike="noStrike">
              <a:solidFill>
                <a:srgbClr val="000000"/>
              </a:solidFill>
              <a:effectLst/>
              <a:uFillTx/>
              <a:latin typeface="Arial"/>
            </a:endParaRPr>
          </a:p>
        </p:txBody>
      </p:sp>
      <p:sp>
        <p:nvSpPr>
          <p:cNvPr id="155" name=""/>
          <p:cNvSpPr/>
          <p:nvPr/>
        </p:nvSpPr>
        <p:spPr>
          <a:xfrm>
            <a:off x="1400040" y="1628640"/>
            <a:ext cx="0" cy="71460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txBox="1"/>
          <p:nvPr/>
        </p:nvSpPr>
        <p:spPr>
          <a:xfrm>
            <a:off x="87480" y="317520"/>
            <a:ext cx="4573440" cy="1584360"/>
          </a:xfrm>
          <a:prstGeom prst="rect">
            <a:avLst/>
          </a:prstGeom>
          <a:noFill/>
          <a:ln w="0">
            <a:noFill/>
          </a:ln>
        </p:spPr>
        <p:txBody>
          <a:bodyPr lIns="0" tIns="0" rIns="0" bIns="0" anchor="t">
            <a:spAutoFit/>
          </a:bodyPr>
          <a:p>
            <a:pPr algn="ctr">
              <a:lnSpc>
                <a:spcPct val="100000"/>
              </a:lnSpc>
            </a:pPr>
            <a:r>
              <a:rPr lang="en-US" sz="2400" b="0" u="none" strike="noStrike">
                <a:solidFill>
                  <a:srgbClr val="CC0000"/>
                </a:solidFill>
                <a:effectLst/>
                <a:uFillTx/>
                <a:latin typeface="Arial"/>
                <a:ea typeface="Arial"/>
              </a:rPr>
              <a:t>Reference Modification</a:t>
            </a:r>
            <a:endParaRPr lang="en-US" sz="2400" b="0" u="none" strike="noStrike">
              <a:solidFill>
                <a:srgbClr val="000000"/>
              </a:solidFill>
              <a:effectLst/>
              <a:uFillTx/>
              <a:latin typeface="Arial"/>
            </a:endParaRPr>
          </a:p>
          <a:p>
            <a:pPr algn="ctr">
              <a:lnSpc>
                <a:spcPct val="100000"/>
              </a:lnSpc>
            </a:pPr>
            <a:r>
              <a:rPr lang="en-US" sz="2000" b="0" u="none" strike="noStrike">
                <a:solidFill>
                  <a:srgbClr val="CC0000"/>
                </a:solidFill>
                <a:effectLst/>
                <a:uFillTx/>
                <a:latin typeface="Arial"/>
                <a:ea typeface="Arial"/>
              </a:rPr>
              <a:t>nString examples</a:t>
            </a:r>
            <a:endParaRPr lang="en-US" sz="2000" b="0" u="none" strike="noStrike">
              <a:solidFill>
                <a:srgbClr val="000000"/>
              </a:solidFill>
              <a:effectLst/>
              <a:uFillTx/>
              <a:latin typeface="Arial"/>
            </a:endParaRPr>
          </a:p>
          <a:p>
            <a:pPr algn="ctr">
              <a:lnSpc>
                <a:spcPct val="100000"/>
              </a:lnSpc>
            </a:pPr>
            <a:endParaRPr lang="en-US" sz="1200" b="0" u="none" strike="noStrike">
              <a:solidFill>
                <a:srgbClr val="000000"/>
              </a:solidFill>
              <a:effectLst/>
              <a:uFillTx/>
              <a:latin typeface="Arial"/>
            </a:endParaRPr>
          </a:p>
          <a:p>
            <a:pPr algn="ctr">
              <a:lnSpc>
                <a:spcPct val="100000"/>
              </a:lnSpc>
            </a:pPr>
            <a:r>
              <a:rPr lang="en-US" sz="1200" b="1" u="none" strike="noStrike">
                <a:solidFill>
                  <a:srgbClr val="000000"/>
                </a:solidFill>
                <a:effectLst/>
                <a:uFillTx/>
                <a:latin typeface="Times New Roman"/>
                <a:ea typeface="Times New Roman"/>
              </a:rPr>
              <a:t>Instructions</a:t>
            </a:r>
            <a:endParaRPr lang="en-US" sz="1200" b="0" u="none" strike="noStrike">
              <a:solidFill>
                <a:srgbClr val="000000"/>
              </a:solidFill>
              <a:effectLst/>
              <a:uFillTx/>
              <a:latin typeface="Arial"/>
            </a:endParaRPr>
          </a:p>
          <a:p>
            <a:pPr algn="ctr">
              <a:lnSpc>
                <a:spcPct val="100000"/>
              </a:lnSpc>
            </a:pPr>
            <a:r>
              <a:rPr lang="en-US" sz="1000" b="0" u="none" strike="noStrike">
                <a:solidFill>
                  <a:srgbClr val="000000"/>
                </a:solidFill>
                <a:effectLst/>
                <a:uFillTx/>
                <a:latin typeface="Times New Roman"/>
                <a:ea typeface="Times New Roman"/>
              </a:rPr>
              <a:t>These examples use Reference Modification to manipulate the text contained in the data item nString.</a:t>
            </a:r>
            <a:endParaRPr lang="en-US" sz="1000" b="0" u="none" strike="noStrike">
              <a:solidFill>
                <a:srgbClr val="000000"/>
              </a:solidFill>
              <a:effectLst/>
              <a:uFillTx/>
              <a:latin typeface="Arial"/>
            </a:endParaRPr>
          </a:p>
          <a:p>
            <a:pPr algn="ctr">
              <a:lnSpc>
                <a:spcPct val="100000"/>
              </a:lnSpc>
            </a:pPr>
            <a:r>
              <a:rPr lang="en-US" sz="1000" b="0" u="none" strike="noStrike">
                <a:solidFill>
                  <a:srgbClr val="000000"/>
                </a:solidFill>
                <a:effectLst/>
                <a:uFillTx/>
                <a:latin typeface="Times New Roman"/>
                <a:ea typeface="Times New Roman"/>
              </a:rPr>
              <a:t> </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
          <p:cNvSpPr txBox="1"/>
          <p:nvPr/>
        </p:nvSpPr>
        <p:spPr>
          <a:xfrm>
            <a:off x="1789200" y="555480"/>
            <a:ext cx="954000" cy="48960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3452656</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58" name=""/>
          <p:cNvSpPr txBox="1"/>
          <p:nvPr/>
        </p:nvSpPr>
        <p:spPr>
          <a:xfrm>
            <a:off x="1852560" y="847800"/>
            <a:ext cx="85392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a:t>
            </a:r>
            <a:endParaRPr lang="en-US" sz="800" b="0" u="none" strike="noStrike">
              <a:solidFill>
                <a:srgbClr val="000000"/>
              </a:solidFill>
              <a:effectLst/>
              <a:uFillTx/>
              <a:latin typeface="Arial"/>
            </a:endParaRPr>
          </a:p>
        </p:txBody>
      </p:sp>
      <p:sp>
        <p:nvSpPr>
          <p:cNvPr id="159" name=""/>
          <p:cNvSpPr txBox="1"/>
          <p:nvPr/>
        </p:nvSpPr>
        <p:spPr>
          <a:xfrm>
            <a:off x="860400" y="150192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nString(3:3).</a:t>
            </a:r>
            <a:endParaRPr lang="en-US" sz="1600" b="0" u="none" strike="noStrike">
              <a:solidFill>
                <a:srgbClr val="000000"/>
              </a:solidFill>
              <a:effectLst/>
              <a:uFillTx/>
              <a:latin typeface="Arial"/>
            </a:endParaRPr>
          </a:p>
        </p:txBody>
      </p:sp>
      <p:sp>
        <p:nvSpPr>
          <p:cNvPr id="160" name=""/>
          <p:cNvSpPr txBox="1"/>
          <p:nvPr/>
        </p:nvSpPr>
        <p:spPr>
          <a:xfrm>
            <a:off x="1819440" y="28260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3333CC"/>
                </a:solidFill>
                <a:effectLst/>
                <a:uFillTx/>
                <a:latin typeface="Arial"/>
                <a:ea typeface="Arial"/>
              </a:rPr>
              <a:t>nString</a:t>
            </a:r>
            <a:endParaRPr lang="en-US" sz="1600" b="0" u="none" strike="noStrike">
              <a:solidFill>
                <a:srgbClr val="000000"/>
              </a:solidFill>
              <a:effectLst/>
              <a:uFillTx/>
              <a:latin typeface="Arial"/>
            </a:endParaRPr>
          </a:p>
        </p:txBody>
      </p:sp>
      <p:sp>
        <p:nvSpPr>
          <p:cNvPr id="161" name=""/>
          <p:cNvSpPr/>
          <p:nvPr/>
        </p:nvSpPr>
        <p:spPr>
          <a:xfrm>
            <a:off x="1698480" y="2249640"/>
            <a:ext cx="150192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62" name=""/>
          <p:cNvSpPr txBox="1"/>
          <p:nvPr/>
        </p:nvSpPr>
        <p:spPr>
          <a:xfrm>
            <a:off x="60480" y="50760"/>
            <a:ext cx="539640" cy="304920"/>
          </a:xfrm>
          <a:prstGeom prst="rect">
            <a:avLst/>
          </a:prstGeom>
          <a:noFill/>
          <a:ln w="0">
            <a:noFill/>
          </a:ln>
        </p:spPr>
        <p:txBody>
          <a:bodyPr lIns="0" tIns="0" rIns="0" bIns="0" anchor="t">
            <a:spAutoFit/>
          </a:bodyPr>
          <a:p>
            <a:pPr>
              <a:lnSpc>
                <a:spcPct val="100000"/>
              </a:lnSpc>
            </a:pPr>
            <a:r>
              <a:rPr lang="en-US" sz="1400" b="0" u="none" strike="noStrike">
                <a:solidFill>
                  <a:srgbClr val="3333CC"/>
                </a:solidFill>
                <a:effectLst/>
                <a:uFillTx/>
                <a:latin typeface="Arial"/>
                <a:ea typeface="Arial"/>
              </a:rPr>
              <a:t>EG6</a:t>
            </a:r>
            <a:endParaRPr lang="en-US" sz="1400" b="0" u="none" strike="noStrike">
              <a:solidFill>
                <a:srgbClr val="000000"/>
              </a:solidFill>
              <a:effectLst/>
              <a:uFillTx/>
              <a:latin typeface="Arial"/>
            </a:endParaRPr>
          </a:p>
        </p:txBody>
      </p:sp>
      <p:sp>
        <p:nvSpPr>
          <p:cNvPr id="163" name=""/>
          <p:cNvSpPr/>
          <p:nvPr/>
        </p:nvSpPr>
        <p:spPr>
          <a:xfrm>
            <a:off x="2424240" y="846000"/>
            <a:ext cx="4680" cy="106560"/>
          </a:xfrm>
          <a:prstGeom prst="line">
            <a:avLst/>
          </a:prstGeom>
          <a:ln w="12600">
            <a:solidFill>
              <a:srgbClr val="006633"/>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64" name=""/>
          <p:cNvSpPr txBox="1"/>
          <p:nvPr/>
        </p:nvSpPr>
        <p:spPr>
          <a:xfrm>
            <a:off x="2365200" y="977760"/>
            <a:ext cx="152280" cy="288360"/>
          </a:xfrm>
          <a:prstGeom prst="rect">
            <a:avLst/>
          </a:prstGeom>
          <a:noFill/>
          <a:ln w="0">
            <a:noFill/>
          </a:ln>
        </p:spPr>
        <p:txBody>
          <a:bodyPr lIns="0" tIns="0" rIns="0" bIns="0" anchor="t">
            <a:spAutoFit/>
          </a:bodyPr>
          <a:p>
            <a:pPr>
              <a:lnSpc>
                <a:spcPct val="0"/>
              </a:lnSpc>
            </a:pPr>
            <a:r>
              <a:rPr lang="en-US" sz="2000" b="1" u="none" strike="noStrike">
                <a:solidFill>
                  <a:srgbClr val="336600"/>
                </a:solidFill>
                <a:effectLst/>
                <a:uFillTx/>
                <a:latin typeface="Courier New"/>
                <a:ea typeface="Courier New"/>
              </a:rPr>
              <a:t>.</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
          <p:cNvSpPr txBox="1"/>
          <p:nvPr/>
        </p:nvSpPr>
        <p:spPr>
          <a:xfrm>
            <a:off x="1789200" y="555480"/>
            <a:ext cx="954000" cy="48960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3452656</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66" name=""/>
          <p:cNvSpPr txBox="1"/>
          <p:nvPr/>
        </p:nvSpPr>
        <p:spPr>
          <a:xfrm>
            <a:off x="1852560" y="847800"/>
            <a:ext cx="85392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a:t>
            </a:r>
            <a:endParaRPr lang="en-US" sz="800" b="0" u="none" strike="noStrike">
              <a:solidFill>
                <a:srgbClr val="000000"/>
              </a:solidFill>
              <a:effectLst/>
              <a:uFillTx/>
              <a:latin typeface="Arial"/>
            </a:endParaRPr>
          </a:p>
        </p:txBody>
      </p:sp>
      <p:sp>
        <p:nvSpPr>
          <p:cNvPr id="167" name=""/>
          <p:cNvSpPr txBox="1"/>
          <p:nvPr/>
        </p:nvSpPr>
        <p:spPr>
          <a:xfrm>
            <a:off x="860400" y="150192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nString(3:3).</a:t>
            </a:r>
            <a:endParaRPr lang="en-US" sz="1600" b="0" u="none" strike="noStrike">
              <a:solidFill>
                <a:srgbClr val="000000"/>
              </a:solidFill>
              <a:effectLst/>
              <a:uFillTx/>
              <a:latin typeface="Arial"/>
            </a:endParaRPr>
          </a:p>
        </p:txBody>
      </p:sp>
      <p:sp>
        <p:nvSpPr>
          <p:cNvPr id="168" name=""/>
          <p:cNvSpPr txBox="1"/>
          <p:nvPr/>
        </p:nvSpPr>
        <p:spPr>
          <a:xfrm>
            <a:off x="1819440" y="28260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nString</a:t>
            </a:r>
            <a:endParaRPr lang="en-US" sz="1600" b="0" u="none" strike="noStrike">
              <a:solidFill>
                <a:srgbClr val="000000"/>
              </a:solidFill>
              <a:effectLst/>
              <a:uFillTx/>
              <a:latin typeface="Arial"/>
            </a:endParaRPr>
          </a:p>
        </p:txBody>
      </p:sp>
      <p:sp>
        <p:nvSpPr>
          <p:cNvPr id="169" name=""/>
          <p:cNvSpPr/>
          <p:nvPr/>
        </p:nvSpPr>
        <p:spPr>
          <a:xfrm>
            <a:off x="1698480" y="2249640"/>
            <a:ext cx="150192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70" name=""/>
          <p:cNvSpPr/>
          <p:nvPr/>
        </p:nvSpPr>
        <p:spPr>
          <a:xfrm>
            <a:off x="2424240" y="846000"/>
            <a:ext cx="4680" cy="106560"/>
          </a:xfrm>
          <a:prstGeom prst="line">
            <a:avLst/>
          </a:prstGeom>
          <a:ln w="12600">
            <a:solidFill>
              <a:srgbClr val="006633"/>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71" name=""/>
          <p:cNvSpPr txBox="1"/>
          <p:nvPr/>
        </p:nvSpPr>
        <p:spPr>
          <a:xfrm>
            <a:off x="2365200" y="977760"/>
            <a:ext cx="152280" cy="288360"/>
          </a:xfrm>
          <a:prstGeom prst="rect">
            <a:avLst/>
          </a:prstGeom>
          <a:noFill/>
          <a:ln w="0">
            <a:noFill/>
          </a:ln>
        </p:spPr>
        <p:txBody>
          <a:bodyPr lIns="0" tIns="0" rIns="0" bIns="0" anchor="t">
            <a:spAutoFit/>
          </a:bodyPr>
          <a:p>
            <a:pPr>
              <a:lnSpc>
                <a:spcPct val="0"/>
              </a:lnSpc>
            </a:pPr>
            <a:r>
              <a:rPr lang="en-US" sz="2000" b="1" u="none" strike="noStrike">
                <a:solidFill>
                  <a:srgbClr val="336600"/>
                </a:solidFill>
                <a:effectLst/>
                <a:uFillTx/>
                <a:latin typeface="Courier New"/>
                <a:ea typeface="Courier New"/>
              </a:rPr>
              <a:t>.</a:t>
            </a:r>
            <a:endParaRPr lang="en-US" sz="2000" b="0" u="none" strike="noStrike">
              <a:solidFill>
                <a:srgbClr val="000000"/>
              </a:solidFill>
              <a:effectLst/>
              <a:uFillTx/>
              <a:latin typeface="Arial"/>
            </a:endParaRPr>
          </a:p>
        </p:txBody>
      </p:sp>
      <p:sp>
        <p:nvSpPr>
          <p:cNvPr id="172" name=""/>
          <p:cNvSpPr/>
          <p:nvPr/>
        </p:nvSpPr>
        <p:spPr>
          <a:xfrm flipH="1" flipV="1">
            <a:off x="2133720" y="800280"/>
            <a:ext cx="771480" cy="77148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73" name=""/>
          <p:cNvSpPr/>
          <p:nvPr/>
        </p:nvSpPr>
        <p:spPr>
          <a:xfrm>
            <a:off x="2057400" y="56196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
          <p:cNvSpPr txBox="1"/>
          <p:nvPr/>
        </p:nvSpPr>
        <p:spPr>
          <a:xfrm>
            <a:off x="1789200" y="555480"/>
            <a:ext cx="954000" cy="48960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34</a:t>
            </a:r>
            <a:r>
              <a:rPr lang="en-US" sz="1600" b="1" u="none" strike="noStrike">
                <a:solidFill>
                  <a:srgbClr val="FF3300"/>
                </a:solidFill>
                <a:effectLst/>
                <a:uFillTx/>
                <a:latin typeface="Courier New"/>
                <a:ea typeface="Courier New"/>
              </a:rPr>
              <a:t>526</a:t>
            </a:r>
            <a:r>
              <a:rPr lang="en-US" sz="1600" b="1" u="none" strike="noStrike">
                <a:solidFill>
                  <a:srgbClr val="000000"/>
                </a:solidFill>
                <a:effectLst/>
                <a:uFillTx/>
                <a:latin typeface="Courier New"/>
                <a:ea typeface="Courier New"/>
              </a:rPr>
              <a:t>56</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75" name=""/>
          <p:cNvSpPr txBox="1"/>
          <p:nvPr/>
        </p:nvSpPr>
        <p:spPr>
          <a:xfrm>
            <a:off x="1852560" y="847800"/>
            <a:ext cx="85392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a:t>
            </a:r>
            <a:endParaRPr lang="en-US" sz="800" b="0" u="none" strike="noStrike">
              <a:solidFill>
                <a:srgbClr val="000000"/>
              </a:solidFill>
              <a:effectLst/>
              <a:uFillTx/>
              <a:latin typeface="Arial"/>
            </a:endParaRPr>
          </a:p>
        </p:txBody>
      </p:sp>
      <p:sp>
        <p:nvSpPr>
          <p:cNvPr id="176" name=""/>
          <p:cNvSpPr txBox="1"/>
          <p:nvPr/>
        </p:nvSpPr>
        <p:spPr>
          <a:xfrm>
            <a:off x="860400" y="150192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nString(3:3).</a:t>
            </a:r>
            <a:endParaRPr lang="en-US" sz="1600" b="0" u="none" strike="noStrike">
              <a:solidFill>
                <a:srgbClr val="000000"/>
              </a:solidFill>
              <a:effectLst/>
              <a:uFillTx/>
              <a:latin typeface="Arial"/>
            </a:endParaRPr>
          </a:p>
        </p:txBody>
      </p:sp>
      <p:sp>
        <p:nvSpPr>
          <p:cNvPr id="177" name=""/>
          <p:cNvSpPr txBox="1"/>
          <p:nvPr/>
        </p:nvSpPr>
        <p:spPr>
          <a:xfrm>
            <a:off x="1819440" y="28260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nString</a:t>
            </a:r>
            <a:endParaRPr lang="en-US" sz="1600" b="0" u="none" strike="noStrike">
              <a:solidFill>
                <a:srgbClr val="000000"/>
              </a:solidFill>
              <a:effectLst/>
              <a:uFillTx/>
              <a:latin typeface="Arial"/>
            </a:endParaRPr>
          </a:p>
        </p:txBody>
      </p:sp>
      <p:sp>
        <p:nvSpPr>
          <p:cNvPr id="178" name=""/>
          <p:cNvSpPr/>
          <p:nvPr/>
        </p:nvSpPr>
        <p:spPr>
          <a:xfrm>
            <a:off x="1698480" y="2249640"/>
            <a:ext cx="150192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79" name=""/>
          <p:cNvSpPr/>
          <p:nvPr/>
        </p:nvSpPr>
        <p:spPr>
          <a:xfrm>
            <a:off x="2424240" y="846000"/>
            <a:ext cx="4680" cy="106560"/>
          </a:xfrm>
          <a:prstGeom prst="line">
            <a:avLst/>
          </a:prstGeom>
          <a:ln w="12600">
            <a:solidFill>
              <a:srgbClr val="006633"/>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80" name=""/>
          <p:cNvSpPr txBox="1"/>
          <p:nvPr/>
        </p:nvSpPr>
        <p:spPr>
          <a:xfrm>
            <a:off x="2365200" y="977760"/>
            <a:ext cx="152280" cy="288360"/>
          </a:xfrm>
          <a:prstGeom prst="rect">
            <a:avLst/>
          </a:prstGeom>
          <a:noFill/>
          <a:ln w="0">
            <a:noFill/>
          </a:ln>
        </p:spPr>
        <p:txBody>
          <a:bodyPr lIns="0" tIns="0" rIns="0" bIns="0" anchor="t">
            <a:spAutoFit/>
          </a:bodyPr>
          <a:p>
            <a:pPr>
              <a:lnSpc>
                <a:spcPct val="0"/>
              </a:lnSpc>
            </a:pPr>
            <a:r>
              <a:rPr lang="en-US" sz="2000" b="1" u="none" strike="noStrike">
                <a:solidFill>
                  <a:srgbClr val="336600"/>
                </a:solidFill>
                <a:effectLst/>
                <a:uFillTx/>
                <a:latin typeface="Courier New"/>
                <a:ea typeface="Courier New"/>
              </a:rPr>
              <a:t>.</a:t>
            </a:r>
            <a:endParaRPr lang="en-US" sz="2000" b="0" u="none" strike="noStrike">
              <a:solidFill>
                <a:srgbClr val="000000"/>
              </a:solidFill>
              <a:effectLst/>
              <a:uFillTx/>
              <a:latin typeface="Arial"/>
            </a:endParaRPr>
          </a:p>
        </p:txBody>
      </p:sp>
      <p:sp>
        <p:nvSpPr>
          <p:cNvPr id="181" name=""/>
          <p:cNvSpPr/>
          <p:nvPr/>
        </p:nvSpPr>
        <p:spPr>
          <a:xfrm flipH="1" flipV="1">
            <a:off x="2276640" y="885960"/>
            <a:ext cx="847440" cy="72360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82" name=""/>
          <p:cNvSpPr/>
          <p:nvPr/>
        </p:nvSpPr>
        <p:spPr>
          <a:xfrm>
            <a:off x="2057400" y="56196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183" name=""/>
          <p:cNvSpPr/>
          <p:nvPr/>
        </p:nvSpPr>
        <p:spPr>
          <a:xfrm>
            <a:off x="2057400" y="828720"/>
            <a:ext cx="371520" cy="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
          <p:cNvSpPr txBox="1"/>
          <p:nvPr/>
        </p:nvSpPr>
        <p:spPr>
          <a:xfrm>
            <a:off x="1789200" y="555480"/>
            <a:ext cx="954000" cy="48960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34</a:t>
            </a:r>
            <a:r>
              <a:rPr lang="en-US" sz="1600" b="1" u="none" strike="noStrike">
                <a:solidFill>
                  <a:srgbClr val="FF3300"/>
                </a:solidFill>
                <a:effectLst/>
                <a:uFillTx/>
                <a:latin typeface="Courier New"/>
                <a:ea typeface="Courier New"/>
              </a:rPr>
              <a:t>526</a:t>
            </a:r>
            <a:r>
              <a:rPr lang="en-US" sz="1600" b="1" u="none" strike="noStrike">
                <a:solidFill>
                  <a:srgbClr val="000000"/>
                </a:solidFill>
                <a:effectLst/>
                <a:uFillTx/>
                <a:latin typeface="Courier New"/>
                <a:ea typeface="Courier New"/>
              </a:rPr>
              <a:t>56</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85" name=""/>
          <p:cNvSpPr txBox="1"/>
          <p:nvPr/>
        </p:nvSpPr>
        <p:spPr>
          <a:xfrm>
            <a:off x="1852560" y="847800"/>
            <a:ext cx="85392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a:t>
            </a:r>
            <a:endParaRPr lang="en-US" sz="800" b="0" u="none" strike="noStrike">
              <a:solidFill>
                <a:srgbClr val="000000"/>
              </a:solidFill>
              <a:effectLst/>
              <a:uFillTx/>
              <a:latin typeface="Arial"/>
            </a:endParaRPr>
          </a:p>
        </p:txBody>
      </p:sp>
      <p:sp>
        <p:nvSpPr>
          <p:cNvPr id="186" name=""/>
          <p:cNvSpPr txBox="1"/>
          <p:nvPr/>
        </p:nvSpPr>
        <p:spPr>
          <a:xfrm>
            <a:off x="860400" y="150192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FF3300"/>
                </a:solidFill>
                <a:effectLst/>
                <a:uFillTx/>
                <a:latin typeface="Courier New"/>
                <a:ea typeface="Courier New"/>
              </a:rPr>
              <a:t>DISPLAY nString(3:3).</a:t>
            </a:r>
            <a:endParaRPr lang="en-US" sz="1600" b="0" u="none" strike="noStrike">
              <a:solidFill>
                <a:srgbClr val="000000"/>
              </a:solidFill>
              <a:effectLst/>
              <a:uFillTx/>
              <a:latin typeface="Arial"/>
            </a:endParaRPr>
          </a:p>
        </p:txBody>
      </p:sp>
      <p:sp>
        <p:nvSpPr>
          <p:cNvPr id="187" name=""/>
          <p:cNvSpPr txBox="1"/>
          <p:nvPr/>
        </p:nvSpPr>
        <p:spPr>
          <a:xfrm>
            <a:off x="1819440" y="28260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nString</a:t>
            </a:r>
            <a:endParaRPr lang="en-US" sz="1600" b="0" u="none" strike="noStrike">
              <a:solidFill>
                <a:srgbClr val="000000"/>
              </a:solidFill>
              <a:effectLst/>
              <a:uFillTx/>
              <a:latin typeface="Arial"/>
            </a:endParaRPr>
          </a:p>
        </p:txBody>
      </p:sp>
      <p:sp>
        <p:nvSpPr>
          <p:cNvPr id="188" name=""/>
          <p:cNvSpPr txBox="1"/>
          <p:nvPr/>
        </p:nvSpPr>
        <p:spPr>
          <a:xfrm>
            <a:off x="1698480" y="2249640"/>
            <a:ext cx="1501920" cy="66528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gn="ctr">
              <a:lnSpc>
                <a:spcPct val="100000"/>
              </a:lnSpc>
            </a:pPr>
            <a:r>
              <a:rPr lang="en-US" sz="1800" b="1" u="none" strike="noStrike">
                <a:solidFill>
                  <a:srgbClr val="009900"/>
                </a:solidFill>
                <a:effectLst/>
                <a:uFillTx/>
                <a:latin typeface="Arial"/>
                <a:ea typeface="Arial"/>
              </a:rPr>
              <a:t>526</a:t>
            </a:r>
            <a:endParaRPr lang="en-US" sz="1800" b="0" u="none" strike="noStrike">
              <a:solidFill>
                <a:srgbClr val="000000"/>
              </a:solidFill>
              <a:effectLst/>
              <a:uFillTx/>
              <a:latin typeface="Arial"/>
            </a:endParaRPr>
          </a:p>
        </p:txBody>
      </p:sp>
      <p:sp>
        <p:nvSpPr>
          <p:cNvPr id="189" name=""/>
          <p:cNvSpPr/>
          <p:nvPr/>
        </p:nvSpPr>
        <p:spPr>
          <a:xfrm>
            <a:off x="2424240" y="846000"/>
            <a:ext cx="4680" cy="106560"/>
          </a:xfrm>
          <a:prstGeom prst="line">
            <a:avLst/>
          </a:prstGeom>
          <a:ln w="12600">
            <a:solidFill>
              <a:srgbClr val="006633"/>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90" name=""/>
          <p:cNvSpPr txBox="1"/>
          <p:nvPr/>
        </p:nvSpPr>
        <p:spPr>
          <a:xfrm>
            <a:off x="2365200" y="977760"/>
            <a:ext cx="152280" cy="288360"/>
          </a:xfrm>
          <a:prstGeom prst="rect">
            <a:avLst/>
          </a:prstGeom>
          <a:noFill/>
          <a:ln w="0">
            <a:noFill/>
          </a:ln>
        </p:spPr>
        <p:txBody>
          <a:bodyPr lIns="0" tIns="0" rIns="0" bIns="0" anchor="t">
            <a:spAutoFit/>
          </a:bodyPr>
          <a:p>
            <a:pPr>
              <a:lnSpc>
                <a:spcPct val="0"/>
              </a:lnSpc>
            </a:pPr>
            <a:r>
              <a:rPr lang="en-US" sz="2000" b="1" u="none" strike="noStrike">
                <a:solidFill>
                  <a:srgbClr val="336600"/>
                </a:solidFill>
                <a:effectLst/>
                <a:uFillTx/>
                <a:latin typeface="Courier New"/>
                <a:ea typeface="Courier New"/>
              </a:rPr>
              <a:t>.</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
          <p:cNvSpPr txBox="1"/>
          <p:nvPr/>
        </p:nvSpPr>
        <p:spPr>
          <a:xfrm>
            <a:off x="1789200" y="555480"/>
            <a:ext cx="954000" cy="48960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3452656</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192" name=""/>
          <p:cNvSpPr txBox="1"/>
          <p:nvPr/>
        </p:nvSpPr>
        <p:spPr>
          <a:xfrm>
            <a:off x="1852560" y="847800"/>
            <a:ext cx="85392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a:t>
            </a:r>
            <a:endParaRPr lang="en-US" sz="800" b="0" u="none" strike="noStrike">
              <a:solidFill>
                <a:srgbClr val="000000"/>
              </a:solidFill>
              <a:effectLst/>
              <a:uFillTx/>
              <a:latin typeface="Arial"/>
            </a:endParaRPr>
          </a:p>
        </p:txBody>
      </p:sp>
      <p:sp>
        <p:nvSpPr>
          <p:cNvPr id="193" name=""/>
          <p:cNvSpPr txBox="1"/>
          <p:nvPr/>
        </p:nvSpPr>
        <p:spPr>
          <a:xfrm>
            <a:off x="860400" y="150192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nString(6:).</a:t>
            </a:r>
            <a:endParaRPr lang="en-US" sz="1600" b="0" u="none" strike="noStrike">
              <a:solidFill>
                <a:srgbClr val="000000"/>
              </a:solidFill>
              <a:effectLst/>
              <a:uFillTx/>
              <a:latin typeface="Arial"/>
            </a:endParaRPr>
          </a:p>
        </p:txBody>
      </p:sp>
      <p:sp>
        <p:nvSpPr>
          <p:cNvPr id="194" name=""/>
          <p:cNvSpPr txBox="1"/>
          <p:nvPr/>
        </p:nvSpPr>
        <p:spPr>
          <a:xfrm>
            <a:off x="1819440" y="28260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3333CC"/>
                </a:solidFill>
                <a:effectLst/>
                <a:uFillTx/>
                <a:latin typeface="Arial"/>
                <a:ea typeface="Arial"/>
              </a:rPr>
              <a:t>nString</a:t>
            </a:r>
            <a:endParaRPr lang="en-US" sz="1600" b="0" u="none" strike="noStrike">
              <a:solidFill>
                <a:srgbClr val="000000"/>
              </a:solidFill>
              <a:effectLst/>
              <a:uFillTx/>
              <a:latin typeface="Arial"/>
            </a:endParaRPr>
          </a:p>
        </p:txBody>
      </p:sp>
      <p:sp>
        <p:nvSpPr>
          <p:cNvPr id="195" name=""/>
          <p:cNvSpPr/>
          <p:nvPr/>
        </p:nvSpPr>
        <p:spPr>
          <a:xfrm>
            <a:off x="1698480" y="2249640"/>
            <a:ext cx="150192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96" name=""/>
          <p:cNvSpPr txBox="1"/>
          <p:nvPr/>
        </p:nvSpPr>
        <p:spPr>
          <a:xfrm>
            <a:off x="60480" y="50760"/>
            <a:ext cx="539640" cy="304920"/>
          </a:xfrm>
          <a:prstGeom prst="rect">
            <a:avLst/>
          </a:prstGeom>
          <a:noFill/>
          <a:ln w="0">
            <a:noFill/>
          </a:ln>
        </p:spPr>
        <p:txBody>
          <a:bodyPr lIns="0" tIns="0" rIns="0" bIns="0" anchor="t">
            <a:spAutoFit/>
          </a:bodyPr>
          <a:p>
            <a:pPr>
              <a:lnSpc>
                <a:spcPct val="100000"/>
              </a:lnSpc>
            </a:pPr>
            <a:r>
              <a:rPr lang="en-US" sz="1400" b="0" u="none" strike="noStrike">
                <a:solidFill>
                  <a:srgbClr val="3333CC"/>
                </a:solidFill>
                <a:effectLst/>
                <a:uFillTx/>
                <a:latin typeface="Arial"/>
                <a:ea typeface="Arial"/>
              </a:rPr>
              <a:t>EG7</a:t>
            </a:r>
            <a:endParaRPr lang="en-US" sz="1400" b="0" u="none" strike="noStrike">
              <a:solidFill>
                <a:srgbClr val="000000"/>
              </a:solidFill>
              <a:effectLst/>
              <a:uFillTx/>
              <a:latin typeface="Arial"/>
            </a:endParaRPr>
          </a:p>
        </p:txBody>
      </p:sp>
      <p:sp>
        <p:nvSpPr>
          <p:cNvPr id="197" name=""/>
          <p:cNvSpPr/>
          <p:nvPr/>
        </p:nvSpPr>
        <p:spPr>
          <a:xfrm>
            <a:off x="2424240" y="846000"/>
            <a:ext cx="4680" cy="106560"/>
          </a:xfrm>
          <a:prstGeom prst="line">
            <a:avLst/>
          </a:prstGeom>
          <a:ln w="12600">
            <a:solidFill>
              <a:srgbClr val="006633"/>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98" name=""/>
          <p:cNvSpPr txBox="1"/>
          <p:nvPr/>
        </p:nvSpPr>
        <p:spPr>
          <a:xfrm>
            <a:off x="2365200" y="977760"/>
            <a:ext cx="152280" cy="288360"/>
          </a:xfrm>
          <a:prstGeom prst="rect">
            <a:avLst/>
          </a:prstGeom>
          <a:noFill/>
          <a:ln w="0">
            <a:noFill/>
          </a:ln>
        </p:spPr>
        <p:txBody>
          <a:bodyPr lIns="0" tIns="0" rIns="0" bIns="0" anchor="t">
            <a:spAutoFit/>
          </a:bodyPr>
          <a:p>
            <a:pPr>
              <a:lnSpc>
                <a:spcPct val="0"/>
              </a:lnSpc>
            </a:pPr>
            <a:r>
              <a:rPr lang="en-US" sz="2000" b="1" u="none" strike="noStrike">
                <a:solidFill>
                  <a:srgbClr val="336600"/>
                </a:solidFill>
                <a:effectLst/>
                <a:uFillTx/>
                <a:latin typeface="Courier New"/>
                <a:ea typeface="Courier New"/>
              </a:rPr>
              <a:t>.</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
          <p:cNvSpPr txBox="1"/>
          <p:nvPr/>
        </p:nvSpPr>
        <p:spPr>
          <a:xfrm>
            <a:off x="1789200" y="555480"/>
            <a:ext cx="954000" cy="48960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3452656</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200" name=""/>
          <p:cNvSpPr txBox="1"/>
          <p:nvPr/>
        </p:nvSpPr>
        <p:spPr>
          <a:xfrm>
            <a:off x="1852560" y="847800"/>
            <a:ext cx="85392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a:t>
            </a:r>
            <a:endParaRPr lang="en-US" sz="800" b="0" u="none" strike="noStrike">
              <a:solidFill>
                <a:srgbClr val="000000"/>
              </a:solidFill>
              <a:effectLst/>
              <a:uFillTx/>
              <a:latin typeface="Arial"/>
            </a:endParaRPr>
          </a:p>
        </p:txBody>
      </p:sp>
      <p:sp>
        <p:nvSpPr>
          <p:cNvPr id="201" name=""/>
          <p:cNvSpPr txBox="1"/>
          <p:nvPr/>
        </p:nvSpPr>
        <p:spPr>
          <a:xfrm>
            <a:off x="860400" y="150192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nString(6:).</a:t>
            </a:r>
            <a:endParaRPr lang="en-US" sz="1600" b="0" u="none" strike="noStrike">
              <a:solidFill>
                <a:srgbClr val="000000"/>
              </a:solidFill>
              <a:effectLst/>
              <a:uFillTx/>
              <a:latin typeface="Arial"/>
            </a:endParaRPr>
          </a:p>
        </p:txBody>
      </p:sp>
      <p:sp>
        <p:nvSpPr>
          <p:cNvPr id="202" name=""/>
          <p:cNvSpPr txBox="1"/>
          <p:nvPr/>
        </p:nvSpPr>
        <p:spPr>
          <a:xfrm>
            <a:off x="1819440" y="28260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nString</a:t>
            </a:r>
            <a:endParaRPr lang="en-US" sz="1600" b="0" u="none" strike="noStrike">
              <a:solidFill>
                <a:srgbClr val="000000"/>
              </a:solidFill>
              <a:effectLst/>
              <a:uFillTx/>
              <a:latin typeface="Arial"/>
            </a:endParaRPr>
          </a:p>
        </p:txBody>
      </p:sp>
      <p:sp>
        <p:nvSpPr>
          <p:cNvPr id="203" name=""/>
          <p:cNvSpPr/>
          <p:nvPr/>
        </p:nvSpPr>
        <p:spPr>
          <a:xfrm>
            <a:off x="1698480" y="2249640"/>
            <a:ext cx="150192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04" name=""/>
          <p:cNvSpPr/>
          <p:nvPr/>
        </p:nvSpPr>
        <p:spPr>
          <a:xfrm>
            <a:off x="2424240" y="846000"/>
            <a:ext cx="4680" cy="106560"/>
          </a:xfrm>
          <a:prstGeom prst="line">
            <a:avLst/>
          </a:prstGeom>
          <a:ln w="12600">
            <a:solidFill>
              <a:srgbClr val="006633"/>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205" name=""/>
          <p:cNvSpPr txBox="1"/>
          <p:nvPr/>
        </p:nvSpPr>
        <p:spPr>
          <a:xfrm>
            <a:off x="2365200" y="977760"/>
            <a:ext cx="152280" cy="288360"/>
          </a:xfrm>
          <a:prstGeom prst="rect">
            <a:avLst/>
          </a:prstGeom>
          <a:noFill/>
          <a:ln w="0">
            <a:noFill/>
          </a:ln>
        </p:spPr>
        <p:txBody>
          <a:bodyPr lIns="0" tIns="0" rIns="0" bIns="0" anchor="t">
            <a:spAutoFit/>
          </a:bodyPr>
          <a:p>
            <a:pPr>
              <a:lnSpc>
                <a:spcPct val="0"/>
              </a:lnSpc>
            </a:pPr>
            <a:r>
              <a:rPr lang="en-US" sz="2000" b="1" u="none" strike="noStrike">
                <a:solidFill>
                  <a:srgbClr val="336600"/>
                </a:solidFill>
                <a:effectLst/>
                <a:uFillTx/>
                <a:latin typeface="Courier New"/>
                <a:ea typeface="Courier New"/>
              </a:rPr>
              <a:t>.</a:t>
            </a:r>
            <a:endParaRPr lang="en-US" sz="2000" b="0" u="none" strike="noStrike">
              <a:solidFill>
                <a:srgbClr val="000000"/>
              </a:solidFill>
              <a:effectLst/>
              <a:uFillTx/>
              <a:latin typeface="Arial"/>
            </a:endParaRPr>
          </a:p>
        </p:txBody>
      </p:sp>
      <p:sp>
        <p:nvSpPr>
          <p:cNvPr id="206" name=""/>
          <p:cNvSpPr/>
          <p:nvPr/>
        </p:nvSpPr>
        <p:spPr>
          <a:xfrm flipH="1" flipV="1">
            <a:off x="2476440" y="790560"/>
            <a:ext cx="466920" cy="80964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207" name=""/>
          <p:cNvSpPr/>
          <p:nvPr/>
        </p:nvSpPr>
        <p:spPr>
          <a:xfrm>
            <a:off x="2428920" y="56196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
          <p:cNvSpPr txBox="1"/>
          <p:nvPr/>
        </p:nvSpPr>
        <p:spPr>
          <a:xfrm>
            <a:off x="1789200" y="555480"/>
            <a:ext cx="954000" cy="48960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34526</a:t>
            </a:r>
            <a:r>
              <a:rPr lang="en-US" sz="1600" b="1" u="none" strike="noStrike">
                <a:solidFill>
                  <a:srgbClr val="FF3300"/>
                </a:solidFill>
                <a:effectLst/>
                <a:uFillTx/>
                <a:latin typeface="Courier New"/>
                <a:ea typeface="Courier New"/>
              </a:rPr>
              <a:t>56</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209" name=""/>
          <p:cNvSpPr txBox="1"/>
          <p:nvPr/>
        </p:nvSpPr>
        <p:spPr>
          <a:xfrm>
            <a:off x="1852560" y="847800"/>
            <a:ext cx="85392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a:t>
            </a:r>
            <a:endParaRPr lang="en-US" sz="800" b="0" u="none" strike="noStrike">
              <a:solidFill>
                <a:srgbClr val="000000"/>
              </a:solidFill>
              <a:effectLst/>
              <a:uFillTx/>
              <a:latin typeface="Arial"/>
            </a:endParaRPr>
          </a:p>
        </p:txBody>
      </p:sp>
      <p:sp>
        <p:nvSpPr>
          <p:cNvPr id="210" name=""/>
          <p:cNvSpPr txBox="1"/>
          <p:nvPr/>
        </p:nvSpPr>
        <p:spPr>
          <a:xfrm>
            <a:off x="860400" y="150192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000000"/>
                </a:solidFill>
                <a:effectLst/>
                <a:uFillTx/>
                <a:latin typeface="Courier New"/>
                <a:ea typeface="Courier New"/>
              </a:rPr>
              <a:t>DISPLAY nString(6:).</a:t>
            </a:r>
            <a:endParaRPr lang="en-US" sz="1600" b="0" u="none" strike="noStrike">
              <a:solidFill>
                <a:srgbClr val="000000"/>
              </a:solidFill>
              <a:effectLst/>
              <a:uFillTx/>
              <a:latin typeface="Arial"/>
            </a:endParaRPr>
          </a:p>
        </p:txBody>
      </p:sp>
      <p:sp>
        <p:nvSpPr>
          <p:cNvPr id="211" name=""/>
          <p:cNvSpPr txBox="1"/>
          <p:nvPr/>
        </p:nvSpPr>
        <p:spPr>
          <a:xfrm>
            <a:off x="1819440" y="28260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nString</a:t>
            </a:r>
            <a:endParaRPr lang="en-US" sz="1600" b="0" u="none" strike="noStrike">
              <a:solidFill>
                <a:srgbClr val="000000"/>
              </a:solidFill>
              <a:effectLst/>
              <a:uFillTx/>
              <a:latin typeface="Arial"/>
            </a:endParaRPr>
          </a:p>
        </p:txBody>
      </p:sp>
      <p:sp>
        <p:nvSpPr>
          <p:cNvPr id="212" name=""/>
          <p:cNvSpPr/>
          <p:nvPr/>
        </p:nvSpPr>
        <p:spPr>
          <a:xfrm>
            <a:off x="1698480" y="2249640"/>
            <a:ext cx="1501920" cy="665280"/>
          </a:xfrm>
          <a:prstGeom prst="rect">
            <a:avLst/>
          </a:prstGeom>
          <a:solidFill>
            <a:srgbClr val="FFFFCC"/>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213" name=""/>
          <p:cNvSpPr/>
          <p:nvPr/>
        </p:nvSpPr>
        <p:spPr>
          <a:xfrm>
            <a:off x="2424240" y="846000"/>
            <a:ext cx="4680" cy="106560"/>
          </a:xfrm>
          <a:prstGeom prst="line">
            <a:avLst/>
          </a:prstGeom>
          <a:ln w="12600">
            <a:solidFill>
              <a:srgbClr val="006633"/>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214" name=""/>
          <p:cNvSpPr txBox="1"/>
          <p:nvPr/>
        </p:nvSpPr>
        <p:spPr>
          <a:xfrm>
            <a:off x="2365200" y="977760"/>
            <a:ext cx="152280" cy="288360"/>
          </a:xfrm>
          <a:prstGeom prst="rect">
            <a:avLst/>
          </a:prstGeom>
          <a:noFill/>
          <a:ln w="0">
            <a:noFill/>
          </a:ln>
        </p:spPr>
        <p:txBody>
          <a:bodyPr lIns="0" tIns="0" rIns="0" bIns="0" anchor="t">
            <a:spAutoFit/>
          </a:bodyPr>
          <a:p>
            <a:pPr>
              <a:lnSpc>
                <a:spcPct val="0"/>
              </a:lnSpc>
            </a:pPr>
            <a:r>
              <a:rPr lang="en-US" sz="2000" b="1" u="none" strike="noStrike">
                <a:solidFill>
                  <a:srgbClr val="336600"/>
                </a:solidFill>
                <a:effectLst/>
                <a:uFillTx/>
                <a:latin typeface="Courier New"/>
                <a:ea typeface="Courier New"/>
              </a:rPr>
              <a:t>.</a:t>
            </a:r>
            <a:endParaRPr lang="en-US" sz="2000" b="0" u="none" strike="noStrike">
              <a:solidFill>
                <a:srgbClr val="000000"/>
              </a:solidFill>
              <a:effectLst/>
              <a:uFillTx/>
              <a:latin typeface="Arial"/>
            </a:endParaRPr>
          </a:p>
        </p:txBody>
      </p:sp>
      <p:sp>
        <p:nvSpPr>
          <p:cNvPr id="215" name=""/>
          <p:cNvSpPr/>
          <p:nvPr/>
        </p:nvSpPr>
        <p:spPr>
          <a:xfrm flipH="1" flipV="1">
            <a:off x="2552760" y="866880"/>
            <a:ext cx="523800" cy="799920"/>
          </a:xfrm>
          <a:prstGeom prst="line">
            <a:avLst/>
          </a:prstGeom>
          <a:ln w="12600">
            <a:solidFill>
              <a:srgbClr val="000000"/>
            </a:solidFill>
            <a:round/>
            <a:tailEnd len="med" type="triangle" w="me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216" name=""/>
          <p:cNvSpPr/>
          <p:nvPr/>
        </p:nvSpPr>
        <p:spPr>
          <a:xfrm>
            <a:off x="2428920" y="561960"/>
            <a:ext cx="0" cy="28584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7" name=""/>
          <p:cNvSpPr/>
          <p:nvPr/>
        </p:nvSpPr>
        <p:spPr>
          <a:xfrm>
            <a:off x="2428920" y="828720"/>
            <a:ext cx="285840" cy="0"/>
          </a:xfrm>
          <a:prstGeom prst="line">
            <a:avLst/>
          </a:prstGeom>
          <a:ln w="25560">
            <a:solidFill>
              <a:srgbClr val="FF3300"/>
            </a:solidFill>
            <a:round/>
          </a:ln>
        </p:spPr>
        <p:style>
          <a:lnRef idx="0"/>
          <a:fillRef idx="0"/>
          <a:effectRef idx="0"/>
          <a:fontRef idx="minor"/>
        </p:style>
        <p:txBody>
          <a:bodyPr lIns="102600" tIns="-57600" rIns="102600" bIns="-57600" anchor="t">
            <a:noAutofit/>
          </a:bodyPr>
          <a:p>
            <a:endParaRPr lang="en-US" sz="1800" b="0" u="none" strike="noStrike">
              <a:solidFill>
                <a:srgbClr val="000000"/>
              </a:solidFill>
              <a:effectLst/>
              <a:uFillTx/>
              <a:latin typeface="Arial"/>
            </a:endParaRPr>
          </a:p>
        </p:txBody>
      </p:sp>
      <p:sp>
        <p:nvSpPr>
          <p:cNvPr id="218" name=""/>
          <p:cNvSpPr txBox="1"/>
          <p:nvPr/>
        </p:nvSpPr>
        <p:spPr>
          <a:xfrm>
            <a:off x="2422440" y="1193760"/>
            <a:ext cx="836640" cy="122400"/>
          </a:xfrm>
          <a:prstGeom prst="rect">
            <a:avLst/>
          </a:prstGeom>
          <a:solidFill>
            <a:srgbClr val="FFFFFF"/>
          </a:solid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To end of string</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
          <p:cNvSpPr txBox="1"/>
          <p:nvPr/>
        </p:nvSpPr>
        <p:spPr>
          <a:xfrm>
            <a:off x="1789200" y="555480"/>
            <a:ext cx="954000" cy="489600"/>
          </a:xfrm>
          <a:prstGeom prst="rect">
            <a:avLst/>
          </a:prstGeom>
          <a:solidFill>
            <a:srgbClr val="FFFFCC"/>
          </a:solidFill>
          <a:ln w="12600">
            <a:solidFill>
              <a:srgbClr val="000000"/>
            </a:solidFill>
            <a:round/>
          </a:ln>
        </p:spPr>
        <p:txBody>
          <a:bodyPr lIns="0" tIns="0" rIns="0" bIns="0" anchor="t">
            <a:spAutoFit/>
          </a:bodyPr>
          <a:p>
            <a:pPr>
              <a:lnSpc>
                <a:spcPct val="100000"/>
              </a:lnSpc>
            </a:pPr>
            <a:r>
              <a:rPr lang="en-US" sz="1600" b="1" u="none" strike="noStrike">
                <a:solidFill>
                  <a:srgbClr val="000000"/>
                </a:solidFill>
                <a:effectLst/>
                <a:uFillTx/>
                <a:latin typeface="Courier New"/>
                <a:ea typeface="Courier New"/>
              </a:rPr>
              <a:t>34526</a:t>
            </a:r>
            <a:r>
              <a:rPr lang="en-US" sz="1600" b="1" u="none" strike="noStrike">
                <a:solidFill>
                  <a:srgbClr val="FF3300"/>
                </a:solidFill>
                <a:effectLst/>
                <a:uFillTx/>
                <a:latin typeface="Courier New"/>
                <a:ea typeface="Courier New"/>
              </a:rPr>
              <a:t>56</a:t>
            </a:r>
            <a:r>
              <a:rPr lang="en-US" sz="1600" b="0" u="none" strike="noStrike">
                <a:solidFill>
                  <a:srgbClr val="000000"/>
                </a:solidFill>
                <a:effectLst/>
                <a:uFillTx/>
                <a:latin typeface="Courier New"/>
                <a:ea typeface="Courier New"/>
              </a:rPr>
              <a:t>   </a:t>
            </a:r>
            <a:r>
              <a:rPr lang="en-US" sz="1800" b="0" u="none" strike="noStrike">
                <a:solidFill>
                  <a:srgbClr val="000000"/>
                </a:solidFill>
                <a:effectLst/>
                <a:uFillTx/>
                <a:latin typeface="Courier New"/>
                <a:ea typeface="Courier New"/>
              </a:rPr>
              <a:t>  </a:t>
            </a:r>
            <a:endParaRPr lang="en-US" sz="1800" b="0" u="none" strike="noStrike">
              <a:solidFill>
                <a:srgbClr val="000000"/>
              </a:solidFill>
              <a:effectLst/>
              <a:uFillTx/>
              <a:latin typeface="Arial"/>
            </a:endParaRPr>
          </a:p>
        </p:txBody>
      </p:sp>
      <p:sp>
        <p:nvSpPr>
          <p:cNvPr id="220" name=""/>
          <p:cNvSpPr txBox="1"/>
          <p:nvPr/>
        </p:nvSpPr>
        <p:spPr>
          <a:xfrm>
            <a:off x="1852560" y="847800"/>
            <a:ext cx="853920" cy="122400"/>
          </a:xfrm>
          <a:prstGeom prst="rect">
            <a:avLst/>
          </a:prstGeom>
          <a:noFill/>
          <a:ln w="0">
            <a:noFill/>
          </a:ln>
        </p:spPr>
        <p:txBody>
          <a:bodyPr lIns="0" tIns="0" rIns="0" bIns="0" anchor="t">
            <a:spAutoFit/>
          </a:bodyPr>
          <a:p>
            <a:pPr>
              <a:lnSpc>
                <a:spcPct val="100000"/>
              </a:lnSpc>
              <a:spcBef>
                <a:spcPts val="1199"/>
              </a:spcBef>
            </a:pPr>
            <a:r>
              <a:rPr lang="en-US" sz="800" b="0" u="none" strike="noStrike">
                <a:solidFill>
                  <a:srgbClr val="000000"/>
                </a:solidFill>
                <a:effectLst/>
                <a:uFillTx/>
                <a:latin typeface="Courier New"/>
                <a:ea typeface="Courier New"/>
              </a:rPr>
              <a:t>1 2 3 4 5 6 7 </a:t>
            </a:r>
            <a:endParaRPr lang="en-US" sz="800" b="0" u="none" strike="noStrike">
              <a:solidFill>
                <a:srgbClr val="000000"/>
              </a:solidFill>
              <a:effectLst/>
              <a:uFillTx/>
              <a:latin typeface="Arial"/>
            </a:endParaRPr>
          </a:p>
        </p:txBody>
      </p:sp>
      <p:sp>
        <p:nvSpPr>
          <p:cNvPr id="221" name=""/>
          <p:cNvSpPr txBox="1"/>
          <p:nvPr/>
        </p:nvSpPr>
        <p:spPr>
          <a:xfrm>
            <a:off x="860400" y="1501920"/>
            <a:ext cx="3044880" cy="39384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nSpc>
                <a:spcPct val="90000"/>
              </a:lnSpc>
              <a:tabLst>
                <a:tab pos="3333600" algn="l"/>
              </a:tabLst>
            </a:pPr>
            <a:r>
              <a:rPr lang="en-US" sz="1600" b="1" u="none" strike="noStrike">
                <a:solidFill>
                  <a:srgbClr val="FF3300"/>
                </a:solidFill>
                <a:effectLst/>
                <a:uFillTx/>
                <a:latin typeface="Courier New"/>
                <a:ea typeface="Courier New"/>
              </a:rPr>
              <a:t>DISPLAY nString(6:).</a:t>
            </a:r>
            <a:endParaRPr lang="en-US" sz="1600" b="0" u="none" strike="noStrike">
              <a:solidFill>
                <a:srgbClr val="000000"/>
              </a:solidFill>
              <a:effectLst/>
              <a:uFillTx/>
              <a:latin typeface="Arial"/>
            </a:endParaRPr>
          </a:p>
        </p:txBody>
      </p:sp>
      <p:sp>
        <p:nvSpPr>
          <p:cNvPr id="222" name=""/>
          <p:cNvSpPr txBox="1"/>
          <p:nvPr/>
        </p:nvSpPr>
        <p:spPr>
          <a:xfrm>
            <a:off x="1819440" y="282600"/>
            <a:ext cx="853920" cy="244440"/>
          </a:xfrm>
          <a:prstGeom prst="rect">
            <a:avLst/>
          </a:prstGeom>
          <a:noFill/>
          <a:ln w="0">
            <a:noFill/>
          </a:ln>
        </p:spPr>
        <p:txBody>
          <a:bodyPr lIns="0" tIns="0" rIns="0" bIns="0" anchor="t">
            <a:spAutoFit/>
          </a:bodyPr>
          <a:p>
            <a:pPr>
              <a:lnSpc>
                <a:spcPct val="100000"/>
              </a:lnSpc>
            </a:pPr>
            <a:r>
              <a:rPr lang="en-US" sz="1600" b="1" u="none" strike="noStrike">
                <a:solidFill>
                  <a:srgbClr val="000000"/>
                </a:solidFill>
                <a:effectLst/>
                <a:uFillTx/>
                <a:latin typeface="Arial"/>
                <a:ea typeface="Arial"/>
              </a:rPr>
              <a:t>nString</a:t>
            </a:r>
            <a:endParaRPr lang="en-US" sz="1600" b="0" u="none" strike="noStrike">
              <a:solidFill>
                <a:srgbClr val="000000"/>
              </a:solidFill>
              <a:effectLst/>
              <a:uFillTx/>
              <a:latin typeface="Arial"/>
            </a:endParaRPr>
          </a:p>
        </p:txBody>
      </p:sp>
      <p:sp>
        <p:nvSpPr>
          <p:cNvPr id="223" name=""/>
          <p:cNvSpPr txBox="1"/>
          <p:nvPr/>
        </p:nvSpPr>
        <p:spPr>
          <a:xfrm>
            <a:off x="1698480" y="2249640"/>
            <a:ext cx="1501920" cy="665280"/>
          </a:xfrm>
          <a:prstGeom prst="rect">
            <a:avLst/>
          </a:prstGeom>
          <a:solidFill>
            <a:srgbClr val="FFFFCC"/>
          </a:solidFill>
          <a:ln w="12600">
            <a:solidFill>
              <a:srgbClr val="000000"/>
            </a:solidFill>
            <a:round/>
          </a:ln>
          <a:effectLst>
            <a:outerShdw dist="0" dir="0" rotWithShape="0">
              <a:srgbClr val="969696"/>
            </a:outerShdw>
          </a:effectLst>
        </p:spPr>
        <p:txBody>
          <a:bodyPr lIns="0" tIns="0" rIns="0" bIns="0" anchor="t">
            <a:spAutoFit/>
          </a:bodyPr>
          <a:p>
            <a:pPr algn="ctr">
              <a:lnSpc>
                <a:spcPct val="100000"/>
              </a:lnSpc>
            </a:pPr>
            <a:r>
              <a:rPr lang="en-US" sz="1800" b="1" u="none" strike="noStrike">
                <a:solidFill>
                  <a:srgbClr val="009900"/>
                </a:solidFill>
                <a:effectLst/>
                <a:uFillTx/>
                <a:latin typeface="Arial"/>
                <a:ea typeface="Arial"/>
              </a:rPr>
              <a:t>56</a:t>
            </a:r>
            <a:endParaRPr lang="en-US" sz="1800" b="0" u="none" strike="noStrike">
              <a:solidFill>
                <a:srgbClr val="000000"/>
              </a:solidFill>
              <a:effectLst/>
              <a:uFillTx/>
              <a:latin typeface="Arial"/>
            </a:endParaRPr>
          </a:p>
        </p:txBody>
      </p:sp>
      <p:sp>
        <p:nvSpPr>
          <p:cNvPr id="224" name=""/>
          <p:cNvSpPr/>
          <p:nvPr/>
        </p:nvSpPr>
        <p:spPr>
          <a:xfrm>
            <a:off x="2424240" y="846000"/>
            <a:ext cx="4680" cy="106560"/>
          </a:xfrm>
          <a:prstGeom prst="line">
            <a:avLst/>
          </a:prstGeom>
          <a:ln w="12600">
            <a:solidFill>
              <a:srgbClr val="006633"/>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225" name=""/>
          <p:cNvSpPr txBox="1"/>
          <p:nvPr/>
        </p:nvSpPr>
        <p:spPr>
          <a:xfrm>
            <a:off x="2365200" y="977760"/>
            <a:ext cx="152280" cy="288360"/>
          </a:xfrm>
          <a:prstGeom prst="rect">
            <a:avLst/>
          </a:prstGeom>
          <a:noFill/>
          <a:ln w="0">
            <a:noFill/>
          </a:ln>
        </p:spPr>
        <p:txBody>
          <a:bodyPr lIns="0" tIns="0" rIns="0" bIns="0" anchor="t">
            <a:spAutoFit/>
          </a:bodyPr>
          <a:p>
            <a:pPr>
              <a:lnSpc>
                <a:spcPct val="0"/>
              </a:lnSpc>
            </a:pPr>
            <a:r>
              <a:rPr lang="en-US" sz="2000" b="1" u="none" strike="noStrike">
                <a:solidFill>
                  <a:srgbClr val="336600"/>
                </a:solidFill>
                <a:effectLst/>
                <a:uFillTx/>
                <a:latin typeface="Courier New"/>
                <a:ea typeface="Courier New"/>
              </a:rPr>
              <a:t>.</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
          <p:cNvSpPr txBox="1"/>
          <p:nvPr/>
        </p:nvSpPr>
        <p:spPr>
          <a:xfrm>
            <a:off x="1546200" y="1201680"/>
            <a:ext cx="2146320" cy="396720"/>
          </a:xfrm>
          <a:prstGeom prst="rect">
            <a:avLst/>
          </a:prstGeom>
          <a:noFill/>
          <a:ln w="0">
            <a:noFill/>
          </a:ln>
        </p:spPr>
        <p:txBody>
          <a:bodyPr lIns="0" tIns="0" rIns="0" bIns="0" anchor="t">
            <a:spAutoFit/>
          </a:bodyPr>
          <a:p>
            <a:pPr>
              <a:lnSpc>
                <a:spcPct val="100000"/>
              </a:lnSpc>
            </a:pPr>
            <a:r>
              <a:rPr lang="en-US" sz="2000" b="0" u="none" strike="noStrike">
                <a:solidFill>
                  <a:srgbClr val="CC0000"/>
                </a:solidFill>
                <a:effectLst/>
                <a:uFillTx/>
                <a:latin typeface="Arial"/>
                <a:ea typeface="Arial"/>
              </a:rPr>
              <a:t>End of examples.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LibreOffice/26.2.2.2$Windows_X86_64 LibreOffice_project/1f77d10d6938fd34972958f64b2bcfa54f8b1ba5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Michael Coughlan</dc:creator>
  <dc:description/>
  <dc:language>en-US</dc:language>
  <cp:lastModifiedBy>Michael Coughlan</cp:lastModifiedBy>
  <cp:revision>0</cp:revision>
  <dc:subject/>
  <dc:title>No Slide Title</dc:title>
</cp:coreProperties>
</file>