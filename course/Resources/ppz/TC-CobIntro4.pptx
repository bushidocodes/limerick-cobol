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1" r:id="rId2"/>
    <p:sldId id="272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F0E30"/>
    <a:srgbClr val="00279F"/>
    <a:srgbClr val="037C03"/>
    <a:srgbClr val="FDFFE9"/>
    <a:srgbClr val="FCF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2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65AE9C0-BDA4-AC18-169F-2439C7B6C8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6F9EDC3-FC07-B2D4-53A6-D749BD78DD1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38B5CE4-A6F0-EFD7-8EBF-063025E3F1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b="0" i="1">
                <a:effectLst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1A97CAD-1794-3E05-E0B0-D25F24B8370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i="1">
                <a:effectLst/>
              </a:defRPr>
            </a:lvl1pPr>
          </a:lstStyle>
          <a:p>
            <a:fld id="{B4D5C27F-7CEA-46DD-B721-27924F23A09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642330A-0CB2-3336-C7DA-21B9ADE37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7733E742-A34A-4926-82BF-C31B1984CA81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17C0E83-4320-D0F0-76F2-2E611F3CC2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EB40959-49FE-E528-D41D-AAA27D1E1C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06752EC-60B0-1D92-B4F0-197486CC4C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260CF63-BA4A-5D3E-6F11-14AD2C399C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effectLst/>
                <a:latin typeface="Times New Roman" panose="02020603050405020304" pitchFamily="18" charset="0"/>
              </a:defRPr>
            </a:lvl1pPr>
          </a:lstStyle>
          <a:p>
            <a:fld id="{D7BDDDB9-AA61-4113-9AE0-E5FE52EEFC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FCA3986-B983-F07C-CB21-318D995A6C1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384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EBF2F4E-A826-1C4F-BA12-CE34F47A5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8707438"/>
            <a:ext cx="75882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13" tIns="44450" rIns="87313" bIns="44450">
            <a:spAutoFit/>
          </a:bodyPr>
          <a:lstStyle>
            <a:lvl1pPr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3497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68363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03338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36725" defTabSz="8683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939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511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083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65525" defTabSz="8683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effectLst/>
              </a:rPr>
              <a:t>Page </a:t>
            </a:r>
            <a:fld id="{6F3D53E8-544B-4D6D-BD9E-B1A4F872C7AF}" type="slidenum">
              <a:rPr lang="en-US" altLang="en-US" sz="1200" b="0">
                <a:effectLst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effectLst/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3BDDA7C3-74C5-990B-4730-A9E25B1DB78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C3C80BA-1FF3-09F7-EF70-97AC0A4E8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1DC8A4-C685-4755-BAAC-2C4B77CA0DD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A5FD3D3-0AA8-DC92-2830-F277707E2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D138750-4FA8-DC02-14D6-B82269E2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797503D-C1C0-C60F-2A7B-335B22EF9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22E8FBAC-D177-1986-ED79-47BE10AA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DD04DD8-AC74-D7BB-7CA3-80D94E0A7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0C626EC-C41B-3852-74E5-BD220DE5B4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306A2FE-33D9-5359-1F6F-8E5A094C51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FFFF0C-0127-4FB1-BAD1-BC2CC2E54E9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DEAC1368-7FE8-F469-3314-E2A62E3EA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7E9770A-8310-9770-D9EE-538AA1FC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b="0" i="1">
                <a:effectLst/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EDC3D5FD-0BE7-FB33-0C1D-B0F3E3C46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F9691819-52C3-E71F-7FF9-5666A9088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F294595C-1CDA-075E-0BB4-6D58E991F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89CA73C2-64A4-946E-1651-F192B53530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2FF3-16E7-8892-3009-77555D758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7CC41-C498-8E6E-E22F-B493B5FFE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18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4E3C-D316-462D-1758-A9864A7B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36DD-6C28-D3F6-E4D5-EB01D088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900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77CC-7E97-F203-9D82-CFB91B2F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1C076-88CB-9376-42BD-042BC1197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5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2E09-E0FA-4E1A-BE97-4EF57CD6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D0701-C055-A8C3-4C87-52FA19C83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ABEBE-7158-612C-684F-68BE361E1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577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2006-067B-DF03-442E-C1315A23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60E2F-849F-471B-4909-2E2BCA010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4F2-8595-DBF5-874A-2C22940E3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31FA6-8ACA-7901-1E69-35458C637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D6B0D-D7AE-DB43-4922-655F8F17F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197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50F0-5B07-D3F5-BC5B-0A1922008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354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46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FC7-6A9D-5021-B7F2-C76AF049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AEA5-1F93-DB40-B0B1-02CE1E228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FDD33-F777-BA7A-D3ED-AAD611687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39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BC715-40DD-E168-6F5A-1F4416EC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0B27B-23D1-ADC2-263C-EC66862B8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866B0-4ACA-2663-957F-A511E21B7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178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C883-CEF9-7C98-B0AE-47050E4A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95387-841D-0F11-0EC6-518C2A04C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512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CCF81-A7A0-BA16-A8CA-3D24C4368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58DE0-D261-6F67-18C6-7EF9ED4AB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44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2A66EF-BD29-81DE-A0DC-B6DCAD7E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77788"/>
            <a:ext cx="8988425" cy="6702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9pPr>
    </p:titleStyle>
    <p:bodyStyle>
      <a:lvl1pPr marL="3810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52500" indent="-3810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65000"/>
        <a:buFont typeface="Monotype Sorts" charset="0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5240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®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209550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8CF4EA"/>
        </a:buClr>
        <a:buSzPct val="100000"/>
        <a:buFont typeface="Wingdings" panose="05000000000000000000" pitchFamily="2" charset="2"/>
        <a:buChar char="¯"/>
        <a:defRPr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2438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7255497-12DD-B4DA-0AAB-44C14AB65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Sequence-Program.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4099" name="AutoShape 3">
            <a:extLst>
              <a:ext uri="{FF2B5EF4-FFF2-40B4-BE49-F238E27FC236}">
                <a16:creationId xmlns:a16="http://schemas.microsoft.com/office/drawing/2014/main" id="{08801AD7-A4FD-53F3-7F48-0C276B72FF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61038" y="-639762"/>
            <a:ext cx="1327150" cy="2614083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Compiler Directive.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  <a:r>
              <a:rPr lang="en-US" altLang="en-US" sz="1400">
                <a:solidFill>
                  <a:srgbClr val="000000"/>
                </a:solidFill>
                <a:effectLst/>
              </a:rPr>
              <a:t>Directs the COBOL compiler to ignore the normal COBOL formatting rules.</a:t>
            </a:r>
          </a:p>
        </p:txBody>
      </p:sp>
      <p:sp>
        <p:nvSpPr>
          <p:cNvPr id="4100" name="AutoShape 4">
            <a:extLst>
              <a:ext uri="{FF2B5EF4-FFF2-40B4-BE49-F238E27FC236}">
                <a16:creationId xmlns:a16="http://schemas.microsoft.com/office/drawing/2014/main" id="{01E8744C-DDCB-19B6-2814-A47AD7536E2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92625" y="119063"/>
            <a:ext cx="2070100" cy="246062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IDENTIFICATION DIVISION.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An area of the program used to supply information about the program to both the COBOL complier and the programmer.  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7154C266-ED37-0380-BAC7-24187CBB4C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32076" y="1570037"/>
            <a:ext cx="3213100" cy="283368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 DIVISION.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An area of the program used to define/declare the data items that are to be used in the program.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The data items shown are declared using the format of ;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Level Number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Data Item Name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Storage Declaration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Initial Value</a:t>
            </a:r>
          </a:p>
          <a:p>
            <a:pPr algn="ctr"/>
            <a:endParaRPr lang="en-US" altLang="en-US" sz="1400">
              <a:solidFill>
                <a:srgbClr val="000000"/>
              </a:solidFill>
              <a:effectLst/>
            </a:endParaRPr>
          </a:p>
        </p:txBody>
      </p:sp>
      <p:sp>
        <p:nvSpPr>
          <p:cNvPr id="4102" name="AutoShape 6">
            <a:extLst>
              <a:ext uri="{FF2B5EF4-FFF2-40B4-BE49-F238E27FC236}">
                <a16:creationId xmlns:a16="http://schemas.microsoft.com/office/drawing/2014/main" id="{ACB027F5-C0AE-0916-5798-C2FFA907B2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1363" y="2970213"/>
            <a:ext cx="1565275" cy="175418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Level Number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Non-Structured data items should have a level number of 01 </a:t>
            </a:r>
          </a:p>
        </p:txBody>
      </p:sp>
      <p:sp>
        <p:nvSpPr>
          <p:cNvPr id="4103" name="AutoShape 7">
            <a:extLst>
              <a:ext uri="{FF2B5EF4-FFF2-40B4-BE49-F238E27FC236}">
                <a16:creationId xmlns:a16="http://schemas.microsoft.com/office/drawing/2014/main" id="{5333942F-ADEE-3006-5581-12DF6583644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705100" y="2506663"/>
            <a:ext cx="657225" cy="1653646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Data-Item Name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</p:txBody>
      </p:sp>
      <p:sp>
        <p:nvSpPr>
          <p:cNvPr id="4104" name="AutoShape 8">
            <a:extLst>
              <a:ext uri="{FF2B5EF4-FFF2-40B4-BE49-F238E27FC236}">
                <a16:creationId xmlns:a16="http://schemas.microsoft.com/office/drawing/2014/main" id="{DE9D6400-0E95-E020-E520-82429C9131B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86187" y="3617913"/>
            <a:ext cx="3013075" cy="209020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Storage Declaration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Data items are declared using a kind of  declaration by example.  In this case PIC 99 declares storage sufficient to hold values between 0 and 99 (i.e. two digits)</a:t>
            </a:r>
          </a:p>
        </p:txBody>
      </p:sp>
      <p:sp>
        <p:nvSpPr>
          <p:cNvPr id="4105" name="AutoShape 9">
            <a:extLst>
              <a:ext uri="{FF2B5EF4-FFF2-40B4-BE49-F238E27FC236}">
                <a16:creationId xmlns:a16="http://schemas.microsoft.com/office/drawing/2014/main" id="{542F8F90-58EC-5872-430E-45E568E4F51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194425" y="3063876"/>
            <a:ext cx="1800225" cy="174095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Value Clause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In this case the Value Clause assigns an initial value of 00 to the data item.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 autoUpdateAnimBg="0"/>
      <p:bldP spid="4100" grpId="0" animBg="1" autoUpdateAnimBg="0"/>
      <p:bldP spid="4101" grpId="0" animBg="1" autoUpdateAnimBg="0"/>
      <p:bldP spid="4102" grpId="0" animBg="1" autoUpdateAnimBg="0"/>
      <p:bldP spid="4103" grpId="0" animBg="1" autoUpdateAnimBg="0"/>
      <p:bldP spid="4104" grpId="0" animBg="1" autoUpdateAnimBg="0"/>
      <p:bldP spid="410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11DFF5-3F11-C689-2F8D-A62A961A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53988"/>
            <a:ext cx="64008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$ SET SOURCEFORMAT"FREE"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IDENTIFICATION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PROGRAM-ID.  Sequence-Program.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AUTHOR.  Michael Coughlan.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WORKING-STORAGE SECTION.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Num1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Num2           PIC 9  VALUE ZEROS.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01  Result         PIC 99 VALUE ZEROS.</a:t>
            </a:r>
          </a:p>
          <a:p>
            <a:endParaRPr lang="en-US" altLang="en-US" sz="200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PROCEDURE DIVISION.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Calc-Result.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Num1.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ACCEPT Num2.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MULTIPLY Num1 BY Num2 GIVING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DISPLAY "Result is = ", Result.</a:t>
            </a:r>
          </a:p>
          <a:p>
            <a:r>
              <a:rPr lang="en-US" altLang="en-US" sz="200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STOP RUN.</a:t>
            </a:r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  <a:p>
            <a:endParaRPr lang="en-US" altLang="en-US" b="0">
              <a:solidFill>
                <a:srgbClr val="000000"/>
              </a:solidFill>
              <a:effectLst/>
            </a:endParaRPr>
          </a:p>
        </p:txBody>
      </p:sp>
      <p:sp>
        <p:nvSpPr>
          <p:cNvPr id="6147" name="AutoShape 3">
            <a:extLst>
              <a:ext uri="{FF2B5EF4-FFF2-40B4-BE49-F238E27FC236}">
                <a16:creationId xmlns:a16="http://schemas.microsoft.com/office/drawing/2014/main" id="{3BC763CF-5E07-482D-F33D-2679ACAE9D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43463" y="1928813"/>
            <a:ext cx="2270125" cy="4273021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38100" tIns="46038" rIns="38100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PROCEDURE DIVISION.</a:t>
            </a:r>
            <a:r>
              <a:rPr lang="en-US" altLang="en-US" sz="1600">
                <a:solidFill>
                  <a:srgbClr val="000000"/>
                </a:solidFill>
                <a:effectLst/>
              </a:rPr>
              <a:t>  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The PROCEDURE DIVISION is the area of the program where we write our algorithmic solution to the problem to be solved.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Notice the separation between the declaration of the data items and the statements that manipulate the values of those data items.</a:t>
            </a:r>
          </a:p>
        </p:txBody>
      </p:sp>
      <p:sp>
        <p:nvSpPr>
          <p:cNvPr id="6148" name="AutoShape 4">
            <a:extLst>
              <a:ext uri="{FF2B5EF4-FFF2-40B4-BE49-F238E27FC236}">
                <a16:creationId xmlns:a16="http://schemas.microsoft.com/office/drawing/2014/main" id="{2AF44A83-90E3-38E5-3F6E-108B5EDAA4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44850" y="3009901"/>
            <a:ext cx="854075" cy="237595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Paragraph Name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A name given to a section of code.</a:t>
            </a:r>
          </a:p>
        </p:txBody>
      </p:sp>
      <p:sp>
        <p:nvSpPr>
          <p:cNvPr id="6149" name="AutoShape 5">
            <a:extLst>
              <a:ext uri="{FF2B5EF4-FFF2-40B4-BE49-F238E27FC236}">
                <a16:creationId xmlns:a16="http://schemas.microsoft.com/office/drawing/2014/main" id="{67B4B654-5A95-D8A0-C59F-CC8478C81E3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70313" y="3392487"/>
            <a:ext cx="1327150" cy="2886604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ACCEPT from keyboard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Takes data typed at the keyboard by the user and places it into the data item (Num1 or Num2)</a:t>
            </a:r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B275C490-4652-4D66-D3F5-6314EDEBCC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380163" y="4067175"/>
            <a:ext cx="1562100" cy="2913063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Arithmetic Calculation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This calcuation multiplies the value in Num1 by the value in Num2 and places the result in Result - but I suppose you guessed that.</a:t>
            </a:r>
          </a:p>
        </p:txBody>
      </p:sp>
      <p:sp>
        <p:nvSpPr>
          <p:cNvPr id="6151" name="AutoShape 7">
            <a:extLst>
              <a:ext uri="{FF2B5EF4-FFF2-40B4-BE49-F238E27FC236}">
                <a16:creationId xmlns:a16="http://schemas.microsoft.com/office/drawing/2014/main" id="{B2B159E8-D10D-44BF-CC85-9C9D7C1060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951" y="3998912"/>
            <a:ext cx="1327150" cy="340518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CFFD9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2075" tIns="46038" rIns="92075" bIns="4603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DISPLAY to screen</a:t>
            </a:r>
          </a:p>
          <a:p>
            <a:pPr algn="ctr"/>
            <a:r>
              <a:rPr lang="en-US" altLang="en-US" sz="1400">
                <a:solidFill>
                  <a:srgbClr val="000000"/>
                </a:solidFill>
                <a:effectLst/>
              </a:rPr>
              <a:t>This statement writes the specified text and the contents of the data item Result to the computer screen.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 autoUpdateAnimBg="0"/>
      <p:bldP spid="6148" grpId="0" animBg="1" autoUpdateAnimBg="0"/>
      <p:bldP spid="6149" grpId="0" animBg="1" autoUpdateAnimBg="0"/>
      <p:bldP spid="6150" grpId="0" animBg="1" autoUpdateAnimBg="0"/>
      <p:bldP spid="6151" grpId="0" animBg="1" autoUpdateAnimBg="0"/>
    </p:bldLst>
  </p:timing>
</p:sld>
</file>

<file path=ppt/theme/theme1.xml><?xml version="1.0" encoding="utf-8"?>
<a:theme xmlns:a="http://schemas.openxmlformats.org/drawingml/2006/main" name="b-slide">
  <a:themeElements>
    <a:clrScheme name="">
      <a:dk1>
        <a:srgbClr val="919191"/>
      </a:dk1>
      <a:lt1>
        <a:srgbClr val="FFFFFF"/>
      </a:lt1>
      <a:dk2>
        <a:srgbClr val="114FFB"/>
      </a:dk2>
      <a:lt2>
        <a:srgbClr val="FAFD00"/>
      </a:lt2>
      <a:accent1>
        <a:srgbClr val="DADADA"/>
      </a:accent1>
      <a:accent2>
        <a:srgbClr val="FC0128"/>
      </a:accent2>
      <a:accent3>
        <a:srgbClr val="AAB2FD"/>
      </a:accent3>
      <a:accent4>
        <a:srgbClr val="DADADA"/>
      </a:accent4>
      <a:accent5>
        <a:srgbClr val="EAEAEA"/>
      </a:accent5>
      <a:accent6>
        <a:srgbClr val="E40123"/>
      </a:accent6>
      <a:hlink>
        <a:srgbClr val="00FF00"/>
      </a:hlink>
      <a:folHlink>
        <a:srgbClr val="DC0081"/>
      </a:folHlink>
    </a:clrScheme>
    <a:fontScheme name="b-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</a:defRPr>
        </a:defPPr>
      </a:lstStyle>
    </a:lnDef>
  </a:objectDefaults>
  <a:extraClrSchemeLst>
    <a:extraClrScheme>
      <a:clrScheme name="b-slid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-slid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-slid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e:\pptdata\b-slide.ppt</Template>
  <TotalTime>1490414869</TotalTime>
  <Pages>36</Pages>
  <Words>451</Words>
  <Application>Microsoft Office PowerPoint</Application>
  <PresentationFormat>On-screen Show (4:3)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Wingdings</vt:lpstr>
      <vt:lpstr>Times New Roman</vt:lpstr>
      <vt:lpstr>Monotype Sorts</vt:lpstr>
      <vt:lpstr>Courier New</vt:lpstr>
      <vt:lpstr>b-slide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</dc:title>
  <dc:subject/>
  <dc:creator>Michael Coughlan</dc:creator>
  <cp:keywords/>
  <dc:description/>
  <cp:lastModifiedBy>Sean McBride</cp:lastModifiedBy>
  <cp:revision>1346190256</cp:revision>
  <cp:lastPrinted>1601-01-01T00:00:00Z</cp:lastPrinted>
  <dcterms:created xsi:type="dcterms:W3CDTF">1995-02-14T10:18:06Z</dcterms:created>
  <dcterms:modified xsi:type="dcterms:W3CDTF">2026-05-13T01:06:39Z</dcterms:modified>
</cp:coreProperties>
</file>