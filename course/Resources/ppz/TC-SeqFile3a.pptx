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4762500" cy="381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9080"/>
            <a:ext cx="4743360" cy="3786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905040" y="517680"/>
            <a:ext cx="2933640" cy="216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Declaring multiple record-type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, left click (or press the Page Up key) to see the next frame and right click (or press Page Down)  to see the previous 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14280" y="317520"/>
            <a:ext cx="4127400" cy="216000"/>
          </a:xfrm>
          <a:prstGeom prst="rect">
            <a:avLst/>
          </a:prstGeom>
          <a:noFill/>
          <a:ln w="12600">
            <a:solidFill>
              <a:srgbClr val="3333CC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StudentId           StudentName                     DateOfBirth   CourseCode  Gender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" name=""/>
          <p:cNvGrpSpPr/>
          <p:nvPr/>
        </p:nvGrpSpPr>
        <p:grpSpPr>
          <a:xfrm>
            <a:off x="123840" y="920880"/>
            <a:ext cx="4314600" cy="289080"/>
            <a:chOff x="123840" y="920880"/>
            <a:chExt cx="4314600" cy="289080"/>
          </a:xfrm>
        </p:grpSpPr>
        <p:sp>
          <p:nvSpPr>
            <p:cNvPr id="11" name=""/>
            <p:cNvSpPr txBox="1"/>
            <p:nvPr/>
          </p:nvSpPr>
          <p:spPr>
            <a:xfrm>
              <a:off x="1238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 txBox="1"/>
            <p:nvPr/>
          </p:nvSpPr>
          <p:spPr>
            <a:xfrm>
              <a:off x="2635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8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 txBox="1"/>
            <p:nvPr/>
          </p:nvSpPr>
          <p:spPr>
            <a:xfrm>
              <a:off x="4064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 txBox="1"/>
            <p:nvPr/>
          </p:nvSpPr>
          <p:spPr>
            <a:xfrm>
              <a:off x="5526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 txBox="1"/>
            <p:nvPr/>
          </p:nvSpPr>
          <p:spPr>
            <a:xfrm>
              <a:off x="6951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 txBox="1"/>
            <p:nvPr/>
          </p:nvSpPr>
          <p:spPr>
            <a:xfrm>
              <a:off x="8380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 txBox="1"/>
            <p:nvPr/>
          </p:nvSpPr>
          <p:spPr>
            <a:xfrm>
              <a:off x="9748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7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 txBox="1"/>
            <p:nvPr/>
          </p:nvSpPr>
          <p:spPr>
            <a:xfrm>
              <a:off x="11174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C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 txBox="1"/>
            <p:nvPr/>
          </p:nvSpPr>
          <p:spPr>
            <a:xfrm>
              <a:off x="12636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O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 txBox="1"/>
            <p:nvPr/>
          </p:nvSpPr>
          <p:spPr>
            <a:xfrm>
              <a:off x="14097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U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 txBox="1"/>
            <p:nvPr/>
          </p:nvSpPr>
          <p:spPr>
            <a:xfrm>
              <a:off x="15526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G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 txBox="1"/>
            <p:nvPr/>
          </p:nvSpPr>
          <p:spPr>
            <a:xfrm>
              <a:off x="16984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H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 txBox="1"/>
            <p:nvPr/>
          </p:nvSpPr>
          <p:spPr>
            <a:xfrm>
              <a:off x="18414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L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 txBox="1"/>
            <p:nvPr/>
          </p:nvSpPr>
          <p:spPr>
            <a:xfrm>
              <a:off x="19843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A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 txBox="1"/>
            <p:nvPr/>
          </p:nvSpPr>
          <p:spPr>
            <a:xfrm>
              <a:off x="21272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N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 txBox="1"/>
            <p:nvPr/>
          </p:nvSpPr>
          <p:spPr>
            <a:xfrm>
              <a:off x="22701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 txBox="1"/>
            <p:nvPr/>
          </p:nvSpPr>
          <p:spPr>
            <a:xfrm>
              <a:off x="24163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 txBox="1"/>
            <p:nvPr/>
          </p:nvSpPr>
          <p:spPr>
            <a:xfrm>
              <a:off x="25560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 txBox="1"/>
            <p:nvPr/>
          </p:nvSpPr>
          <p:spPr>
            <a:xfrm>
              <a:off x="26989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 txBox="1"/>
            <p:nvPr/>
          </p:nvSpPr>
          <p:spPr>
            <a:xfrm>
              <a:off x="28447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 txBox="1"/>
            <p:nvPr/>
          </p:nvSpPr>
          <p:spPr>
            <a:xfrm>
              <a:off x="29876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 txBox="1"/>
            <p:nvPr/>
          </p:nvSpPr>
          <p:spPr>
            <a:xfrm>
              <a:off x="31305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 txBox="1"/>
            <p:nvPr/>
          </p:nvSpPr>
          <p:spPr>
            <a:xfrm>
              <a:off x="32734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 txBox="1"/>
            <p:nvPr/>
          </p:nvSpPr>
          <p:spPr>
            <a:xfrm>
              <a:off x="34164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 txBox="1"/>
            <p:nvPr/>
          </p:nvSpPr>
          <p:spPr>
            <a:xfrm>
              <a:off x="35593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 txBox="1"/>
            <p:nvPr/>
          </p:nvSpPr>
          <p:spPr>
            <a:xfrm>
              <a:off x="37051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L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 txBox="1"/>
            <p:nvPr/>
          </p:nvSpPr>
          <p:spPr>
            <a:xfrm>
              <a:off x="38480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 txBox="1"/>
            <p:nvPr/>
          </p:nvSpPr>
          <p:spPr>
            <a:xfrm>
              <a:off x="39942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 txBox="1"/>
            <p:nvPr/>
          </p:nvSpPr>
          <p:spPr>
            <a:xfrm>
              <a:off x="41371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 txBox="1"/>
            <p:nvPr/>
          </p:nvSpPr>
          <p:spPr>
            <a:xfrm>
              <a:off x="42829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" name=""/>
          <p:cNvSpPr/>
          <p:nvPr/>
        </p:nvSpPr>
        <p:spPr>
          <a:xfrm>
            <a:off x="111240" y="905040"/>
            <a:ext cx="4343400" cy="31752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641600" y="171360"/>
            <a:ext cx="771480" cy="13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InsertRec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114560" y="523800"/>
            <a:ext cx="0" cy="3938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 flipH="1">
            <a:off x="123840" y="523800"/>
            <a:ext cx="19044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562120" y="523800"/>
            <a:ext cx="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 flipH="1" flipV="1">
            <a:off x="3286080" y="523800"/>
            <a:ext cx="41904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 flipH="1" flipV="1">
            <a:off x="3971880" y="523800"/>
            <a:ext cx="31752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 flipV="1">
            <a:off x="328608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 flipV="1">
            <a:off x="397188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 flipV="1">
            <a:off x="4441680" y="384120"/>
            <a:ext cx="0" cy="52092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 flipV="1">
            <a:off x="256212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V="1">
            <a:off x="111456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413080" y="1633680"/>
            <a:ext cx="2128680" cy="129852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TransFile.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01 InsertRec.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StudentName.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Surname        PIC X(8).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Initials       PIC XX.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DateOfBirth.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YOBirth        PIC 9(4).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MOBirth        PIC 99.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DOBirth        PIC 99.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CourseCode        PIC X(4).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Gender            PIC X.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7520" y="2575080"/>
            <a:ext cx="2114640" cy="106524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a file contains multiple record types, a record declaration (starting with a 01 level number) must be created for each type of record.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314280" y="317520"/>
            <a:ext cx="4127400" cy="216000"/>
          </a:xfrm>
          <a:prstGeom prst="rect">
            <a:avLst/>
          </a:prstGeom>
          <a:noFill/>
          <a:ln w="12600">
            <a:solidFill>
              <a:srgbClr val="3333CC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StudentId           StudentName                     DateOfBirth   CourseCode  Gender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228600" y="1446120"/>
            <a:ext cx="758880" cy="212760"/>
          </a:xfrm>
          <a:prstGeom prst="rect">
            <a:avLst/>
          </a:prstGeom>
          <a:noFill/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" name=""/>
          <p:cNvGrpSpPr/>
          <p:nvPr/>
        </p:nvGrpSpPr>
        <p:grpSpPr>
          <a:xfrm>
            <a:off x="123840" y="920880"/>
            <a:ext cx="4314600" cy="289080"/>
            <a:chOff x="123840" y="920880"/>
            <a:chExt cx="4314600" cy="289080"/>
          </a:xfrm>
        </p:grpSpPr>
        <p:sp>
          <p:nvSpPr>
            <p:cNvPr id="58" name=""/>
            <p:cNvSpPr txBox="1"/>
            <p:nvPr/>
          </p:nvSpPr>
          <p:spPr>
            <a:xfrm>
              <a:off x="1238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 txBox="1"/>
            <p:nvPr/>
          </p:nvSpPr>
          <p:spPr>
            <a:xfrm>
              <a:off x="2635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8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 txBox="1"/>
            <p:nvPr/>
          </p:nvSpPr>
          <p:spPr>
            <a:xfrm>
              <a:off x="4064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 txBox="1"/>
            <p:nvPr/>
          </p:nvSpPr>
          <p:spPr>
            <a:xfrm>
              <a:off x="5526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 txBox="1"/>
            <p:nvPr/>
          </p:nvSpPr>
          <p:spPr>
            <a:xfrm>
              <a:off x="6951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 txBox="1"/>
            <p:nvPr/>
          </p:nvSpPr>
          <p:spPr>
            <a:xfrm>
              <a:off x="8380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 txBox="1"/>
            <p:nvPr/>
          </p:nvSpPr>
          <p:spPr>
            <a:xfrm>
              <a:off x="9748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7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 txBox="1"/>
            <p:nvPr/>
          </p:nvSpPr>
          <p:spPr>
            <a:xfrm>
              <a:off x="11174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C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 txBox="1"/>
            <p:nvPr/>
          </p:nvSpPr>
          <p:spPr>
            <a:xfrm>
              <a:off x="12636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O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 txBox="1"/>
            <p:nvPr/>
          </p:nvSpPr>
          <p:spPr>
            <a:xfrm>
              <a:off x="14097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U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 txBox="1"/>
            <p:nvPr/>
          </p:nvSpPr>
          <p:spPr>
            <a:xfrm>
              <a:off x="15526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G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 txBox="1"/>
            <p:nvPr/>
          </p:nvSpPr>
          <p:spPr>
            <a:xfrm>
              <a:off x="16984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H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 txBox="1"/>
            <p:nvPr/>
          </p:nvSpPr>
          <p:spPr>
            <a:xfrm>
              <a:off x="18414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L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 txBox="1"/>
            <p:nvPr/>
          </p:nvSpPr>
          <p:spPr>
            <a:xfrm>
              <a:off x="19843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A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 txBox="1"/>
            <p:nvPr/>
          </p:nvSpPr>
          <p:spPr>
            <a:xfrm>
              <a:off x="21272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N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 txBox="1"/>
            <p:nvPr/>
          </p:nvSpPr>
          <p:spPr>
            <a:xfrm>
              <a:off x="22701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 txBox="1"/>
            <p:nvPr/>
          </p:nvSpPr>
          <p:spPr>
            <a:xfrm>
              <a:off x="24163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 txBox="1"/>
            <p:nvPr/>
          </p:nvSpPr>
          <p:spPr>
            <a:xfrm>
              <a:off x="25560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 txBox="1"/>
            <p:nvPr/>
          </p:nvSpPr>
          <p:spPr>
            <a:xfrm>
              <a:off x="26989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 txBox="1"/>
            <p:nvPr/>
          </p:nvSpPr>
          <p:spPr>
            <a:xfrm>
              <a:off x="28447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 txBox="1"/>
            <p:nvPr/>
          </p:nvSpPr>
          <p:spPr>
            <a:xfrm>
              <a:off x="29876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 txBox="1"/>
            <p:nvPr/>
          </p:nvSpPr>
          <p:spPr>
            <a:xfrm>
              <a:off x="31305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 txBox="1"/>
            <p:nvPr/>
          </p:nvSpPr>
          <p:spPr>
            <a:xfrm>
              <a:off x="32734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 txBox="1"/>
            <p:nvPr/>
          </p:nvSpPr>
          <p:spPr>
            <a:xfrm>
              <a:off x="34164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"/>
            <p:cNvSpPr txBox="1"/>
            <p:nvPr/>
          </p:nvSpPr>
          <p:spPr>
            <a:xfrm>
              <a:off x="35593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 txBox="1"/>
            <p:nvPr/>
          </p:nvSpPr>
          <p:spPr>
            <a:xfrm>
              <a:off x="37051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L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 txBox="1"/>
            <p:nvPr/>
          </p:nvSpPr>
          <p:spPr>
            <a:xfrm>
              <a:off x="38480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"/>
            <p:cNvSpPr txBox="1"/>
            <p:nvPr/>
          </p:nvSpPr>
          <p:spPr>
            <a:xfrm>
              <a:off x="39942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 txBox="1"/>
            <p:nvPr/>
          </p:nvSpPr>
          <p:spPr>
            <a:xfrm>
              <a:off x="41371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 txBox="1"/>
            <p:nvPr/>
          </p:nvSpPr>
          <p:spPr>
            <a:xfrm>
              <a:off x="42829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" name=""/>
          <p:cNvSpPr/>
          <p:nvPr/>
        </p:nvSpPr>
        <p:spPr>
          <a:xfrm>
            <a:off x="111240" y="905040"/>
            <a:ext cx="4343400" cy="31752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641600" y="171360"/>
            <a:ext cx="771480" cy="13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InsertRec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114560" y="523800"/>
            <a:ext cx="0" cy="3938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 flipH="1">
            <a:off x="123840" y="523800"/>
            <a:ext cx="19044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2562120" y="523800"/>
            <a:ext cx="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 flipH="1" flipV="1">
            <a:off x="3286080" y="523800"/>
            <a:ext cx="41904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 flipH="1" flipV="1">
            <a:off x="3971880" y="523800"/>
            <a:ext cx="31752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 flipV="1">
            <a:off x="328608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 flipV="1">
            <a:off x="397188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 flipV="1">
            <a:off x="4441680" y="384120"/>
            <a:ext cx="0" cy="52092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 flipV="1">
            <a:off x="256212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 flipV="1">
            <a:off x="111456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41200" y="1703520"/>
            <a:ext cx="7365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DeleteRec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 flipH="1">
            <a:off x="984240" y="1228680"/>
            <a:ext cx="130320" cy="225360"/>
          </a:xfrm>
          <a:prstGeom prst="line">
            <a:avLst/>
          </a:prstGeom>
          <a:ln w="12600">
            <a:solidFill>
              <a:srgbClr val="CC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 flipH="1" flipV="1">
            <a:off x="117360" y="1222200"/>
            <a:ext cx="111240" cy="225720"/>
          </a:xfrm>
          <a:prstGeom prst="line">
            <a:avLst/>
          </a:prstGeom>
          <a:ln w="12600">
            <a:solidFill>
              <a:srgbClr val="CC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2413080" y="1633680"/>
            <a:ext cx="2128680" cy="159372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TransFile.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01 InsertRec.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StudentName.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Surname        PIC X(8).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Initials       PIC XX.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DateOfBirth.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YOBirth        PIC 9(4).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MOBirth        PIC 99.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DOBirth        PIC 99.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CourseCode        PIC X(4).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Gender            PIC X.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01 DeleteRec.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9840" y="2563920"/>
            <a:ext cx="2220840" cy="106056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Even though there are different types of record in the file, and separate record declarations have been created for each record type,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only a single ‘record buffer’ is created for the file.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 txBox="1"/>
          <p:nvPr/>
        </p:nvSpPr>
        <p:spPr>
          <a:xfrm>
            <a:off x="314280" y="317520"/>
            <a:ext cx="4127400" cy="216000"/>
          </a:xfrm>
          <a:prstGeom prst="rect">
            <a:avLst/>
          </a:prstGeom>
          <a:noFill/>
          <a:ln w="12600">
            <a:solidFill>
              <a:srgbClr val="3333CC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StudentId           StudentName                     DateOfBirth   CourseCode  Gender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28600" y="1446120"/>
            <a:ext cx="758880" cy="212760"/>
          </a:xfrm>
          <a:prstGeom prst="rect">
            <a:avLst/>
          </a:prstGeom>
          <a:noFill/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768240" y="2346480"/>
            <a:ext cx="79524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UpdateRec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" name=""/>
          <p:cNvGrpSpPr/>
          <p:nvPr/>
        </p:nvGrpSpPr>
        <p:grpSpPr>
          <a:xfrm>
            <a:off x="123840" y="920880"/>
            <a:ext cx="4314600" cy="289080"/>
            <a:chOff x="123840" y="920880"/>
            <a:chExt cx="4314600" cy="289080"/>
          </a:xfrm>
        </p:grpSpPr>
        <p:sp>
          <p:nvSpPr>
            <p:cNvPr id="109" name=""/>
            <p:cNvSpPr txBox="1"/>
            <p:nvPr/>
          </p:nvSpPr>
          <p:spPr>
            <a:xfrm>
              <a:off x="1238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 txBox="1"/>
            <p:nvPr/>
          </p:nvSpPr>
          <p:spPr>
            <a:xfrm>
              <a:off x="2635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8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 txBox="1"/>
            <p:nvPr/>
          </p:nvSpPr>
          <p:spPr>
            <a:xfrm>
              <a:off x="4064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 txBox="1"/>
            <p:nvPr/>
          </p:nvSpPr>
          <p:spPr>
            <a:xfrm>
              <a:off x="5526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 txBox="1"/>
            <p:nvPr/>
          </p:nvSpPr>
          <p:spPr>
            <a:xfrm>
              <a:off x="6951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 txBox="1"/>
            <p:nvPr/>
          </p:nvSpPr>
          <p:spPr>
            <a:xfrm>
              <a:off x="8380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 txBox="1"/>
            <p:nvPr/>
          </p:nvSpPr>
          <p:spPr>
            <a:xfrm>
              <a:off x="9748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7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 txBox="1"/>
            <p:nvPr/>
          </p:nvSpPr>
          <p:spPr>
            <a:xfrm>
              <a:off x="11174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C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"/>
            <p:cNvSpPr txBox="1"/>
            <p:nvPr/>
          </p:nvSpPr>
          <p:spPr>
            <a:xfrm>
              <a:off x="12636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O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"/>
            <p:cNvSpPr txBox="1"/>
            <p:nvPr/>
          </p:nvSpPr>
          <p:spPr>
            <a:xfrm>
              <a:off x="14097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U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"/>
            <p:cNvSpPr txBox="1"/>
            <p:nvPr/>
          </p:nvSpPr>
          <p:spPr>
            <a:xfrm>
              <a:off x="15526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G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"/>
            <p:cNvSpPr txBox="1"/>
            <p:nvPr/>
          </p:nvSpPr>
          <p:spPr>
            <a:xfrm>
              <a:off x="16984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H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"/>
            <p:cNvSpPr txBox="1"/>
            <p:nvPr/>
          </p:nvSpPr>
          <p:spPr>
            <a:xfrm>
              <a:off x="18414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L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"/>
            <p:cNvSpPr txBox="1"/>
            <p:nvPr/>
          </p:nvSpPr>
          <p:spPr>
            <a:xfrm>
              <a:off x="19843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A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"/>
            <p:cNvSpPr txBox="1"/>
            <p:nvPr/>
          </p:nvSpPr>
          <p:spPr>
            <a:xfrm>
              <a:off x="21272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N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"/>
            <p:cNvSpPr txBox="1"/>
            <p:nvPr/>
          </p:nvSpPr>
          <p:spPr>
            <a:xfrm>
              <a:off x="22701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"/>
            <p:cNvSpPr txBox="1"/>
            <p:nvPr/>
          </p:nvSpPr>
          <p:spPr>
            <a:xfrm>
              <a:off x="24163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"/>
            <p:cNvSpPr txBox="1"/>
            <p:nvPr/>
          </p:nvSpPr>
          <p:spPr>
            <a:xfrm>
              <a:off x="25560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"/>
            <p:cNvSpPr txBox="1"/>
            <p:nvPr/>
          </p:nvSpPr>
          <p:spPr>
            <a:xfrm>
              <a:off x="26989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"/>
            <p:cNvSpPr txBox="1"/>
            <p:nvPr/>
          </p:nvSpPr>
          <p:spPr>
            <a:xfrm>
              <a:off x="28447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"/>
            <p:cNvSpPr txBox="1"/>
            <p:nvPr/>
          </p:nvSpPr>
          <p:spPr>
            <a:xfrm>
              <a:off x="29876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"/>
            <p:cNvSpPr txBox="1"/>
            <p:nvPr/>
          </p:nvSpPr>
          <p:spPr>
            <a:xfrm>
              <a:off x="313056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"/>
            <p:cNvSpPr txBox="1"/>
            <p:nvPr/>
          </p:nvSpPr>
          <p:spPr>
            <a:xfrm>
              <a:off x="327348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9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"/>
            <p:cNvSpPr txBox="1"/>
            <p:nvPr/>
          </p:nvSpPr>
          <p:spPr>
            <a:xfrm>
              <a:off x="34164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"/>
            <p:cNvSpPr txBox="1"/>
            <p:nvPr/>
          </p:nvSpPr>
          <p:spPr>
            <a:xfrm>
              <a:off x="35593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"/>
            <p:cNvSpPr txBox="1"/>
            <p:nvPr/>
          </p:nvSpPr>
          <p:spPr>
            <a:xfrm>
              <a:off x="37051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L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"/>
            <p:cNvSpPr txBox="1"/>
            <p:nvPr/>
          </p:nvSpPr>
          <p:spPr>
            <a:xfrm>
              <a:off x="384804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"/>
            <p:cNvSpPr txBox="1"/>
            <p:nvPr/>
          </p:nvSpPr>
          <p:spPr>
            <a:xfrm>
              <a:off x="399420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"/>
            <p:cNvSpPr txBox="1"/>
            <p:nvPr/>
          </p:nvSpPr>
          <p:spPr>
            <a:xfrm>
              <a:off x="41371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"/>
            <p:cNvSpPr txBox="1"/>
            <p:nvPr/>
          </p:nvSpPr>
          <p:spPr>
            <a:xfrm>
              <a:off x="4282920" y="920880"/>
              <a:ext cx="155520" cy="28908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3333CC"/>
                  </a:solidFill>
                  <a:effectLst/>
                  <a:uFillTx/>
                  <a:latin typeface="Courier New"/>
                  <a:ea typeface="Courier New"/>
                </a:rPr>
                <a:t>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" name=""/>
          <p:cNvSpPr/>
          <p:nvPr/>
        </p:nvSpPr>
        <p:spPr>
          <a:xfrm>
            <a:off x="111240" y="905040"/>
            <a:ext cx="4343400" cy="31752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641600" y="171360"/>
            <a:ext cx="771480" cy="13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InsertRec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1114560" y="523800"/>
            <a:ext cx="0" cy="3938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 flipH="1">
            <a:off x="123840" y="523800"/>
            <a:ext cx="19044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2562120" y="523800"/>
            <a:ext cx="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 flipH="1" flipV="1">
            <a:off x="3286080" y="523800"/>
            <a:ext cx="41904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 flipH="1" flipV="1">
            <a:off x="3971880" y="523800"/>
            <a:ext cx="31752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 flipV="1">
            <a:off x="328608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 flipV="1">
            <a:off x="397188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 flipV="1">
            <a:off x="4441680" y="384120"/>
            <a:ext cx="0" cy="52092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 flipV="1">
            <a:off x="256212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 flipV="1">
            <a:off x="111456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241200" y="1703520"/>
            <a:ext cx="7365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DeleteRec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17360" y="2098800"/>
            <a:ext cx="2117880" cy="212760"/>
          </a:xfrm>
          <a:prstGeom prst="rect">
            <a:avLst/>
          </a:prstGeom>
          <a:noFill/>
          <a:ln w="12600">
            <a:solidFill>
              <a:srgbClr val="0099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 StudentId           NewCourseCode 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 flipH="1">
            <a:off x="984240" y="1228680"/>
            <a:ext cx="130320" cy="225360"/>
          </a:xfrm>
          <a:prstGeom prst="line">
            <a:avLst/>
          </a:prstGeom>
          <a:ln w="12600">
            <a:solidFill>
              <a:srgbClr val="CC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 flipH="1" flipV="1">
            <a:off x="117360" y="1222200"/>
            <a:ext cx="111240" cy="225720"/>
          </a:xfrm>
          <a:prstGeom prst="line">
            <a:avLst/>
          </a:prstGeom>
          <a:ln w="12600">
            <a:solidFill>
              <a:srgbClr val="CC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 flipH="1">
            <a:off x="114480" y="1212840"/>
            <a:ext cx="2880" cy="895320"/>
          </a:xfrm>
          <a:prstGeom prst="line">
            <a:avLst/>
          </a:prstGeom>
          <a:ln w="12600">
            <a:solidFill>
              <a:srgbClr val="0099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114560" y="1203480"/>
            <a:ext cx="2880" cy="904680"/>
          </a:xfrm>
          <a:prstGeom prst="line">
            <a:avLst/>
          </a:prstGeom>
          <a:ln w="12600">
            <a:solidFill>
              <a:srgbClr val="0099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123920" y="2098800"/>
            <a:ext cx="0" cy="199800"/>
          </a:xfrm>
          <a:prstGeom prst="line">
            <a:avLst/>
          </a:prstGeom>
          <a:ln w="12600">
            <a:solidFill>
              <a:srgbClr val="00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695600" y="1222200"/>
            <a:ext cx="539640" cy="885960"/>
          </a:xfrm>
          <a:prstGeom prst="line">
            <a:avLst/>
          </a:prstGeom>
          <a:ln w="12600">
            <a:solidFill>
              <a:srgbClr val="0099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413080" y="1633680"/>
            <a:ext cx="2128680" cy="198756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TransFile.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01 InsertRec.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StudentName.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Surname        PIC X(8).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Initials       PIC XX.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DateOfBirth.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YOBirth        PIC 9(4).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MOBirth        PIC 99.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DOBirth        PIC 99.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CourseCode        PIC X(4).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Gender            PIC X.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01 DeleteRec.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01 UpdateRec.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  02 NewCourseCode     PIC X(4).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9840" y="2649600"/>
            <a:ext cx="2220840" cy="85248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All the record declarations map to this area of storage, which is the size of the largest record, and all the identifiers are current/active at the same time.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 txBox="1"/>
          <p:nvPr/>
        </p:nvSpPr>
        <p:spPr>
          <a:xfrm>
            <a:off x="314280" y="317520"/>
            <a:ext cx="4127400" cy="216000"/>
          </a:xfrm>
          <a:prstGeom prst="rect">
            <a:avLst/>
          </a:prstGeom>
          <a:noFill/>
          <a:ln w="12600">
            <a:solidFill>
              <a:srgbClr val="3333CC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StudentId           StudentName                     DateOfBirth   CourseCode  Gender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228600" y="1446120"/>
            <a:ext cx="758880" cy="212760"/>
          </a:xfrm>
          <a:prstGeom prst="rect">
            <a:avLst/>
          </a:prstGeom>
          <a:noFill/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68240" y="2346480"/>
            <a:ext cx="79524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UpdateRec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238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2635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4064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5526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9516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83808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97488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1174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2636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40976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55268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69848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8414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9843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1272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227016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24163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5560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6989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8447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9876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313056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327348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34164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35593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37051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38480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39942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41371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2829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11240" y="905040"/>
            <a:ext cx="4343400" cy="31752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641600" y="171360"/>
            <a:ext cx="771480" cy="13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InsertRec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1114560" y="523800"/>
            <a:ext cx="0" cy="3938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 flipH="1">
            <a:off x="123840" y="523800"/>
            <a:ext cx="19044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2562120" y="523800"/>
            <a:ext cx="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 flipH="1" flipV="1">
            <a:off x="3286080" y="523800"/>
            <a:ext cx="41904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 flipH="1" flipV="1">
            <a:off x="3971880" y="523800"/>
            <a:ext cx="31752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 flipV="1">
            <a:off x="328608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 flipV="1">
            <a:off x="397188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 flipV="1">
            <a:off x="4441680" y="384120"/>
            <a:ext cx="0" cy="52092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 flipV="1">
            <a:off x="256212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 flipV="1">
            <a:off x="111456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241200" y="1703520"/>
            <a:ext cx="7365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DeleteRec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17360" y="2098800"/>
            <a:ext cx="2117880" cy="212760"/>
          </a:xfrm>
          <a:prstGeom prst="rect">
            <a:avLst/>
          </a:prstGeom>
          <a:noFill/>
          <a:ln w="12600">
            <a:solidFill>
              <a:srgbClr val="0099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 StudentId           NewCourseCode 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 flipH="1">
            <a:off x="984240" y="1228680"/>
            <a:ext cx="130320" cy="225360"/>
          </a:xfrm>
          <a:prstGeom prst="line">
            <a:avLst/>
          </a:prstGeom>
          <a:ln w="12600">
            <a:solidFill>
              <a:srgbClr val="CC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 flipH="1" flipV="1">
            <a:off x="117360" y="1222200"/>
            <a:ext cx="111240" cy="225720"/>
          </a:xfrm>
          <a:prstGeom prst="line">
            <a:avLst/>
          </a:prstGeom>
          <a:ln w="12600">
            <a:solidFill>
              <a:srgbClr val="CC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 flipH="1">
            <a:off x="114480" y="1212840"/>
            <a:ext cx="2880" cy="895320"/>
          </a:xfrm>
          <a:prstGeom prst="line">
            <a:avLst/>
          </a:prstGeom>
          <a:ln w="12600">
            <a:solidFill>
              <a:srgbClr val="0099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1114560" y="1203480"/>
            <a:ext cx="2880" cy="904680"/>
          </a:xfrm>
          <a:prstGeom prst="line">
            <a:avLst/>
          </a:prstGeom>
          <a:ln w="12600">
            <a:solidFill>
              <a:srgbClr val="0099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123920" y="2098800"/>
            <a:ext cx="0" cy="199800"/>
          </a:xfrm>
          <a:prstGeom prst="line">
            <a:avLst/>
          </a:prstGeom>
          <a:ln w="12600">
            <a:solidFill>
              <a:srgbClr val="00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1695600" y="1222200"/>
            <a:ext cx="539640" cy="885960"/>
          </a:xfrm>
          <a:prstGeom prst="line">
            <a:avLst/>
          </a:prstGeom>
          <a:ln w="12600">
            <a:solidFill>
              <a:srgbClr val="0099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2413080" y="1633680"/>
            <a:ext cx="2128680" cy="198756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TransFile.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01 InsertRec.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StudentName.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Surname        PIC X(8).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Initials       PIC XX.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DateOfBirth.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YOBirth        PIC 9(4).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MOBirth        PIC 99.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DOBirth        PIC 99.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CourseCode        PIC X(4).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Gender            PIC X.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01 DeleteRec.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01 UpdateRec.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  02 NewCourseCode     PIC X(4).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0480" y="2562120"/>
            <a:ext cx="2220840" cy="85248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a record smaller than the size of the largest record is read into the buffer, any data that is not explicitly overwritten is left intact.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 txBox="1"/>
          <p:nvPr/>
        </p:nvSpPr>
        <p:spPr>
          <a:xfrm>
            <a:off x="314280" y="317520"/>
            <a:ext cx="4127400" cy="216000"/>
          </a:xfrm>
          <a:prstGeom prst="rect">
            <a:avLst/>
          </a:prstGeom>
          <a:noFill/>
          <a:ln w="12600">
            <a:solidFill>
              <a:srgbClr val="3333CC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StudentId           StudentName                     DateOfBirth   CourseCode  Gender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228600" y="1446120"/>
            <a:ext cx="758880" cy="212760"/>
          </a:xfrm>
          <a:prstGeom prst="rect">
            <a:avLst/>
          </a:prstGeom>
          <a:noFill/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StudentId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768240" y="2346480"/>
            <a:ext cx="79524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UpdateRec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238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635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4064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526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69516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83808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97488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1174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12636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40976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55268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69848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8414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9843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21272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227016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4163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5560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26989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8447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9876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313056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327348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34164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35593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37051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384804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399420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1371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282920" y="920880"/>
            <a:ext cx="155520" cy="289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Courier New"/>
                <a:ea typeface="Courier New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111240" y="905040"/>
            <a:ext cx="4343400" cy="317520"/>
          </a:xfrm>
          <a:prstGeom prst="rect">
            <a:avLst/>
          </a:prstGeom>
          <a:noFill/>
          <a:ln w="25560">
            <a:solidFill>
              <a:srgbClr val="00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641600" y="171360"/>
            <a:ext cx="771480" cy="13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InsertRec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1114560" y="523800"/>
            <a:ext cx="0" cy="3938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 flipH="1">
            <a:off x="123840" y="523800"/>
            <a:ext cx="19044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2562120" y="523800"/>
            <a:ext cx="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 flipH="1" flipV="1">
            <a:off x="3286080" y="523800"/>
            <a:ext cx="41904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 flipH="1" flipV="1">
            <a:off x="3971880" y="523800"/>
            <a:ext cx="317520" cy="38124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 flipV="1">
            <a:off x="328608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 flipV="1">
            <a:off x="397188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 flipV="1">
            <a:off x="4441680" y="384120"/>
            <a:ext cx="0" cy="520920"/>
          </a:xfrm>
          <a:prstGeom prst="line">
            <a:avLst/>
          </a:prstGeom>
          <a:ln w="12600">
            <a:solidFill>
              <a:srgbClr val="3333CC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 flipV="1">
            <a:off x="256212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 flipV="1">
            <a:off x="1114560" y="320760"/>
            <a:ext cx="0" cy="203040"/>
          </a:xfrm>
          <a:prstGeom prst="line">
            <a:avLst/>
          </a:prstGeom>
          <a:ln w="126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241200" y="1703520"/>
            <a:ext cx="7365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DeleteRec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17360" y="2098800"/>
            <a:ext cx="2117880" cy="212760"/>
          </a:xfrm>
          <a:prstGeom prst="rect">
            <a:avLst/>
          </a:prstGeom>
          <a:noFill/>
          <a:ln w="12600">
            <a:solidFill>
              <a:srgbClr val="0099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 StudentId           NewCourseCode 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 flipH="1">
            <a:off x="984240" y="1228680"/>
            <a:ext cx="130320" cy="225360"/>
          </a:xfrm>
          <a:prstGeom prst="line">
            <a:avLst/>
          </a:prstGeom>
          <a:ln w="12600">
            <a:solidFill>
              <a:srgbClr val="CC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 flipH="1" flipV="1">
            <a:off x="117360" y="1222200"/>
            <a:ext cx="111240" cy="225720"/>
          </a:xfrm>
          <a:prstGeom prst="line">
            <a:avLst/>
          </a:prstGeom>
          <a:ln w="12600">
            <a:solidFill>
              <a:srgbClr val="CC00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 flipH="1">
            <a:off x="114480" y="1212840"/>
            <a:ext cx="2880" cy="895320"/>
          </a:xfrm>
          <a:prstGeom prst="line">
            <a:avLst/>
          </a:prstGeom>
          <a:ln w="12600">
            <a:solidFill>
              <a:srgbClr val="0099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1114560" y="1203480"/>
            <a:ext cx="2880" cy="904680"/>
          </a:xfrm>
          <a:prstGeom prst="line">
            <a:avLst/>
          </a:prstGeom>
          <a:ln w="12600">
            <a:solidFill>
              <a:srgbClr val="0099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1123920" y="2098800"/>
            <a:ext cx="0" cy="199800"/>
          </a:xfrm>
          <a:prstGeom prst="line">
            <a:avLst/>
          </a:prstGeom>
          <a:ln w="12600">
            <a:solidFill>
              <a:srgbClr val="00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1695600" y="1222200"/>
            <a:ext cx="539640" cy="885960"/>
          </a:xfrm>
          <a:prstGeom prst="line">
            <a:avLst/>
          </a:prstGeom>
          <a:ln w="12600">
            <a:solidFill>
              <a:srgbClr val="009900"/>
            </a:solidFill>
            <a:custDash>
              <a:ds d="100000" sp="1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2413080" y="1633680"/>
            <a:ext cx="2128680" cy="198756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TransFile.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01 InsertRec.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StudentName.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Surname        PIC X(8).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Initials       PIC XX.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DateOfBirth.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YOBirth        PIC 9(4).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MOBirth        PIC 99.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03 DOBirth        PIC 99.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CourseCode        PIC X(4).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02 Gender            PIC X.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01 DeleteRec.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01 UpdateRec.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  02 StudentId         PIC 9(7).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800" b="0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  02 NewCourseCode     PIC X(4).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0480" y="2562120"/>
            <a:ext cx="2220840" cy="85248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a record smaller than the size of the largest record is read into the buffer, any data that is not explicitly overwritten is left intact.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