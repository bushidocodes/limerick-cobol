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1160"/>
            <a:ext cx="4746600" cy="379080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54000" y="250920"/>
            <a:ext cx="4260960" cy="1874880"/>
            <a:chOff x="54000" y="250920"/>
            <a:chExt cx="4260960" cy="1874880"/>
          </a:xfrm>
        </p:grpSpPr>
        <p:sp>
          <p:nvSpPr>
            <p:cNvPr id="9" name=""/>
            <p:cNvSpPr txBox="1"/>
            <p:nvPr/>
          </p:nvSpPr>
          <p:spPr>
            <a:xfrm>
              <a:off x="54000" y="250920"/>
              <a:ext cx="2287440" cy="1552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2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DayStr   PIC XX.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2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MonthStr PIC XX.</a:t>
              </a: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	</a:t>
              </a:r>
              <a:r>
                <a:rPr lang="en-US" sz="12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   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2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YearStr  PIC XX.</a:t>
              </a: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	</a:t>
              </a:r>
              <a:r>
                <a:rPr lang="en-US" sz="12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   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2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DateStr  PIC X(14).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" name=""/>
            <p:cNvGrpSpPr/>
            <p:nvPr/>
          </p:nvGrpSpPr>
          <p:grpSpPr>
            <a:xfrm>
              <a:off x="447840" y="1784520"/>
              <a:ext cx="3867120" cy="311040"/>
              <a:chOff x="447840" y="1784520"/>
              <a:chExt cx="3867120" cy="311040"/>
            </a:xfrm>
          </p:grpSpPr>
          <p:sp>
            <p:nvSpPr>
              <p:cNvPr id="11" name=""/>
              <p:cNvSpPr/>
              <p:nvPr/>
            </p:nvSpPr>
            <p:spPr>
              <a:xfrm>
                <a:off x="447840" y="1784520"/>
                <a:ext cx="3867120" cy="3110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73512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100476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129852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56852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83024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210816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2378160" y="1789200"/>
                <a:ext cx="0" cy="3016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2647800" y="1785960"/>
                <a:ext cx="0" cy="2998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2941560" y="1785960"/>
                <a:ext cx="0" cy="2998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3211560" y="1785960"/>
                <a:ext cx="0" cy="2998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3473280" y="1785960"/>
                <a:ext cx="0" cy="2998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3754440" y="1785960"/>
                <a:ext cx="0" cy="2998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4021200" y="1785960"/>
                <a:ext cx="0" cy="29988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"/>
            <p:cNvSpPr txBox="1"/>
            <p:nvPr/>
          </p:nvSpPr>
          <p:spPr>
            <a:xfrm>
              <a:off x="409680" y="1758960"/>
              <a:ext cx="2790720" cy="36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FF"/>
                  </a:solidFill>
                  <a:effectLst/>
                  <a:uFillTx/>
                  <a:latin typeface="Courier New"/>
                  <a:ea typeface="Courier New"/>
                </a:rPr>
                <a:t>1 9 - 0 8 - 1 9 9 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" name=""/>
            <p:cNvGrpSpPr/>
            <p:nvPr/>
          </p:nvGrpSpPr>
          <p:grpSpPr>
            <a:xfrm>
              <a:off x="2060640" y="347760"/>
              <a:ext cx="596880" cy="312840"/>
              <a:chOff x="2060640" y="347760"/>
              <a:chExt cx="596880" cy="312840"/>
            </a:xfrm>
          </p:grpSpPr>
          <p:sp>
            <p:nvSpPr>
              <p:cNvPr id="27" name=""/>
              <p:cNvSpPr/>
              <p:nvPr/>
            </p:nvSpPr>
            <p:spPr>
              <a:xfrm>
                <a:off x="2060640" y="347760"/>
                <a:ext cx="596880" cy="3128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2368440" y="363600"/>
                <a:ext cx="0" cy="28404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" name=""/>
            <p:cNvGrpSpPr/>
            <p:nvPr/>
          </p:nvGrpSpPr>
          <p:grpSpPr>
            <a:xfrm>
              <a:off x="2060640" y="723960"/>
              <a:ext cx="596880" cy="312840"/>
              <a:chOff x="2060640" y="723960"/>
              <a:chExt cx="596880" cy="312840"/>
            </a:xfrm>
          </p:grpSpPr>
          <p:sp>
            <p:nvSpPr>
              <p:cNvPr id="30" name=""/>
              <p:cNvSpPr/>
              <p:nvPr/>
            </p:nvSpPr>
            <p:spPr>
              <a:xfrm>
                <a:off x="2060640" y="723960"/>
                <a:ext cx="596880" cy="3128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2368440" y="739800"/>
                <a:ext cx="0" cy="28404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" name=""/>
            <p:cNvGrpSpPr/>
            <p:nvPr/>
          </p:nvGrpSpPr>
          <p:grpSpPr>
            <a:xfrm>
              <a:off x="2060640" y="1101600"/>
              <a:ext cx="596880" cy="312840"/>
              <a:chOff x="2060640" y="1101600"/>
              <a:chExt cx="596880" cy="312840"/>
            </a:xfrm>
          </p:grpSpPr>
          <p:sp>
            <p:nvSpPr>
              <p:cNvPr id="33" name=""/>
              <p:cNvSpPr/>
              <p:nvPr/>
            </p:nvSpPr>
            <p:spPr>
              <a:xfrm>
                <a:off x="2060640" y="1101600"/>
                <a:ext cx="596880" cy="3128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2368440" y="1117440"/>
                <a:ext cx="0" cy="2844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2050920" y="318960"/>
              <a:ext cx="184320" cy="36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" name=""/>
          <p:cNvSpPr txBox="1"/>
          <p:nvPr/>
        </p:nvSpPr>
        <p:spPr>
          <a:xfrm>
            <a:off x="47520" y="2608200"/>
            <a:ext cx="448308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"19-08-1995"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INTO DayStr,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DayStr SPACE MonthStr SPACE YearStr.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Example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42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"/>
          <p:cNvSpPr txBox="1"/>
          <p:nvPr/>
        </p:nvSpPr>
        <p:spPr>
          <a:xfrm>
            <a:off x="409680" y="1758960"/>
            <a:ext cx="2790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- 0 8 - 1 9 9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58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61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"/>
          <p:cNvGrpSpPr/>
          <p:nvPr/>
        </p:nvGrpSpPr>
        <p:grpSpPr>
          <a:xfrm>
            <a:off x="2060640" y="1101600"/>
            <a:ext cx="596880" cy="312840"/>
            <a:chOff x="2060640" y="1101600"/>
            <a:chExt cx="596880" cy="312840"/>
          </a:xfrm>
        </p:grpSpPr>
        <p:sp>
          <p:nvSpPr>
            <p:cNvPr id="64" name=""/>
            <p:cNvSpPr/>
            <p:nvPr/>
          </p:nvSpPr>
          <p:spPr>
            <a:xfrm>
              <a:off x="2060640" y="110160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2368440" y="1117440"/>
              <a:ext cx="0" cy="284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7520" y="2608200"/>
            <a:ext cx="448308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"19-08-1995"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INTO DayStr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DayStr SPACE MonthStr SPACE YearStr.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38120" y="1743120"/>
            <a:ext cx="514440" cy="38088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85800" y="485640"/>
            <a:ext cx="1343520" cy="1257840"/>
          </a:xfrm>
          <a:custGeom>
            <a:avLst/>
            <a:gdLst/>
            <a:ahLst/>
            <a:rect l="0" t="0" r="r" b="b"/>
            <a:pathLst>
              <a:path fill="none" w="3732" h="3494">
                <a:moveTo>
                  <a:pt x="3732" y="0"/>
                </a:moveTo>
                <a:lnTo>
                  <a:pt x="3732" y="0"/>
                </a:lnTo>
                <a:cubicBezTo>
                  <a:pt x="3077" y="0"/>
                  <a:pt x="2433" y="161"/>
                  <a:pt x="1866" y="468"/>
                </a:cubicBezTo>
                <a:cubicBezTo>
                  <a:pt x="1299" y="775"/>
                  <a:pt x="828" y="1216"/>
                  <a:pt x="500" y="1747"/>
                </a:cubicBezTo>
                <a:cubicBezTo>
                  <a:pt x="172" y="2278"/>
                  <a:pt x="0" y="2881"/>
                  <a:pt x="0" y="3494"/>
                </a:cubicBezTo>
              </a:path>
            </a:pathLst>
          </a:custGeom>
          <a:ln w="12600">
            <a:solidFill>
              <a:srgbClr val="FF33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75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"/>
          <p:cNvSpPr txBox="1"/>
          <p:nvPr/>
        </p:nvSpPr>
        <p:spPr>
          <a:xfrm>
            <a:off x="409680" y="1758960"/>
            <a:ext cx="2790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- 0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8 - 1 9 9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91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94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" name=""/>
          <p:cNvGrpSpPr/>
          <p:nvPr/>
        </p:nvGrpSpPr>
        <p:grpSpPr>
          <a:xfrm>
            <a:off x="2060640" y="1101600"/>
            <a:ext cx="596880" cy="312840"/>
            <a:chOff x="2060640" y="1101600"/>
            <a:chExt cx="596880" cy="312840"/>
          </a:xfrm>
        </p:grpSpPr>
        <p:sp>
          <p:nvSpPr>
            <p:cNvPr id="97" name=""/>
            <p:cNvSpPr/>
            <p:nvPr/>
          </p:nvSpPr>
          <p:spPr>
            <a:xfrm>
              <a:off x="2060640" y="110160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2368440" y="1117440"/>
              <a:ext cx="0" cy="284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7520" y="2608200"/>
            <a:ext cx="448308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"19-08-1995"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INTO DayStr,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MonthStr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DayStr SPACE MonthStr SPACE YearStr.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90720" y="1752480"/>
            <a:ext cx="514440" cy="38088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258200" y="895320"/>
            <a:ext cx="771120" cy="856800"/>
          </a:xfrm>
          <a:custGeom>
            <a:avLst/>
            <a:gdLst/>
            <a:ahLst/>
            <a:rect l="0" t="0" r="r" b="b"/>
            <a:pathLst>
              <a:path fill="none" w="2142" h="2380">
                <a:moveTo>
                  <a:pt x="2142" y="0"/>
                </a:moveTo>
                <a:lnTo>
                  <a:pt x="2142" y="0"/>
                </a:lnTo>
                <a:lnTo>
                  <a:pt x="2142" y="0"/>
                </a:lnTo>
                <a:cubicBezTo>
                  <a:pt x="1766" y="0"/>
                  <a:pt x="1396" y="115"/>
                  <a:pt x="1070" y="333"/>
                </a:cubicBezTo>
                <a:cubicBezTo>
                  <a:pt x="744" y="552"/>
                  <a:pt x="473" y="866"/>
                  <a:pt x="285" y="1245"/>
                </a:cubicBezTo>
                <a:cubicBezTo>
                  <a:pt x="113" y="1591"/>
                  <a:pt x="15" y="1980"/>
                  <a:pt x="0" y="2380"/>
                </a:cubicBezTo>
              </a:path>
            </a:pathLst>
          </a:custGeom>
          <a:ln w="12600">
            <a:solidFill>
              <a:srgbClr val="FF33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05092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 txBox="1"/>
          <p:nvPr/>
        </p:nvSpPr>
        <p:spPr>
          <a:xfrm>
            <a:off x="54000" y="250920"/>
            <a:ext cx="32018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X(4).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109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" name=""/>
          <p:cNvSpPr txBox="1"/>
          <p:nvPr/>
        </p:nvSpPr>
        <p:spPr>
          <a:xfrm>
            <a:off x="409680" y="1758960"/>
            <a:ext cx="278928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9 - 0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8 -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9 5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125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128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7520" y="2608200"/>
            <a:ext cx="4483080" cy="82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"19-08-95"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INTO DayStr,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571760" y="1752480"/>
            <a:ext cx="1028880" cy="38088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05092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- 0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041560" y="107316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8 - 1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829160" y="1266840"/>
            <a:ext cx="257400" cy="501480"/>
          </a:xfrm>
          <a:custGeom>
            <a:avLst/>
            <a:gdLst/>
            <a:ahLst/>
            <a:rect l="0" t="0" r="r" b="b"/>
            <a:pathLst>
              <a:path fill="none" w="715" h="1393">
                <a:moveTo>
                  <a:pt x="715" y="22"/>
                </a:moveTo>
                <a:lnTo>
                  <a:pt x="715" y="22"/>
                </a:lnTo>
                <a:cubicBezTo>
                  <a:pt x="680" y="7"/>
                  <a:pt x="645" y="0"/>
                  <a:pt x="609" y="0"/>
                </a:cubicBezTo>
                <a:cubicBezTo>
                  <a:pt x="502" y="0"/>
                  <a:pt x="397" y="67"/>
                  <a:pt x="304" y="195"/>
                </a:cubicBezTo>
                <a:cubicBezTo>
                  <a:pt x="212" y="323"/>
                  <a:pt x="135" y="507"/>
                  <a:pt x="81" y="728"/>
                </a:cubicBezTo>
                <a:cubicBezTo>
                  <a:pt x="32" y="931"/>
                  <a:pt x="4" y="1159"/>
                  <a:pt x="0" y="1393"/>
                </a:cubicBezTo>
              </a:path>
            </a:pathLst>
          </a:custGeom>
          <a:ln w="12600">
            <a:solidFill>
              <a:srgbClr val="FF33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145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"/>
          <p:cNvSpPr txBox="1"/>
          <p:nvPr/>
        </p:nvSpPr>
        <p:spPr>
          <a:xfrm>
            <a:off x="409680" y="1758960"/>
            <a:ext cx="2790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9 - 0 8 - 1 9 9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0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161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164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6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7520" y="2608200"/>
            <a:ext cx="4483080" cy="82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"19-08-95"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INTO DayStr,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05092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- 0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068640" y="309600"/>
            <a:ext cx="1398600" cy="595440"/>
          </a:xfrm>
          <a:prstGeom prst="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Chars Left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2041560" y="107316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8 - 1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179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2 5 - 0 7 - 1 9 9 6 l o s 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195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198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" name=""/>
          <p:cNvSpPr/>
          <p:nvPr/>
        </p:nvSpPr>
        <p:spPr>
          <a:xfrm>
            <a:off x="2050920" y="318960"/>
            <a:ext cx="184320" cy="36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47520" y="2608200"/>
            <a:ext cx="384192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"25-07-1996lost"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DayStr,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Example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211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5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2 5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0 7 - 1 9 9 6 l o s 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6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227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9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230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2" name=""/>
          <p:cNvSpPr txBox="1"/>
          <p:nvPr/>
        </p:nvSpPr>
        <p:spPr>
          <a:xfrm>
            <a:off x="47520" y="2608200"/>
            <a:ext cx="384192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"25-07-1996lost"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INTO DayStr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2 5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2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243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2 5 -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0 7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1 9 9 6 l o s 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8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259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1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262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4" name=""/>
          <p:cNvSpPr txBox="1"/>
          <p:nvPr/>
        </p:nvSpPr>
        <p:spPr>
          <a:xfrm>
            <a:off x="47520" y="2608200"/>
            <a:ext cx="384192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"25-07-1996lost"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INTO DayStr, MonthStr,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2 5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5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276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2 5 - 0 7 -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6 l o s 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1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292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4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295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7" name=""/>
          <p:cNvSpPr txBox="1"/>
          <p:nvPr/>
        </p:nvSpPr>
        <p:spPr>
          <a:xfrm>
            <a:off x="47520" y="2608200"/>
            <a:ext cx="384192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"25-07-1996lost"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INTO DayStr, MonthStr, YearStr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"Chars Left"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END-UNSTRING.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2 5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2041560" y="107316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724120" y="76320"/>
            <a:ext cx="2009880" cy="151452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the DELIMITED BY clause is used, transfer of characters to the current destination string only ends when a delimiter, or the end of the source string ,  is encountered.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again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735280" y="76320"/>
            <a:ext cx="2009880" cy="151452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Because YearStr is not large enough to hold all the characters transferred to it, the last 4 characters are lost.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Since all the characters in the source string have been examined, the ON OVERFLOW does not trigger.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1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312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6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3 0 e n d 0 6 e n d 1 9 9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7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328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0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331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3" name=""/>
          <p:cNvSpPr txBox="1"/>
          <p:nvPr/>
        </p:nvSpPr>
        <p:spPr>
          <a:xfrm>
            <a:off x="47520" y="2608200"/>
            <a:ext cx="439092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"30end06end1997" TO DateStr.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"end"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DayStr, MonthStr, YearStr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Example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2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343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7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3 0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e n d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0 6 e n d 1 9 9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8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359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1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362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4" name=""/>
          <p:cNvSpPr txBox="1"/>
          <p:nvPr/>
        </p:nvSpPr>
        <p:spPr>
          <a:xfrm>
            <a:off x="47520" y="2608200"/>
            <a:ext cx="439092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"30end06end1997" TO DateStr.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"end"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INTO DayStr,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MonthStr, YearStr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3 0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4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375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9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3 0 e n d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0 6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e n d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1 9 9 7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0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391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3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394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6" name=""/>
          <p:cNvSpPr txBox="1"/>
          <p:nvPr/>
        </p:nvSpPr>
        <p:spPr>
          <a:xfrm>
            <a:off x="47520" y="2608200"/>
            <a:ext cx="439092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"30end06end1997" TO DateStr.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"end"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INTO DayStr, MonthStr,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YearStr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3 0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7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408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2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3 0 e n d 0 6 e n d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3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424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6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427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9" name=""/>
          <p:cNvSpPr txBox="1"/>
          <p:nvPr/>
        </p:nvSpPr>
        <p:spPr>
          <a:xfrm>
            <a:off x="47520" y="2608200"/>
            <a:ext cx="439092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"30end06end1997" TO DateStr.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"end"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DayStr, MonthStr, YearStr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ON OVERFLOW DISPLAY "Chars Left"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14400" y="2219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645" y="1312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3 0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2050920" y="108252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1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442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5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6" name=""/>
          <p:cNvSpPr txBox="1"/>
          <p:nvPr/>
        </p:nvSpPr>
        <p:spPr>
          <a:xfrm>
            <a:off x="409680" y="1758960"/>
            <a:ext cx="2790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9 - 0 5 /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7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458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0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461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3" name=""/>
          <p:cNvSpPr txBox="1"/>
          <p:nvPr/>
        </p:nvSpPr>
        <p:spPr>
          <a:xfrm>
            <a:off x="57240" y="2430360"/>
            <a:ext cx="4562640" cy="137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"09-05/1998"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"/" OR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INTO DayStr   DELIMITER IN Hold1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MonthStr DELIMITER IN Hold2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YearStr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Hold1 SPACE Hold2.      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Example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2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473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7" name=""/>
          <p:cNvSpPr txBox="1"/>
          <p:nvPr/>
        </p:nvSpPr>
        <p:spPr>
          <a:xfrm>
            <a:off x="409680" y="1758960"/>
            <a:ext cx="278928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0 9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0 5 /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8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489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1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492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4" name=""/>
          <p:cNvSpPr txBox="1"/>
          <p:nvPr/>
        </p:nvSpPr>
        <p:spPr>
          <a:xfrm>
            <a:off x="57240" y="2430360"/>
            <a:ext cx="4562640" cy="137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"09-05/1998"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"/" OR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INTO DayStr   DELIMITER IN Hold1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MonthStr DELIMITER IN Hold2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YearStr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Hold1 SPACE Hold2.      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4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505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9" name=""/>
          <p:cNvSpPr txBox="1"/>
          <p:nvPr/>
        </p:nvSpPr>
        <p:spPr>
          <a:xfrm>
            <a:off x="409680" y="1758960"/>
            <a:ext cx="278748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9 -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0 5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0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521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3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524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6" name=""/>
          <p:cNvSpPr txBox="1"/>
          <p:nvPr/>
        </p:nvSpPr>
        <p:spPr>
          <a:xfrm>
            <a:off x="57240" y="2430360"/>
            <a:ext cx="4562640" cy="137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"09-05/1998"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"/" OR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INTO DayStr   DELIMITER IN Hold1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MonthStr DELIMITER IN Hold2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YearStr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Hold1 SPACE Hold2.      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7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538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2" name=""/>
          <p:cNvSpPr txBox="1"/>
          <p:nvPr/>
        </p:nvSpPr>
        <p:spPr>
          <a:xfrm>
            <a:off x="409680" y="1758960"/>
            <a:ext cx="2790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9 - 0 5 /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3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554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6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557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9" name=""/>
          <p:cNvSpPr txBox="1"/>
          <p:nvPr/>
        </p:nvSpPr>
        <p:spPr>
          <a:xfrm>
            <a:off x="57240" y="2430360"/>
            <a:ext cx="4562640" cy="137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"09-05/1998"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"/" OR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INTO DayStr   DELIMITER IN Hold1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MonthStr DELIMITER IN Hold2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 YearStr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Hold1 SPACE Hold2.      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2050920" y="108252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1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572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6" name=""/>
          <p:cNvSpPr txBox="1"/>
          <p:nvPr/>
        </p:nvSpPr>
        <p:spPr>
          <a:xfrm>
            <a:off x="409680" y="1758960"/>
            <a:ext cx="2790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9 - 0 5 /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7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588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0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591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3" name=""/>
          <p:cNvSpPr txBox="1"/>
          <p:nvPr/>
        </p:nvSpPr>
        <p:spPr>
          <a:xfrm>
            <a:off x="57240" y="2430360"/>
            <a:ext cx="4562640" cy="137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"09-05/1998"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"/" OR "-"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INTO DayStr   DELIMITER IN Hold1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MonthStr DELIMITER IN Hold2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YearStr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DISPLAY Hold1 SPACE Hold2.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3068640" y="309600"/>
            <a:ext cx="1398600" cy="595440"/>
          </a:xfrm>
          <a:prstGeom prst="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 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050920" y="108252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5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606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0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1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622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4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625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7" name=""/>
          <p:cNvSpPr txBox="1"/>
          <p:nvPr/>
        </p:nvSpPr>
        <p:spPr>
          <a:xfrm>
            <a:off x="57240" y="2430360"/>
            <a:ext cx="456264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ALL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DayStr,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Example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6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637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1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1 5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 - 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2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653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5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656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8" name=""/>
          <p:cNvSpPr txBox="1"/>
          <p:nvPr/>
        </p:nvSpPr>
        <p:spPr>
          <a:xfrm>
            <a:off x="57240" y="2430360"/>
            <a:ext cx="456264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ALL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INTO DayStr,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1009800" y="1695600"/>
            <a:ext cx="752400" cy="44784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2771640" y="76320"/>
            <a:ext cx="1973160" cy="11523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the ALL is used, contiguous delimiters are treated as a single delimiter.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0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671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5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0 7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 - 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6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687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9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690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2" name=""/>
          <p:cNvSpPr txBox="1"/>
          <p:nvPr/>
        </p:nvSpPr>
        <p:spPr>
          <a:xfrm>
            <a:off x="57240" y="2430360"/>
            <a:ext cx="456264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ALL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INTO DayStr, MonthStr,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2400480" y="1714680"/>
            <a:ext cx="752400" cy="44784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4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705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9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- 0 7 - - - 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0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721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3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724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6" name=""/>
          <p:cNvSpPr txBox="1"/>
          <p:nvPr/>
        </p:nvSpPr>
        <p:spPr>
          <a:xfrm>
            <a:off x="57240" y="2430360"/>
            <a:ext cx="456264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ALL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INTO DayStr, MonthStr, YearStr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050920" y="108252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8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739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3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4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755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7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758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0" name=""/>
          <p:cNvSpPr txBox="1"/>
          <p:nvPr/>
        </p:nvSpPr>
        <p:spPr>
          <a:xfrm>
            <a:off x="57240" y="2430360"/>
            <a:ext cx="4562640" cy="10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ALL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DayStr,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2050920" y="108252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2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773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4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5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4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5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7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8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789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1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792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4" name=""/>
          <p:cNvSpPr txBox="1"/>
          <p:nvPr/>
        </p:nvSpPr>
        <p:spPr>
          <a:xfrm>
            <a:off x="57240" y="2430360"/>
            <a:ext cx="456264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DayStr, MonthStr, YearStr.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DayStr,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Example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3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804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8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9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820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1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2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823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5" name=""/>
          <p:cNvSpPr txBox="1"/>
          <p:nvPr/>
        </p:nvSpPr>
        <p:spPr>
          <a:xfrm>
            <a:off x="57240" y="2430360"/>
            <a:ext cx="456264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ZEROS TO DayStr, MonthStr, YearStr.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DayStr,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2050920" y="107316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0 0 0 0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7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838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2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1 5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-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3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854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6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857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9" name=""/>
          <p:cNvSpPr txBox="1"/>
          <p:nvPr/>
        </p:nvSpPr>
        <p:spPr>
          <a:xfrm>
            <a:off x="57240" y="2430360"/>
            <a:ext cx="456264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DayStr, MonthStr, YearStr.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INTO DayStr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2050920" y="107316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0 0 0 0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2060640" y="7016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743040" y="504720"/>
            <a:ext cx="1352880" cy="1248120"/>
          </a:xfrm>
          <a:custGeom>
            <a:avLst/>
            <a:gdLst/>
            <a:ahLst/>
            <a:rect l="0" t="0" r="r" b="b"/>
            <a:pathLst>
              <a:path fill="none" w="3758" h="3467">
                <a:moveTo>
                  <a:pt x="3758" y="0"/>
                </a:moveTo>
                <a:lnTo>
                  <a:pt x="3758" y="0"/>
                </a:lnTo>
                <a:cubicBezTo>
                  <a:pt x="3098" y="0"/>
                  <a:pt x="2450" y="160"/>
                  <a:pt x="1879" y="464"/>
                </a:cubicBezTo>
                <a:cubicBezTo>
                  <a:pt x="1308" y="769"/>
                  <a:pt x="833" y="1206"/>
                  <a:pt x="503" y="1734"/>
                </a:cubicBezTo>
                <a:cubicBezTo>
                  <a:pt x="174" y="2261"/>
                  <a:pt x="0" y="2858"/>
                  <a:pt x="0" y="3467"/>
                </a:cubicBezTo>
              </a:path>
            </a:pathLst>
          </a:custGeom>
          <a:ln w="12600">
            <a:solidFill>
              <a:srgbClr val="FF33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447840" y="1724040"/>
            <a:ext cx="561960" cy="39996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3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874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8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9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890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2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893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5" name=""/>
          <p:cNvSpPr txBox="1"/>
          <p:nvPr/>
        </p:nvSpPr>
        <p:spPr>
          <a:xfrm>
            <a:off x="57240" y="2430360"/>
            <a:ext cx="456264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DayStr, MonthStr, YearStr.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UNSTRING DateStr DELIMITED BY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INTO DayStr, MonthStr,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1200240" y="1724040"/>
            <a:ext cx="133200" cy="39996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2857680" y="114480"/>
            <a:ext cx="1866960" cy="11336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the second delimiter is encountered there are no characters to move so the destination string is filled with spaces.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2050920" y="1073160"/>
            <a:ext cx="1144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0 0 0 0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1266840" y="885960"/>
            <a:ext cx="829080" cy="857520"/>
          </a:xfrm>
          <a:custGeom>
            <a:avLst/>
            <a:gdLst/>
            <a:ahLst/>
            <a:rect l="0" t="0" r="r" b="b"/>
            <a:pathLst>
              <a:path fill="none" w="2303" h="2382">
                <a:moveTo>
                  <a:pt x="2303" y="0"/>
                </a:moveTo>
                <a:lnTo>
                  <a:pt x="2303" y="0"/>
                </a:lnTo>
                <a:cubicBezTo>
                  <a:pt x="1899" y="0"/>
                  <a:pt x="1502" y="110"/>
                  <a:pt x="1151" y="319"/>
                </a:cubicBezTo>
                <a:cubicBezTo>
                  <a:pt x="801" y="528"/>
                  <a:pt x="511" y="829"/>
                  <a:pt x="309" y="1191"/>
                </a:cubicBezTo>
                <a:cubicBezTo>
                  <a:pt x="106" y="1553"/>
                  <a:pt x="0" y="1964"/>
                  <a:pt x="0" y="2382"/>
                </a:cubicBezTo>
              </a:path>
            </a:pathLst>
          </a:custGeom>
          <a:ln w="12600">
            <a:solidFill>
              <a:srgbClr val="FF33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9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910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5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6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7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9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0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1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4" name=""/>
          <p:cNvSpPr txBox="1"/>
          <p:nvPr/>
        </p:nvSpPr>
        <p:spPr>
          <a:xfrm>
            <a:off x="409680" y="1758960"/>
            <a:ext cx="38862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</a:t>
            </a:r>
            <a:r>
              <a:rPr lang="en-US" sz="18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5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926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7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8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929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1" name=""/>
          <p:cNvSpPr txBox="1"/>
          <p:nvPr/>
        </p:nvSpPr>
        <p:spPr>
          <a:xfrm>
            <a:off x="57240" y="2430360"/>
            <a:ext cx="456264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DayStr, MonthStr, YearStr.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DayStr,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ON OVERFLOW DISPLAY "Chars Left"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"/>
          <p:cNvSpPr/>
          <p:nvPr/>
        </p:nvSpPr>
        <p:spPr>
          <a:xfrm>
            <a:off x="3068640" y="309600"/>
            <a:ext cx="1398600" cy="595440"/>
          </a:xfrm>
          <a:prstGeom prst="round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2857680" y="114480"/>
            <a:ext cx="1866960" cy="11336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the third delimiter is encountered there are no characters to move so the destination string is filled with spaces.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1486080" y="1733400"/>
            <a:ext cx="123840" cy="39060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"/>
          <p:cNvSpPr/>
          <p:nvPr/>
        </p:nvSpPr>
        <p:spPr>
          <a:xfrm>
            <a:off x="1542960" y="1238400"/>
            <a:ext cx="552960" cy="505080"/>
          </a:xfrm>
          <a:custGeom>
            <a:avLst/>
            <a:gdLst/>
            <a:ahLst/>
            <a:rect l="0" t="0" r="r" b="b"/>
            <a:pathLst>
              <a:path fill="none" w="1536" h="1403">
                <a:moveTo>
                  <a:pt x="1536" y="0"/>
                </a:moveTo>
                <a:lnTo>
                  <a:pt x="1536" y="0"/>
                </a:lnTo>
                <a:cubicBezTo>
                  <a:pt x="1266" y="0"/>
                  <a:pt x="1002" y="65"/>
                  <a:pt x="768" y="188"/>
                </a:cubicBezTo>
                <a:cubicBezTo>
                  <a:pt x="534" y="311"/>
                  <a:pt x="341" y="488"/>
                  <a:pt x="206" y="702"/>
                </a:cubicBezTo>
                <a:cubicBezTo>
                  <a:pt x="71" y="915"/>
                  <a:pt x="0" y="1157"/>
                  <a:pt x="0" y="1403"/>
                </a:cubicBezTo>
              </a:path>
            </a:pathLst>
          </a:custGeom>
          <a:ln w="12600">
            <a:solidFill>
              <a:srgbClr val="FF33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"/>
          <p:cNvSpPr txBox="1"/>
          <p:nvPr/>
        </p:nvSpPr>
        <p:spPr>
          <a:xfrm>
            <a:off x="54000" y="250920"/>
            <a:ext cx="2287440" cy="155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PIC XX.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PIC X(14).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4" name=""/>
          <p:cNvGrpSpPr/>
          <p:nvPr/>
        </p:nvGrpSpPr>
        <p:grpSpPr>
          <a:xfrm>
            <a:off x="447840" y="1784520"/>
            <a:ext cx="3867120" cy="311040"/>
            <a:chOff x="447840" y="1784520"/>
            <a:chExt cx="3867120" cy="311040"/>
          </a:xfrm>
        </p:grpSpPr>
        <p:sp>
          <p:nvSpPr>
            <p:cNvPr id="945" name=""/>
            <p:cNvSpPr/>
            <p:nvPr/>
          </p:nvSpPr>
          <p:spPr>
            <a:xfrm>
              <a:off x="447840" y="1784520"/>
              <a:ext cx="3867120" cy="3110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6" name=""/>
            <p:cNvSpPr/>
            <p:nvPr/>
          </p:nvSpPr>
          <p:spPr>
            <a:xfrm>
              <a:off x="7351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"/>
            <p:cNvSpPr/>
            <p:nvPr/>
          </p:nvSpPr>
          <p:spPr>
            <a:xfrm>
              <a:off x="10047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"/>
            <p:cNvSpPr/>
            <p:nvPr/>
          </p:nvSpPr>
          <p:spPr>
            <a:xfrm>
              <a:off x="129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"/>
            <p:cNvSpPr/>
            <p:nvPr/>
          </p:nvSpPr>
          <p:spPr>
            <a:xfrm>
              <a:off x="156852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0" name=""/>
            <p:cNvSpPr/>
            <p:nvPr/>
          </p:nvSpPr>
          <p:spPr>
            <a:xfrm>
              <a:off x="183024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"/>
            <p:cNvSpPr/>
            <p:nvPr/>
          </p:nvSpPr>
          <p:spPr>
            <a:xfrm>
              <a:off x="210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2" name=""/>
            <p:cNvSpPr/>
            <p:nvPr/>
          </p:nvSpPr>
          <p:spPr>
            <a:xfrm>
              <a:off x="2378160" y="1789200"/>
              <a:ext cx="0" cy="3016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"/>
            <p:cNvSpPr/>
            <p:nvPr/>
          </p:nvSpPr>
          <p:spPr>
            <a:xfrm>
              <a:off x="26478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"/>
            <p:cNvSpPr/>
            <p:nvPr/>
          </p:nvSpPr>
          <p:spPr>
            <a:xfrm>
              <a:off x="294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5" name=""/>
            <p:cNvSpPr/>
            <p:nvPr/>
          </p:nvSpPr>
          <p:spPr>
            <a:xfrm>
              <a:off x="321156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6" name=""/>
            <p:cNvSpPr/>
            <p:nvPr/>
          </p:nvSpPr>
          <p:spPr>
            <a:xfrm>
              <a:off x="347328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"/>
            <p:cNvSpPr/>
            <p:nvPr/>
          </p:nvSpPr>
          <p:spPr>
            <a:xfrm>
              <a:off x="375444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"/>
            <p:cNvSpPr/>
            <p:nvPr/>
          </p:nvSpPr>
          <p:spPr>
            <a:xfrm>
              <a:off x="4021200" y="1785960"/>
              <a:ext cx="0" cy="29988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9" name=""/>
          <p:cNvSpPr txBox="1"/>
          <p:nvPr/>
        </p:nvSpPr>
        <p:spPr>
          <a:xfrm>
            <a:off x="409680" y="1758960"/>
            <a:ext cx="3887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5 - - - 0 7 - - - 1 9 9 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0" name=""/>
          <p:cNvGrpSpPr/>
          <p:nvPr/>
        </p:nvGrpSpPr>
        <p:grpSpPr>
          <a:xfrm>
            <a:off x="2060640" y="347760"/>
            <a:ext cx="596880" cy="312840"/>
            <a:chOff x="2060640" y="347760"/>
            <a:chExt cx="596880" cy="312840"/>
          </a:xfrm>
        </p:grpSpPr>
        <p:sp>
          <p:nvSpPr>
            <p:cNvPr id="961" name=""/>
            <p:cNvSpPr/>
            <p:nvPr/>
          </p:nvSpPr>
          <p:spPr>
            <a:xfrm>
              <a:off x="2060640" y="3477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"/>
            <p:cNvSpPr/>
            <p:nvPr/>
          </p:nvSpPr>
          <p:spPr>
            <a:xfrm>
              <a:off x="2368440" y="3636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3" name=""/>
          <p:cNvGrpSpPr/>
          <p:nvPr/>
        </p:nvGrpSpPr>
        <p:grpSpPr>
          <a:xfrm>
            <a:off x="2060640" y="723960"/>
            <a:ext cx="596880" cy="312840"/>
            <a:chOff x="2060640" y="723960"/>
            <a:chExt cx="596880" cy="312840"/>
          </a:xfrm>
        </p:grpSpPr>
        <p:sp>
          <p:nvSpPr>
            <p:cNvPr id="964" name=""/>
            <p:cNvSpPr/>
            <p:nvPr/>
          </p:nvSpPr>
          <p:spPr>
            <a:xfrm>
              <a:off x="2060640" y="723960"/>
              <a:ext cx="596880" cy="31284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"/>
            <p:cNvSpPr/>
            <p:nvPr/>
          </p:nvSpPr>
          <p:spPr>
            <a:xfrm>
              <a:off x="2368440" y="739800"/>
              <a:ext cx="0" cy="28404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6" name=""/>
          <p:cNvSpPr txBox="1"/>
          <p:nvPr/>
        </p:nvSpPr>
        <p:spPr>
          <a:xfrm>
            <a:off x="57240" y="2430360"/>
            <a:ext cx="456264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"15---07--1998" TO DateStr.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DayStr, MonthStr, YearStr.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UNSTRING DateStr DELIMITED BY "-"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DayStr, MonthStr, YearStr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ON OVERFLOW DISPLAY "Chars Left"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END-UNSTRING.                     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11160" y="2057400"/>
            <a:ext cx="4737600" cy="600480"/>
          </a:xfrm>
          <a:custGeom>
            <a:avLst/>
            <a:gdLst/>
            <a:ahLst/>
            <a:rect l="0" t="0" r="r" b="b"/>
            <a:pathLst>
              <a:path w="13160" h="1668">
                <a:moveTo>
                  <a:pt x="0" y="152"/>
                </a:moveTo>
                <a:lnTo>
                  <a:pt x="120" y="116"/>
                </a:lnTo>
                <a:lnTo>
                  <a:pt x="222" y="135"/>
                </a:lnTo>
                <a:lnTo>
                  <a:pt x="282" y="135"/>
                </a:lnTo>
                <a:lnTo>
                  <a:pt x="362" y="135"/>
                </a:lnTo>
                <a:lnTo>
                  <a:pt x="422" y="116"/>
                </a:lnTo>
                <a:lnTo>
                  <a:pt x="483" y="96"/>
                </a:lnTo>
                <a:lnTo>
                  <a:pt x="565" y="96"/>
                </a:lnTo>
                <a:lnTo>
                  <a:pt x="644" y="58"/>
                </a:lnTo>
                <a:lnTo>
                  <a:pt x="705" y="58"/>
                </a:lnTo>
                <a:lnTo>
                  <a:pt x="765" y="58"/>
                </a:lnTo>
                <a:lnTo>
                  <a:pt x="845" y="58"/>
                </a:lnTo>
                <a:lnTo>
                  <a:pt x="905" y="58"/>
                </a:lnTo>
                <a:lnTo>
                  <a:pt x="966" y="96"/>
                </a:lnTo>
                <a:lnTo>
                  <a:pt x="1048" y="116"/>
                </a:lnTo>
                <a:lnTo>
                  <a:pt x="1089" y="174"/>
                </a:lnTo>
                <a:lnTo>
                  <a:pt x="1169" y="193"/>
                </a:lnTo>
                <a:lnTo>
                  <a:pt x="1229" y="232"/>
                </a:lnTo>
                <a:lnTo>
                  <a:pt x="1289" y="251"/>
                </a:lnTo>
                <a:lnTo>
                  <a:pt x="1369" y="251"/>
                </a:lnTo>
                <a:lnTo>
                  <a:pt x="1429" y="251"/>
                </a:lnTo>
                <a:lnTo>
                  <a:pt x="1490" y="251"/>
                </a:lnTo>
                <a:lnTo>
                  <a:pt x="1550" y="251"/>
                </a:lnTo>
                <a:lnTo>
                  <a:pt x="1611" y="251"/>
                </a:lnTo>
                <a:lnTo>
                  <a:pt x="1671" y="251"/>
                </a:lnTo>
                <a:lnTo>
                  <a:pt x="1734" y="232"/>
                </a:lnTo>
                <a:lnTo>
                  <a:pt x="1794" y="232"/>
                </a:lnTo>
                <a:lnTo>
                  <a:pt x="1893" y="232"/>
                </a:lnTo>
                <a:lnTo>
                  <a:pt x="1975" y="251"/>
                </a:lnTo>
                <a:lnTo>
                  <a:pt x="2055" y="251"/>
                </a:lnTo>
                <a:lnTo>
                  <a:pt x="2135" y="271"/>
                </a:lnTo>
                <a:lnTo>
                  <a:pt x="2195" y="290"/>
                </a:lnTo>
                <a:lnTo>
                  <a:pt x="2255" y="310"/>
                </a:lnTo>
                <a:lnTo>
                  <a:pt x="2316" y="329"/>
                </a:lnTo>
                <a:lnTo>
                  <a:pt x="2376" y="329"/>
                </a:lnTo>
                <a:lnTo>
                  <a:pt x="2458" y="348"/>
                </a:lnTo>
                <a:lnTo>
                  <a:pt x="2519" y="348"/>
                </a:lnTo>
                <a:lnTo>
                  <a:pt x="2620" y="348"/>
                </a:lnTo>
                <a:lnTo>
                  <a:pt x="2700" y="348"/>
                </a:lnTo>
                <a:lnTo>
                  <a:pt x="2780" y="348"/>
                </a:lnTo>
                <a:lnTo>
                  <a:pt x="2840" y="348"/>
                </a:lnTo>
                <a:lnTo>
                  <a:pt x="2900" y="348"/>
                </a:lnTo>
                <a:lnTo>
                  <a:pt x="3002" y="348"/>
                </a:lnTo>
                <a:lnTo>
                  <a:pt x="3103" y="329"/>
                </a:lnTo>
                <a:lnTo>
                  <a:pt x="3183" y="329"/>
                </a:lnTo>
                <a:lnTo>
                  <a:pt x="3265" y="329"/>
                </a:lnTo>
                <a:lnTo>
                  <a:pt x="3346" y="329"/>
                </a:lnTo>
                <a:lnTo>
                  <a:pt x="3406" y="329"/>
                </a:lnTo>
                <a:lnTo>
                  <a:pt x="3466" y="329"/>
                </a:lnTo>
                <a:lnTo>
                  <a:pt x="3527" y="329"/>
                </a:lnTo>
                <a:lnTo>
                  <a:pt x="3587" y="348"/>
                </a:lnTo>
                <a:lnTo>
                  <a:pt x="3648" y="348"/>
                </a:lnTo>
                <a:lnTo>
                  <a:pt x="3662" y="237"/>
                </a:lnTo>
                <a:lnTo>
                  <a:pt x="3809" y="368"/>
                </a:lnTo>
                <a:lnTo>
                  <a:pt x="3901" y="138"/>
                </a:lnTo>
                <a:lnTo>
                  <a:pt x="3991" y="348"/>
                </a:lnTo>
                <a:lnTo>
                  <a:pt x="4070" y="348"/>
                </a:lnTo>
                <a:lnTo>
                  <a:pt x="4152" y="348"/>
                </a:lnTo>
                <a:lnTo>
                  <a:pt x="4213" y="348"/>
                </a:lnTo>
                <a:lnTo>
                  <a:pt x="4273" y="348"/>
                </a:lnTo>
                <a:lnTo>
                  <a:pt x="4334" y="348"/>
                </a:lnTo>
                <a:lnTo>
                  <a:pt x="4445" y="278"/>
                </a:lnTo>
                <a:lnTo>
                  <a:pt x="4474" y="368"/>
                </a:lnTo>
                <a:lnTo>
                  <a:pt x="4556" y="368"/>
                </a:lnTo>
                <a:lnTo>
                  <a:pt x="4635" y="387"/>
                </a:lnTo>
                <a:lnTo>
                  <a:pt x="4715" y="407"/>
                </a:lnTo>
                <a:lnTo>
                  <a:pt x="4797" y="407"/>
                </a:lnTo>
                <a:lnTo>
                  <a:pt x="4858" y="407"/>
                </a:lnTo>
                <a:lnTo>
                  <a:pt x="4957" y="427"/>
                </a:lnTo>
                <a:lnTo>
                  <a:pt x="5077" y="446"/>
                </a:lnTo>
                <a:lnTo>
                  <a:pt x="5138" y="446"/>
                </a:lnTo>
                <a:lnTo>
                  <a:pt x="5201" y="446"/>
                </a:lnTo>
                <a:lnTo>
                  <a:pt x="5280" y="446"/>
                </a:lnTo>
                <a:lnTo>
                  <a:pt x="5341" y="446"/>
                </a:lnTo>
                <a:lnTo>
                  <a:pt x="5401" y="446"/>
                </a:lnTo>
                <a:lnTo>
                  <a:pt x="5462" y="446"/>
                </a:lnTo>
                <a:lnTo>
                  <a:pt x="5662" y="446"/>
                </a:lnTo>
                <a:lnTo>
                  <a:pt x="5865" y="446"/>
                </a:lnTo>
                <a:lnTo>
                  <a:pt x="6065" y="446"/>
                </a:lnTo>
                <a:lnTo>
                  <a:pt x="6147" y="446"/>
                </a:lnTo>
                <a:lnTo>
                  <a:pt x="6227" y="446"/>
                </a:lnTo>
                <a:lnTo>
                  <a:pt x="6307" y="446"/>
                </a:lnTo>
                <a:lnTo>
                  <a:pt x="6367" y="427"/>
                </a:lnTo>
                <a:lnTo>
                  <a:pt x="6631" y="290"/>
                </a:lnTo>
                <a:lnTo>
                  <a:pt x="6672" y="348"/>
                </a:lnTo>
                <a:lnTo>
                  <a:pt x="6710" y="427"/>
                </a:lnTo>
                <a:lnTo>
                  <a:pt x="6792" y="446"/>
                </a:lnTo>
                <a:lnTo>
                  <a:pt x="6853" y="427"/>
                </a:lnTo>
                <a:lnTo>
                  <a:pt x="6913" y="427"/>
                </a:lnTo>
                <a:lnTo>
                  <a:pt x="6974" y="407"/>
                </a:lnTo>
                <a:lnTo>
                  <a:pt x="7034" y="427"/>
                </a:lnTo>
                <a:lnTo>
                  <a:pt x="7114" y="446"/>
                </a:lnTo>
                <a:lnTo>
                  <a:pt x="7174" y="446"/>
                </a:lnTo>
                <a:lnTo>
                  <a:pt x="7234" y="466"/>
                </a:lnTo>
                <a:lnTo>
                  <a:pt x="7295" y="466"/>
                </a:lnTo>
                <a:lnTo>
                  <a:pt x="7355" y="466"/>
                </a:lnTo>
                <a:lnTo>
                  <a:pt x="7416" y="466"/>
                </a:lnTo>
                <a:lnTo>
                  <a:pt x="7476" y="466"/>
                </a:lnTo>
                <a:lnTo>
                  <a:pt x="7536" y="446"/>
                </a:lnTo>
                <a:lnTo>
                  <a:pt x="7597" y="446"/>
                </a:lnTo>
                <a:lnTo>
                  <a:pt x="7679" y="446"/>
                </a:lnTo>
                <a:lnTo>
                  <a:pt x="7758" y="427"/>
                </a:lnTo>
                <a:lnTo>
                  <a:pt x="7819" y="407"/>
                </a:lnTo>
                <a:lnTo>
                  <a:pt x="7879" y="407"/>
                </a:lnTo>
                <a:lnTo>
                  <a:pt x="7959" y="407"/>
                </a:lnTo>
                <a:lnTo>
                  <a:pt x="8022" y="387"/>
                </a:lnTo>
                <a:lnTo>
                  <a:pt x="8082" y="407"/>
                </a:lnTo>
                <a:lnTo>
                  <a:pt x="8143" y="466"/>
                </a:lnTo>
                <a:lnTo>
                  <a:pt x="8203" y="485"/>
                </a:lnTo>
                <a:lnTo>
                  <a:pt x="8283" y="485"/>
                </a:lnTo>
                <a:lnTo>
                  <a:pt x="8343" y="485"/>
                </a:lnTo>
                <a:lnTo>
                  <a:pt x="8403" y="485"/>
                </a:lnTo>
                <a:lnTo>
                  <a:pt x="8483" y="485"/>
                </a:lnTo>
                <a:lnTo>
                  <a:pt x="8565" y="466"/>
                </a:lnTo>
                <a:lnTo>
                  <a:pt x="8645" y="446"/>
                </a:lnTo>
                <a:lnTo>
                  <a:pt x="8727" y="446"/>
                </a:lnTo>
                <a:lnTo>
                  <a:pt x="8787" y="427"/>
                </a:lnTo>
                <a:lnTo>
                  <a:pt x="8867" y="427"/>
                </a:lnTo>
                <a:lnTo>
                  <a:pt x="8927" y="407"/>
                </a:lnTo>
                <a:lnTo>
                  <a:pt x="8988" y="407"/>
                </a:lnTo>
                <a:lnTo>
                  <a:pt x="9048" y="407"/>
                </a:lnTo>
                <a:lnTo>
                  <a:pt x="9290" y="407"/>
                </a:lnTo>
                <a:lnTo>
                  <a:pt x="9350" y="407"/>
                </a:lnTo>
                <a:lnTo>
                  <a:pt x="9432" y="407"/>
                </a:lnTo>
                <a:lnTo>
                  <a:pt x="9493" y="407"/>
                </a:lnTo>
                <a:lnTo>
                  <a:pt x="9553" y="387"/>
                </a:lnTo>
                <a:lnTo>
                  <a:pt x="9633" y="348"/>
                </a:lnTo>
                <a:lnTo>
                  <a:pt x="9734" y="329"/>
                </a:lnTo>
                <a:lnTo>
                  <a:pt x="9795" y="310"/>
                </a:lnTo>
                <a:lnTo>
                  <a:pt x="9855" y="271"/>
                </a:lnTo>
                <a:lnTo>
                  <a:pt x="9916" y="251"/>
                </a:lnTo>
                <a:lnTo>
                  <a:pt x="9977" y="213"/>
                </a:lnTo>
                <a:lnTo>
                  <a:pt x="10037" y="213"/>
                </a:lnTo>
                <a:lnTo>
                  <a:pt x="10097" y="232"/>
                </a:lnTo>
                <a:lnTo>
                  <a:pt x="10199" y="251"/>
                </a:lnTo>
                <a:lnTo>
                  <a:pt x="10259" y="251"/>
                </a:lnTo>
                <a:lnTo>
                  <a:pt x="10358" y="290"/>
                </a:lnTo>
                <a:lnTo>
                  <a:pt x="10440" y="310"/>
                </a:lnTo>
                <a:lnTo>
                  <a:pt x="10501" y="310"/>
                </a:lnTo>
                <a:lnTo>
                  <a:pt x="10561" y="310"/>
                </a:lnTo>
                <a:lnTo>
                  <a:pt x="10622" y="290"/>
                </a:lnTo>
                <a:lnTo>
                  <a:pt x="10701" y="290"/>
                </a:lnTo>
                <a:lnTo>
                  <a:pt x="10762" y="271"/>
                </a:lnTo>
                <a:lnTo>
                  <a:pt x="10844" y="271"/>
                </a:lnTo>
                <a:lnTo>
                  <a:pt x="10943" y="271"/>
                </a:lnTo>
                <a:lnTo>
                  <a:pt x="11003" y="271"/>
                </a:lnTo>
                <a:lnTo>
                  <a:pt x="11064" y="290"/>
                </a:lnTo>
                <a:lnTo>
                  <a:pt x="11124" y="290"/>
                </a:lnTo>
                <a:lnTo>
                  <a:pt x="11184" y="310"/>
                </a:lnTo>
                <a:lnTo>
                  <a:pt x="11245" y="310"/>
                </a:lnTo>
                <a:lnTo>
                  <a:pt x="11327" y="310"/>
                </a:lnTo>
                <a:lnTo>
                  <a:pt x="11426" y="290"/>
                </a:lnTo>
                <a:lnTo>
                  <a:pt x="11527" y="290"/>
                </a:lnTo>
                <a:lnTo>
                  <a:pt x="11588" y="290"/>
                </a:lnTo>
                <a:lnTo>
                  <a:pt x="11670" y="271"/>
                </a:lnTo>
                <a:lnTo>
                  <a:pt x="11730" y="251"/>
                </a:lnTo>
                <a:lnTo>
                  <a:pt x="11791" y="213"/>
                </a:lnTo>
                <a:lnTo>
                  <a:pt x="11851" y="193"/>
                </a:lnTo>
                <a:lnTo>
                  <a:pt x="11931" y="174"/>
                </a:lnTo>
                <a:lnTo>
                  <a:pt x="12010" y="174"/>
                </a:lnTo>
                <a:lnTo>
                  <a:pt x="12093" y="155"/>
                </a:lnTo>
                <a:lnTo>
                  <a:pt x="12153" y="135"/>
                </a:lnTo>
                <a:lnTo>
                  <a:pt x="12233" y="116"/>
                </a:lnTo>
                <a:lnTo>
                  <a:pt x="12293" y="96"/>
                </a:lnTo>
                <a:lnTo>
                  <a:pt x="12353" y="77"/>
                </a:lnTo>
                <a:lnTo>
                  <a:pt x="12576" y="0"/>
                </a:lnTo>
                <a:lnTo>
                  <a:pt x="12677" y="38"/>
                </a:lnTo>
                <a:lnTo>
                  <a:pt x="12716" y="96"/>
                </a:lnTo>
                <a:lnTo>
                  <a:pt x="12776" y="116"/>
                </a:lnTo>
                <a:lnTo>
                  <a:pt x="12839" y="116"/>
                </a:lnTo>
                <a:lnTo>
                  <a:pt x="12938" y="96"/>
                </a:lnTo>
                <a:lnTo>
                  <a:pt x="12998" y="77"/>
                </a:lnTo>
                <a:lnTo>
                  <a:pt x="13059" y="38"/>
                </a:lnTo>
                <a:lnTo>
                  <a:pt x="13160" y="24"/>
                </a:lnTo>
                <a:lnTo>
                  <a:pt x="13160" y="1668"/>
                </a:lnTo>
                <a:lnTo>
                  <a:pt x="12938" y="1571"/>
                </a:lnTo>
                <a:lnTo>
                  <a:pt x="12899" y="1513"/>
                </a:lnTo>
                <a:lnTo>
                  <a:pt x="12878" y="1455"/>
                </a:lnTo>
                <a:lnTo>
                  <a:pt x="12858" y="1397"/>
                </a:lnTo>
                <a:lnTo>
                  <a:pt x="12798" y="1358"/>
                </a:lnTo>
                <a:lnTo>
                  <a:pt x="12737" y="1358"/>
                </a:lnTo>
                <a:lnTo>
                  <a:pt x="12677" y="1416"/>
                </a:lnTo>
                <a:lnTo>
                  <a:pt x="12617" y="1358"/>
                </a:lnTo>
                <a:lnTo>
                  <a:pt x="12556" y="1378"/>
                </a:lnTo>
                <a:lnTo>
                  <a:pt x="12474" y="1416"/>
                </a:lnTo>
                <a:lnTo>
                  <a:pt x="12436" y="1358"/>
                </a:lnTo>
                <a:lnTo>
                  <a:pt x="12375" y="1339"/>
                </a:lnTo>
                <a:lnTo>
                  <a:pt x="12315" y="1300"/>
                </a:lnTo>
                <a:lnTo>
                  <a:pt x="12274" y="1241"/>
                </a:lnTo>
                <a:lnTo>
                  <a:pt x="12213" y="1183"/>
                </a:lnTo>
                <a:lnTo>
                  <a:pt x="12153" y="1125"/>
                </a:lnTo>
                <a:lnTo>
                  <a:pt x="12112" y="1067"/>
                </a:lnTo>
                <a:lnTo>
                  <a:pt x="12051" y="1105"/>
                </a:lnTo>
                <a:lnTo>
                  <a:pt x="11991" y="1067"/>
                </a:lnTo>
                <a:lnTo>
                  <a:pt x="11991" y="1008"/>
                </a:lnTo>
                <a:lnTo>
                  <a:pt x="11950" y="931"/>
                </a:lnTo>
                <a:lnTo>
                  <a:pt x="11911" y="853"/>
                </a:lnTo>
                <a:lnTo>
                  <a:pt x="11890" y="795"/>
                </a:lnTo>
                <a:lnTo>
                  <a:pt x="11829" y="756"/>
                </a:lnTo>
                <a:lnTo>
                  <a:pt x="11750" y="795"/>
                </a:lnTo>
                <a:lnTo>
                  <a:pt x="11709" y="718"/>
                </a:lnTo>
                <a:lnTo>
                  <a:pt x="11670" y="659"/>
                </a:lnTo>
                <a:lnTo>
                  <a:pt x="11609" y="640"/>
                </a:lnTo>
                <a:lnTo>
                  <a:pt x="11568" y="582"/>
                </a:lnTo>
                <a:lnTo>
                  <a:pt x="11508" y="582"/>
                </a:lnTo>
                <a:lnTo>
                  <a:pt x="11448" y="582"/>
                </a:lnTo>
                <a:lnTo>
                  <a:pt x="11387" y="563"/>
                </a:lnTo>
                <a:lnTo>
                  <a:pt x="11305" y="524"/>
                </a:lnTo>
                <a:lnTo>
                  <a:pt x="11245" y="524"/>
                </a:lnTo>
                <a:lnTo>
                  <a:pt x="11184" y="524"/>
                </a:lnTo>
                <a:lnTo>
                  <a:pt x="11105" y="504"/>
                </a:lnTo>
                <a:lnTo>
                  <a:pt x="11044" y="485"/>
                </a:lnTo>
                <a:lnTo>
                  <a:pt x="11003" y="427"/>
                </a:lnTo>
                <a:lnTo>
                  <a:pt x="10943" y="427"/>
                </a:lnTo>
                <a:lnTo>
                  <a:pt x="10882" y="446"/>
                </a:lnTo>
                <a:lnTo>
                  <a:pt x="10863" y="504"/>
                </a:lnTo>
                <a:lnTo>
                  <a:pt x="10803" y="563"/>
                </a:lnTo>
                <a:lnTo>
                  <a:pt x="10742" y="582"/>
                </a:lnTo>
                <a:lnTo>
                  <a:pt x="10863" y="1125"/>
                </a:lnTo>
                <a:lnTo>
                  <a:pt x="10783" y="1105"/>
                </a:lnTo>
                <a:lnTo>
                  <a:pt x="10721" y="1067"/>
                </a:lnTo>
                <a:lnTo>
                  <a:pt x="10660" y="1008"/>
                </a:lnTo>
                <a:lnTo>
                  <a:pt x="10097" y="640"/>
                </a:lnTo>
                <a:lnTo>
                  <a:pt x="10037" y="601"/>
                </a:lnTo>
                <a:lnTo>
                  <a:pt x="9977" y="563"/>
                </a:lnTo>
                <a:lnTo>
                  <a:pt x="9936" y="504"/>
                </a:lnTo>
                <a:lnTo>
                  <a:pt x="9875" y="485"/>
                </a:lnTo>
                <a:lnTo>
                  <a:pt x="9814" y="524"/>
                </a:lnTo>
                <a:lnTo>
                  <a:pt x="9773" y="582"/>
                </a:lnTo>
                <a:lnTo>
                  <a:pt x="9693" y="640"/>
                </a:lnTo>
                <a:lnTo>
                  <a:pt x="9633" y="659"/>
                </a:lnTo>
                <a:lnTo>
                  <a:pt x="9572" y="659"/>
                </a:lnTo>
                <a:lnTo>
                  <a:pt x="9512" y="621"/>
                </a:lnTo>
                <a:lnTo>
                  <a:pt x="9452" y="601"/>
                </a:lnTo>
                <a:lnTo>
                  <a:pt x="9391" y="640"/>
                </a:lnTo>
                <a:lnTo>
                  <a:pt x="9331" y="582"/>
                </a:lnTo>
                <a:lnTo>
                  <a:pt x="9270" y="601"/>
                </a:lnTo>
                <a:lnTo>
                  <a:pt x="9210" y="640"/>
                </a:lnTo>
                <a:lnTo>
                  <a:pt x="9150" y="601"/>
                </a:lnTo>
                <a:lnTo>
                  <a:pt x="9089" y="582"/>
                </a:lnTo>
                <a:lnTo>
                  <a:pt x="9029" y="582"/>
                </a:lnTo>
                <a:lnTo>
                  <a:pt x="8969" y="601"/>
                </a:lnTo>
                <a:lnTo>
                  <a:pt x="8908" y="601"/>
                </a:lnTo>
                <a:lnTo>
                  <a:pt x="8848" y="582"/>
                </a:lnTo>
                <a:lnTo>
                  <a:pt x="8766" y="601"/>
                </a:lnTo>
                <a:lnTo>
                  <a:pt x="8686" y="640"/>
                </a:lnTo>
                <a:lnTo>
                  <a:pt x="8626" y="640"/>
                </a:lnTo>
                <a:lnTo>
                  <a:pt x="8543" y="659"/>
                </a:lnTo>
                <a:lnTo>
                  <a:pt x="8483" y="659"/>
                </a:lnTo>
                <a:lnTo>
                  <a:pt x="8403" y="621"/>
                </a:lnTo>
                <a:lnTo>
                  <a:pt x="8343" y="601"/>
                </a:lnTo>
                <a:lnTo>
                  <a:pt x="8283" y="601"/>
                </a:lnTo>
                <a:lnTo>
                  <a:pt x="8222" y="640"/>
                </a:lnTo>
                <a:lnTo>
                  <a:pt x="8143" y="698"/>
                </a:lnTo>
                <a:lnTo>
                  <a:pt x="8082" y="737"/>
                </a:lnTo>
                <a:lnTo>
                  <a:pt x="8041" y="679"/>
                </a:lnTo>
                <a:lnTo>
                  <a:pt x="7981" y="640"/>
                </a:lnTo>
                <a:lnTo>
                  <a:pt x="7920" y="640"/>
                </a:lnTo>
                <a:lnTo>
                  <a:pt x="7860" y="659"/>
                </a:lnTo>
                <a:lnTo>
                  <a:pt x="7800" y="679"/>
                </a:lnTo>
                <a:lnTo>
                  <a:pt x="7717" y="679"/>
                </a:lnTo>
                <a:lnTo>
                  <a:pt x="7638" y="659"/>
                </a:lnTo>
                <a:lnTo>
                  <a:pt x="7558" y="640"/>
                </a:lnTo>
                <a:lnTo>
                  <a:pt x="7498" y="621"/>
                </a:lnTo>
                <a:lnTo>
                  <a:pt x="7396" y="640"/>
                </a:lnTo>
                <a:lnTo>
                  <a:pt x="7336" y="659"/>
                </a:lnTo>
                <a:lnTo>
                  <a:pt x="7254" y="679"/>
                </a:lnTo>
                <a:lnTo>
                  <a:pt x="7155" y="718"/>
                </a:lnTo>
                <a:lnTo>
                  <a:pt x="7094" y="698"/>
                </a:lnTo>
                <a:lnTo>
                  <a:pt x="7034" y="659"/>
                </a:lnTo>
                <a:lnTo>
                  <a:pt x="6974" y="621"/>
                </a:lnTo>
                <a:lnTo>
                  <a:pt x="6913" y="640"/>
                </a:lnTo>
                <a:lnTo>
                  <a:pt x="6853" y="640"/>
                </a:lnTo>
                <a:lnTo>
                  <a:pt x="6792" y="640"/>
                </a:lnTo>
                <a:lnTo>
                  <a:pt x="6732" y="640"/>
                </a:lnTo>
                <a:lnTo>
                  <a:pt x="6672" y="640"/>
                </a:lnTo>
                <a:lnTo>
                  <a:pt x="6611" y="640"/>
                </a:lnTo>
                <a:lnTo>
                  <a:pt x="6853" y="1086"/>
                </a:lnTo>
                <a:lnTo>
                  <a:pt x="6529" y="601"/>
                </a:lnTo>
                <a:lnTo>
                  <a:pt x="6469" y="601"/>
                </a:lnTo>
                <a:lnTo>
                  <a:pt x="6408" y="601"/>
                </a:lnTo>
                <a:lnTo>
                  <a:pt x="6348" y="621"/>
                </a:lnTo>
                <a:lnTo>
                  <a:pt x="6268" y="621"/>
                </a:lnTo>
                <a:lnTo>
                  <a:pt x="6208" y="621"/>
                </a:lnTo>
                <a:lnTo>
                  <a:pt x="6147" y="640"/>
                </a:lnTo>
                <a:lnTo>
                  <a:pt x="6087" y="679"/>
                </a:lnTo>
                <a:lnTo>
                  <a:pt x="6027" y="679"/>
                </a:lnTo>
                <a:lnTo>
                  <a:pt x="5966" y="679"/>
                </a:lnTo>
                <a:lnTo>
                  <a:pt x="5906" y="679"/>
                </a:lnTo>
                <a:lnTo>
                  <a:pt x="5843" y="679"/>
                </a:lnTo>
                <a:lnTo>
                  <a:pt x="5783" y="640"/>
                </a:lnTo>
                <a:lnTo>
                  <a:pt x="5703" y="621"/>
                </a:lnTo>
                <a:lnTo>
                  <a:pt x="5643" y="621"/>
                </a:lnTo>
                <a:lnTo>
                  <a:pt x="5582" y="621"/>
                </a:lnTo>
                <a:lnTo>
                  <a:pt x="5503" y="640"/>
                </a:lnTo>
                <a:lnTo>
                  <a:pt x="5442" y="640"/>
                </a:lnTo>
                <a:lnTo>
                  <a:pt x="5360" y="640"/>
                </a:lnTo>
                <a:lnTo>
                  <a:pt x="5300" y="659"/>
                </a:lnTo>
                <a:lnTo>
                  <a:pt x="5220" y="659"/>
                </a:lnTo>
                <a:lnTo>
                  <a:pt x="5160" y="640"/>
                </a:lnTo>
                <a:lnTo>
                  <a:pt x="5099" y="640"/>
                </a:lnTo>
                <a:lnTo>
                  <a:pt x="5017" y="621"/>
                </a:lnTo>
                <a:lnTo>
                  <a:pt x="4957" y="601"/>
                </a:lnTo>
                <a:lnTo>
                  <a:pt x="4896" y="601"/>
                </a:lnTo>
                <a:lnTo>
                  <a:pt x="4836" y="601"/>
                </a:lnTo>
                <a:lnTo>
                  <a:pt x="4776" y="621"/>
                </a:lnTo>
                <a:lnTo>
                  <a:pt x="4715" y="640"/>
                </a:lnTo>
                <a:lnTo>
                  <a:pt x="4655" y="640"/>
                </a:lnTo>
                <a:lnTo>
                  <a:pt x="4575" y="640"/>
                </a:lnTo>
                <a:lnTo>
                  <a:pt x="4515" y="640"/>
                </a:lnTo>
                <a:lnTo>
                  <a:pt x="4454" y="601"/>
                </a:lnTo>
                <a:lnTo>
                  <a:pt x="4394" y="563"/>
                </a:lnTo>
                <a:lnTo>
                  <a:pt x="4334" y="524"/>
                </a:lnTo>
                <a:lnTo>
                  <a:pt x="4251" y="504"/>
                </a:lnTo>
                <a:lnTo>
                  <a:pt x="4191" y="504"/>
                </a:lnTo>
                <a:lnTo>
                  <a:pt x="4099" y="536"/>
                </a:lnTo>
                <a:lnTo>
                  <a:pt x="4070" y="446"/>
                </a:lnTo>
                <a:lnTo>
                  <a:pt x="4007" y="577"/>
                </a:lnTo>
                <a:lnTo>
                  <a:pt x="3950" y="427"/>
                </a:lnTo>
                <a:lnTo>
                  <a:pt x="3913" y="536"/>
                </a:lnTo>
                <a:lnTo>
                  <a:pt x="3829" y="446"/>
                </a:lnTo>
                <a:lnTo>
                  <a:pt x="3768" y="485"/>
                </a:lnTo>
                <a:lnTo>
                  <a:pt x="3708" y="485"/>
                </a:lnTo>
                <a:lnTo>
                  <a:pt x="3648" y="524"/>
                </a:lnTo>
                <a:lnTo>
                  <a:pt x="3587" y="524"/>
                </a:lnTo>
                <a:lnTo>
                  <a:pt x="3527" y="485"/>
                </a:lnTo>
                <a:lnTo>
                  <a:pt x="3447" y="466"/>
                </a:lnTo>
                <a:lnTo>
                  <a:pt x="3387" y="466"/>
                </a:lnTo>
                <a:lnTo>
                  <a:pt x="3305" y="427"/>
                </a:lnTo>
                <a:lnTo>
                  <a:pt x="3243" y="427"/>
                </a:lnTo>
                <a:lnTo>
                  <a:pt x="3183" y="446"/>
                </a:lnTo>
                <a:lnTo>
                  <a:pt x="3122" y="466"/>
                </a:lnTo>
                <a:lnTo>
                  <a:pt x="3062" y="485"/>
                </a:lnTo>
                <a:lnTo>
                  <a:pt x="3002" y="504"/>
                </a:lnTo>
                <a:lnTo>
                  <a:pt x="2941" y="524"/>
                </a:lnTo>
                <a:lnTo>
                  <a:pt x="2881" y="524"/>
                </a:lnTo>
                <a:lnTo>
                  <a:pt x="2821" y="524"/>
                </a:lnTo>
                <a:lnTo>
                  <a:pt x="2760" y="524"/>
                </a:lnTo>
                <a:lnTo>
                  <a:pt x="2680" y="524"/>
                </a:lnTo>
                <a:lnTo>
                  <a:pt x="2620" y="524"/>
                </a:lnTo>
                <a:lnTo>
                  <a:pt x="2560" y="504"/>
                </a:lnTo>
                <a:lnTo>
                  <a:pt x="2499" y="504"/>
                </a:lnTo>
                <a:lnTo>
                  <a:pt x="2439" y="504"/>
                </a:lnTo>
                <a:lnTo>
                  <a:pt x="2357" y="504"/>
                </a:lnTo>
                <a:lnTo>
                  <a:pt x="2296" y="504"/>
                </a:lnTo>
                <a:lnTo>
                  <a:pt x="2236" y="504"/>
                </a:lnTo>
                <a:lnTo>
                  <a:pt x="2176" y="543"/>
                </a:lnTo>
                <a:lnTo>
                  <a:pt x="2115" y="563"/>
                </a:lnTo>
                <a:lnTo>
                  <a:pt x="2055" y="582"/>
                </a:lnTo>
                <a:lnTo>
                  <a:pt x="1995" y="582"/>
                </a:lnTo>
                <a:lnTo>
                  <a:pt x="1934" y="582"/>
                </a:lnTo>
                <a:lnTo>
                  <a:pt x="1874" y="543"/>
                </a:lnTo>
                <a:lnTo>
                  <a:pt x="1813" y="524"/>
                </a:lnTo>
                <a:lnTo>
                  <a:pt x="1753" y="524"/>
                </a:lnTo>
                <a:lnTo>
                  <a:pt x="1693" y="524"/>
                </a:lnTo>
                <a:lnTo>
                  <a:pt x="1591" y="504"/>
                </a:lnTo>
                <a:lnTo>
                  <a:pt x="1531" y="504"/>
                </a:lnTo>
                <a:lnTo>
                  <a:pt x="1470" y="543"/>
                </a:lnTo>
                <a:lnTo>
                  <a:pt x="1410" y="582"/>
                </a:lnTo>
                <a:lnTo>
                  <a:pt x="1350" y="621"/>
                </a:lnTo>
                <a:lnTo>
                  <a:pt x="1289" y="640"/>
                </a:lnTo>
                <a:lnTo>
                  <a:pt x="1229" y="640"/>
                </a:lnTo>
                <a:lnTo>
                  <a:pt x="1169" y="621"/>
                </a:lnTo>
                <a:lnTo>
                  <a:pt x="1108" y="601"/>
                </a:lnTo>
                <a:lnTo>
                  <a:pt x="1048" y="601"/>
                </a:lnTo>
                <a:lnTo>
                  <a:pt x="987" y="582"/>
                </a:lnTo>
                <a:lnTo>
                  <a:pt x="927" y="582"/>
                </a:lnTo>
                <a:lnTo>
                  <a:pt x="867" y="582"/>
                </a:lnTo>
                <a:lnTo>
                  <a:pt x="784" y="582"/>
                </a:lnTo>
                <a:lnTo>
                  <a:pt x="705" y="582"/>
                </a:lnTo>
                <a:lnTo>
                  <a:pt x="644" y="582"/>
                </a:lnTo>
                <a:lnTo>
                  <a:pt x="584" y="582"/>
                </a:lnTo>
                <a:lnTo>
                  <a:pt x="524" y="601"/>
                </a:lnTo>
                <a:lnTo>
                  <a:pt x="463" y="601"/>
                </a:lnTo>
                <a:lnTo>
                  <a:pt x="403" y="601"/>
                </a:lnTo>
                <a:lnTo>
                  <a:pt x="342" y="621"/>
                </a:lnTo>
                <a:lnTo>
                  <a:pt x="282" y="640"/>
                </a:lnTo>
                <a:lnTo>
                  <a:pt x="222" y="659"/>
                </a:lnTo>
                <a:lnTo>
                  <a:pt x="140" y="698"/>
                </a:lnTo>
                <a:lnTo>
                  <a:pt x="60" y="718"/>
                </a:lnTo>
                <a:lnTo>
                  <a:pt x="0" y="756"/>
                </a:lnTo>
                <a:lnTo>
                  <a:pt x="0" y="15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0" y="34920"/>
            <a:ext cx="11444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Example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3068640" y="309600"/>
            <a:ext cx="1398600" cy="595440"/>
          </a:xfrm>
          <a:prstGeom prst="rect">
            <a:avLst/>
          </a:prstGeom>
          <a:solidFill>
            <a:srgbClr val="DDDDDD"/>
          </a:solidFill>
          <a:ln w="25560">
            <a:solidFill>
              <a:srgbClr val="676767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Chars Left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050920" y="311040"/>
            <a:ext cx="595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1 5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2060640" y="1101600"/>
            <a:ext cx="1139760" cy="31284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"/>
          <p:cNvSpPr/>
          <p:nvPr/>
        </p:nvSpPr>
        <p:spPr>
          <a:xfrm>
            <a:off x="2638440" y="1117440"/>
            <a:ext cx="0" cy="28440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2905200" y="112716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2371680" y="1108080"/>
            <a:ext cx="0" cy="28404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3390840" y="2448000"/>
            <a:ext cx="1324080" cy="13604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Because there are still unexamined characters (circled) in the source string ,and all the destination strings have been used, the OVERFLOW triggers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1752480" y="1685880"/>
            <a:ext cx="2514600" cy="533520"/>
          </a:xfrm>
          <a:prstGeom prst="ellipse">
            <a:avLst/>
          </a:prstGeom>
          <a:noFill/>
          <a:ln w="12600">
            <a:solidFill>
              <a:srgbClr val="FF33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