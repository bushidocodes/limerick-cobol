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4762500" cy="3810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Master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237960" y="151920"/>
            <a:ext cx="4285800" cy="63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subTitle"/>
          </p:nvPr>
        </p:nvSpPr>
        <p:spPr>
          <a:xfrm>
            <a:off x="237960" y="891360"/>
            <a:ext cx="4285800" cy="2209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>
            <a:off x="0" y="0"/>
            <a:ext cx="4762440" cy="38098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"/>
          <p:cNvSpPr/>
          <p:nvPr/>
        </p:nvSpPr>
        <p:spPr>
          <a:xfrm>
            <a:off x="9360" y="11160"/>
            <a:ext cx="4746600" cy="3790800"/>
          </a:xfrm>
          <a:prstGeom prst="rect">
            <a:avLst/>
          </a:prstGeom>
          <a:solidFill>
            <a:srgbClr val="EAEAEA"/>
          </a:solidFill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237960" y="151920"/>
            <a:ext cx="4285800" cy="63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237960" y="891360"/>
            <a:ext cx="4285800" cy="2209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700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"/>
          <p:cNvSpPr txBox="1"/>
          <p:nvPr/>
        </p:nvSpPr>
        <p:spPr>
          <a:xfrm>
            <a:off x="55440" y="1239840"/>
            <a:ext cx="4695840" cy="2549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75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PROCEDURE DIVISION.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5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ProcessName.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5000"/>
              </a:lnSpc>
            </a:pPr>
            <a:r>
              <a:rPr lang="en-US" sz="1200" b="1" u="none" strike="noStrike">
                <a:solidFill>
                  <a:srgbClr val="FF3300"/>
                </a:solidFill>
                <a:effectLst/>
                <a:uFillTx/>
                <a:latin typeface="Courier New"/>
                <a:ea typeface="Courier New"/>
              </a:rPr>
              <a:t>  ACCEPT OldName.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5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UNSTRING OldName DELIMITED BY ALL SPACES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5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INTO TempName WITH POINTER UnstrPtr</a:t>
            </a:r>
            <a:br>
              <a:rPr sz="1200"/>
            </a:b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END-UNSTRING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5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PERFORM UNTIL NameProcessed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5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STRING NameInitial "." DELIMITED BY SIZE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5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 INTO NewName WITH POINTER StrPtr</a:t>
            </a:r>
            <a:br>
              <a:rPr sz="1200"/>
            </a:b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END-STRING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5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UNSTRING OldName DELIMITED BY ALL SPACES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5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 INTO TempName WITH POINTER UnstrPtr</a:t>
            </a:r>
            <a:br>
              <a:rPr sz="1200"/>
            </a:b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END-UNSTRING</a:t>
            </a:r>
            <a:br>
              <a:rPr sz="1200"/>
            </a:b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END-PERFORM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5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STRING SPACE TempName DELIMITED BY SIZE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5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 INTO NewName WITH POINTER StrPtr</a:t>
            </a:r>
            <a:br>
              <a:rPr sz="1200"/>
            </a:b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END-STRING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5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STOP RUN.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"/>
          <p:cNvSpPr txBox="1"/>
          <p:nvPr/>
        </p:nvSpPr>
        <p:spPr>
          <a:xfrm>
            <a:off x="792000" y="17640"/>
            <a:ext cx="3876840" cy="270000"/>
          </a:xfrm>
          <a:prstGeom prst="rect">
            <a:avLst/>
          </a:prstGeom>
          <a:solidFill>
            <a:srgbClr val="DDDDDD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69696"/>
            </a:outerShdw>
          </a:effectLst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0000FF"/>
                </a:solidFill>
                <a:effectLst/>
                <a:uFillTx/>
                <a:latin typeface="Courier New"/>
                <a:ea typeface="Courier New"/>
              </a:rPr>
              <a:t>Tim   John  Roberts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"/>
          <p:cNvSpPr txBox="1"/>
          <p:nvPr/>
        </p:nvSpPr>
        <p:spPr>
          <a:xfrm>
            <a:off x="54000" y="101520"/>
            <a:ext cx="668160" cy="341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OldName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"/>
          <p:cNvSpPr txBox="1"/>
          <p:nvPr/>
        </p:nvSpPr>
        <p:spPr>
          <a:xfrm>
            <a:off x="44280" y="501480"/>
            <a:ext cx="822240" cy="182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TempName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"/>
          <p:cNvSpPr txBox="1"/>
          <p:nvPr/>
        </p:nvSpPr>
        <p:spPr>
          <a:xfrm>
            <a:off x="34920" y="892080"/>
            <a:ext cx="728640" cy="182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NewName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"/>
          <p:cNvSpPr/>
          <p:nvPr/>
        </p:nvSpPr>
        <p:spPr>
          <a:xfrm>
            <a:off x="801720" y="846000"/>
            <a:ext cx="3876840" cy="270000"/>
          </a:xfrm>
          <a:prstGeom prst="rect">
            <a:avLst/>
          </a:prstGeom>
          <a:solidFill>
            <a:srgbClr val="DDDDDD"/>
          </a:solidFill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"/>
          <p:cNvSpPr/>
          <p:nvPr/>
        </p:nvSpPr>
        <p:spPr>
          <a:xfrm>
            <a:off x="923760" y="465120"/>
            <a:ext cx="1924200" cy="270000"/>
          </a:xfrm>
          <a:prstGeom prst="rect">
            <a:avLst/>
          </a:prstGeom>
          <a:solidFill>
            <a:srgbClr val="DDDDDD"/>
          </a:solidFill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"/>
          <p:cNvSpPr/>
          <p:nvPr/>
        </p:nvSpPr>
        <p:spPr>
          <a:xfrm>
            <a:off x="895320" y="1057320"/>
            <a:ext cx="144720" cy="152640"/>
          </a:xfrm>
          <a:custGeom>
            <a:avLst/>
            <a:gdLst/>
            <a:ahLst/>
            <a:rect l="0" t="0" r="r" b="b"/>
            <a:pathLst>
              <a:path w="402" h="424">
                <a:moveTo>
                  <a:pt x="0" y="140"/>
                </a:moveTo>
                <a:lnTo>
                  <a:pt x="0" y="282"/>
                </a:lnTo>
                <a:lnTo>
                  <a:pt x="281" y="282"/>
                </a:lnTo>
                <a:lnTo>
                  <a:pt x="281" y="424"/>
                </a:lnTo>
                <a:lnTo>
                  <a:pt x="402" y="211"/>
                </a:lnTo>
                <a:lnTo>
                  <a:pt x="281" y="0"/>
                </a:lnTo>
                <a:lnTo>
                  <a:pt x="281" y="140"/>
                </a:lnTo>
                <a:lnTo>
                  <a:pt x="0" y="140"/>
                </a:lnTo>
                <a:close/>
              </a:path>
            </a:pathLst>
          </a:custGeom>
          <a:solidFill>
            <a:srgbClr val="66FF33"/>
          </a:solidFill>
          <a:ln w="12600">
            <a:solidFill>
              <a:srgbClr val="676767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"/>
          <p:cNvSpPr/>
          <p:nvPr/>
        </p:nvSpPr>
        <p:spPr>
          <a:xfrm>
            <a:off x="885960" y="228600"/>
            <a:ext cx="144720" cy="152640"/>
          </a:xfrm>
          <a:custGeom>
            <a:avLst/>
            <a:gdLst/>
            <a:ahLst/>
            <a:rect l="0" t="0" r="r" b="b"/>
            <a:pathLst>
              <a:path w="402" h="424">
                <a:moveTo>
                  <a:pt x="0" y="140"/>
                </a:moveTo>
                <a:lnTo>
                  <a:pt x="0" y="282"/>
                </a:lnTo>
                <a:lnTo>
                  <a:pt x="281" y="282"/>
                </a:lnTo>
                <a:lnTo>
                  <a:pt x="281" y="424"/>
                </a:lnTo>
                <a:lnTo>
                  <a:pt x="402" y="211"/>
                </a:lnTo>
                <a:lnTo>
                  <a:pt x="281" y="0"/>
                </a:lnTo>
                <a:lnTo>
                  <a:pt x="281" y="140"/>
                </a:lnTo>
                <a:lnTo>
                  <a:pt x="0" y="140"/>
                </a:lnTo>
                <a:close/>
              </a:path>
            </a:pathLst>
          </a:custGeom>
          <a:solidFill>
            <a:srgbClr val="66FF33"/>
          </a:solidFill>
          <a:ln w="12600">
            <a:solidFill>
              <a:srgbClr val="676767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"/>
          <p:cNvSpPr/>
          <p:nvPr/>
        </p:nvSpPr>
        <p:spPr>
          <a:xfrm>
            <a:off x="1200240" y="476280"/>
            <a:ext cx="0" cy="247680"/>
          </a:xfrm>
          <a:prstGeom prst="line">
            <a:avLst/>
          </a:prstGeom>
          <a:ln w="126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"/>
          <p:cNvSpPr txBox="1"/>
          <p:nvPr/>
        </p:nvSpPr>
        <p:spPr>
          <a:xfrm>
            <a:off x="55440" y="1239840"/>
            <a:ext cx="4695840" cy="2549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75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PROCEDURE DIVISION.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5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ProcessName.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5000"/>
              </a:lnSpc>
            </a:pPr>
            <a:r>
              <a:rPr lang="en-US" sz="1200" b="1" u="none" strike="noStrike">
                <a:solidFill>
                  <a:srgbClr val="FF3300"/>
                </a:solidFill>
                <a:effectLst/>
                <a:uFillTx/>
                <a:latin typeface="Courier New"/>
                <a:ea typeface="Courier New"/>
              </a:rPr>
              <a:t>  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ACCEPT OldName.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5000"/>
              </a:lnSpc>
            </a:pPr>
            <a:r>
              <a:rPr lang="en-US" sz="1200" b="1" u="none" strike="noStrike">
                <a:solidFill>
                  <a:srgbClr val="FF3300"/>
                </a:solidFill>
                <a:effectLst/>
                <a:uFillTx/>
                <a:latin typeface="Courier New"/>
                <a:ea typeface="Courier New"/>
              </a:rPr>
              <a:t>  UNSTRING OldName DELIMITED BY ALL SPACES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5000"/>
              </a:lnSpc>
            </a:pPr>
            <a:r>
              <a:rPr lang="en-US" sz="1200" b="1" u="none" strike="noStrike">
                <a:solidFill>
                  <a:srgbClr val="FF3300"/>
                </a:solidFill>
                <a:effectLst/>
                <a:uFillTx/>
                <a:latin typeface="Courier New"/>
                <a:ea typeface="Courier New"/>
              </a:rPr>
              <a:t>     INTO TempName WITH POINTER UnstrPtr</a:t>
            </a:r>
            <a:br>
              <a:rPr sz="1200"/>
            </a:br>
            <a:r>
              <a:rPr lang="en-US" sz="1200" b="1" u="none" strike="noStrike">
                <a:solidFill>
                  <a:srgbClr val="FF3300"/>
                </a:solidFill>
                <a:effectLst/>
                <a:uFillTx/>
                <a:latin typeface="Courier New"/>
                <a:ea typeface="Courier New"/>
              </a:rPr>
              <a:t>   END-UNSTRING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5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PERFORM UNTIL NameProcessed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5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STRING NameInitial "." DELIMITED BY SIZE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5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 INTO NewName WITH POINTER StrPtr</a:t>
            </a:r>
            <a:br>
              <a:rPr sz="1200"/>
            </a:b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END-STRING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5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UNSTRING OldName DELIMITED BY ALL SPACES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5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 INTO TempName WITH POINTER UnstrPtr</a:t>
            </a:r>
            <a:br>
              <a:rPr sz="1200"/>
            </a:b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END-UNSTRING</a:t>
            </a:r>
            <a:br>
              <a:rPr sz="1200"/>
            </a:b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END-PERFORM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5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STRING SPACE TempName DELIMITED BY SIZE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5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 INTO NewName WITH POINTER StrPtr</a:t>
            </a:r>
            <a:br>
              <a:rPr sz="1200"/>
            </a:b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END-STRING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5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STOP RUN.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"/>
          <p:cNvSpPr txBox="1"/>
          <p:nvPr/>
        </p:nvSpPr>
        <p:spPr>
          <a:xfrm>
            <a:off x="792000" y="17640"/>
            <a:ext cx="3876840" cy="270000"/>
          </a:xfrm>
          <a:prstGeom prst="rect">
            <a:avLst/>
          </a:prstGeom>
          <a:solidFill>
            <a:srgbClr val="DDDDDD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69696"/>
            </a:outerShdw>
          </a:effectLst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F3300"/>
                </a:solidFill>
                <a:effectLst/>
                <a:uFillTx/>
                <a:latin typeface="Courier New"/>
                <a:ea typeface="Courier New"/>
              </a:rPr>
              <a:t>Tim</a:t>
            </a:r>
            <a:r>
              <a:rPr lang="en-US" sz="1600" b="1" u="none" strike="noStrike">
                <a:solidFill>
                  <a:srgbClr val="0000FF"/>
                </a:solidFill>
                <a:effectLst/>
                <a:uFillTx/>
                <a:latin typeface="Courier New"/>
                <a:ea typeface="Courier New"/>
              </a:rPr>
              <a:t>   John  Roberts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"/>
          <p:cNvSpPr txBox="1"/>
          <p:nvPr/>
        </p:nvSpPr>
        <p:spPr>
          <a:xfrm>
            <a:off x="54000" y="101520"/>
            <a:ext cx="668160" cy="341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OldName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"/>
          <p:cNvSpPr txBox="1"/>
          <p:nvPr/>
        </p:nvSpPr>
        <p:spPr>
          <a:xfrm>
            <a:off x="44280" y="501480"/>
            <a:ext cx="822240" cy="182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TempName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"/>
          <p:cNvSpPr txBox="1"/>
          <p:nvPr/>
        </p:nvSpPr>
        <p:spPr>
          <a:xfrm>
            <a:off x="34920" y="892080"/>
            <a:ext cx="728640" cy="182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NewName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"/>
          <p:cNvSpPr/>
          <p:nvPr/>
        </p:nvSpPr>
        <p:spPr>
          <a:xfrm>
            <a:off x="801720" y="846000"/>
            <a:ext cx="3876840" cy="270000"/>
          </a:xfrm>
          <a:prstGeom prst="rect">
            <a:avLst/>
          </a:prstGeom>
          <a:solidFill>
            <a:srgbClr val="DDDDDD"/>
          </a:solidFill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"/>
          <p:cNvSpPr txBox="1"/>
          <p:nvPr/>
        </p:nvSpPr>
        <p:spPr>
          <a:xfrm>
            <a:off x="923760" y="465120"/>
            <a:ext cx="1924200" cy="270000"/>
          </a:xfrm>
          <a:prstGeom prst="rect">
            <a:avLst/>
          </a:prstGeom>
          <a:solidFill>
            <a:srgbClr val="DDDDDD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69696"/>
            </a:outerShdw>
          </a:effectLst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spcBef>
                <a:spcPts val="1199"/>
              </a:spcBef>
            </a:pPr>
            <a:r>
              <a:rPr lang="en-US" sz="1600" b="1" u="none" strike="noStrike">
                <a:solidFill>
                  <a:srgbClr val="FF3300"/>
                </a:solidFill>
                <a:effectLst/>
                <a:uFillTx/>
                <a:latin typeface="Courier New"/>
                <a:ea typeface="Courier New"/>
              </a:rPr>
              <a:t>T im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"/>
          <p:cNvSpPr/>
          <p:nvPr/>
        </p:nvSpPr>
        <p:spPr>
          <a:xfrm>
            <a:off x="895320" y="1057320"/>
            <a:ext cx="144720" cy="152640"/>
          </a:xfrm>
          <a:custGeom>
            <a:avLst/>
            <a:gdLst/>
            <a:ahLst/>
            <a:rect l="0" t="0" r="r" b="b"/>
            <a:pathLst>
              <a:path w="402" h="424">
                <a:moveTo>
                  <a:pt x="0" y="140"/>
                </a:moveTo>
                <a:lnTo>
                  <a:pt x="0" y="282"/>
                </a:lnTo>
                <a:lnTo>
                  <a:pt x="281" y="282"/>
                </a:lnTo>
                <a:lnTo>
                  <a:pt x="281" y="424"/>
                </a:lnTo>
                <a:lnTo>
                  <a:pt x="402" y="211"/>
                </a:lnTo>
                <a:lnTo>
                  <a:pt x="281" y="0"/>
                </a:lnTo>
                <a:lnTo>
                  <a:pt x="281" y="140"/>
                </a:lnTo>
                <a:lnTo>
                  <a:pt x="0" y="140"/>
                </a:lnTo>
                <a:close/>
              </a:path>
            </a:pathLst>
          </a:custGeom>
          <a:solidFill>
            <a:srgbClr val="66FF33"/>
          </a:solidFill>
          <a:ln w="12600">
            <a:solidFill>
              <a:srgbClr val="676767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"/>
          <p:cNvSpPr/>
          <p:nvPr/>
        </p:nvSpPr>
        <p:spPr>
          <a:xfrm>
            <a:off x="1628640" y="228600"/>
            <a:ext cx="144720" cy="152640"/>
          </a:xfrm>
          <a:custGeom>
            <a:avLst/>
            <a:gdLst/>
            <a:ahLst/>
            <a:rect l="0" t="0" r="r" b="b"/>
            <a:pathLst>
              <a:path w="402" h="424">
                <a:moveTo>
                  <a:pt x="0" y="140"/>
                </a:moveTo>
                <a:lnTo>
                  <a:pt x="0" y="282"/>
                </a:lnTo>
                <a:lnTo>
                  <a:pt x="281" y="282"/>
                </a:lnTo>
                <a:lnTo>
                  <a:pt x="281" y="424"/>
                </a:lnTo>
                <a:lnTo>
                  <a:pt x="402" y="211"/>
                </a:lnTo>
                <a:lnTo>
                  <a:pt x="281" y="0"/>
                </a:lnTo>
                <a:lnTo>
                  <a:pt x="281" y="140"/>
                </a:lnTo>
                <a:lnTo>
                  <a:pt x="0" y="140"/>
                </a:lnTo>
                <a:close/>
              </a:path>
            </a:pathLst>
          </a:custGeom>
          <a:solidFill>
            <a:srgbClr val="66FF33"/>
          </a:solidFill>
          <a:ln w="12600">
            <a:solidFill>
              <a:srgbClr val="676767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"/>
          <p:cNvSpPr/>
          <p:nvPr/>
        </p:nvSpPr>
        <p:spPr>
          <a:xfrm>
            <a:off x="1200240" y="476280"/>
            <a:ext cx="0" cy="247680"/>
          </a:xfrm>
          <a:prstGeom prst="line">
            <a:avLst/>
          </a:prstGeom>
          <a:ln w="126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"/>
          <p:cNvSpPr/>
          <p:nvPr/>
        </p:nvSpPr>
        <p:spPr>
          <a:xfrm>
            <a:off x="1300320" y="81000"/>
            <a:ext cx="318960" cy="166680"/>
          </a:xfrm>
          <a:prstGeom prst="rect">
            <a:avLst/>
          </a:prstGeom>
          <a:solidFill>
            <a:srgbClr val="037C03"/>
          </a:solidFill>
          <a:ln w="25560">
            <a:solidFill>
              <a:srgbClr val="037C03"/>
            </a:solidFill>
            <a:round/>
          </a:ln>
        </p:spPr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"/>
          <p:cNvSpPr txBox="1"/>
          <p:nvPr/>
        </p:nvSpPr>
        <p:spPr>
          <a:xfrm>
            <a:off x="55440" y="1239840"/>
            <a:ext cx="4695840" cy="2549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75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PROCEDURE DIVISION.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5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ProcessName.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5000"/>
              </a:lnSpc>
            </a:pPr>
            <a:r>
              <a:rPr lang="en-US" sz="1200" b="1" u="none" strike="noStrike">
                <a:solidFill>
                  <a:srgbClr val="FF3300"/>
                </a:solidFill>
                <a:effectLst/>
                <a:uFillTx/>
                <a:latin typeface="Courier New"/>
                <a:ea typeface="Courier New"/>
              </a:rPr>
              <a:t>  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ACCEPT OldName.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5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UNSTRING OldName DELIMITED BY ALL SPACES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5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INTO TempName WITH POINTER UnstrPtr</a:t>
            </a:r>
            <a:br>
              <a:rPr sz="1200"/>
            </a:b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END-UNSTRING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5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PERFORM UNTIL NameProcessed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5000"/>
              </a:lnSpc>
            </a:pPr>
            <a:r>
              <a:rPr lang="en-US" sz="1200" b="1" u="none" strike="noStrike">
                <a:solidFill>
                  <a:srgbClr val="FF3300"/>
                </a:solidFill>
                <a:effectLst/>
                <a:uFillTx/>
                <a:latin typeface="Courier New"/>
                <a:ea typeface="Courier New"/>
              </a:rPr>
              <a:t>     STRING NameInitial "." DELIMITED BY SIZE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5000"/>
              </a:lnSpc>
            </a:pPr>
            <a:r>
              <a:rPr lang="en-US" sz="1200" b="1" u="none" strike="noStrike">
                <a:solidFill>
                  <a:srgbClr val="FF3300"/>
                </a:solidFill>
                <a:effectLst/>
                <a:uFillTx/>
                <a:latin typeface="Courier New"/>
                <a:ea typeface="Courier New"/>
              </a:rPr>
              <a:t>        INTO NewName WITH POINTER StrPtr</a:t>
            </a:r>
            <a:br>
              <a:rPr sz="1200"/>
            </a:br>
            <a:r>
              <a:rPr lang="en-US" sz="1200" b="1" u="none" strike="noStrike">
                <a:solidFill>
                  <a:srgbClr val="FF3300"/>
                </a:solidFill>
                <a:effectLst/>
                <a:uFillTx/>
                <a:latin typeface="Courier New"/>
                <a:ea typeface="Courier New"/>
              </a:rPr>
              <a:t>      END-STRING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5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UNSTRING OldName DELIMITED BY ALL SPACES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5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 INTO TempName WITH POINTER UnstrPtr</a:t>
            </a:r>
            <a:br>
              <a:rPr sz="1200"/>
            </a:b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END-UNSTRING</a:t>
            </a:r>
            <a:br>
              <a:rPr sz="1200"/>
            </a:b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END-PERFORM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5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STRING SPACE TempName DELIMITED BY SIZE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5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 INTO NewName WITH POINTER StrPtr</a:t>
            </a:r>
            <a:br>
              <a:rPr sz="1200"/>
            </a:b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END-STRING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5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STOP RUN.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"/>
          <p:cNvSpPr txBox="1"/>
          <p:nvPr/>
        </p:nvSpPr>
        <p:spPr>
          <a:xfrm>
            <a:off x="792000" y="17640"/>
            <a:ext cx="3876840" cy="270000"/>
          </a:xfrm>
          <a:prstGeom prst="rect">
            <a:avLst/>
          </a:prstGeom>
          <a:solidFill>
            <a:srgbClr val="DDDDDD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69696"/>
            </a:outerShdw>
          </a:effectLst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0000FF"/>
                </a:solidFill>
                <a:effectLst/>
                <a:uFillTx/>
                <a:latin typeface="Courier New"/>
                <a:ea typeface="Courier New"/>
              </a:rPr>
              <a:t>Tim   John  Roberts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"/>
          <p:cNvSpPr txBox="1"/>
          <p:nvPr/>
        </p:nvSpPr>
        <p:spPr>
          <a:xfrm>
            <a:off x="54000" y="101520"/>
            <a:ext cx="668160" cy="341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OldName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"/>
          <p:cNvSpPr txBox="1"/>
          <p:nvPr/>
        </p:nvSpPr>
        <p:spPr>
          <a:xfrm>
            <a:off x="44280" y="501480"/>
            <a:ext cx="822240" cy="182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TempName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"/>
          <p:cNvSpPr txBox="1"/>
          <p:nvPr/>
        </p:nvSpPr>
        <p:spPr>
          <a:xfrm>
            <a:off x="34920" y="892080"/>
            <a:ext cx="728640" cy="182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NewName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"/>
          <p:cNvSpPr txBox="1"/>
          <p:nvPr/>
        </p:nvSpPr>
        <p:spPr>
          <a:xfrm>
            <a:off x="801720" y="846000"/>
            <a:ext cx="3876840" cy="270000"/>
          </a:xfrm>
          <a:prstGeom prst="rect">
            <a:avLst/>
          </a:prstGeom>
          <a:solidFill>
            <a:srgbClr val="DDDDDD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69696"/>
            </a:outerShdw>
          </a:effectLst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spcBef>
                <a:spcPts val="1199"/>
              </a:spcBef>
            </a:pPr>
            <a:r>
              <a:rPr lang="en-US" sz="1600" b="1" u="none" strike="noStrike">
                <a:solidFill>
                  <a:srgbClr val="FF3300"/>
                </a:solidFill>
                <a:effectLst/>
                <a:uFillTx/>
                <a:latin typeface="Courier New"/>
                <a:ea typeface="Courier New"/>
              </a:rPr>
              <a:t>T.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"/>
          <p:cNvSpPr txBox="1"/>
          <p:nvPr/>
        </p:nvSpPr>
        <p:spPr>
          <a:xfrm>
            <a:off x="923760" y="465120"/>
            <a:ext cx="1924200" cy="270000"/>
          </a:xfrm>
          <a:prstGeom prst="rect">
            <a:avLst/>
          </a:prstGeom>
          <a:solidFill>
            <a:srgbClr val="DDDDDD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69696"/>
            </a:outerShdw>
          </a:effectLst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spcBef>
                <a:spcPts val="1199"/>
              </a:spcBef>
            </a:pPr>
            <a:r>
              <a:rPr lang="en-US" sz="1600" b="1" u="none" strike="noStrike">
                <a:solidFill>
                  <a:srgbClr val="FF3300"/>
                </a:solidFill>
                <a:effectLst/>
                <a:uFillTx/>
                <a:latin typeface="Courier New"/>
                <a:ea typeface="Courier New"/>
              </a:rPr>
              <a:t>T </a:t>
            </a:r>
            <a:r>
              <a:rPr lang="en-US" sz="1600" b="1" u="none" strike="noStrike">
                <a:solidFill>
                  <a:srgbClr val="0000FF"/>
                </a:solidFill>
                <a:effectLst/>
                <a:uFillTx/>
                <a:latin typeface="Courier New"/>
                <a:ea typeface="Courier New"/>
              </a:rPr>
              <a:t>im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"/>
          <p:cNvSpPr/>
          <p:nvPr/>
        </p:nvSpPr>
        <p:spPr>
          <a:xfrm>
            <a:off x="1152360" y="1066680"/>
            <a:ext cx="144720" cy="152640"/>
          </a:xfrm>
          <a:custGeom>
            <a:avLst/>
            <a:gdLst/>
            <a:ahLst/>
            <a:rect l="0" t="0" r="r" b="b"/>
            <a:pathLst>
              <a:path w="402" h="424">
                <a:moveTo>
                  <a:pt x="0" y="140"/>
                </a:moveTo>
                <a:lnTo>
                  <a:pt x="0" y="282"/>
                </a:lnTo>
                <a:lnTo>
                  <a:pt x="281" y="282"/>
                </a:lnTo>
                <a:lnTo>
                  <a:pt x="281" y="424"/>
                </a:lnTo>
                <a:lnTo>
                  <a:pt x="402" y="211"/>
                </a:lnTo>
                <a:lnTo>
                  <a:pt x="281" y="0"/>
                </a:lnTo>
                <a:lnTo>
                  <a:pt x="281" y="140"/>
                </a:lnTo>
                <a:lnTo>
                  <a:pt x="0" y="140"/>
                </a:lnTo>
                <a:close/>
              </a:path>
            </a:pathLst>
          </a:custGeom>
          <a:solidFill>
            <a:srgbClr val="66FF33"/>
          </a:solidFill>
          <a:ln w="12600">
            <a:solidFill>
              <a:srgbClr val="676767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"/>
          <p:cNvSpPr/>
          <p:nvPr/>
        </p:nvSpPr>
        <p:spPr>
          <a:xfrm>
            <a:off x="1628640" y="228600"/>
            <a:ext cx="144720" cy="152640"/>
          </a:xfrm>
          <a:custGeom>
            <a:avLst/>
            <a:gdLst/>
            <a:ahLst/>
            <a:rect l="0" t="0" r="r" b="b"/>
            <a:pathLst>
              <a:path w="402" h="424">
                <a:moveTo>
                  <a:pt x="0" y="140"/>
                </a:moveTo>
                <a:lnTo>
                  <a:pt x="0" y="282"/>
                </a:lnTo>
                <a:lnTo>
                  <a:pt x="281" y="282"/>
                </a:lnTo>
                <a:lnTo>
                  <a:pt x="281" y="424"/>
                </a:lnTo>
                <a:lnTo>
                  <a:pt x="402" y="211"/>
                </a:lnTo>
                <a:lnTo>
                  <a:pt x="281" y="0"/>
                </a:lnTo>
                <a:lnTo>
                  <a:pt x="281" y="140"/>
                </a:lnTo>
                <a:lnTo>
                  <a:pt x="0" y="140"/>
                </a:lnTo>
                <a:close/>
              </a:path>
            </a:pathLst>
          </a:custGeom>
          <a:solidFill>
            <a:srgbClr val="66FF33"/>
          </a:solidFill>
          <a:ln w="12600">
            <a:solidFill>
              <a:srgbClr val="676767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"/>
          <p:cNvSpPr/>
          <p:nvPr/>
        </p:nvSpPr>
        <p:spPr>
          <a:xfrm>
            <a:off x="1200240" y="476280"/>
            <a:ext cx="0" cy="247680"/>
          </a:xfrm>
          <a:prstGeom prst="line">
            <a:avLst/>
          </a:prstGeom>
          <a:ln w="126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"/>
          <p:cNvSpPr txBox="1"/>
          <p:nvPr/>
        </p:nvSpPr>
        <p:spPr>
          <a:xfrm>
            <a:off x="55440" y="1239840"/>
            <a:ext cx="4695840" cy="2549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75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PROCEDURE DIVISION.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5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ProcessName.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5000"/>
              </a:lnSpc>
            </a:pPr>
            <a:r>
              <a:rPr lang="en-US" sz="1200" b="1" u="none" strike="noStrike">
                <a:solidFill>
                  <a:srgbClr val="FF3300"/>
                </a:solidFill>
                <a:effectLst/>
                <a:uFillTx/>
                <a:latin typeface="Courier New"/>
                <a:ea typeface="Courier New"/>
              </a:rPr>
              <a:t>  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ACCEPT OldName.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5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UNSTRING OldName DELIMITED BY ALL SPACES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5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INTO TempName WITH POINTER UnstrPtr</a:t>
            </a:r>
            <a:br>
              <a:rPr sz="1200"/>
            </a:b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END-UNSTRING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5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PERFORM UNTIL NameProcessed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5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STRING NameInitial "." DELIMITED BY SIZE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5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 INTO NewName WITH POINTER StrPtr</a:t>
            </a:r>
            <a:br>
              <a:rPr sz="1200"/>
            </a:b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END-STRING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5000"/>
              </a:lnSpc>
            </a:pPr>
            <a:r>
              <a:rPr lang="en-US" sz="1200" b="1" u="none" strike="noStrike">
                <a:solidFill>
                  <a:srgbClr val="FF3300"/>
                </a:solidFill>
                <a:effectLst/>
                <a:uFillTx/>
                <a:latin typeface="Courier New"/>
                <a:ea typeface="Courier New"/>
              </a:rPr>
              <a:t>     UNSTRING OldName DELIMITED BY ALL SPACES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5000"/>
              </a:lnSpc>
            </a:pPr>
            <a:r>
              <a:rPr lang="en-US" sz="1200" b="1" u="none" strike="noStrike">
                <a:solidFill>
                  <a:srgbClr val="FF3300"/>
                </a:solidFill>
                <a:effectLst/>
                <a:uFillTx/>
                <a:latin typeface="Courier New"/>
                <a:ea typeface="Courier New"/>
              </a:rPr>
              <a:t>        INTO TempName WITH POINTER UnstrPtr</a:t>
            </a:r>
            <a:br>
              <a:rPr sz="1200"/>
            </a:br>
            <a:r>
              <a:rPr lang="en-US" sz="1200" b="1" u="none" strike="noStrike">
                <a:solidFill>
                  <a:srgbClr val="FF3300"/>
                </a:solidFill>
                <a:effectLst/>
                <a:uFillTx/>
                <a:latin typeface="Courier New"/>
                <a:ea typeface="Courier New"/>
              </a:rPr>
              <a:t>      END-UNSTRING</a:t>
            </a:r>
            <a:br>
              <a:rPr sz="1800"/>
            </a:b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END-PERFORM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5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STRING SPACE TempName DELIMITED BY SIZE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5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 INTO NewName WITH POINTER StrPtr</a:t>
            </a:r>
            <a:br>
              <a:rPr sz="1200"/>
            </a:b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END-STRING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5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STOP RUN.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"/>
          <p:cNvSpPr txBox="1"/>
          <p:nvPr/>
        </p:nvSpPr>
        <p:spPr>
          <a:xfrm>
            <a:off x="792000" y="17640"/>
            <a:ext cx="3876840" cy="270000"/>
          </a:xfrm>
          <a:prstGeom prst="rect">
            <a:avLst/>
          </a:prstGeom>
          <a:solidFill>
            <a:srgbClr val="DDDDDD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69696"/>
            </a:outerShdw>
          </a:effectLst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0000FF"/>
                </a:solidFill>
                <a:effectLst/>
                <a:uFillTx/>
                <a:latin typeface="Courier New"/>
                <a:ea typeface="Courier New"/>
              </a:rPr>
              <a:t>Tim   </a:t>
            </a:r>
            <a:r>
              <a:rPr lang="en-US" sz="1600" b="1" u="none" strike="noStrike">
                <a:solidFill>
                  <a:srgbClr val="FF3300"/>
                </a:solidFill>
                <a:effectLst/>
                <a:uFillTx/>
                <a:latin typeface="Courier New"/>
                <a:ea typeface="Courier New"/>
              </a:rPr>
              <a:t>John</a:t>
            </a:r>
            <a:r>
              <a:rPr lang="en-US" sz="1600" b="1" u="none" strike="noStrike">
                <a:solidFill>
                  <a:srgbClr val="0000FF"/>
                </a:solidFill>
                <a:effectLst/>
                <a:uFillTx/>
                <a:latin typeface="Courier New"/>
                <a:ea typeface="Courier New"/>
              </a:rPr>
              <a:t>  Roberts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"/>
          <p:cNvSpPr txBox="1"/>
          <p:nvPr/>
        </p:nvSpPr>
        <p:spPr>
          <a:xfrm>
            <a:off x="54000" y="101520"/>
            <a:ext cx="668160" cy="341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OldName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"/>
          <p:cNvSpPr txBox="1"/>
          <p:nvPr/>
        </p:nvSpPr>
        <p:spPr>
          <a:xfrm>
            <a:off x="44280" y="501480"/>
            <a:ext cx="822240" cy="182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TempName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"/>
          <p:cNvSpPr txBox="1"/>
          <p:nvPr/>
        </p:nvSpPr>
        <p:spPr>
          <a:xfrm>
            <a:off x="34920" y="892080"/>
            <a:ext cx="728640" cy="182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NewName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"/>
          <p:cNvSpPr txBox="1"/>
          <p:nvPr/>
        </p:nvSpPr>
        <p:spPr>
          <a:xfrm>
            <a:off x="801720" y="846000"/>
            <a:ext cx="3876840" cy="270000"/>
          </a:xfrm>
          <a:prstGeom prst="rect">
            <a:avLst/>
          </a:prstGeom>
          <a:solidFill>
            <a:srgbClr val="DDDDDD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69696"/>
            </a:outerShdw>
          </a:effectLst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spcBef>
                <a:spcPts val="1199"/>
              </a:spcBef>
            </a:pPr>
            <a:r>
              <a:rPr lang="en-US" sz="1600" b="1" u="none" strike="noStrike">
                <a:solidFill>
                  <a:srgbClr val="0000FF"/>
                </a:solidFill>
                <a:effectLst/>
                <a:uFillTx/>
                <a:latin typeface="Courier New"/>
                <a:ea typeface="Courier New"/>
              </a:rPr>
              <a:t>T.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"/>
          <p:cNvSpPr txBox="1"/>
          <p:nvPr/>
        </p:nvSpPr>
        <p:spPr>
          <a:xfrm>
            <a:off x="923760" y="465120"/>
            <a:ext cx="1924200" cy="270000"/>
          </a:xfrm>
          <a:prstGeom prst="rect">
            <a:avLst/>
          </a:prstGeom>
          <a:solidFill>
            <a:srgbClr val="DDDDDD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69696"/>
            </a:outerShdw>
          </a:effectLst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spcBef>
                <a:spcPts val="1199"/>
              </a:spcBef>
            </a:pPr>
            <a:r>
              <a:rPr lang="en-US" sz="1600" b="1" u="none" strike="noStrike">
                <a:solidFill>
                  <a:srgbClr val="FF3300"/>
                </a:solidFill>
                <a:effectLst/>
                <a:uFillTx/>
                <a:latin typeface="Courier New"/>
                <a:ea typeface="Courier New"/>
              </a:rPr>
              <a:t>J ohn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"/>
          <p:cNvSpPr/>
          <p:nvPr/>
        </p:nvSpPr>
        <p:spPr>
          <a:xfrm>
            <a:off x="2371680" y="237960"/>
            <a:ext cx="144720" cy="152640"/>
          </a:xfrm>
          <a:custGeom>
            <a:avLst/>
            <a:gdLst/>
            <a:ahLst/>
            <a:rect l="0" t="0" r="r" b="b"/>
            <a:pathLst>
              <a:path w="402" h="424">
                <a:moveTo>
                  <a:pt x="0" y="140"/>
                </a:moveTo>
                <a:lnTo>
                  <a:pt x="0" y="282"/>
                </a:lnTo>
                <a:lnTo>
                  <a:pt x="281" y="282"/>
                </a:lnTo>
                <a:lnTo>
                  <a:pt x="281" y="424"/>
                </a:lnTo>
                <a:lnTo>
                  <a:pt x="402" y="211"/>
                </a:lnTo>
                <a:lnTo>
                  <a:pt x="281" y="0"/>
                </a:lnTo>
                <a:lnTo>
                  <a:pt x="281" y="140"/>
                </a:lnTo>
                <a:lnTo>
                  <a:pt x="0" y="140"/>
                </a:lnTo>
                <a:close/>
              </a:path>
            </a:pathLst>
          </a:custGeom>
          <a:solidFill>
            <a:srgbClr val="66FF33"/>
          </a:solidFill>
          <a:ln w="12600">
            <a:solidFill>
              <a:srgbClr val="676767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"/>
          <p:cNvSpPr/>
          <p:nvPr/>
        </p:nvSpPr>
        <p:spPr>
          <a:xfrm>
            <a:off x="1200240" y="476280"/>
            <a:ext cx="0" cy="247680"/>
          </a:xfrm>
          <a:prstGeom prst="line">
            <a:avLst/>
          </a:prstGeom>
          <a:ln w="126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"/>
          <p:cNvSpPr/>
          <p:nvPr/>
        </p:nvSpPr>
        <p:spPr>
          <a:xfrm>
            <a:off x="2133720" y="42840"/>
            <a:ext cx="209520" cy="214200"/>
          </a:xfrm>
          <a:prstGeom prst="rect">
            <a:avLst/>
          </a:prstGeom>
          <a:solidFill>
            <a:srgbClr val="037C03"/>
          </a:solidFill>
          <a:ln w="25560">
            <a:solidFill>
              <a:srgbClr val="037C03"/>
            </a:solidFill>
            <a:round/>
          </a:ln>
        </p:spPr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" name=""/>
          <p:cNvSpPr/>
          <p:nvPr/>
        </p:nvSpPr>
        <p:spPr>
          <a:xfrm>
            <a:off x="1152360" y="1066680"/>
            <a:ext cx="144720" cy="152640"/>
          </a:xfrm>
          <a:custGeom>
            <a:avLst/>
            <a:gdLst/>
            <a:ahLst/>
            <a:rect l="0" t="0" r="r" b="b"/>
            <a:pathLst>
              <a:path w="402" h="424">
                <a:moveTo>
                  <a:pt x="0" y="140"/>
                </a:moveTo>
                <a:lnTo>
                  <a:pt x="0" y="282"/>
                </a:lnTo>
                <a:lnTo>
                  <a:pt x="281" y="282"/>
                </a:lnTo>
                <a:lnTo>
                  <a:pt x="281" y="424"/>
                </a:lnTo>
                <a:lnTo>
                  <a:pt x="402" y="211"/>
                </a:lnTo>
                <a:lnTo>
                  <a:pt x="281" y="0"/>
                </a:lnTo>
                <a:lnTo>
                  <a:pt x="281" y="140"/>
                </a:lnTo>
                <a:lnTo>
                  <a:pt x="0" y="140"/>
                </a:lnTo>
                <a:close/>
              </a:path>
            </a:pathLst>
          </a:custGeom>
          <a:solidFill>
            <a:srgbClr val="66FF33"/>
          </a:solidFill>
          <a:ln w="12600">
            <a:solidFill>
              <a:srgbClr val="676767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"/>
          <p:cNvSpPr txBox="1"/>
          <p:nvPr/>
        </p:nvSpPr>
        <p:spPr>
          <a:xfrm>
            <a:off x="55440" y="1239840"/>
            <a:ext cx="4695840" cy="2549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75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PROCEDURE DIVISION.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5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ProcessName.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5000"/>
              </a:lnSpc>
            </a:pPr>
            <a:r>
              <a:rPr lang="en-US" sz="1200" b="1" u="none" strike="noStrike">
                <a:solidFill>
                  <a:srgbClr val="FF3300"/>
                </a:solidFill>
                <a:effectLst/>
                <a:uFillTx/>
                <a:latin typeface="Courier New"/>
                <a:ea typeface="Courier New"/>
              </a:rPr>
              <a:t>  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ACCEPT OldName.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5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UNSTRING OldName DELIMITED BY ALL SPACES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5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INTO TempName WITH POINTER UnstrPtr</a:t>
            </a:r>
            <a:br>
              <a:rPr sz="1200"/>
            </a:b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END-UNSTRING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5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PERFORM UNTIL NameProcessed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5000"/>
              </a:lnSpc>
            </a:pPr>
            <a:r>
              <a:rPr lang="en-US" sz="1200" b="1" u="none" strike="noStrike">
                <a:solidFill>
                  <a:srgbClr val="FF3300"/>
                </a:solidFill>
                <a:effectLst/>
                <a:uFillTx/>
                <a:latin typeface="Courier New"/>
                <a:ea typeface="Courier New"/>
              </a:rPr>
              <a:t>     STRING NameInitial "." DELIMITED BY SIZE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5000"/>
              </a:lnSpc>
            </a:pPr>
            <a:r>
              <a:rPr lang="en-US" sz="1200" b="1" u="none" strike="noStrike">
                <a:solidFill>
                  <a:srgbClr val="FF3300"/>
                </a:solidFill>
                <a:effectLst/>
                <a:uFillTx/>
                <a:latin typeface="Courier New"/>
                <a:ea typeface="Courier New"/>
              </a:rPr>
              <a:t>        INTO NewName WITH POINTER StrPtr</a:t>
            </a:r>
            <a:br>
              <a:rPr sz="1200"/>
            </a:br>
            <a:r>
              <a:rPr lang="en-US" sz="1200" b="1" u="none" strike="noStrike">
                <a:solidFill>
                  <a:srgbClr val="FF3300"/>
                </a:solidFill>
                <a:effectLst/>
                <a:uFillTx/>
                <a:latin typeface="Courier New"/>
                <a:ea typeface="Courier New"/>
              </a:rPr>
              <a:t>      END-STRING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5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UNSTRING OldName DELIMITED BY ALL SPACES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5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 INTO TempName WITH POINTER UnstrPtr</a:t>
            </a:r>
            <a:br>
              <a:rPr sz="1200"/>
            </a:b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END-UNSTRING</a:t>
            </a:r>
            <a:br>
              <a:rPr sz="1200"/>
            </a:b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END-PERFORM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5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STRING SPACE TempName DELIMITED BY SIZE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5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 INTO NewName WITH POINTER StrPtr</a:t>
            </a:r>
            <a:br>
              <a:rPr sz="1200"/>
            </a:b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END-STRING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5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STOP RUN.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"/>
          <p:cNvSpPr txBox="1"/>
          <p:nvPr/>
        </p:nvSpPr>
        <p:spPr>
          <a:xfrm>
            <a:off x="792000" y="17640"/>
            <a:ext cx="3876840" cy="270000"/>
          </a:xfrm>
          <a:prstGeom prst="rect">
            <a:avLst/>
          </a:prstGeom>
          <a:solidFill>
            <a:srgbClr val="DDDDDD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69696"/>
            </a:outerShdw>
          </a:effectLst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0000FF"/>
                </a:solidFill>
                <a:effectLst/>
                <a:uFillTx/>
                <a:latin typeface="Courier New"/>
                <a:ea typeface="Courier New"/>
              </a:rPr>
              <a:t>Tim   John  Roberts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"/>
          <p:cNvSpPr txBox="1"/>
          <p:nvPr/>
        </p:nvSpPr>
        <p:spPr>
          <a:xfrm>
            <a:off x="54000" y="101520"/>
            <a:ext cx="668160" cy="341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OldName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"/>
          <p:cNvSpPr txBox="1"/>
          <p:nvPr/>
        </p:nvSpPr>
        <p:spPr>
          <a:xfrm>
            <a:off x="44280" y="501480"/>
            <a:ext cx="822240" cy="182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TempName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"/>
          <p:cNvSpPr txBox="1"/>
          <p:nvPr/>
        </p:nvSpPr>
        <p:spPr>
          <a:xfrm>
            <a:off x="34920" y="892080"/>
            <a:ext cx="728640" cy="182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NewName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"/>
          <p:cNvSpPr txBox="1"/>
          <p:nvPr/>
        </p:nvSpPr>
        <p:spPr>
          <a:xfrm>
            <a:off x="801720" y="846000"/>
            <a:ext cx="3876840" cy="270000"/>
          </a:xfrm>
          <a:prstGeom prst="rect">
            <a:avLst/>
          </a:prstGeom>
          <a:solidFill>
            <a:srgbClr val="DDDDDD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69696"/>
            </a:outerShdw>
          </a:effectLst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spcBef>
                <a:spcPts val="1199"/>
              </a:spcBef>
            </a:pPr>
            <a:r>
              <a:rPr lang="en-US" sz="1600" b="1" u="none" strike="noStrike">
                <a:solidFill>
                  <a:srgbClr val="0000FF"/>
                </a:solidFill>
                <a:effectLst/>
                <a:uFillTx/>
                <a:latin typeface="Courier New"/>
                <a:ea typeface="Courier New"/>
              </a:rPr>
              <a:t>T.</a:t>
            </a:r>
            <a:r>
              <a:rPr lang="en-US" sz="1600" b="1" u="none" strike="noStrike">
                <a:solidFill>
                  <a:srgbClr val="FF3300"/>
                </a:solidFill>
                <a:effectLst/>
                <a:uFillTx/>
                <a:latin typeface="Courier New"/>
                <a:ea typeface="Courier New"/>
              </a:rPr>
              <a:t>J.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"/>
          <p:cNvSpPr txBox="1"/>
          <p:nvPr/>
        </p:nvSpPr>
        <p:spPr>
          <a:xfrm>
            <a:off x="923760" y="465120"/>
            <a:ext cx="1924200" cy="270000"/>
          </a:xfrm>
          <a:prstGeom prst="rect">
            <a:avLst/>
          </a:prstGeom>
          <a:solidFill>
            <a:srgbClr val="DDDDDD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69696"/>
            </a:outerShdw>
          </a:effectLst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spcBef>
                <a:spcPts val="1199"/>
              </a:spcBef>
            </a:pPr>
            <a:r>
              <a:rPr lang="en-US" sz="1600" b="1" u="none" strike="noStrike">
                <a:solidFill>
                  <a:srgbClr val="FF3300"/>
                </a:solidFill>
                <a:effectLst/>
                <a:uFillTx/>
                <a:latin typeface="Courier New"/>
                <a:ea typeface="Courier New"/>
              </a:rPr>
              <a:t>J </a:t>
            </a:r>
            <a:r>
              <a:rPr lang="en-US" sz="1600" b="1" u="none" strike="noStrike">
                <a:solidFill>
                  <a:srgbClr val="0000FF"/>
                </a:solidFill>
                <a:effectLst/>
                <a:uFillTx/>
                <a:latin typeface="Courier New"/>
                <a:ea typeface="Courier New"/>
              </a:rPr>
              <a:t>ohn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"/>
          <p:cNvSpPr/>
          <p:nvPr/>
        </p:nvSpPr>
        <p:spPr>
          <a:xfrm>
            <a:off x="2352600" y="247680"/>
            <a:ext cx="144720" cy="152640"/>
          </a:xfrm>
          <a:custGeom>
            <a:avLst/>
            <a:gdLst/>
            <a:ahLst/>
            <a:rect l="0" t="0" r="r" b="b"/>
            <a:pathLst>
              <a:path w="402" h="424">
                <a:moveTo>
                  <a:pt x="0" y="140"/>
                </a:moveTo>
                <a:lnTo>
                  <a:pt x="0" y="282"/>
                </a:lnTo>
                <a:lnTo>
                  <a:pt x="281" y="282"/>
                </a:lnTo>
                <a:lnTo>
                  <a:pt x="281" y="424"/>
                </a:lnTo>
                <a:lnTo>
                  <a:pt x="402" y="211"/>
                </a:lnTo>
                <a:lnTo>
                  <a:pt x="281" y="0"/>
                </a:lnTo>
                <a:lnTo>
                  <a:pt x="281" y="140"/>
                </a:lnTo>
                <a:lnTo>
                  <a:pt x="0" y="140"/>
                </a:lnTo>
                <a:close/>
              </a:path>
            </a:pathLst>
          </a:custGeom>
          <a:solidFill>
            <a:srgbClr val="66FF33"/>
          </a:solidFill>
          <a:ln w="12600">
            <a:solidFill>
              <a:srgbClr val="676767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"/>
          <p:cNvSpPr/>
          <p:nvPr/>
        </p:nvSpPr>
        <p:spPr>
          <a:xfrm>
            <a:off x="1200240" y="476280"/>
            <a:ext cx="0" cy="247680"/>
          </a:xfrm>
          <a:prstGeom prst="line">
            <a:avLst/>
          </a:prstGeom>
          <a:ln w="126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"/>
          <p:cNvSpPr/>
          <p:nvPr/>
        </p:nvSpPr>
        <p:spPr>
          <a:xfrm>
            <a:off x="1352520" y="1057320"/>
            <a:ext cx="144720" cy="152640"/>
          </a:xfrm>
          <a:custGeom>
            <a:avLst/>
            <a:gdLst/>
            <a:ahLst/>
            <a:rect l="0" t="0" r="r" b="b"/>
            <a:pathLst>
              <a:path w="402" h="424">
                <a:moveTo>
                  <a:pt x="0" y="140"/>
                </a:moveTo>
                <a:lnTo>
                  <a:pt x="0" y="282"/>
                </a:lnTo>
                <a:lnTo>
                  <a:pt x="281" y="282"/>
                </a:lnTo>
                <a:lnTo>
                  <a:pt x="281" y="424"/>
                </a:lnTo>
                <a:lnTo>
                  <a:pt x="402" y="211"/>
                </a:lnTo>
                <a:lnTo>
                  <a:pt x="281" y="0"/>
                </a:lnTo>
                <a:lnTo>
                  <a:pt x="281" y="140"/>
                </a:lnTo>
                <a:lnTo>
                  <a:pt x="0" y="140"/>
                </a:lnTo>
                <a:close/>
              </a:path>
            </a:pathLst>
          </a:custGeom>
          <a:solidFill>
            <a:srgbClr val="66FF33"/>
          </a:solidFill>
          <a:ln w="12600">
            <a:solidFill>
              <a:srgbClr val="676767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"/>
          <p:cNvSpPr txBox="1"/>
          <p:nvPr/>
        </p:nvSpPr>
        <p:spPr>
          <a:xfrm>
            <a:off x="55440" y="1239840"/>
            <a:ext cx="4695840" cy="2549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75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PROCEDURE DIVISION.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5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ProcessName.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5000"/>
              </a:lnSpc>
            </a:pPr>
            <a:r>
              <a:rPr lang="en-US" sz="1200" b="1" u="none" strike="noStrike">
                <a:solidFill>
                  <a:srgbClr val="FF3300"/>
                </a:solidFill>
                <a:effectLst/>
                <a:uFillTx/>
                <a:latin typeface="Courier New"/>
                <a:ea typeface="Courier New"/>
              </a:rPr>
              <a:t>  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ACCEPT OldName.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5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UNSTRING OldName DELIMITED BY ALL SPACES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5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INTO TempName WITH POINTER UnstrPtr</a:t>
            </a:r>
            <a:br>
              <a:rPr sz="1200"/>
            </a:b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END-UNSTRING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5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PERFORM UNTIL NameProcessed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5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STRING NameInitial "." DELIMITED BY SIZE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5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 INTO NewName WITH POINTER StrPtr</a:t>
            </a:r>
            <a:br>
              <a:rPr sz="1200"/>
            </a:b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END-STRING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5000"/>
              </a:lnSpc>
            </a:pPr>
            <a:r>
              <a:rPr lang="en-US" sz="1200" b="1" u="none" strike="noStrike">
                <a:solidFill>
                  <a:srgbClr val="FF3300"/>
                </a:solidFill>
                <a:effectLst/>
                <a:uFillTx/>
                <a:latin typeface="Courier New"/>
                <a:ea typeface="Courier New"/>
              </a:rPr>
              <a:t>     UNSTRING OldName DELIMITED BY ALL SPACES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5000"/>
              </a:lnSpc>
            </a:pPr>
            <a:r>
              <a:rPr lang="en-US" sz="1200" b="1" u="none" strike="noStrike">
                <a:solidFill>
                  <a:srgbClr val="FF3300"/>
                </a:solidFill>
                <a:effectLst/>
                <a:uFillTx/>
                <a:latin typeface="Courier New"/>
                <a:ea typeface="Courier New"/>
              </a:rPr>
              <a:t>        INTO TempName WITH POINTER UnstrPtr</a:t>
            </a:r>
            <a:br>
              <a:rPr sz="1200"/>
            </a:br>
            <a:r>
              <a:rPr lang="en-US" sz="1200" b="1" u="none" strike="noStrike">
                <a:solidFill>
                  <a:srgbClr val="FF3300"/>
                </a:solidFill>
                <a:effectLst/>
                <a:uFillTx/>
                <a:latin typeface="Courier New"/>
                <a:ea typeface="Courier New"/>
              </a:rPr>
              <a:t>      END-UNSTRING</a:t>
            </a:r>
            <a:br>
              <a:rPr sz="1800"/>
            </a:b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END-PERFORM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5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STRING SPACE TempName DELIMITED BY SIZE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5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 INTO NewName WITH POINTER StrPtr</a:t>
            </a:r>
            <a:br>
              <a:rPr sz="1200"/>
            </a:b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END-STRING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5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STOP RUN.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"/>
          <p:cNvSpPr txBox="1"/>
          <p:nvPr/>
        </p:nvSpPr>
        <p:spPr>
          <a:xfrm>
            <a:off x="792000" y="17640"/>
            <a:ext cx="3876840" cy="270000"/>
          </a:xfrm>
          <a:prstGeom prst="rect">
            <a:avLst/>
          </a:prstGeom>
          <a:solidFill>
            <a:srgbClr val="DDDDDD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69696"/>
            </a:outerShdw>
          </a:effectLst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0000FF"/>
                </a:solidFill>
                <a:effectLst/>
                <a:uFillTx/>
                <a:latin typeface="Courier New"/>
                <a:ea typeface="Courier New"/>
              </a:rPr>
              <a:t>Tim   John  </a:t>
            </a:r>
            <a:r>
              <a:rPr lang="en-US" sz="1600" b="1" u="none" strike="noStrike">
                <a:solidFill>
                  <a:srgbClr val="FF3300"/>
                </a:solidFill>
                <a:effectLst/>
                <a:uFillTx/>
                <a:latin typeface="Courier New"/>
                <a:ea typeface="Courier New"/>
              </a:rPr>
              <a:t>Roberts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"/>
          <p:cNvSpPr txBox="1"/>
          <p:nvPr/>
        </p:nvSpPr>
        <p:spPr>
          <a:xfrm>
            <a:off x="54000" y="101520"/>
            <a:ext cx="668160" cy="341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OldName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"/>
          <p:cNvSpPr txBox="1"/>
          <p:nvPr/>
        </p:nvSpPr>
        <p:spPr>
          <a:xfrm>
            <a:off x="44280" y="501480"/>
            <a:ext cx="822240" cy="182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TempName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"/>
          <p:cNvSpPr txBox="1"/>
          <p:nvPr/>
        </p:nvSpPr>
        <p:spPr>
          <a:xfrm>
            <a:off x="34920" y="892080"/>
            <a:ext cx="728640" cy="182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NewName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"/>
          <p:cNvSpPr txBox="1"/>
          <p:nvPr/>
        </p:nvSpPr>
        <p:spPr>
          <a:xfrm>
            <a:off x="801720" y="846000"/>
            <a:ext cx="3876840" cy="270000"/>
          </a:xfrm>
          <a:prstGeom prst="rect">
            <a:avLst/>
          </a:prstGeom>
          <a:solidFill>
            <a:srgbClr val="DDDDDD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69696"/>
            </a:outerShdw>
          </a:effectLst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spcBef>
                <a:spcPts val="1199"/>
              </a:spcBef>
            </a:pPr>
            <a:r>
              <a:rPr lang="en-US" sz="1600" b="1" u="none" strike="noStrike">
                <a:solidFill>
                  <a:srgbClr val="0000FF"/>
                </a:solidFill>
                <a:effectLst/>
                <a:uFillTx/>
                <a:latin typeface="Courier New"/>
                <a:ea typeface="Courier New"/>
              </a:rPr>
              <a:t>T.J.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"/>
          <p:cNvSpPr txBox="1"/>
          <p:nvPr/>
        </p:nvSpPr>
        <p:spPr>
          <a:xfrm>
            <a:off x="923760" y="465120"/>
            <a:ext cx="1924200" cy="270000"/>
          </a:xfrm>
          <a:prstGeom prst="rect">
            <a:avLst/>
          </a:prstGeom>
          <a:solidFill>
            <a:srgbClr val="DDDDDD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69696"/>
            </a:outerShdw>
          </a:effectLst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spcBef>
                <a:spcPts val="1199"/>
              </a:spcBef>
            </a:pPr>
            <a:r>
              <a:rPr lang="en-US" sz="1600" b="1" u="none" strike="noStrike">
                <a:solidFill>
                  <a:srgbClr val="FF3300"/>
                </a:solidFill>
                <a:effectLst/>
                <a:uFillTx/>
                <a:latin typeface="Courier New"/>
                <a:ea typeface="Courier New"/>
              </a:rPr>
              <a:t>R oberts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"/>
          <p:cNvSpPr/>
          <p:nvPr/>
        </p:nvSpPr>
        <p:spPr>
          <a:xfrm>
            <a:off x="4616280" y="324000"/>
            <a:ext cx="144720" cy="152640"/>
          </a:xfrm>
          <a:custGeom>
            <a:avLst/>
            <a:gdLst/>
            <a:ahLst/>
            <a:rect l="0" t="0" r="r" b="b"/>
            <a:pathLst>
              <a:path w="402" h="424">
                <a:moveTo>
                  <a:pt x="0" y="140"/>
                </a:moveTo>
                <a:lnTo>
                  <a:pt x="0" y="282"/>
                </a:lnTo>
                <a:lnTo>
                  <a:pt x="281" y="282"/>
                </a:lnTo>
                <a:lnTo>
                  <a:pt x="281" y="424"/>
                </a:lnTo>
                <a:lnTo>
                  <a:pt x="402" y="211"/>
                </a:lnTo>
                <a:lnTo>
                  <a:pt x="281" y="0"/>
                </a:lnTo>
                <a:lnTo>
                  <a:pt x="281" y="140"/>
                </a:lnTo>
                <a:lnTo>
                  <a:pt x="0" y="140"/>
                </a:lnTo>
                <a:close/>
              </a:path>
            </a:pathLst>
          </a:custGeom>
          <a:solidFill>
            <a:srgbClr val="66FF33"/>
          </a:solidFill>
          <a:ln w="12600">
            <a:solidFill>
              <a:srgbClr val="676767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"/>
          <p:cNvSpPr/>
          <p:nvPr/>
        </p:nvSpPr>
        <p:spPr>
          <a:xfrm>
            <a:off x="1200240" y="476280"/>
            <a:ext cx="0" cy="247680"/>
          </a:xfrm>
          <a:prstGeom prst="line">
            <a:avLst/>
          </a:prstGeom>
          <a:ln w="126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"/>
          <p:cNvSpPr/>
          <p:nvPr/>
        </p:nvSpPr>
        <p:spPr>
          <a:xfrm>
            <a:off x="3232080" y="47520"/>
            <a:ext cx="1406520" cy="209520"/>
          </a:xfrm>
          <a:prstGeom prst="rect">
            <a:avLst/>
          </a:prstGeom>
          <a:solidFill>
            <a:srgbClr val="037C03"/>
          </a:solidFill>
          <a:ln w="25560">
            <a:solidFill>
              <a:srgbClr val="037C03"/>
            </a:solidFill>
            <a:round/>
          </a:ln>
        </p:spPr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" name=""/>
          <p:cNvSpPr/>
          <p:nvPr/>
        </p:nvSpPr>
        <p:spPr>
          <a:xfrm>
            <a:off x="1352520" y="1057320"/>
            <a:ext cx="144720" cy="152640"/>
          </a:xfrm>
          <a:custGeom>
            <a:avLst/>
            <a:gdLst/>
            <a:ahLst/>
            <a:rect l="0" t="0" r="r" b="b"/>
            <a:pathLst>
              <a:path w="402" h="424">
                <a:moveTo>
                  <a:pt x="0" y="140"/>
                </a:moveTo>
                <a:lnTo>
                  <a:pt x="0" y="282"/>
                </a:lnTo>
                <a:lnTo>
                  <a:pt x="281" y="282"/>
                </a:lnTo>
                <a:lnTo>
                  <a:pt x="281" y="424"/>
                </a:lnTo>
                <a:lnTo>
                  <a:pt x="402" y="211"/>
                </a:lnTo>
                <a:lnTo>
                  <a:pt x="281" y="0"/>
                </a:lnTo>
                <a:lnTo>
                  <a:pt x="281" y="140"/>
                </a:lnTo>
                <a:lnTo>
                  <a:pt x="0" y="140"/>
                </a:lnTo>
                <a:close/>
              </a:path>
            </a:pathLst>
          </a:custGeom>
          <a:solidFill>
            <a:srgbClr val="66FF33"/>
          </a:solidFill>
          <a:ln w="12600">
            <a:solidFill>
              <a:srgbClr val="676767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"/>
          <p:cNvSpPr txBox="1"/>
          <p:nvPr/>
        </p:nvSpPr>
        <p:spPr>
          <a:xfrm>
            <a:off x="55440" y="1239840"/>
            <a:ext cx="4695840" cy="2549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75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PROCEDURE DIVISION.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5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ProcessName.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5000"/>
              </a:lnSpc>
            </a:pPr>
            <a:r>
              <a:rPr lang="en-US" sz="1200" b="1" u="none" strike="noStrike">
                <a:solidFill>
                  <a:srgbClr val="FF3300"/>
                </a:solidFill>
                <a:effectLst/>
                <a:uFillTx/>
                <a:latin typeface="Courier New"/>
                <a:ea typeface="Courier New"/>
              </a:rPr>
              <a:t>  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ACCEPT OldName.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5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UNSTRING OldName DELIMITED BY ALL SPACES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5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INTO TempName WITH POINTER UnstrPtr</a:t>
            </a:r>
            <a:br>
              <a:rPr sz="1200"/>
            </a:b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END-UNSTRING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5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PERFORM UNTIL NameProcessed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5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STRING NameInitial "." DELIMITED BY SIZE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5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 INTO NewName WITH POINTER StrPtr</a:t>
            </a:r>
            <a:br>
              <a:rPr sz="1200"/>
            </a:b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END-STRING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5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UNSTRING OldName DELIMITED BY ALL SPACES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5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 INTO TempName WITH POINTER UnstrPtr</a:t>
            </a:r>
            <a:br>
              <a:rPr sz="1200"/>
            </a:b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END-UNSTRING</a:t>
            </a:r>
            <a:br>
              <a:rPr sz="1200"/>
            </a:b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END-PERFORM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5000"/>
              </a:lnSpc>
            </a:pPr>
            <a:r>
              <a:rPr lang="en-US" sz="1200" b="1" u="none" strike="noStrike">
                <a:solidFill>
                  <a:srgbClr val="FF3300"/>
                </a:solidFill>
                <a:effectLst/>
                <a:uFillTx/>
                <a:latin typeface="Courier New"/>
                <a:ea typeface="Courier New"/>
              </a:rPr>
              <a:t>  STRING SPACE TempName DELIMITED BY SIZE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5000"/>
              </a:lnSpc>
            </a:pPr>
            <a:r>
              <a:rPr lang="en-US" sz="1200" b="1" u="none" strike="noStrike">
                <a:solidFill>
                  <a:srgbClr val="FF3300"/>
                </a:solidFill>
                <a:effectLst/>
                <a:uFillTx/>
                <a:latin typeface="Courier New"/>
                <a:ea typeface="Courier New"/>
              </a:rPr>
              <a:t>        INTO NewName WITH POINTER StrPtr</a:t>
            </a:r>
            <a:br>
              <a:rPr sz="1200"/>
            </a:br>
            <a:r>
              <a:rPr lang="en-US" sz="1200" b="1" u="none" strike="noStrike">
                <a:solidFill>
                  <a:srgbClr val="FF3300"/>
                </a:solidFill>
                <a:effectLst/>
                <a:uFillTx/>
                <a:latin typeface="Courier New"/>
                <a:ea typeface="Courier New"/>
              </a:rPr>
              <a:t>   END-STRING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5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STOP RUN.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"/>
          <p:cNvSpPr txBox="1"/>
          <p:nvPr/>
        </p:nvSpPr>
        <p:spPr>
          <a:xfrm>
            <a:off x="792000" y="17640"/>
            <a:ext cx="3876840" cy="270000"/>
          </a:xfrm>
          <a:prstGeom prst="rect">
            <a:avLst/>
          </a:prstGeom>
          <a:solidFill>
            <a:srgbClr val="DDDDDD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69696"/>
            </a:outerShdw>
          </a:effectLst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0000FF"/>
                </a:solidFill>
                <a:effectLst/>
                <a:uFillTx/>
                <a:latin typeface="Courier New"/>
                <a:ea typeface="Courier New"/>
              </a:rPr>
              <a:t>Tim   John  Roberts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"/>
          <p:cNvSpPr txBox="1"/>
          <p:nvPr/>
        </p:nvSpPr>
        <p:spPr>
          <a:xfrm>
            <a:off x="54000" y="101520"/>
            <a:ext cx="668160" cy="341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OldName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"/>
          <p:cNvSpPr txBox="1"/>
          <p:nvPr/>
        </p:nvSpPr>
        <p:spPr>
          <a:xfrm>
            <a:off x="44280" y="501480"/>
            <a:ext cx="822240" cy="182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TempName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"/>
          <p:cNvSpPr txBox="1"/>
          <p:nvPr/>
        </p:nvSpPr>
        <p:spPr>
          <a:xfrm>
            <a:off x="34920" y="892080"/>
            <a:ext cx="728640" cy="182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NewName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"/>
          <p:cNvSpPr txBox="1"/>
          <p:nvPr/>
        </p:nvSpPr>
        <p:spPr>
          <a:xfrm>
            <a:off x="801720" y="846000"/>
            <a:ext cx="3876840" cy="270000"/>
          </a:xfrm>
          <a:prstGeom prst="rect">
            <a:avLst/>
          </a:prstGeom>
          <a:solidFill>
            <a:srgbClr val="DDDDDD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69696"/>
            </a:outerShdw>
          </a:effectLst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spcBef>
                <a:spcPts val="1199"/>
              </a:spcBef>
            </a:pPr>
            <a:r>
              <a:rPr lang="en-US" sz="1600" b="1" u="none" strike="noStrike">
                <a:solidFill>
                  <a:srgbClr val="0000FF"/>
                </a:solidFill>
                <a:effectLst/>
                <a:uFillTx/>
                <a:latin typeface="Courier New"/>
                <a:ea typeface="Courier New"/>
              </a:rPr>
              <a:t>T.J. </a:t>
            </a:r>
            <a:r>
              <a:rPr lang="en-US" sz="1600" b="1" u="none" strike="noStrike">
                <a:solidFill>
                  <a:srgbClr val="FF3300"/>
                </a:solidFill>
                <a:effectLst/>
                <a:uFillTx/>
                <a:latin typeface="Courier New"/>
                <a:ea typeface="Courier New"/>
              </a:rPr>
              <a:t>Roberts        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"/>
          <p:cNvSpPr txBox="1"/>
          <p:nvPr/>
        </p:nvSpPr>
        <p:spPr>
          <a:xfrm>
            <a:off x="923760" y="465120"/>
            <a:ext cx="1924200" cy="270000"/>
          </a:xfrm>
          <a:prstGeom prst="rect">
            <a:avLst/>
          </a:prstGeom>
          <a:solidFill>
            <a:srgbClr val="DDDDDD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69696"/>
            </a:outerShdw>
          </a:effectLst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spcBef>
                <a:spcPts val="1199"/>
              </a:spcBef>
            </a:pPr>
            <a:r>
              <a:rPr lang="en-US" sz="1600" b="1" u="none" strike="noStrike">
                <a:solidFill>
                  <a:srgbClr val="FF3300"/>
                </a:solidFill>
                <a:effectLst/>
                <a:uFillTx/>
                <a:latin typeface="Courier New"/>
                <a:ea typeface="Courier New"/>
              </a:rPr>
              <a:t>R oberts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"/>
          <p:cNvSpPr/>
          <p:nvPr/>
        </p:nvSpPr>
        <p:spPr>
          <a:xfrm>
            <a:off x="4616280" y="324000"/>
            <a:ext cx="144720" cy="152640"/>
          </a:xfrm>
          <a:custGeom>
            <a:avLst/>
            <a:gdLst/>
            <a:ahLst/>
            <a:rect l="0" t="0" r="r" b="b"/>
            <a:pathLst>
              <a:path w="402" h="424">
                <a:moveTo>
                  <a:pt x="0" y="140"/>
                </a:moveTo>
                <a:lnTo>
                  <a:pt x="0" y="282"/>
                </a:lnTo>
                <a:lnTo>
                  <a:pt x="281" y="282"/>
                </a:lnTo>
                <a:lnTo>
                  <a:pt x="281" y="424"/>
                </a:lnTo>
                <a:lnTo>
                  <a:pt x="402" y="211"/>
                </a:lnTo>
                <a:lnTo>
                  <a:pt x="281" y="0"/>
                </a:lnTo>
                <a:lnTo>
                  <a:pt x="281" y="140"/>
                </a:lnTo>
                <a:lnTo>
                  <a:pt x="0" y="140"/>
                </a:lnTo>
                <a:close/>
              </a:path>
            </a:pathLst>
          </a:custGeom>
          <a:solidFill>
            <a:srgbClr val="66FF33"/>
          </a:solidFill>
          <a:ln w="12600">
            <a:solidFill>
              <a:srgbClr val="676767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"/>
          <p:cNvSpPr/>
          <p:nvPr/>
        </p:nvSpPr>
        <p:spPr>
          <a:xfrm>
            <a:off x="1200240" y="476280"/>
            <a:ext cx="0" cy="247680"/>
          </a:xfrm>
          <a:prstGeom prst="line">
            <a:avLst/>
          </a:prstGeom>
          <a:ln w="126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"/>
          <p:cNvSpPr/>
          <p:nvPr/>
        </p:nvSpPr>
        <p:spPr>
          <a:xfrm>
            <a:off x="3400560" y="1066680"/>
            <a:ext cx="144720" cy="152640"/>
          </a:xfrm>
          <a:custGeom>
            <a:avLst/>
            <a:gdLst/>
            <a:ahLst/>
            <a:rect l="0" t="0" r="r" b="b"/>
            <a:pathLst>
              <a:path w="402" h="424">
                <a:moveTo>
                  <a:pt x="0" y="140"/>
                </a:moveTo>
                <a:lnTo>
                  <a:pt x="0" y="282"/>
                </a:lnTo>
                <a:lnTo>
                  <a:pt x="281" y="282"/>
                </a:lnTo>
                <a:lnTo>
                  <a:pt x="281" y="424"/>
                </a:lnTo>
                <a:lnTo>
                  <a:pt x="402" y="211"/>
                </a:lnTo>
                <a:lnTo>
                  <a:pt x="281" y="0"/>
                </a:lnTo>
                <a:lnTo>
                  <a:pt x="281" y="140"/>
                </a:lnTo>
                <a:lnTo>
                  <a:pt x="0" y="140"/>
                </a:lnTo>
                <a:close/>
              </a:path>
            </a:pathLst>
          </a:custGeom>
          <a:solidFill>
            <a:srgbClr val="66FF33"/>
          </a:solidFill>
          <a:ln w="12600">
            <a:solidFill>
              <a:srgbClr val="676767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LibreOffice/26.2.2.2$Windows_X86_64 LibreOffice_project/1f77d10d6938fd34972958f64b2bcfa54f8b1ba5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Michael Coughlan</dc:creator>
  <dc:description/>
  <dc:language>en-US</dc:language>
  <cp:lastModifiedBy>Michael Coughlan</cp:lastModifiedBy>
  <cp:revision>0</cp:revision>
  <dc:subject/>
  <dc:title>No Slide Title</dc:title>
</cp:coreProperties>
</file>