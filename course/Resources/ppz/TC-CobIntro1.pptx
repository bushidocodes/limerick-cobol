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92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F0E30"/>
    <a:srgbClr val="00279F"/>
    <a:srgbClr val="037C0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27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3253001-5D36-79CA-7B7A-2803F9F24D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22058FA-30D7-E490-DF37-536B3BD6646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10E3148-CC11-53F6-21A2-D5208D6BC98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CCFD5E8-BE11-0D9C-B0D6-825D3A491CA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b="0" i="1">
                <a:effectLst/>
              </a:defRPr>
            </a:lvl1pPr>
          </a:lstStyle>
          <a:p>
            <a:fld id="{6E7E5CEB-0BFB-4574-812A-78F164EC6C1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31646D8-2A6D-3E0E-E9EE-0278F375A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588" y="8707438"/>
            <a:ext cx="75882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13" tIns="44450" rIns="87313" bIns="44450">
            <a:spAutoFit/>
          </a:bodyPr>
          <a:lstStyle>
            <a:lvl1pPr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3497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68363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03338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3672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939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511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083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655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0">
                <a:effectLst/>
              </a:rPr>
              <a:t>Page </a:t>
            </a:r>
            <a:fld id="{7DDDA1D1-0074-478D-B3E9-2A702DD52A62}" type="slidenum">
              <a:rPr lang="en-US" altLang="en-US" sz="1200" b="0">
                <a:effectLst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b="0"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C6E1067-00A3-4161-F381-71B5DAF7D8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B72DA5F-9E14-6D07-E1F3-EA2CD2A499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859C763-A91D-2B9D-7778-477CE2DFEEE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795D19F-1D12-2409-AFF8-96D8DE1D3B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fld id="{7026E883-502E-4C7B-87A6-237426BD635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41ED7CEB-8A6B-216D-2834-0D6BF43EED2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4988"/>
            <a:ext cx="5029200" cy="384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CEDBF4B-EF94-EAB1-1F02-DF53E8A38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588" y="8707438"/>
            <a:ext cx="75882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13" tIns="44450" rIns="87313" bIns="44450">
            <a:spAutoFit/>
          </a:bodyPr>
          <a:lstStyle>
            <a:lvl1pPr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3497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68363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03338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3672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939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511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083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655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0">
                <a:effectLst/>
              </a:rPr>
              <a:t>Page </a:t>
            </a:r>
            <a:fld id="{164E8B8D-46FB-498E-A4D1-7A104EC18CFF}" type="slidenum">
              <a:rPr lang="en-US" altLang="en-US" sz="1200" b="0">
                <a:effectLst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b="0">
              <a:effectLst/>
            </a:endParaRP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622D257F-C019-A0BD-8385-34B311EDDDD4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DEE15641-5CD3-8A7A-61CC-0E96CF979C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BB8710-4911-45C5-9B80-1F54CA9F4048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604DD36D-784D-0266-12EE-8D7BF9D6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C93482A-922C-027C-305D-9D8BA85FF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A75D033-097B-B4B4-D4E3-1A63849DB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EBEEBB4A-B34F-CBC0-ED9A-482E3A122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350A4BA-7487-2A45-D956-B3E7407627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A74943E8-E5F6-B28C-A610-E29177B3730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6A280B87-3A0D-3B9C-4FD3-65D001FCF4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E77C95-3DCF-4D66-9851-A10DD31410FF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D1984222-75A0-B9A9-F567-7F73351A4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F208D83-7B63-4795-E7F6-8B7EC390E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C93A4DC9-27BD-81A6-4B3C-6281806C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4F44543B-151D-EFBC-2D41-240560492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828DDA88-57DA-1F61-D729-AF29DA1808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521BCC49-0216-A219-7278-79F6C57425E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3058801C-7311-2B1B-4E9B-0812EC21E2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77D29B-4DA5-455C-9852-60005C70428E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56C1D7E7-4929-71BA-93F3-646184CDD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55637CC-B2C9-F1FA-8F5A-273381BD2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B066DD6D-929B-063F-0A61-30124120A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CAAA3E95-52D4-8801-7DE4-59F8B3354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F6A70067-96FF-6E5B-B4DB-E06AB33C0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9ACEBD05-11D3-72F6-D87C-DCB12133BDB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EA210ED-004E-25CF-1274-6B1A4E1DEA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B624DD-AF04-43AF-AE88-B430AF2DC26B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3A14AFDD-176D-6BA4-686A-8512A40F0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6409896-6741-6413-BF36-E7CFB7330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1F76490F-76FA-921B-AEC0-C45BEBB4C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CCB52EBC-0F20-DBA6-25A4-3C642C138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B6E3B951-B18A-B21F-E76F-730A25521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C180EDEC-2198-D805-801D-3FCEC7B4358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8E5AA1E7-E6BE-45C2-F038-5CB0E31AA8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2BF1F6-8EE8-46DF-A4E1-53D9A08ABB35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39B14F28-231D-4429-6FCD-C76C2A0F0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CDD11E8-2AD2-4586-8202-6F149D94D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BB2DB27-82D4-1EC9-FDFD-D69E2750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B0D634D7-DD37-B9B4-C6CB-29E31B647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116C3D4F-E500-0954-AAD1-40E03183C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4440B715-FD8C-131B-6A61-884189423B1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42FD-50AD-DBC5-7B38-B888E4CD3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3D7FAA-80B4-4DE9-A046-4963E4AA8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4656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C91C8-156C-1243-3CB0-2CD7A0EB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4429-F954-F6BB-FA94-2B1BB1E8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459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49058-A353-C54B-5974-C6C5CFC0D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FB1D2-B526-1E26-EAE7-E827BE9A7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215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291C-C386-042B-C351-D2786A23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AC456-4F31-A4E1-1C44-428045EB1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EDFA8-4740-B3F7-F888-C4A7E6B1D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065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1759E-8846-A261-4D9B-260119AB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5C64D-623F-FE2B-7063-ACF62D676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B2166-09F0-D0C8-7C55-A0536CFA4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8A727-7744-7339-9EE9-F00E26405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AAF4B-0D3B-5215-A8BE-6C56B3183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00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35E1-7D45-3963-F4A9-2DB1D9923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3028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48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E5631-B5B2-35F0-E743-E7A2F824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E1D2B-45D5-482D-F439-F990AAFA8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4E43A-5B77-D03B-5FE4-34032EE31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199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11B46-B7DE-C33C-2D70-1E3CFB193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13F6E-F6CE-EF86-1787-C3954D766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60F52-7A80-564B-6A65-35D856036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775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8883-757F-B0B4-1965-2D7C326B6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EB863-7CEA-23E9-0371-E03F87A4E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7282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117390-191C-FE78-31EB-6053DBD89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AE3E3-A17C-CBDD-28E9-9870B1D24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418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1ACBA6-D6F0-BFDF-CDC6-7EFF32F82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77788"/>
            <a:ext cx="8988425" cy="67024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9pPr>
    </p:titleStyle>
    <p:bodyStyle>
      <a:lvl1pPr marL="381000" indent="-3810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u"/>
        <a:defRPr sz="2400" b="1" kern="12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952500" indent="-3810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65000"/>
        <a:buFont typeface="Monotype Sorts" charset="2"/>
        <a:buChar char="l"/>
        <a:defRPr sz="2400" b="1" kern="12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2pPr>
      <a:lvl3pPr marL="152400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®"/>
        <a:defRPr sz="2000" b="1" kern="12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3pPr>
      <a:lvl4pPr marL="209550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8CF4EA"/>
        </a:buClr>
        <a:buFont typeface="Wingdings" panose="05000000000000000000" pitchFamily="2" charset="2"/>
        <a:buChar char="¯"/>
        <a:defRPr b="1" kern="12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4pPr>
      <a:lvl5pPr marL="2438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6959E06-7F48-7272-AB60-C5A19BE6B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6423C89-9844-8F9C-123B-4083D6BE1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0EB6CA0B-CC84-C8F4-F7A4-AD0478AF6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</a:t>
            </a:r>
            <a:r>
              <a:rPr lang="en-US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FragmentA</a:t>
            </a:r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Calc-Result</a:t>
            </a:r>
            <a:r>
              <a:rPr lang="en-US" altLang="en-US" sz="2000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Num1.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MULTIPLY Num1 BY Num2 GIVING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Num2.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DISPLAY "Result is = ",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sz="2000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E218539-D702-9D2F-3F85-34B4F982B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073150"/>
            <a:ext cx="21971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4A50791-B99F-22B6-5973-8E9F9FED2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DF9E1176-3A34-8D25-DE1A-C78CB8109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A943A990-0844-58B2-FE1E-E1705EC25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377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B0204438-8098-A0AE-0272-7C077E582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692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4106" name="AutoShape 10">
            <a:extLst>
              <a:ext uri="{FF2B5EF4-FFF2-40B4-BE49-F238E27FC236}">
                <a16:creationId xmlns:a16="http://schemas.microsoft.com/office/drawing/2014/main" id="{9830F97B-FB76-6894-3609-8F101142F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3843338"/>
            <a:ext cx="1819275" cy="1990989"/>
          </a:xfrm>
          <a:prstGeom prst="wedgeRoundRectCallout">
            <a:avLst>
              <a:gd name="adj1" fmla="val -41681"/>
              <a:gd name="adj2" fmla="val 66667"/>
              <a:gd name="adj3" fmla="val 16667"/>
            </a:avLst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rgbClr val="000000"/>
                </a:solidFill>
                <a:effectLst/>
              </a:rPr>
              <a:t>Each click of the mouse brings you to the next frame of the animation</a:t>
            </a:r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F5E8C38-1030-4663-B022-14E5D2917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4764D14-4F88-A9F4-7B8D-5D5CDFE19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8F9CE9EA-69C2-14A7-36A6-22630BC25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FragmentA.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Calc-Result.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ACCEPT Num1</a:t>
            </a:r>
            <a:r>
              <a:rPr lang="en-US" altLang="en-US" sz="2000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MULTIPLY Num1 BY Num2 GIVING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Num2.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DISPLAY "Result is = ",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sz="200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9B049A4-0297-0508-0F68-5D441058C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073150"/>
            <a:ext cx="21971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1EC4E74-C78A-5DF1-C928-83EC2F474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rgbClr val="CF0E30"/>
                </a:solidFill>
                <a:effectLst/>
              </a:rPr>
              <a:t>9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F2628F42-02A3-1453-B11F-8DCD31B48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D1DD6BE3-D26A-87F0-E2ED-917A831E0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377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7192589F-B6ED-BC25-C376-277338ECA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692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D95F4FE-7217-5DA6-D288-DD3639FA7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A55F9AF-EAA2-F3E1-6068-64D41FFD3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7E9E97EC-81B2-1F83-AB2A-3E9E3F889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FragmentA.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Calc-Result.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Num1.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MULTIPLY Num1 BY Num2 GIVING Result</a:t>
            </a:r>
            <a:r>
              <a:rPr lang="en-US" altLang="en-US" sz="2000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Num2.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DISPLAY "Result is = ",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sz="200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DE4426FF-7B3C-718D-7CE1-71DA9811E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073150"/>
            <a:ext cx="21971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CB9723DB-A777-0140-33F0-181B4E9F4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9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B91D952E-6C8A-EE33-0B7F-28D4D8BDA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8200" name="Rectangle 8">
            <a:extLst>
              <a:ext uri="{FF2B5EF4-FFF2-40B4-BE49-F238E27FC236}">
                <a16:creationId xmlns:a16="http://schemas.microsoft.com/office/drawing/2014/main" id="{43973CB8-33CD-513B-32D4-262A8AABE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377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CF0E30"/>
                </a:solidFill>
                <a:effectLst/>
              </a:rPr>
              <a:t>00</a:t>
            </a:r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773092EC-9F07-DB6E-DE64-E4D748343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692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68C7392-09FC-A28B-3453-0176CDDEE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1BF9793-A3A3-2C57-86B9-DE0F9BC85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C3B81A53-B63F-1EC3-DB6C-E2BCB8F01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FragmentA.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Calc-Result.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Num1.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MULTIPLY Num1 BY Num2 GIVING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ACCEPT Num2</a:t>
            </a:r>
            <a:r>
              <a:rPr lang="en-US" altLang="en-US" sz="2000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DISPLAY "Result is = ",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24C62D43-F402-B3C6-7F45-33D80C5E9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073150"/>
            <a:ext cx="21971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5D9906F3-A6FB-D523-C55A-1ABD56ECE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9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40E21369-04E3-6DCA-12F4-F76F7234C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CF0E30"/>
                </a:solidFill>
                <a:effectLst/>
              </a:rPr>
              <a:t>5</a:t>
            </a: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F5DCCD21-BD4F-EF6F-926F-0F6ADD000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377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45055185-131D-E2B6-FBB7-DC83453B0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692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ED54FC42-E8F0-6000-FFC9-E6BBBF6F2A2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788" y="2182813"/>
            <a:ext cx="2782887" cy="232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91" name="Rectangle 3">
            <a:extLst>
              <a:ext uri="{FF2B5EF4-FFF2-40B4-BE49-F238E27FC236}">
                <a16:creationId xmlns:a16="http://schemas.microsoft.com/office/drawing/2014/main" id="{14284071-093E-11AC-C1A3-2ADC60C02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FragmentA.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Calc-Result.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Num1.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MULTIPLY Num1 BY Num2 GIVING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Num2.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</a:t>
            </a:r>
            <a:r>
              <a:rPr lang="en-US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DISPLAY "Result is = ", Result.</a:t>
            </a:r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C938B72D-893C-FECE-7333-17B822177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073150"/>
            <a:ext cx="21971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DF059325-8496-0D87-75CB-2ACA7D95A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9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7216027C-CFF4-BD9C-95F1-C1C141E64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1377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5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5080C57C-97ED-70E8-810E-983A00B1B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377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037C03"/>
                </a:solidFill>
                <a:effectLst/>
              </a:rPr>
              <a:t>00</a:t>
            </a:r>
          </a:p>
        </p:txBody>
      </p:sp>
      <p:sp>
        <p:nvSpPr>
          <p:cNvPr id="12296" name="Rectangle 8">
            <a:extLst>
              <a:ext uri="{FF2B5EF4-FFF2-40B4-BE49-F238E27FC236}">
                <a16:creationId xmlns:a16="http://schemas.microsoft.com/office/drawing/2014/main" id="{D3349A59-9BCC-FFFF-F028-122A563B5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692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12297" name="Rectangle 9">
            <a:extLst>
              <a:ext uri="{FF2B5EF4-FFF2-40B4-BE49-F238E27FC236}">
                <a16:creationId xmlns:a16="http://schemas.microsoft.com/office/drawing/2014/main" id="{527D528A-0DA0-6D4F-C787-045BD0015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9900" y="1384300"/>
            <a:ext cx="660400" cy="3556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AutoShape 10">
            <a:extLst>
              <a:ext uri="{FF2B5EF4-FFF2-40B4-BE49-F238E27FC236}">
                <a16:creationId xmlns:a16="http://schemas.microsoft.com/office/drawing/2014/main" id="{A99CCBE1-D2F8-9D1B-A682-D1D043B8E38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637213" y="4629150"/>
            <a:ext cx="3424237" cy="1680104"/>
          </a:xfrm>
          <a:prstGeom prst="wedgeRoundRectCallout">
            <a:avLst>
              <a:gd name="adj1" fmla="val -32222"/>
              <a:gd name="adj2" fmla="val 66667"/>
              <a:gd name="adj3" fmla="val 16667"/>
            </a:avLst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Oh No!!</a:t>
            </a:r>
            <a:endParaRPr lang="en-US" altLang="en-US">
              <a:solidFill>
                <a:srgbClr val="000000"/>
              </a:solidFill>
              <a:effectLst/>
            </a:endParaRPr>
          </a:p>
          <a:p>
            <a:pPr algn="ctr"/>
            <a:r>
              <a:rPr lang="en-US" altLang="en-US">
                <a:solidFill>
                  <a:srgbClr val="000000"/>
                </a:solidFill>
                <a:effectLst/>
              </a:rPr>
              <a:t>We did the calculation before we had all the data and so we got the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wrong answer.</a:t>
            </a:r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85575072-CC11-12F4-50F2-925B61AC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819400"/>
            <a:ext cx="1752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Result is = 00</a:t>
            </a:r>
          </a:p>
        </p:txBody>
      </p:sp>
      <p:sp>
        <p:nvSpPr>
          <p:cNvPr id="12300" name="Line 12">
            <a:extLst>
              <a:ext uri="{FF2B5EF4-FFF2-40B4-BE49-F238E27FC236}">
                <a16:creationId xmlns:a16="http://schemas.microsoft.com/office/drawing/2014/main" id="{527AC853-CD46-895E-4080-0A41C0D2EF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29600" y="1676400"/>
            <a:ext cx="152400" cy="1219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b-slide">
  <a:themeElements>
    <a:clrScheme name="">
      <a:dk1>
        <a:srgbClr val="919191"/>
      </a:dk1>
      <a:lt1>
        <a:srgbClr val="FFFFFF"/>
      </a:lt1>
      <a:dk2>
        <a:srgbClr val="114FFB"/>
      </a:dk2>
      <a:lt2>
        <a:srgbClr val="FAFD00"/>
      </a:lt2>
      <a:accent1>
        <a:srgbClr val="DADADA"/>
      </a:accent1>
      <a:accent2>
        <a:srgbClr val="FC0128"/>
      </a:accent2>
      <a:accent3>
        <a:srgbClr val="AAB2FD"/>
      </a:accent3>
      <a:accent4>
        <a:srgbClr val="DADADA"/>
      </a:accent4>
      <a:accent5>
        <a:srgbClr val="EAEAEA"/>
      </a:accent5>
      <a:accent6>
        <a:srgbClr val="E40123"/>
      </a:accent6>
      <a:hlink>
        <a:srgbClr val="00FF00"/>
      </a:hlink>
      <a:folHlink>
        <a:srgbClr val="DC0081"/>
      </a:folHlink>
    </a:clrScheme>
    <a:fontScheme name="b-sl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lnDef>
  </a:objectDefaults>
  <a:extraClrSchemeLst>
    <a:extraClrScheme>
      <a:clrScheme name="b-slid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-slid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e:\pptdata\b-slide.ppt</Template>
  <TotalTime>1490414815</TotalTime>
  <Pages>36</Pages>
  <Words>484</Words>
  <Application>Microsoft Office PowerPoint</Application>
  <PresentationFormat>On-screen Show (4:3)</PresentationFormat>
  <Paragraphs>129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Wingdings</vt:lpstr>
      <vt:lpstr>Times New Roman</vt:lpstr>
      <vt:lpstr>Monotype Sorts</vt:lpstr>
      <vt:lpstr>Courier New</vt:lpstr>
      <vt:lpstr>b-slide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IntroToCOBOL</dc:title>
  <dc:subject/>
  <dc:creator>Michael Coughlan</dc:creator>
  <cp:keywords/>
  <dc:description/>
  <cp:lastModifiedBy>Sean McBride</cp:lastModifiedBy>
  <cp:revision>1346190247</cp:revision>
  <cp:lastPrinted>1601-01-01T00:00:00Z</cp:lastPrinted>
  <dcterms:created xsi:type="dcterms:W3CDTF">1995-02-14T10:18:06Z</dcterms:created>
  <dcterms:modified xsi:type="dcterms:W3CDTF">2026-05-13T01:06:38Z</dcterms:modified>
</cp:coreProperties>
</file>