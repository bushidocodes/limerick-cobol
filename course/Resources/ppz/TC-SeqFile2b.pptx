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82" r:id="rId2"/>
    <p:sldId id="285" r:id="rId3"/>
    <p:sldId id="288" r:id="rId4"/>
    <p:sldId id="289" r:id="rId5"/>
    <p:sldId id="290" r:id="rId6"/>
    <p:sldId id="292" r:id="rId7"/>
    <p:sldId id="291" r:id="rId8"/>
    <p:sldId id="293" r:id="rId9"/>
    <p:sldId id="294" r:id="rId10"/>
  </p:sldIdLst>
  <p:sldSz cx="4762500" cy="3810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>
          <p15:clr>
            <a:srgbClr val="A4A3A4"/>
          </p15:clr>
        </p15:guide>
        <p15:guide id="2" pos="15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200">
          <p15:clr>
            <a:srgbClr val="A4A3A4"/>
          </p15:clr>
        </p15:guide>
        <p15:guide id="2" pos="15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CC0000"/>
    <a:srgbClr val="FFFF00"/>
    <a:srgbClr val="CCFFCC"/>
    <a:srgbClr val="EEFFEE"/>
    <a:srgbClr val="FFFFCC"/>
    <a:srgbClr val="FFFF99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22" d="100"/>
          <a:sy n="222" d="100"/>
        </p:scale>
        <p:origin x="570" y="174"/>
      </p:cViewPr>
      <p:guideLst>
        <p:guide orient="horz" pos="1200"/>
        <p:guide pos="150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1704" y="-78"/>
      </p:cViewPr>
      <p:guideLst>
        <p:guide orient="horz" pos="1200"/>
        <p:guide pos="15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6539E97-E9D0-9C4F-78EF-AE4614CE5F2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9419074-D4D5-D748-5500-9DE6AF709A8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F10CD18-8230-8C28-6A2B-858435E3525D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292225" y="692150"/>
            <a:ext cx="427355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1315CD93-35CC-5449-DD8C-9B6D7649B41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FEAE246A-5295-6540-7302-D281D219E30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362B13B5-EE45-3FEC-7F16-2A46BAB52E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chemeClr val="tx1"/>
                </a:solidFill>
              </a:defRPr>
            </a:lvl1pPr>
          </a:lstStyle>
          <a:p>
            <a:fld id="{38D14C7F-BDF7-4BC4-A07E-1A841E8C5EA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D7E24-BCDC-7BC9-494D-3FAC7D617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313" y="623888"/>
            <a:ext cx="3571875" cy="1325562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2B609-9AA9-B06C-E892-6EFC138FC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313" y="2001838"/>
            <a:ext cx="3571875" cy="9191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30184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0A7B-718D-7C71-3D96-A854AE19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672EB-0DD7-ADB0-EA2E-881CFC742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25" y="1014413"/>
            <a:ext cx="4108450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4954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29256-832E-619E-3B76-2E65DD871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949325"/>
            <a:ext cx="4106862" cy="158591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241DA-B747-1E0A-0E43-4F67C8E0F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438" y="2549525"/>
            <a:ext cx="4106862" cy="833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991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E1D4C-3F0A-7628-E45E-23B078764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616BF-F614-0440-2A33-2DA1246A07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7025" y="1014413"/>
            <a:ext cx="1978025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15055-48F1-5398-5E86-6347C6ABC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7450" y="1014413"/>
            <a:ext cx="1978025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3744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FBEA9-B3AE-ED79-0CEB-0767AF6C9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03200"/>
            <a:ext cx="4106862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A5764-9626-2E9D-9542-FF999C985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613" y="933450"/>
            <a:ext cx="2014537" cy="458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8C179-5A34-09CB-F278-714357E62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613" y="1392238"/>
            <a:ext cx="2014537" cy="2046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AA9593-D2B0-E359-8DB2-E1DAC37DD3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411413" y="933450"/>
            <a:ext cx="2024062" cy="458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F1E9CC-438E-E51C-F139-8D52205923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411413" y="1392238"/>
            <a:ext cx="2024062" cy="2046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4538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4D572-3C38-D163-7A9D-1BFBE5C01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8603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5472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9D4D3-67E8-07E6-FB99-BB527696F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54000"/>
            <a:ext cx="1535112" cy="889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3727F-1266-8218-08C1-761BD0B62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063" y="549275"/>
            <a:ext cx="2411412" cy="27066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792DE-FF30-8CEF-D84E-7CEF52BEF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143000"/>
            <a:ext cx="1535112" cy="211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7001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C181-7F8E-B28C-F165-61751BC13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54000"/>
            <a:ext cx="1535112" cy="889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637BC-66D4-0180-988A-439EACC363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024063" y="549275"/>
            <a:ext cx="2411412" cy="2706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7DC7C0-8218-DDB2-6510-348E90425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143000"/>
            <a:ext cx="1535112" cy="211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4219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FB036-629C-EF91-23D5-1B51D8486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AA8E8-C6FD-4353-3EDE-8AF6D2269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1014413"/>
            <a:ext cx="4108450" cy="24177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2167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7765-D586-87BB-F43D-B26FD05B4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408363" y="203200"/>
            <a:ext cx="1027112" cy="32289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A85F70-03BC-DDD7-9F5B-013410B9A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203200"/>
            <a:ext cx="2928938" cy="32289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8127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9053498-A284-E218-DF90-D4272E846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25400"/>
            <a:ext cx="4730750" cy="37734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36F199E-2BCA-117A-BF04-AADD53C85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" y="517525"/>
            <a:ext cx="293370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Attempting to batch-delete records in an unordered Sequential file</a:t>
            </a:r>
          </a:p>
          <a:p>
            <a:pPr algn="ctr"/>
            <a:endParaRPr lang="en-US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r>
              <a:rPr lang="en-US" altLang="en-US" sz="1400" b="1">
                <a:solidFill>
                  <a:schemeClr val="tx1"/>
                </a:solidFill>
              </a:rPr>
              <a:t>Click to view.</a:t>
            </a:r>
          </a:p>
          <a:p>
            <a:pPr algn="ctr"/>
            <a:endParaRPr lang="en-US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en-US" sz="1000">
                <a:solidFill>
                  <a:schemeClr val="tx1"/>
                </a:solidFill>
              </a:rPr>
              <a:t>When viewing , left click (or press the Page Up key) to see the next frame and right click (or press Page Down)  to see the previous frame.</a:t>
            </a:r>
            <a:endParaRPr lang="en-US" altLang="en-US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endParaRPr lang="en-US" altLang="en-US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CA9440E-BBA8-305C-5525-039B9505E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3" y="430213"/>
            <a:ext cx="728662" cy="665162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RecordB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CAA920B-BC8E-C697-EC7E-D111EA0BF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3" y="233363"/>
            <a:ext cx="1147762" cy="22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Transaction File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34BAD655-535C-633F-5447-9AD319A0A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2271713"/>
            <a:ext cx="728662" cy="13366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RecordM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4101" name="AutoShape 5">
            <a:extLst>
              <a:ext uri="{FF2B5EF4-FFF2-40B4-BE49-F238E27FC236}">
                <a16:creationId xmlns:a16="http://schemas.microsoft.com/office/drawing/2014/main" id="{3140A60F-476D-E0A1-09CA-7C1F0A8A6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1217613"/>
            <a:ext cx="1409700" cy="766762"/>
          </a:xfrm>
          <a:prstGeom prst="diamond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=</a:t>
            </a:r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RecordM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3CF6188-AB06-75E7-1C3B-FE5CA24CF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2850" y="438150"/>
            <a:ext cx="728663" cy="857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Line 7">
            <a:extLst>
              <a:ext uri="{FF2B5EF4-FFF2-40B4-BE49-F238E27FC236}">
                <a16:creationId xmlns:a16="http://schemas.microsoft.com/office/drawing/2014/main" id="{7BBFE78B-9261-7BCC-DA09-947371E77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5550" y="530225"/>
            <a:ext cx="0" cy="6604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4" name="Line 8">
            <a:extLst>
              <a:ext uri="{FF2B5EF4-FFF2-40B4-BE49-F238E27FC236}">
                <a16:creationId xmlns:a16="http://schemas.microsoft.com/office/drawing/2014/main" id="{B931ABE1-8475-120F-4736-EB2FB96893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95550" y="2009775"/>
            <a:ext cx="0" cy="3619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5" name="Line 9">
            <a:extLst>
              <a:ext uri="{FF2B5EF4-FFF2-40B4-BE49-F238E27FC236}">
                <a16:creationId xmlns:a16="http://schemas.microsoft.com/office/drawing/2014/main" id="{0A5B3CFF-A4DA-0CCB-63E2-195535BA58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0600" y="530225"/>
            <a:ext cx="150495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6" name="Line 10">
            <a:extLst>
              <a:ext uri="{FF2B5EF4-FFF2-40B4-BE49-F238E27FC236}">
                <a16:creationId xmlns:a16="http://schemas.microsoft.com/office/drawing/2014/main" id="{81CB9215-1A9D-A5B8-FEC0-342551933C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9650" y="2371725"/>
            <a:ext cx="14859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7" name="AutoShape 11">
            <a:extLst>
              <a:ext uri="{FF2B5EF4-FFF2-40B4-BE49-F238E27FC236}">
                <a16:creationId xmlns:a16="http://schemas.microsoft.com/office/drawing/2014/main" id="{E03CD6DE-B098-1E62-9551-185AF1A45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698500"/>
            <a:ext cx="196850" cy="82550"/>
          </a:xfrm>
          <a:prstGeom prst="rightArrow">
            <a:avLst>
              <a:gd name="adj1" fmla="val 50000"/>
              <a:gd name="adj2" fmla="val 119242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AutoShape 12">
            <a:extLst>
              <a:ext uri="{FF2B5EF4-FFF2-40B4-BE49-F238E27FC236}">
                <a16:creationId xmlns:a16="http://schemas.microsoft.com/office/drawing/2014/main" id="{90020ED7-3D8D-808F-25D2-AE054D658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2546350"/>
            <a:ext cx="196850" cy="82550"/>
          </a:xfrm>
          <a:prstGeom prst="rightArrow">
            <a:avLst>
              <a:gd name="adj1" fmla="val 50000"/>
              <a:gd name="adj2" fmla="val 119242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AutoShape 13">
            <a:extLst>
              <a:ext uri="{FF2B5EF4-FFF2-40B4-BE49-F238E27FC236}">
                <a16:creationId xmlns:a16="http://schemas.microsoft.com/office/drawing/2014/main" id="{037DD878-42A3-628B-8D04-CB5C936AF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488950"/>
            <a:ext cx="196850" cy="82550"/>
          </a:xfrm>
          <a:prstGeom prst="leftArrow">
            <a:avLst>
              <a:gd name="adj1" fmla="val 50000"/>
              <a:gd name="adj2" fmla="val 119220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Rectangle 14">
            <a:extLst>
              <a:ext uri="{FF2B5EF4-FFF2-40B4-BE49-F238E27FC236}">
                <a16:creationId xmlns:a16="http://schemas.microsoft.com/office/drawing/2014/main" id="{0937E9F5-0B3B-44FF-0F70-3C69DBE80154}"/>
              </a:ext>
            </a:extLst>
          </p:cNvPr>
          <p:cNvSpPr>
            <a:spLocks noChangeArrowheads="1"/>
          </p:cNvSpPr>
          <p:nvPr/>
        </p:nvSpPr>
        <p:spPr bwMode="auto">
          <a:xfrm rot="19740000">
            <a:off x="1485900" y="438150"/>
            <a:ext cx="296863" cy="1825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>
                <a:solidFill>
                  <a:schemeClr val="tx1"/>
                </a:solidFill>
              </a:rPr>
              <a:t>read</a:t>
            </a:r>
          </a:p>
        </p:txBody>
      </p:sp>
      <p:sp>
        <p:nvSpPr>
          <p:cNvPr id="4111" name="Rectangle 15">
            <a:extLst>
              <a:ext uri="{FF2B5EF4-FFF2-40B4-BE49-F238E27FC236}">
                <a16:creationId xmlns:a16="http://schemas.microsoft.com/office/drawing/2014/main" id="{1E27B8B4-BC0A-63C3-E2EE-815F4F4125DE}"/>
              </a:ext>
            </a:extLst>
          </p:cNvPr>
          <p:cNvSpPr>
            <a:spLocks noChangeArrowheads="1"/>
          </p:cNvSpPr>
          <p:nvPr/>
        </p:nvSpPr>
        <p:spPr bwMode="auto">
          <a:xfrm rot="19740000">
            <a:off x="1428750" y="2286000"/>
            <a:ext cx="296863" cy="1825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>
                <a:solidFill>
                  <a:schemeClr val="tx1"/>
                </a:solidFill>
              </a:rPr>
              <a:t>read</a:t>
            </a:r>
          </a:p>
        </p:txBody>
      </p:sp>
      <p:sp>
        <p:nvSpPr>
          <p:cNvPr id="4112" name="Rectangle 16">
            <a:extLst>
              <a:ext uri="{FF2B5EF4-FFF2-40B4-BE49-F238E27FC236}">
                <a16:creationId xmlns:a16="http://schemas.microsoft.com/office/drawing/2014/main" id="{46DA1B18-A330-B1A2-BBB4-4F8FCCD5B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9275" y="136525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4113" name="AutoShape 17">
            <a:extLst>
              <a:ext uri="{FF2B5EF4-FFF2-40B4-BE49-F238E27FC236}">
                <a16:creationId xmlns:a16="http://schemas.microsoft.com/office/drawing/2014/main" id="{F016C43B-FB71-DA0D-AFA8-8B4327C2496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54400" y="2936875"/>
            <a:ext cx="1158875" cy="517261"/>
          </a:xfrm>
          <a:prstGeom prst="wedgeRoundRectCallout">
            <a:avLst>
              <a:gd name="adj1" fmla="val -49921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We start by reading a record from each file.</a:t>
            </a:r>
          </a:p>
        </p:txBody>
      </p:sp>
      <p:sp>
        <p:nvSpPr>
          <p:cNvPr id="4114" name="Rectangle 18">
            <a:extLst>
              <a:ext uri="{FF2B5EF4-FFF2-40B4-BE49-F238E27FC236}">
                <a16:creationId xmlns:a16="http://schemas.microsoft.com/office/drawing/2014/main" id="{DC0239A4-BEEE-DAC0-B3FE-61BD35447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8" y="2076450"/>
            <a:ext cx="825500" cy="22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Master File</a:t>
            </a:r>
          </a:p>
        </p:txBody>
      </p:sp>
      <p:sp>
        <p:nvSpPr>
          <p:cNvPr id="4115" name="Rectangle 19">
            <a:extLst>
              <a:ext uri="{FF2B5EF4-FFF2-40B4-BE49-F238E27FC236}">
                <a16:creationId xmlns:a16="http://schemas.microsoft.com/office/drawing/2014/main" id="{448B9253-6983-B930-EC98-D1BDDA1C7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288" y="149225"/>
            <a:ext cx="1150937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New Master File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3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07AB945-7B58-EECB-A0F1-9637BCFF8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3" y="430213"/>
            <a:ext cx="728662" cy="665162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AA3E0A6-DE6B-9ADC-54E2-80CCD2CEE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3" y="233363"/>
            <a:ext cx="1147762" cy="22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Transaction File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63174BC4-6E1E-9496-F149-110FEACC6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2271713"/>
            <a:ext cx="728662" cy="13366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5125" name="Line 5">
            <a:extLst>
              <a:ext uri="{FF2B5EF4-FFF2-40B4-BE49-F238E27FC236}">
                <a16:creationId xmlns:a16="http://schemas.microsoft.com/office/drawing/2014/main" id="{88F4958C-06CD-DC81-A9F9-2DF20FFB40D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0" y="1590675"/>
            <a:ext cx="24765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04EC3FC1-3E72-9760-4654-C553E94FC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2850" y="438150"/>
            <a:ext cx="728663" cy="2762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RecordM</a:t>
            </a:r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A48CAEFD-3192-1F50-18E6-6E7BEB617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975" y="1582738"/>
            <a:ext cx="261938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5128" name="Line 8">
            <a:extLst>
              <a:ext uri="{FF2B5EF4-FFF2-40B4-BE49-F238E27FC236}">
                <a16:creationId xmlns:a16="http://schemas.microsoft.com/office/drawing/2014/main" id="{CA382F15-6BDD-DAF4-52E8-F74C8EFBF7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86150" y="619125"/>
            <a:ext cx="0" cy="9715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9" name="Line 9">
            <a:extLst>
              <a:ext uri="{FF2B5EF4-FFF2-40B4-BE49-F238E27FC236}">
                <a16:creationId xmlns:a16="http://schemas.microsoft.com/office/drawing/2014/main" id="{908C6891-9C5E-89C3-283A-0E8A744BE1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6150" y="619125"/>
            <a:ext cx="2667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0" name="AutoShape 10">
            <a:extLst>
              <a:ext uri="{FF2B5EF4-FFF2-40B4-BE49-F238E27FC236}">
                <a16:creationId xmlns:a16="http://schemas.microsoft.com/office/drawing/2014/main" id="{38CEEA49-6EAE-0A6B-3B87-9A790F60D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698500"/>
            <a:ext cx="196850" cy="82550"/>
          </a:xfrm>
          <a:prstGeom prst="rightArrow">
            <a:avLst>
              <a:gd name="adj1" fmla="val 50000"/>
              <a:gd name="adj2" fmla="val 119242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1" name="AutoShape 11">
            <a:extLst>
              <a:ext uri="{FF2B5EF4-FFF2-40B4-BE49-F238E27FC236}">
                <a16:creationId xmlns:a16="http://schemas.microsoft.com/office/drawing/2014/main" id="{0E5D0812-B218-13CA-7B9F-2B728A364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2546350"/>
            <a:ext cx="196850" cy="82550"/>
          </a:xfrm>
          <a:prstGeom prst="rightArrow">
            <a:avLst>
              <a:gd name="adj1" fmla="val 50000"/>
              <a:gd name="adj2" fmla="val 119242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2" name="AutoShape 12">
            <a:extLst>
              <a:ext uri="{FF2B5EF4-FFF2-40B4-BE49-F238E27FC236}">
                <a16:creationId xmlns:a16="http://schemas.microsoft.com/office/drawing/2014/main" id="{A668C0BD-D780-6A67-C482-D7ADF2021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641350"/>
            <a:ext cx="196850" cy="82550"/>
          </a:xfrm>
          <a:prstGeom prst="leftArrow">
            <a:avLst>
              <a:gd name="adj1" fmla="val 50000"/>
              <a:gd name="adj2" fmla="val 119220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7A882EBE-A467-CBB0-D848-E9FDA2836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0" y="1016000"/>
            <a:ext cx="338138" cy="1825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>
                <a:solidFill>
                  <a:schemeClr val="tx1"/>
                </a:solidFill>
              </a:rPr>
              <a:t>write</a:t>
            </a:r>
          </a:p>
        </p:txBody>
      </p:sp>
      <p:sp>
        <p:nvSpPr>
          <p:cNvPr id="5134" name="AutoShape 14">
            <a:extLst>
              <a:ext uri="{FF2B5EF4-FFF2-40B4-BE49-F238E27FC236}">
                <a16:creationId xmlns:a16="http://schemas.microsoft.com/office/drawing/2014/main" id="{7728D94E-D7EC-F5AB-F939-FE26BCA8F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1217613"/>
            <a:ext cx="1409700" cy="766762"/>
          </a:xfrm>
          <a:prstGeom prst="diamond">
            <a:avLst/>
          </a:prstGeom>
          <a:solidFill>
            <a:srgbClr val="FFFFCC"/>
          </a:solidFill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=</a:t>
            </a:r>
            <a:endParaRPr lang="en-US" altLang="en-US" sz="12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RecordM</a:t>
            </a:r>
          </a:p>
        </p:txBody>
      </p:sp>
      <p:sp>
        <p:nvSpPr>
          <p:cNvPr id="5135" name="AutoShape 15">
            <a:extLst>
              <a:ext uri="{FF2B5EF4-FFF2-40B4-BE49-F238E27FC236}">
                <a16:creationId xmlns:a16="http://schemas.microsoft.com/office/drawing/2014/main" id="{21B7ED6E-8E81-9BA0-688B-DEBA9720D8A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35350" y="2478088"/>
            <a:ext cx="1254125" cy="981604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If the key fields in the records do not match, we don’t need to delete this record, so we write it to the new file.</a:t>
            </a:r>
          </a:p>
        </p:txBody>
      </p:sp>
      <p:sp>
        <p:nvSpPr>
          <p:cNvPr id="5136" name="Rectangle 16">
            <a:extLst>
              <a:ext uri="{FF2B5EF4-FFF2-40B4-BE49-F238E27FC236}">
                <a16:creationId xmlns:a16="http://schemas.microsoft.com/office/drawing/2014/main" id="{E52CC610-58F2-0A3C-21AA-F013566C7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8" y="2076450"/>
            <a:ext cx="825500" cy="22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Master File</a:t>
            </a:r>
          </a:p>
        </p:txBody>
      </p:sp>
      <p:sp>
        <p:nvSpPr>
          <p:cNvPr id="5137" name="Rectangle 17">
            <a:extLst>
              <a:ext uri="{FF2B5EF4-FFF2-40B4-BE49-F238E27FC236}">
                <a16:creationId xmlns:a16="http://schemas.microsoft.com/office/drawing/2014/main" id="{A692D427-0D21-F254-E47B-A0DD9CC3B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288" y="149225"/>
            <a:ext cx="1150937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New Master File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8FAD1C7-9AE7-E893-0760-C4E0C969D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3" y="430213"/>
            <a:ext cx="728662" cy="665162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B7B4D4E-B542-689C-D399-14413C853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3" y="233363"/>
            <a:ext cx="1147762" cy="22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Transaction File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B1E0FB89-6159-206B-FB71-687BF5B9D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2271713"/>
            <a:ext cx="728662" cy="13366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RecordH</a:t>
            </a:r>
            <a:endParaRPr lang="en-US" altLang="en-US" sz="1200" b="1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anose="02070309020205020404" pitchFamily="49" charset="0"/>
            </a:endParaRP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E14605A6-DE7A-9249-45FA-8E4BD1919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2850" y="438150"/>
            <a:ext cx="728663" cy="2762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RecordM</a:t>
            </a:r>
          </a:p>
        </p:txBody>
      </p:sp>
      <p:sp>
        <p:nvSpPr>
          <p:cNvPr id="6150" name="Line 6">
            <a:extLst>
              <a:ext uri="{FF2B5EF4-FFF2-40B4-BE49-F238E27FC236}">
                <a16:creationId xmlns:a16="http://schemas.microsoft.com/office/drawing/2014/main" id="{5A3135A0-D7F6-A2BF-00CA-298F862D20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95550" y="2009775"/>
            <a:ext cx="0" cy="5905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1" name="Line 7">
            <a:extLst>
              <a:ext uri="{FF2B5EF4-FFF2-40B4-BE49-F238E27FC236}">
                <a16:creationId xmlns:a16="http://schemas.microsoft.com/office/drawing/2014/main" id="{64557BE6-0DB8-BA69-10B0-8DC1B5372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9650" y="2600325"/>
            <a:ext cx="14859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2" name="AutoShape 8">
            <a:extLst>
              <a:ext uri="{FF2B5EF4-FFF2-40B4-BE49-F238E27FC236}">
                <a16:creationId xmlns:a16="http://schemas.microsoft.com/office/drawing/2014/main" id="{5FA37EF0-E679-A1A1-6A0C-420D533F9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698500"/>
            <a:ext cx="196850" cy="82550"/>
          </a:xfrm>
          <a:prstGeom prst="rightArrow">
            <a:avLst>
              <a:gd name="adj1" fmla="val 50000"/>
              <a:gd name="adj2" fmla="val 119242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3" name="AutoShape 9">
            <a:extLst>
              <a:ext uri="{FF2B5EF4-FFF2-40B4-BE49-F238E27FC236}">
                <a16:creationId xmlns:a16="http://schemas.microsoft.com/office/drawing/2014/main" id="{67B827F7-8976-48FB-3461-3CFC40D69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2755900"/>
            <a:ext cx="196850" cy="82550"/>
          </a:xfrm>
          <a:prstGeom prst="rightArrow">
            <a:avLst>
              <a:gd name="adj1" fmla="val 50000"/>
              <a:gd name="adj2" fmla="val 119242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4" name="AutoShape 10">
            <a:extLst>
              <a:ext uri="{FF2B5EF4-FFF2-40B4-BE49-F238E27FC236}">
                <a16:creationId xmlns:a16="http://schemas.microsoft.com/office/drawing/2014/main" id="{FC0A82BA-3CEC-F328-5841-458B324DA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641350"/>
            <a:ext cx="196850" cy="82550"/>
          </a:xfrm>
          <a:prstGeom prst="leftArrow">
            <a:avLst>
              <a:gd name="adj1" fmla="val 50000"/>
              <a:gd name="adj2" fmla="val 119220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4C4366D8-91DE-841E-366A-4818967956E3}"/>
              </a:ext>
            </a:extLst>
          </p:cNvPr>
          <p:cNvSpPr>
            <a:spLocks noChangeArrowheads="1"/>
          </p:cNvSpPr>
          <p:nvPr/>
        </p:nvSpPr>
        <p:spPr bwMode="auto">
          <a:xfrm rot="19740000">
            <a:off x="1447800" y="2495550"/>
            <a:ext cx="296863" cy="1825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>
                <a:solidFill>
                  <a:schemeClr val="tx1"/>
                </a:solidFill>
              </a:rPr>
              <a:t>read</a:t>
            </a:r>
          </a:p>
        </p:txBody>
      </p:sp>
      <p:sp>
        <p:nvSpPr>
          <p:cNvPr id="6156" name="AutoShape 12">
            <a:extLst>
              <a:ext uri="{FF2B5EF4-FFF2-40B4-BE49-F238E27FC236}">
                <a16:creationId xmlns:a16="http://schemas.microsoft.com/office/drawing/2014/main" id="{5C7D6AC6-B217-AF27-134E-6ED5A5379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1217613"/>
            <a:ext cx="1409700" cy="766762"/>
          </a:xfrm>
          <a:prstGeom prst="diamond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=</a:t>
            </a:r>
            <a:endParaRPr lang="en-US" altLang="en-US" sz="12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RecordH</a:t>
            </a:r>
          </a:p>
        </p:txBody>
      </p:sp>
      <p:sp>
        <p:nvSpPr>
          <p:cNvPr id="6157" name="Rectangle 13">
            <a:extLst>
              <a:ext uri="{FF2B5EF4-FFF2-40B4-BE49-F238E27FC236}">
                <a16:creationId xmlns:a16="http://schemas.microsoft.com/office/drawing/2014/main" id="{FD0D643D-6A24-0D71-3A86-B9CC7F69A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9275" y="136525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6158" name="AutoShape 14">
            <a:extLst>
              <a:ext uri="{FF2B5EF4-FFF2-40B4-BE49-F238E27FC236}">
                <a16:creationId xmlns:a16="http://schemas.microsoft.com/office/drawing/2014/main" id="{7952BF7A-EAE4-C42F-F89C-CB9AD82FB58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73450" y="2359025"/>
            <a:ext cx="1158875" cy="1135063"/>
          </a:xfrm>
          <a:prstGeom prst="wedgeRoundRectCallout">
            <a:avLst>
              <a:gd name="adj1" fmla="val -49921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We have not yet found a match for the transaction file RecordB so we just need to get a record from the master file</a:t>
            </a:r>
          </a:p>
        </p:txBody>
      </p:sp>
      <p:sp>
        <p:nvSpPr>
          <p:cNvPr id="6159" name="Rectangle 15">
            <a:extLst>
              <a:ext uri="{FF2B5EF4-FFF2-40B4-BE49-F238E27FC236}">
                <a16:creationId xmlns:a16="http://schemas.microsoft.com/office/drawing/2014/main" id="{BA810F03-5AA8-94F4-8C6C-EF8E7D2D5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8" y="2076450"/>
            <a:ext cx="825500" cy="22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Master File</a:t>
            </a:r>
          </a:p>
        </p:txBody>
      </p:sp>
      <p:sp>
        <p:nvSpPr>
          <p:cNvPr id="6160" name="Rectangle 16">
            <a:extLst>
              <a:ext uri="{FF2B5EF4-FFF2-40B4-BE49-F238E27FC236}">
                <a16:creationId xmlns:a16="http://schemas.microsoft.com/office/drawing/2014/main" id="{4B6BB53F-47BA-5ECF-DACE-CF2E86C4B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288" y="149225"/>
            <a:ext cx="1150937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New Master File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8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7A49E9F-C3DD-F015-5AE9-DF4FB96CF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3" y="430213"/>
            <a:ext cx="728662" cy="665162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E4FE5EB-1C2B-CEF1-C1E6-F7C4A08E1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3" y="233363"/>
            <a:ext cx="1147762" cy="22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Transaction File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E3C1338D-F60A-267B-23F1-57FCBD1CE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2271713"/>
            <a:ext cx="728662" cy="13366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30484634-BF24-64CF-F7A8-CA226AF1F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2850" y="438150"/>
            <a:ext cx="728663" cy="4762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  <a:endParaRPr lang="en-US" altLang="en-US" sz="1200" b="1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anose="02070309020205020404" pitchFamily="49" charset="0"/>
            </a:endParaRPr>
          </a:p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RecordH</a:t>
            </a:r>
          </a:p>
        </p:txBody>
      </p:sp>
      <p:sp>
        <p:nvSpPr>
          <p:cNvPr id="7174" name="AutoShape 6">
            <a:extLst>
              <a:ext uri="{FF2B5EF4-FFF2-40B4-BE49-F238E27FC236}">
                <a16:creationId xmlns:a16="http://schemas.microsoft.com/office/drawing/2014/main" id="{97F6D94A-7F94-335F-E523-B657FA8B3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698500"/>
            <a:ext cx="196850" cy="82550"/>
          </a:xfrm>
          <a:prstGeom prst="rightArrow">
            <a:avLst>
              <a:gd name="adj1" fmla="val 50000"/>
              <a:gd name="adj2" fmla="val 119242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5" name="AutoShape 7">
            <a:extLst>
              <a:ext uri="{FF2B5EF4-FFF2-40B4-BE49-F238E27FC236}">
                <a16:creationId xmlns:a16="http://schemas.microsoft.com/office/drawing/2014/main" id="{7DC3C6F4-EC86-7728-919C-9A23631AE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869950"/>
            <a:ext cx="196850" cy="82550"/>
          </a:xfrm>
          <a:prstGeom prst="leftArrow">
            <a:avLst>
              <a:gd name="adj1" fmla="val 50000"/>
              <a:gd name="adj2" fmla="val 119220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6" name="AutoShape 8">
            <a:extLst>
              <a:ext uri="{FF2B5EF4-FFF2-40B4-BE49-F238E27FC236}">
                <a16:creationId xmlns:a16="http://schemas.microsoft.com/office/drawing/2014/main" id="{8A82BEA0-2991-A760-BE62-238B6431C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1217613"/>
            <a:ext cx="1409700" cy="766762"/>
          </a:xfrm>
          <a:prstGeom prst="diamond">
            <a:avLst/>
          </a:prstGeom>
          <a:solidFill>
            <a:srgbClr val="FFFFCC"/>
          </a:solidFill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RecordB</a:t>
            </a:r>
            <a:endParaRPr lang="en-US" altLang="en-US" sz="12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=</a:t>
            </a:r>
            <a:endParaRPr lang="en-US" altLang="en-US" sz="12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RecordH</a:t>
            </a:r>
          </a:p>
        </p:txBody>
      </p:sp>
      <p:sp>
        <p:nvSpPr>
          <p:cNvPr id="7177" name="Line 9">
            <a:extLst>
              <a:ext uri="{FF2B5EF4-FFF2-40B4-BE49-F238E27FC236}">
                <a16:creationId xmlns:a16="http://schemas.microsoft.com/office/drawing/2014/main" id="{BF04D93C-FF15-8023-1910-4C3A8F2186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571625"/>
            <a:ext cx="20955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8" name="Rectangle 10">
            <a:extLst>
              <a:ext uri="{FF2B5EF4-FFF2-40B4-BE49-F238E27FC236}">
                <a16:creationId xmlns:a16="http://schemas.microsoft.com/office/drawing/2014/main" id="{3CBF076F-608C-CA3C-AA4E-64E4BE44C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975" y="1544638"/>
            <a:ext cx="261938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7179" name="Line 11">
            <a:extLst>
              <a:ext uri="{FF2B5EF4-FFF2-40B4-BE49-F238E27FC236}">
                <a16:creationId xmlns:a16="http://schemas.microsoft.com/office/drawing/2014/main" id="{4A1C4115-2397-A719-930E-390EE0F674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86150" y="771525"/>
            <a:ext cx="0" cy="8001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0" name="Line 12">
            <a:extLst>
              <a:ext uri="{FF2B5EF4-FFF2-40B4-BE49-F238E27FC236}">
                <a16:creationId xmlns:a16="http://schemas.microsoft.com/office/drawing/2014/main" id="{7D49DD9E-4D1B-C9D3-BA17-CE17630AFB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6150" y="771525"/>
            <a:ext cx="2667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1" name="Rectangle 13">
            <a:extLst>
              <a:ext uri="{FF2B5EF4-FFF2-40B4-BE49-F238E27FC236}">
                <a16:creationId xmlns:a16="http://schemas.microsoft.com/office/drawing/2014/main" id="{9327F3B6-69A7-09C5-B1FA-14C334634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0" y="1016000"/>
            <a:ext cx="338138" cy="1825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>
                <a:solidFill>
                  <a:schemeClr val="tx1"/>
                </a:solidFill>
              </a:rPr>
              <a:t>write</a:t>
            </a:r>
          </a:p>
        </p:txBody>
      </p:sp>
      <p:sp>
        <p:nvSpPr>
          <p:cNvPr id="7182" name="AutoShape 14">
            <a:extLst>
              <a:ext uri="{FF2B5EF4-FFF2-40B4-BE49-F238E27FC236}">
                <a16:creationId xmlns:a16="http://schemas.microsoft.com/office/drawing/2014/main" id="{B81A3359-406F-54F3-CADE-7A576B4EF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2755900"/>
            <a:ext cx="196850" cy="82550"/>
          </a:xfrm>
          <a:prstGeom prst="rightArrow">
            <a:avLst>
              <a:gd name="adj1" fmla="val 50000"/>
              <a:gd name="adj2" fmla="val 119242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3" name="AutoShape 15">
            <a:extLst>
              <a:ext uri="{FF2B5EF4-FFF2-40B4-BE49-F238E27FC236}">
                <a16:creationId xmlns:a16="http://schemas.microsoft.com/office/drawing/2014/main" id="{879733FF-7045-3940-B47A-9503EB91BEB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73450" y="2281238"/>
            <a:ext cx="1158875" cy="1289843"/>
          </a:xfrm>
          <a:prstGeom prst="wedgeRoundRectCallout">
            <a:avLst>
              <a:gd name="adj1" fmla="val -49921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These don’t match either so we write RecordH to the new file and then we get a new record from the master file</a:t>
            </a:r>
          </a:p>
        </p:txBody>
      </p:sp>
      <p:sp>
        <p:nvSpPr>
          <p:cNvPr id="7184" name="Rectangle 16">
            <a:extLst>
              <a:ext uri="{FF2B5EF4-FFF2-40B4-BE49-F238E27FC236}">
                <a16:creationId xmlns:a16="http://schemas.microsoft.com/office/drawing/2014/main" id="{15E8B78A-85D7-D1D9-AB61-333E97CCA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8" y="2076450"/>
            <a:ext cx="825500" cy="22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Master File</a:t>
            </a:r>
          </a:p>
        </p:txBody>
      </p:sp>
      <p:sp>
        <p:nvSpPr>
          <p:cNvPr id="7185" name="Rectangle 17">
            <a:extLst>
              <a:ext uri="{FF2B5EF4-FFF2-40B4-BE49-F238E27FC236}">
                <a16:creationId xmlns:a16="http://schemas.microsoft.com/office/drawing/2014/main" id="{120C8178-A069-E816-7559-17F0ED3F8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288" y="149225"/>
            <a:ext cx="1150937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New Master File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3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AC9DEC9-D964-F1DF-01A9-364E821C4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3" y="430213"/>
            <a:ext cx="728662" cy="665162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0F9C679-43AC-75BD-2FA9-8D7B8545F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3" y="233363"/>
            <a:ext cx="1147762" cy="22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Transaction File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1F0A2F7D-F499-A946-5619-E407D5AA0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2271713"/>
            <a:ext cx="728662" cy="13366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RecordB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7FC2C79B-6AAE-2426-F26A-F97B44A2C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2850" y="438150"/>
            <a:ext cx="728663" cy="4762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</p:txBody>
      </p:sp>
      <p:sp>
        <p:nvSpPr>
          <p:cNvPr id="8198" name="AutoShape 6">
            <a:extLst>
              <a:ext uri="{FF2B5EF4-FFF2-40B4-BE49-F238E27FC236}">
                <a16:creationId xmlns:a16="http://schemas.microsoft.com/office/drawing/2014/main" id="{65F16187-6404-007D-78B0-727CEBBD9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698500"/>
            <a:ext cx="196850" cy="82550"/>
          </a:xfrm>
          <a:prstGeom prst="rightArrow">
            <a:avLst>
              <a:gd name="adj1" fmla="val 50000"/>
              <a:gd name="adj2" fmla="val 119242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9" name="AutoShape 7">
            <a:extLst>
              <a:ext uri="{FF2B5EF4-FFF2-40B4-BE49-F238E27FC236}">
                <a16:creationId xmlns:a16="http://schemas.microsoft.com/office/drawing/2014/main" id="{EFCA3245-B9E8-D687-41D0-35EC46715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3003550"/>
            <a:ext cx="196850" cy="82550"/>
          </a:xfrm>
          <a:prstGeom prst="rightArrow">
            <a:avLst>
              <a:gd name="adj1" fmla="val 50000"/>
              <a:gd name="adj2" fmla="val 119242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0" name="AutoShape 8">
            <a:extLst>
              <a:ext uri="{FF2B5EF4-FFF2-40B4-BE49-F238E27FC236}">
                <a16:creationId xmlns:a16="http://schemas.microsoft.com/office/drawing/2014/main" id="{DD2D1743-2899-D38A-9F92-E8D4F0366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869950"/>
            <a:ext cx="196850" cy="82550"/>
          </a:xfrm>
          <a:prstGeom prst="leftArrow">
            <a:avLst>
              <a:gd name="adj1" fmla="val 50000"/>
              <a:gd name="adj2" fmla="val 119220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1" name="AutoShape 9">
            <a:extLst>
              <a:ext uri="{FF2B5EF4-FFF2-40B4-BE49-F238E27FC236}">
                <a16:creationId xmlns:a16="http://schemas.microsoft.com/office/drawing/2014/main" id="{CAAB7EAA-E3EC-09EF-5091-3056327E6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1217613"/>
            <a:ext cx="1409700" cy="766762"/>
          </a:xfrm>
          <a:prstGeom prst="diamond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=</a:t>
            </a:r>
            <a:endParaRPr lang="en-US" altLang="en-US" sz="1200" b="1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panose="02070309020205020404" pitchFamily="49" charset="0"/>
            </a:endParaRPr>
          </a:p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RecordB</a:t>
            </a:r>
          </a:p>
        </p:txBody>
      </p:sp>
      <p:sp>
        <p:nvSpPr>
          <p:cNvPr id="8202" name="Line 10">
            <a:extLst>
              <a:ext uri="{FF2B5EF4-FFF2-40B4-BE49-F238E27FC236}">
                <a16:creationId xmlns:a16="http://schemas.microsoft.com/office/drawing/2014/main" id="{D2B238CA-6DBC-E96F-81CB-4D5D1ACB7C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95550" y="2009775"/>
            <a:ext cx="0" cy="8001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3" name="Line 11">
            <a:extLst>
              <a:ext uri="{FF2B5EF4-FFF2-40B4-BE49-F238E27FC236}">
                <a16:creationId xmlns:a16="http://schemas.microsoft.com/office/drawing/2014/main" id="{6E17AA0F-2CD8-3182-3CFF-542E4AB88B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9650" y="2809875"/>
            <a:ext cx="14859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4" name="Rectangle 12">
            <a:extLst>
              <a:ext uri="{FF2B5EF4-FFF2-40B4-BE49-F238E27FC236}">
                <a16:creationId xmlns:a16="http://schemas.microsoft.com/office/drawing/2014/main" id="{36DD5E58-649C-9F5C-70B0-2FC80D6B154B}"/>
              </a:ext>
            </a:extLst>
          </p:cNvPr>
          <p:cNvSpPr>
            <a:spLocks noChangeArrowheads="1"/>
          </p:cNvSpPr>
          <p:nvPr/>
        </p:nvSpPr>
        <p:spPr bwMode="auto">
          <a:xfrm rot="19740000">
            <a:off x="1447800" y="2724150"/>
            <a:ext cx="296863" cy="1825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>
                <a:solidFill>
                  <a:schemeClr val="tx1"/>
                </a:solidFill>
              </a:rPr>
              <a:t>read</a:t>
            </a:r>
          </a:p>
        </p:txBody>
      </p:sp>
      <p:sp>
        <p:nvSpPr>
          <p:cNvPr id="8205" name="Rectangle 13">
            <a:extLst>
              <a:ext uri="{FF2B5EF4-FFF2-40B4-BE49-F238E27FC236}">
                <a16:creationId xmlns:a16="http://schemas.microsoft.com/office/drawing/2014/main" id="{DE2E2F72-62BD-6FB7-82A1-DF02B7944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9275" y="136525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8206" name="Rectangle 14">
            <a:extLst>
              <a:ext uri="{FF2B5EF4-FFF2-40B4-BE49-F238E27FC236}">
                <a16:creationId xmlns:a16="http://schemas.microsoft.com/office/drawing/2014/main" id="{65987094-2527-7910-AC55-8BB66C1CD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8" y="2076450"/>
            <a:ext cx="825500" cy="22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Master File</a:t>
            </a:r>
          </a:p>
        </p:txBody>
      </p:sp>
      <p:sp>
        <p:nvSpPr>
          <p:cNvPr id="8207" name="Rectangle 15">
            <a:extLst>
              <a:ext uri="{FF2B5EF4-FFF2-40B4-BE49-F238E27FC236}">
                <a16:creationId xmlns:a16="http://schemas.microsoft.com/office/drawing/2014/main" id="{1556B025-E205-5AA1-7336-7EFB25CF2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288" y="149225"/>
            <a:ext cx="1150937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New Master File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3AC9DAB-FDB4-3732-F49A-FE30B7673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3" y="430213"/>
            <a:ext cx="728662" cy="665162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RecordB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B7E77B7-8E25-ACCA-761D-46C2523DA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3" y="233363"/>
            <a:ext cx="1147762" cy="22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Transaction File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795861AD-98A8-0629-DA7C-2BDC74EB5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2271713"/>
            <a:ext cx="728662" cy="13366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BAFD37DA-4D23-DF95-EBC5-CA35C287F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8" y="2076450"/>
            <a:ext cx="825500" cy="22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Master File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E30E2212-D063-9519-6F07-4266DB95C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2850" y="438150"/>
            <a:ext cx="728663" cy="4762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</p:txBody>
      </p:sp>
      <p:sp>
        <p:nvSpPr>
          <p:cNvPr id="9223" name="AutoShape 7">
            <a:extLst>
              <a:ext uri="{FF2B5EF4-FFF2-40B4-BE49-F238E27FC236}">
                <a16:creationId xmlns:a16="http://schemas.microsoft.com/office/drawing/2014/main" id="{AA5A97BE-9303-0C1B-9B5A-3E36F1FD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698500"/>
            <a:ext cx="196850" cy="82550"/>
          </a:xfrm>
          <a:prstGeom prst="rightArrow">
            <a:avLst>
              <a:gd name="adj1" fmla="val 50000"/>
              <a:gd name="adj2" fmla="val 119242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4" name="AutoShape 8">
            <a:extLst>
              <a:ext uri="{FF2B5EF4-FFF2-40B4-BE49-F238E27FC236}">
                <a16:creationId xmlns:a16="http://schemas.microsoft.com/office/drawing/2014/main" id="{F56C3DA1-0F2C-FF12-45B4-33956A68E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869950"/>
            <a:ext cx="196850" cy="82550"/>
          </a:xfrm>
          <a:prstGeom prst="leftArrow">
            <a:avLst>
              <a:gd name="adj1" fmla="val 50000"/>
              <a:gd name="adj2" fmla="val 119220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AutoShape 9">
            <a:extLst>
              <a:ext uri="{FF2B5EF4-FFF2-40B4-BE49-F238E27FC236}">
                <a16:creationId xmlns:a16="http://schemas.microsoft.com/office/drawing/2014/main" id="{16E5BE7B-0228-E248-96DB-3AEDFE888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1217613"/>
            <a:ext cx="1409700" cy="766762"/>
          </a:xfrm>
          <a:prstGeom prst="diamond">
            <a:avLst/>
          </a:prstGeom>
          <a:solidFill>
            <a:srgbClr val="FFFFCC"/>
          </a:solidFill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=</a:t>
            </a:r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RecordB</a:t>
            </a:r>
          </a:p>
        </p:txBody>
      </p:sp>
      <p:sp>
        <p:nvSpPr>
          <p:cNvPr id="9226" name="Rectangle 10">
            <a:extLst>
              <a:ext uri="{FF2B5EF4-FFF2-40B4-BE49-F238E27FC236}">
                <a16:creationId xmlns:a16="http://schemas.microsoft.com/office/drawing/2014/main" id="{CC663968-F391-FC7C-9BAE-63B1F969C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6425" y="1576388"/>
            <a:ext cx="342900" cy="271462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yes</a:t>
            </a:r>
          </a:p>
        </p:txBody>
      </p:sp>
      <p:sp>
        <p:nvSpPr>
          <p:cNvPr id="9227" name="Arc 11">
            <a:extLst>
              <a:ext uri="{FF2B5EF4-FFF2-40B4-BE49-F238E27FC236}">
                <a16:creationId xmlns:a16="http://schemas.microsoft.com/office/drawing/2014/main" id="{E217F619-4473-FD2E-C5C4-80A28E85283B}"/>
              </a:ext>
            </a:extLst>
          </p:cNvPr>
          <p:cNvSpPr>
            <a:spLocks/>
          </p:cNvSpPr>
          <p:nvPr/>
        </p:nvSpPr>
        <p:spPr bwMode="auto">
          <a:xfrm>
            <a:off x="3198813" y="1590675"/>
            <a:ext cx="649287" cy="476250"/>
          </a:xfrm>
          <a:custGeom>
            <a:avLst/>
            <a:gdLst>
              <a:gd name="G0" fmla="+- 53 0 0"/>
              <a:gd name="G1" fmla="+- 21600 0 0"/>
              <a:gd name="G2" fmla="+- 21600 0 0"/>
              <a:gd name="T0" fmla="*/ 0 w 21653"/>
              <a:gd name="T1" fmla="*/ 0 h 43200"/>
              <a:gd name="T2" fmla="*/ 53 w 21653"/>
              <a:gd name="T3" fmla="*/ 43200 h 43200"/>
              <a:gd name="T4" fmla="*/ 53 w 21653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53" h="43200" fill="none" extrusionOk="0">
                <a:moveTo>
                  <a:pt x="0" y="0"/>
                </a:moveTo>
                <a:cubicBezTo>
                  <a:pt x="17" y="0"/>
                  <a:pt x="35" y="0"/>
                  <a:pt x="53" y="0"/>
                </a:cubicBezTo>
                <a:cubicBezTo>
                  <a:pt x="11982" y="0"/>
                  <a:pt x="21653" y="9670"/>
                  <a:pt x="21653" y="21600"/>
                </a:cubicBezTo>
                <a:cubicBezTo>
                  <a:pt x="21653" y="33529"/>
                  <a:pt x="11982" y="43200"/>
                  <a:pt x="52" y="43200"/>
                </a:cubicBezTo>
              </a:path>
              <a:path w="21653" h="43200" stroke="0" extrusionOk="0">
                <a:moveTo>
                  <a:pt x="0" y="0"/>
                </a:moveTo>
                <a:cubicBezTo>
                  <a:pt x="17" y="0"/>
                  <a:pt x="35" y="0"/>
                  <a:pt x="53" y="0"/>
                </a:cubicBezTo>
                <a:cubicBezTo>
                  <a:pt x="11982" y="0"/>
                  <a:pt x="21653" y="9670"/>
                  <a:pt x="21653" y="21600"/>
                </a:cubicBezTo>
                <a:cubicBezTo>
                  <a:pt x="21653" y="33529"/>
                  <a:pt x="11982" y="43200"/>
                  <a:pt x="52" y="43200"/>
                </a:cubicBezTo>
                <a:lnTo>
                  <a:pt x="53" y="21600"/>
                </a:lnTo>
                <a:close/>
              </a:path>
            </a:pathLst>
          </a:custGeom>
          <a:noFill/>
          <a:ln w="254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8" name="AutoShape 12">
            <a:extLst>
              <a:ext uri="{FF2B5EF4-FFF2-40B4-BE49-F238E27FC236}">
                <a16:creationId xmlns:a16="http://schemas.microsoft.com/office/drawing/2014/main" id="{3CC1D1F6-1A59-F9F6-0C9B-732C9C841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3003550"/>
            <a:ext cx="196850" cy="82550"/>
          </a:xfrm>
          <a:prstGeom prst="rightArrow">
            <a:avLst>
              <a:gd name="adj1" fmla="val 50000"/>
              <a:gd name="adj2" fmla="val 119242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9" name="AutoShape 13">
            <a:extLst>
              <a:ext uri="{FF2B5EF4-FFF2-40B4-BE49-F238E27FC236}">
                <a16:creationId xmlns:a16="http://schemas.microsoft.com/office/drawing/2014/main" id="{17D17B7A-F5AA-8A2A-F0C8-4479A52B723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254375" y="2209800"/>
            <a:ext cx="1452563" cy="1187979"/>
          </a:xfrm>
          <a:prstGeom prst="wedgeRoundRectCallout">
            <a:avLst>
              <a:gd name="adj1" fmla="val -49921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altLang="en-US" sz="1000" b="1">
                <a:solidFill>
                  <a:schemeClr val="tx1"/>
                </a:solidFill>
                <a:latin typeface="Arial" panose="020B0604020202020204" pitchFamily="34" charset="0"/>
              </a:rPr>
              <a:t>We have a match!!</a:t>
            </a:r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So we discard RecordB (by ignoring it) and get new records from the transaction and master files.</a:t>
            </a:r>
          </a:p>
        </p:txBody>
      </p:sp>
      <p:sp>
        <p:nvSpPr>
          <p:cNvPr id="9230" name="Rectangle 14">
            <a:extLst>
              <a:ext uri="{FF2B5EF4-FFF2-40B4-BE49-F238E27FC236}">
                <a16:creationId xmlns:a16="http://schemas.microsoft.com/office/drawing/2014/main" id="{51D319C3-9E14-19CA-F7F6-887C8DD8E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288" y="149225"/>
            <a:ext cx="1150937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New Master File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9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D80F7F4-BCB9-6A20-DB59-0EA0B9E74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3" y="430213"/>
            <a:ext cx="728662" cy="665162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RecordM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7C6FA59-25B3-63D9-3DA2-4F2F042D5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3" y="233363"/>
            <a:ext cx="1147762" cy="22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Transaction File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46A3127D-65FF-4A09-D09E-DE5390689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2271713"/>
            <a:ext cx="728662" cy="13366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RecordN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721C327A-E1A3-1CBF-81EC-17636BD04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2850" y="438150"/>
            <a:ext cx="728663" cy="4762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</p:txBody>
      </p:sp>
      <p:sp>
        <p:nvSpPr>
          <p:cNvPr id="10246" name="Line 6">
            <a:extLst>
              <a:ext uri="{FF2B5EF4-FFF2-40B4-BE49-F238E27FC236}">
                <a16:creationId xmlns:a16="http://schemas.microsoft.com/office/drawing/2014/main" id="{F0CC5A82-6124-0FC3-642E-5C027EDB8A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5550" y="733425"/>
            <a:ext cx="0" cy="3810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7" name="Line 7">
            <a:extLst>
              <a:ext uri="{FF2B5EF4-FFF2-40B4-BE49-F238E27FC236}">
                <a16:creationId xmlns:a16="http://schemas.microsoft.com/office/drawing/2014/main" id="{CA5DBF81-8638-3304-B2D0-9CA0E569FA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95550" y="2028825"/>
            <a:ext cx="0" cy="10096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8" name="Line 8">
            <a:extLst>
              <a:ext uri="{FF2B5EF4-FFF2-40B4-BE49-F238E27FC236}">
                <a16:creationId xmlns:a16="http://schemas.microsoft.com/office/drawing/2014/main" id="{4C5ECE1D-67E3-6CA4-21CD-B808DD0A9A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0600" y="739775"/>
            <a:ext cx="150495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9" name="Line 9">
            <a:extLst>
              <a:ext uri="{FF2B5EF4-FFF2-40B4-BE49-F238E27FC236}">
                <a16:creationId xmlns:a16="http://schemas.microsoft.com/office/drawing/2014/main" id="{8EE1E6F1-D5B1-B75F-13CB-4BCA0DA2D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9650" y="3038475"/>
            <a:ext cx="14859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0" name="AutoShape 10">
            <a:extLst>
              <a:ext uri="{FF2B5EF4-FFF2-40B4-BE49-F238E27FC236}">
                <a16:creationId xmlns:a16="http://schemas.microsoft.com/office/drawing/2014/main" id="{A04513F3-698C-7E34-20E4-35C4D6BF9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927100"/>
            <a:ext cx="196850" cy="82550"/>
          </a:xfrm>
          <a:prstGeom prst="rightArrow">
            <a:avLst>
              <a:gd name="adj1" fmla="val 50000"/>
              <a:gd name="adj2" fmla="val 119242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1" name="AutoShape 11">
            <a:extLst>
              <a:ext uri="{FF2B5EF4-FFF2-40B4-BE49-F238E27FC236}">
                <a16:creationId xmlns:a16="http://schemas.microsoft.com/office/drawing/2014/main" id="{D4A2007D-0AA7-CCEE-9D8B-6C6C2CD1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3213100"/>
            <a:ext cx="196850" cy="82550"/>
          </a:xfrm>
          <a:prstGeom prst="rightArrow">
            <a:avLst>
              <a:gd name="adj1" fmla="val 50000"/>
              <a:gd name="adj2" fmla="val 119242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2" name="AutoShape 12">
            <a:extLst>
              <a:ext uri="{FF2B5EF4-FFF2-40B4-BE49-F238E27FC236}">
                <a16:creationId xmlns:a16="http://schemas.microsoft.com/office/drawing/2014/main" id="{7E09C59A-A981-E62F-8403-16B1FCCB8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869950"/>
            <a:ext cx="196850" cy="82550"/>
          </a:xfrm>
          <a:prstGeom prst="leftArrow">
            <a:avLst>
              <a:gd name="adj1" fmla="val 50000"/>
              <a:gd name="adj2" fmla="val 119220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3" name="AutoShape 13">
            <a:extLst>
              <a:ext uri="{FF2B5EF4-FFF2-40B4-BE49-F238E27FC236}">
                <a16:creationId xmlns:a16="http://schemas.microsoft.com/office/drawing/2014/main" id="{6DD6AB85-6587-AEDB-5186-6EF49FBE4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1217613"/>
            <a:ext cx="1409700" cy="766762"/>
          </a:xfrm>
          <a:prstGeom prst="diamond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RecordM</a:t>
            </a:r>
            <a:endParaRPr lang="en-US" altLang="en-US" sz="12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=</a:t>
            </a:r>
            <a:endParaRPr lang="en-US" altLang="en-US" sz="12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RecordN</a:t>
            </a:r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70B0A17F-48E6-24EC-6EE1-76F4A6DEF424}"/>
              </a:ext>
            </a:extLst>
          </p:cNvPr>
          <p:cNvSpPr>
            <a:spLocks noChangeArrowheads="1"/>
          </p:cNvSpPr>
          <p:nvPr/>
        </p:nvSpPr>
        <p:spPr bwMode="auto">
          <a:xfrm rot="19740000">
            <a:off x="1485900" y="2952750"/>
            <a:ext cx="296863" cy="1825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>
                <a:solidFill>
                  <a:schemeClr val="tx1"/>
                </a:solidFill>
              </a:rPr>
              <a:t>read</a:t>
            </a:r>
          </a:p>
        </p:txBody>
      </p:sp>
      <p:sp>
        <p:nvSpPr>
          <p:cNvPr id="10255" name="Rectangle 15">
            <a:extLst>
              <a:ext uri="{FF2B5EF4-FFF2-40B4-BE49-F238E27FC236}">
                <a16:creationId xmlns:a16="http://schemas.microsoft.com/office/drawing/2014/main" id="{0D40E777-C207-4F05-1FBC-EE9677D23EAB}"/>
              </a:ext>
            </a:extLst>
          </p:cNvPr>
          <p:cNvSpPr>
            <a:spLocks noChangeArrowheads="1"/>
          </p:cNvSpPr>
          <p:nvPr/>
        </p:nvSpPr>
        <p:spPr bwMode="auto">
          <a:xfrm rot="19740000">
            <a:off x="1485900" y="647700"/>
            <a:ext cx="296863" cy="1825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>
                <a:solidFill>
                  <a:schemeClr val="tx1"/>
                </a:solidFill>
              </a:rPr>
              <a:t>read</a:t>
            </a:r>
          </a:p>
        </p:txBody>
      </p:sp>
      <p:sp>
        <p:nvSpPr>
          <p:cNvPr id="10256" name="Rectangle 16">
            <a:extLst>
              <a:ext uri="{FF2B5EF4-FFF2-40B4-BE49-F238E27FC236}">
                <a16:creationId xmlns:a16="http://schemas.microsoft.com/office/drawing/2014/main" id="{BE2ED319-D7F0-191C-AD20-12DB8B69E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9275" y="136525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10257" name="Rectangle 17">
            <a:extLst>
              <a:ext uri="{FF2B5EF4-FFF2-40B4-BE49-F238E27FC236}">
                <a16:creationId xmlns:a16="http://schemas.microsoft.com/office/drawing/2014/main" id="{F35EA80B-962B-C2F1-462F-923767076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8" y="2076450"/>
            <a:ext cx="825500" cy="22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Master File</a:t>
            </a:r>
          </a:p>
        </p:txBody>
      </p:sp>
      <p:sp>
        <p:nvSpPr>
          <p:cNvPr id="10258" name="Rectangle 18">
            <a:extLst>
              <a:ext uri="{FF2B5EF4-FFF2-40B4-BE49-F238E27FC236}">
                <a16:creationId xmlns:a16="http://schemas.microsoft.com/office/drawing/2014/main" id="{1E60A288-79A8-CEEA-C4AB-20E51C68E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288" y="149225"/>
            <a:ext cx="1150937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New Master File</a:t>
            </a:r>
          </a:p>
        </p:txBody>
      </p:sp>
      <p:sp>
        <p:nvSpPr>
          <p:cNvPr id="10259" name="AutoShape 19">
            <a:extLst>
              <a:ext uri="{FF2B5EF4-FFF2-40B4-BE49-F238E27FC236}">
                <a16:creationId xmlns:a16="http://schemas.microsoft.com/office/drawing/2014/main" id="{E54B1787-97C6-FC68-B006-0FE22905C73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254375" y="2157413"/>
            <a:ext cx="1452563" cy="1289843"/>
          </a:xfrm>
          <a:prstGeom prst="wedgeRoundRectCallout">
            <a:avLst>
              <a:gd name="adj1" fmla="val -49921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Once more the records don’t match. So we need to write the master file record to the new master file, and get another record from the master file.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9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6CB4F48-4B77-4C33-60B7-6EA397224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3" y="430213"/>
            <a:ext cx="728662" cy="665162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RecordM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4F04492-BD99-AA89-3311-4371CB900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3" y="233363"/>
            <a:ext cx="1147762" cy="22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Transaction File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5E4FE6B6-FD0D-39BE-C09B-3EBD74BFC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2271713"/>
            <a:ext cx="728662" cy="13366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wrap="none"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RecordN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7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7AF649AD-43A7-DA99-4AC8-6A237C995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288" y="149225"/>
            <a:ext cx="1150937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New Master File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6027C657-584D-D3C8-D239-ADDF6538E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2850" y="438150"/>
            <a:ext cx="728663" cy="7175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>
                <a:alpha val="50000"/>
              </a:schemeClr>
            </a:outerShdw>
          </a:effectLst>
        </p:spPr>
        <p:txBody>
          <a:bodyPr lIns="38100" tIns="38100" rIns="38100" bIns="381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  <a:endParaRPr lang="en-US" altLang="en-US" sz="1200" b="1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anose="02070309020205020404" pitchFamily="49" charset="0"/>
            </a:endParaRPr>
          </a:p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RecordN</a:t>
            </a:r>
          </a:p>
        </p:txBody>
      </p:sp>
      <p:sp>
        <p:nvSpPr>
          <p:cNvPr id="11271" name="AutoShape 7">
            <a:extLst>
              <a:ext uri="{FF2B5EF4-FFF2-40B4-BE49-F238E27FC236}">
                <a16:creationId xmlns:a16="http://schemas.microsoft.com/office/drawing/2014/main" id="{4B15A4C9-B8EC-3CFB-11DD-FD99B2F3B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927100"/>
            <a:ext cx="196850" cy="82550"/>
          </a:xfrm>
          <a:prstGeom prst="rightArrow">
            <a:avLst>
              <a:gd name="adj1" fmla="val 50000"/>
              <a:gd name="adj2" fmla="val 119242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AutoShape 8">
            <a:extLst>
              <a:ext uri="{FF2B5EF4-FFF2-40B4-BE49-F238E27FC236}">
                <a16:creationId xmlns:a16="http://schemas.microsoft.com/office/drawing/2014/main" id="{5DE5BFBF-BE4C-7B46-3F69-6DF3B803F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3213100"/>
            <a:ext cx="196850" cy="82550"/>
          </a:xfrm>
          <a:prstGeom prst="rightArrow">
            <a:avLst>
              <a:gd name="adj1" fmla="val 50000"/>
              <a:gd name="adj2" fmla="val 119242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3" name="AutoShape 9">
            <a:extLst>
              <a:ext uri="{FF2B5EF4-FFF2-40B4-BE49-F238E27FC236}">
                <a16:creationId xmlns:a16="http://schemas.microsoft.com/office/drawing/2014/main" id="{467A4155-F08C-12EA-7E12-868A45149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1098550"/>
            <a:ext cx="196850" cy="82550"/>
          </a:xfrm>
          <a:prstGeom prst="leftArrow">
            <a:avLst>
              <a:gd name="adj1" fmla="val 50000"/>
              <a:gd name="adj2" fmla="val 119220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" name="AutoShape 10">
            <a:extLst>
              <a:ext uri="{FF2B5EF4-FFF2-40B4-BE49-F238E27FC236}">
                <a16:creationId xmlns:a16="http://schemas.microsoft.com/office/drawing/2014/main" id="{5375137A-9CCE-F229-7B30-AE2B4B16A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1217613"/>
            <a:ext cx="1409700" cy="766762"/>
          </a:xfrm>
          <a:prstGeom prst="diamond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=</a:t>
            </a:r>
            <a:endParaRPr lang="en-US" altLang="en-US" sz="12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 algn="ctr">
              <a:lnSpc>
                <a:spcPct val="80000"/>
              </a:lnSpc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RecordN</a:t>
            </a:r>
          </a:p>
        </p:txBody>
      </p:sp>
      <p:sp>
        <p:nvSpPr>
          <p:cNvPr id="11275" name="Line 11">
            <a:extLst>
              <a:ext uri="{FF2B5EF4-FFF2-40B4-BE49-F238E27FC236}">
                <a16:creationId xmlns:a16="http://schemas.microsoft.com/office/drawing/2014/main" id="{9C606B72-FACB-D4BF-463B-8B9F11D702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571625"/>
            <a:ext cx="20955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6" name="Rectangle 12">
            <a:extLst>
              <a:ext uri="{FF2B5EF4-FFF2-40B4-BE49-F238E27FC236}">
                <a16:creationId xmlns:a16="http://schemas.microsoft.com/office/drawing/2014/main" id="{C175426F-4E7E-33BC-CC61-0B27E29D5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975" y="1544638"/>
            <a:ext cx="261938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1277" name="Line 13">
            <a:extLst>
              <a:ext uri="{FF2B5EF4-FFF2-40B4-BE49-F238E27FC236}">
                <a16:creationId xmlns:a16="http://schemas.microsoft.com/office/drawing/2014/main" id="{D762A943-A9F0-41BE-CBEF-23211D6127F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76625" y="1038225"/>
            <a:ext cx="9525" cy="5334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8" name="Line 14">
            <a:extLst>
              <a:ext uri="{FF2B5EF4-FFF2-40B4-BE49-F238E27FC236}">
                <a16:creationId xmlns:a16="http://schemas.microsoft.com/office/drawing/2014/main" id="{98A5A5E5-8820-321F-BEEA-3D41C3EA78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6625" y="1038225"/>
            <a:ext cx="295275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9" name="Rectangle 15">
            <a:extLst>
              <a:ext uri="{FF2B5EF4-FFF2-40B4-BE49-F238E27FC236}">
                <a16:creationId xmlns:a16="http://schemas.microsoft.com/office/drawing/2014/main" id="{86B2A62A-BE0A-15C8-2BC0-B84D8C4EE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1244600"/>
            <a:ext cx="338138" cy="1825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>
                <a:solidFill>
                  <a:schemeClr val="tx1"/>
                </a:solidFill>
              </a:rPr>
              <a:t>write</a:t>
            </a:r>
          </a:p>
        </p:txBody>
      </p:sp>
      <p:sp>
        <p:nvSpPr>
          <p:cNvPr id="11280" name="AutoShape 16">
            <a:extLst>
              <a:ext uri="{FF2B5EF4-FFF2-40B4-BE49-F238E27FC236}">
                <a16:creationId xmlns:a16="http://schemas.microsoft.com/office/drawing/2014/main" id="{5070EAFF-B7A7-52FF-1D3D-7BB83FC4076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863850" y="2314575"/>
            <a:ext cx="1854200" cy="1137708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altLang="en-US" sz="1000" b="1">
                <a:solidFill>
                  <a:schemeClr val="tx1"/>
                </a:solidFill>
                <a:latin typeface="Arial" panose="020B0604020202020204" pitchFamily="34" charset="0"/>
              </a:rPr>
              <a:t>But wait...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Shouldn’t we  have deleted RecordM?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altLang="en-US" sz="1000" b="1">
                <a:solidFill>
                  <a:schemeClr val="tx1"/>
                </a:solidFill>
                <a:latin typeface="Arial" panose="020B0604020202020204" pitchFamily="34" charset="0"/>
              </a:rPr>
              <a:t>Too late...</a:t>
            </a: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It’s already been written to the new file.</a:t>
            </a:r>
          </a:p>
        </p:txBody>
      </p:sp>
      <p:sp>
        <p:nvSpPr>
          <p:cNvPr id="11281" name="AutoShape 17">
            <a:extLst>
              <a:ext uri="{FF2B5EF4-FFF2-40B4-BE49-F238E27FC236}">
                <a16:creationId xmlns:a16="http://schemas.microsoft.com/office/drawing/2014/main" id="{77C0C210-B3FE-E68D-4D21-4CFBE326A92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60563" y="2274888"/>
            <a:ext cx="2736850" cy="1034521"/>
          </a:xfrm>
          <a:prstGeom prst="wedgeRoundRectCallout">
            <a:avLst>
              <a:gd name="adj1" fmla="val -49921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This is the problem with unordered files.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When  the files are not ordered on the key field, we cannot guarantee that a record we write to the new file now does not have a matching delete record embedded later in the transaction file.</a:t>
            </a:r>
          </a:p>
        </p:txBody>
      </p:sp>
      <p:sp>
        <p:nvSpPr>
          <p:cNvPr id="11282" name="Rectangle 18">
            <a:extLst>
              <a:ext uri="{FF2B5EF4-FFF2-40B4-BE49-F238E27FC236}">
                <a16:creationId xmlns:a16="http://schemas.microsoft.com/office/drawing/2014/main" id="{793833EE-3E01-2E40-E478-7C2DC25D4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8" y="2076450"/>
            <a:ext cx="825500" cy="22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b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Master File</a:t>
            </a:r>
          </a:p>
        </p:txBody>
      </p:sp>
      <p:sp>
        <p:nvSpPr>
          <p:cNvPr id="11283" name="AutoShape 19">
            <a:extLst>
              <a:ext uri="{FF2B5EF4-FFF2-40B4-BE49-F238E27FC236}">
                <a16:creationId xmlns:a16="http://schemas.microsoft.com/office/drawing/2014/main" id="{05321262-1E79-F9DE-F4D5-15EA12141BD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476500" y="2174875"/>
            <a:ext cx="2165350" cy="1135063"/>
          </a:xfrm>
          <a:prstGeom prst="wedgeRoundRectCallout">
            <a:avLst>
              <a:gd name="adj1" fmla="val -49921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A similar problem occurs with batch updates on an unordered file. When we write a record to the new master file we can’t be sure that there is not an update for the record further down the transaction file.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0" grpId="0" animBg="1" autoUpdateAnimBg="0"/>
      <p:bldP spid="11281" grpId="0" animBg="1" autoUpdateAnimBg="0"/>
      <p:bldP spid="11283" grpId="0" animBg="1" autoUpdateAnimBg="0"/>
    </p:bld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rgbClr val="009900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rgbClr val="009900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9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E:\MSOffice\Templates\Blank Presentation.pot</Template>
  <TotalTime>2598</TotalTime>
  <Words>477</Words>
  <Application>Microsoft Office PowerPoint</Application>
  <PresentationFormat>Custom</PresentationFormat>
  <Paragraphs>169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Courier New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Coughlan</dc:creator>
  <cp:lastModifiedBy>Sean McBride</cp:lastModifiedBy>
  <cp:revision>37</cp:revision>
  <dcterms:created xsi:type="dcterms:W3CDTF">1995-06-17T23:31:02Z</dcterms:created>
  <dcterms:modified xsi:type="dcterms:W3CDTF">2026-05-13T01:06:57Z</dcterms:modified>
</cp:coreProperties>
</file>