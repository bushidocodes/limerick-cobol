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6" r:id="rId3"/>
    <p:sldId id="267" r:id="rId4"/>
    <p:sldId id="268" r:id="rId5"/>
    <p:sldId id="269" r:id="rId6"/>
    <p:sldId id="271" r:id="rId7"/>
    <p:sldId id="270" r:id="rId8"/>
    <p:sldId id="272" r:id="rId9"/>
    <p:sldId id="273" r:id="rId10"/>
    <p:sldId id="274" r:id="rId11"/>
    <p:sldId id="276" r:id="rId12"/>
    <p:sldId id="277" r:id="rId13"/>
  </p:sldIdLst>
  <p:sldSz cx="4762500" cy="1905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CC"/>
    <a:srgbClr val="009900"/>
    <a:srgbClr val="006633"/>
    <a:srgbClr val="00CC00"/>
    <a:srgbClr val="EAEAEA"/>
    <a:srgbClr val="FFFF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47" d="100"/>
          <a:sy n="247" d="100"/>
        </p:scale>
        <p:origin x="210" y="1356"/>
      </p:cViewPr>
      <p:guideLst>
        <p:guide orient="horz" pos="6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6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C9E4E29-4D1B-BCE0-8DD1-C92A062976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89D18AB-A787-F15D-F3F9-E19085172D6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59B472-FA00-3320-1A08-836896B4CD1E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-850900" y="692150"/>
            <a:ext cx="85598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72473B6-6894-5E18-8B2B-E433E89A5EB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B0A8E07-F48E-7CC6-20F3-5F0D73E22E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1589A3D-F149-5A00-EF73-0734488A44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5A5FE84B-596F-4411-907B-27C77990C8F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0A15-2403-08B1-C2FC-0622A7427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311150"/>
            <a:ext cx="3571875" cy="66357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72FCF-FE8D-FCD7-0326-BC490B74B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1000125"/>
            <a:ext cx="3571875" cy="460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7699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B720-6399-ABA4-A89D-A5F5A10C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01600"/>
            <a:ext cx="4108450" cy="3683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C3459-E6D9-441D-2CC2-44780F47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506413"/>
            <a:ext cx="4108450" cy="1209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274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E741-10CB-5E36-8D37-A5BF393D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474663"/>
            <a:ext cx="4106862" cy="7921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0B1CA-4685-EABB-AD41-A363BE44B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1274763"/>
            <a:ext cx="4106862" cy="417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898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532E-AFF0-6393-3E62-24E93325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01600"/>
            <a:ext cx="4108450" cy="3683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801FD-4BBF-C0A2-9EDD-77F9724E2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506413"/>
            <a:ext cx="1978025" cy="1209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69003-28F0-173B-4FBD-92BD898D6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506413"/>
            <a:ext cx="1978025" cy="1209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16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AFD3-7C36-BAA9-AA51-EB8B0A3B8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01600"/>
            <a:ext cx="4106862" cy="3683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86CD7-233C-E096-3FC8-80F458020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466725"/>
            <a:ext cx="2014537" cy="228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CC786-284C-008D-ABDA-17C397B34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695325"/>
            <a:ext cx="2014537" cy="102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02270-E34E-AA75-C8B9-BC8DA30C6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466725"/>
            <a:ext cx="2024062" cy="228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004F8-A31A-24C5-1EBF-F49335AE1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695325"/>
            <a:ext cx="2024062" cy="102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814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91C2-D9AB-3CC3-144C-5D769FD0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01600"/>
            <a:ext cx="4108450" cy="3683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04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50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043C-AE83-5A7E-674E-E442636C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27000"/>
            <a:ext cx="1535112" cy="444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0B42-F221-2C7C-8907-4C3B5929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274638"/>
            <a:ext cx="2411412" cy="13541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C5C6B-572B-C016-F9A5-F8BA0348B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571500"/>
            <a:ext cx="1535112" cy="1058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57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B559-47CD-C194-2DB1-A7459028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27000"/>
            <a:ext cx="1535112" cy="444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FAC86D-51B7-87CE-0AEA-4BB9E2419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274638"/>
            <a:ext cx="2411412" cy="13541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8F5BF-2377-F6A0-225D-DF33988BA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571500"/>
            <a:ext cx="1535112" cy="1058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369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9932-E8F9-FF8D-48FA-CE31647D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01600"/>
            <a:ext cx="4108450" cy="3683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A5E5E-F68B-1E67-CB35-9D87D1FE0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506413"/>
            <a:ext cx="4108450" cy="1209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51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C4DE4-CD3A-4360-C5D1-7252E5490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101600"/>
            <a:ext cx="1027112" cy="161448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0FC0B-BB12-7BDC-F5F5-4EA3042BF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600"/>
            <a:ext cx="2928938" cy="16144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16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7CCF2C1-99CB-6CA9-5EB9-73CC23FE7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0638"/>
            <a:ext cx="4725988" cy="1863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9A32351-63F7-D17E-A195-48C2ED4B0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This is the destination string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43E96DA-AB87-5DBF-27A0-3410DB69F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637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1 - Before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566B87A-D8B3-AE0E-DD7B-75ABEE161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917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1. STRING Field1 DELIMITED BY SPACES INTO Field2.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14A722-6825-BDE9-EB9A-D5E6AC89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Where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is the destination string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B3A2AD6-2B84-9A30-3BE1-263D3E3BD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938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1 - After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2B9AC00-4C9E-10FA-C899-42E3A7E5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917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1. STRING Field1 DELIMITED BY SPACES INTO Field2.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CDE5D0B0-F3AC-BFEA-68B0-4C8262615D3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87563" y="511175"/>
            <a:ext cx="2647950" cy="711729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46038" rIns="38100" bIns="46038" anchor="ctr"/>
          <a:lstStyle/>
          <a:p>
            <a:pPr algn="ctr"/>
            <a:r>
              <a:rPr lang="en-US" altLang="en-US" sz="1000"/>
              <a:t>The delimiter is encountered after “Where”.  The text in Field2 that is not explicitly overwritten, is left intact.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A4A6840-DDA3-114E-C55F-55CD4A16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This is the destination string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B9CD221-B67A-8EBD-38F4-BD20B585B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637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2 - Before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B555CCA0-A3CD-B064-0718-B60B5FD8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7655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2. STRING Field1 DELIMITED BY SIZE INTO Field2.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  <a:p>
            <a:endParaRPr lang="en-US" altLang="en-US" sz="1000" b="1">
              <a:latin typeface="Courier New" panose="020703090202050204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99AC5D-4F4D-818A-8370-4163600AB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Where does this go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ation string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06CA453-2447-37C8-C8B4-B6994AA86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938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2 - After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5949E96-4593-0375-9986-ED30B4735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7655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2. STRING Field1 DELIMITED BY SIZE INTO Field2.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  <a:p>
            <a:endParaRPr lang="en-US" altLang="en-US" sz="1000" b="1">
              <a:latin typeface="Courier New" panose="02070309020205020404" pitchFamily="49" charset="0"/>
            </a:endParaRPr>
          </a:p>
        </p:txBody>
      </p:sp>
      <p:sp>
        <p:nvSpPr>
          <p:cNvPr id="6149" name="AutoShape 5">
            <a:extLst>
              <a:ext uri="{FF2B5EF4-FFF2-40B4-BE49-F238E27FC236}">
                <a16:creationId xmlns:a16="http://schemas.microsoft.com/office/drawing/2014/main" id="{71929DDA-16F1-2BCB-23E3-8D765E7A8E6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68563" y="692150"/>
            <a:ext cx="2266950" cy="560917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/>
              <a:t>DELIMITED BY SIZE, strings the entire contents of Field1 into Field2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7C431D-BA89-08D6-F991-F5976082C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This is the destination string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4106E05-775F-AF9C-F085-1865ABF71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637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3 - Before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ED4164C4-BE82-3001-F4A5-143F03E58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5369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3. MOVE 6 TO StrPtr.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STRING Field1, Field3 DELIMITED BY SPACE 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INTO Field2 WITH POINTER StrPtr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ON OVERFLOW DISPLAY "String Error"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NOT ON OVERFLOW "No Error"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C73E898-4DE0-BD7C-1E15-1016B23C2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4187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This </a:t>
            </a:r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WhereHere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stination string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CA3A1A3-BFD5-5F89-6CE3-3A5320420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938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3 - After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BE2EB79-079D-336E-2E2C-6B3362498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5369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3. MOVE 6 TO StrPtr.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STRING Field1, Field3 DELIMITED BY SPACE 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INTO Field2 WITH POINTER StrPtr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ON OVERFLOW DISPLAY "String Error"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</a:t>
            </a:r>
            <a:r>
              <a:rPr lang="en-US" altLang="en-US" sz="1000" b="1">
                <a:solidFill>
                  <a:srgbClr val="FF3300"/>
                </a:solidFill>
                <a:latin typeface="Courier New" panose="02070309020205020404" pitchFamily="49" charset="0"/>
              </a:rPr>
              <a:t>NOT ON OVERFLOW "No Error"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</p:txBody>
      </p:sp>
      <p:sp>
        <p:nvSpPr>
          <p:cNvPr id="8197" name="Arc 5">
            <a:extLst>
              <a:ext uri="{FF2B5EF4-FFF2-40B4-BE49-F238E27FC236}">
                <a16:creationId xmlns:a16="http://schemas.microsoft.com/office/drawing/2014/main" id="{768C9E3D-487B-7935-211C-F014130CFCDC}"/>
              </a:ext>
            </a:extLst>
          </p:cNvPr>
          <p:cNvSpPr>
            <a:spLocks/>
          </p:cNvSpPr>
          <p:nvPr/>
        </p:nvSpPr>
        <p:spPr bwMode="auto">
          <a:xfrm>
            <a:off x="809625" y="409575"/>
            <a:ext cx="249238" cy="1152525"/>
          </a:xfrm>
          <a:custGeom>
            <a:avLst/>
            <a:gdLst>
              <a:gd name="G0" fmla="+- 138 0 0"/>
              <a:gd name="G1" fmla="+- 21600 0 0"/>
              <a:gd name="G2" fmla="+- 21600 0 0"/>
              <a:gd name="T0" fmla="*/ 0 w 21738"/>
              <a:gd name="T1" fmla="*/ 0 h 21600"/>
              <a:gd name="T2" fmla="*/ 21738 w 21738"/>
              <a:gd name="T3" fmla="*/ 21600 h 21600"/>
              <a:gd name="T4" fmla="*/ 138 w 2173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38" h="21600" fill="none" extrusionOk="0">
                <a:moveTo>
                  <a:pt x="0" y="0"/>
                </a:moveTo>
                <a:cubicBezTo>
                  <a:pt x="46" y="0"/>
                  <a:pt x="92" y="0"/>
                  <a:pt x="138" y="0"/>
                </a:cubicBezTo>
                <a:cubicBezTo>
                  <a:pt x="12067" y="0"/>
                  <a:pt x="21738" y="9670"/>
                  <a:pt x="21738" y="21600"/>
                </a:cubicBezTo>
              </a:path>
              <a:path w="21738" h="21600" stroke="0" extrusionOk="0">
                <a:moveTo>
                  <a:pt x="0" y="0"/>
                </a:moveTo>
                <a:cubicBezTo>
                  <a:pt x="46" y="0"/>
                  <a:pt x="92" y="0"/>
                  <a:pt x="138" y="0"/>
                </a:cubicBezTo>
                <a:cubicBezTo>
                  <a:pt x="12067" y="0"/>
                  <a:pt x="21738" y="9670"/>
                  <a:pt x="21738" y="21600"/>
                </a:cubicBezTo>
                <a:lnTo>
                  <a:pt x="138" y="21600"/>
                </a:lnTo>
                <a:close/>
              </a:path>
            </a:pathLst>
          </a:custGeom>
          <a:noFill/>
          <a:ln w="12700" cap="rnd">
            <a:solidFill>
              <a:srgbClr val="FF33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1A5A1457-3DDA-9C06-D309-2E2A8C5F70D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63913" y="539750"/>
            <a:ext cx="1376362" cy="965729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46038" rIns="38100" bIns="46038" anchor="ctr"/>
          <a:lstStyle/>
          <a:p>
            <a:pPr algn="ctr"/>
            <a:r>
              <a:rPr lang="en-US" altLang="en-US" sz="1000"/>
              <a:t>The WITH POINTER phrase, means that characters are inserted into Field2 starting at character position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7E61726-7E75-34E6-F154-22BD7BB14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AD4C05C-04F2-DBEE-7D05-AFB321E1B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637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4 - Before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DF540D80-F8F6-A803-6EBB-D6BE7D74A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0797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4. STRING Field1, Field2, Field3 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DELIMITED BY SPACES INTO Field4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2B13E85-04EA-515C-9D63-91C532623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/>
          <a:lstStyle/>
          <a:p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WhereThisHere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44C129B-6B2D-C152-0020-B028946E7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938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4 - After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C4BBA96-38A7-8D03-F66F-5E3662EB3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30797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4. STRING Field1, Field2, Field3 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DELIMITED BY SPACES INTO Field4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889A790-A968-1562-3755-3E3D525FE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This is the destination string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03C23FD-741C-AA0B-4BCA-CA812234F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637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5 - Before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FCDCF047-C581-D676-E4EC-350C4F4A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29273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5. MOVE 4 TO NewPtr.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STRING Field1 DELIMITED BY "this"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   Field3 DELIMITED BY SPACE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   "END"  DELIMITED BY SIZE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   INTO Field2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BED2D2F-61CC-7C69-EFD4-043501B6E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Where does HereEND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ation string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79F8326-A19D-55F5-3A83-896B3CC8D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938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5 - After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C9474E0-C78A-74EC-E702-B0C4D25C0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239713"/>
            <a:ext cx="29273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latin typeface="Courier New" panose="02070309020205020404" pitchFamily="49" charset="0"/>
              </a:rPr>
              <a:t>5. MOVE 4 TO NewPtr.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STRING Field1 DELIMITED BY "this"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   Field3 DELIMITED BY SPACE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   "END"  DELIMITED BY SIZE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       INTO Field2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r>
              <a:rPr lang="en-US" altLang="en-US" sz="1000" b="1">
                <a:latin typeface="Courier New" panose="02070309020205020404" pitchFamily="49" charset="0"/>
              </a:rPr>
              <a:t>   DISPLAY Field2</a:t>
            </a:r>
          </a:p>
        </p:txBody>
      </p:sp>
      <p:sp>
        <p:nvSpPr>
          <p:cNvPr id="12293" name="AutoShape 5">
            <a:extLst>
              <a:ext uri="{FF2B5EF4-FFF2-40B4-BE49-F238E27FC236}">
                <a16:creationId xmlns:a16="http://schemas.microsoft.com/office/drawing/2014/main" id="{3837818A-3C37-64A6-F095-F924C17F1CC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82900" y="130175"/>
            <a:ext cx="1806575" cy="1140354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46038" rIns="38100" bIns="46038" anchor="ctr"/>
          <a:lstStyle/>
          <a:p>
            <a:pPr algn="ctr"/>
            <a:r>
              <a:rPr lang="en-US" altLang="en-US" sz="1000"/>
              <a:t>Are you puzzled by this answer?  </a:t>
            </a:r>
          </a:p>
          <a:p>
            <a:pPr algn="ctr"/>
            <a:r>
              <a:rPr lang="en-US" altLang="en-US" sz="1000"/>
              <a:t>Have you examined the STRING statement carefully?</a:t>
            </a:r>
          </a:p>
          <a:p>
            <a:pPr algn="ctr"/>
            <a:r>
              <a:rPr lang="en-US" altLang="en-US" sz="1000"/>
              <a:t>Click once more to see a full explanation</a:t>
            </a:r>
          </a:p>
        </p:txBody>
      </p:sp>
      <p:sp>
        <p:nvSpPr>
          <p:cNvPr id="12294" name="AutoShape 6">
            <a:extLst>
              <a:ext uri="{FF2B5EF4-FFF2-40B4-BE49-F238E27FC236}">
                <a16:creationId xmlns:a16="http://schemas.microsoft.com/office/drawing/2014/main" id="{808E9AE4-215F-CFAA-5A3D-05591B3116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84488" y="130175"/>
            <a:ext cx="1806575" cy="1140354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46038" rIns="38100" bIns="46038" anchor="ctr"/>
          <a:lstStyle/>
          <a:p>
            <a:pPr algn="ctr"/>
            <a:r>
              <a:rPr lang="en-US" altLang="en-US" sz="1000"/>
              <a:t>This was a trick question.  Even though 4 is moved to the NewPtr, there is no WITH POINTER phrase in the STRING statement.  </a:t>
            </a:r>
          </a:p>
          <a:p>
            <a:pPr algn="ctr"/>
            <a:r>
              <a:rPr lang="en-US" altLang="en-US" sz="1000"/>
              <a:t>So moving 4 to NewPtr has no effect.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1C99C6A-5466-ED37-8698-303FD857E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This is the destination string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E82F7CC-E762-B635-F676-0E0503F02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637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6 - Before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BFF1476-D340-6458-3620-B7275AEBF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888"/>
            <a:ext cx="3308350" cy="119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6. MOVE 4 TO NewPtr.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STRING Field1 DELIMITED BY "this"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   Field3 DELIMITED BY SPACE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   "Tom"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INTO Field2 WITH POINTER NewPtr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ON OVERFLOW DISPLAY "String Error"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NOT ON OVERFLOW DISPLAY Field2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2B30EEC-CEAF-9764-ABE5-284539E4B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1463675"/>
            <a:ext cx="4292600" cy="37623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676767"/>
            </a:solidFill>
            <a:miter lim="800000"/>
            <a:headEnd/>
            <a:tailEnd/>
          </a:ln>
          <a:effectLst>
            <a:outerShdw algn="ctr" rotWithShape="0">
              <a:srgbClr val="000000">
                <a:alpha val="50000"/>
              </a:srgbClr>
            </a:outerShdw>
          </a:effectLst>
        </p:spPr>
        <p:txBody>
          <a:bodyPr wrap="none" lIns="76200" tIns="38100" rIns="76200" bIns="38100" anchor="ctr">
            <a:spAutoFit/>
          </a:bodyPr>
          <a:lstStyle/>
          <a:p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Thi</a:t>
            </a:r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Where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 he destination string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8997AF5-4956-7C64-2811-129EAECC2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938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19050" rIns="92075" bIns="19050">
            <a:spAutoFit/>
          </a:bodyPr>
          <a:lstStyle/>
          <a:p>
            <a:r>
              <a:rPr lang="en-US" altLang="en-US" sz="16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String 6 - After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C4F3B4E-048D-994B-4C88-FC3081F94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42888"/>
            <a:ext cx="3308350" cy="119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6. MOVE 4 TO NewPtr.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STRING Field1 DELIMITED BY "this"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   Field3 DELIMITED BY SPACE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   "Tom"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INTO Field2 WITH POINTER NewPtr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ON OVERFLOW DISPLAY "String Error"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NOT ON OVERFLOW DISPLAY Field2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END-STRING.</a:t>
            </a:r>
          </a:p>
          <a:p>
            <a:pPr>
              <a:lnSpc>
                <a:spcPct val="80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DISPLAY Field2.</a:t>
            </a:r>
          </a:p>
        </p:txBody>
      </p:sp>
      <p:sp>
        <p:nvSpPr>
          <p:cNvPr id="14341" name="AutoShape 5">
            <a:extLst>
              <a:ext uri="{FF2B5EF4-FFF2-40B4-BE49-F238E27FC236}">
                <a16:creationId xmlns:a16="http://schemas.microsoft.com/office/drawing/2014/main" id="{CFE0FDC1-158B-CA6E-B4AD-0C53F80E8E0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63900" y="53975"/>
            <a:ext cx="1474788" cy="1390386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46038" rIns="38100" bIns="46038" anchor="ctr"/>
          <a:lstStyle/>
          <a:p>
            <a:pPr algn="ctr"/>
            <a:r>
              <a:rPr lang="en-US" altLang="en-US" sz="1000"/>
              <a:t>Puzzled again?</a:t>
            </a:r>
          </a:p>
          <a:p>
            <a:pPr algn="ctr"/>
            <a:r>
              <a:rPr lang="en-US" altLang="en-US" sz="1000"/>
              <a:t>Examine the description of NewPtr carefully and see if you can figure out what’s going wrong.</a:t>
            </a:r>
          </a:p>
          <a:p>
            <a:pPr algn="ctr"/>
            <a:r>
              <a:rPr lang="en-US" altLang="en-US" sz="1000"/>
              <a:t>Click again to see an explanation of what’s happening. </a:t>
            </a:r>
          </a:p>
        </p:txBody>
      </p:sp>
      <p:sp>
        <p:nvSpPr>
          <p:cNvPr id="14342" name="AutoShape 6">
            <a:extLst>
              <a:ext uri="{FF2B5EF4-FFF2-40B4-BE49-F238E27FC236}">
                <a16:creationId xmlns:a16="http://schemas.microsoft.com/office/drawing/2014/main" id="{E028485B-D3B1-9509-1B10-EB9F911EB75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68663" y="49213"/>
            <a:ext cx="1474787" cy="1402292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/>
          <a:lstStyle/>
          <a:p>
            <a:pPr algn="ctr"/>
            <a:r>
              <a:rPr lang="en-US" altLang="en-US" sz="1000"/>
              <a:t>NewPtr is incremented until its value reaches 10.  </a:t>
            </a:r>
          </a:p>
          <a:p>
            <a:pPr algn="ctr"/>
            <a:r>
              <a:rPr lang="en-US" altLang="en-US" sz="1000"/>
              <a:t>Because it is described as PIC 9, the 1 is truncated and NewPtr contains a value of 0.  </a:t>
            </a:r>
          </a:p>
          <a:p>
            <a:pPr algn="ctr"/>
            <a:r>
              <a:rPr lang="en-US" altLang="en-US" sz="800" b="1"/>
              <a:t>Click again</a:t>
            </a:r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890B51C5-F9F4-76DA-DE4A-2D88E718930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73425" y="47625"/>
            <a:ext cx="1474788" cy="1403615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/>
          <a:lstStyle/>
          <a:p>
            <a:pPr algn="ctr"/>
            <a:r>
              <a:rPr lang="en-US" altLang="en-US" sz="1000"/>
              <a:t>Since NewPtr now contains 0, it is pointing outside the string and the STRING statement terminates.</a:t>
            </a:r>
          </a:p>
          <a:p>
            <a:pPr algn="ctr"/>
            <a:endParaRPr lang="en-US" altLang="en-US" sz="1000"/>
          </a:p>
          <a:p>
            <a:pPr algn="ctr"/>
            <a:r>
              <a:rPr lang="en-US" altLang="en-US" sz="800" b="1"/>
              <a:t>Click again</a:t>
            </a:r>
          </a:p>
        </p:txBody>
      </p:sp>
      <p:sp>
        <p:nvSpPr>
          <p:cNvPr id="14344" name="AutoShape 8">
            <a:extLst>
              <a:ext uri="{FF2B5EF4-FFF2-40B4-BE49-F238E27FC236}">
                <a16:creationId xmlns:a16="http://schemas.microsoft.com/office/drawing/2014/main" id="{DC1D87F1-6052-88D3-BBE6-C4D16012DDE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70250" y="58738"/>
            <a:ext cx="1474788" cy="1390385"/>
          </a:xfrm>
          <a:prstGeom prst="wedgeRoundRectCallout">
            <a:avLst>
              <a:gd name="adj1" fmla="val -4842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/>
          <a:lstStyle/>
          <a:p>
            <a:pPr algn="ctr"/>
            <a:r>
              <a:rPr lang="en-US" altLang="en-US" sz="1000"/>
              <a:t>Because there are valid characters in the source strings that have not been transferred to the destination string, the ON OVERFLOW activates. 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nimBg="1" autoUpdateAnimBg="0"/>
      <p:bldP spid="14343" grpId="0" animBg="1" autoUpdateAnimBg="0"/>
      <p:bldP spid="14344" grpId="0" animBg="1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174</TotalTime>
  <Words>672</Words>
  <Application>Microsoft Office PowerPoint</Application>
  <PresentationFormat>Custom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11</cp:revision>
  <dcterms:created xsi:type="dcterms:W3CDTF">1995-06-17T23:31:02Z</dcterms:created>
  <dcterms:modified xsi:type="dcterms:W3CDTF">2026-05-13T01:06:29Z</dcterms:modified>
</cp:coreProperties>
</file>