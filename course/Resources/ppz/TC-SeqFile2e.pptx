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</p:sldIdLst>
  <p:sldSz cx="4762500" cy="3810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237960" y="151920"/>
            <a:ext cx="4285800" cy="63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subTitle"/>
          </p:nvPr>
        </p:nvSpPr>
        <p:spPr>
          <a:xfrm>
            <a:off x="237960" y="891360"/>
            <a:ext cx="4285800" cy="2209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0" y="0"/>
            <a:ext cx="4762440" cy="380988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"/>
          <p:cNvSpPr/>
          <p:nvPr/>
        </p:nvSpPr>
        <p:spPr>
          <a:xfrm>
            <a:off x="9360" y="19080"/>
            <a:ext cx="4743360" cy="378612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237960" y="151920"/>
            <a:ext cx="4285800" cy="63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237960" y="891360"/>
            <a:ext cx="4285800" cy="2209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70000" lnSpcReduction="19999"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"/>
          <p:cNvSpPr txBox="1"/>
          <p:nvPr/>
        </p:nvSpPr>
        <p:spPr>
          <a:xfrm>
            <a:off x="905040" y="517680"/>
            <a:ext cx="2933640" cy="2254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8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Updating records in an ordered Sequential file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Click to view.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When viewing , left click (or press the Page Up key) to see the next frame and right click (or press Page Down)  to see the previous frame.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"/>
          <p:cNvSpPr txBox="1"/>
          <p:nvPr/>
        </p:nvSpPr>
        <p:spPr>
          <a:xfrm>
            <a:off x="1258920" y="76320"/>
            <a:ext cx="2379600" cy="36000000"/>
          </a:xfrm>
          <a:prstGeom prst="rect">
            <a:avLst/>
          </a:prstGeom>
          <a:solidFill>
            <a:srgbClr val="EEFFEE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B2B2B2"/>
            </a:outerShdw>
          </a:effectLst>
        </p:spPr>
        <p:txBody>
          <a:bodyPr lIns="0" tIns="0" rIns="0" bIns="0" anchor="t">
            <a:spAutoFit/>
          </a:bodyPr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FILE SECTION.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PROCEDURE DIVISION.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r>
              <a:rPr lang="en-US" sz="10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OPEN INPUT TF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r>
              <a:rPr lang="en-US" sz="10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OPEN INPUT MF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r>
              <a:rPr lang="en-US" sz="10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OPEN OUTPUT NF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READ TF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AT END SET EndTF TO TRUE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END-READ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READ MF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AT END SET EndMF TO TRUE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END-READ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PERFORM UNTIL EndTF AND EndMF 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etc</a:t>
            </a: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"/>
          <p:cNvSpPr txBox="1"/>
          <p:nvPr/>
        </p:nvSpPr>
        <p:spPr>
          <a:xfrm>
            <a:off x="114480" y="380880"/>
            <a:ext cx="779400" cy="3056004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B2B2B2"/>
            </a:outerShdw>
          </a:effectLst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RecordB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RecordH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RecordK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"/>
          <p:cNvSpPr txBox="1"/>
          <p:nvPr/>
        </p:nvSpPr>
        <p:spPr>
          <a:xfrm>
            <a:off x="114480" y="212760"/>
            <a:ext cx="912960" cy="168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Trans File (TF)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"/>
          <p:cNvSpPr txBox="1"/>
          <p:nvPr/>
        </p:nvSpPr>
        <p:spPr>
          <a:xfrm>
            <a:off x="114480" y="2384280"/>
            <a:ext cx="779400" cy="360000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B2B2B2"/>
            </a:outerShdw>
          </a:effectLst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RecordA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RecordB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RecordG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RecordH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RecordK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RecordM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RecordN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"/>
          <p:cNvSpPr txBox="1"/>
          <p:nvPr/>
        </p:nvSpPr>
        <p:spPr>
          <a:xfrm>
            <a:off x="114480" y="2205000"/>
            <a:ext cx="1012680" cy="193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Master File (MF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"/>
          <p:cNvSpPr/>
          <p:nvPr/>
        </p:nvSpPr>
        <p:spPr>
          <a:xfrm>
            <a:off x="3867120" y="380880"/>
            <a:ext cx="779400" cy="24768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"/>
          <p:cNvSpPr txBox="1"/>
          <p:nvPr/>
        </p:nvSpPr>
        <p:spPr>
          <a:xfrm>
            <a:off x="3868560" y="187200"/>
            <a:ext cx="816120" cy="193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NewFile (NF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"/>
          <p:cNvSpPr/>
          <p:nvPr/>
        </p:nvSpPr>
        <p:spPr>
          <a:xfrm>
            <a:off x="9360" y="2476440"/>
            <a:ext cx="105120" cy="124200"/>
          </a:xfrm>
          <a:custGeom>
            <a:avLst/>
            <a:gdLst/>
            <a:ahLst/>
            <a:rect l="0" t="0" r="r" b="b"/>
            <a:pathLst>
              <a:path w="292" h="345">
                <a:moveTo>
                  <a:pt x="0" y="115"/>
                </a:moveTo>
                <a:lnTo>
                  <a:pt x="0" y="230"/>
                </a:lnTo>
                <a:lnTo>
                  <a:pt x="204" y="230"/>
                </a:lnTo>
                <a:lnTo>
                  <a:pt x="204" y="345"/>
                </a:lnTo>
                <a:lnTo>
                  <a:pt x="292" y="172"/>
                </a:lnTo>
                <a:lnTo>
                  <a:pt x="204" y="0"/>
                </a:lnTo>
                <a:lnTo>
                  <a:pt x="204" y="115"/>
                </a:lnTo>
                <a:lnTo>
                  <a:pt x="0" y="115"/>
                </a:lnTo>
                <a:close/>
              </a:path>
            </a:pathLst>
          </a:custGeom>
          <a:solidFill>
            <a:srgbClr val="CC0000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"/>
          <p:cNvSpPr/>
          <p:nvPr/>
        </p:nvSpPr>
        <p:spPr>
          <a:xfrm>
            <a:off x="9360" y="457200"/>
            <a:ext cx="105120" cy="124200"/>
          </a:xfrm>
          <a:custGeom>
            <a:avLst/>
            <a:gdLst/>
            <a:ahLst/>
            <a:rect l="0" t="0" r="r" b="b"/>
            <a:pathLst>
              <a:path w="292" h="345">
                <a:moveTo>
                  <a:pt x="0" y="115"/>
                </a:moveTo>
                <a:lnTo>
                  <a:pt x="0" y="230"/>
                </a:lnTo>
                <a:lnTo>
                  <a:pt x="204" y="230"/>
                </a:lnTo>
                <a:lnTo>
                  <a:pt x="204" y="345"/>
                </a:lnTo>
                <a:lnTo>
                  <a:pt x="292" y="172"/>
                </a:lnTo>
                <a:lnTo>
                  <a:pt x="204" y="0"/>
                </a:lnTo>
                <a:lnTo>
                  <a:pt x="204" y="115"/>
                </a:lnTo>
                <a:lnTo>
                  <a:pt x="0" y="115"/>
                </a:lnTo>
                <a:close/>
              </a:path>
            </a:pathLst>
          </a:custGeom>
          <a:solidFill>
            <a:srgbClr val="CC0000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"/>
          <p:cNvSpPr/>
          <p:nvPr/>
        </p:nvSpPr>
        <p:spPr>
          <a:xfrm>
            <a:off x="3762360" y="438120"/>
            <a:ext cx="105120" cy="124200"/>
          </a:xfrm>
          <a:custGeom>
            <a:avLst/>
            <a:gdLst/>
            <a:ahLst/>
            <a:rect l="0" t="0" r="r" b="b"/>
            <a:pathLst>
              <a:path w="292" h="345">
                <a:moveTo>
                  <a:pt x="0" y="115"/>
                </a:moveTo>
                <a:lnTo>
                  <a:pt x="0" y="230"/>
                </a:lnTo>
                <a:lnTo>
                  <a:pt x="204" y="230"/>
                </a:lnTo>
                <a:lnTo>
                  <a:pt x="204" y="345"/>
                </a:lnTo>
                <a:lnTo>
                  <a:pt x="292" y="172"/>
                </a:lnTo>
                <a:lnTo>
                  <a:pt x="204" y="0"/>
                </a:lnTo>
                <a:lnTo>
                  <a:pt x="204" y="115"/>
                </a:lnTo>
                <a:lnTo>
                  <a:pt x="0" y="115"/>
                </a:lnTo>
                <a:close/>
              </a:path>
            </a:pathLst>
          </a:custGeom>
          <a:solidFill>
            <a:srgbClr val="CC0000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" name=""/>
          <p:cNvSpPr/>
          <p:nvPr/>
        </p:nvSpPr>
        <p:spPr>
          <a:xfrm>
            <a:off x="1419120" y="379440"/>
            <a:ext cx="1476360" cy="21924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"/>
          <p:cNvSpPr txBox="1"/>
          <p:nvPr/>
        </p:nvSpPr>
        <p:spPr>
          <a:xfrm>
            <a:off x="1333440" y="204840"/>
            <a:ext cx="460440" cy="214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TFRec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"/>
          <p:cNvSpPr/>
          <p:nvPr/>
        </p:nvSpPr>
        <p:spPr>
          <a:xfrm>
            <a:off x="1422360" y="789120"/>
            <a:ext cx="1473120" cy="21924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"/>
          <p:cNvSpPr txBox="1"/>
          <p:nvPr/>
        </p:nvSpPr>
        <p:spPr>
          <a:xfrm>
            <a:off x="1336680" y="623880"/>
            <a:ext cx="488880" cy="214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MFRec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"/>
          <p:cNvSpPr/>
          <p:nvPr/>
        </p:nvSpPr>
        <p:spPr>
          <a:xfrm>
            <a:off x="1422360" y="1208160"/>
            <a:ext cx="1473120" cy="21924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"/>
          <p:cNvSpPr txBox="1"/>
          <p:nvPr/>
        </p:nvSpPr>
        <p:spPr>
          <a:xfrm>
            <a:off x="1336680" y="1042920"/>
            <a:ext cx="471600" cy="214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NFRec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"/>
          <p:cNvSpPr txBox="1"/>
          <p:nvPr/>
        </p:nvSpPr>
        <p:spPr>
          <a:xfrm>
            <a:off x="1258920" y="76320"/>
            <a:ext cx="2379600" cy="36000000"/>
          </a:xfrm>
          <a:prstGeom prst="rect">
            <a:avLst/>
          </a:prstGeom>
          <a:solidFill>
            <a:srgbClr val="EEFFEE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B2B2B2"/>
            </a:outerShdw>
          </a:effectLst>
        </p:spPr>
        <p:txBody>
          <a:bodyPr lIns="0" tIns="0" rIns="0" bIns="0" anchor="t">
            <a:spAutoFit/>
          </a:bodyPr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FILE SECTION.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PROCEDURE DIVISION.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OPEN INPUT TF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OPEN INPUT MF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OPEN OUTPUT NF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r>
              <a:rPr lang="en-US" sz="10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READ TF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r>
              <a:rPr lang="en-US" sz="10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 AT END SET EndTF TO TRUE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r>
              <a:rPr lang="en-US" sz="10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END-READ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r>
              <a:rPr lang="en-US" sz="10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READ MF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r>
              <a:rPr lang="en-US" sz="10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 AT END SET EndMF TO TRUE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r>
              <a:rPr lang="en-US" sz="10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END-READ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PERFORM UNTIL EndTF AND EndMF 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etc</a:t>
            </a: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"/>
          <p:cNvSpPr txBox="1"/>
          <p:nvPr/>
        </p:nvSpPr>
        <p:spPr>
          <a:xfrm>
            <a:off x="114480" y="380880"/>
            <a:ext cx="779400" cy="3056004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B2B2B2"/>
            </a:outerShdw>
          </a:effectLst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RecordB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RecordH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RecordK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"/>
          <p:cNvSpPr txBox="1"/>
          <p:nvPr/>
        </p:nvSpPr>
        <p:spPr>
          <a:xfrm>
            <a:off x="114480" y="212760"/>
            <a:ext cx="912960" cy="168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Trans File (TF)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"/>
          <p:cNvSpPr txBox="1"/>
          <p:nvPr/>
        </p:nvSpPr>
        <p:spPr>
          <a:xfrm>
            <a:off x="114480" y="2384280"/>
            <a:ext cx="779400" cy="360000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B2B2B2"/>
            </a:outerShdw>
          </a:effectLst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RecordA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RecordB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RecordG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RecordH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RecordK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RecordM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RecordN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"/>
          <p:cNvSpPr txBox="1"/>
          <p:nvPr/>
        </p:nvSpPr>
        <p:spPr>
          <a:xfrm>
            <a:off x="114480" y="2205000"/>
            <a:ext cx="1012680" cy="193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Master File (MF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"/>
          <p:cNvSpPr/>
          <p:nvPr/>
        </p:nvSpPr>
        <p:spPr>
          <a:xfrm>
            <a:off x="9360" y="2628720"/>
            <a:ext cx="105120" cy="124200"/>
          </a:xfrm>
          <a:custGeom>
            <a:avLst/>
            <a:gdLst/>
            <a:ahLst/>
            <a:rect l="0" t="0" r="r" b="b"/>
            <a:pathLst>
              <a:path w="292" h="345">
                <a:moveTo>
                  <a:pt x="0" y="115"/>
                </a:moveTo>
                <a:lnTo>
                  <a:pt x="0" y="230"/>
                </a:lnTo>
                <a:lnTo>
                  <a:pt x="204" y="230"/>
                </a:lnTo>
                <a:lnTo>
                  <a:pt x="204" y="345"/>
                </a:lnTo>
                <a:lnTo>
                  <a:pt x="292" y="172"/>
                </a:lnTo>
                <a:lnTo>
                  <a:pt x="204" y="0"/>
                </a:lnTo>
                <a:lnTo>
                  <a:pt x="204" y="115"/>
                </a:lnTo>
                <a:lnTo>
                  <a:pt x="0" y="115"/>
                </a:lnTo>
                <a:close/>
              </a:path>
            </a:pathLst>
          </a:custGeom>
          <a:solidFill>
            <a:srgbClr val="CC0000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" name=""/>
          <p:cNvSpPr/>
          <p:nvPr/>
        </p:nvSpPr>
        <p:spPr>
          <a:xfrm>
            <a:off x="9360" y="628560"/>
            <a:ext cx="105120" cy="124200"/>
          </a:xfrm>
          <a:custGeom>
            <a:avLst/>
            <a:gdLst/>
            <a:ahLst/>
            <a:rect l="0" t="0" r="r" b="b"/>
            <a:pathLst>
              <a:path w="292" h="345">
                <a:moveTo>
                  <a:pt x="0" y="115"/>
                </a:moveTo>
                <a:lnTo>
                  <a:pt x="0" y="230"/>
                </a:lnTo>
                <a:lnTo>
                  <a:pt x="204" y="230"/>
                </a:lnTo>
                <a:lnTo>
                  <a:pt x="204" y="345"/>
                </a:lnTo>
                <a:lnTo>
                  <a:pt x="292" y="172"/>
                </a:lnTo>
                <a:lnTo>
                  <a:pt x="204" y="0"/>
                </a:lnTo>
                <a:lnTo>
                  <a:pt x="204" y="115"/>
                </a:lnTo>
                <a:lnTo>
                  <a:pt x="0" y="115"/>
                </a:lnTo>
                <a:close/>
              </a:path>
            </a:pathLst>
          </a:custGeom>
          <a:solidFill>
            <a:srgbClr val="CC0000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" name=""/>
          <p:cNvSpPr txBox="1"/>
          <p:nvPr/>
        </p:nvSpPr>
        <p:spPr>
          <a:xfrm>
            <a:off x="1419120" y="379440"/>
            <a:ext cx="1476360" cy="21924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RecordB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"/>
          <p:cNvSpPr txBox="1"/>
          <p:nvPr/>
        </p:nvSpPr>
        <p:spPr>
          <a:xfrm>
            <a:off x="1333440" y="204840"/>
            <a:ext cx="460440" cy="214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TFRec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"/>
          <p:cNvSpPr txBox="1"/>
          <p:nvPr/>
        </p:nvSpPr>
        <p:spPr>
          <a:xfrm>
            <a:off x="1422360" y="789120"/>
            <a:ext cx="1473120" cy="21924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RecordA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"/>
          <p:cNvSpPr txBox="1"/>
          <p:nvPr/>
        </p:nvSpPr>
        <p:spPr>
          <a:xfrm>
            <a:off x="1336680" y="623880"/>
            <a:ext cx="488880" cy="214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MFRec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"/>
          <p:cNvSpPr/>
          <p:nvPr/>
        </p:nvSpPr>
        <p:spPr>
          <a:xfrm>
            <a:off x="1422360" y="1208160"/>
            <a:ext cx="1473120" cy="21924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"/>
          <p:cNvSpPr txBox="1"/>
          <p:nvPr/>
        </p:nvSpPr>
        <p:spPr>
          <a:xfrm>
            <a:off x="1336680" y="1042920"/>
            <a:ext cx="471600" cy="214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NFRec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"/>
          <p:cNvSpPr/>
          <p:nvPr/>
        </p:nvSpPr>
        <p:spPr>
          <a:xfrm>
            <a:off x="866880" y="514440"/>
            <a:ext cx="533160" cy="0"/>
          </a:xfrm>
          <a:prstGeom prst="line">
            <a:avLst/>
          </a:prstGeom>
          <a:ln w="12600">
            <a:solidFill>
              <a:srgbClr val="CC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-51120" rIns="96120" bIns="-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"/>
          <p:cNvSpPr/>
          <p:nvPr/>
        </p:nvSpPr>
        <p:spPr>
          <a:xfrm>
            <a:off x="523800" y="914400"/>
            <a:ext cx="914760" cy="1524240"/>
          </a:xfrm>
          <a:custGeom>
            <a:avLst/>
            <a:gdLst/>
            <a:ahLst/>
            <a:rect l="0" t="0" r="r" b="b"/>
            <a:pathLst>
              <a:path fill="none" w="2541" h="4234">
                <a:moveTo>
                  <a:pt x="2541" y="0"/>
                </a:moveTo>
                <a:lnTo>
                  <a:pt x="2541" y="0"/>
                </a:lnTo>
                <a:cubicBezTo>
                  <a:pt x="2095" y="0"/>
                  <a:pt x="1657" y="196"/>
                  <a:pt x="1270" y="567"/>
                </a:cubicBezTo>
                <a:cubicBezTo>
                  <a:pt x="884" y="939"/>
                  <a:pt x="563" y="1473"/>
                  <a:pt x="340" y="2117"/>
                </a:cubicBezTo>
                <a:cubicBezTo>
                  <a:pt x="117" y="2761"/>
                  <a:pt x="0" y="3491"/>
                  <a:pt x="0" y="4234"/>
                </a:cubicBezTo>
              </a:path>
            </a:pathLst>
          </a:custGeom>
          <a:ln w="12600">
            <a:solidFill>
              <a:srgbClr val="CC0000"/>
            </a:solidFill>
            <a:round/>
            <a:headEnd len="med" type="triangle" w="med"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"/>
          <p:cNvSpPr txBox="1"/>
          <p:nvPr/>
        </p:nvSpPr>
        <p:spPr>
          <a:xfrm>
            <a:off x="3771720" y="380880"/>
            <a:ext cx="871560" cy="33732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B2B2B2"/>
            </a:outerShdw>
          </a:effectLst>
        </p:spPr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"/>
          <p:cNvSpPr txBox="1"/>
          <p:nvPr/>
        </p:nvSpPr>
        <p:spPr>
          <a:xfrm>
            <a:off x="3868560" y="187200"/>
            <a:ext cx="816120" cy="193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NewFile (NF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"/>
          <p:cNvSpPr/>
          <p:nvPr/>
        </p:nvSpPr>
        <p:spPr>
          <a:xfrm>
            <a:off x="3686040" y="438120"/>
            <a:ext cx="105120" cy="124200"/>
          </a:xfrm>
          <a:custGeom>
            <a:avLst/>
            <a:gdLst/>
            <a:ahLst/>
            <a:rect l="0" t="0" r="r" b="b"/>
            <a:pathLst>
              <a:path w="292" h="345">
                <a:moveTo>
                  <a:pt x="0" y="115"/>
                </a:moveTo>
                <a:lnTo>
                  <a:pt x="0" y="230"/>
                </a:lnTo>
                <a:lnTo>
                  <a:pt x="204" y="230"/>
                </a:lnTo>
                <a:lnTo>
                  <a:pt x="204" y="345"/>
                </a:lnTo>
                <a:lnTo>
                  <a:pt x="292" y="172"/>
                </a:lnTo>
                <a:lnTo>
                  <a:pt x="204" y="0"/>
                </a:lnTo>
                <a:lnTo>
                  <a:pt x="204" y="115"/>
                </a:lnTo>
                <a:lnTo>
                  <a:pt x="0" y="115"/>
                </a:lnTo>
                <a:close/>
              </a:path>
            </a:pathLst>
          </a:custGeom>
          <a:solidFill>
            <a:srgbClr val="CC0000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"/>
          <p:cNvSpPr txBox="1"/>
          <p:nvPr/>
        </p:nvSpPr>
        <p:spPr>
          <a:xfrm>
            <a:off x="1258920" y="85680"/>
            <a:ext cx="2379600" cy="36000000"/>
          </a:xfrm>
          <a:prstGeom prst="rect">
            <a:avLst/>
          </a:prstGeom>
          <a:solidFill>
            <a:srgbClr val="EEFFEE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B2B2B2"/>
            </a:outerShdw>
          </a:effectLst>
        </p:spPr>
        <p:txBody>
          <a:bodyPr lIns="0" tIns="0" rIns="0" bIns="0" anchor="t">
            <a:spAutoFit/>
          </a:bodyPr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FILE SECTION.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PROCEDURE DIVISION.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etc.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PERFORM UNTIL EndTF AND EndMF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9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IF TFKey = OFKey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90000"/>
              </a:lnSpc>
            </a:pPr>
            <a:r>
              <a:rPr lang="en-US" sz="1000" b="1" i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Update MFRec with TFRec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9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MOVE MFRec+ TO NFRec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9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WRITE NFRec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9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READ TF 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etc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9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READ MF 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etc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90000"/>
              </a:lnSpc>
            </a:pPr>
            <a:r>
              <a:rPr lang="en-US" sz="10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  ELSE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90000"/>
              </a:lnSpc>
            </a:pPr>
            <a:r>
              <a:rPr lang="en-US" sz="10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    MOVE MFRec TO NFRec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90000"/>
              </a:lnSpc>
            </a:pPr>
            <a:r>
              <a:rPr lang="en-US" sz="10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    WRITE NFRec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9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READ MF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9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END-IF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END-PERFORM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"/>
          <p:cNvSpPr txBox="1"/>
          <p:nvPr/>
        </p:nvSpPr>
        <p:spPr>
          <a:xfrm>
            <a:off x="114480" y="380880"/>
            <a:ext cx="779400" cy="3056004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B2B2B2"/>
            </a:outerShdw>
          </a:effectLst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RecordB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RecordH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RecordK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114480" y="212760"/>
            <a:ext cx="912960" cy="168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Trans File (TF)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"/>
          <p:cNvSpPr txBox="1"/>
          <p:nvPr/>
        </p:nvSpPr>
        <p:spPr>
          <a:xfrm>
            <a:off x="114480" y="2384280"/>
            <a:ext cx="779400" cy="360000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B2B2B2"/>
            </a:outerShdw>
          </a:effectLst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RecordA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RecordB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RecordG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RecordH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RecordK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RecordM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RecordN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114480" y="2205000"/>
            <a:ext cx="1012680" cy="193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Master File (MF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1419120" y="379440"/>
            <a:ext cx="1476360" cy="21924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RecordB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"/>
          <p:cNvSpPr txBox="1"/>
          <p:nvPr/>
        </p:nvSpPr>
        <p:spPr>
          <a:xfrm>
            <a:off x="1333440" y="204840"/>
            <a:ext cx="460440" cy="214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TFRec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"/>
          <p:cNvSpPr txBox="1"/>
          <p:nvPr/>
        </p:nvSpPr>
        <p:spPr>
          <a:xfrm>
            <a:off x="1422360" y="789120"/>
            <a:ext cx="1473120" cy="21924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RecordA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"/>
          <p:cNvSpPr txBox="1"/>
          <p:nvPr/>
        </p:nvSpPr>
        <p:spPr>
          <a:xfrm>
            <a:off x="1336680" y="623880"/>
            <a:ext cx="488880" cy="214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MFRec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"/>
          <p:cNvSpPr txBox="1"/>
          <p:nvPr/>
        </p:nvSpPr>
        <p:spPr>
          <a:xfrm>
            <a:off x="1422360" y="1208160"/>
            <a:ext cx="1473120" cy="21924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RecordA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"/>
          <p:cNvSpPr txBox="1"/>
          <p:nvPr/>
        </p:nvSpPr>
        <p:spPr>
          <a:xfrm>
            <a:off x="1336680" y="1042920"/>
            <a:ext cx="471600" cy="214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NFRec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"/>
          <p:cNvSpPr/>
          <p:nvPr/>
        </p:nvSpPr>
        <p:spPr>
          <a:xfrm>
            <a:off x="9360" y="2628720"/>
            <a:ext cx="105120" cy="124200"/>
          </a:xfrm>
          <a:custGeom>
            <a:avLst/>
            <a:gdLst/>
            <a:ahLst/>
            <a:rect l="0" t="0" r="r" b="b"/>
            <a:pathLst>
              <a:path w="292" h="345">
                <a:moveTo>
                  <a:pt x="0" y="115"/>
                </a:moveTo>
                <a:lnTo>
                  <a:pt x="0" y="230"/>
                </a:lnTo>
                <a:lnTo>
                  <a:pt x="204" y="230"/>
                </a:lnTo>
                <a:lnTo>
                  <a:pt x="204" y="345"/>
                </a:lnTo>
                <a:lnTo>
                  <a:pt x="292" y="172"/>
                </a:lnTo>
                <a:lnTo>
                  <a:pt x="204" y="0"/>
                </a:lnTo>
                <a:lnTo>
                  <a:pt x="204" y="115"/>
                </a:lnTo>
                <a:lnTo>
                  <a:pt x="0" y="115"/>
                </a:lnTo>
                <a:close/>
              </a:path>
            </a:pathLst>
          </a:custGeom>
          <a:solidFill>
            <a:srgbClr val="CC0000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" name=""/>
          <p:cNvSpPr/>
          <p:nvPr/>
        </p:nvSpPr>
        <p:spPr>
          <a:xfrm>
            <a:off x="9360" y="628560"/>
            <a:ext cx="105120" cy="124200"/>
          </a:xfrm>
          <a:custGeom>
            <a:avLst/>
            <a:gdLst/>
            <a:ahLst/>
            <a:rect l="0" t="0" r="r" b="b"/>
            <a:pathLst>
              <a:path w="292" h="345">
                <a:moveTo>
                  <a:pt x="0" y="115"/>
                </a:moveTo>
                <a:lnTo>
                  <a:pt x="0" y="230"/>
                </a:lnTo>
                <a:lnTo>
                  <a:pt x="204" y="230"/>
                </a:lnTo>
                <a:lnTo>
                  <a:pt x="204" y="345"/>
                </a:lnTo>
                <a:lnTo>
                  <a:pt x="292" y="172"/>
                </a:lnTo>
                <a:lnTo>
                  <a:pt x="204" y="0"/>
                </a:lnTo>
                <a:lnTo>
                  <a:pt x="204" y="115"/>
                </a:lnTo>
                <a:lnTo>
                  <a:pt x="0" y="115"/>
                </a:lnTo>
                <a:close/>
              </a:path>
            </a:pathLst>
          </a:custGeom>
          <a:solidFill>
            <a:srgbClr val="CC0000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" name=""/>
          <p:cNvSpPr/>
          <p:nvPr/>
        </p:nvSpPr>
        <p:spPr>
          <a:xfrm>
            <a:off x="2143080" y="914400"/>
            <a:ext cx="324720" cy="400320"/>
          </a:xfrm>
          <a:custGeom>
            <a:avLst/>
            <a:gdLst/>
            <a:ahLst/>
            <a:rect l="0" t="0" r="r" b="b"/>
            <a:pathLst>
              <a:path fill="none" w="902" h="1112">
                <a:moveTo>
                  <a:pt x="0" y="1112"/>
                </a:moveTo>
                <a:lnTo>
                  <a:pt x="0" y="1112"/>
                </a:lnTo>
                <a:cubicBezTo>
                  <a:pt x="158" y="1112"/>
                  <a:pt x="314" y="1086"/>
                  <a:pt x="451" y="1038"/>
                </a:cubicBezTo>
                <a:cubicBezTo>
                  <a:pt x="588" y="989"/>
                  <a:pt x="702" y="919"/>
                  <a:pt x="781" y="834"/>
                </a:cubicBezTo>
                <a:cubicBezTo>
                  <a:pt x="860" y="749"/>
                  <a:pt x="902" y="654"/>
                  <a:pt x="902" y="556"/>
                </a:cubicBezTo>
                <a:cubicBezTo>
                  <a:pt x="902" y="458"/>
                  <a:pt x="860" y="363"/>
                  <a:pt x="781" y="278"/>
                </a:cubicBezTo>
                <a:cubicBezTo>
                  <a:pt x="702" y="193"/>
                  <a:pt x="588" y="123"/>
                  <a:pt x="451" y="74"/>
                </a:cubicBezTo>
                <a:cubicBezTo>
                  <a:pt x="314" y="26"/>
                  <a:pt x="158" y="0"/>
                  <a:pt x="0" y="0"/>
                </a:cubicBezTo>
              </a:path>
            </a:pathLst>
          </a:custGeom>
          <a:ln w="12600">
            <a:solidFill>
              <a:srgbClr val="CC0000"/>
            </a:solidFill>
            <a:round/>
            <a:tailEnd len="med" type="triangle" w="med"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3771720" y="380880"/>
            <a:ext cx="871560" cy="47628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B2B2B2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RecordA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"/>
          <p:cNvSpPr txBox="1"/>
          <p:nvPr/>
        </p:nvSpPr>
        <p:spPr>
          <a:xfrm>
            <a:off x="3868560" y="187200"/>
            <a:ext cx="816120" cy="193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NewFile (NF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"/>
          <p:cNvSpPr/>
          <p:nvPr/>
        </p:nvSpPr>
        <p:spPr>
          <a:xfrm>
            <a:off x="3686040" y="666720"/>
            <a:ext cx="105120" cy="124200"/>
          </a:xfrm>
          <a:custGeom>
            <a:avLst/>
            <a:gdLst/>
            <a:ahLst/>
            <a:rect l="0" t="0" r="r" b="b"/>
            <a:pathLst>
              <a:path w="292" h="345">
                <a:moveTo>
                  <a:pt x="0" y="115"/>
                </a:moveTo>
                <a:lnTo>
                  <a:pt x="0" y="230"/>
                </a:lnTo>
                <a:lnTo>
                  <a:pt x="204" y="230"/>
                </a:lnTo>
                <a:lnTo>
                  <a:pt x="204" y="345"/>
                </a:lnTo>
                <a:lnTo>
                  <a:pt x="292" y="172"/>
                </a:lnTo>
                <a:lnTo>
                  <a:pt x="204" y="0"/>
                </a:lnTo>
                <a:lnTo>
                  <a:pt x="204" y="115"/>
                </a:lnTo>
                <a:lnTo>
                  <a:pt x="0" y="115"/>
                </a:lnTo>
                <a:close/>
              </a:path>
            </a:pathLst>
          </a:custGeom>
          <a:solidFill>
            <a:srgbClr val="CC0000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" name=""/>
          <p:cNvSpPr/>
          <p:nvPr/>
        </p:nvSpPr>
        <p:spPr>
          <a:xfrm>
            <a:off x="2144160" y="628560"/>
            <a:ext cx="2113920" cy="857520"/>
          </a:xfrm>
          <a:custGeom>
            <a:avLst/>
            <a:gdLst/>
            <a:ahLst/>
            <a:rect l="0" t="0" r="r" b="b"/>
            <a:pathLst>
              <a:path fill="none" w="5872" h="2382">
                <a:moveTo>
                  <a:pt x="0" y="2079"/>
                </a:moveTo>
                <a:lnTo>
                  <a:pt x="0" y="2079"/>
                </a:lnTo>
                <a:cubicBezTo>
                  <a:pt x="588" y="2277"/>
                  <a:pt x="1251" y="2382"/>
                  <a:pt x="1925" y="2382"/>
                </a:cubicBezTo>
                <a:cubicBezTo>
                  <a:pt x="2618" y="2382"/>
                  <a:pt x="3299" y="2271"/>
                  <a:pt x="3899" y="2062"/>
                </a:cubicBezTo>
                <a:cubicBezTo>
                  <a:pt x="4499" y="1853"/>
                  <a:pt x="4997" y="1553"/>
                  <a:pt x="5343" y="1191"/>
                </a:cubicBezTo>
                <a:cubicBezTo>
                  <a:pt x="5690" y="829"/>
                  <a:pt x="5872" y="418"/>
                  <a:pt x="5872" y="0"/>
                </a:cubicBezTo>
              </a:path>
            </a:pathLst>
          </a:custGeom>
          <a:ln w="12600">
            <a:solidFill>
              <a:srgbClr val="CC0000"/>
            </a:solidFill>
            <a:round/>
            <a:tailEnd len="med" type="triangle" w="med"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"/>
          <p:cNvSpPr txBox="1"/>
          <p:nvPr/>
        </p:nvSpPr>
        <p:spPr>
          <a:xfrm>
            <a:off x="1258920" y="85680"/>
            <a:ext cx="2379600" cy="36000000"/>
          </a:xfrm>
          <a:prstGeom prst="rect">
            <a:avLst/>
          </a:prstGeom>
          <a:solidFill>
            <a:srgbClr val="EEFFEE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B2B2B2"/>
            </a:outerShdw>
          </a:effectLst>
        </p:spPr>
        <p:txBody>
          <a:bodyPr lIns="0" tIns="0" rIns="0" bIns="0" anchor="t">
            <a:spAutoFit/>
          </a:bodyPr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FILE SECTION.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PROCEDURE DIVISION.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etc.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PERFORM UNTIL EndTF AND EndMF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9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IF TFKey = OFKey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90000"/>
              </a:lnSpc>
            </a:pPr>
            <a:r>
              <a:rPr lang="en-US" sz="1000" b="1" i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Update MFRec with TFRec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9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MOVE MFRec+ TO NFRec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9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WRITE NFRec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9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READ TF 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etc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9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READ MF 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etc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9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ELSE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9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MOVE MFRec TO NFRec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9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WRITE NFRec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90000"/>
              </a:lnSpc>
            </a:pPr>
            <a:r>
              <a:rPr lang="en-US" sz="10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    READ MF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9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END-IF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END-PERFORM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114480" y="380880"/>
            <a:ext cx="779400" cy="3056004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B2B2B2"/>
            </a:outerShdw>
          </a:effectLst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RecordB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RecordH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RecordK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114480" y="212760"/>
            <a:ext cx="912960" cy="168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Trans File (TF)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"/>
          <p:cNvSpPr txBox="1"/>
          <p:nvPr/>
        </p:nvSpPr>
        <p:spPr>
          <a:xfrm>
            <a:off x="114480" y="2384280"/>
            <a:ext cx="779400" cy="360000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B2B2B2"/>
            </a:outerShdw>
          </a:effectLst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RecordA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RecordB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RecordG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RecordH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RecordK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RecordM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RecordN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"/>
          <p:cNvSpPr txBox="1"/>
          <p:nvPr/>
        </p:nvSpPr>
        <p:spPr>
          <a:xfrm>
            <a:off x="114480" y="2205000"/>
            <a:ext cx="1012680" cy="193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Master File (MF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"/>
          <p:cNvSpPr txBox="1"/>
          <p:nvPr/>
        </p:nvSpPr>
        <p:spPr>
          <a:xfrm>
            <a:off x="1419120" y="379440"/>
            <a:ext cx="1476360" cy="21924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RecordB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"/>
          <p:cNvSpPr txBox="1"/>
          <p:nvPr/>
        </p:nvSpPr>
        <p:spPr>
          <a:xfrm>
            <a:off x="1333440" y="204840"/>
            <a:ext cx="460440" cy="214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TFRec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"/>
          <p:cNvSpPr txBox="1"/>
          <p:nvPr/>
        </p:nvSpPr>
        <p:spPr>
          <a:xfrm>
            <a:off x="1422360" y="789120"/>
            <a:ext cx="1473120" cy="21924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RecordB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"/>
          <p:cNvSpPr txBox="1"/>
          <p:nvPr/>
        </p:nvSpPr>
        <p:spPr>
          <a:xfrm>
            <a:off x="1336680" y="623880"/>
            <a:ext cx="488880" cy="214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MFRec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"/>
          <p:cNvSpPr txBox="1"/>
          <p:nvPr/>
        </p:nvSpPr>
        <p:spPr>
          <a:xfrm>
            <a:off x="1422360" y="1208160"/>
            <a:ext cx="1473120" cy="21924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RecordA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"/>
          <p:cNvSpPr txBox="1"/>
          <p:nvPr/>
        </p:nvSpPr>
        <p:spPr>
          <a:xfrm>
            <a:off x="1336680" y="1042920"/>
            <a:ext cx="471600" cy="214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NFRec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"/>
          <p:cNvSpPr/>
          <p:nvPr/>
        </p:nvSpPr>
        <p:spPr>
          <a:xfrm>
            <a:off x="9360" y="2800440"/>
            <a:ext cx="105120" cy="124200"/>
          </a:xfrm>
          <a:custGeom>
            <a:avLst/>
            <a:gdLst/>
            <a:ahLst/>
            <a:rect l="0" t="0" r="r" b="b"/>
            <a:pathLst>
              <a:path w="292" h="345">
                <a:moveTo>
                  <a:pt x="0" y="115"/>
                </a:moveTo>
                <a:lnTo>
                  <a:pt x="0" y="230"/>
                </a:lnTo>
                <a:lnTo>
                  <a:pt x="204" y="230"/>
                </a:lnTo>
                <a:lnTo>
                  <a:pt x="204" y="345"/>
                </a:lnTo>
                <a:lnTo>
                  <a:pt x="292" y="172"/>
                </a:lnTo>
                <a:lnTo>
                  <a:pt x="204" y="0"/>
                </a:lnTo>
                <a:lnTo>
                  <a:pt x="204" y="115"/>
                </a:lnTo>
                <a:lnTo>
                  <a:pt x="0" y="115"/>
                </a:lnTo>
                <a:close/>
              </a:path>
            </a:pathLst>
          </a:custGeom>
          <a:solidFill>
            <a:srgbClr val="CC0000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" name=""/>
          <p:cNvSpPr/>
          <p:nvPr/>
        </p:nvSpPr>
        <p:spPr>
          <a:xfrm>
            <a:off x="9360" y="628560"/>
            <a:ext cx="105120" cy="124200"/>
          </a:xfrm>
          <a:custGeom>
            <a:avLst/>
            <a:gdLst/>
            <a:ahLst/>
            <a:rect l="0" t="0" r="r" b="b"/>
            <a:pathLst>
              <a:path w="292" h="345">
                <a:moveTo>
                  <a:pt x="0" y="115"/>
                </a:moveTo>
                <a:lnTo>
                  <a:pt x="0" y="230"/>
                </a:lnTo>
                <a:lnTo>
                  <a:pt x="204" y="230"/>
                </a:lnTo>
                <a:lnTo>
                  <a:pt x="204" y="345"/>
                </a:lnTo>
                <a:lnTo>
                  <a:pt x="292" y="172"/>
                </a:lnTo>
                <a:lnTo>
                  <a:pt x="204" y="0"/>
                </a:lnTo>
                <a:lnTo>
                  <a:pt x="204" y="115"/>
                </a:lnTo>
                <a:lnTo>
                  <a:pt x="0" y="115"/>
                </a:lnTo>
                <a:close/>
              </a:path>
            </a:pathLst>
          </a:custGeom>
          <a:solidFill>
            <a:srgbClr val="CC0000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" name=""/>
          <p:cNvSpPr/>
          <p:nvPr/>
        </p:nvSpPr>
        <p:spPr>
          <a:xfrm>
            <a:off x="485640" y="914400"/>
            <a:ext cx="952920" cy="1695960"/>
          </a:xfrm>
          <a:custGeom>
            <a:avLst/>
            <a:gdLst/>
            <a:ahLst/>
            <a:rect l="0" t="0" r="r" b="b"/>
            <a:pathLst>
              <a:path fill="none" w="2647" h="4711">
                <a:moveTo>
                  <a:pt x="2647" y="0"/>
                </a:moveTo>
                <a:lnTo>
                  <a:pt x="2647" y="0"/>
                </a:lnTo>
                <a:cubicBezTo>
                  <a:pt x="2182" y="0"/>
                  <a:pt x="1726" y="218"/>
                  <a:pt x="1323" y="631"/>
                </a:cubicBezTo>
                <a:cubicBezTo>
                  <a:pt x="921" y="1045"/>
                  <a:pt x="587" y="1639"/>
                  <a:pt x="355" y="2356"/>
                </a:cubicBezTo>
                <a:cubicBezTo>
                  <a:pt x="122" y="3072"/>
                  <a:pt x="0" y="3884"/>
                  <a:pt x="0" y="4711"/>
                </a:cubicBezTo>
              </a:path>
            </a:pathLst>
          </a:custGeom>
          <a:ln w="12600">
            <a:solidFill>
              <a:srgbClr val="CC0000"/>
            </a:solidFill>
            <a:round/>
            <a:headEnd len="med" type="triangle" w="med"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"/>
          <p:cNvSpPr txBox="1"/>
          <p:nvPr/>
        </p:nvSpPr>
        <p:spPr>
          <a:xfrm>
            <a:off x="3771720" y="380880"/>
            <a:ext cx="871560" cy="47628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B2B2B2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RecordA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"/>
          <p:cNvSpPr txBox="1"/>
          <p:nvPr/>
        </p:nvSpPr>
        <p:spPr>
          <a:xfrm>
            <a:off x="3868560" y="187200"/>
            <a:ext cx="816120" cy="193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NewFile (NF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"/>
          <p:cNvSpPr/>
          <p:nvPr/>
        </p:nvSpPr>
        <p:spPr>
          <a:xfrm>
            <a:off x="3686040" y="666720"/>
            <a:ext cx="105120" cy="124200"/>
          </a:xfrm>
          <a:custGeom>
            <a:avLst/>
            <a:gdLst/>
            <a:ahLst/>
            <a:rect l="0" t="0" r="r" b="b"/>
            <a:pathLst>
              <a:path w="292" h="345">
                <a:moveTo>
                  <a:pt x="0" y="115"/>
                </a:moveTo>
                <a:lnTo>
                  <a:pt x="0" y="230"/>
                </a:lnTo>
                <a:lnTo>
                  <a:pt x="204" y="230"/>
                </a:lnTo>
                <a:lnTo>
                  <a:pt x="204" y="345"/>
                </a:lnTo>
                <a:lnTo>
                  <a:pt x="292" y="172"/>
                </a:lnTo>
                <a:lnTo>
                  <a:pt x="204" y="0"/>
                </a:lnTo>
                <a:lnTo>
                  <a:pt x="204" y="115"/>
                </a:lnTo>
                <a:lnTo>
                  <a:pt x="0" y="115"/>
                </a:lnTo>
                <a:close/>
              </a:path>
            </a:pathLst>
          </a:custGeom>
          <a:solidFill>
            <a:srgbClr val="CC0000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"/>
          <p:cNvSpPr txBox="1"/>
          <p:nvPr/>
        </p:nvSpPr>
        <p:spPr>
          <a:xfrm>
            <a:off x="1258920" y="85680"/>
            <a:ext cx="2379600" cy="36000000"/>
          </a:xfrm>
          <a:prstGeom prst="rect">
            <a:avLst/>
          </a:prstGeom>
          <a:solidFill>
            <a:srgbClr val="EEFFEE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B2B2B2"/>
            </a:outerShdw>
          </a:effectLst>
        </p:spPr>
        <p:txBody>
          <a:bodyPr lIns="0" tIns="0" rIns="0" bIns="0" anchor="t">
            <a:spAutoFit/>
          </a:bodyPr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FILE SECTION.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PROCEDURE DIVISION.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etc.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PERFORM UNTIL EndTF AND EndMF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90000"/>
              </a:lnSpc>
            </a:pPr>
            <a:r>
              <a:rPr lang="en-US" sz="10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 IF TFKey = OFKey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90000"/>
              </a:lnSpc>
            </a:pPr>
            <a:r>
              <a:rPr lang="en-US" sz="1000" b="1" i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    Update MFRec with TFRec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90000"/>
              </a:lnSpc>
            </a:pPr>
            <a:r>
              <a:rPr lang="en-US" sz="10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    MOVE MFRec+ TO NFRec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90000"/>
              </a:lnSpc>
            </a:pPr>
            <a:r>
              <a:rPr lang="en-US" sz="10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    WRITE NFRec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9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READ TF 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etc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9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READ MF 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etc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9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ELSE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9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MOVE MFRec TO NFRec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9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WRITE NFRec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9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READ MF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9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END-IF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END-PERFORM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"/>
          <p:cNvSpPr txBox="1"/>
          <p:nvPr/>
        </p:nvSpPr>
        <p:spPr>
          <a:xfrm>
            <a:off x="114480" y="380880"/>
            <a:ext cx="779400" cy="3056004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B2B2B2"/>
            </a:outerShdw>
          </a:effectLst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RecordB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RecordH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RecordK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114480" y="212760"/>
            <a:ext cx="912960" cy="168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Trans File (TF)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"/>
          <p:cNvSpPr txBox="1"/>
          <p:nvPr/>
        </p:nvSpPr>
        <p:spPr>
          <a:xfrm>
            <a:off x="114480" y="2384280"/>
            <a:ext cx="779400" cy="360000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B2B2B2"/>
            </a:outerShdw>
          </a:effectLst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RecordA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RecordB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RecordG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RecordH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RecordK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RecordM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RecordN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"/>
          <p:cNvSpPr txBox="1"/>
          <p:nvPr/>
        </p:nvSpPr>
        <p:spPr>
          <a:xfrm>
            <a:off x="114480" y="2205000"/>
            <a:ext cx="1012680" cy="193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Master File (MF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"/>
          <p:cNvSpPr txBox="1"/>
          <p:nvPr/>
        </p:nvSpPr>
        <p:spPr>
          <a:xfrm>
            <a:off x="3771720" y="380880"/>
            <a:ext cx="871560" cy="68724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B2B2B2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RecordA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RecordB+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"/>
          <p:cNvSpPr txBox="1"/>
          <p:nvPr/>
        </p:nvSpPr>
        <p:spPr>
          <a:xfrm>
            <a:off x="1419120" y="379440"/>
            <a:ext cx="1476360" cy="21924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RecordB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"/>
          <p:cNvSpPr txBox="1"/>
          <p:nvPr/>
        </p:nvSpPr>
        <p:spPr>
          <a:xfrm>
            <a:off x="1333440" y="204840"/>
            <a:ext cx="460440" cy="214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TFRec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"/>
          <p:cNvSpPr txBox="1"/>
          <p:nvPr/>
        </p:nvSpPr>
        <p:spPr>
          <a:xfrm>
            <a:off x="1422360" y="789120"/>
            <a:ext cx="1473120" cy="21924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RecordB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1336680" y="623880"/>
            <a:ext cx="488880" cy="214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MFRec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"/>
          <p:cNvSpPr txBox="1"/>
          <p:nvPr/>
        </p:nvSpPr>
        <p:spPr>
          <a:xfrm>
            <a:off x="1422360" y="1208160"/>
            <a:ext cx="1473120" cy="21924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RecordB+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"/>
          <p:cNvSpPr txBox="1"/>
          <p:nvPr/>
        </p:nvSpPr>
        <p:spPr>
          <a:xfrm>
            <a:off x="1336680" y="1042920"/>
            <a:ext cx="471600" cy="214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NFRec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"/>
          <p:cNvSpPr txBox="1"/>
          <p:nvPr/>
        </p:nvSpPr>
        <p:spPr>
          <a:xfrm>
            <a:off x="3868560" y="187200"/>
            <a:ext cx="816120" cy="193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NewFile (NF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"/>
          <p:cNvSpPr/>
          <p:nvPr/>
        </p:nvSpPr>
        <p:spPr>
          <a:xfrm>
            <a:off x="9360" y="2800440"/>
            <a:ext cx="105120" cy="124200"/>
          </a:xfrm>
          <a:custGeom>
            <a:avLst/>
            <a:gdLst/>
            <a:ahLst/>
            <a:rect l="0" t="0" r="r" b="b"/>
            <a:pathLst>
              <a:path w="292" h="345">
                <a:moveTo>
                  <a:pt x="0" y="115"/>
                </a:moveTo>
                <a:lnTo>
                  <a:pt x="0" y="230"/>
                </a:lnTo>
                <a:lnTo>
                  <a:pt x="204" y="230"/>
                </a:lnTo>
                <a:lnTo>
                  <a:pt x="204" y="345"/>
                </a:lnTo>
                <a:lnTo>
                  <a:pt x="292" y="172"/>
                </a:lnTo>
                <a:lnTo>
                  <a:pt x="204" y="0"/>
                </a:lnTo>
                <a:lnTo>
                  <a:pt x="204" y="115"/>
                </a:lnTo>
                <a:lnTo>
                  <a:pt x="0" y="115"/>
                </a:lnTo>
                <a:close/>
              </a:path>
            </a:pathLst>
          </a:custGeom>
          <a:solidFill>
            <a:srgbClr val="CC0000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" name=""/>
          <p:cNvSpPr/>
          <p:nvPr/>
        </p:nvSpPr>
        <p:spPr>
          <a:xfrm>
            <a:off x="9360" y="628560"/>
            <a:ext cx="105120" cy="124200"/>
          </a:xfrm>
          <a:custGeom>
            <a:avLst/>
            <a:gdLst/>
            <a:ahLst/>
            <a:rect l="0" t="0" r="r" b="b"/>
            <a:pathLst>
              <a:path w="292" h="345">
                <a:moveTo>
                  <a:pt x="0" y="115"/>
                </a:moveTo>
                <a:lnTo>
                  <a:pt x="0" y="230"/>
                </a:lnTo>
                <a:lnTo>
                  <a:pt x="204" y="230"/>
                </a:lnTo>
                <a:lnTo>
                  <a:pt x="204" y="345"/>
                </a:lnTo>
                <a:lnTo>
                  <a:pt x="292" y="172"/>
                </a:lnTo>
                <a:lnTo>
                  <a:pt x="204" y="0"/>
                </a:lnTo>
                <a:lnTo>
                  <a:pt x="204" y="115"/>
                </a:lnTo>
                <a:lnTo>
                  <a:pt x="0" y="115"/>
                </a:lnTo>
                <a:close/>
              </a:path>
            </a:pathLst>
          </a:custGeom>
          <a:solidFill>
            <a:srgbClr val="CC0000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" name=""/>
          <p:cNvSpPr/>
          <p:nvPr/>
        </p:nvSpPr>
        <p:spPr>
          <a:xfrm>
            <a:off x="3686040" y="876240"/>
            <a:ext cx="105120" cy="124200"/>
          </a:xfrm>
          <a:custGeom>
            <a:avLst/>
            <a:gdLst/>
            <a:ahLst/>
            <a:rect l="0" t="0" r="r" b="b"/>
            <a:pathLst>
              <a:path w="292" h="345">
                <a:moveTo>
                  <a:pt x="0" y="115"/>
                </a:moveTo>
                <a:lnTo>
                  <a:pt x="0" y="230"/>
                </a:lnTo>
                <a:lnTo>
                  <a:pt x="204" y="230"/>
                </a:lnTo>
                <a:lnTo>
                  <a:pt x="204" y="345"/>
                </a:lnTo>
                <a:lnTo>
                  <a:pt x="292" y="172"/>
                </a:lnTo>
                <a:lnTo>
                  <a:pt x="204" y="0"/>
                </a:lnTo>
                <a:lnTo>
                  <a:pt x="204" y="115"/>
                </a:lnTo>
                <a:lnTo>
                  <a:pt x="0" y="115"/>
                </a:lnTo>
                <a:close/>
              </a:path>
            </a:pathLst>
          </a:custGeom>
          <a:solidFill>
            <a:srgbClr val="CC0000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" name=""/>
          <p:cNvSpPr/>
          <p:nvPr/>
        </p:nvSpPr>
        <p:spPr>
          <a:xfrm>
            <a:off x="1371600" y="343080"/>
            <a:ext cx="790560" cy="704880"/>
          </a:xfrm>
          <a:prstGeom prst="rect">
            <a:avLst/>
          </a:prstGeom>
          <a:noFill/>
          <a:ln w="12600">
            <a:solidFill>
              <a:srgbClr val="3333CC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"/>
          <p:cNvSpPr/>
          <p:nvPr/>
        </p:nvSpPr>
        <p:spPr>
          <a:xfrm>
            <a:off x="2171520" y="457200"/>
            <a:ext cx="483840" cy="820080"/>
          </a:xfrm>
          <a:custGeom>
            <a:avLst/>
            <a:gdLst/>
            <a:ahLst/>
            <a:rect l="0" t="0" r="r" b="b"/>
            <a:pathLst>
              <a:path fill="none" w="1344" h="2278">
                <a:moveTo>
                  <a:pt x="96" y="2278"/>
                </a:moveTo>
                <a:lnTo>
                  <a:pt x="96" y="2278"/>
                </a:lnTo>
                <a:cubicBezTo>
                  <a:pt x="303" y="2268"/>
                  <a:pt x="503" y="2216"/>
                  <a:pt x="682" y="2127"/>
                </a:cubicBezTo>
                <a:cubicBezTo>
                  <a:pt x="884" y="2027"/>
                  <a:pt x="1051" y="1883"/>
                  <a:pt x="1167" y="1710"/>
                </a:cubicBezTo>
                <a:cubicBezTo>
                  <a:pt x="1283" y="1537"/>
                  <a:pt x="1344" y="1340"/>
                  <a:pt x="1344" y="1140"/>
                </a:cubicBezTo>
                <a:cubicBezTo>
                  <a:pt x="1344" y="940"/>
                  <a:pt x="1283" y="743"/>
                  <a:pt x="1167" y="570"/>
                </a:cubicBezTo>
                <a:cubicBezTo>
                  <a:pt x="1051" y="397"/>
                  <a:pt x="884" y="253"/>
                  <a:pt x="682" y="153"/>
                </a:cubicBezTo>
                <a:cubicBezTo>
                  <a:pt x="481" y="53"/>
                  <a:pt x="253" y="0"/>
                  <a:pt x="20" y="0"/>
                </a:cubicBezTo>
                <a:cubicBezTo>
                  <a:pt x="14" y="0"/>
                  <a:pt x="7" y="0"/>
                  <a:pt x="0" y="0"/>
                </a:cubicBezTo>
              </a:path>
            </a:pathLst>
          </a:custGeom>
          <a:ln w="12600">
            <a:solidFill>
              <a:srgbClr val="CC0000"/>
            </a:solidFill>
            <a:round/>
            <a:tailEnd len="med" type="triangle" w="med"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"/>
          <p:cNvSpPr/>
          <p:nvPr/>
        </p:nvSpPr>
        <p:spPr>
          <a:xfrm>
            <a:off x="2190600" y="876240"/>
            <a:ext cx="343800" cy="400320"/>
          </a:xfrm>
          <a:custGeom>
            <a:avLst/>
            <a:gdLst/>
            <a:ahLst/>
            <a:rect l="0" t="0" r="r" b="b"/>
            <a:pathLst>
              <a:path fill="none" w="955" h="1112">
                <a:moveTo>
                  <a:pt x="0" y="1112"/>
                </a:moveTo>
                <a:lnTo>
                  <a:pt x="0" y="1112"/>
                </a:lnTo>
                <a:cubicBezTo>
                  <a:pt x="168" y="1112"/>
                  <a:pt x="332" y="1086"/>
                  <a:pt x="477" y="1038"/>
                </a:cubicBezTo>
                <a:cubicBezTo>
                  <a:pt x="623" y="989"/>
                  <a:pt x="743" y="919"/>
                  <a:pt x="827" y="834"/>
                </a:cubicBezTo>
                <a:cubicBezTo>
                  <a:pt x="911" y="749"/>
                  <a:pt x="955" y="654"/>
                  <a:pt x="955" y="556"/>
                </a:cubicBezTo>
                <a:cubicBezTo>
                  <a:pt x="955" y="458"/>
                  <a:pt x="911" y="363"/>
                  <a:pt x="827" y="278"/>
                </a:cubicBezTo>
                <a:cubicBezTo>
                  <a:pt x="743" y="193"/>
                  <a:pt x="623" y="123"/>
                  <a:pt x="477" y="74"/>
                </a:cubicBezTo>
                <a:cubicBezTo>
                  <a:pt x="332" y="26"/>
                  <a:pt x="168" y="0"/>
                  <a:pt x="0" y="0"/>
                </a:cubicBezTo>
              </a:path>
            </a:pathLst>
          </a:custGeom>
          <a:ln w="12600">
            <a:solidFill>
              <a:srgbClr val="CC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"/>
          <p:cNvSpPr/>
          <p:nvPr/>
        </p:nvSpPr>
        <p:spPr>
          <a:xfrm>
            <a:off x="2228760" y="781200"/>
            <a:ext cx="2077200" cy="533520"/>
          </a:xfrm>
          <a:custGeom>
            <a:avLst/>
            <a:gdLst/>
            <a:ahLst/>
            <a:rect l="0" t="0" r="r" b="b"/>
            <a:pathLst>
              <a:path fill="none" w="5770" h="1482">
                <a:moveTo>
                  <a:pt x="0" y="1482"/>
                </a:moveTo>
                <a:lnTo>
                  <a:pt x="0" y="1482"/>
                </a:lnTo>
                <a:lnTo>
                  <a:pt x="1" y="1482"/>
                </a:lnTo>
                <a:cubicBezTo>
                  <a:pt x="1014" y="1482"/>
                  <a:pt x="2008" y="1419"/>
                  <a:pt x="2885" y="1299"/>
                </a:cubicBezTo>
                <a:cubicBezTo>
                  <a:pt x="3762" y="1179"/>
                  <a:pt x="4491" y="1007"/>
                  <a:pt x="4997" y="799"/>
                </a:cubicBezTo>
                <a:cubicBezTo>
                  <a:pt x="5503" y="591"/>
                  <a:pt x="5770" y="356"/>
                  <a:pt x="5770" y="116"/>
                </a:cubicBezTo>
                <a:cubicBezTo>
                  <a:pt x="5770" y="77"/>
                  <a:pt x="5763" y="39"/>
                  <a:pt x="5749" y="0"/>
                </a:cubicBezTo>
              </a:path>
            </a:pathLst>
          </a:custGeom>
          <a:ln w="12600">
            <a:solidFill>
              <a:srgbClr val="CC0000"/>
            </a:solidFill>
            <a:round/>
            <a:tailEnd len="med" type="triangle" w="med"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"/>
          <p:cNvSpPr txBox="1"/>
          <p:nvPr/>
        </p:nvSpPr>
        <p:spPr>
          <a:xfrm>
            <a:off x="1258920" y="85680"/>
            <a:ext cx="2379600" cy="36000000"/>
          </a:xfrm>
          <a:prstGeom prst="rect">
            <a:avLst/>
          </a:prstGeom>
          <a:solidFill>
            <a:srgbClr val="EEFFEE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B2B2B2"/>
            </a:outerShdw>
          </a:effectLst>
        </p:spPr>
        <p:txBody>
          <a:bodyPr lIns="0" tIns="0" rIns="0" bIns="0" anchor="t">
            <a:spAutoFit/>
          </a:bodyPr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FILE SECTION.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PROCEDURE DIVISION.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etc.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PERFORM UNTIL EndTF AND EndMF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9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IF TFKey = OFKey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90000"/>
              </a:lnSpc>
            </a:pPr>
            <a:r>
              <a:rPr lang="en-US" sz="1000" b="1" i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Update MFRec with TFRec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9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MOVE MFRec+ TO NFRec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9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WRITE NFRec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90000"/>
              </a:lnSpc>
            </a:pPr>
            <a:r>
              <a:rPr lang="en-US" sz="10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    READ TF </a:t>
            </a:r>
            <a:r>
              <a:rPr lang="en-US" sz="1000" b="0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etc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90000"/>
              </a:lnSpc>
            </a:pPr>
            <a:r>
              <a:rPr lang="en-US" sz="10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    READ MF </a:t>
            </a:r>
            <a:r>
              <a:rPr lang="en-US" sz="1000" b="0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etc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9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ELSE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9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MOVE MFRec TO NFRec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9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WRITE NFRec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9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READ MF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9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END-IF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END-PERFORM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"/>
          <p:cNvSpPr txBox="1"/>
          <p:nvPr/>
        </p:nvSpPr>
        <p:spPr>
          <a:xfrm>
            <a:off x="114480" y="380880"/>
            <a:ext cx="779400" cy="3056004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B2B2B2"/>
            </a:outerShdw>
          </a:effectLst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RecordB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RecordH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RecordK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"/>
          <p:cNvSpPr txBox="1"/>
          <p:nvPr/>
        </p:nvSpPr>
        <p:spPr>
          <a:xfrm>
            <a:off x="114480" y="212760"/>
            <a:ext cx="912960" cy="168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Trans File (TF)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"/>
          <p:cNvSpPr txBox="1"/>
          <p:nvPr/>
        </p:nvSpPr>
        <p:spPr>
          <a:xfrm>
            <a:off x="114480" y="2384280"/>
            <a:ext cx="779400" cy="360000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B2B2B2"/>
            </a:outerShdw>
          </a:effectLst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RecordA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RecordB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RecordG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RecordH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RecordK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RecordM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RecordN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"/>
          <p:cNvSpPr txBox="1"/>
          <p:nvPr/>
        </p:nvSpPr>
        <p:spPr>
          <a:xfrm>
            <a:off x="114480" y="2205000"/>
            <a:ext cx="1012680" cy="193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Master File (MF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"/>
          <p:cNvSpPr txBox="1"/>
          <p:nvPr/>
        </p:nvSpPr>
        <p:spPr>
          <a:xfrm>
            <a:off x="3771720" y="380880"/>
            <a:ext cx="871560" cy="68724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B2B2B2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RecordA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RecordB+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"/>
          <p:cNvSpPr txBox="1"/>
          <p:nvPr/>
        </p:nvSpPr>
        <p:spPr>
          <a:xfrm>
            <a:off x="1419120" y="379440"/>
            <a:ext cx="1476360" cy="21924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RecordH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"/>
          <p:cNvSpPr txBox="1"/>
          <p:nvPr/>
        </p:nvSpPr>
        <p:spPr>
          <a:xfrm>
            <a:off x="1333440" y="204840"/>
            <a:ext cx="460440" cy="214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TFRec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"/>
          <p:cNvSpPr txBox="1"/>
          <p:nvPr/>
        </p:nvSpPr>
        <p:spPr>
          <a:xfrm>
            <a:off x="1422360" y="789120"/>
            <a:ext cx="1473120" cy="21924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RecordG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"/>
          <p:cNvSpPr txBox="1"/>
          <p:nvPr/>
        </p:nvSpPr>
        <p:spPr>
          <a:xfrm>
            <a:off x="1336680" y="623880"/>
            <a:ext cx="488880" cy="214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MFRec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"/>
          <p:cNvSpPr txBox="1"/>
          <p:nvPr/>
        </p:nvSpPr>
        <p:spPr>
          <a:xfrm>
            <a:off x="1422360" y="1208160"/>
            <a:ext cx="1473120" cy="21924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RecordB+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"/>
          <p:cNvSpPr txBox="1"/>
          <p:nvPr/>
        </p:nvSpPr>
        <p:spPr>
          <a:xfrm>
            <a:off x="1336680" y="1042920"/>
            <a:ext cx="471600" cy="214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NFRec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"/>
          <p:cNvSpPr txBox="1"/>
          <p:nvPr/>
        </p:nvSpPr>
        <p:spPr>
          <a:xfrm>
            <a:off x="3868560" y="187200"/>
            <a:ext cx="816120" cy="193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NewFile (NF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"/>
          <p:cNvSpPr/>
          <p:nvPr/>
        </p:nvSpPr>
        <p:spPr>
          <a:xfrm>
            <a:off x="9360" y="2990880"/>
            <a:ext cx="105120" cy="124200"/>
          </a:xfrm>
          <a:custGeom>
            <a:avLst/>
            <a:gdLst/>
            <a:ahLst/>
            <a:rect l="0" t="0" r="r" b="b"/>
            <a:pathLst>
              <a:path w="292" h="345">
                <a:moveTo>
                  <a:pt x="0" y="115"/>
                </a:moveTo>
                <a:lnTo>
                  <a:pt x="0" y="230"/>
                </a:lnTo>
                <a:lnTo>
                  <a:pt x="204" y="230"/>
                </a:lnTo>
                <a:lnTo>
                  <a:pt x="204" y="345"/>
                </a:lnTo>
                <a:lnTo>
                  <a:pt x="292" y="172"/>
                </a:lnTo>
                <a:lnTo>
                  <a:pt x="204" y="0"/>
                </a:lnTo>
                <a:lnTo>
                  <a:pt x="204" y="115"/>
                </a:lnTo>
                <a:lnTo>
                  <a:pt x="0" y="115"/>
                </a:lnTo>
                <a:close/>
              </a:path>
            </a:pathLst>
          </a:custGeom>
          <a:solidFill>
            <a:srgbClr val="CC0000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" name=""/>
          <p:cNvSpPr/>
          <p:nvPr/>
        </p:nvSpPr>
        <p:spPr>
          <a:xfrm>
            <a:off x="9360" y="800280"/>
            <a:ext cx="105120" cy="124200"/>
          </a:xfrm>
          <a:custGeom>
            <a:avLst/>
            <a:gdLst/>
            <a:ahLst/>
            <a:rect l="0" t="0" r="r" b="b"/>
            <a:pathLst>
              <a:path w="292" h="345">
                <a:moveTo>
                  <a:pt x="0" y="115"/>
                </a:moveTo>
                <a:lnTo>
                  <a:pt x="0" y="230"/>
                </a:lnTo>
                <a:lnTo>
                  <a:pt x="204" y="230"/>
                </a:lnTo>
                <a:lnTo>
                  <a:pt x="204" y="345"/>
                </a:lnTo>
                <a:lnTo>
                  <a:pt x="292" y="172"/>
                </a:lnTo>
                <a:lnTo>
                  <a:pt x="204" y="0"/>
                </a:lnTo>
                <a:lnTo>
                  <a:pt x="204" y="115"/>
                </a:lnTo>
                <a:lnTo>
                  <a:pt x="0" y="115"/>
                </a:lnTo>
                <a:close/>
              </a:path>
            </a:pathLst>
          </a:custGeom>
          <a:solidFill>
            <a:srgbClr val="CC0000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" name=""/>
          <p:cNvSpPr/>
          <p:nvPr/>
        </p:nvSpPr>
        <p:spPr>
          <a:xfrm>
            <a:off x="3686040" y="876240"/>
            <a:ext cx="105120" cy="124200"/>
          </a:xfrm>
          <a:custGeom>
            <a:avLst/>
            <a:gdLst/>
            <a:ahLst/>
            <a:rect l="0" t="0" r="r" b="b"/>
            <a:pathLst>
              <a:path w="292" h="345">
                <a:moveTo>
                  <a:pt x="0" y="115"/>
                </a:moveTo>
                <a:lnTo>
                  <a:pt x="0" y="230"/>
                </a:lnTo>
                <a:lnTo>
                  <a:pt x="204" y="230"/>
                </a:lnTo>
                <a:lnTo>
                  <a:pt x="204" y="345"/>
                </a:lnTo>
                <a:lnTo>
                  <a:pt x="292" y="172"/>
                </a:lnTo>
                <a:lnTo>
                  <a:pt x="204" y="0"/>
                </a:lnTo>
                <a:lnTo>
                  <a:pt x="204" y="115"/>
                </a:lnTo>
                <a:lnTo>
                  <a:pt x="0" y="115"/>
                </a:lnTo>
                <a:close/>
              </a:path>
            </a:pathLst>
          </a:custGeom>
          <a:solidFill>
            <a:srgbClr val="CC0000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" name=""/>
          <p:cNvSpPr/>
          <p:nvPr/>
        </p:nvSpPr>
        <p:spPr>
          <a:xfrm>
            <a:off x="476280" y="905040"/>
            <a:ext cx="952920" cy="1867320"/>
          </a:xfrm>
          <a:custGeom>
            <a:avLst/>
            <a:gdLst/>
            <a:ahLst/>
            <a:rect l="0" t="0" r="r" b="b"/>
            <a:pathLst>
              <a:path fill="none" w="2647" h="5187">
                <a:moveTo>
                  <a:pt x="2647" y="0"/>
                </a:moveTo>
                <a:lnTo>
                  <a:pt x="2647" y="0"/>
                </a:lnTo>
                <a:cubicBezTo>
                  <a:pt x="2182" y="0"/>
                  <a:pt x="1726" y="240"/>
                  <a:pt x="1323" y="695"/>
                </a:cubicBezTo>
                <a:cubicBezTo>
                  <a:pt x="921" y="1150"/>
                  <a:pt x="587" y="1805"/>
                  <a:pt x="355" y="2594"/>
                </a:cubicBezTo>
                <a:cubicBezTo>
                  <a:pt x="122" y="3382"/>
                  <a:pt x="0" y="4276"/>
                  <a:pt x="0" y="5187"/>
                </a:cubicBezTo>
              </a:path>
            </a:pathLst>
          </a:custGeom>
          <a:ln w="12600">
            <a:solidFill>
              <a:srgbClr val="CC0000"/>
            </a:solidFill>
            <a:round/>
            <a:headEnd len="med" type="triangle" w="med"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"/>
          <p:cNvSpPr/>
          <p:nvPr/>
        </p:nvSpPr>
        <p:spPr>
          <a:xfrm flipV="1">
            <a:off x="838080" y="504720"/>
            <a:ext cx="609840" cy="190440"/>
          </a:xfrm>
          <a:prstGeom prst="line">
            <a:avLst/>
          </a:prstGeom>
          <a:ln w="12600">
            <a:solidFill>
              <a:srgbClr val="CC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"/>
          <p:cNvSpPr txBox="1"/>
          <p:nvPr/>
        </p:nvSpPr>
        <p:spPr>
          <a:xfrm>
            <a:off x="1258920" y="85680"/>
            <a:ext cx="2379600" cy="36000000"/>
          </a:xfrm>
          <a:prstGeom prst="rect">
            <a:avLst/>
          </a:prstGeom>
          <a:solidFill>
            <a:srgbClr val="EEFFEE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B2B2B2"/>
            </a:outerShdw>
          </a:effectLst>
        </p:spPr>
        <p:txBody>
          <a:bodyPr lIns="0" tIns="0" rIns="0" bIns="0" anchor="t">
            <a:spAutoFit/>
          </a:bodyPr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FILE SECTION.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PROCEDURE DIVISION.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etc.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PERFORM UNTIL EndTF AND EndMF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9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IF TFKey = OFKey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90000"/>
              </a:lnSpc>
            </a:pPr>
            <a:r>
              <a:rPr lang="en-US" sz="1000" b="1" i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Update MFRec with TFRec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9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MOVE MFRec+ TO NFRec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9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WRITE NFRec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9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READ TF 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etc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9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READ MF 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etc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90000"/>
              </a:lnSpc>
            </a:pPr>
            <a:r>
              <a:rPr lang="en-US" sz="10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  ELSE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90000"/>
              </a:lnSpc>
            </a:pPr>
            <a:r>
              <a:rPr lang="en-US" sz="10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    MOVE MFRec TO NFRec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90000"/>
              </a:lnSpc>
            </a:pPr>
            <a:r>
              <a:rPr lang="en-US" sz="10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    WRITE NFRec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9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READ MF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9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END-IF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END-PERFORM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"/>
          <p:cNvSpPr txBox="1"/>
          <p:nvPr/>
        </p:nvSpPr>
        <p:spPr>
          <a:xfrm>
            <a:off x="114480" y="380880"/>
            <a:ext cx="779400" cy="3056004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B2B2B2"/>
            </a:outerShdw>
          </a:effectLst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RecordB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RecordH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RecordK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"/>
          <p:cNvSpPr txBox="1"/>
          <p:nvPr/>
        </p:nvSpPr>
        <p:spPr>
          <a:xfrm>
            <a:off x="114480" y="212760"/>
            <a:ext cx="912960" cy="168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Trans File (TF)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"/>
          <p:cNvSpPr txBox="1"/>
          <p:nvPr/>
        </p:nvSpPr>
        <p:spPr>
          <a:xfrm>
            <a:off x="114480" y="2384280"/>
            <a:ext cx="779400" cy="360000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B2B2B2"/>
            </a:outerShdw>
          </a:effectLst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RecordA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RecordB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RecordG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RecordH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RecordK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RecordM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RecordN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"/>
          <p:cNvSpPr txBox="1"/>
          <p:nvPr/>
        </p:nvSpPr>
        <p:spPr>
          <a:xfrm>
            <a:off x="114480" y="2205000"/>
            <a:ext cx="1012680" cy="193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Master File (MF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"/>
          <p:cNvSpPr txBox="1"/>
          <p:nvPr/>
        </p:nvSpPr>
        <p:spPr>
          <a:xfrm>
            <a:off x="3771720" y="380880"/>
            <a:ext cx="871560" cy="87012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B2B2B2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RecordA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RecordB+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RecordG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"/>
          <p:cNvSpPr txBox="1"/>
          <p:nvPr/>
        </p:nvSpPr>
        <p:spPr>
          <a:xfrm>
            <a:off x="1419120" y="379440"/>
            <a:ext cx="1476360" cy="21924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RecordH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"/>
          <p:cNvSpPr txBox="1"/>
          <p:nvPr/>
        </p:nvSpPr>
        <p:spPr>
          <a:xfrm>
            <a:off x="1333440" y="204840"/>
            <a:ext cx="460440" cy="214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TFRec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"/>
          <p:cNvSpPr txBox="1"/>
          <p:nvPr/>
        </p:nvSpPr>
        <p:spPr>
          <a:xfrm>
            <a:off x="1422360" y="789120"/>
            <a:ext cx="1473120" cy="21924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RecordG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"/>
          <p:cNvSpPr txBox="1"/>
          <p:nvPr/>
        </p:nvSpPr>
        <p:spPr>
          <a:xfrm>
            <a:off x="1336680" y="623880"/>
            <a:ext cx="488880" cy="214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MFRec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"/>
          <p:cNvSpPr txBox="1"/>
          <p:nvPr/>
        </p:nvSpPr>
        <p:spPr>
          <a:xfrm>
            <a:off x="1422360" y="1208160"/>
            <a:ext cx="1473120" cy="21924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RecordG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"/>
          <p:cNvSpPr txBox="1"/>
          <p:nvPr/>
        </p:nvSpPr>
        <p:spPr>
          <a:xfrm>
            <a:off x="1336680" y="1042920"/>
            <a:ext cx="471600" cy="214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NFRec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"/>
          <p:cNvSpPr txBox="1"/>
          <p:nvPr/>
        </p:nvSpPr>
        <p:spPr>
          <a:xfrm>
            <a:off x="3868560" y="187200"/>
            <a:ext cx="816120" cy="193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NewFile (NF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"/>
          <p:cNvSpPr/>
          <p:nvPr/>
        </p:nvSpPr>
        <p:spPr>
          <a:xfrm>
            <a:off x="9360" y="2990880"/>
            <a:ext cx="105120" cy="124200"/>
          </a:xfrm>
          <a:custGeom>
            <a:avLst/>
            <a:gdLst/>
            <a:ahLst/>
            <a:rect l="0" t="0" r="r" b="b"/>
            <a:pathLst>
              <a:path w="292" h="345">
                <a:moveTo>
                  <a:pt x="0" y="115"/>
                </a:moveTo>
                <a:lnTo>
                  <a:pt x="0" y="230"/>
                </a:lnTo>
                <a:lnTo>
                  <a:pt x="204" y="230"/>
                </a:lnTo>
                <a:lnTo>
                  <a:pt x="204" y="345"/>
                </a:lnTo>
                <a:lnTo>
                  <a:pt x="292" y="172"/>
                </a:lnTo>
                <a:lnTo>
                  <a:pt x="204" y="0"/>
                </a:lnTo>
                <a:lnTo>
                  <a:pt x="204" y="115"/>
                </a:lnTo>
                <a:lnTo>
                  <a:pt x="0" y="115"/>
                </a:lnTo>
                <a:close/>
              </a:path>
            </a:pathLst>
          </a:custGeom>
          <a:solidFill>
            <a:srgbClr val="CC0000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" name=""/>
          <p:cNvSpPr/>
          <p:nvPr/>
        </p:nvSpPr>
        <p:spPr>
          <a:xfrm>
            <a:off x="9360" y="800280"/>
            <a:ext cx="105120" cy="124200"/>
          </a:xfrm>
          <a:custGeom>
            <a:avLst/>
            <a:gdLst/>
            <a:ahLst/>
            <a:rect l="0" t="0" r="r" b="b"/>
            <a:pathLst>
              <a:path w="292" h="345">
                <a:moveTo>
                  <a:pt x="0" y="115"/>
                </a:moveTo>
                <a:lnTo>
                  <a:pt x="0" y="230"/>
                </a:lnTo>
                <a:lnTo>
                  <a:pt x="204" y="230"/>
                </a:lnTo>
                <a:lnTo>
                  <a:pt x="204" y="345"/>
                </a:lnTo>
                <a:lnTo>
                  <a:pt x="292" y="172"/>
                </a:lnTo>
                <a:lnTo>
                  <a:pt x="204" y="0"/>
                </a:lnTo>
                <a:lnTo>
                  <a:pt x="204" y="115"/>
                </a:lnTo>
                <a:lnTo>
                  <a:pt x="0" y="115"/>
                </a:lnTo>
                <a:close/>
              </a:path>
            </a:pathLst>
          </a:custGeom>
          <a:solidFill>
            <a:srgbClr val="CC0000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" name=""/>
          <p:cNvSpPr/>
          <p:nvPr/>
        </p:nvSpPr>
        <p:spPr>
          <a:xfrm>
            <a:off x="3686040" y="1028880"/>
            <a:ext cx="105120" cy="124200"/>
          </a:xfrm>
          <a:custGeom>
            <a:avLst/>
            <a:gdLst/>
            <a:ahLst/>
            <a:rect l="0" t="0" r="r" b="b"/>
            <a:pathLst>
              <a:path w="292" h="345">
                <a:moveTo>
                  <a:pt x="0" y="115"/>
                </a:moveTo>
                <a:lnTo>
                  <a:pt x="0" y="230"/>
                </a:lnTo>
                <a:lnTo>
                  <a:pt x="204" y="230"/>
                </a:lnTo>
                <a:lnTo>
                  <a:pt x="204" y="345"/>
                </a:lnTo>
                <a:lnTo>
                  <a:pt x="292" y="172"/>
                </a:lnTo>
                <a:lnTo>
                  <a:pt x="204" y="0"/>
                </a:lnTo>
                <a:lnTo>
                  <a:pt x="204" y="115"/>
                </a:lnTo>
                <a:lnTo>
                  <a:pt x="0" y="115"/>
                </a:lnTo>
                <a:close/>
              </a:path>
            </a:pathLst>
          </a:custGeom>
          <a:solidFill>
            <a:srgbClr val="CC0000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" name=""/>
          <p:cNvSpPr/>
          <p:nvPr/>
        </p:nvSpPr>
        <p:spPr>
          <a:xfrm>
            <a:off x="2190600" y="905040"/>
            <a:ext cx="286200" cy="419400"/>
          </a:xfrm>
          <a:custGeom>
            <a:avLst/>
            <a:gdLst/>
            <a:ahLst/>
            <a:rect l="0" t="0" r="r" b="b"/>
            <a:pathLst>
              <a:path fill="none" w="795" h="1165">
                <a:moveTo>
                  <a:pt x="0" y="1165"/>
                </a:moveTo>
                <a:lnTo>
                  <a:pt x="0" y="1165"/>
                </a:lnTo>
                <a:cubicBezTo>
                  <a:pt x="140" y="1165"/>
                  <a:pt x="277" y="1138"/>
                  <a:pt x="398" y="1087"/>
                </a:cubicBezTo>
                <a:cubicBezTo>
                  <a:pt x="518" y="1036"/>
                  <a:pt x="619" y="962"/>
                  <a:pt x="688" y="874"/>
                </a:cubicBezTo>
                <a:cubicBezTo>
                  <a:pt x="758" y="785"/>
                  <a:pt x="795" y="685"/>
                  <a:pt x="795" y="582"/>
                </a:cubicBezTo>
                <a:cubicBezTo>
                  <a:pt x="795" y="480"/>
                  <a:pt x="758" y="380"/>
                  <a:pt x="688" y="291"/>
                </a:cubicBezTo>
                <a:cubicBezTo>
                  <a:pt x="619" y="203"/>
                  <a:pt x="518" y="129"/>
                  <a:pt x="397" y="78"/>
                </a:cubicBezTo>
                <a:cubicBezTo>
                  <a:pt x="277" y="27"/>
                  <a:pt x="140" y="0"/>
                  <a:pt x="0" y="0"/>
                </a:cubicBezTo>
              </a:path>
            </a:pathLst>
          </a:custGeom>
          <a:ln w="12600">
            <a:solidFill>
              <a:srgbClr val="CC0000"/>
            </a:solidFill>
            <a:round/>
            <a:tailEnd len="med" type="triangle" w="med"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"/>
          <p:cNvSpPr/>
          <p:nvPr/>
        </p:nvSpPr>
        <p:spPr>
          <a:xfrm>
            <a:off x="2190240" y="981360"/>
            <a:ext cx="1925280" cy="533520"/>
          </a:xfrm>
          <a:custGeom>
            <a:avLst/>
            <a:gdLst/>
            <a:ahLst/>
            <a:rect l="0" t="0" r="r" b="b"/>
            <a:pathLst>
              <a:path fill="none" w="5348" h="1482">
                <a:moveTo>
                  <a:pt x="0" y="1052"/>
                </a:moveTo>
                <a:lnTo>
                  <a:pt x="0" y="1052"/>
                </a:lnTo>
                <a:cubicBezTo>
                  <a:pt x="217" y="1154"/>
                  <a:pt x="473" y="1241"/>
                  <a:pt x="756" y="1310"/>
                </a:cubicBezTo>
                <a:cubicBezTo>
                  <a:pt x="1221" y="1423"/>
                  <a:pt x="1749" y="1482"/>
                  <a:pt x="2286" y="1482"/>
                </a:cubicBezTo>
                <a:cubicBezTo>
                  <a:pt x="2824" y="1482"/>
                  <a:pt x="3352" y="1423"/>
                  <a:pt x="3817" y="1310"/>
                </a:cubicBezTo>
                <a:cubicBezTo>
                  <a:pt x="4282" y="1197"/>
                  <a:pt x="4669" y="1035"/>
                  <a:pt x="4938" y="840"/>
                </a:cubicBezTo>
                <a:cubicBezTo>
                  <a:pt x="5206" y="645"/>
                  <a:pt x="5348" y="423"/>
                  <a:pt x="5348" y="198"/>
                </a:cubicBezTo>
                <a:cubicBezTo>
                  <a:pt x="5348" y="132"/>
                  <a:pt x="5335" y="66"/>
                  <a:pt x="5311" y="0"/>
                </a:cubicBezTo>
              </a:path>
            </a:pathLst>
          </a:custGeom>
          <a:ln w="12600">
            <a:solidFill>
              <a:srgbClr val="CC0000"/>
            </a:solidFill>
            <a:round/>
            <a:tailEnd len="med" type="triangle" w="med"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"/>
          <p:cNvSpPr txBox="1"/>
          <p:nvPr/>
        </p:nvSpPr>
        <p:spPr>
          <a:xfrm>
            <a:off x="1258920" y="85680"/>
            <a:ext cx="2379600" cy="36000000"/>
          </a:xfrm>
          <a:prstGeom prst="rect">
            <a:avLst/>
          </a:prstGeom>
          <a:solidFill>
            <a:srgbClr val="EEFFEE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B2B2B2"/>
            </a:outerShdw>
          </a:effectLst>
        </p:spPr>
        <p:txBody>
          <a:bodyPr lIns="0" tIns="0" rIns="0" bIns="0" anchor="t">
            <a:spAutoFit/>
          </a:bodyPr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FILE SECTION.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PROCEDURE DIVISION.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etc.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PERFORM UNTIL EndTF AND EndMF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9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IF TFKey = OFKey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90000"/>
              </a:lnSpc>
            </a:pPr>
            <a:r>
              <a:rPr lang="en-US" sz="1000" b="1" i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Update MFRec with TFRec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9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MOVE MFRec+ TO NFRec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9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WRITE NFRec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9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READ TF 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etc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9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READ MF 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etc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9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ELSE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9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MOVE MFRec TO NFRec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9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WRITE NFRec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90000"/>
              </a:lnSpc>
            </a:pPr>
            <a:r>
              <a:rPr lang="en-US" sz="10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    READ MF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9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END-IF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END-PERFORM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"/>
          <p:cNvSpPr txBox="1"/>
          <p:nvPr/>
        </p:nvSpPr>
        <p:spPr>
          <a:xfrm>
            <a:off x="114480" y="380880"/>
            <a:ext cx="779400" cy="3056004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B2B2B2"/>
            </a:outerShdw>
          </a:effectLst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RecordB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RecordH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RecordK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"/>
          <p:cNvSpPr txBox="1"/>
          <p:nvPr/>
        </p:nvSpPr>
        <p:spPr>
          <a:xfrm>
            <a:off x="114480" y="212760"/>
            <a:ext cx="912960" cy="168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Trans File (TF)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"/>
          <p:cNvSpPr txBox="1"/>
          <p:nvPr/>
        </p:nvSpPr>
        <p:spPr>
          <a:xfrm>
            <a:off x="114480" y="2384280"/>
            <a:ext cx="779400" cy="360000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B2B2B2"/>
            </a:outerShdw>
          </a:effectLst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RecordA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RecordB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RecordG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RecordH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RecordK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RecordM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RecordN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"/>
          <p:cNvSpPr txBox="1"/>
          <p:nvPr/>
        </p:nvSpPr>
        <p:spPr>
          <a:xfrm>
            <a:off x="114480" y="2205000"/>
            <a:ext cx="1012680" cy="193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Master File (MF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"/>
          <p:cNvSpPr txBox="1"/>
          <p:nvPr/>
        </p:nvSpPr>
        <p:spPr>
          <a:xfrm>
            <a:off x="3771720" y="380880"/>
            <a:ext cx="871560" cy="87012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B2B2B2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RecordA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RecordB+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RecordG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"/>
          <p:cNvSpPr txBox="1"/>
          <p:nvPr/>
        </p:nvSpPr>
        <p:spPr>
          <a:xfrm>
            <a:off x="1419120" y="379440"/>
            <a:ext cx="1476360" cy="21924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RecordH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"/>
          <p:cNvSpPr txBox="1"/>
          <p:nvPr/>
        </p:nvSpPr>
        <p:spPr>
          <a:xfrm>
            <a:off x="1333440" y="204840"/>
            <a:ext cx="460440" cy="214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TFRec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"/>
          <p:cNvSpPr txBox="1"/>
          <p:nvPr/>
        </p:nvSpPr>
        <p:spPr>
          <a:xfrm>
            <a:off x="1422360" y="789120"/>
            <a:ext cx="1473120" cy="21924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RecordH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"/>
          <p:cNvSpPr txBox="1"/>
          <p:nvPr/>
        </p:nvSpPr>
        <p:spPr>
          <a:xfrm>
            <a:off x="1336680" y="623880"/>
            <a:ext cx="488880" cy="214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MFRec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"/>
          <p:cNvSpPr txBox="1"/>
          <p:nvPr/>
        </p:nvSpPr>
        <p:spPr>
          <a:xfrm>
            <a:off x="1403280" y="1189080"/>
            <a:ext cx="1473120" cy="21924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RecordG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"/>
          <p:cNvSpPr txBox="1"/>
          <p:nvPr/>
        </p:nvSpPr>
        <p:spPr>
          <a:xfrm>
            <a:off x="1336680" y="1042920"/>
            <a:ext cx="471600" cy="214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NFRec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"/>
          <p:cNvSpPr txBox="1"/>
          <p:nvPr/>
        </p:nvSpPr>
        <p:spPr>
          <a:xfrm>
            <a:off x="3868560" y="187200"/>
            <a:ext cx="816120" cy="193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NewFile (NF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"/>
          <p:cNvSpPr/>
          <p:nvPr/>
        </p:nvSpPr>
        <p:spPr>
          <a:xfrm>
            <a:off x="9360" y="3124080"/>
            <a:ext cx="105120" cy="124200"/>
          </a:xfrm>
          <a:custGeom>
            <a:avLst/>
            <a:gdLst/>
            <a:ahLst/>
            <a:rect l="0" t="0" r="r" b="b"/>
            <a:pathLst>
              <a:path w="292" h="345">
                <a:moveTo>
                  <a:pt x="0" y="115"/>
                </a:moveTo>
                <a:lnTo>
                  <a:pt x="0" y="230"/>
                </a:lnTo>
                <a:lnTo>
                  <a:pt x="204" y="230"/>
                </a:lnTo>
                <a:lnTo>
                  <a:pt x="204" y="345"/>
                </a:lnTo>
                <a:lnTo>
                  <a:pt x="292" y="172"/>
                </a:lnTo>
                <a:lnTo>
                  <a:pt x="204" y="0"/>
                </a:lnTo>
                <a:lnTo>
                  <a:pt x="204" y="115"/>
                </a:lnTo>
                <a:lnTo>
                  <a:pt x="0" y="115"/>
                </a:lnTo>
                <a:close/>
              </a:path>
            </a:pathLst>
          </a:custGeom>
          <a:solidFill>
            <a:srgbClr val="CC0000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" name=""/>
          <p:cNvSpPr/>
          <p:nvPr/>
        </p:nvSpPr>
        <p:spPr>
          <a:xfrm>
            <a:off x="9360" y="800280"/>
            <a:ext cx="105120" cy="124200"/>
          </a:xfrm>
          <a:custGeom>
            <a:avLst/>
            <a:gdLst/>
            <a:ahLst/>
            <a:rect l="0" t="0" r="r" b="b"/>
            <a:pathLst>
              <a:path w="292" h="345">
                <a:moveTo>
                  <a:pt x="0" y="115"/>
                </a:moveTo>
                <a:lnTo>
                  <a:pt x="0" y="230"/>
                </a:lnTo>
                <a:lnTo>
                  <a:pt x="204" y="230"/>
                </a:lnTo>
                <a:lnTo>
                  <a:pt x="204" y="345"/>
                </a:lnTo>
                <a:lnTo>
                  <a:pt x="292" y="172"/>
                </a:lnTo>
                <a:lnTo>
                  <a:pt x="204" y="0"/>
                </a:lnTo>
                <a:lnTo>
                  <a:pt x="204" y="115"/>
                </a:lnTo>
                <a:lnTo>
                  <a:pt x="0" y="115"/>
                </a:lnTo>
                <a:close/>
              </a:path>
            </a:pathLst>
          </a:custGeom>
          <a:solidFill>
            <a:srgbClr val="CC0000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" name=""/>
          <p:cNvSpPr/>
          <p:nvPr/>
        </p:nvSpPr>
        <p:spPr>
          <a:xfrm>
            <a:off x="3686040" y="1028880"/>
            <a:ext cx="105120" cy="124200"/>
          </a:xfrm>
          <a:custGeom>
            <a:avLst/>
            <a:gdLst/>
            <a:ahLst/>
            <a:rect l="0" t="0" r="r" b="b"/>
            <a:pathLst>
              <a:path w="292" h="345">
                <a:moveTo>
                  <a:pt x="0" y="115"/>
                </a:moveTo>
                <a:lnTo>
                  <a:pt x="0" y="230"/>
                </a:lnTo>
                <a:lnTo>
                  <a:pt x="204" y="230"/>
                </a:lnTo>
                <a:lnTo>
                  <a:pt x="204" y="345"/>
                </a:lnTo>
                <a:lnTo>
                  <a:pt x="292" y="172"/>
                </a:lnTo>
                <a:lnTo>
                  <a:pt x="204" y="0"/>
                </a:lnTo>
                <a:lnTo>
                  <a:pt x="204" y="115"/>
                </a:lnTo>
                <a:lnTo>
                  <a:pt x="0" y="115"/>
                </a:lnTo>
                <a:close/>
              </a:path>
            </a:pathLst>
          </a:custGeom>
          <a:solidFill>
            <a:srgbClr val="CC0000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" name=""/>
          <p:cNvSpPr/>
          <p:nvPr/>
        </p:nvSpPr>
        <p:spPr>
          <a:xfrm>
            <a:off x="438120" y="905040"/>
            <a:ext cx="1010160" cy="2076840"/>
          </a:xfrm>
          <a:custGeom>
            <a:avLst/>
            <a:gdLst/>
            <a:ahLst/>
            <a:rect l="0" t="0" r="r" b="b"/>
            <a:pathLst>
              <a:path fill="none" w="2806" h="5769">
                <a:moveTo>
                  <a:pt x="2806" y="0"/>
                </a:moveTo>
                <a:lnTo>
                  <a:pt x="2806" y="0"/>
                </a:lnTo>
                <a:cubicBezTo>
                  <a:pt x="2313" y="0"/>
                  <a:pt x="1830" y="267"/>
                  <a:pt x="1403" y="773"/>
                </a:cubicBezTo>
                <a:cubicBezTo>
                  <a:pt x="976" y="1279"/>
                  <a:pt x="622" y="2008"/>
                  <a:pt x="376" y="2885"/>
                </a:cubicBezTo>
                <a:cubicBezTo>
                  <a:pt x="130" y="3761"/>
                  <a:pt x="0" y="4756"/>
                  <a:pt x="0" y="5769"/>
                </a:cubicBezTo>
              </a:path>
            </a:pathLst>
          </a:custGeom>
          <a:ln w="12600">
            <a:solidFill>
              <a:srgbClr val="CC0000"/>
            </a:solidFill>
            <a:round/>
            <a:headEnd len="med" type="triangle" w="med"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"/>
          <p:cNvSpPr txBox="1"/>
          <p:nvPr/>
        </p:nvSpPr>
        <p:spPr>
          <a:xfrm>
            <a:off x="1258920" y="85680"/>
            <a:ext cx="2379600" cy="36000000"/>
          </a:xfrm>
          <a:prstGeom prst="rect">
            <a:avLst/>
          </a:prstGeom>
          <a:solidFill>
            <a:srgbClr val="EEFFEE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B2B2B2"/>
            </a:outerShdw>
          </a:effectLst>
        </p:spPr>
        <p:txBody>
          <a:bodyPr lIns="0" tIns="0" rIns="0" bIns="0" anchor="t">
            <a:spAutoFit/>
          </a:bodyPr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FILE SECTION.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PROCEDURE DIVISION.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etc.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PERFORM UNTIL EndTF AND EndMF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90000"/>
              </a:lnSpc>
            </a:pPr>
            <a:r>
              <a:rPr lang="en-US" sz="10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 IF TFKey = OFKey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90000"/>
              </a:lnSpc>
            </a:pPr>
            <a:r>
              <a:rPr lang="en-US" sz="1000" b="1" i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    Update MFRec with TFRec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90000"/>
              </a:lnSpc>
            </a:pPr>
            <a:r>
              <a:rPr lang="en-US" sz="10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    MOVE MFRec+ TO NFRec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90000"/>
              </a:lnSpc>
            </a:pPr>
            <a:r>
              <a:rPr lang="en-US" sz="10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    WRITE NFRec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9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READ TF 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etc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9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READ MF 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etc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9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ELSE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9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MOVE MFRec TO NFRec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9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WRITE NFRec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9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READ MF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9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END-IF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85000"/>
              </a:lnSpc>
              <a:spcAft>
                <a:spcPts val="118587"/>
              </a:spcAft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END-PERFORM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"/>
          <p:cNvSpPr txBox="1"/>
          <p:nvPr/>
        </p:nvSpPr>
        <p:spPr>
          <a:xfrm>
            <a:off x="114480" y="380880"/>
            <a:ext cx="779400" cy="3056004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B2B2B2"/>
            </a:outerShdw>
          </a:effectLst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RecordB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RecordH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RecordK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"/>
          <p:cNvSpPr txBox="1"/>
          <p:nvPr/>
        </p:nvSpPr>
        <p:spPr>
          <a:xfrm>
            <a:off x="114480" y="212760"/>
            <a:ext cx="912960" cy="168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Trans File (TF)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"/>
          <p:cNvSpPr txBox="1"/>
          <p:nvPr/>
        </p:nvSpPr>
        <p:spPr>
          <a:xfrm>
            <a:off x="114480" y="2384280"/>
            <a:ext cx="779400" cy="360000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B2B2B2"/>
            </a:outerShdw>
          </a:effectLst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RecordA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RecordB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RecordG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RecordH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RecordK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RecordM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RecordN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"/>
          <p:cNvSpPr txBox="1"/>
          <p:nvPr/>
        </p:nvSpPr>
        <p:spPr>
          <a:xfrm>
            <a:off x="114480" y="2205000"/>
            <a:ext cx="1012680" cy="193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Master File (MF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"/>
          <p:cNvSpPr txBox="1"/>
          <p:nvPr/>
        </p:nvSpPr>
        <p:spPr>
          <a:xfrm>
            <a:off x="3771720" y="380880"/>
            <a:ext cx="871560" cy="105264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B2B2B2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RecordA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RecordB+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RecordG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RecordH+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"/>
          <p:cNvSpPr txBox="1"/>
          <p:nvPr/>
        </p:nvSpPr>
        <p:spPr>
          <a:xfrm>
            <a:off x="1419120" y="379440"/>
            <a:ext cx="1476360" cy="21924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RecordH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"/>
          <p:cNvSpPr txBox="1"/>
          <p:nvPr/>
        </p:nvSpPr>
        <p:spPr>
          <a:xfrm>
            <a:off x="1333440" y="204840"/>
            <a:ext cx="460440" cy="214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TFRec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"/>
          <p:cNvSpPr txBox="1"/>
          <p:nvPr/>
        </p:nvSpPr>
        <p:spPr>
          <a:xfrm>
            <a:off x="1422360" y="789120"/>
            <a:ext cx="1473120" cy="21924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RecordH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"/>
          <p:cNvSpPr txBox="1"/>
          <p:nvPr/>
        </p:nvSpPr>
        <p:spPr>
          <a:xfrm>
            <a:off x="1336680" y="623880"/>
            <a:ext cx="488880" cy="214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MFRec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"/>
          <p:cNvSpPr txBox="1"/>
          <p:nvPr/>
        </p:nvSpPr>
        <p:spPr>
          <a:xfrm>
            <a:off x="1422360" y="1208160"/>
            <a:ext cx="1473120" cy="21924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RecordH+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"/>
          <p:cNvSpPr txBox="1"/>
          <p:nvPr/>
        </p:nvSpPr>
        <p:spPr>
          <a:xfrm>
            <a:off x="1336680" y="1042920"/>
            <a:ext cx="471600" cy="214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NFRec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"/>
          <p:cNvSpPr txBox="1"/>
          <p:nvPr/>
        </p:nvSpPr>
        <p:spPr>
          <a:xfrm>
            <a:off x="3868560" y="187200"/>
            <a:ext cx="816120" cy="193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NewFile (NF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"/>
          <p:cNvSpPr/>
          <p:nvPr/>
        </p:nvSpPr>
        <p:spPr>
          <a:xfrm>
            <a:off x="9360" y="3124080"/>
            <a:ext cx="105120" cy="124200"/>
          </a:xfrm>
          <a:custGeom>
            <a:avLst/>
            <a:gdLst/>
            <a:ahLst/>
            <a:rect l="0" t="0" r="r" b="b"/>
            <a:pathLst>
              <a:path w="292" h="345">
                <a:moveTo>
                  <a:pt x="0" y="115"/>
                </a:moveTo>
                <a:lnTo>
                  <a:pt x="0" y="230"/>
                </a:lnTo>
                <a:lnTo>
                  <a:pt x="204" y="230"/>
                </a:lnTo>
                <a:lnTo>
                  <a:pt x="204" y="345"/>
                </a:lnTo>
                <a:lnTo>
                  <a:pt x="292" y="172"/>
                </a:lnTo>
                <a:lnTo>
                  <a:pt x="204" y="0"/>
                </a:lnTo>
                <a:lnTo>
                  <a:pt x="204" y="115"/>
                </a:lnTo>
                <a:lnTo>
                  <a:pt x="0" y="115"/>
                </a:lnTo>
                <a:close/>
              </a:path>
            </a:pathLst>
          </a:custGeom>
          <a:solidFill>
            <a:srgbClr val="CC0000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" name=""/>
          <p:cNvSpPr/>
          <p:nvPr/>
        </p:nvSpPr>
        <p:spPr>
          <a:xfrm>
            <a:off x="9360" y="800280"/>
            <a:ext cx="105120" cy="124200"/>
          </a:xfrm>
          <a:custGeom>
            <a:avLst/>
            <a:gdLst/>
            <a:ahLst/>
            <a:rect l="0" t="0" r="r" b="b"/>
            <a:pathLst>
              <a:path w="292" h="345">
                <a:moveTo>
                  <a:pt x="0" y="115"/>
                </a:moveTo>
                <a:lnTo>
                  <a:pt x="0" y="230"/>
                </a:lnTo>
                <a:lnTo>
                  <a:pt x="204" y="230"/>
                </a:lnTo>
                <a:lnTo>
                  <a:pt x="204" y="345"/>
                </a:lnTo>
                <a:lnTo>
                  <a:pt x="292" y="172"/>
                </a:lnTo>
                <a:lnTo>
                  <a:pt x="204" y="0"/>
                </a:lnTo>
                <a:lnTo>
                  <a:pt x="204" y="115"/>
                </a:lnTo>
                <a:lnTo>
                  <a:pt x="0" y="115"/>
                </a:lnTo>
                <a:close/>
              </a:path>
            </a:pathLst>
          </a:custGeom>
          <a:solidFill>
            <a:srgbClr val="CC0000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" name=""/>
          <p:cNvSpPr/>
          <p:nvPr/>
        </p:nvSpPr>
        <p:spPr>
          <a:xfrm>
            <a:off x="3686040" y="1028880"/>
            <a:ext cx="105120" cy="124200"/>
          </a:xfrm>
          <a:custGeom>
            <a:avLst/>
            <a:gdLst/>
            <a:ahLst/>
            <a:rect l="0" t="0" r="r" b="b"/>
            <a:pathLst>
              <a:path w="292" h="345">
                <a:moveTo>
                  <a:pt x="0" y="115"/>
                </a:moveTo>
                <a:lnTo>
                  <a:pt x="0" y="230"/>
                </a:lnTo>
                <a:lnTo>
                  <a:pt x="204" y="230"/>
                </a:lnTo>
                <a:lnTo>
                  <a:pt x="204" y="345"/>
                </a:lnTo>
                <a:lnTo>
                  <a:pt x="292" y="172"/>
                </a:lnTo>
                <a:lnTo>
                  <a:pt x="204" y="0"/>
                </a:lnTo>
                <a:lnTo>
                  <a:pt x="204" y="115"/>
                </a:lnTo>
                <a:lnTo>
                  <a:pt x="0" y="115"/>
                </a:lnTo>
                <a:close/>
              </a:path>
            </a:pathLst>
          </a:custGeom>
          <a:solidFill>
            <a:srgbClr val="CC0000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" name=""/>
          <p:cNvSpPr/>
          <p:nvPr/>
        </p:nvSpPr>
        <p:spPr>
          <a:xfrm>
            <a:off x="1371600" y="343080"/>
            <a:ext cx="790560" cy="704880"/>
          </a:xfrm>
          <a:prstGeom prst="rect">
            <a:avLst/>
          </a:prstGeom>
          <a:noFill/>
          <a:ln w="12600">
            <a:solidFill>
              <a:srgbClr val="3333CC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"/>
          <p:cNvSpPr/>
          <p:nvPr/>
        </p:nvSpPr>
        <p:spPr>
          <a:xfrm>
            <a:off x="2171520" y="457200"/>
            <a:ext cx="483840" cy="820080"/>
          </a:xfrm>
          <a:custGeom>
            <a:avLst/>
            <a:gdLst/>
            <a:ahLst/>
            <a:rect l="0" t="0" r="r" b="b"/>
            <a:pathLst>
              <a:path fill="none" w="1344" h="2278">
                <a:moveTo>
                  <a:pt x="96" y="2278"/>
                </a:moveTo>
                <a:lnTo>
                  <a:pt x="96" y="2278"/>
                </a:lnTo>
                <a:cubicBezTo>
                  <a:pt x="303" y="2268"/>
                  <a:pt x="503" y="2216"/>
                  <a:pt x="682" y="2127"/>
                </a:cubicBezTo>
                <a:cubicBezTo>
                  <a:pt x="884" y="2027"/>
                  <a:pt x="1051" y="1883"/>
                  <a:pt x="1167" y="1710"/>
                </a:cubicBezTo>
                <a:cubicBezTo>
                  <a:pt x="1283" y="1537"/>
                  <a:pt x="1344" y="1340"/>
                  <a:pt x="1344" y="1140"/>
                </a:cubicBezTo>
                <a:cubicBezTo>
                  <a:pt x="1344" y="940"/>
                  <a:pt x="1283" y="743"/>
                  <a:pt x="1167" y="570"/>
                </a:cubicBezTo>
                <a:cubicBezTo>
                  <a:pt x="1051" y="397"/>
                  <a:pt x="884" y="253"/>
                  <a:pt x="682" y="153"/>
                </a:cubicBezTo>
                <a:cubicBezTo>
                  <a:pt x="481" y="53"/>
                  <a:pt x="253" y="0"/>
                  <a:pt x="20" y="0"/>
                </a:cubicBezTo>
                <a:cubicBezTo>
                  <a:pt x="14" y="0"/>
                  <a:pt x="7" y="0"/>
                  <a:pt x="0" y="0"/>
                </a:cubicBezTo>
              </a:path>
            </a:pathLst>
          </a:custGeom>
          <a:ln w="12600">
            <a:solidFill>
              <a:srgbClr val="CC0000"/>
            </a:solidFill>
            <a:round/>
            <a:tailEnd len="med" type="triangle" w="med"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"/>
          <p:cNvSpPr/>
          <p:nvPr/>
        </p:nvSpPr>
        <p:spPr>
          <a:xfrm>
            <a:off x="2190600" y="876240"/>
            <a:ext cx="343800" cy="400320"/>
          </a:xfrm>
          <a:custGeom>
            <a:avLst/>
            <a:gdLst/>
            <a:ahLst/>
            <a:rect l="0" t="0" r="r" b="b"/>
            <a:pathLst>
              <a:path fill="none" w="955" h="1112">
                <a:moveTo>
                  <a:pt x="0" y="1112"/>
                </a:moveTo>
                <a:lnTo>
                  <a:pt x="0" y="1112"/>
                </a:lnTo>
                <a:cubicBezTo>
                  <a:pt x="168" y="1112"/>
                  <a:pt x="332" y="1086"/>
                  <a:pt x="477" y="1038"/>
                </a:cubicBezTo>
                <a:cubicBezTo>
                  <a:pt x="623" y="989"/>
                  <a:pt x="743" y="919"/>
                  <a:pt x="827" y="834"/>
                </a:cubicBezTo>
                <a:cubicBezTo>
                  <a:pt x="911" y="749"/>
                  <a:pt x="955" y="654"/>
                  <a:pt x="955" y="556"/>
                </a:cubicBezTo>
                <a:cubicBezTo>
                  <a:pt x="955" y="458"/>
                  <a:pt x="911" y="363"/>
                  <a:pt x="827" y="278"/>
                </a:cubicBezTo>
                <a:cubicBezTo>
                  <a:pt x="743" y="193"/>
                  <a:pt x="623" y="123"/>
                  <a:pt x="477" y="74"/>
                </a:cubicBezTo>
                <a:cubicBezTo>
                  <a:pt x="332" y="26"/>
                  <a:pt x="168" y="0"/>
                  <a:pt x="0" y="0"/>
                </a:cubicBezTo>
              </a:path>
            </a:pathLst>
          </a:custGeom>
          <a:ln w="12600">
            <a:solidFill>
              <a:srgbClr val="CC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"/>
          <p:cNvSpPr/>
          <p:nvPr/>
        </p:nvSpPr>
        <p:spPr>
          <a:xfrm>
            <a:off x="2190240" y="1133640"/>
            <a:ext cx="1925280" cy="343080"/>
          </a:xfrm>
          <a:custGeom>
            <a:avLst/>
            <a:gdLst/>
            <a:ahLst/>
            <a:rect l="0" t="0" r="r" b="b"/>
            <a:pathLst>
              <a:path fill="none" w="5348" h="953">
                <a:moveTo>
                  <a:pt x="0" y="676"/>
                </a:moveTo>
                <a:lnTo>
                  <a:pt x="0" y="676"/>
                </a:lnTo>
                <a:cubicBezTo>
                  <a:pt x="217" y="742"/>
                  <a:pt x="473" y="798"/>
                  <a:pt x="756" y="843"/>
                </a:cubicBezTo>
                <a:cubicBezTo>
                  <a:pt x="1221" y="915"/>
                  <a:pt x="1749" y="953"/>
                  <a:pt x="2286" y="953"/>
                </a:cubicBezTo>
                <a:cubicBezTo>
                  <a:pt x="2824" y="953"/>
                  <a:pt x="3352" y="915"/>
                  <a:pt x="3817" y="843"/>
                </a:cubicBezTo>
                <a:cubicBezTo>
                  <a:pt x="4282" y="770"/>
                  <a:pt x="4669" y="666"/>
                  <a:pt x="4938" y="540"/>
                </a:cubicBezTo>
                <a:cubicBezTo>
                  <a:pt x="5206" y="415"/>
                  <a:pt x="5348" y="272"/>
                  <a:pt x="5348" y="127"/>
                </a:cubicBezTo>
                <a:cubicBezTo>
                  <a:pt x="5348" y="85"/>
                  <a:pt x="5335" y="42"/>
                  <a:pt x="5311" y="0"/>
                </a:cubicBezTo>
              </a:path>
            </a:pathLst>
          </a:custGeom>
          <a:ln w="12600">
            <a:solidFill>
              <a:srgbClr val="CC0000"/>
            </a:solidFill>
            <a:round/>
            <a:tailEnd len="med" type="triangle" w="med"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"/>
          <p:cNvSpPr txBox="1"/>
          <p:nvPr/>
        </p:nvSpPr>
        <p:spPr>
          <a:xfrm>
            <a:off x="114480" y="380880"/>
            <a:ext cx="779400" cy="3056004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B2B2B2"/>
            </a:outerShdw>
          </a:effectLst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RecordB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RecordH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RecordK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"/>
          <p:cNvSpPr txBox="1"/>
          <p:nvPr/>
        </p:nvSpPr>
        <p:spPr>
          <a:xfrm>
            <a:off x="114480" y="212760"/>
            <a:ext cx="912960" cy="168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Trans File (TF)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"/>
          <p:cNvSpPr txBox="1"/>
          <p:nvPr/>
        </p:nvSpPr>
        <p:spPr>
          <a:xfrm>
            <a:off x="114480" y="2384280"/>
            <a:ext cx="779400" cy="360000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B2B2B2"/>
            </a:outerShdw>
          </a:effectLst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RecordA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RecordB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RecordG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RecordH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RecordK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RecordM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RecordN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"/>
          <p:cNvSpPr txBox="1"/>
          <p:nvPr/>
        </p:nvSpPr>
        <p:spPr>
          <a:xfrm>
            <a:off x="114480" y="2205000"/>
            <a:ext cx="1012680" cy="193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Master File (MF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"/>
          <p:cNvSpPr txBox="1"/>
          <p:nvPr/>
        </p:nvSpPr>
        <p:spPr>
          <a:xfrm>
            <a:off x="3753000" y="1143000"/>
            <a:ext cx="874800" cy="360000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B2B2B2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85000"/>
              </a:lnSpc>
              <a:spcAft>
                <a:spcPts val="11858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RecordA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spcAft>
                <a:spcPts val="118587"/>
              </a:spcAft>
            </a:pP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RecordB+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spcAft>
                <a:spcPts val="11858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RecordG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spcAft>
                <a:spcPts val="118587"/>
              </a:spcAft>
            </a:pP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RecordH+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spcAft>
                <a:spcPts val="118587"/>
              </a:spcAft>
            </a:pP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RecordK+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spcAft>
                <a:spcPts val="11858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RecordM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5000"/>
              </a:lnSpc>
              <a:spcAft>
                <a:spcPts val="118587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RecordN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"/>
          <p:cNvSpPr txBox="1"/>
          <p:nvPr/>
        </p:nvSpPr>
        <p:spPr>
          <a:xfrm>
            <a:off x="3849840" y="949320"/>
            <a:ext cx="816120" cy="193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85000"/>
              </a:lnSpc>
              <a:spcAft>
                <a:spcPts val="118587"/>
              </a:spcAft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NewFile (NF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"/>
          <p:cNvSpPr txBox="1"/>
          <p:nvPr/>
        </p:nvSpPr>
        <p:spPr>
          <a:xfrm>
            <a:off x="1965240" y="1327320"/>
            <a:ext cx="104760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400" b="0" u="none" strike="noStrike">
                <a:solidFill>
                  <a:srgbClr val="009900"/>
                </a:solidFill>
                <a:effectLst/>
                <a:uFillTx/>
                <a:latin typeface="Arial"/>
                <a:ea typeface="Arial"/>
              </a:rPr>
              <a:t>Result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"/>
          <p:cNvSpPr/>
          <p:nvPr/>
        </p:nvSpPr>
        <p:spPr>
          <a:xfrm>
            <a:off x="952560" y="619200"/>
            <a:ext cx="1162440" cy="705240"/>
          </a:xfrm>
          <a:custGeom>
            <a:avLst/>
            <a:gdLst/>
            <a:ahLst/>
            <a:rect l="0" t="0" r="r" b="b"/>
            <a:pathLst>
              <a:path fill="none" w="3229" h="1959">
                <a:moveTo>
                  <a:pt x="3229" y="1959"/>
                </a:moveTo>
                <a:lnTo>
                  <a:pt x="3229" y="1959"/>
                </a:lnTo>
                <a:lnTo>
                  <a:pt x="3229" y="1959"/>
                </a:lnTo>
                <a:cubicBezTo>
                  <a:pt x="3229" y="1615"/>
                  <a:pt x="3080" y="1277"/>
                  <a:pt x="2796" y="979"/>
                </a:cubicBezTo>
                <a:cubicBezTo>
                  <a:pt x="2513" y="682"/>
                  <a:pt x="2105" y="434"/>
                  <a:pt x="1614" y="262"/>
                </a:cubicBezTo>
                <a:cubicBezTo>
                  <a:pt x="1124" y="91"/>
                  <a:pt x="567" y="0"/>
                  <a:pt x="0" y="0"/>
                </a:cubicBezTo>
              </a:path>
            </a:pathLst>
          </a:custGeom>
          <a:ln w="25560">
            <a:solidFill>
              <a:srgbClr val="CC0000"/>
            </a:solidFill>
            <a:round/>
            <a:tailEnd len="med" type="triangle" w="med"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"/>
          <p:cNvSpPr/>
          <p:nvPr/>
        </p:nvSpPr>
        <p:spPr>
          <a:xfrm>
            <a:off x="1028880" y="1819440"/>
            <a:ext cx="1105200" cy="1029240"/>
          </a:xfrm>
          <a:custGeom>
            <a:avLst/>
            <a:gdLst/>
            <a:ahLst/>
            <a:rect l="0" t="0" r="r" b="b"/>
            <a:pathLst>
              <a:path fill="none" w="3070" h="2859">
                <a:moveTo>
                  <a:pt x="0" y="2859"/>
                </a:moveTo>
                <a:lnTo>
                  <a:pt x="0" y="2859"/>
                </a:lnTo>
                <a:cubicBezTo>
                  <a:pt x="539" y="2859"/>
                  <a:pt x="1068" y="2727"/>
                  <a:pt x="1535" y="2476"/>
                </a:cubicBezTo>
                <a:cubicBezTo>
                  <a:pt x="2002" y="2225"/>
                  <a:pt x="2389" y="1864"/>
                  <a:pt x="2659" y="1429"/>
                </a:cubicBezTo>
                <a:cubicBezTo>
                  <a:pt x="2928" y="995"/>
                  <a:pt x="3070" y="502"/>
                  <a:pt x="3070" y="0"/>
                </a:cubicBezTo>
              </a:path>
            </a:pathLst>
          </a:custGeom>
          <a:ln w="25560">
            <a:solidFill>
              <a:srgbClr val="CC0000"/>
            </a:solidFill>
            <a:round/>
            <a:tailEnd len="med" type="triangle" w="med"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"/>
          <p:cNvSpPr/>
          <p:nvPr/>
        </p:nvSpPr>
        <p:spPr>
          <a:xfrm>
            <a:off x="3009960" y="1552680"/>
            <a:ext cx="723960" cy="0"/>
          </a:xfrm>
          <a:prstGeom prst="line">
            <a:avLst/>
          </a:prstGeom>
          <a:ln w="25560">
            <a:solidFill>
              <a:srgbClr val="CC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2600" tIns="-57600" rIns="102600" bIns="-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"/>
          <p:cNvSpPr txBox="1"/>
          <p:nvPr/>
        </p:nvSpPr>
        <p:spPr>
          <a:xfrm>
            <a:off x="1371600" y="708120"/>
            <a:ext cx="492120" cy="1364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update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LibreOffice/26.2.2.2$Windows_X86_64 LibreOffice_project/1f77d10d6938fd34972958f64b2bcfa54f8b1ba5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Michael Coughlan</dc:creator>
  <dc:description/>
  <dc:language>en-US</dc:language>
  <cp:lastModifiedBy>Michael Coughlan</cp:lastModifiedBy>
  <cp:revision>0</cp:revision>
  <dc:subject/>
  <dc:title>No Slide Title</dc:title>
</cp:coreProperties>
</file>