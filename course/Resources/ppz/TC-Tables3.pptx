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62" r:id="rId3"/>
    <p:sldId id="264" r:id="rId4"/>
    <p:sldId id="265" r:id="rId5"/>
    <p:sldId id="268" r:id="rId6"/>
    <p:sldId id="266" r:id="rId7"/>
  </p:sldIdLst>
  <p:sldSz cx="4762500" cy="304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6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96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CC"/>
    <a:srgbClr val="009900"/>
    <a:srgbClr val="006633"/>
    <a:srgbClr val="00CC00"/>
    <a:srgbClr val="CC0000"/>
    <a:srgbClr val="5F5F5F"/>
    <a:srgbClr val="FFFFCC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47" d="100"/>
          <a:sy n="247" d="100"/>
        </p:scale>
        <p:origin x="198" y="468"/>
      </p:cViewPr>
      <p:guideLst>
        <p:guide orient="horz" pos="96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96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673D9573-91DB-AE13-8F22-439D4337F42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96EAC714-33EF-2496-D7A8-3CB356EF581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7473AFEC-0D2D-F344-DD5D-B1DB8E5EF99C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757238" y="692150"/>
            <a:ext cx="5343525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ED001D3C-9F6F-851E-A786-789586A858B6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15F05AB2-B927-3496-FD3F-72BEB2A3BB8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i="1"/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20D8EBFB-1FFE-D474-5ADC-5506B72B770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i="1"/>
            </a:lvl1pPr>
          </a:lstStyle>
          <a:p>
            <a:fld id="{647FC777-0625-4248-9B98-BC48C8B82603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0AE30-96C0-FECE-EBC3-333BE796C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498475"/>
            <a:ext cx="3571875" cy="1062038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0E01A-76A5-5E42-0089-63E725F63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1600200"/>
            <a:ext cx="3571875" cy="736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49050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5EADE-DB7B-E4CD-7D15-96B717D6D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CA149-FC1A-0A48-20AE-7BF9465B8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811213"/>
            <a:ext cx="4108450" cy="1933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6077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AFA3D-C5D9-ED89-BAAD-E09E20ADE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760413"/>
            <a:ext cx="4106862" cy="1266825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B87C81-7A11-D288-FB78-8032304E66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039938"/>
            <a:ext cx="4106862" cy="6667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1596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9228-2E1A-C615-4B9D-25E855933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BD246E-3722-E1E6-B64E-51F89FF8EE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811213"/>
            <a:ext cx="1978025" cy="1933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8D02-0A30-7111-6554-838DF81778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811213"/>
            <a:ext cx="1978025" cy="19335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81438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6250F-CAE2-8B76-C41C-8F8E8B78A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161925"/>
            <a:ext cx="4106862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B2121A-CE52-E5DB-7525-1610F42A9F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747713"/>
            <a:ext cx="2014537" cy="3651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2D32BD-7525-563D-A5DF-C98722B227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112838"/>
            <a:ext cx="2014537" cy="1638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D1920F-C109-E4A2-8D02-64CC2DD587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747713"/>
            <a:ext cx="2024062" cy="3651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AC649E-71C7-FCC4-AB7E-018A3A9142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112838"/>
            <a:ext cx="2024062" cy="16383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75660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2633D-9B48-369C-B9BD-47401CE24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6394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973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1E512-0179-310A-66EE-EE03EE40C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1535112" cy="711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738FE-2FE6-95BC-7389-FC71238A9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438150"/>
            <a:ext cx="2411412" cy="216693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A11966-FC74-66EC-C918-1B42AD0A2F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914400"/>
            <a:ext cx="1535112" cy="169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81964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A55D-948F-AFB3-257C-BE220EE84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1535112" cy="711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6F583DD-9B8E-A40F-1602-A83E947D82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438150"/>
            <a:ext cx="2411412" cy="216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4F781A-CF29-C93E-159C-10F7435AEA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914400"/>
            <a:ext cx="1535112" cy="1693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76625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A6E25-09D4-B7AA-786C-1A4EA557D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161925"/>
            <a:ext cx="4108450" cy="5889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3E55D-0E0F-FF48-4896-73EE7452D3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811213"/>
            <a:ext cx="4108450" cy="19335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983235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E07AE2-42DC-0C9A-6674-EA01DAABFC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161925"/>
            <a:ext cx="1027112" cy="258286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22C884-DE15-A708-EA3D-3CF8CFE49D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61925"/>
            <a:ext cx="2928938" cy="25828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1443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B922DBA-5191-62FF-F375-270B62B2F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5875"/>
            <a:ext cx="4733925" cy="3019425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24BD0811-3B64-EF3C-E62E-3017BFEC3C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" y="1135063"/>
            <a:ext cx="3843338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1     2    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3  </a:t>
            </a:r>
            <a:r>
              <a:rPr lang="en-US" altLang="en-US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 4     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5     6      7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886530D9-4D52-AE49-B98E-C5B81A40A8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3" y="631825"/>
            <a:ext cx="1185862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r>
              <a:rPr lang="en-US" altLang="en-US" sz="1200" b="1">
                <a:latin typeface="Arial" panose="020B0604020202020204" pitchFamily="34" charset="0"/>
              </a:rPr>
              <a:t>CountyTaxTable</a:t>
            </a:r>
          </a:p>
        </p:txBody>
      </p:sp>
      <p:sp>
        <p:nvSpPr>
          <p:cNvPr id="3076" name="Rectangle 4">
            <a:extLst>
              <a:ext uri="{FF2B5EF4-FFF2-40B4-BE49-F238E27FC236}">
                <a16:creationId xmlns:a16="http://schemas.microsoft.com/office/drawing/2014/main" id="{9AFCDAAE-3017-9A5E-C814-2FE45863BD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822325"/>
            <a:ext cx="59690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3E9B8849-2990-D62B-6B6D-9491DE6957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0B054490-237E-4758-516E-147E69377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A5443A71-04B2-A59F-44BD-CB3A27AA4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822325"/>
            <a:ext cx="596900" cy="295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0" name="Rectangle 8">
            <a:extLst>
              <a:ext uri="{FF2B5EF4-FFF2-40B4-BE49-F238E27FC236}">
                <a16:creationId xmlns:a16="http://schemas.microsoft.com/office/drawing/2014/main" id="{23E9F5E3-57F8-A88C-EFB2-03209837F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822325"/>
            <a:ext cx="593725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1" name="Rectangle 9">
            <a:extLst>
              <a:ext uri="{FF2B5EF4-FFF2-40B4-BE49-F238E27FC236}">
                <a16:creationId xmlns:a16="http://schemas.microsoft.com/office/drawing/2014/main" id="{5A993689-F996-3022-F69A-5A5E2CCF9F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100" y="822325"/>
            <a:ext cx="595313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2" name="Rectangle 10">
            <a:extLst>
              <a:ext uri="{FF2B5EF4-FFF2-40B4-BE49-F238E27FC236}">
                <a16:creationId xmlns:a16="http://schemas.microsoft.com/office/drawing/2014/main" id="{A5A929CE-2410-26E3-6536-83667C300B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3" name="Rectangle 11">
            <a:extLst>
              <a:ext uri="{FF2B5EF4-FFF2-40B4-BE49-F238E27FC236}">
                <a16:creationId xmlns:a16="http://schemas.microsoft.com/office/drawing/2014/main" id="{E15B5509-716B-0890-EBDE-1B501D878F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827088"/>
            <a:ext cx="4275138" cy="28416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086" name="Group 14">
            <a:extLst>
              <a:ext uri="{FF2B5EF4-FFF2-40B4-BE49-F238E27FC236}">
                <a16:creationId xmlns:a16="http://schemas.microsoft.com/office/drawing/2014/main" id="{B39D9707-F3D6-8382-F7F3-4BFEF5ECCFCE}"/>
              </a:ext>
            </a:extLst>
          </p:cNvPr>
          <p:cNvGrpSpPr>
            <a:grpSpLocks/>
          </p:cNvGrpSpPr>
          <p:nvPr/>
        </p:nvGrpSpPr>
        <p:grpSpPr bwMode="auto">
          <a:xfrm>
            <a:off x="4210050" y="812800"/>
            <a:ext cx="200025" cy="317500"/>
            <a:chOff x="2652" y="512"/>
            <a:chExt cx="126" cy="200"/>
          </a:xfrm>
        </p:grpSpPr>
        <p:sp>
          <p:nvSpPr>
            <p:cNvPr id="3084" name="Freeform 12">
              <a:extLst>
                <a:ext uri="{FF2B5EF4-FFF2-40B4-BE49-F238E27FC236}">
                  <a16:creationId xmlns:a16="http://schemas.microsoft.com/office/drawing/2014/main" id="{2E289498-B3D1-9FA0-2B5F-650ACE1C475B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520"/>
              <a:ext cx="70" cy="185"/>
            </a:xfrm>
            <a:custGeom>
              <a:avLst/>
              <a:gdLst>
                <a:gd name="T0" fmla="*/ 69 w 70"/>
                <a:gd name="T1" fmla="*/ 0 h 185"/>
                <a:gd name="T2" fmla="*/ 55 w 70"/>
                <a:gd name="T3" fmla="*/ 0 h 185"/>
                <a:gd name="T4" fmla="*/ 41 w 70"/>
                <a:gd name="T5" fmla="*/ 0 h 185"/>
                <a:gd name="T6" fmla="*/ 27 w 70"/>
                <a:gd name="T7" fmla="*/ 4 h 185"/>
                <a:gd name="T8" fmla="*/ 27 w 70"/>
                <a:gd name="T9" fmla="*/ 12 h 185"/>
                <a:gd name="T10" fmla="*/ 27 w 70"/>
                <a:gd name="T11" fmla="*/ 20 h 185"/>
                <a:gd name="T12" fmla="*/ 20 w 70"/>
                <a:gd name="T13" fmla="*/ 28 h 185"/>
                <a:gd name="T14" fmla="*/ 13 w 70"/>
                <a:gd name="T15" fmla="*/ 36 h 185"/>
                <a:gd name="T16" fmla="*/ 13 w 70"/>
                <a:gd name="T17" fmla="*/ 44 h 185"/>
                <a:gd name="T18" fmla="*/ 27 w 70"/>
                <a:gd name="T19" fmla="*/ 49 h 185"/>
                <a:gd name="T20" fmla="*/ 27 w 70"/>
                <a:gd name="T21" fmla="*/ 57 h 185"/>
                <a:gd name="T22" fmla="*/ 20 w 70"/>
                <a:gd name="T23" fmla="*/ 65 h 185"/>
                <a:gd name="T24" fmla="*/ 6 w 70"/>
                <a:gd name="T25" fmla="*/ 69 h 185"/>
                <a:gd name="T26" fmla="*/ 6 w 70"/>
                <a:gd name="T27" fmla="*/ 77 h 185"/>
                <a:gd name="T28" fmla="*/ 6 w 70"/>
                <a:gd name="T29" fmla="*/ 85 h 185"/>
                <a:gd name="T30" fmla="*/ 20 w 70"/>
                <a:gd name="T31" fmla="*/ 89 h 185"/>
                <a:gd name="T32" fmla="*/ 27 w 70"/>
                <a:gd name="T33" fmla="*/ 98 h 185"/>
                <a:gd name="T34" fmla="*/ 20 w 70"/>
                <a:gd name="T35" fmla="*/ 106 h 185"/>
                <a:gd name="T36" fmla="*/ 13 w 70"/>
                <a:gd name="T37" fmla="*/ 114 h 185"/>
                <a:gd name="T38" fmla="*/ 0 w 70"/>
                <a:gd name="T39" fmla="*/ 118 h 185"/>
                <a:gd name="T40" fmla="*/ 0 w 70"/>
                <a:gd name="T41" fmla="*/ 126 h 185"/>
                <a:gd name="T42" fmla="*/ 13 w 70"/>
                <a:gd name="T43" fmla="*/ 134 h 185"/>
                <a:gd name="T44" fmla="*/ 20 w 70"/>
                <a:gd name="T45" fmla="*/ 143 h 185"/>
                <a:gd name="T46" fmla="*/ 6 w 70"/>
                <a:gd name="T47" fmla="*/ 147 h 185"/>
                <a:gd name="T48" fmla="*/ 6 w 70"/>
                <a:gd name="T49" fmla="*/ 155 h 185"/>
                <a:gd name="T50" fmla="*/ 6 w 70"/>
                <a:gd name="T51" fmla="*/ 163 h 185"/>
                <a:gd name="T52" fmla="*/ 20 w 70"/>
                <a:gd name="T53" fmla="*/ 163 h 185"/>
                <a:gd name="T54" fmla="*/ 20 w 70"/>
                <a:gd name="T55" fmla="*/ 171 h 185"/>
                <a:gd name="T56" fmla="*/ 27 w 70"/>
                <a:gd name="T57" fmla="*/ 179 h 185"/>
                <a:gd name="T58" fmla="*/ 41 w 70"/>
                <a:gd name="T59" fmla="*/ 184 h 185"/>
                <a:gd name="T60" fmla="*/ 55 w 70"/>
                <a:gd name="T61" fmla="*/ 184 h 185"/>
                <a:gd name="T62" fmla="*/ 69 w 70"/>
                <a:gd name="T63" fmla="*/ 184 h 185"/>
                <a:gd name="T64" fmla="*/ 69 w 70"/>
                <a:gd name="T65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0" h="185">
                  <a:moveTo>
                    <a:pt x="69" y="0"/>
                  </a:moveTo>
                  <a:lnTo>
                    <a:pt x="55" y="0"/>
                  </a:lnTo>
                  <a:lnTo>
                    <a:pt x="41" y="0"/>
                  </a:lnTo>
                  <a:lnTo>
                    <a:pt x="27" y="4"/>
                  </a:lnTo>
                  <a:lnTo>
                    <a:pt x="27" y="12"/>
                  </a:lnTo>
                  <a:lnTo>
                    <a:pt x="27" y="20"/>
                  </a:lnTo>
                  <a:lnTo>
                    <a:pt x="20" y="28"/>
                  </a:lnTo>
                  <a:lnTo>
                    <a:pt x="13" y="36"/>
                  </a:lnTo>
                  <a:lnTo>
                    <a:pt x="13" y="44"/>
                  </a:lnTo>
                  <a:lnTo>
                    <a:pt x="27" y="49"/>
                  </a:lnTo>
                  <a:lnTo>
                    <a:pt x="27" y="57"/>
                  </a:lnTo>
                  <a:lnTo>
                    <a:pt x="20" y="65"/>
                  </a:lnTo>
                  <a:lnTo>
                    <a:pt x="6" y="69"/>
                  </a:lnTo>
                  <a:lnTo>
                    <a:pt x="6" y="77"/>
                  </a:lnTo>
                  <a:lnTo>
                    <a:pt x="6" y="85"/>
                  </a:lnTo>
                  <a:lnTo>
                    <a:pt x="20" y="89"/>
                  </a:lnTo>
                  <a:lnTo>
                    <a:pt x="27" y="98"/>
                  </a:lnTo>
                  <a:lnTo>
                    <a:pt x="20" y="106"/>
                  </a:lnTo>
                  <a:lnTo>
                    <a:pt x="13" y="114"/>
                  </a:lnTo>
                  <a:lnTo>
                    <a:pt x="0" y="118"/>
                  </a:lnTo>
                  <a:lnTo>
                    <a:pt x="0" y="126"/>
                  </a:lnTo>
                  <a:lnTo>
                    <a:pt x="13" y="134"/>
                  </a:lnTo>
                  <a:lnTo>
                    <a:pt x="20" y="143"/>
                  </a:lnTo>
                  <a:lnTo>
                    <a:pt x="6" y="147"/>
                  </a:lnTo>
                  <a:lnTo>
                    <a:pt x="6" y="155"/>
                  </a:lnTo>
                  <a:lnTo>
                    <a:pt x="6" y="163"/>
                  </a:lnTo>
                  <a:lnTo>
                    <a:pt x="20" y="163"/>
                  </a:lnTo>
                  <a:lnTo>
                    <a:pt x="20" y="171"/>
                  </a:lnTo>
                  <a:lnTo>
                    <a:pt x="27" y="179"/>
                  </a:lnTo>
                  <a:lnTo>
                    <a:pt x="41" y="184"/>
                  </a:lnTo>
                  <a:lnTo>
                    <a:pt x="55" y="184"/>
                  </a:lnTo>
                  <a:lnTo>
                    <a:pt x="69" y="184"/>
                  </a:lnTo>
                  <a:lnTo>
                    <a:pt x="69" y="0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85" name="Rectangle 13">
              <a:extLst>
                <a:ext uri="{FF2B5EF4-FFF2-40B4-BE49-F238E27FC236}">
                  <a16:creationId xmlns:a16="http://schemas.microsoft.com/office/drawing/2014/main" id="{2A7B28AF-665D-FA75-78BF-5C7283B85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512"/>
              <a:ext cx="83" cy="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3087" name="AutoShape 15">
            <a:extLst>
              <a:ext uri="{FF2B5EF4-FFF2-40B4-BE49-F238E27FC236}">
                <a16:creationId xmlns:a16="http://schemas.microsoft.com/office/drawing/2014/main" id="{98D65080-BE7B-F528-06CB-173B175E2A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7838" y="906463"/>
            <a:ext cx="311150" cy="139700"/>
          </a:xfrm>
          <a:prstGeom prst="rightArrow">
            <a:avLst>
              <a:gd name="adj1" fmla="val 50000"/>
              <a:gd name="adj2" fmla="val 111374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7961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88" name="Line 16">
            <a:extLst>
              <a:ext uri="{FF2B5EF4-FFF2-40B4-BE49-F238E27FC236}">
                <a16:creationId xmlns:a16="http://schemas.microsoft.com/office/drawing/2014/main" id="{197FE473-3B27-70D6-CF81-82D49F6FF6F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0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89" name="Line 17">
            <a:extLst>
              <a:ext uri="{FF2B5EF4-FFF2-40B4-BE49-F238E27FC236}">
                <a16:creationId xmlns:a16="http://schemas.microsoft.com/office/drawing/2014/main" id="{1E225D9A-939C-BA0C-E067-452630EF975B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0" name="Line 18">
            <a:extLst>
              <a:ext uri="{FF2B5EF4-FFF2-40B4-BE49-F238E27FC236}">
                <a16:creationId xmlns:a16="http://schemas.microsoft.com/office/drawing/2014/main" id="{6BC241E1-4CC3-D6B7-272A-99DEE0B87258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1" name="Line 19">
            <a:extLst>
              <a:ext uri="{FF2B5EF4-FFF2-40B4-BE49-F238E27FC236}">
                <a16:creationId xmlns:a16="http://schemas.microsoft.com/office/drawing/2014/main" id="{955E8D26-FF21-E8D5-2DFF-72B387CABF5F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13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2" name="Line 20">
            <a:extLst>
              <a:ext uri="{FF2B5EF4-FFF2-40B4-BE49-F238E27FC236}">
                <a16:creationId xmlns:a16="http://schemas.microsoft.com/office/drawing/2014/main" id="{8D5D8DD0-D95E-4650-EC8E-1F03DAABA039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18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3" name="Line 21">
            <a:extLst>
              <a:ext uri="{FF2B5EF4-FFF2-40B4-BE49-F238E27FC236}">
                <a16:creationId xmlns:a16="http://schemas.microsoft.com/office/drawing/2014/main" id="{99EBD34F-1F1C-7263-D8D2-476B8E1CFD43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4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4" name="Rectangle 22">
            <a:extLst>
              <a:ext uri="{FF2B5EF4-FFF2-40B4-BE49-F238E27FC236}">
                <a16:creationId xmlns:a16="http://schemas.microsoft.com/office/drawing/2014/main" id="{628DD2EE-47BD-E576-3828-653F62F630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650" y="1622425"/>
            <a:ext cx="187325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95" name="Line 23">
            <a:extLst>
              <a:ext uri="{FF2B5EF4-FFF2-40B4-BE49-F238E27FC236}">
                <a16:creationId xmlns:a16="http://schemas.microsoft.com/office/drawing/2014/main" id="{55AA9675-0CEB-2F35-25B1-DFA1AFE55B96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0750" y="16287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6" name="Line 24">
            <a:extLst>
              <a:ext uri="{FF2B5EF4-FFF2-40B4-BE49-F238E27FC236}">
                <a16:creationId xmlns:a16="http://schemas.microsoft.com/office/drawing/2014/main" id="{95BCA222-27DB-5996-FCB3-D0B6734D77C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57300" y="1114425"/>
            <a:ext cx="628650" cy="5143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7" name="Line 25">
            <a:extLst>
              <a:ext uri="{FF2B5EF4-FFF2-40B4-BE49-F238E27FC236}">
                <a16:creationId xmlns:a16="http://schemas.microsoft.com/office/drawing/2014/main" id="{BA5F45F5-F7A2-2A6E-6230-5A42538CAE74}"/>
              </a:ext>
            </a:extLst>
          </p:cNvPr>
          <p:cNvSpPr>
            <a:spLocks noChangeShapeType="1"/>
          </p:cNvSpPr>
          <p:nvPr/>
        </p:nvSpPr>
        <p:spPr bwMode="auto">
          <a:xfrm>
            <a:off x="2493963" y="1114425"/>
            <a:ext cx="649287" cy="49530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98" name="Rectangle 26">
            <a:extLst>
              <a:ext uri="{FF2B5EF4-FFF2-40B4-BE49-F238E27FC236}">
                <a16:creationId xmlns:a16="http://schemas.microsoft.com/office/drawing/2014/main" id="{FB5065A5-AB48-133B-F15A-EE81D3D589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1925638"/>
            <a:ext cx="8699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CountyTax</a:t>
            </a:r>
          </a:p>
        </p:txBody>
      </p:sp>
      <p:sp>
        <p:nvSpPr>
          <p:cNvPr id="3099" name="Rectangle 27">
            <a:extLst>
              <a:ext uri="{FF2B5EF4-FFF2-40B4-BE49-F238E27FC236}">
                <a16:creationId xmlns:a16="http://schemas.microsoft.com/office/drawing/2014/main" id="{090B2309-12BB-2ADD-6831-A82DE4B73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0" y="1925638"/>
            <a:ext cx="9461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PayerCount</a:t>
            </a:r>
          </a:p>
        </p:txBody>
      </p:sp>
      <p:sp>
        <p:nvSpPr>
          <p:cNvPr id="3100" name="Rectangle 28">
            <a:extLst>
              <a:ext uri="{FF2B5EF4-FFF2-40B4-BE49-F238E27FC236}">
                <a16:creationId xmlns:a16="http://schemas.microsoft.com/office/drawing/2014/main" id="{9D14D20E-A8BB-FB3E-DE25-91D987CDA9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58913"/>
            <a:ext cx="14033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b="1">
                <a:latin typeface="Courier New" panose="02070309020205020404" pitchFamily="49" charset="0"/>
              </a:rPr>
              <a:t>CountyTaxDetails</a:t>
            </a:r>
          </a:p>
        </p:txBody>
      </p:sp>
      <p:sp>
        <p:nvSpPr>
          <p:cNvPr id="3101" name="Rectangle 29">
            <a:extLst>
              <a:ext uri="{FF2B5EF4-FFF2-40B4-BE49-F238E27FC236}">
                <a16:creationId xmlns:a16="http://schemas.microsoft.com/office/drawing/2014/main" id="{FE50A667-B5E3-2991-98BD-4286EC7F2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" y="0"/>
            <a:ext cx="3155950" cy="61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CountyTaxTable.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CountyTaxDetails OCCURS 26 TIMES.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CountyTax   PIC 9(8)V99.  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PayerCount  PIC 9(7).</a:t>
            </a:r>
            <a:r>
              <a:rPr lang="en-US" altLang="en-US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3102" name="Rectangle 30">
            <a:extLst>
              <a:ext uri="{FF2B5EF4-FFF2-40B4-BE49-F238E27FC236}">
                <a16:creationId xmlns:a16="http://schemas.microsoft.com/office/drawing/2014/main" id="{C1B9369A-E251-EF23-759E-9C0752946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" y="2122488"/>
            <a:ext cx="3201988" cy="869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CountyTax(3)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67 TO PayerCount(6)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1234.45 TO CountyTax(4)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CountyTaxDetails(4)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CountyTaxTable</a:t>
            </a:r>
          </a:p>
        </p:txBody>
      </p:sp>
      <p:sp>
        <p:nvSpPr>
          <p:cNvPr id="3103" name="Line 31">
            <a:extLst>
              <a:ext uri="{FF2B5EF4-FFF2-40B4-BE49-F238E27FC236}">
                <a16:creationId xmlns:a16="http://schemas.microsoft.com/office/drawing/2014/main" id="{15D2812A-C5F5-1434-E9CA-D142401E3E4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1825" y="1106488"/>
            <a:ext cx="573088" cy="0"/>
          </a:xfrm>
          <a:prstGeom prst="line">
            <a:avLst/>
          </a:prstGeom>
          <a:noFill/>
          <a:ln w="50800">
            <a:solidFill>
              <a:schemeClr val="bg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60FC938D-9D6D-BB1B-B039-9018BB4182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" y="1135063"/>
            <a:ext cx="3843338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1     2    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3  </a:t>
            </a:r>
            <a:r>
              <a:rPr lang="en-US" altLang="en-US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 4     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5     6      7</a:t>
            </a:r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4B06B5C7-EB5B-00DF-6D7D-A82D19405B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3" y="631825"/>
            <a:ext cx="1185862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r>
              <a:rPr lang="en-US" altLang="en-US" sz="1200" b="1">
                <a:latin typeface="Arial" panose="020B0604020202020204" pitchFamily="34" charset="0"/>
              </a:rPr>
              <a:t>CountyTaxTable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277DE3C3-77F5-5F0C-5258-D31F80DF4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822325"/>
            <a:ext cx="59690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1" name="Rectangle 5">
            <a:extLst>
              <a:ext uri="{FF2B5EF4-FFF2-40B4-BE49-F238E27FC236}">
                <a16:creationId xmlns:a16="http://schemas.microsoft.com/office/drawing/2014/main" id="{52AAFB12-D4F4-DEA7-7725-631CF388C7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C08D62C3-CC78-EF8A-FBCD-51C0C91C9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3" name="Rectangle 7">
            <a:extLst>
              <a:ext uri="{FF2B5EF4-FFF2-40B4-BE49-F238E27FC236}">
                <a16:creationId xmlns:a16="http://schemas.microsoft.com/office/drawing/2014/main" id="{8863B7B8-0605-60F9-4DD0-3105E390D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822325"/>
            <a:ext cx="596900" cy="295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4" name="Rectangle 8">
            <a:extLst>
              <a:ext uri="{FF2B5EF4-FFF2-40B4-BE49-F238E27FC236}">
                <a16:creationId xmlns:a16="http://schemas.microsoft.com/office/drawing/2014/main" id="{2B5BD742-205D-CB1B-37E1-F0682E36A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822325"/>
            <a:ext cx="593725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5" name="Rectangle 9">
            <a:extLst>
              <a:ext uri="{FF2B5EF4-FFF2-40B4-BE49-F238E27FC236}">
                <a16:creationId xmlns:a16="http://schemas.microsoft.com/office/drawing/2014/main" id="{29819BF8-A3AE-23AB-C48A-9F7B889089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100" y="822325"/>
            <a:ext cx="595313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6" name="Rectangle 10">
            <a:extLst>
              <a:ext uri="{FF2B5EF4-FFF2-40B4-BE49-F238E27FC236}">
                <a16:creationId xmlns:a16="http://schemas.microsoft.com/office/drawing/2014/main" id="{0021C09E-DFA1-6F9B-1014-989CAB039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7" name="Rectangle 11">
            <a:extLst>
              <a:ext uri="{FF2B5EF4-FFF2-40B4-BE49-F238E27FC236}">
                <a16:creationId xmlns:a16="http://schemas.microsoft.com/office/drawing/2014/main" id="{05008309-FFDC-71AB-74A2-5A7A5DEBD9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827088"/>
            <a:ext cx="4275138" cy="28416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110" name="Group 14">
            <a:extLst>
              <a:ext uri="{FF2B5EF4-FFF2-40B4-BE49-F238E27FC236}">
                <a16:creationId xmlns:a16="http://schemas.microsoft.com/office/drawing/2014/main" id="{1A1E2756-5A21-D502-75D6-A39F2C983B3A}"/>
              </a:ext>
            </a:extLst>
          </p:cNvPr>
          <p:cNvGrpSpPr>
            <a:grpSpLocks/>
          </p:cNvGrpSpPr>
          <p:nvPr/>
        </p:nvGrpSpPr>
        <p:grpSpPr bwMode="auto">
          <a:xfrm>
            <a:off x="4210050" y="812800"/>
            <a:ext cx="200025" cy="317500"/>
            <a:chOff x="2652" y="512"/>
            <a:chExt cx="126" cy="200"/>
          </a:xfrm>
        </p:grpSpPr>
        <p:sp>
          <p:nvSpPr>
            <p:cNvPr id="4108" name="Freeform 12">
              <a:extLst>
                <a:ext uri="{FF2B5EF4-FFF2-40B4-BE49-F238E27FC236}">
                  <a16:creationId xmlns:a16="http://schemas.microsoft.com/office/drawing/2014/main" id="{32D7C28F-6E64-76E1-AEEA-AC0005E0CA75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520"/>
              <a:ext cx="70" cy="185"/>
            </a:xfrm>
            <a:custGeom>
              <a:avLst/>
              <a:gdLst>
                <a:gd name="T0" fmla="*/ 69 w 70"/>
                <a:gd name="T1" fmla="*/ 0 h 185"/>
                <a:gd name="T2" fmla="*/ 55 w 70"/>
                <a:gd name="T3" fmla="*/ 0 h 185"/>
                <a:gd name="T4" fmla="*/ 41 w 70"/>
                <a:gd name="T5" fmla="*/ 0 h 185"/>
                <a:gd name="T6" fmla="*/ 27 w 70"/>
                <a:gd name="T7" fmla="*/ 4 h 185"/>
                <a:gd name="T8" fmla="*/ 27 w 70"/>
                <a:gd name="T9" fmla="*/ 12 h 185"/>
                <a:gd name="T10" fmla="*/ 27 w 70"/>
                <a:gd name="T11" fmla="*/ 20 h 185"/>
                <a:gd name="T12" fmla="*/ 20 w 70"/>
                <a:gd name="T13" fmla="*/ 28 h 185"/>
                <a:gd name="T14" fmla="*/ 13 w 70"/>
                <a:gd name="T15" fmla="*/ 36 h 185"/>
                <a:gd name="T16" fmla="*/ 13 w 70"/>
                <a:gd name="T17" fmla="*/ 44 h 185"/>
                <a:gd name="T18" fmla="*/ 27 w 70"/>
                <a:gd name="T19" fmla="*/ 49 h 185"/>
                <a:gd name="T20" fmla="*/ 27 w 70"/>
                <a:gd name="T21" fmla="*/ 57 h 185"/>
                <a:gd name="T22" fmla="*/ 20 w 70"/>
                <a:gd name="T23" fmla="*/ 65 h 185"/>
                <a:gd name="T24" fmla="*/ 6 w 70"/>
                <a:gd name="T25" fmla="*/ 69 h 185"/>
                <a:gd name="T26" fmla="*/ 6 w 70"/>
                <a:gd name="T27" fmla="*/ 77 h 185"/>
                <a:gd name="T28" fmla="*/ 6 w 70"/>
                <a:gd name="T29" fmla="*/ 85 h 185"/>
                <a:gd name="T30" fmla="*/ 20 w 70"/>
                <a:gd name="T31" fmla="*/ 89 h 185"/>
                <a:gd name="T32" fmla="*/ 27 w 70"/>
                <a:gd name="T33" fmla="*/ 98 h 185"/>
                <a:gd name="T34" fmla="*/ 20 w 70"/>
                <a:gd name="T35" fmla="*/ 106 h 185"/>
                <a:gd name="T36" fmla="*/ 13 w 70"/>
                <a:gd name="T37" fmla="*/ 114 h 185"/>
                <a:gd name="T38" fmla="*/ 0 w 70"/>
                <a:gd name="T39" fmla="*/ 118 h 185"/>
                <a:gd name="T40" fmla="*/ 0 w 70"/>
                <a:gd name="T41" fmla="*/ 126 h 185"/>
                <a:gd name="T42" fmla="*/ 13 w 70"/>
                <a:gd name="T43" fmla="*/ 134 h 185"/>
                <a:gd name="T44" fmla="*/ 20 w 70"/>
                <a:gd name="T45" fmla="*/ 143 h 185"/>
                <a:gd name="T46" fmla="*/ 6 w 70"/>
                <a:gd name="T47" fmla="*/ 147 h 185"/>
                <a:gd name="T48" fmla="*/ 6 w 70"/>
                <a:gd name="T49" fmla="*/ 155 h 185"/>
                <a:gd name="T50" fmla="*/ 6 w 70"/>
                <a:gd name="T51" fmla="*/ 163 h 185"/>
                <a:gd name="T52" fmla="*/ 20 w 70"/>
                <a:gd name="T53" fmla="*/ 163 h 185"/>
                <a:gd name="T54" fmla="*/ 20 w 70"/>
                <a:gd name="T55" fmla="*/ 171 h 185"/>
                <a:gd name="T56" fmla="*/ 27 w 70"/>
                <a:gd name="T57" fmla="*/ 179 h 185"/>
                <a:gd name="T58" fmla="*/ 41 w 70"/>
                <a:gd name="T59" fmla="*/ 184 h 185"/>
                <a:gd name="T60" fmla="*/ 55 w 70"/>
                <a:gd name="T61" fmla="*/ 184 h 185"/>
                <a:gd name="T62" fmla="*/ 69 w 70"/>
                <a:gd name="T63" fmla="*/ 184 h 185"/>
                <a:gd name="T64" fmla="*/ 69 w 70"/>
                <a:gd name="T65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0" h="185">
                  <a:moveTo>
                    <a:pt x="69" y="0"/>
                  </a:moveTo>
                  <a:lnTo>
                    <a:pt x="55" y="0"/>
                  </a:lnTo>
                  <a:lnTo>
                    <a:pt x="41" y="0"/>
                  </a:lnTo>
                  <a:lnTo>
                    <a:pt x="27" y="4"/>
                  </a:lnTo>
                  <a:lnTo>
                    <a:pt x="27" y="12"/>
                  </a:lnTo>
                  <a:lnTo>
                    <a:pt x="27" y="20"/>
                  </a:lnTo>
                  <a:lnTo>
                    <a:pt x="20" y="28"/>
                  </a:lnTo>
                  <a:lnTo>
                    <a:pt x="13" y="36"/>
                  </a:lnTo>
                  <a:lnTo>
                    <a:pt x="13" y="44"/>
                  </a:lnTo>
                  <a:lnTo>
                    <a:pt x="27" y="49"/>
                  </a:lnTo>
                  <a:lnTo>
                    <a:pt x="27" y="57"/>
                  </a:lnTo>
                  <a:lnTo>
                    <a:pt x="20" y="65"/>
                  </a:lnTo>
                  <a:lnTo>
                    <a:pt x="6" y="69"/>
                  </a:lnTo>
                  <a:lnTo>
                    <a:pt x="6" y="77"/>
                  </a:lnTo>
                  <a:lnTo>
                    <a:pt x="6" y="85"/>
                  </a:lnTo>
                  <a:lnTo>
                    <a:pt x="20" y="89"/>
                  </a:lnTo>
                  <a:lnTo>
                    <a:pt x="27" y="98"/>
                  </a:lnTo>
                  <a:lnTo>
                    <a:pt x="20" y="106"/>
                  </a:lnTo>
                  <a:lnTo>
                    <a:pt x="13" y="114"/>
                  </a:lnTo>
                  <a:lnTo>
                    <a:pt x="0" y="118"/>
                  </a:lnTo>
                  <a:lnTo>
                    <a:pt x="0" y="126"/>
                  </a:lnTo>
                  <a:lnTo>
                    <a:pt x="13" y="134"/>
                  </a:lnTo>
                  <a:lnTo>
                    <a:pt x="20" y="143"/>
                  </a:lnTo>
                  <a:lnTo>
                    <a:pt x="6" y="147"/>
                  </a:lnTo>
                  <a:lnTo>
                    <a:pt x="6" y="155"/>
                  </a:lnTo>
                  <a:lnTo>
                    <a:pt x="6" y="163"/>
                  </a:lnTo>
                  <a:lnTo>
                    <a:pt x="20" y="163"/>
                  </a:lnTo>
                  <a:lnTo>
                    <a:pt x="20" y="171"/>
                  </a:lnTo>
                  <a:lnTo>
                    <a:pt x="27" y="179"/>
                  </a:lnTo>
                  <a:lnTo>
                    <a:pt x="41" y="184"/>
                  </a:lnTo>
                  <a:lnTo>
                    <a:pt x="55" y="184"/>
                  </a:lnTo>
                  <a:lnTo>
                    <a:pt x="69" y="184"/>
                  </a:lnTo>
                  <a:lnTo>
                    <a:pt x="69" y="0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9" name="Rectangle 13">
              <a:extLst>
                <a:ext uri="{FF2B5EF4-FFF2-40B4-BE49-F238E27FC236}">
                  <a16:creationId xmlns:a16="http://schemas.microsoft.com/office/drawing/2014/main" id="{3F523CBA-0BC8-3F77-36DE-C05A3B1A1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512"/>
              <a:ext cx="83" cy="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4111" name="AutoShape 15">
            <a:extLst>
              <a:ext uri="{FF2B5EF4-FFF2-40B4-BE49-F238E27FC236}">
                <a16:creationId xmlns:a16="http://schemas.microsoft.com/office/drawing/2014/main" id="{A52417A6-EFAB-204E-118F-73011497E0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7838" y="906463"/>
            <a:ext cx="311150" cy="139700"/>
          </a:xfrm>
          <a:prstGeom prst="rightArrow">
            <a:avLst>
              <a:gd name="adj1" fmla="val 50000"/>
              <a:gd name="adj2" fmla="val 111374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7961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2" name="Line 16">
            <a:extLst>
              <a:ext uri="{FF2B5EF4-FFF2-40B4-BE49-F238E27FC236}">
                <a16:creationId xmlns:a16="http://schemas.microsoft.com/office/drawing/2014/main" id="{83C316E0-56C0-015B-2DE6-886B2D241B03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0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3" name="Line 17">
            <a:extLst>
              <a:ext uri="{FF2B5EF4-FFF2-40B4-BE49-F238E27FC236}">
                <a16:creationId xmlns:a16="http://schemas.microsoft.com/office/drawing/2014/main" id="{03FD11F2-E2C4-33AD-A1C7-1760A23DB9D6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4" name="Line 18">
            <a:extLst>
              <a:ext uri="{FF2B5EF4-FFF2-40B4-BE49-F238E27FC236}">
                <a16:creationId xmlns:a16="http://schemas.microsoft.com/office/drawing/2014/main" id="{BA1DBB70-9C5B-1493-16B3-4D1C2A1DD392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5" name="Line 19">
            <a:extLst>
              <a:ext uri="{FF2B5EF4-FFF2-40B4-BE49-F238E27FC236}">
                <a16:creationId xmlns:a16="http://schemas.microsoft.com/office/drawing/2014/main" id="{719E7C74-8DCF-25BD-87F5-67539E809131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13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6" name="Line 20">
            <a:extLst>
              <a:ext uri="{FF2B5EF4-FFF2-40B4-BE49-F238E27FC236}">
                <a16:creationId xmlns:a16="http://schemas.microsoft.com/office/drawing/2014/main" id="{EA07B28E-72F5-D44D-5FF6-3B686AF8DDBA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18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7" name="Line 21">
            <a:extLst>
              <a:ext uri="{FF2B5EF4-FFF2-40B4-BE49-F238E27FC236}">
                <a16:creationId xmlns:a16="http://schemas.microsoft.com/office/drawing/2014/main" id="{8FF9A251-0978-1F7E-6156-CD87FF1224E8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4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8" name="Rectangle 22">
            <a:extLst>
              <a:ext uri="{FF2B5EF4-FFF2-40B4-BE49-F238E27FC236}">
                <a16:creationId xmlns:a16="http://schemas.microsoft.com/office/drawing/2014/main" id="{F226D785-496E-805C-1E63-323348399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650" y="1622425"/>
            <a:ext cx="187325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19" name="Line 23">
            <a:extLst>
              <a:ext uri="{FF2B5EF4-FFF2-40B4-BE49-F238E27FC236}">
                <a16:creationId xmlns:a16="http://schemas.microsoft.com/office/drawing/2014/main" id="{4F6299FA-5E93-E6A0-D01B-E98117F3E01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0750" y="16287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0" name="Line 24">
            <a:extLst>
              <a:ext uri="{FF2B5EF4-FFF2-40B4-BE49-F238E27FC236}">
                <a16:creationId xmlns:a16="http://schemas.microsoft.com/office/drawing/2014/main" id="{D98CBBE0-0D00-AED4-B5C5-656CBC5FFB3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57300" y="1114425"/>
            <a:ext cx="628650" cy="5143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1" name="Line 25">
            <a:extLst>
              <a:ext uri="{FF2B5EF4-FFF2-40B4-BE49-F238E27FC236}">
                <a16:creationId xmlns:a16="http://schemas.microsoft.com/office/drawing/2014/main" id="{68B05C1F-F4D6-9903-FE0A-06D30E3EC30E}"/>
              </a:ext>
            </a:extLst>
          </p:cNvPr>
          <p:cNvSpPr>
            <a:spLocks noChangeShapeType="1"/>
          </p:cNvSpPr>
          <p:nvPr/>
        </p:nvSpPr>
        <p:spPr bwMode="auto">
          <a:xfrm>
            <a:off x="2493963" y="1114425"/>
            <a:ext cx="649287" cy="49530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2" name="Rectangle 26">
            <a:extLst>
              <a:ext uri="{FF2B5EF4-FFF2-40B4-BE49-F238E27FC236}">
                <a16:creationId xmlns:a16="http://schemas.microsoft.com/office/drawing/2014/main" id="{F95BA259-F205-73A1-B158-9952A3DCC0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1925638"/>
            <a:ext cx="8699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CountyTax</a:t>
            </a:r>
          </a:p>
        </p:txBody>
      </p:sp>
      <p:sp>
        <p:nvSpPr>
          <p:cNvPr id="4123" name="Rectangle 27">
            <a:extLst>
              <a:ext uri="{FF2B5EF4-FFF2-40B4-BE49-F238E27FC236}">
                <a16:creationId xmlns:a16="http://schemas.microsoft.com/office/drawing/2014/main" id="{FD643C67-BDBB-402A-5ACF-423CDB0410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0" y="1925638"/>
            <a:ext cx="9461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PayerCount</a:t>
            </a:r>
          </a:p>
        </p:txBody>
      </p:sp>
      <p:sp>
        <p:nvSpPr>
          <p:cNvPr id="4124" name="Rectangle 28">
            <a:extLst>
              <a:ext uri="{FF2B5EF4-FFF2-40B4-BE49-F238E27FC236}">
                <a16:creationId xmlns:a16="http://schemas.microsoft.com/office/drawing/2014/main" id="{7AA620D9-9898-3DC8-F98F-A6585DAF47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58913"/>
            <a:ext cx="14033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b="1">
                <a:latin typeface="Courier New" panose="02070309020205020404" pitchFamily="49" charset="0"/>
              </a:rPr>
              <a:t>CountyTaxDetails</a:t>
            </a:r>
          </a:p>
        </p:txBody>
      </p:sp>
      <p:sp>
        <p:nvSpPr>
          <p:cNvPr id="4125" name="Rectangle 29">
            <a:extLst>
              <a:ext uri="{FF2B5EF4-FFF2-40B4-BE49-F238E27FC236}">
                <a16:creationId xmlns:a16="http://schemas.microsoft.com/office/drawing/2014/main" id="{D4F57B2C-7143-7928-DAE4-2A1F284AF2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" y="0"/>
            <a:ext cx="3155950" cy="61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CountyTaxTable.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CountyTaxDetails OCCURS 26 TIMES.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CountyTax   PIC 9(8)V99.  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PayerCount  PIC 9(7).</a:t>
            </a:r>
            <a:r>
              <a:rPr lang="en-US" altLang="en-US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4126" name="Rectangle 30">
            <a:extLst>
              <a:ext uri="{FF2B5EF4-FFF2-40B4-BE49-F238E27FC236}">
                <a16:creationId xmlns:a16="http://schemas.microsoft.com/office/drawing/2014/main" id="{43D7711D-34BF-DE0B-1CF8-3DABFC438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" y="2122488"/>
            <a:ext cx="3201988" cy="869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MOVE ZEROS TO CountyTax(3)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67 TO PayerCount(6)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1234.45 TO CountyTax(4)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CountyTaxDetails(4)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CountyTaxTable</a:t>
            </a:r>
          </a:p>
        </p:txBody>
      </p:sp>
      <p:sp>
        <p:nvSpPr>
          <p:cNvPr id="4127" name="Line 31">
            <a:extLst>
              <a:ext uri="{FF2B5EF4-FFF2-40B4-BE49-F238E27FC236}">
                <a16:creationId xmlns:a16="http://schemas.microsoft.com/office/drawing/2014/main" id="{D8FB9BC7-B603-13D5-F4E6-FAEF8F1AE90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1825" y="1106488"/>
            <a:ext cx="573088" cy="0"/>
          </a:xfrm>
          <a:prstGeom prst="line">
            <a:avLst/>
          </a:prstGeom>
          <a:noFill/>
          <a:ln w="50800">
            <a:solidFill>
              <a:schemeClr val="bg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8" name="Rectangle 32">
            <a:extLst>
              <a:ext uri="{FF2B5EF4-FFF2-40B4-BE49-F238E27FC236}">
                <a16:creationId xmlns:a16="http://schemas.microsoft.com/office/drawing/2014/main" id="{6F91556B-828B-4B53-C950-7F8313573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83661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C5F3F387-6024-F994-7AE4-D5A8D0B7D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" y="1135063"/>
            <a:ext cx="3843338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1     2    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3  </a:t>
            </a:r>
            <a:r>
              <a:rPr lang="en-US" altLang="en-US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 4     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5     6      7</a:t>
            </a:r>
          </a:p>
        </p:txBody>
      </p:sp>
      <p:sp>
        <p:nvSpPr>
          <p:cNvPr id="5123" name="Rectangle 3">
            <a:extLst>
              <a:ext uri="{FF2B5EF4-FFF2-40B4-BE49-F238E27FC236}">
                <a16:creationId xmlns:a16="http://schemas.microsoft.com/office/drawing/2014/main" id="{EB43EC9C-9C7A-56EF-6394-5F12B469A9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3" y="631825"/>
            <a:ext cx="1185862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r>
              <a:rPr lang="en-US" altLang="en-US" sz="1200" b="1">
                <a:latin typeface="Arial" panose="020B0604020202020204" pitchFamily="34" charset="0"/>
              </a:rPr>
              <a:t>CountyTaxTable</a:t>
            </a:r>
          </a:p>
        </p:txBody>
      </p:sp>
      <p:sp>
        <p:nvSpPr>
          <p:cNvPr id="5124" name="Rectangle 4">
            <a:extLst>
              <a:ext uri="{FF2B5EF4-FFF2-40B4-BE49-F238E27FC236}">
                <a16:creationId xmlns:a16="http://schemas.microsoft.com/office/drawing/2014/main" id="{CA0953D7-DC3F-E652-5543-648193A2ED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822325"/>
            <a:ext cx="59690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5" name="Rectangle 5">
            <a:extLst>
              <a:ext uri="{FF2B5EF4-FFF2-40B4-BE49-F238E27FC236}">
                <a16:creationId xmlns:a16="http://schemas.microsoft.com/office/drawing/2014/main" id="{294547FC-213D-0680-6B18-066DF430B3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EBE0F43F-2F34-B00A-F777-0C671AB1CF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7" name="Rectangle 7">
            <a:extLst>
              <a:ext uri="{FF2B5EF4-FFF2-40B4-BE49-F238E27FC236}">
                <a16:creationId xmlns:a16="http://schemas.microsoft.com/office/drawing/2014/main" id="{A6FE7F9E-3F70-071D-53EA-9E00978FC4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822325"/>
            <a:ext cx="596900" cy="295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8" name="Rectangle 8">
            <a:extLst>
              <a:ext uri="{FF2B5EF4-FFF2-40B4-BE49-F238E27FC236}">
                <a16:creationId xmlns:a16="http://schemas.microsoft.com/office/drawing/2014/main" id="{D026EBC3-E192-CCC7-B2C9-7AD711FC4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822325"/>
            <a:ext cx="593725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29" name="Rectangle 9">
            <a:extLst>
              <a:ext uri="{FF2B5EF4-FFF2-40B4-BE49-F238E27FC236}">
                <a16:creationId xmlns:a16="http://schemas.microsoft.com/office/drawing/2014/main" id="{62FD3D03-ABAE-E35E-E23D-2585C5F673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100" y="822325"/>
            <a:ext cx="595313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0" name="Rectangle 10">
            <a:extLst>
              <a:ext uri="{FF2B5EF4-FFF2-40B4-BE49-F238E27FC236}">
                <a16:creationId xmlns:a16="http://schemas.microsoft.com/office/drawing/2014/main" id="{CD1CAC3F-57CB-A3F3-C1C7-3875C98A8B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1" name="Rectangle 11">
            <a:extLst>
              <a:ext uri="{FF2B5EF4-FFF2-40B4-BE49-F238E27FC236}">
                <a16:creationId xmlns:a16="http://schemas.microsoft.com/office/drawing/2014/main" id="{E5762334-7844-EB27-2FD8-9CF6AF9A2A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827088"/>
            <a:ext cx="4275138" cy="28416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5134" name="Group 14">
            <a:extLst>
              <a:ext uri="{FF2B5EF4-FFF2-40B4-BE49-F238E27FC236}">
                <a16:creationId xmlns:a16="http://schemas.microsoft.com/office/drawing/2014/main" id="{A71DE6C8-BD2E-24A3-6089-B8BC68C7AB98}"/>
              </a:ext>
            </a:extLst>
          </p:cNvPr>
          <p:cNvGrpSpPr>
            <a:grpSpLocks/>
          </p:cNvGrpSpPr>
          <p:nvPr/>
        </p:nvGrpSpPr>
        <p:grpSpPr bwMode="auto">
          <a:xfrm>
            <a:off x="4210050" y="812800"/>
            <a:ext cx="200025" cy="317500"/>
            <a:chOff x="2652" y="512"/>
            <a:chExt cx="126" cy="200"/>
          </a:xfrm>
        </p:grpSpPr>
        <p:sp>
          <p:nvSpPr>
            <p:cNvPr id="5132" name="Freeform 12">
              <a:extLst>
                <a:ext uri="{FF2B5EF4-FFF2-40B4-BE49-F238E27FC236}">
                  <a16:creationId xmlns:a16="http://schemas.microsoft.com/office/drawing/2014/main" id="{030FCE7C-6DA8-9038-A8D5-0BD2773D33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520"/>
              <a:ext cx="70" cy="185"/>
            </a:xfrm>
            <a:custGeom>
              <a:avLst/>
              <a:gdLst>
                <a:gd name="T0" fmla="*/ 69 w 70"/>
                <a:gd name="T1" fmla="*/ 0 h 185"/>
                <a:gd name="T2" fmla="*/ 55 w 70"/>
                <a:gd name="T3" fmla="*/ 0 h 185"/>
                <a:gd name="T4" fmla="*/ 41 w 70"/>
                <a:gd name="T5" fmla="*/ 0 h 185"/>
                <a:gd name="T6" fmla="*/ 27 w 70"/>
                <a:gd name="T7" fmla="*/ 4 h 185"/>
                <a:gd name="T8" fmla="*/ 27 w 70"/>
                <a:gd name="T9" fmla="*/ 12 h 185"/>
                <a:gd name="T10" fmla="*/ 27 w 70"/>
                <a:gd name="T11" fmla="*/ 20 h 185"/>
                <a:gd name="T12" fmla="*/ 20 w 70"/>
                <a:gd name="T13" fmla="*/ 28 h 185"/>
                <a:gd name="T14" fmla="*/ 13 w 70"/>
                <a:gd name="T15" fmla="*/ 36 h 185"/>
                <a:gd name="T16" fmla="*/ 13 w 70"/>
                <a:gd name="T17" fmla="*/ 44 h 185"/>
                <a:gd name="T18" fmla="*/ 27 w 70"/>
                <a:gd name="T19" fmla="*/ 49 h 185"/>
                <a:gd name="T20" fmla="*/ 27 w 70"/>
                <a:gd name="T21" fmla="*/ 57 h 185"/>
                <a:gd name="T22" fmla="*/ 20 w 70"/>
                <a:gd name="T23" fmla="*/ 65 h 185"/>
                <a:gd name="T24" fmla="*/ 6 w 70"/>
                <a:gd name="T25" fmla="*/ 69 h 185"/>
                <a:gd name="T26" fmla="*/ 6 w 70"/>
                <a:gd name="T27" fmla="*/ 77 h 185"/>
                <a:gd name="T28" fmla="*/ 6 w 70"/>
                <a:gd name="T29" fmla="*/ 85 h 185"/>
                <a:gd name="T30" fmla="*/ 20 w 70"/>
                <a:gd name="T31" fmla="*/ 89 h 185"/>
                <a:gd name="T32" fmla="*/ 27 w 70"/>
                <a:gd name="T33" fmla="*/ 98 h 185"/>
                <a:gd name="T34" fmla="*/ 20 w 70"/>
                <a:gd name="T35" fmla="*/ 106 h 185"/>
                <a:gd name="T36" fmla="*/ 13 w 70"/>
                <a:gd name="T37" fmla="*/ 114 h 185"/>
                <a:gd name="T38" fmla="*/ 0 w 70"/>
                <a:gd name="T39" fmla="*/ 118 h 185"/>
                <a:gd name="T40" fmla="*/ 0 w 70"/>
                <a:gd name="T41" fmla="*/ 126 h 185"/>
                <a:gd name="T42" fmla="*/ 13 w 70"/>
                <a:gd name="T43" fmla="*/ 134 h 185"/>
                <a:gd name="T44" fmla="*/ 20 w 70"/>
                <a:gd name="T45" fmla="*/ 143 h 185"/>
                <a:gd name="T46" fmla="*/ 6 w 70"/>
                <a:gd name="T47" fmla="*/ 147 h 185"/>
                <a:gd name="T48" fmla="*/ 6 w 70"/>
                <a:gd name="T49" fmla="*/ 155 h 185"/>
                <a:gd name="T50" fmla="*/ 6 w 70"/>
                <a:gd name="T51" fmla="*/ 163 h 185"/>
                <a:gd name="T52" fmla="*/ 20 w 70"/>
                <a:gd name="T53" fmla="*/ 163 h 185"/>
                <a:gd name="T54" fmla="*/ 20 w 70"/>
                <a:gd name="T55" fmla="*/ 171 h 185"/>
                <a:gd name="T56" fmla="*/ 27 w 70"/>
                <a:gd name="T57" fmla="*/ 179 h 185"/>
                <a:gd name="T58" fmla="*/ 41 w 70"/>
                <a:gd name="T59" fmla="*/ 184 h 185"/>
                <a:gd name="T60" fmla="*/ 55 w 70"/>
                <a:gd name="T61" fmla="*/ 184 h 185"/>
                <a:gd name="T62" fmla="*/ 69 w 70"/>
                <a:gd name="T63" fmla="*/ 184 h 185"/>
                <a:gd name="T64" fmla="*/ 69 w 70"/>
                <a:gd name="T65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0" h="185">
                  <a:moveTo>
                    <a:pt x="69" y="0"/>
                  </a:moveTo>
                  <a:lnTo>
                    <a:pt x="55" y="0"/>
                  </a:lnTo>
                  <a:lnTo>
                    <a:pt x="41" y="0"/>
                  </a:lnTo>
                  <a:lnTo>
                    <a:pt x="27" y="4"/>
                  </a:lnTo>
                  <a:lnTo>
                    <a:pt x="27" y="12"/>
                  </a:lnTo>
                  <a:lnTo>
                    <a:pt x="27" y="20"/>
                  </a:lnTo>
                  <a:lnTo>
                    <a:pt x="20" y="28"/>
                  </a:lnTo>
                  <a:lnTo>
                    <a:pt x="13" y="36"/>
                  </a:lnTo>
                  <a:lnTo>
                    <a:pt x="13" y="44"/>
                  </a:lnTo>
                  <a:lnTo>
                    <a:pt x="27" y="49"/>
                  </a:lnTo>
                  <a:lnTo>
                    <a:pt x="27" y="57"/>
                  </a:lnTo>
                  <a:lnTo>
                    <a:pt x="20" y="65"/>
                  </a:lnTo>
                  <a:lnTo>
                    <a:pt x="6" y="69"/>
                  </a:lnTo>
                  <a:lnTo>
                    <a:pt x="6" y="77"/>
                  </a:lnTo>
                  <a:lnTo>
                    <a:pt x="6" y="85"/>
                  </a:lnTo>
                  <a:lnTo>
                    <a:pt x="20" y="89"/>
                  </a:lnTo>
                  <a:lnTo>
                    <a:pt x="27" y="98"/>
                  </a:lnTo>
                  <a:lnTo>
                    <a:pt x="20" y="106"/>
                  </a:lnTo>
                  <a:lnTo>
                    <a:pt x="13" y="114"/>
                  </a:lnTo>
                  <a:lnTo>
                    <a:pt x="0" y="118"/>
                  </a:lnTo>
                  <a:lnTo>
                    <a:pt x="0" y="126"/>
                  </a:lnTo>
                  <a:lnTo>
                    <a:pt x="13" y="134"/>
                  </a:lnTo>
                  <a:lnTo>
                    <a:pt x="20" y="143"/>
                  </a:lnTo>
                  <a:lnTo>
                    <a:pt x="6" y="147"/>
                  </a:lnTo>
                  <a:lnTo>
                    <a:pt x="6" y="155"/>
                  </a:lnTo>
                  <a:lnTo>
                    <a:pt x="6" y="163"/>
                  </a:lnTo>
                  <a:lnTo>
                    <a:pt x="20" y="163"/>
                  </a:lnTo>
                  <a:lnTo>
                    <a:pt x="20" y="171"/>
                  </a:lnTo>
                  <a:lnTo>
                    <a:pt x="27" y="179"/>
                  </a:lnTo>
                  <a:lnTo>
                    <a:pt x="41" y="184"/>
                  </a:lnTo>
                  <a:lnTo>
                    <a:pt x="55" y="184"/>
                  </a:lnTo>
                  <a:lnTo>
                    <a:pt x="69" y="184"/>
                  </a:lnTo>
                  <a:lnTo>
                    <a:pt x="69" y="0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3" name="Rectangle 13">
              <a:extLst>
                <a:ext uri="{FF2B5EF4-FFF2-40B4-BE49-F238E27FC236}">
                  <a16:creationId xmlns:a16="http://schemas.microsoft.com/office/drawing/2014/main" id="{1EF377AA-B951-100C-D25E-5DC920248D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512"/>
              <a:ext cx="83" cy="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5135" name="AutoShape 15">
            <a:extLst>
              <a:ext uri="{FF2B5EF4-FFF2-40B4-BE49-F238E27FC236}">
                <a16:creationId xmlns:a16="http://schemas.microsoft.com/office/drawing/2014/main" id="{588FB809-F17D-F1D9-4664-7C40673C1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7838" y="906463"/>
            <a:ext cx="311150" cy="139700"/>
          </a:xfrm>
          <a:prstGeom prst="rightArrow">
            <a:avLst>
              <a:gd name="adj1" fmla="val 50000"/>
              <a:gd name="adj2" fmla="val 111374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7961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6" name="Line 16">
            <a:extLst>
              <a:ext uri="{FF2B5EF4-FFF2-40B4-BE49-F238E27FC236}">
                <a16:creationId xmlns:a16="http://schemas.microsoft.com/office/drawing/2014/main" id="{9FC7A52C-ACED-92E3-DC15-5639D86E206C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0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7" name="Line 17">
            <a:extLst>
              <a:ext uri="{FF2B5EF4-FFF2-40B4-BE49-F238E27FC236}">
                <a16:creationId xmlns:a16="http://schemas.microsoft.com/office/drawing/2014/main" id="{979D1CCE-0CD3-4347-EEE8-50D451C5CA78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8" name="Line 18">
            <a:extLst>
              <a:ext uri="{FF2B5EF4-FFF2-40B4-BE49-F238E27FC236}">
                <a16:creationId xmlns:a16="http://schemas.microsoft.com/office/drawing/2014/main" id="{F5B083DF-39F3-C6FF-809F-5F9811DE2487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9" name="Line 19">
            <a:extLst>
              <a:ext uri="{FF2B5EF4-FFF2-40B4-BE49-F238E27FC236}">
                <a16:creationId xmlns:a16="http://schemas.microsoft.com/office/drawing/2014/main" id="{5B45210A-CE8C-7935-2815-6BE2C84A7CF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13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0" name="Line 20">
            <a:extLst>
              <a:ext uri="{FF2B5EF4-FFF2-40B4-BE49-F238E27FC236}">
                <a16:creationId xmlns:a16="http://schemas.microsoft.com/office/drawing/2014/main" id="{F239039E-0DCE-C369-7C66-87BA71E5302E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18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1" name="Line 21">
            <a:extLst>
              <a:ext uri="{FF2B5EF4-FFF2-40B4-BE49-F238E27FC236}">
                <a16:creationId xmlns:a16="http://schemas.microsoft.com/office/drawing/2014/main" id="{5EA2A960-907C-6E17-6406-8953D0A43281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4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2" name="Rectangle 22">
            <a:extLst>
              <a:ext uri="{FF2B5EF4-FFF2-40B4-BE49-F238E27FC236}">
                <a16:creationId xmlns:a16="http://schemas.microsoft.com/office/drawing/2014/main" id="{7348FEC3-AC0E-776B-902C-C27CE7A59B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650" y="1622425"/>
            <a:ext cx="187325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43" name="Line 23">
            <a:extLst>
              <a:ext uri="{FF2B5EF4-FFF2-40B4-BE49-F238E27FC236}">
                <a16:creationId xmlns:a16="http://schemas.microsoft.com/office/drawing/2014/main" id="{5956ADDD-CEB4-855E-7E10-4A5A8552C8B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0750" y="16287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4" name="Line 24">
            <a:extLst>
              <a:ext uri="{FF2B5EF4-FFF2-40B4-BE49-F238E27FC236}">
                <a16:creationId xmlns:a16="http://schemas.microsoft.com/office/drawing/2014/main" id="{B620EC87-A55F-D0C8-56BC-9DA55D565A0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57300" y="1114425"/>
            <a:ext cx="628650" cy="5143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5" name="Line 25">
            <a:extLst>
              <a:ext uri="{FF2B5EF4-FFF2-40B4-BE49-F238E27FC236}">
                <a16:creationId xmlns:a16="http://schemas.microsoft.com/office/drawing/2014/main" id="{F4B25155-A137-3B24-2BEC-508DAE4F02A4}"/>
              </a:ext>
            </a:extLst>
          </p:cNvPr>
          <p:cNvSpPr>
            <a:spLocks noChangeShapeType="1"/>
          </p:cNvSpPr>
          <p:nvPr/>
        </p:nvSpPr>
        <p:spPr bwMode="auto">
          <a:xfrm>
            <a:off x="2493963" y="1114425"/>
            <a:ext cx="649287" cy="49530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6" name="Rectangle 26">
            <a:extLst>
              <a:ext uri="{FF2B5EF4-FFF2-40B4-BE49-F238E27FC236}">
                <a16:creationId xmlns:a16="http://schemas.microsoft.com/office/drawing/2014/main" id="{AC1DC9E4-F234-03A3-01F4-0C3D650F8A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1925638"/>
            <a:ext cx="8699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CountyTax</a:t>
            </a:r>
          </a:p>
        </p:txBody>
      </p:sp>
      <p:sp>
        <p:nvSpPr>
          <p:cNvPr id="5147" name="Rectangle 27">
            <a:extLst>
              <a:ext uri="{FF2B5EF4-FFF2-40B4-BE49-F238E27FC236}">
                <a16:creationId xmlns:a16="http://schemas.microsoft.com/office/drawing/2014/main" id="{AD6D075D-E7C9-2499-CDE7-D400247EA3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0" y="1925638"/>
            <a:ext cx="9461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PayerCount</a:t>
            </a:r>
          </a:p>
        </p:txBody>
      </p:sp>
      <p:sp>
        <p:nvSpPr>
          <p:cNvPr id="5148" name="Rectangle 28">
            <a:extLst>
              <a:ext uri="{FF2B5EF4-FFF2-40B4-BE49-F238E27FC236}">
                <a16:creationId xmlns:a16="http://schemas.microsoft.com/office/drawing/2014/main" id="{CA94C8CE-3884-7CB4-1011-1162AE206F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58913"/>
            <a:ext cx="14033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b="1">
                <a:latin typeface="Courier New" panose="02070309020205020404" pitchFamily="49" charset="0"/>
              </a:rPr>
              <a:t>CountyTaxDetails</a:t>
            </a:r>
          </a:p>
        </p:txBody>
      </p:sp>
      <p:sp>
        <p:nvSpPr>
          <p:cNvPr id="5149" name="Rectangle 29">
            <a:extLst>
              <a:ext uri="{FF2B5EF4-FFF2-40B4-BE49-F238E27FC236}">
                <a16:creationId xmlns:a16="http://schemas.microsoft.com/office/drawing/2014/main" id="{E3CBA005-327B-D886-7A4C-030D966806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" y="0"/>
            <a:ext cx="3155950" cy="61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CountyTaxTable.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CountyTaxDetails OCCURS 26 TIMES.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CountyTax   PIC 9(8)V99.  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PayerCount  PIC 9(7).</a:t>
            </a:r>
            <a:r>
              <a:rPr lang="en-US" altLang="en-US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5150" name="Rectangle 30">
            <a:extLst>
              <a:ext uri="{FF2B5EF4-FFF2-40B4-BE49-F238E27FC236}">
                <a16:creationId xmlns:a16="http://schemas.microsoft.com/office/drawing/2014/main" id="{C20DDB28-A483-94C1-8819-2EFB03DD9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" y="2122488"/>
            <a:ext cx="3201988" cy="869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CountyTax(3)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MOVE 67 TO PayerCount(6)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1234.45 TO CountyTax(4)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CountyTaxDetails(4)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CountyTaxTable</a:t>
            </a:r>
          </a:p>
        </p:txBody>
      </p:sp>
      <p:sp>
        <p:nvSpPr>
          <p:cNvPr id="5151" name="Line 31">
            <a:extLst>
              <a:ext uri="{FF2B5EF4-FFF2-40B4-BE49-F238E27FC236}">
                <a16:creationId xmlns:a16="http://schemas.microsoft.com/office/drawing/2014/main" id="{37AC8E0A-257B-D3DE-FB7A-06BCB674D70D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1825" y="1106488"/>
            <a:ext cx="573088" cy="0"/>
          </a:xfrm>
          <a:prstGeom prst="line">
            <a:avLst/>
          </a:prstGeom>
          <a:noFill/>
          <a:ln w="50800">
            <a:solidFill>
              <a:schemeClr val="bg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2" name="Rectangle 32">
            <a:extLst>
              <a:ext uri="{FF2B5EF4-FFF2-40B4-BE49-F238E27FC236}">
                <a16:creationId xmlns:a16="http://schemas.microsoft.com/office/drawing/2014/main" id="{F2E27594-5214-B2EB-1701-0B07DE9616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83661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5153" name="Rectangle 33">
            <a:extLst>
              <a:ext uri="{FF2B5EF4-FFF2-40B4-BE49-F238E27FC236}">
                <a16:creationId xmlns:a16="http://schemas.microsoft.com/office/drawing/2014/main" id="{C18E9B5D-BF16-515E-C326-9BA422EDBF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2800" y="836613"/>
            <a:ext cx="354013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085814A6-4EAC-F605-AF8C-BE1F8934A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" y="1135063"/>
            <a:ext cx="3843338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1     2    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3  </a:t>
            </a:r>
            <a:r>
              <a:rPr lang="en-US" altLang="en-US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 4     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5     6      7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2E3E840-FC74-7740-3988-E0639546B2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3" y="631825"/>
            <a:ext cx="1185862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r>
              <a:rPr lang="en-US" altLang="en-US" sz="1200" b="1">
                <a:latin typeface="Arial" panose="020B0604020202020204" pitchFamily="34" charset="0"/>
              </a:rPr>
              <a:t>CountyTaxTable</a:t>
            </a:r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30B96CCE-9CA4-29B2-53EE-BC0D716B81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822325"/>
            <a:ext cx="59690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49" name="Rectangle 5">
            <a:extLst>
              <a:ext uri="{FF2B5EF4-FFF2-40B4-BE49-F238E27FC236}">
                <a16:creationId xmlns:a16="http://schemas.microsoft.com/office/drawing/2014/main" id="{E6043C05-9373-91D1-25AF-66CAB5D22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703E5D9B-6967-D09F-B3DD-9EA3589382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1" name="Rectangle 7">
            <a:extLst>
              <a:ext uri="{FF2B5EF4-FFF2-40B4-BE49-F238E27FC236}">
                <a16:creationId xmlns:a16="http://schemas.microsoft.com/office/drawing/2014/main" id="{ECFBB19B-5E20-470B-AF5F-7A4B525937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822325"/>
            <a:ext cx="596900" cy="295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2" name="Rectangle 8">
            <a:extLst>
              <a:ext uri="{FF2B5EF4-FFF2-40B4-BE49-F238E27FC236}">
                <a16:creationId xmlns:a16="http://schemas.microsoft.com/office/drawing/2014/main" id="{B5D66890-B090-7109-2DF7-FD609FF858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822325"/>
            <a:ext cx="593725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3" name="Rectangle 9">
            <a:extLst>
              <a:ext uri="{FF2B5EF4-FFF2-40B4-BE49-F238E27FC236}">
                <a16:creationId xmlns:a16="http://schemas.microsoft.com/office/drawing/2014/main" id="{5AC02F4D-236B-04F1-2631-A5CDB9C7E9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100" y="822325"/>
            <a:ext cx="595313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4" name="Rectangle 10">
            <a:extLst>
              <a:ext uri="{FF2B5EF4-FFF2-40B4-BE49-F238E27FC236}">
                <a16:creationId xmlns:a16="http://schemas.microsoft.com/office/drawing/2014/main" id="{E4F65D3F-BF15-6BC3-DE47-BA7CA63734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55" name="Rectangle 11">
            <a:extLst>
              <a:ext uri="{FF2B5EF4-FFF2-40B4-BE49-F238E27FC236}">
                <a16:creationId xmlns:a16="http://schemas.microsoft.com/office/drawing/2014/main" id="{9A47022E-CD46-6C0B-5376-5B48E4304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827088"/>
            <a:ext cx="4275138" cy="28416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6158" name="Group 14">
            <a:extLst>
              <a:ext uri="{FF2B5EF4-FFF2-40B4-BE49-F238E27FC236}">
                <a16:creationId xmlns:a16="http://schemas.microsoft.com/office/drawing/2014/main" id="{35EE935A-097C-74B0-5E3D-7FAF04642E93}"/>
              </a:ext>
            </a:extLst>
          </p:cNvPr>
          <p:cNvGrpSpPr>
            <a:grpSpLocks/>
          </p:cNvGrpSpPr>
          <p:nvPr/>
        </p:nvGrpSpPr>
        <p:grpSpPr bwMode="auto">
          <a:xfrm>
            <a:off x="4210050" y="812800"/>
            <a:ext cx="200025" cy="317500"/>
            <a:chOff x="2652" y="512"/>
            <a:chExt cx="126" cy="200"/>
          </a:xfrm>
        </p:grpSpPr>
        <p:sp>
          <p:nvSpPr>
            <p:cNvPr id="6156" name="Freeform 12">
              <a:extLst>
                <a:ext uri="{FF2B5EF4-FFF2-40B4-BE49-F238E27FC236}">
                  <a16:creationId xmlns:a16="http://schemas.microsoft.com/office/drawing/2014/main" id="{6B1B2D15-5555-7257-2C96-7A34B2141083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520"/>
              <a:ext cx="70" cy="185"/>
            </a:xfrm>
            <a:custGeom>
              <a:avLst/>
              <a:gdLst>
                <a:gd name="T0" fmla="*/ 69 w 70"/>
                <a:gd name="T1" fmla="*/ 0 h 185"/>
                <a:gd name="T2" fmla="*/ 55 w 70"/>
                <a:gd name="T3" fmla="*/ 0 h 185"/>
                <a:gd name="T4" fmla="*/ 41 w 70"/>
                <a:gd name="T5" fmla="*/ 0 h 185"/>
                <a:gd name="T6" fmla="*/ 27 w 70"/>
                <a:gd name="T7" fmla="*/ 4 h 185"/>
                <a:gd name="T8" fmla="*/ 27 w 70"/>
                <a:gd name="T9" fmla="*/ 12 h 185"/>
                <a:gd name="T10" fmla="*/ 27 w 70"/>
                <a:gd name="T11" fmla="*/ 20 h 185"/>
                <a:gd name="T12" fmla="*/ 20 w 70"/>
                <a:gd name="T13" fmla="*/ 28 h 185"/>
                <a:gd name="T14" fmla="*/ 13 w 70"/>
                <a:gd name="T15" fmla="*/ 36 h 185"/>
                <a:gd name="T16" fmla="*/ 13 w 70"/>
                <a:gd name="T17" fmla="*/ 44 h 185"/>
                <a:gd name="T18" fmla="*/ 27 w 70"/>
                <a:gd name="T19" fmla="*/ 49 h 185"/>
                <a:gd name="T20" fmla="*/ 27 w 70"/>
                <a:gd name="T21" fmla="*/ 57 h 185"/>
                <a:gd name="T22" fmla="*/ 20 w 70"/>
                <a:gd name="T23" fmla="*/ 65 h 185"/>
                <a:gd name="T24" fmla="*/ 6 w 70"/>
                <a:gd name="T25" fmla="*/ 69 h 185"/>
                <a:gd name="T26" fmla="*/ 6 w 70"/>
                <a:gd name="T27" fmla="*/ 77 h 185"/>
                <a:gd name="T28" fmla="*/ 6 w 70"/>
                <a:gd name="T29" fmla="*/ 85 h 185"/>
                <a:gd name="T30" fmla="*/ 20 w 70"/>
                <a:gd name="T31" fmla="*/ 89 h 185"/>
                <a:gd name="T32" fmla="*/ 27 w 70"/>
                <a:gd name="T33" fmla="*/ 98 h 185"/>
                <a:gd name="T34" fmla="*/ 20 w 70"/>
                <a:gd name="T35" fmla="*/ 106 h 185"/>
                <a:gd name="T36" fmla="*/ 13 w 70"/>
                <a:gd name="T37" fmla="*/ 114 h 185"/>
                <a:gd name="T38" fmla="*/ 0 w 70"/>
                <a:gd name="T39" fmla="*/ 118 h 185"/>
                <a:gd name="T40" fmla="*/ 0 w 70"/>
                <a:gd name="T41" fmla="*/ 126 h 185"/>
                <a:gd name="T42" fmla="*/ 13 w 70"/>
                <a:gd name="T43" fmla="*/ 134 h 185"/>
                <a:gd name="T44" fmla="*/ 20 w 70"/>
                <a:gd name="T45" fmla="*/ 143 h 185"/>
                <a:gd name="T46" fmla="*/ 6 w 70"/>
                <a:gd name="T47" fmla="*/ 147 h 185"/>
                <a:gd name="T48" fmla="*/ 6 w 70"/>
                <a:gd name="T49" fmla="*/ 155 h 185"/>
                <a:gd name="T50" fmla="*/ 6 w 70"/>
                <a:gd name="T51" fmla="*/ 163 h 185"/>
                <a:gd name="T52" fmla="*/ 20 w 70"/>
                <a:gd name="T53" fmla="*/ 163 h 185"/>
                <a:gd name="T54" fmla="*/ 20 w 70"/>
                <a:gd name="T55" fmla="*/ 171 h 185"/>
                <a:gd name="T56" fmla="*/ 27 w 70"/>
                <a:gd name="T57" fmla="*/ 179 h 185"/>
                <a:gd name="T58" fmla="*/ 41 w 70"/>
                <a:gd name="T59" fmla="*/ 184 h 185"/>
                <a:gd name="T60" fmla="*/ 55 w 70"/>
                <a:gd name="T61" fmla="*/ 184 h 185"/>
                <a:gd name="T62" fmla="*/ 69 w 70"/>
                <a:gd name="T63" fmla="*/ 184 h 185"/>
                <a:gd name="T64" fmla="*/ 69 w 70"/>
                <a:gd name="T65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0" h="185">
                  <a:moveTo>
                    <a:pt x="69" y="0"/>
                  </a:moveTo>
                  <a:lnTo>
                    <a:pt x="55" y="0"/>
                  </a:lnTo>
                  <a:lnTo>
                    <a:pt x="41" y="0"/>
                  </a:lnTo>
                  <a:lnTo>
                    <a:pt x="27" y="4"/>
                  </a:lnTo>
                  <a:lnTo>
                    <a:pt x="27" y="12"/>
                  </a:lnTo>
                  <a:lnTo>
                    <a:pt x="27" y="20"/>
                  </a:lnTo>
                  <a:lnTo>
                    <a:pt x="20" y="28"/>
                  </a:lnTo>
                  <a:lnTo>
                    <a:pt x="13" y="36"/>
                  </a:lnTo>
                  <a:lnTo>
                    <a:pt x="13" y="44"/>
                  </a:lnTo>
                  <a:lnTo>
                    <a:pt x="27" y="49"/>
                  </a:lnTo>
                  <a:lnTo>
                    <a:pt x="27" y="57"/>
                  </a:lnTo>
                  <a:lnTo>
                    <a:pt x="20" y="65"/>
                  </a:lnTo>
                  <a:lnTo>
                    <a:pt x="6" y="69"/>
                  </a:lnTo>
                  <a:lnTo>
                    <a:pt x="6" y="77"/>
                  </a:lnTo>
                  <a:lnTo>
                    <a:pt x="6" y="85"/>
                  </a:lnTo>
                  <a:lnTo>
                    <a:pt x="20" y="89"/>
                  </a:lnTo>
                  <a:lnTo>
                    <a:pt x="27" y="98"/>
                  </a:lnTo>
                  <a:lnTo>
                    <a:pt x="20" y="106"/>
                  </a:lnTo>
                  <a:lnTo>
                    <a:pt x="13" y="114"/>
                  </a:lnTo>
                  <a:lnTo>
                    <a:pt x="0" y="118"/>
                  </a:lnTo>
                  <a:lnTo>
                    <a:pt x="0" y="126"/>
                  </a:lnTo>
                  <a:lnTo>
                    <a:pt x="13" y="134"/>
                  </a:lnTo>
                  <a:lnTo>
                    <a:pt x="20" y="143"/>
                  </a:lnTo>
                  <a:lnTo>
                    <a:pt x="6" y="147"/>
                  </a:lnTo>
                  <a:lnTo>
                    <a:pt x="6" y="155"/>
                  </a:lnTo>
                  <a:lnTo>
                    <a:pt x="6" y="163"/>
                  </a:lnTo>
                  <a:lnTo>
                    <a:pt x="20" y="163"/>
                  </a:lnTo>
                  <a:lnTo>
                    <a:pt x="20" y="171"/>
                  </a:lnTo>
                  <a:lnTo>
                    <a:pt x="27" y="179"/>
                  </a:lnTo>
                  <a:lnTo>
                    <a:pt x="41" y="184"/>
                  </a:lnTo>
                  <a:lnTo>
                    <a:pt x="55" y="184"/>
                  </a:lnTo>
                  <a:lnTo>
                    <a:pt x="69" y="184"/>
                  </a:lnTo>
                  <a:lnTo>
                    <a:pt x="69" y="0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7" name="Rectangle 13">
              <a:extLst>
                <a:ext uri="{FF2B5EF4-FFF2-40B4-BE49-F238E27FC236}">
                  <a16:creationId xmlns:a16="http://schemas.microsoft.com/office/drawing/2014/main" id="{6D51A0AA-864C-B253-62D5-957AE9D903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512"/>
              <a:ext cx="83" cy="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6159" name="AutoShape 15">
            <a:extLst>
              <a:ext uri="{FF2B5EF4-FFF2-40B4-BE49-F238E27FC236}">
                <a16:creationId xmlns:a16="http://schemas.microsoft.com/office/drawing/2014/main" id="{94B4E7EF-FD82-230C-A92D-0B061A38F4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7838" y="906463"/>
            <a:ext cx="311150" cy="139700"/>
          </a:xfrm>
          <a:prstGeom prst="rightArrow">
            <a:avLst>
              <a:gd name="adj1" fmla="val 50000"/>
              <a:gd name="adj2" fmla="val 111374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7961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0" name="Line 16">
            <a:extLst>
              <a:ext uri="{FF2B5EF4-FFF2-40B4-BE49-F238E27FC236}">
                <a16:creationId xmlns:a16="http://schemas.microsoft.com/office/drawing/2014/main" id="{3F9082F3-11B0-1DF2-12BB-CABDF1F65ADB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0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1" name="Line 17">
            <a:extLst>
              <a:ext uri="{FF2B5EF4-FFF2-40B4-BE49-F238E27FC236}">
                <a16:creationId xmlns:a16="http://schemas.microsoft.com/office/drawing/2014/main" id="{249B20A0-D0C3-0BDF-9B65-58D0D2B4CC59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2" name="Line 18">
            <a:extLst>
              <a:ext uri="{FF2B5EF4-FFF2-40B4-BE49-F238E27FC236}">
                <a16:creationId xmlns:a16="http://schemas.microsoft.com/office/drawing/2014/main" id="{FDF87E46-B87D-1102-268B-BDC74B7321DA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3" name="Line 19">
            <a:extLst>
              <a:ext uri="{FF2B5EF4-FFF2-40B4-BE49-F238E27FC236}">
                <a16:creationId xmlns:a16="http://schemas.microsoft.com/office/drawing/2014/main" id="{4C2EB0A6-A9A5-32B6-C5E6-E3DD67E1DBAB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13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4" name="Line 20">
            <a:extLst>
              <a:ext uri="{FF2B5EF4-FFF2-40B4-BE49-F238E27FC236}">
                <a16:creationId xmlns:a16="http://schemas.microsoft.com/office/drawing/2014/main" id="{8ABD8677-C25F-E1E2-1935-A284D0170024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18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5" name="Line 21">
            <a:extLst>
              <a:ext uri="{FF2B5EF4-FFF2-40B4-BE49-F238E27FC236}">
                <a16:creationId xmlns:a16="http://schemas.microsoft.com/office/drawing/2014/main" id="{0C5AA721-9732-6A41-563E-E57C9DE8021C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4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6" name="Rectangle 22">
            <a:extLst>
              <a:ext uri="{FF2B5EF4-FFF2-40B4-BE49-F238E27FC236}">
                <a16:creationId xmlns:a16="http://schemas.microsoft.com/office/drawing/2014/main" id="{42A0CB54-6CBB-5FE9-E413-4C9974CE62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650" y="1622425"/>
            <a:ext cx="187325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7" name="Line 23">
            <a:extLst>
              <a:ext uri="{FF2B5EF4-FFF2-40B4-BE49-F238E27FC236}">
                <a16:creationId xmlns:a16="http://schemas.microsoft.com/office/drawing/2014/main" id="{93D20276-EFE9-8B3E-6DAC-38116684403F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0750" y="16287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8" name="Line 24">
            <a:extLst>
              <a:ext uri="{FF2B5EF4-FFF2-40B4-BE49-F238E27FC236}">
                <a16:creationId xmlns:a16="http://schemas.microsoft.com/office/drawing/2014/main" id="{06353530-FC1B-6744-2515-E98D4546D56A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57300" y="1114425"/>
            <a:ext cx="628650" cy="5143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9" name="Line 25">
            <a:extLst>
              <a:ext uri="{FF2B5EF4-FFF2-40B4-BE49-F238E27FC236}">
                <a16:creationId xmlns:a16="http://schemas.microsoft.com/office/drawing/2014/main" id="{11379FEA-95A5-2120-540E-73FDB65AE066}"/>
              </a:ext>
            </a:extLst>
          </p:cNvPr>
          <p:cNvSpPr>
            <a:spLocks noChangeShapeType="1"/>
          </p:cNvSpPr>
          <p:nvPr/>
        </p:nvSpPr>
        <p:spPr bwMode="auto">
          <a:xfrm>
            <a:off x="2493963" y="1114425"/>
            <a:ext cx="649287" cy="49530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0" name="Rectangle 26">
            <a:extLst>
              <a:ext uri="{FF2B5EF4-FFF2-40B4-BE49-F238E27FC236}">
                <a16:creationId xmlns:a16="http://schemas.microsoft.com/office/drawing/2014/main" id="{31604888-BBC0-73A7-CE3F-6BA1570D4C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1925638"/>
            <a:ext cx="8699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CountyTax</a:t>
            </a:r>
          </a:p>
        </p:txBody>
      </p:sp>
      <p:sp>
        <p:nvSpPr>
          <p:cNvPr id="6171" name="Rectangle 27">
            <a:extLst>
              <a:ext uri="{FF2B5EF4-FFF2-40B4-BE49-F238E27FC236}">
                <a16:creationId xmlns:a16="http://schemas.microsoft.com/office/drawing/2014/main" id="{AFE42F1C-2BC0-A236-699B-72084325C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0" y="1925638"/>
            <a:ext cx="9461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PayerCount</a:t>
            </a:r>
          </a:p>
        </p:txBody>
      </p:sp>
      <p:sp>
        <p:nvSpPr>
          <p:cNvPr id="6172" name="Rectangle 28">
            <a:extLst>
              <a:ext uri="{FF2B5EF4-FFF2-40B4-BE49-F238E27FC236}">
                <a16:creationId xmlns:a16="http://schemas.microsoft.com/office/drawing/2014/main" id="{6EB023F4-1C4C-2E98-6E02-12A671C140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58913"/>
            <a:ext cx="14033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b="1">
                <a:latin typeface="Courier New" panose="02070309020205020404" pitchFamily="49" charset="0"/>
              </a:rPr>
              <a:t>CountyTaxDetails</a:t>
            </a:r>
          </a:p>
        </p:txBody>
      </p:sp>
      <p:sp>
        <p:nvSpPr>
          <p:cNvPr id="6173" name="Rectangle 29">
            <a:extLst>
              <a:ext uri="{FF2B5EF4-FFF2-40B4-BE49-F238E27FC236}">
                <a16:creationId xmlns:a16="http://schemas.microsoft.com/office/drawing/2014/main" id="{5D65269A-A7F7-713F-FA39-C078B42DF9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" y="0"/>
            <a:ext cx="3155950" cy="61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CountyTaxTable.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CountyTaxDetails OCCURS 26 TIMES.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CountyTax   PIC 9(8)V99.  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PayerCount  PIC 9(7).</a:t>
            </a:r>
            <a:r>
              <a:rPr lang="en-US" altLang="en-US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6174" name="Rectangle 30">
            <a:extLst>
              <a:ext uri="{FF2B5EF4-FFF2-40B4-BE49-F238E27FC236}">
                <a16:creationId xmlns:a16="http://schemas.microsoft.com/office/drawing/2014/main" id="{1B94ECF6-5681-116D-6A97-484182FB23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" y="2122488"/>
            <a:ext cx="3201988" cy="869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CountyTax(3)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67 TO PayerCount(6)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MOVE 1234.45 TO CountyTax(4)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CountyTaxDetails(4)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CountyTaxTable</a:t>
            </a:r>
          </a:p>
        </p:txBody>
      </p:sp>
      <p:sp>
        <p:nvSpPr>
          <p:cNvPr id="6175" name="Line 31">
            <a:extLst>
              <a:ext uri="{FF2B5EF4-FFF2-40B4-BE49-F238E27FC236}">
                <a16:creationId xmlns:a16="http://schemas.microsoft.com/office/drawing/2014/main" id="{D0DA3835-87B4-D6AB-322D-8A5723258F9C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1825" y="1106488"/>
            <a:ext cx="573088" cy="0"/>
          </a:xfrm>
          <a:prstGeom prst="line">
            <a:avLst/>
          </a:prstGeom>
          <a:noFill/>
          <a:ln w="50800">
            <a:solidFill>
              <a:schemeClr val="bg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6" name="Rectangle 32">
            <a:extLst>
              <a:ext uri="{FF2B5EF4-FFF2-40B4-BE49-F238E27FC236}">
                <a16:creationId xmlns:a16="http://schemas.microsoft.com/office/drawing/2014/main" id="{EC7F3DA9-1947-28F3-1031-7813CACED7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83661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4EC34DDC-264A-263F-319A-9A7EEC912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2800" y="836613"/>
            <a:ext cx="354013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67</a:t>
            </a:r>
          </a:p>
        </p:txBody>
      </p:sp>
      <p:sp>
        <p:nvSpPr>
          <p:cNvPr id="6178" name="Rectangle 34">
            <a:extLst>
              <a:ext uri="{FF2B5EF4-FFF2-40B4-BE49-F238E27FC236}">
                <a16:creationId xmlns:a16="http://schemas.microsoft.com/office/drawing/2014/main" id="{C01E7645-5466-D24B-8EBB-6094E4060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90650" y="1636713"/>
            <a:ext cx="735013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1234.45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F726D17D-0AB8-076E-478C-BC07820407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" y="1135063"/>
            <a:ext cx="3843338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1     2    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3  </a:t>
            </a:r>
            <a:r>
              <a:rPr lang="en-US" altLang="en-US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 4     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5     6      7</a:t>
            </a:r>
          </a:p>
        </p:txBody>
      </p:sp>
      <p:sp>
        <p:nvSpPr>
          <p:cNvPr id="7171" name="Rectangle 3">
            <a:extLst>
              <a:ext uri="{FF2B5EF4-FFF2-40B4-BE49-F238E27FC236}">
                <a16:creationId xmlns:a16="http://schemas.microsoft.com/office/drawing/2014/main" id="{B06B2E50-E6D5-373A-F1B5-61C545109E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3" y="631825"/>
            <a:ext cx="1185862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r>
              <a:rPr lang="en-US" altLang="en-US" sz="1200" b="1">
                <a:latin typeface="Arial" panose="020B0604020202020204" pitchFamily="34" charset="0"/>
              </a:rPr>
              <a:t>CountyTaxTable</a:t>
            </a:r>
          </a:p>
        </p:txBody>
      </p:sp>
      <p:sp>
        <p:nvSpPr>
          <p:cNvPr id="7172" name="Rectangle 4">
            <a:extLst>
              <a:ext uri="{FF2B5EF4-FFF2-40B4-BE49-F238E27FC236}">
                <a16:creationId xmlns:a16="http://schemas.microsoft.com/office/drawing/2014/main" id="{33A87F77-117C-D5BD-BDE1-EE14D8842A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822325"/>
            <a:ext cx="59690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3" name="Rectangle 5">
            <a:extLst>
              <a:ext uri="{FF2B5EF4-FFF2-40B4-BE49-F238E27FC236}">
                <a16:creationId xmlns:a16="http://schemas.microsoft.com/office/drawing/2014/main" id="{D39FC0E0-C578-2630-D622-0DD332549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E38F0404-F2BD-D47D-9A1B-A4CA6CAC9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5" name="Rectangle 7">
            <a:extLst>
              <a:ext uri="{FF2B5EF4-FFF2-40B4-BE49-F238E27FC236}">
                <a16:creationId xmlns:a16="http://schemas.microsoft.com/office/drawing/2014/main" id="{73AAB2BF-FEB0-1109-E940-55021D5ACF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822325"/>
            <a:ext cx="596900" cy="295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6" name="Rectangle 8">
            <a:extLst>
              <a:ext uri="{FF2B5EF4-FFF2-40B4-BE49-F238E27FC236}">
                <a16:creationId xmlns:a16="http://schemas.microsoft.com/office/drawing/2014/main" id="{8B618F91-2C33-46C4-7FCB-5F8B0353F6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822325"/>
            <a:ext cx="593725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7" name="Rectangle 9">
            <a:extLst>
              <a:ext uri="{FF2B5EF4-FFF2-40B4-BE49-F238E27FC236}">
                <a16:creationId xmlns:a16="http://schemas.microsoft.com/office/drawing/2014/main" id="{2CC18C2E-09B7-8E29-EAEB-0B38FA61B1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100" y="822325"/>
            <a:ext cx="595313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8" name="Rectangle 10">
            <a:extLst>
              <a:ext uri="{FF2B5EF4-FFF2-40B4-BE49-F238E27FC236}">
                <a16:creationId xmlns:a16="http://schemas.microsoft.com/office/drawing/2014/main" id="{637C8904-B337-8A91-EC41-66083ED61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79" name="Rectangle 11">
            <a:extLst>
              <a:ext uri="{FF2B5EF4-FFF2-40B4-BE49-F238E27FC236}">
                <a16:creationId xmlns:a16="http://schemas.microsoft.com/office/drawing/2014/main" id="{AF6B9C15-7447-3144-8FE9-97232B263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827088"/>
            <a:ext cx="4275138" cy="28416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grpSp>
        <p:nvGrpSpPr>
          <p:cNvPr id="7182" name="Group 14">
            <a:extLst>
              <a:ext uri="{FF2B5EF4-FFF2-40B4-BE49-F238E27FC236}">
                <a16:creationId xmlns:a16="http://schemas.microsoft.com/office/drawing/2014/main" id="{19158202-1AED-D765-CC00-2371DBF51067}"/>
              </a:ext>
            </a:extLst>
          </p:cNvPr>
          <p:cNvGrpSpPr>
            <a:grpSpLocks/>
          </p:cNvGrpSpPr>
          <p:nvPr/>
        </p:nvGrpSpPr>
        <p:grpSpPr bwMode="auto">
          <a:xfrm>
            <a:off x="4210050" y="812800"/>
            <a:ext cx="200025" cy="317500"/>
            <a:chOff x="2652" y="512"/>
            <a:chExt cx="126" cy="200"/>
          </a:xfrm>
        </p:grpSpPr>
        <p:sp>
          <p:nvSpPr>
            <p:cNvPr id="7180" name="Freeform 12">
              <a:extLst>
                <a:ext uri="{FF2B5EF4-FFF2-40B4-BE49-F238E27FC236}">
                  <a16:creationId xmlns:a16="http://schemas.microsoft.com/office/drawing/2014/main" id="{8D86D880-6CF9-F80A-6F5E-D0931DEFBE84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520"/>
              <a:ext cx="70" cy="185"/>
            </a:xfrm>
            <a:custGeom>
              <a:avLst/>
              <a:gdLst>
                <a:gd name="T0" fmla="*/ 69 w 70"/>
                <a:gd name="T1" fmla="*/ 0 h 185"/>
                <a:gd name="T2" fmla="*/ 55 w 70"/>
                <a:gd name="T3" fmla="*/ 0 h 185"/>
                <a:gd name="T4" fmla="*/ 41 w 70"/>
                <a:gd name="T5" fmla="*/ 0 h 185"/>
                <a:gd name="T6" fmla="*/ 27 w 70"/>
                <a:gd name="T7" fmla="*/ 4 h 185"/>
                <a:gd name="T8" fmla="*/ 27 w 70"/>
                <a:gd name="T9" fmla="*/ 12 h 185"/>
                <a:gd name="T10" fmla="*/ 27 w 70"/>
                <a:gd name="T11" fmla="*/ 20 h 185"/>
                <a:gd name="T12" fmla="*/ 20 w 70"/>
                <a:gd name="T13" fmla="*/ 28 h 185"/>
                <a:gd name="T14" fmla="*/ 13 w 70"/>
                <a:gd name="T15" fmla="*/ 36 h 185"/>
                <a:gd name="T16" fmla="*/ 13 w 70"/>
                <a:gd name="T17" fmla="*/ 44 h 185"/>
                <a:gd name="T18" fmla="*/ 27 w 70"/>
                <a:gd name="T19" fmla="*/ 49 h 185"/>
                <a:gd name="T20" fmla="*/ 27 w 70"/>
                <a:gd name="T21" fmla="*/ 57 h 185"/>
                <a:gd name="T22" fmla="*/ 20 w 70"/>
                <a:gd name="T23" fmla="*/ 65 h 185"/>
                <a:gd name="T24" fmla="*/ 6 w 70"/>
                <a:gd name="T25" fmla="*/ 69 h 185"/>
                <a:gd name="T26" fmla="*/ 6 w 70"/>
                <a:gd name="T27" fmla="*/ 77 h 185"/>
                <a:gd name="T28" fmla="*/ 6 w 70"/>
                <a:gd name="T29" fmla="*/ 85 h 185"/>
                <a:gd name="T30" fmla="*/ 20 w 70"/>
                <a:gd name="T31" fmla="*/ 89 h 185"/>
                <a:gd name="T32" fmla="*/ 27 w 70"/>
                <a:gd name="T33" fmla="*/ 98 h 185"/>
                <a:gd name="T34" fmla="*/ 20 w 70"/>
                <a:gd name="T35" fmla="*/ 106 h 185"/>
                <a:gd name="T36" fmla="*/ 13 w 70"/>
                <a:gd name="T37" fmla="*/ 114 h 185"/>
                <a:gd name="T38" fmla="*/ 0 w 70"/>
                <a:gd name="T39" fmla="*/ 118 h 185"/>
                <a:gd name="T40" fmla="*/ 0 w 70"/>
                <a:gd name="T41" fmla="*/ 126 h 185"/>
                <a:gd name="T42" fmla="*/ 13 w 70"/>
                <a:gd name="T43" fmla="*/ 134 h 185"/>
                <a:gd name="T44" fmla="*/ 20 w 70"/>
                <a:gd name="T45" fmla="*/ 143 h 185"/>
                <a:gd name="T46" fmla="*/ 6 w 70"/>
                <a:gd name="T47" fmla="*/ 147 h 185"/>
                <a:gd name="T48" fmla="*/ 6 w 70"/>
                <a:gd name="T49" fmla="*/ 155 h 185"/>
                <a:gd name="T50" fmla="*/ 6 w 70"/>
                <a:gd name="T51" fmla="*/ 163 h 185"/>
                <a:gd name="T52" fmla="*/ 20 w 70"/>
                <a:gd name="T53" fmla="*/ 163 h 185"/>
                <a:gd name="T54" fmla="*/ 20 w 70"/>
                <a:gd name="T55" fmla="*/ 171 h 185"/>
                <a:gd name="T56" fmla="*/ 27 w 70"/>
                <a:gd name="T57" fmla="*/ 179 h 185"/>
                <a:gd name="T58" fmla="*/ 41 w 70"/>
                <a:gd name="T59" fmla="*/ 184 h 185"/>
                <a:gd name="T60" fmla="*/ 55 w 70"/>
                <a:gd name="T61" fmla="*/ 184 h 185"/>
                <a:gd name="T62" fmla="*/ 69 w 70"/>
                <a:gd name="T63" fmla="*/ 184 h 185"/>
                <a:gd name="T64" fmla="*/ 69 w 70"/>
                <a:gd name="T65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0" h="185">
                  <a:moveTo>
                    <a:pt x="69" y="0"/>
                  </a:moveTo>
                  <a:lnTo>
                    <a:pt x="55" y="0"/>
                  </a:lnTo>
                  <a:lnTo>
                    <a:pt x="41" y="0"/>
                  </a:lnTo>
                  <a:lnTo>
                    <a:pt x="27" y="4"/>
                  </a:lnTo>
                  <a:lnTo>
                    <a:pt x="27" y="12"/>
                  </a:lnTo>
                  <a:lnTo>
                    <a:pt x="27" y="20"/>
                  </a:lnTo>
                  <a:lnTo>
                    <a:pt x="20" y="28"/>
                  </a:lnTo>
                  <a:lnTo>
                    <a:pt x="13" y="36"/>
                  </a:lnTo>
                  <a:lnTo>
                    <a:pt x="13" y="44"/>
                  </a:lnTo>
                  <a:lnTo>
                    <a:pt x="27" y="49"/>
                  </a:lnTo>
                  <a:lnTo>
                    <a:pt x="27" y="57"/>
                  </a:lnTo>
                  <a:lnTo>
                    <a:pt x="20" y="65"/>
                  </a:lnTo>
                  <a:lnTo>
                    <a:pt x="6" y="69"/>
                  </a:lnTo>
                  <a:lnTo>
                    <a:pt x="6" y="77"/>
                  </a:lnTo>
                  <a:lnTo>
                    <a:pt x="6" y="85"/>
                  </a:lnTo>
                  <a:lnTo>
                    <a:pt x="20" y="89"/>
                  </a:lnTo>
                  <a:lnTo>
                    <a:pt x="27" y="98"/>
                  </a:lnTo>
                  <a:lnTo>
                    <a:pt x="20" y="106"/>
                  </a:lnTo>
                  <a:lnTo>
                    <a:pt x="13" y="114"/>
                  </a:lnTo>
                  <a:lnTo>
                    <a:pt x="0" y="118"/>
                  </a:lnTo>
                  <a:lnTo>
                    <a:pt x="0" y="126"/>
                  </a:lnTo>
                  <a:lnTo>
                    <a:pt x="13" y="134"/>
                  </a:lnTo>
                  <a:lnTo>
                    <a:pt x="20" y="143"/>
                  </a:lnTo>
                  <a:lnTo>
                    <a:pt x="6" y="147"/>
                  </a:lnTo>
                  <a:lnTo>
                    <a:pt x="6" y="155"/>
                  </a:lnTo>
                  <a:lnTo>
                    <a:pt x="6" y="163"/>
                  </a:lnTo>
                  <a:lnTo>
                    <a:pt x="20" y="163"/>
                  </a:lnTo>
                  <a:lnTo>
                    <a:pt x="20" y="171"/>
                  </a:lnTo>
                  <a:lnTo>
                    <a:pt x="27" y="179"/>
                  </a:lnTo>
                  <a:lnTo>
                    <a:pt x="41" y="184"/>
                  </a:lnTo>
                  <a:lnTo>
                    <a:pt x="55" y="184"/>
                  </a:lnTo>
                  <a:lnTo>
                    <a:pt x="69" y="184"/>
                  </a:lnTo>
                  <a:lnTo>
                    <a:pt x="69" y="0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1" name="Rectangle 13">
              <a:extLst>
                <a:ext uri="{FF2B5EF4-FFF2-40B4-BE49-F238E27FC236}">
                  <a16:creationId xmlns:a16="http://schemas.microsoft.com/office/drawing/2014/main" id="{B6E9E7EC-EEC6-10BB-DF74-593FA80F95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512"/>
              <a:ext cx="83" cy="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7183" name="AutoShape 15">
            <a:extLst>
              <a:ext uri="{FF2B5EF4-FFF2-40B4-BE49-F238E27FC236}">
                <a16:creationId xmlns:a16="http://schemas.microsoft.com/office/drawing/2014/main" id="{67C30002-C3FB-CAA1-4290-CCB64796D7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7838" y="906463"/>
            <a:ext cx="311150" cy="139700"/>
          </a:xfrm>
          <a:prstGeom prst="rightArrow">
            <a:avLst>
              <a:gd name="adj1" fmla="val 50000"/>
              <a:gd name="adj2" fmla="val 111374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7961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4" name="Line 16">
            <a:extLst>
              <a:ext uri="{FF2B5EF4-FFF2-40B4-BE49-F238E27FC236}">
                <a16:creationId xmlns:a16="http://schemas.microsoft.com/office/drawing/2014/main" id="{DA6DF4B2-FF4A-2906-0721-1490A6461306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0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5" name="Line 17">
            <a:extLst>
              <a:ext uri="{FF2B5EF4-FFF2-40B4-BE49-F238E27FC236}">
                <a16:creationId xmlns:a16="http://schemas.microsoft.com/office/drawing/2014/main" id="{DBA8B684-B695-DE0D-97C5-9E4344360F15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8">
            <a:extLst>
              <a:ext uri="{FF2B5EF4-FFF2-40B4-BE49-F238E27FC236}">
                <a16:creationId xmlns:a16="http://schemas.microsoft.com/office/drawing/2014/main" id="{4BC6F00F-39EB-0156-731D-2F04AE1E3C74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Line 19">
            <a:extLst>
              <a:ext uri="{FF2B5EF4-FFF2-40B4-BE49-F238E27FC236}">
                <a16:creationId xmlns:a16="http://schemas.microsoft.com/office/drawing/2014/main" id="{E0807FAB-D2A5-97B9-F210-9A421635E743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13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Line 20">
            <a:extLst>
              <a:ext uri="{FF2B5EF4-FFF2-40B4-BE49-F238E27FC236}">
                <a16:creationId xmlns:a16="http://schemas.microsoft.com/office/drawing/2014/main" id="{3E05BC82-7325-E25B-4E44-E56F53410FD4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18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9" name="Line 21">
            <a:extLst>
              <a:ext uri="{FF2B5EF4-FFF2-40B4-BE49-F238E27FC236}">
                <a16:creationId xmlns:a16="http://schemas.microsoft.com/office/drawing/2014/main" id="{BF862BEC-368D-B732-E974-A2C8C234F47A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4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Rectangle 22">
            <a:extLst>
              <a:ext uri="{FF2B5EF4-FFF2-40B4-BE49-F238E27FC236}">
                <a16:creationId xmlns:a16="http://schemas.microsoft.com/office/drawing/2014/main" id="{B916B6D1-9466-BD1E-C2CD-D5704E661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650" y="1622425"/>
            <a:ext cx="187325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91" name="Line 23">
            <a:extLst>
              <a:ext uri="{FF2B5EF4-FFF2-40B4-BE49-F238E27FC236}">
                <a16:creationId xmlns:a16="http://schemas.microsoft.com/office/drawing/2014/main" id="{F829EFA7-7BE6-573D-B4E9-1E475E4FE350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0750" y="16287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2" name="Line 24">
            <a:extLst>
              <a:ext uri="{FF2B5EF4-FFF2-40B4-BE49-F238E27FC236}">
                <a16:creationId xmlns:a16="http://schemas.microsoft.com/office/drawing/2014/main" id="{524C2BE0-A99C-FA09-01FE-62B71BFFAE9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57300" y="1114425"/>
            <a:ext cx="628650" cy="5143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3" name="Line 25">
            <a:extLst>
              <a:ext uri="{FF2B5EF4-FFF2-40B4-BE49-F238E27FC236}">
                <a16:creationId xmlns:a16="http://schemas.microsoft.com/office/drawing/2014/main" id="{E07DF391-6810-6F81-460C-E8B38A84899D}"/>
              </a:ext>
            </a:extLst>
          </p:cNvPr>
          <p:cNvSpPr>
            <a:spLocks noChangeShapeType="1"/>
          </p:cNvSpPr>
          <p:nvPr/>
        </p:nvSpPr>
        <p:spPr bwMode="auto">
          <a:xfrm>
            <a:off x="2493963" y="1114425"/>
            <a:ext cx="649287" cy="49530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4" name="Rectangle 26">
            <a:extLst>
              <a:ext uri="{FF2B5EF4-FFF2-40B4-BE49-F238E27FC236}">
                <a16:creationId xmlns:a16="http://schemas.microsoft.com/office/drawing/2014/main" id="{A75646FA-8803-D40C-CA7A-6F3B37E18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1925638"/>
            <a:ext cx="8699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CountyTax</a:t>
            </a:r>
          </a:p>
        </p:txBody>
      </p:sp>
      <p:sp>
        <p:nvSpPr>
          <p:cNvPr id="7195" name="Rectangle 27">
            <a:extLst>
              <a:ext uri="{FF2B5EF4-FFF2-40B4-BE49-F238E27FC236}">
                <a16:creationId xmlns:a16="http://schemas.microsoft.com/office/drawing/2014/main" id="{F7EC8D4A-A1F1-EBDA-23DF-9215B95FA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0" y="1925638"/>
            <a:ext cx="9461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PayerCount</a:t>
            </a:r>
          </a:p>
        </p:txBody>
      </p:sp>
      <p:sp>
        <p:nvSpPr>
          <p:cNvPr id="7196" name="Rectangle 28">
            <a:extLst>
              <a:ext uri="{FF2B5EF4-FFF2-40B4-BE49-F238E27FC236}">
                <a16:creationId xmlns:a16="http://schemas.microsoft.com/office/drawing/2014/main" id="{EC848979-DCF1-A473-480F-D660316B9D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58913"/>
            <a:ext cx="14033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b="1">
                <a:latin typeface="Courier New" panose="02070309020205020404" pitchFamily="49" charset="0"/>
              </a:rPr>
              <a:t>CountyTaxDetails</a:t>
            </a:r>
          </a:p>
        </p:txBody>
      </p:sp>
      <p:sp>
        <p:nvSpPr>
          <p:cNvPr id="7197" name="Rectangle 29">
            <a:extLst>
              <a:ext uri="{FF2B5EF4-FFF2-40B4-BE49-F238E27FC236}">
                <a16:creationId xmlns:a16="http://schemas.microsoft.com/office/drawing/2014/main" id="{3F15AEA4-F71D-68F7-8F30-3C3AF20A8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" y="0"/>
            <a:ext cx="3155950" cy="61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CountyTaxTable.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CountyTaxDetails OCCURS 26 TIMES.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CountyTax   PIC 9(8)V99.  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PayerCount  PIC 9(7).</a:t>
            </a:r>
            <a:r>
              <a:rPr lang="en-US" altLang="en-US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7198" name="Rectangle 30">
            <a:extLst>
              <a:ext uri="{FF2B5EF4-FFF2-40B4-BE49-F238E27FC236}">
                <a16:creationId xmlns:a16="http://schemas.microsoft.com/office/drawing/2014/main" id="{9E14DE8A-3E37-44CF-41B0-45188A67D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" y="2122488"/>
            <a:ext cx="3201988" cy="869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CountyTax(3)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67 TO PayerCount(6)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1234.45 TO CountyTax(4)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MOVE ZEROS TO CountyTaxDetails(4)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CountyTaxTable</a:t>
            </a:r>
          </a:p>
        </p:txBody>
      </p:sp>
      <p:sp>
        <p:nvSpPr>
          <p:cNvPr id="7199" name="Line 31">
            <a:extLst>
              <a:ext uri="{FF2B5EF4-FFF2-40B4-BE49-F238E27FC236}">
                <a16:creationId xmlns:a16="http://schemas.microsoft.com/office/drawing/2014/main" id="{1EC20594-48A3-03E6-B8D2-70C0D3FB3783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1825" y="1106488"/>
            <a:ext cx="573088" cy="0"/>
          </a:xfrm>
          <a:prstGeom prst="line">
            <a:avLst/>
          </a:prstGeom>
          <a:noFill/>
          <a:ln w="50800">
            <a:solidFill>
              <a:schemeClr val="bg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0" name="Rectangle 32">
            <a:extLst>
              <a:ext uri="{FF2B5EF4-FFF2-40B4-BE49-F238E27FC236}">
                <a16:creationId xmlns:a16="http://schemas.microsoft.com/office/drawing/2014/main" id="{A61FDC60-3B0E-7BCB-48FA-720B59E25B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83661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7201" name="Rectangle 33">
            <a:extLst>
              <a:ext uri="{FF2B5EF4-FFF2-40B4-BE49-F238E27FC236}">
                <a16:creationId xmlns:a16="http://schemas.microsoft.com/office/drawing/2014/main" id="{C326966B-71A6-64D3-BE12-A23FE086BC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2800" y="836613"/>
            <a:ext cx="354013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chemeClr val="accent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67</a:t>
            </a:r>
          </a:p>
        </p:txBody>
      </p:sp>
      <p:sp>
        <p:nvSpPr>
          <p:cNvPr id="7202" name="Rectangle 34">
            <a:extLst>
              <a:ext uri="{FF2B5EF4-FFF2-40B4-BE49-F238E27FC236}">
                <a16:creationId xmlns:a16="http://schemas.microsoft.com/office/drawing/2014/main" id="{423D5DCA-8FC9-43E4-40A2-F021C828C8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150" y="1636713"/>
            <a:ext cx="10318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0000000000</a:t>
            </a:r>
          </a:p>
        </p:txBody>
      </p:sp>
      <p:sp>
        <p:nvSpPr>
          <p:cNvPr id="7203" name="Rectangle 35">
            <a:extLst>
              <a:ext uri="{FF2B5EF4-FFF2-40B4-BE49-F238E27FC236}">
                <a16:creationId xmlns:a16="http://schemas.microsoft.com/office/drawing/2014/main" id="{D2E120D7-2100-73E3-1563-53139BBF7A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6950" y="1636713"/>
            <a:ext cx="7778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0000000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4EF77CC2-6371-3F8F-D1DA-9D244C683F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00" y="1135063"/>
            <a:ext cx="3843338" cy="1825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1     2    </a:t>
            </a:r>
            <a:r>
              <a:rPr lang="en-US" altLang="en-US" b="1">
                <a:latin typeface="Courier New" panose="02070309020205020404" pitchFamily="49" charset="0"/>
              </a:rPr>
              <a:t>  </a:t>
            </a:r>
            <a:r>
              <a:rPr lang="en-US" altLang="en-US" sz="1200" b="1">
                <a:latin typeface="Courier New" panose="02070309020205020404" pitchFamily="49" charset="0"/>
              </a:rPr>
              <a:t>3  </a:t>
            </a:r>
            <a:r>
              <a:rPr lang="en-US" altLang="en-US" b="1"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 4     </a:t>
            </a:r>
            <a:r>
              <a:rPr lang="en-US" altLang="en-US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5     6      7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95168BFB-D1C4-4492-491D-985F51E061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063" y="631825"/>
            <a:ext cx="1185862" cy="182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>
            <a:spAutoFit/>
          </a:bodyPr>
          <a:lstStyle/>
          <a:p>
            <a:r>
              <a:rPr lang="en-US" altLang="en-US" sz="1200" b="1">
                <a:latin typeface="Arial" panose="020B0604020202020204" pitchFamily="34" charset="0"/>
              </a:rPr>
              <a:t>CountyTaxTable</a:t>
            </a:r>
          </a:p>
        </p:txBody>
      </p:sp>
      <p:sp>
        <p:nvSpPr>
          <p:cNvPr id="8196" name="Rectangle 4">
            <a:extLst>
              <a:ext uri="{FF2B5EF4-FFF2-40B4-BE49-F238E27FC236}">
                <a16:creationId xmlns:a16="http://schemas.microsoft.com/office/drawing/2014/main" id="{574A22C0-1330-9D92-771A-F4D6984E6A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75" y="822325"/>
            <a:ext cx="59690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7" name="Rectangle 5">
            <a:extLst>
              <a:ext uri="{FF2B5EF4-FFF2-40B4-BE49-F238E27FC236}">
                <a16:creationId xmlns:a16="http://schemas.microsoft.com/office/drawing/2014/main" id="{026CD223-EEAE-1EFD-8C6B-06F38DB61F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48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B6146ADD-4A05-6E49-88E3-F1231935BF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01750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199" name="Rectangle 7">
            <a:extLst>
              <a:ext uri="{FF2B5EF4-FFF2-40B4-BE49-F238E27FC236}">
                <a16:creationId xmlns:a16="http://schemas.microsoft.com/office/drawing/2014/main" id="{82582A4A-5AD0-CF4E-5E5F-172B5D43C4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3888" y="822325"/>
            <a:ext cx="596900" cy="295275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0" name="Rectangle 8">
            <a:extLst>
              <a:ext uri="{FF2B5EF4-FFF2-40B4-BE49-F238E27FC236}">
                <a16:creationId xmlns:a16="http://schemas.microsoft.com/office/drawing/2014/main" id="{9244533A-1070-7BCD-402F-A262DA5B6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5550" y="822325"/>
            <a:ext cx="593725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1" name="Rectangle 9">
            <a:extLst>
              <a:ext uri="{FF2B5EF4-FFF2-40B4-BE49-F238E27FC236}">
                <a16:creationId xmlns:a16="http://schemas.microsoft.com/office/drawing/2014/main" id="{F171CA38-A60F-E05F-00E1-04F21857A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6100" y="822325"/>
            <a:ext cx="595313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2" name="Rectangle 10">
            <a:extLst>
              <a:ext uri="{FF2B5EF4-FFF2-40B4-BE49-F238E27FC236}">
                <a16:creationId xmlns:a16="http://schemas.microsoft.com/office/drawing/2014/main" id="{CB135B99-4628-5C1D-F7B6-8983FAEDD8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9825" y="822325"/>
            <a:ext cx="592138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3" name="Rectangle 11">
            <a:extLst>
              <a:ext uri="{FF2B5EF4-FFF2-40B4-BE49-F238E27FC236}">
                <a16:creationId xmlns:a16="http://schemas.microsoft.com/office/drawing/2014/main" id="{E2053845-07BC-A9B2-3DB6-FFB18AED8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900" y="827088"/>
            <a:ext cx="4275138" cy="284162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4" name="Line 12">
            <a:extLst>
              <a:ext uri="{FF2B5EF4-FFF2-40B4-BE49-F238E27FC236}">
                <a16:creationId xmlns:a16="http://schemas.microsoft.com/office/drawing/2014/main" id="{280ED3B2-24CC-02C1-3763-E91FCF2C5982}"/>
              </a:ext>
            </a:extLst>
          </p:cNvPr>
          <p:cNvSpPr>
            <a:spLocks noChangeShapeType="1"/>
          </p:cNvSpPr>
          <p:nvPr/>
        </p:nvSpPr>
        <p:spPr bwMode="auto">
          <a:xfrm>
            <a:off x="4000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5" name="Line 13">
            <a:extLst>
              <a:ext uri="{FF2B5EF4-FFF2-40B4-BE49-F238E27FC236}">
                <a16:creationId xmlns:a16="http://schemas.microsoft.com/office/drawing/2014/main" id="{32EAF197-3BF8-3F68-B674-0BFA67E0685B}"/>
              </a:ext>
            </a:extLst>
          </p:cNvPr>
          <p:cNvSpPr>
            <a:spLocks noChangeShapeType="1"/>
          </p:cNvSpPr>
          <p:nvPr/>
        </p:nvSpPr>
        <p:spPr bwMode="auto">
          <a:xfrm>
            <a:off x="9906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6" name="Line 14">
            <a:extLst>
              <a:ext uri="{FF2B5EF4-FFF2-40B4-BE49-F238E27FC236}">
                <a16:creationId xmlns:a16="http://schemas.microsoft.com/office/drawing/2014/main" id="{918B14E6-36B4-09B9-B76C-D4C667F00A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6002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7" name="Line 15">
            <a:extLst>
              <a:ext uri="{FF2B5EF4-FFF2-40B4-BE49-F238E27FC236}">
                <a16:creationId xmlns:a16="http://schemas.microsoft.com/office/drawing/2014/main" id="{E66213ED-E9F9-7708-B2B3-37AF66849E6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8130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8" name="Line 16">
            <a:extLst>
              <a:ext uri="{FF2B5EF4-FFF2-40B4-BE49-F238E27FC236}">
                <a16:creationId xmlns:a16="http://schemas.microsoft.com/office/drawing/2014/main" id="{3AF28CCE-8A92-6E0E-1ECC-0D3B73A80D21}"/>
              </a:ext>
            </a:extLst>
          </p:cNvPr>
          <p:cNvSpPr>
            <a:spLocks noChangeShapeType="1"/>
          </p:cNvSpPr>
          <p:nvPr/>
        </p:nvSpPr>
        <p:spPr bwMode="auto">
          <a:xfrm>
            <a:off x="33718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9" name="Line 17">
            <a:extLst>
              <a:ext uri="{FF2B5EF4-FFF2-40B4-BE49-F238E27FC236}">
                <a16:creationId xmlns:a16="http://schemas.microsoft.com/office/drawing/2014/main" id="{383A5746-F717-F3AF-E895-93D6EABD0300}"/>
              </a:ext>
            </a:extLst>
          </p:cNvPr>
          <p:cNvSpPr>
            <a:spLocks noChangeShapeType="1"/>
          </p:cNvSpPr>
          <p:nvPr/>
        </p:nvSpPr>
        <p:spPr bwMode="auto">
          <a:xfrm>
            <a:off x="3981450" y="8286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Rectangle 18">
            <a:extLst>
              <a:ext uri="{FF2B5EF4-FFF2-40B4-BE49-F238E27FC236}">
                <a16:creationId xmlns:a16="http://schemas.microsoft.com/office/drawing/2014/main" id="{488DAABD-C67B-8C14-9F85-25253F7824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650" y="1622425"/>
            <a:ext cx="1873250" cy="295275"/>
          </a:xfrm>
          <a:prstGeom prst="rect">
            <a:avLst/>
          </a:prstGeom>
          <a:solidFill>
            <a:srgbClr val="FFFFCC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11" name="Line 19">
            <a:extLst>
              <a:ext uri="{FF2B5EF4-FFF2-40B4-BE49-F238E27FC236}">
                <a16:creationId xmlns:a16="http://schemas.microsoft.com/office/drawing/2014/main" id="{E8971DA6-0C71-588D-3CC3-6F2C7A821889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0750" y="1628775"/>
            <a:ext cx="0" cy="28575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Line 20">
            <a:extLst>
              <a:ext uri="{FF2B5EF4-FFF2-40B4-BE49-F238E27FC236}">
                <a16:creationId xmlns:a16="http://schemas.microsoft.com/office/drawing/2014/main" id="{E4085EE5-2C91-3D8E-5C07-70E30CCE262C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257300" y="1114425"/>
            <a:ext cx="628650" cy="51435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3" name="Line 21">
            <a:extLst>
              <a:ext uri="{FF2B5EF4-FFF2-40B4-BE49-F238E27FC236}">
                <a16:creationId xmlns:a16="http://schemas.microsoft.com/office/drawing/2014/main" id="{F4364460-BB67-7D72-5726-6D51184E60D3}"/>
              </a:ext>
            </a:extLst>
          </p:cNvPr>
          <p:cNvSpPr>
            <a:spLocks noChangeShapeType="1"/>
          </p:cNvSpPr>
          <p:nvPr/>
        </p:nvSpPr>
        <p:spPr bwMode="auto">
          <a:xfrm>
            <a:off x="2493963" y="1114425"/>
            <a:ext cx="649287" cy="495300"/>
          </a:xfrm>
          <a:prstGeom prst="line">
            <a:avLst/>
          </a:prstGeom>
          <a:noFill/>
          <a:ln w="12700">
            <a:solidFill>
              <a:schemeClr val="tx1"/>
            </a:solidFill>
            <a:prstDash val="sysDot"/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Rectangle 22">
            <a:extLst>
              <a:ext uri="{FF2B5EF4-FFF2-40B4-BE49-F238E27FC236}">
                <a16:creationId xmlns:a16="http://schemas.microsoft.com/office/drawing/2014/main" id="{D1412009-95CE-38C9-76A5-1BFB6F7125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57300" y="1925638"/>
            <a:ext cx="8699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CountyTax</a:t>
            </a:r>
          </a:p>
        </p:txBody>
      </p:sp>
      <p:sp>
        <p:nvSpPr>
          <p:cNvPr id="8215" name="Rectangle 23">
            <a:extLst>
              <a:ext uri="{FF2B5EF4-FFF2-40B4-BE49-F238E27FC236}">
                <a16:creationId xmlns:a16="http://schemas.microsoft.com/office/drawing/2014/main" id="{4E82E158-E9C6-861F-A75C-C5C8D52CC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90750" y="1925638"/>
            <a:ext cx="9461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>
                <a:latin typeface="Courier New" panose="02070309020205020404" pitchFamily="49" charset="0"/>
              </a:rPr>
              <a:t>PayerCount</a:t>
            </a:r>
          </a:p>
        </p:txBody>
      </p:sp>
      <p:sp>
        <p:nvSpPr>
          <p:cNvPr id="8216" name="Rectangle 24">
            <a:extLst>
              <a:ext uri="{FF2B5EF4-FFF2-40B4-BE49-F238E27FC236}">
                <a16:creationId xmlns:a16="http://schemas.microsoft.com/office/drawing/2014/main" id="{7B12E8B2-E7C4-5844-1A83-21BCC5AD92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1458913"/>
            <a:ext cx="1403350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b="1">
                <a:latin typeface="Courier New" panose="02070309020205020404" pitchFamily="49" charset="0"/>
              </a:rPr>
              <a:t>CountyTaxDetails</a:t>
            </a:r>
          </a:p>
        </p:txBody>
      </p:sp>
      <p:sp>
        <p:nvSpPr>
          <p:cNvPr id="8217" name="Rectangle 25">
            <a:extLst>
              <a:ext uri="{FF2B5EF4-FFF2-40B4-BE49-F238E27FC236}">
                <a16:creationId xmlns:a16="http://schemas.microsoft.com/office/drawing/2014/main" id="{40089463-39AA-866F-F794-D87AFFD29A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5" y="0"/>
            <a:ext cx="3155950" cy="612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01 CountyTaxTable.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02 CountyTaxDetails OCCURS 26 TIMES.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CountyTax   PIC 9(8)V99.  </a:t>
            </a:r>
          </a:p>
          <a:p>
            <a:pPr>
              <a:lnSpc>
                <a:spcPct val="85000"/>
              </a:lnSpc>
            </a:pPr>
            <a:r>
              <a:rPr lang="en-US" altLang="en-US" b="1">
                <a:latin typeface="Courier New" panose="02070309020205020404" pitchFamily="49" charset="0"/>
              </a:rPr>
              <a:t>      03 PayerCount  PIC 9(7).</a:t>
            </a:r>
            <a:r>
              <a:rPr lang="en-US" altLang="en-US">
                <a:latin typeface="Courier New" panose="02070309020205020404" pitchFamily="49" charset="0"/>
              </a:rPr>
              <a:t> </a:t>
            </a:r>
          </a:p>
        </p:txBody>
      </p:sp>
      <p:sp>
        <p:nvSpPr>
          <p:cNvPr id="8218" name="Rectangle 26">
            <a:extLst>
              <a:ext uri="{FF2B5EF4-FFF2-40B4-BE49-F238E27FC236}">
                <a16:creationId xmlns:a16="http://schemas.microsoft.com/office/drawing/2014/main" id="{0D96AAFF-A561-B952-24E4-9D10D21F2F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25" y="2122488"/>
            <a:ext cx="3201988" cy="869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CountyTax(3)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67 TO PayerCount(6)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1234.45 TO CountyTax(4)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latin typeface="Courier New" panose="02070309020205020404" pitchFamily="49" charset="0"/>
              </a:rPr>
              <a:t>MOVE ZEROS TO CountyTaxDetails(4)</a:t>
            </a:r>
          </a:p>
          <a:p>
            <a:pPr>
              <a:lnSpc>
                <a:spcPct val="85000"/>
              </a:lnSpc>
            </a:pPr>
            <a:r>
              <a:rPr lang="en-US" altLang="en-US" sz="1200" b="1">
                <a:solidFill>
                  <a:srgbClr val="CC0000"/>
                </a:solidFill>
                <a:latin typeface="Courier New" panose="02070309020205020404" pitchFamily="49" charset="0"/>
              </a:rPr>
              <a:t>MOVE ZEROS TO CountyTaxTable</a:t>
            </a:r>
          </a:p>
        </p:txBody>
      </p:sp>
      <p:sp>
        <p:nvSpPr>
          <p:cNvPr id="8219" name="Line 27">
            <a:extLst>
              <a:ext uri="{FF2B5EF4-FFF2-40B4-BE49-F238E27FC236}">
                <a16:creationId xmlns:a16="http://schemas.microsoft.com/office/drawing/2014/main" id="{6676B7FA-2D02-E777-9FDA-5D212891AF20}"/>
              </a:ext>
            </a:extLst>
          </p:cNvPr>
          <p:cNvSpPr>
            <a:spLocks noChangeShapeType="1"/>
          </p:cNvSpPr>
          <p:nvPr/>
        </p:nvSpPr>
        <p:spPr bwMode="auto">
          <a:xfrm>
            <a:off x="1901825" y="1106488"/>
            <a:ext cx="573088" cy="0"/>
          </a:xfrm>
          <a:prstGeom prst="line">
            <a:avLst/>
          </a:prstGeom>
          <a:noFill/>
          <a:ln w="50800">
            <a:solidFill>
              <a:schemeClr val="bg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0" name="Rectangle 28">
            <a:extLst>
              <a:ext uri="{FF2B5EF4-FFF2-40B4-BE49-F238E27FC236}">
                <a16:creationId xmlns:a16="http://schemas.microsoft.com/office/drawing/2014/main" id="{E81B62C5-B86F-9E3D-928D-52732893CD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1" name="Rectangle 29">
            <a:extLst>
              <a:ext uri="{FF2B5EF4-FFF2-40B4-BE49-F238E27FC236}">
                <a16:creationId xmlns:a16="http://schemas.microsoft.com/office/drawing/2014/main" id="{6B782982-60E6-A619-C599-B2B0957592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0150" y="1636713"/>
            <a:ext cx="10318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0000000000</a:t>
            </a:r>
          </a:p>
        </p:txBody>
      </p:sp>
      <p:sp>
        <p:nvSpPr>
          <p:cNvPr id="8222" name="Rectangle 30">
            <a:extLst>
              <a:ext uri="{FF2B5EF4-FFF2-40B4-BE49-F238E27FC236}">
                <a16:creationId xmlns:a16="http://schemas.microsoft.com/office/drawing/2014/main" id="{DB2E9415-8E37-CE76-5F3B-98B1C5286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6950" y="1636713"/>
            <a:ext cx="777875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0000000</a:t>
            </a:r>
          </a:p>
        </p:txBody>
      </p:sp>
      <p:sp>
        <p:nvSpPr>
          <p:cNvPr id="8223" name="Rectangle 31">
            <a:extLst>
              <a:ext uri="{FF2B5EF4-FFF2-40B4-BE49-F238E27FC236}">
                <a16:creationId xmlns:a16="http://schemas.microsoft.com/office/drawing/2014/main" id="{86D36291-8172-94DC-D959-A48CC03999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4" name="Rectangle 32">
            <a:extLst>
              <a:ext uri="{FF2B5EF4-FFF2-40B4-BE49-F238E27FC236}">
                <a16:creationId xmlns:a16="http://schemas.microsoft.com/office/drawing/2014/main" id="{7E765C6F-154B-8C72-7221-F67B7FDEB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5" name="Rectangle 33">
            <a:extLst>
              <a:ext uri="{FF2B5EF4-FFF2-40B4-BE49-F238E27FC236}">
                <a16:creationId xmlns:a16="http://schemas.microsoft.com/office/drawing/2014/main" id="{E427AD9A-04AD-2694-9B80-59B3F09086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6" name="Rectangle 34">
            <a:extLst>
              <a:ext uri="{FF2B5EF4-FFF2-40B4-BE49-F238E27FC236}">
                <a16:creationId xmlns:a16="http://schemas.microsoft.com/office/drawing/2014/main" id="{C90BAF06-C796-A339-F156-6A0331599E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7" name="Rectangle 35">
            <a:extLst>
              <a:ext uri="{FF2B5EF4-FFF2-40B4-BE49-F238E27FC236}">
                <a16:creationId xmlns:a16="http://schemas.microsoft.com/office/drawing/2014/main" id="{E48E7806-4C25-8F55-6119-307BD718FD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8" name="Rectangle 36">
            <a:extLst>
              <a:ext uri="{FF2B5EF4-FFF2-40B4-BE49-F238E27FC236}">
                <a16:creationId xmlns:a16="http://schemas.microsoft.com/office/drawing/2014/main" id="{DEAF317E-48DE-164F-CFF1-E008146C41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03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29" name="Rectangle 37">
            <a:extLst>
              <a:ext uri="{FF2B5EF4-FFF2-40B4-BE49-F238E27FC236}">
                <a16:creationId xmlns:a16="http://schemas.microsoft.com/office/drawing/2014/main" id="{EA5A7EC0-91F2-B767-8FC8-C11CB09A21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51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30" name="Rectangle 38">
            <a:extLst>
              <a:ext uri="{FF2B5EF4-FFF2-40B4-BE49-F238E27FC236}">
                <a16:creationId xmlns:a16="http://schemas.microsoft.com/office/drawing/2014/main" id="{4F183B25-1F50-7381-059B-FFE1F85B8D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099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31" name="Rectangle 39">
            <a:extLst>
              <a:ext uri="{FF2B5EF4-FFF2-40B4-BE49-F238E27FC236}">
                <a16:creationId xmlns:a16="http://schemas.microsoft.com/office/drawing/2014/main" id="{CECB7719-2CA2-5E02-E516-110D9FF394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9565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32" name="Rectangle 40">
            <a:extLst>
              <a:ext uri="{FF2B5EF4-FFF2-40B4-BE49-F238E27FC236}">
                <a16:creationId xmlns:a16="http://schemas.microsoft.com/office/drawing/2014/main" id="{282DB771-0DDB-E49F-1339-559689C2E4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045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sp>
        <p:nvSpPr>
          <p:cNvPr id="8233" name="Rectangle 41">
            <a:extLst>
              <a:ext uri="{FF2B5EF4-FFF2-40B4-BE49-F238E27FC236}">
                <a16:creationId xmlns:a16="http://schemas.microsoft.com/office/drawing/2014/main" id="{FDD6F7D3-0431-7EF4-B877-437BAF9426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4300" y="830263"/>
            <a:ext cx="438150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000</a:t>
            </a:r>
          </a:p>
        </p:txBody>
      </p:sp>
      <p:grpSp>
        <p:nvGrpSpPr>
          <p:cNvPr id="8236" name="Group 44">
            <a:extLst>
              <a:ext uri="{FF2B5EF4-FFF2-40B4-BE49-F238E27FC236}">
                <a16:creationId xmlns:a16="http://schemas.microsoft.com/office/drawing/2014/main" id="{CEB4ECDA-B1D1-CE8F-91BE-5E2B8FE08652}"/>
              </a:ext>
            </a:extLst>
          </p:cNvPr>
          <p:cNvGrpSpPr>
            <a:grpSpLocks/>
          </p:cNvGrpSpPr>
          <p:nvPr/>
        </p:nvGrpSpPr>
        <p:grpSpPr bwMode="auto">
          <a:xfrm>
            <a:off x="4210050" y="812800"/>
            <a:ext cx="200025" cy="317500"/>
            <a:chOff x="2652" y="512"/>
            <a:chExt cx="126" cy="200"/>
          </a:xfrm>
        </p:grpSpPr>
        <p:sp>
          <p:nvSpPr>
            <p:cNvPr id="8234" name="Freeform 42">
              <a:extLst>
                <a:ext uri="{FF2B5EF4-FFF2-40B4-BE49-F238E27FC236}">
                  <a16:creationId xmlns:a16="http://schemas.microsoft.com/office/drawing/2014/main" id="{C3C39EF8-6B77-7E78-F574-D11CD1292886}"/>
                </a:ext>
              </a:extLst>
            </p:cNvPr>
            <p:cNvSpPr>
              <a:spLocks/>
            </p:cNvSpPr>
            <p:nvPr/>
          </p:nvSpPr>
          <p:spPr bwMode="auto">
            <a:xfrm>
              <a:off x="2652" y="520"/>
              <a:ext cx="70" cy="185"/>
            </a:xfrm>
            <a:custGeom>
              <a:avLst/>
              <a:gdLst>
                <a:gd name="T0" fmla="*/ 69 w 70"/>
                <a:gd name="T1" fmla="*/ 0 h 185"/>
                <a:gd name="T2" fmla="*/ 55 w 70"/>
                <a:gd name="T3" fmla="*/ 0 h 185"/>
                <a:gd name="T4" fmla="*/ 41 w 70"/>
                <a:gd name="T5" fmla="*/ 0 h 185"/>
                <a:gd name="T6" fmla="*/ 27 w 70"/>
                <a:gd name="T7" fmla="*/ 4 h 185"/>
                <a:gd name="T8" fmla="*/ 27 w 70"/>
                <a:gd name="T9" fmla="*/ 12 h 185"/>
                <a:gd name="T10" fmla="*/ 27 w 70"/>
                <a:gd name="T11" fmla="*/ 20 h 185"/>
                <a:gd name="T12" fmla="*/ 20 w 70"/>
                <a:gd name="T13" fmla="*/ 28 h 185"/>
                <a:gd name="T14" fmla="*/ 13 w 70"/>
                <a:gd name="T15" fmla="*/ 36 h 185"/>
                <a:gd name="T16" fmla="*/ 13 w 70"/>
                <a:gd name="T17" fmla="*/ 44 h 185"/>
                <a:gd name="T18" fmla="*/ 27 w 70"/>
                <a:gd name="T19" fmla="*/ 49 h 185"/>
                <a:gd name="T20" fmla="*/ 27 w 70"/>
                <a:gd name="T21" fmla="*/ 57 h 185"/>
                <a:gd name="T22" fmla="*/ 20 w 70"/>
                <a:gd name="T23" fmla="*/ 65 h 185"/>
                <a:gd name="T24" fmla="*/ 6 w 70"/>
                <a:gd name="T25" fmla="*/ 69 h 185"/>
                <a:gd name="T26" fmla="*/ 6 w 70"/>
                <a:gd name="T27" fmla="*/ 77 h 185"/>
                <a:gd name="T28" fmla="*/ 6 w 70"/>
                <a:gd name="T29" fmla="*/ 85 h 185"/>
                <a:gd name="T30" fmla="*/ 20 w 70"/>
                <a:gd name="T31" fmla="*/ 89 h 185"/>
                <a:gd name="T32" fmla="*/ 27 w 70"/>
                <a:gd name="T33" fmla="*/ 98 h 185"/>
                <a:gd name="T34" fmla="*/ 20 w 70"/>
                <a:gd name="T35" fmla="*/ 106 h 185"/>
                <a:gd name="T36" fmla="*/ 13 w 70"/>
                <a:gd name="T37" fmla="*/ 114 h 185"/>
                <a:gd name="T38" fmla="*/ 0 w 70"/>
                <a:gd name="T39" fmla="*/ 118 h 185"/>
                <a:gd name="T40" fmla="*/ 0 w 70"/>
                <a:gd name="T41" fmla="*/ 126 h 185"/>
                <a:gd name="T42" fmla="*/ 13 w 70"/>
                <a:gd name="T43" fmla="*/ 134 h 185"/>
                <a:gd name="T44" fmla="*/ 20 w 70"/>
                <a:gd name="T45" fmla="*/ 143 h 185"/>
                <a:gd name="T46" fmla="*/ 6 w 70"/>
                <a:gd name="T47" fmla="*/ 147 h 185"/>
                <a:gd name="T48" fmla="*/ 6 w 70"/>
                <a:gd name="T49" fmla="*/ 155 h 185"/>
                <a:gd name="T50" fmla="*/ 6 w 70"/>
                <a:gd name="T51" fmla="*/ 163 h 185"/>
                <a:gd name="T52" fmla="*/ 20 w 70"/>
                <a:gd name="T53" fmla="*/ 163 h 185"/>
                <a:gd name="T54" fmla="*/ 20 w 70"/>
                <a:gd name="T55" fmla="*/ 171 h 185"/>
                <a:gd name="T56" fmla="*/ 27 w 70"/>
                <a:gd name="T57" fmla="*/ 179 h 185"/>
                <a:gd name="T58" fmla="*/ 41 w 70"/>
                <a:gd name="T59" fmla="*/ 184 h 185"/>
                <a:gd name="T60" fmla="*/ 55 w 70"/>
                <a:gd name="T61" fmla="*/ 184 h 185"/>
                <a:gd name="T62" fmla="*/ 69 w 70"/>
                <a:gd name="T63" fmla="*/ 184 h 185"/>
                <a:gd name="T64" fmla="*/ 69 w 70"/>
                <a:gd name="T65" fmla="*/ 0 h 1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</a:cxnLst>
              <a:rect l="0" t="0" r="r" b="b"/>
              <a:pathLst>
                <a:path w="70" h="185">
                  <a:moveTo>
                    <a:pt x="69" y="0"/>
                  </a:moveTo>
                  <a:lnTo>
                    <a:pt x="55" y="0"/>
                  </a:lnTo>
                  <a:lnTo>
                    <a:pt x="41" y="0"/>
                  </a:lnTo>
                  <a:lnTo>
                    <a:pt x="27" y="4"/>
                  </a:lnTo>
                  <a:lnTo>
                    <a:pt x="27" y="12"/>
                  </a:lnTo>
                  <a:lnTo>
                    <a:pt x="27" y="20"/>
                  </a:lnTo>
                  <a:lnTo>
                    <a:pt x="20" y="28"/>
                  </a:lnTo>
                  <a:lnTo>
                    <a:pt x="13" y="36"/>
                  </a:lnTo>
                  <a:lnTo>
                    <a:pt x="13" y="44"/>
                  </a:lnTo>
                  <a:lnTo>
                    <a:pt x="27" y="49"/>
                  </a:lnTo>
                  <a:lnTo>
                    <a:pt x="27" y="57"/>
                  </a:lnTo>
                  <a:lnTo>
                    <a:pt x="20" y="65"/>
                  </a:lnTo>
                  <a:lnTo>
                    <a:pt x="6" y="69"/>
                  </a:lnTo>
                  <a:lnTo>
                    <a:pt x="6" y="77"/>
                  </a:lnTo>
                  <a:lnTo>
                    <a:pt x="6" y="85"/>
                  </a:lnTo>
                  <a:lnTo>
                    <a:pt x="20" y="89"/>
                  </a:lnTo>
                  <a:lnTo>
                    <a:pt x="27" y="98"/>
                  </a:lnTo>
                  <a:lnTo>
                    <a:pt x="20" y="106"/>
                  </a:lnTo>
                  <a:lnTo>
                    <a:pt x="13" y="114"/>
                  </a:lnTo>
                  <a:lnTo>
                    <a:pt x="0" y="118"/>
                  </a:lnTo>
                  <a:lnTo>
                    <a:pt x="0" y="126"/>
                  </a:lnTo>
                  <a:lnTo>
                    <a:pt x="13" y="134"/>
                  </a:lnTo>
                  <a:lnTo>
                    <a:pt x="20" y="143"/>
                  </a:lnTo>
                  <a:lnTo>
                    <a:pt x="6" y="147"/>
                  </a:lnTo>
                  <a:lnTo>
                    <a:pt x="6" y="155"/>
                  </a:lnTo>
                  <a:lnTo>
                    <a:pt x="6" y="163"/>
                  </a:lnTo>
                  <a:lnTo>
                    <a:pt x="20" y="163"/>
                  </a:lnTo>
                  <a:lnTo>
                    <a:pt x="20" y="171"/>
                  </a:lnTo>
                  <a:lnTo>
                    <a:pt x="27" y="179"/>
                  </a:lnTo>
                  <a:lnTo>
                    <a:pt x="41" y="184"/>
                  </a:lnTo>
                  <a:lnTo>
                    <a:pt x="55" y="184"/>
                  </a:lnTo>
                  <a:lnTo>
                    <a:pt x="69" y="184"/>
                  </a:lnTo>
                  <a:lnTo>
                    <a:pt x="69" y="0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35" name="Rectangle 43">
              <a:extLst>
                <a:ext uri="{FF2B5EF4-FFF2-40B4-BE49-F238E27FC236}">
                  <a16:creationId xmlns:a16="http://schemas.microsoft.com/office/drawing/2014/main" id="{CA44EEC4-C880-E853-1C33-DC1844605F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95" y="512"/>
              <a:ext cx="83" cy="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8237" name="AutoShape 45">
            <a:extLst>
              <a:ext uri="{FF2B5EF4-FFF2-40B4-BE49-F238E27FC236}">
                <a16:creationId xmlns:a16="http://schemas.microsoft.com/office/drawing/2014/main" id="{1E91DD5C-9077-917E-6B74-230E4B861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7838" y="906463"/>
            <a:ext cx="311150" cy="139700"/>
          </a:xfrm>
          <a:prstGeom prst="rightArrow">
            <a:avLst>
              <a:gd name="adj1" fmla="val 50000"/>
              <a:gd name="adj2" fmla="val 111374"/>
            </a:avLst>
          </a:prstGeom>
          <a:solidFill>
            <a:schemeClr val="accent1"/>
          </a:solidFill>
          <a:ln w="12700">
            <a:solidFill>
              <a:schemeClr val="tx1"/>
            </a:solidFill>
            <a:miter lim="800000"/>
            <a:headEnd/>
            <a:tailEnd/>
          </a:ln>
          <a:effectLst>
            <a:outerShdw dist="17961" dir="2700000" algn="ctr" rotWithShape="0">
              <a:schemeClr val="folHlink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212</TotalTime>
  <Words>426</Words>
  <Application>Microsoft Office PowerPoint</Application>
  <PresentationFormat>Custom</PresentationFormat>
  <Paragraphs>108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14</cp:revision>
  <dcterms:created xsi:type="dcterms:W3CDTF">1995-06-17T23:31:02Z</dcterms:created>
  <dcterms:modified xsi:type="dcterms:W3CDTF">2026-05-13T01:07:04Z</dcterms:modified>
</cp:coreProperties>
</file>