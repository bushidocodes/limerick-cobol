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4764088" cy="36576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37960" y="138240"/>
            <a:ext cx="4287240" cy="625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37960" y="855720"/>
            <a:ext cx="42872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4764240" cy="3657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9360" y="11160"/>
            <a:ext cx="4746600" cy="3638520"/>
          </a:xfrm>
          <a:prstGeom prst="rect">
            <a:avLst/>
          </a:prstGeom>
          <a:noFill/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37960" y="145800"/>
            <a:ext cx="4287240" cy="610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37960" y="855720"/>
            <a:ext cx="428724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1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 txBox="1"/>
          <p:nvPr/>
        </p:nvSpPr>
        <p:spPr>
          <a:xfrm>
            <a:off x="19080" y="949320"/>
            <a:ext cx="4743360" cy="100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A binary search</a:t>
            </a:r>
            <a:br>
              <a:rPr sz="2000"/>
            </a:br>
            <a:r>
              <a:rPr lang="en-US" sz="2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to find the letter “P”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CC0000"/>
                </a:solidFill>
                <a:effectLst/>
                <a:uFillTx/>
                <a:latin typeface="Arial"/>
                <a:ea typeface="Arial"/>
              </a:rPr>
              <a:t>in the letter table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Middle = (Lower + Upper) / 2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6600" y="295200"/>
            <a:ext cx="461016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Middle = (Lower + Upper) / 2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66600" y="295200"/>
            <a:ext cx="461016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2162160" y="790560"/>
            <a:ext cx="133560" cy="152640"/>
          </a:xfrm>
          <a:custGeom>
            <a:avLst/>
            <a:gdLst/>
            <a:ahLst/>
            <a:rect l="0" t="0" r="r" b="b"/>
            <a:pathLst>
              <a:path w="371" h="424">
                <a:moveTo>
                  <a:pt x="0" y="140"/>
                </a:moveTo>
                <a:lnTo>
                  <a:pt x="0" y="282"/>
                </a:lnTo>
                <a:lnTo>
                  <a:pt x="260" y="282"/>
                </a:lnTo>
                <a:lnTo>
                  <a:pt x="260" y="424"/>
                </a:lnTo>
                <a:lnTo>
                  <a:pt x="371" y="211"/>
                </a:lnTo>
                <a:lnTo>
                  <a:pt x="260" y="0"/>
                </a:lnTo>
                <a:lnTo>
                  <a:pt x="26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33CC33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COMPUTE Middle = (Lower + Upper) / 2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3333CC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2295360" y="295200"/>
            <a:ext cx="238140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2162160" y="790560"/>
            <a:ext cx="133560" cy="152640"/>
          </a:xfrm>
          <a:custGeom>
            <a:avLst/>
            <a:gdLst/>
            <a:ahLst/>
            <a:rect l="0" t="0" r="r" b="b"/>
            <a:pathLst>
              <a:path w="371" h="424">
                <a:moveTo>
                  <a:pt x="0" y="140"/>
                </a:moveTo>
                <a:lnTo>
                  <a:pt x="0" y="282"/>
                </a:lnTo>
                <a:lnTo>
                  <a:pt x="260" y="282"/>
                </a:lnTo>
                <a:lnTo>
                  <a:pt x="260" y="424"/>
                </a:lnTo>
                <a:lnTo>
                  <a:pt x="371" y="211"/>
                </a:lnTo>
                <a:lnTo>
                  <a:pt x="260" y="0"/>
                </a:lnTo>
                <a:lnTo>
                  <a:pt x="26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33CC33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Middle = (Lower + Upper) / 2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WHEN Letter(Middle) &lt; “P” COMPUTE Lower = Middle + 1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2295360" y="295200"/>
            <a:ext cx="238140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3419640" y="797040"/>
            <a:ext cx="133560" cy="152640"/>
          </a:xfrm>
          <a:custGeom>
            <a:avLst/>
            <a:gdLst/>
            <a:ahLst/>
            <a:rect l="0" t="0" r="r" b="b"/>
            <a:pathLst>
              <a:path w="371" h="424">
                <a:moveTo>
                  <a:pt x="0" y="140"/>
                </a:moveTo>
                <a:lnTo>
                  <a:pt x="0" y="282"/>
                </a:lnTo>
                <a:lnTo>
                  <a:pt x="260" y="282"/>
                </a:lnTo>
                <a:lnTo>
                  <a:pt x="260" y="424"/>
                </a:lnTo>
                <a:lnTo>
                  <a:pt x="371" y="211"/>
                </a:lnTo>
                <a:lnTo>
                  <a:pt x="260" y="0"/>
                </a:lnTo>
                <a:lnTo>
                  <a:pt x="26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33CC33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COMPUTE Middle = (Lower + Upper) / 2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3333CC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2295360" y="295200"/>
            <a:ext cx="110484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3419640" y="797040"/>
            <a:ext cx="133560" cy="152640"/>
          </a:xfrm>
          <a:custGeom>
            <a:avLst/>
            <a:gdLst/>
            <a:ahLst/>
            <a:rect l="0" t="0" r="r" b="b"/>
            <a:pathLst>
              <a:path w="371" h="424">
                <a:moveTo>
                  <a:pt x="0" y="140"/>
                </a:moveTo>
                <a:lnTo>
                  <a:pt x="0" y="282"/>
                </a:lnTo>
                <a:lnTo>
                  <a:pt x="260" y="282"/>
                </a:lnTo>
                <a:lnTo>
                  <a:pt x="260" y="424"/>
                </a:lnTo>
                <a:lnTo>
                  <a:pt x="371" y="211"/>
                </a:lnTo>
                <a:lnTo>
                  <a:pt x="260" y="0"/>
                </a:lnTo>
                <a:lnTo>
                  <a:pt x="26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33CC33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Middle = (Lower + Upper) / 2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2295360" y="295200"/>
            <a:ext cx="110484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2695680" y="797040"/>
            <a:ext cx="133560" cy="152640"/>
          </a:xfrm>
          <a:custGeom>
            <a:avLst/>
            <a:gdLst/>
            <a:ahLst/>
            <a:rect l="0" t="0" r="r" b="b"/>
            <a:pathLst>
              <a:path w="371" h="424">
                <a:moveTo>
                  <a:pt x="0" y="140"/>
                </a:moveTo>
                <a:lnTo>
                  <a:pt x="0" y="282"/>
                </a:lnTo>
                <a:lnTo>
                  <a:pt x="260" y="282"/>
                </a:lnTo>
                <a:lnTo>
                  <a:pt x="260" y="424"/>
                </a:lnTo>
                <a:lnTo>
                  <a:pt x="371" y="211"/>
                </a:lnTo>
                <a:lnTo>
                  <a:pt x="260" y="0"/>
                </a:lnTo>
                <a:lnTo>
                  <a:pt x="26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33CC33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COMPUTE Middle = (Lower + Upper) / 2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"/>
          <p:cNvSpPr txBox="1"/>
          <p:nvPr/>
        </p:nvSpPr>
        <p:spPr>
          <a:xfrm>
            <a:off x="763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2476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190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5904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7621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9334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1048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12762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4479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161928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J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179064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96200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2133720" y="320760"/>
            <a:ext cx="176040" cy="284040"/>
          </a:xfrm>
          <a:prstGeom prst="rect">
            <a:avLst/>
          </a:prstGeom>
          <a:solidFill>
            <a:srgbClr val="F8F8F8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23050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24861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266688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CC0000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8479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Q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02904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3209760" y="320760"/>
            <a:ext cx="176040" cy="28404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000099"/>
                </a:solidFill>
                <a:effectLst/>
                <a:uFillTx/>
                <a:latin typeface="Times New Roman"/>
                <a:ea typeface="Times New Roman"/>
              </a:rPr>
              <a:t>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339084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57192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7530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V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93372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W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41148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29588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4476600" y="320760"/>
            <a:ext cx="176040" cy="284040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200" b="1" u="none" strike="noStrike">
                <a:solidFill>
                  <a:srgbClr val="969696"/>
                </a:solidFill>
                <a:effectLst/>
                <a:uFillTx/>
                <a:latin typeface="Times New Roman"/>
                <a:ea typeface="Times New Roman"/>
              </a:rPr>
              <a:t>Z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69840" y="601560"/>
            <a:ext cx="46609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1   2    3   4     5    6    7    8    9   10  11  12  13  14   15  16   17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 18  19  20  21 22  23  24 25  26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0" y="115920"/>
            <a:ext cx="868320" cy="2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LetterTable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1941480" y="123516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3300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979640" y="109044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Middle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34128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37944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Lower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1179360" y="1216080"/>
            <a:ext cx="41904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3333CC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1217520" y="1071720"/>
            <a:ext cx="36684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Upper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2855880" y="1235160"/>
            <a:ext cx="811080" cy="343080"/>
          </a:xfrm>
          <a:prstGeom prst="rect">
            <a:avLst/>
          </a:prstGeom>
          <a:solidFill>
            <a:srgbClr val="FFFFCC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000" b="1" u="none" strike="noStrike">
                <a:solidFill>
                  <a:srgbClr val="FF3300"/>
                </a:solidFill>
                <a:effectLst/>
                <a:uFillTx/>
                <a:latin typeface="Times New Roman"/>
                <a:ea typeface="Times New Roman"/>
              </a:rPr>
              <a:t>P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2894040" y="1090440"/>
            <a:ext cx="925560" cy="15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Letter(Middle)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2451240" y="1211400"/>
            <a:ext cx="317520" cy="36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2295360" y="295200"/>
            <a:ext cx="1104840" cy="324000"/>
          </a:xfrm>
          <a:prstGeom prst="rect">
            <a:avLst/>
          </a:prstGeom>
          <a:noFill/>
          <a:ln w="25560">
            <a:solidFill>
              <a:srgbClr val="CC0000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/>
          <p:nvPr/>
        </p:nvSpPr>
        <p:spPr>
          <a:xfrm>
            <a:off x="2695680" y="797040"/>
            <a:ext cx="133560" cy="152640"/>
          </a:xfrm>
          <a:custGeom>
            <a:avLst/>
            <a:gdLst/>
            <a:ahLst/>
            <a:rect l="0" t="0" r="r" b="b"/>
            <a:pathLst>
              <a:path w="371" h="424">
                <a:moveTo>
                  <a:pt x="0" y="140"/>
                </a:moveTo>
                <a:lnTo>
                  <a:pt x="0" y="282"/>
                </a:lnTo>
                <a:lnTo>
                  <a:pt x="260" y="282"/>
                </a:lnTo>
                <a:lnTo>
                  <a:pt x="260" y="424"/>
                </a:lnTo>
                <a:lnTo>
                  <a:pt x="371" y="211"/>
                </a:lnTo>
                <a:lnTo>
                  <a:pt x="260" y="0"/>
                </a:lnTo>
                <a:lnTo>
                  <a:pt x="260" y="140"/>
                </a:lnTo>
                <a:lnTo>
                  <a:pt x="0" y="140"/>
                </a:lnTo>
                <a:close/>
              </a:path>
            </a:pathLst>
          </a:custGeom>
          <a:solidFill>
            <a:srgbClr val="33CC33"/>
          </a:solidFill>
          <a:ln w="12600">
            <a:solidFill>
              <a:srgbClr val="000000"/>
            </a:solidFill>
            <a:round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82440" y="1770120"/>
            <a:ext cx="4451400" cy="1676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Bef>
                <a:spcPts val="1199"/>
              </a:spcBef>
            </a:pP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1 TO Lower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MOVE 26 TO Upper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ItemFound OR ItemNotInTable  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</a:t>
            </a: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COMPUTE Middle = (Lower + Upper) / 2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EVALUATE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&lt; “P” COMPUTE Lower = Middle + 1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Letter(Middle) &gt; “P” COMPUTE Upper = Middle -1</a:t>
            </a:r>
            <a:br>
              <a:rPr sz="1000"/>
            </a:br>
            <a:r>
              <a:rPr lang="en-US" sz="1000" b="1" u="none" strike="noStrike">
                <a:solidFill>
                  <a:srgbClr val="CC0000"/>
                </a:solidFill>
                <a:effectLst/>
                <a:uFillTx/>
                <a:latin typeface="Courier New"/>
                <a:ea typeface="Courier New"/>
              </a:rPr>
              <a:t>    WHEN Letter(Middle) = “P” SET ItemFound TO TRUE</a:t>
            </a:r>
            <a:br>
              <a:rPr sz="18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WHEN Lower &gt; Upper THEN SET ItemNotInTable TO TRUE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END-EVALUATE </a:t>
            </a:r>
            <a:br>
              <a:rPr sz="1000"/>
            </a:br>
            <a:r>
              <a:rPr lang="en-US" sz="1000" b="0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No Slide Title</dc:title>
</cp:coreProperties>
</file>