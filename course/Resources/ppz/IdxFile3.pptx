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259" r:id="rId2"/>
    <p:sldId id="256" r:id="rId3"/>
    <p:sldId id="258" r:id="rId4"/>
  </p:sldIdLst>
  <p:sldSz cx="4762500" cy="4953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60">
          <p15:clr>
            <a:srgbClr val="A4A3A4"/>
          </p15:clr>
        </p15:guide>
        <p15:guide id="2" pos="150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560">
          <p15:clr>
            <a:srgbClr val="A4A3A4"/>
          </p15:clr>
        </p15:guide>
        <p15:guide id="2" pos="150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00"/>
    <a:srgbClr val="336600"/>
    <a:srgbClr val="FFFF00"/>
    <a:srgbClr val="000099"/>
    <a:srgbClr val="A50021"/>
    <a:srgbClr val="FFFF99"/>
    <a:srgbClr val="CCFF99"/>
    <a:srgbClr val="CC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73" d="100"/>
          <a:sy n="173" d="100"/>
        </p:scale>
        <p:origin x="1302" y="138"/>
      </p:cViewPr>
      <p:guideLst>
        <p:guide orient="horz" pos="1560"/>
        <p:guide pos="150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70" d="100"/>
          <a:sy n="70" d="100"/>
        </p:scale>
        <p:origin x="-1704" y="-78"/>
      </p:cViewPr>
      <p:guideLst>
        <p:guide orient="horz" pos="1560"/>
        <p:guide pos="150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BC065182-763C-E395-1147-F2300CC7A574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>
              <a:defRPr sz="1000" i="1"/>
            </a:lvl1pPr>
          </a:lstStyle>
          <a:p>
            <a:endParaRPr lang="en-US" altLang="en-US"/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9CCD69A8-8CC9-6F0A-C6A9-C6F0701897F8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 algn="r">
              <a:defRPr sz="1000" i="1"/>
            </a:lvl1pPr>
          </a:lstStyle>
          <a:p>
            <a:endParaRPr lang="en-US" altLang="en-US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14380CEB-15F5-2AC8-4982-F38D0CD593B8}"/>
              </a:ext>
            </a:extLst>
          </p:cNvPr>
          <p:cNvSpPr>
            <a:spLocks noRot="1" noChangeArrowheads="1" noTextEdit="1"/>
          </p:cNvSpPr>
          <p:nvPr>
            <p:ph type="sldImg" idx="2"/>
          </p:nvPr>
        </p:nvSpPr>
        <p:spPr bwMode="auto">
          <a:xfrm>
            <a:off x="1787525" y="692150"/>
            <a:ext cx="3282950" cy="3416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C544EEC2-7F7A-6EB0-FC79-097BA6BA400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2054" name="Rectangle 6">
            <a:extLst>
              <a:ext uri="{FF2B5EF4-FFF2-40B4-BE49-F238E27FC236}">
                <a16:creationId xmlns:a16="http://schemas.microsoft.com/office/drawing/2014/main" id="{30C33E66-72B3-4F3A-1123-D028150DF7A5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>
              <a:defRPr sz="1000" i="1"/>
            </a:lvl1pPr>
          </a:lstStyle>
          <a:p>
            <a:endParaRPr lang="en-US" altLang="en-US"/>
          </a:p>
        </p:txBody>
      </p:sp>
      <p:sp>
        <p:nvSpPr>
          <p:cNvPr id="2055" name="Rectangle 7">
            <a:extLst>
              <a:ext uri="{FF2B5EF4-FFF2-40B4-BE49-F238E27FC236}">
                <a16:creationId xmlns:a16="http://schemas.microsoft.com/office/drawing/2014/main" id="{3C3E3ED2-4646-4340-8575-11D6B802D06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 algn="r">
              <a:defRPr sz="1000" i="1"/>
            </a:lvl1pPr>
          </a:lstStyle>
          <a:p>
            <a:fld id="{E4729E37-F962-4BE5-B675-ABF5B24E9A46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">
            <a:extLst>
              <a:ext uri="{FF2B5EF4-FFF2-40B4-BE49-F238E27FC236}">
                <a16:creationId xmlns:a16="http://schemas.microsoft.com/office/drawing/2014/main" id="{65529DFB-094E-8BB5-5527-B7FEC6D6279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7E382D5-C87F-4988-80DF-C0A40D78A568}" type="slidenum">
              <a:rPr lang="en-US" altLang="en-US"/>
              <a:pPr/>
              <a:t>2</a:t>
            </a:fld>
            <a:endParaRPr lang="en-US" altLang="en-US"/>
          </a:p>
        </p:txBody>
      </p:sp>
      <p:sp>
        <p:nvSpPr>
          <p:cNvPr id="5122" name="Rectangle 2">
            <a:extLst>
              <a:ext uri="{FF2B5EF4-FFF2-40B4-BE49-F238E27FC236}">
                <a16:creationId xmlns:a16="http://schemas.microsoft.com/office/drawing/2014/main" id="{304CC1CF-E276-BD6E-ACE4-249EA5F42A45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ln cap="flat"/>
        </p:spPr>
      </p:sp>
      <p:sp>
        <p:nvSpPr>
          <p:cNvPr id="5123" name="Rectangle 3">
            <a:extLst>
              <a:ext uri="{FF2B5EF4-FFF2-40B4-BE49-F238E27FC236}">
                <a16:creationId xmlns:a16="http://schemas.microsoft.com/office/drawing/2014/main" id="{21AE544D-FFBD-2DD9-597F-55C7706141F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/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AD24B-B6AD-A112-2A13-40820D79DC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5313" y="811213"/>
            <a:ext cx="3571875" cy="172402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598E1F-F6F0-3403-AE50-ECA2C43F8A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5313" y="2601913"/>
            <a:ext cx="3571875" cy="119538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5CB4E7-C754-B0E1-C81E-03F910766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8627FC-32E2-3BD7-FF63-73F2B700A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40E67A-773F-A4E0-2FFD-219D7D689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0F762CF-6621-4A10-8DD4-87E8C48EC2E9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554269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5A0B9-3C2B-E5CA-6161-E1F590EB0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D30C3B-2D02-A3C3-90F3-1806029D9A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9C72A7-84E8-20C9-27C2-1308F1347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0C6F50-1C8A-782F-B2EB-993EA94F4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3CD29F-084C-3FB5-AF4D-AAD732AEA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4BCC2C1-CD6A-48FF-86A8-CCDECBFE452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855052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9A288-C5B7-223C-2FAF-F73ADFDE7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1235075"/>
            <a:ext cx="4106862" cy="206057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AF2DD-32F2-E320-44B9-B7D84DF520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5438" y="3314700"/>
            <a:ext cx="4106862" cy="1082675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D36A8-A683-2F43-163F-2C2DDCB30F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2067F3-9D17-5CE2-69CC-10A7CA9FC1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6BC9F8-24FC-E3F4-545B-035F55D8A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ABA9BFA-4334-4DBA-9453-204CC64FA9A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070455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20C370-E62B-2090-D207-18CC140D1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1E6BEC-ABC7-FBB3-16CD-0E245B45A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55600" y="1430338"/>
            <a:ext cx="1949450" cy="2971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87E7B9-CC8B-7997-207B-E73EBE6F06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457450" y="1430338"/>
            <a:ext cx="1949450" cy="2971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095282-164E-8F51-5F3C-75808F808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431AA3-F42E-CE70-9B34-12725CD6E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44A6F3-7FBA-13ED-AB7D-21398B6FE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DE18E3A-F472-4BF9-A1DC-78F13E32BC9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283080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ECC10-87F8-5111-2E75-29B4B0ADA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63525"/>
            <a:ext cx="4106862" cy="9572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AAC56A-C221-AD0B-53FE-DB47D56E2D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8613" y="1214438"/>
            <a:ext cx="2014537" cy="5953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37B1FE-FAEF-D21D-4979-47566CF2EA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8613" y="1809750"/>
            <a:ext cx="2014537" cy="26606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CA44D8-07EE-7AE4-F0FB-491E657A7D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411413" y="1214438"/>
            <a:ext cx="2024062" cy="5953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92C273-BED0-4881-4A18-9A5D8621B1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2411413" y="1809750"/>
            <a:ext cx="2024062" cy="26606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72D859-2BF4-E812-3CD4-53B6AB364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2211A4-A69F-8943-7CF8-4C32A168C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AB6684-AFD7-D9E1-A2F0-2421372C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AFF44D8-8BD9-46B6-9730-28D4E92E59D9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429819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DD486-9DA2-7C9B-9F0A-991C8B252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F79EFC-9459-6F73-62A5-A6D7CDA76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E1D6CC-5C1B-EFF4-AF80-D27C61043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42CCA7-AE13-D8BA-BB80-A81A65F9E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B151543-BD9B-4769-967B-2EB316D2FB89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088936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9263AB-E5E2-00BE-7483-A7242D968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B7ED70-720C-9C30-A0AE-77D510C6E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DD3AB8-4A78-EF56-0E91-A84862ACE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474C788-FB77-45F5-B75E-89256CD36B82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206883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71510-A5A6-C5F8-B187-997194B40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330200"/>
            <a:ext cx="1535112" cy="11557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16527F-3D1D-C15D-1459-8B21338681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4063" y="712788"/>
            <a:ext cx="2411412" cy="351948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8AF986-2490-33FC-EFA1-2B93D974C6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8613" y="1485900"/>
            <a:ext cx="1535112" cy="27527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513873-6A63-63AC-643A-EA920FB5C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83355A-6D32-4C39-E7F0-63D6A9AB0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1EEE44-2076-2815-555E-5BFA4FB96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8326922-03AB-4D29-8BE2-755132F6F9FA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75825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6FE37-6C40-4BD6-1F57-0AEFF1443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330200"/>
            <a:ext cx="1535112" cy="11557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AED57E2-E9C9-2D57-C373-C1CFF6D73B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2024063" y="712788"/>
            <a:ext cx="2411412" cy="3519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BFE910-C329-4D4A-6260-A1ECBD0B83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8613" y="1485900"/>
            <a:ext cx="1535112" cy="27527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8BA030-F059-EE97-F0F5-B1B366C66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F91123-9E59-D4F8-F5FD-F75A241A5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CF0241-7D09-3AA0-B7B1-1C9779AAB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1A9D269-B6C5-43A9-BDB6-098B3994B03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246219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2DB4F-CE5D-6E49-8317-E4C352966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D12909-59D4-7156-E640-4F5DEFBCA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E9BB3C-A8EF-9CDF-E194-D6326E24D8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19ED8-E351-7841-F93F-DB5799B16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1368D0-AD2F-0B59-91E4-AAEC021B7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B88DA91-9E00-417E-A954-DB7D32C3A8BA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740725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1F238E0-D252-FA89-B4A1-A4A25FCD19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3394075" y="438150"/>
            <a:ext cx="1012825" cy="39639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95221E-7917-5A7B-949B-BF83A1237A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55600" y="438150"/>
            <a:ext cx="2886075" cy="39639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BA0790-CDC5-6893-53D2-F1C6EF44C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E74FE3-2E4B-3A6C-9BCB-01C14A4C8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28D0EA-23B5-4EEB-4FCE-1FCAAADE6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D545DC0-F677-4FE8-8084-741DF970160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63311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A73241BD-2911-DC60-8FD0-2634FA351F5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355600" y="438150"/>
            <a:ext cx="4051300" cy="825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38100" tIns="22225" rIns="38100" bIns="22225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75DD6B28-7035-99C4-759C-370F7928006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355600" y="1430338"/>
            <a:ext cx="4051300" cy="297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38100" tIns="22225" rIns="38100" bIns="2222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06C75065-E931-FE77-0906-B2EB7D5EF63D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355600" y="4514850"/>
            <a:ext cx="993775" cy="328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38100" tIns="22225" rIns="38100" bIns="22225" numCol="1" anchor="ctr" anchorCtr="0" compatLnSpc="1">
            <a:prstTxWarp prst="textNoShape">
              <a:avLst/>
            </a:prstTxWarp>
          </a:bodyPr>
          <a:lstStyle>
            <a:lvl1pPr defTabSz="158750">
              <a:defRPr sz="500"/>
            </a:lvl1pPr>
          </a:lstStyle>
          <a:p>
            <a:endParaRPr lang="en-US" altLang="en-US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EA072DA4-B263-3ECA-C6B5-3B933FFC5BCB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628775" y="4514850"/>
            <a:ext cx="1504950" cy="328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38100" tIns="22225" rIns="38100" bIns="22225" numCol="1" anchor="ctr" anchorCtr="0" compatLnSpc="1">
            <a:prstTxWarp prst="textNoShape">
              <a:avLst/>
            </a:prstTxWarp>
          </a:bodyPr>
          <a:lstStyle>
            <a:lvl1pPr algn="ctr" defTabSz="158750">
              <a:defRPr sz="500"/>
            </a:lvl1pPr>
          </a:lstStyle>
          <a:p>
            <a:endParaRPr lang="en-US" alt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EEDC5CB7-517B-E05C-B57F-68695B6626D4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413125" y="4514850"/>
            <a:ext cx="993775" cy="328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38100" tIns="22225" rIns="38100" bIns="22225" numCol="1" anchor="ctr" anchorCtr="0" compatLnSpc="1">
            <a:prstTxWarp prst="textNoShape">
              <a:avLst/>
            </a:prstTxWarp>
          </a:bodyPr>
          <a:lstStyle>
            <a:lvl1pPr algn="r" defTabSz="158750">
              <a:defRPr sz="500"/>
            </a:lvl1pPr>
          </a:lstStyle>
          <a:p>
            <a:fld id="{7EC6874F-B3F5-4212-A4A5-7634B02D0A7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EF3F9E73-2047-C076-4524-A7A1BAF5A3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38" y="19050"/>
            <a:ext cx="4721225" cy="49149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58750" rtl="0" eaLnBrk="0" fontAlgn="base" hangingPunct="0">
        <a:spcBef>
          <a:spcPct val="0"/>
        </a:spcBef>
        <a:spcAft>
          <a:spcPct val="0"/>
        </a:spcAft>
        <a:defRPr sz="19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defTabSz="158750" rtl="0" eaLnBrk="0" fontAlgn="base" hangingPunct="0">
        <a:spcBef>
          <a:spcPct val="0"/>
        </a:spcBef>
        <a:spcAft>
          <a:spcPct val="0"/>
        </a:spcAft>
        <a:defRPr sz="1900">
          <a:solidFill>
            <a:schemeClr val="tx2"/>
          </a:solidFill>
          <a:latin typeface="Times New Roman" panose="02020603050405020304" pitchFamily="18" charset="0"/>
        </a:defRPr>
      </a:lvl2pPr>
      <a:lvl3pPr algn="ctr" defTabSz="158750" rtl="0" eaLnBrk="0" fontAlgn="base" hangingPunct="0">
        <a:spcBef>
          <a:spcPct val="0"/>
        </a:spcBef>
        <a:spcAft>
          <a:spcPct val="0"/>
        </a:spcAft>
        <a:defRPr sz="1900">
          <a:solidFill>
            <a:schemeClr val="tx2"/>
          </a:solidFill>
          <a:latin typeface="Times New Roman" panose="02020603050405020304" pitchFamily="18" charset="0"/>
        </a:defRPr>
      </a:lvl3pPr>
      <a:lvl4pPr algn="ctr" defTabSz="158750" rtl="0" eaLnBrk="0" fontAlgn="base" hangingPunct="0">
        <a:spcBef>
          <a:spcPct val="0"/>
        </a:spcBef>
        <a:spcAft>
          <a:spcPct val="0"/>
        </a:spcAft>
        <a:defRPr sz="1900">
          <a:solidFill>
            <a:schemeClr val="tx2"/>
          </a:solidFill>
          <a:latin typeface="Times New Roman" panose="02020603050405020304" pitchFamily="18" charset="0"/>
        </a:defRPr>
      </a:lvl4pPr>
      <a:lvl5pPr algn="ctr" defTabSz="158750" rtl="0" eaLnBrk="0" fontAlgn="base" hangingPunct="0">
        <a:spcBef>
          <a:spcPct val="0"/>
        </a:spcBef>
        <a:spcAft>
          <a:spcPct val="0"/>
        </a:spcAft>
        <a:defRPr sz="1900">
          <a:solidFill>
            <a:schemeClr val="tx2"/>
          </a:solidFill>
          <a:latin typeface="Times New Roman" panose="02020603050405020304" pitchFamily="18" charset="0"/>
        </a:defRPr>
      </a:lvl5pPr>
      <a:lvl6pPr marL="457200" algn="ctr" defTabSz="158750" rtl="0" eaLnBrk="0" fontAlgn="base" hangingPunct="0">
        <a:spcBef>
          <a:spcPct val="0"/>
        </a:spcBef>
        <a:spcAft>
          <a:spcPct val="0"/>
        </a:spcAft>
        <a:defRPr sz="1900">
          <a:solidFill>
            <a:schemeClr val="tx2"/>
          </a:solidFill>
          <a:latin typeface="Times New Roman" panose="02020603050405020304" pitchFamily="18" charset="0"/>
        </a:defRPr>
      </a:lvl6pPr>
      <a:lvl7pPr marL="914400" algn="ctr" defTabSz="158750" rtl="0" eaLnBrk="0" fontAlgn="base" hangingPunct="0">
        <a:spcBef>
          <a:spcPct val="0"/>
        </a:spcBef>
        <a:spcAft>
          <a:spcPct val="0"/>
        </a:spcAft>
        <a:defRPr sz="1900">
          <a:solidFill>
            <a:schemeClr val="tx2"/>
          </a:solidFill>
          <a:latin typeface="Times New Roman" panose="02020603050405020304" pitchFamily="18" charset="0"/>
        </a:defRPr>
      </a:lvl7pPr>
      <a:lvl8pPr marL="1371600" algn="ctr" defTabSz="158750" rtl="0" eaLnBrk="0" fontAlgn="base" hangingPunct="0">
        <a:spcBef>
          <a:spcPct val="0"/>
        </a:spcBef>
        <a:spcAft>
          <a:spcPct val="0"/>
        </a:spcAft>
        <a:defRPr sz="1900">
          <a:solidFill>
            <a:schemeClr val="tx2"/>
          </a:solidFill>
          <a:latin typeface="Times New Roman" panose="02020603050405020304" pitchFamily="18" charset="0"/>
        </a:defRPr>
      </a:lvl8pPr>
      <a:lvl9pPr marL="1828800" algn="ctr" defTabSz="158750" rtl="0" eaLnBrk="0" fontAlgn="base" hangingPunct="0">
        <a:spcBef>
          <a:spcPct val="0"/>
        </a:spcBef>
        <a:spcAft>
          <a:spcPct val="0"/>
        </a:spcAft>
        <a:defRPr sz="1900">
          <a:solidFill>
            <a:schemeClr val="tx2"/>
          </a:solidFill>
          <a:latin typeface="Times New Roman" panose="02020603050405020304" pitchFamily="18" charset="0"/>
        </a:defRPr>
      </a:lvl9pPr>
    </p:titleStyle>
    <p:bodyStyle>
      <a:lvl1pPr marL="139700" indent="-139700" algn="l" defTabSz="158750" rtl="0" eaLnBrk="0" fontAlgn="base" hangingPunct="0">
        <a:spcBef>
          <a:spcPct val="20000"/>
        </a:spcBef>
        <a:spcAft>
          <a:spcPct val="0"/>
        </a:spcAft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09563" indent="-55563" algn="l" defTabSz="158750" rtl="0" eaLnBrk="0" fontAlgn="base" hangingPunct="0">
        <a:spcBef>
          <a:spcPct val="20000"/>
        </a:spcBef>
        <a:spcAft>
          <a:spcPct val="0"/>
        </a:spcAft>
        <a:buChar char="–"/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476250" indent="-52388" algn="l" defTabSz="158750" rtl="0" eaLnBrk="0" fontAlgn="base" hangingPunct="0">
        <a:spcBef>
          <a:spcPct val="20000"/>
        </a:spcBef>
        <a:spcAft>
          <a:spcPct val="0"/>
        </a:spcAft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3pPr>
      <a:lvl4pPr marL="666750" indent="-76200" algn="l" defTabSz="158750" rtl="0" eaLnBrk="0" fontAlgn="base" hangingPunct="0">
        <a:spcBef>
          <a:spcPct val="20000"/>
        </a:spcBef>
        <a:spcAft>
          <a:spcPct val="0"/>
        </a:spcAft>
        <a:buChar char="–"/>
        <a:defRPr sz="7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50" indent="-76200" algn="l" defTabSz="158750" rtl="0" eaLnBrk="0" fontAlgn="base" hangingPunct="0">
        <a:spcBef>
          <a:spcPct val="20000"/>
        </a:spcBef>
        <a:spcAft>
          <a:spcPct val="0"/>
        </a:spcAft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88556FF3-15FE-68F8-F449-7DCEC238F6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6475" y="647700"/>
            <a:ext cx="2974975" cy="29559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/>
            <a:r>
              <a:rPr lang="en-US" altLang="en-US" sz="18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Reading an Indexed file by key.</a:t>
            </a:r>
          </a:p>
          <a:p>
            <a:pPr algn="ctr"/>
            <a:endParaRPr lang="en-US" altLang="en-US" sz="1800" b="1">
              <a:solidFill>
                <a:srgbClr val="CC00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Arial" panose="020B0604020202020204" pitchFamily="34" charset="0"/>
            </a:endParaRPr>
          </a:p>
          <a:p>
            <a:pPr algn="ctr"/>
            <a:r>
              <a:rPr lang="en-US" altLang="en-US" sz="18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 Example program</a:t>
            </a:r>
          </a:p>
          <a:p>
            <a:pPr algn="ctr"/>
            <a:endParaRPr lang="en-US" altLang="en-US" b="1">
              <a:solidFill>
                <a:srgbClr val="A50021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algn="ctr"/>
            <a:endParaRPr lang="en-US" altLang="en-US" b="1">
              <a:solidFill>
                <a:srgbClr val="000099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algn="ctr"/>
            <a:r>
              <a:rPr lang="en-US" altLang="en-US" sz="1400" b="1"/>
              <a:t>Click to view.</a:t>
            </a:r>
          </a:p>
          <a:p>
            <a:pPr algn="ctr"/>
            <a:endParaRPr lang="en-US" altLang="en-US" sz="1400" b="1"/>
          </a:p>
          <a:p>
            <a:pPr algn="ctr"/>
            <a:r>
              <a:rPr lang="en-US" altLang="en-US" sz="1000"/>
              <a:t>When viewing the program left click (or press the Page Up key) to see next comment and right click (or press Page Down) to see the previous comment.</a:t>
            </a:r>
          </a:p>
          <a:p>
            <a:pPr algn="ctr"/>
            <a:endParaRPr lang="en-US" altLang="en-US" sz="1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C8940D6B-8818-015D-8578-87B51DB40F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275" y="130175"/>
            <a:ext cx="4375150" cy="4597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90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   $ SET SOURCEFORMAT"FREE"</a:t>
            </a:r>
          </a:p>
          <a:p>
            <a:pPr>
              <a:lnSpc>
                <a:spcPct val="90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IDENTIFICATION DIVISION.</a:t>
            </a:r>
          </a:p>
          <a:p>
            <a:pPr>
              <a:lnSpc>
                <a:spcPct val="90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PROGRAM-ID.  ReadingIndexedFile.</a:t>
            </a:r>
          </a:p>
          <a:p>
            <a:pPr>
              <a:lnSpc>
                <a:spcPct val="90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* Illustrates direct read on an indexed file by any key</a:t>
            </a:r>
          </a:p>
          <a:p>
            <a:pPr>
              <a:lnSpc>
                <a:spcPct val="90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ENVIRONMENT DIVISION.</a:t>
            </a:r>
          </a:p>
          <a:p>
            <a:pPr>
              <a:lnSpc>
                <a:spcPct val="90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INPUT-OUTPUT SECTION.</a:t>
            </a:r>
          </a:p>
          <a:p>
            <a:pPr>
              <a:lnSpc>
                <a:spcPct val="90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FILE-CONTROL.</a:t>
            </a:r>
          </a:p>
          <a:p>
            <a:pPr>
              <a:lnSpc>
                <a:spcPct val="90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SELECT VideoFile ASSIGN TO "VIDEO.DAT"</a:t>
            </a:r>
          </a:p>
          <a:p>
            <a:pPr>
              <a:lnSpc>
                <a:spcPct val="90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   ORGANIZATION IS INDEXED</a:t>
            </a:r>
          </a:p>
          <a:p>
            <a:pPr>
              <a:lnSpc>
                <a:spcPct val="90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   ACCESS MODE IS DYNAMIC</a:t>
            </a:r>
          </a:p>
          <a:p>
            <a:pPr>
              <a:lnSpc>
                <a:spcPct val="90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   RECORD KEY IS VideoCode</a:t>
            </a:r>
          </a:p>
          <a:p>
            <a:pPr>
              <a:lnSpc>
                <a:spcPct val="90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   ALTERNATE RECORD KEY IS VideoTitle</a:t>
            </a:r>
          </a:p>
          <a:p>
            <a:pPr>
              <a:lnSpc>
                <a:spcPct val="90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            WITH DUPLICATES</a:t>
            </a:r>
          </a:p>
          <a:p>
            <a:pPr>
              <a:lnSpc>
                <a:spcPct val="90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   FILE STATUS IS VideoStatus.</a:t>
            </a:r>
          </a:p>
          <a:p>
            <a:pPr>
              <a:lnSpc>
                <a:spcPct val="90000"/>
              </a:lnSpc>
            </a:pPr>
            <a:endParaRPr lang="en-US" altLang="en-US" sz="10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DATA DIVISION.</a:t>
            </a:r>
          </a:p>
          <a:p>
            <a:pPr>
              <a:lnSpc>
                <a:spcPct val="90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FILE SECTION.</a:t>
            </a:r>
          </a:p>
          <a:p>
            <a:pPr>
              <a:lnSpc>
                <a:spcPct val="90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FD VideoFile.</a:t>
            </a:r>
          </a:p>
          <a:p>
            <a:pPr>
              <a:lnSpc>
                <a:spcPct val="90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01 VideoRecord.</a:t>
            </a:r>
          </a:p>
          <a:p>
            <a:pPr>
              <a:lnSpc>
                <a:spcPct val="90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02 VideoCode          PIC 9(5).</a:t>
            </a:r>
          </a:p>
          <a:p>
            <a:pPr>
              <a:lnSpc>
                <a:spcPct val="90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02 VideoTitle         PIC X(40).</a:t>
            </a:r>
          </a:p>
          <a:p>
            <a:pPr>
              <a:lnSpc>
                <a:spcPct val="90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02 SupplierCode       PIC 99.</a:t>
            </a:r>
          </a:p>
          <a:p>
            <a:pPr>
              <a:lnSpc>
                <a:spcPct val="90000"/>
              </a:lnSpc>
            </a:pPr>
            <a:endParaRPr lang="en-US" altLang="en-US" sz="10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90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WORKING-STORAGE SECTION.</a:t>
            </a:r>
          </a:p>
          <a:p>
            <a:pPr>
              <a:lnSpc>
                <a:spcPct val="90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01 VideoStatus           PIC X(2).</a:t>
            </a:r>
          </a:p>
          <a:p>
            <a:pPr>
              <a:lnSpc>
                <a:spcPct val="90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88  RecordFound       VALUE "00".</a:t>
            </a:r>
          </a:p>
          <a:p>
            <a:pPr>
              <a:lnSpc>
                <a:spcPct val="90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01 RequiredKey           PIC 9.</a:t>
            </a:r>
          </a:p>
          <a:p>
            <a:pPr>
              <a:lnSpc>
                <a:spcPct val="90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88 VideoCodeKey       VALUE 1.</a:t>
            </a:r>
          </a:p>
          <a:p>
            <a:pPr>
              <a:lnSpc>
                <a:spcPct val="90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88 VideoTitleKey      VALUE 2.</a:t>
            </a:r>
          </a:p>
          <a:p>
            <a:pPr>
              <a:lnSpc>
                <a:spcPct val="90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01 PrnVideoRecord. </a:t>
            </a:r>
          </a:p>
          <a:p>
            <a:pPr>
              <a:lnSpc>
                <a:spcPct val="90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02 PrnVideoCode       PIC 9(5).</a:t>
            </a:r>
          </a:p>
          <a:p>
            <a:pPr>
              <a:lnSpc>
                <a:spcPct val="90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02 PrnVideoTitle      PIC BBBBX(40).</a:t>
            </a:r>
          </a:p>
          <a:p>
            <a:pPr>
              <a:lnSpc>
                <a:spcPct val="90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02 PrnSupplierCode    PIC BBBB99.</a:t>
            </a:r>
          </a:p>
        </p:txBody>
      </p:sp>
      <p:sp>
        <p:nvSpPr>
          <p:cNvPr id="4099" name="AutoShape 3">
            <a:extLst>
              <a:ext uri="{FF2B5EF4-FFF2-40B4-BE49-F238E27FC236}">
                <a16:creationId xmlns:a16="http://schemas.microsoft.com/office/drawing/2014/main" id="{1737AA69-CDC4-8072-4560-ACB4346252DE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3370263" y="1935163"/>
            <a:ext cx="1270000" cy="1017323"/>
          </a:xfrm>
          <a:prstGeom prst="wedgeRoundRectCallout">
            <a:avLst>
              <a:gd name="adj1" fmla="val -42171"/>
              <a:gd name="adj2" fmla="val 66667"/>
              <a:gd name="adj3" fmla="val 16667"/>
            </a:avLst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19050" rIns="0" bIns="19050" anchorCtr="1"/>
          <a:lstStyle/>
          <a:p>
            <a:pPr algn="ctr">
              <a:lnSpc>
                <a:spcPct val="90000"/>
              </a:lnSpc>
            </a:pPr>
            <a:r>
              <a:rPr lang="en-US" altLang="en-US" sz="1000"/>
              <a:t>In this program we show how to read an Indexed file directly on either the primary key or the alternate key.</a:t>
            </a:r>
          </a:p>
        </p:txBody>
      </p:sp>
      <p:grpSp>
        <p:nvGrpSpPr>
          <p:cNvPr id="4102" name="Group 6">
            <a:extLst>
              <a:ext uri="{FF2B5EF4-FFF2-40B4-BE49-F238E27FC236}">
                <a16:creationId xmlns:a16="http://schemas.microsoft.com/office/drawing/2014/main" id="{BFEA7BB9-8EA5-8869-0B92-0064F0F30BAA}"/>
              </a:ext>
            </a:extLst>
          </p:cNvPr>
          <p:cNvGrpSpPr>
            <a:grpSpLocks/>
          </p:cNvGrpSpPr>
          <p:nvPr/>
        </p:nvGrpSpPr>
        <p:grpSpPr bwMode="auto">
          <a:xfrm>
            <a:off x="92075" y="2401888"/>
            <a:ext cx="4552950" cy="1725612"/>
            <a:chOff x="58" y="1513"/>
            <a:chExt cx="2868" cy="1087"/>
          </a:xfrm>
        </p:grpSpPr>
        <p:sp>
          <p:nvSpPr>
            <p:cNvPr id="4100" name="AutoShape 4">
              <a:extLst>
                <a:ext uri="{FF2B5EF4-FFF2-40B4-BE49-F238E27FC236}">
                  <a16:creationId xmlns:a16="http://schemas.microsoft.com/office/drawing/2014/main" id="{09F9E980-CD78-128E-CE92-1B6B595CB3A0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2126" y="1513"/>
              <a:ext cx="800" cy="536"/>
            </a:xfrm>
            <a:prstGeom prst="wedgeRoundRectCallout">
              <a:avLst>
                <a:gd name="adj1" fmla="val -42171"/>
                <a:gd name="adj2" fmla="val 66667"/>
                <a:gd name="adj3" fmla="val 16667"/>
              </a:avLst>
            </a:prstGeom>
            <a:solidFill>
              <a:srgbClr val="FFFF99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19050" rIns="0" bIns="19050" anchorCtr="1"/>
            <a:lstStyle/>
            <a:p>
              <a:pPr algn="ctr">
                <a:lnSpc>
                  <a:spcPct val="90000"/>
                </a:lnSpc>
              </a:pPr>
              <a:r>
                <a:rPr lang="en-US" altLang="en-US" sz="1000"/>
                <a:t>These condition names tell us upon what key the user wants use to read the file.</a:t>
              </a:r>
            </a:p>
          </p:txBody>
        </p:sp>
        <p:sp>
          <p:nvSpPr>
            <p:cNvPr id="4101" name="Rectangle 5">
              <a:extLst>
                <a:ext uri="{FF2B5EF4-FFF2-40B4-BE49-F238E27FC236}">
                  <a16:creationId xmlns:a16="http://schemas.microsoft.com/office/drawing/2014/main" id="{36F6ECF4-DD5C-71F2-1E6A-1AD7AA5D92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" y="2338"/>
              <a:ext cx="2050" cy="262"/>
            </a:xfrm>
            <a:prstGeom prst="rect">
              <a:avLst/>
            </a:prstGeom>
            <a:noFill/>
            <a:ln w="12700">
              <a:solidFill>
                <a:srgbClr val="CC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09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410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9" grpId="0" animBg="1" autoUpdateAnimBg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08471751-0EFC-4EA3-F28D-FC58CC12A5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00" y="69850"/>
            <a:ext cx="4495800" cy="4651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38100" tIns="46038" rIns="38100" bIns="46038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PROCEDURE DIVISION.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Begin.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OPEN INPUT VideoFile.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DISPLAY "Chose key VideoCode = 1,  VideoTitle = 2 -&gt;  "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         WITH NO ADVANCING.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ACCEPT RequiredKey.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IF VideoCodeKey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  DISPLAY "Enter Video Code (5 digits) -&gt; " 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          WITH NO ADVANCING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  ACCEPT VideoCode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  READ VideoFile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    KEY IS VideoCode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    INVALID KEY DISPLAY "VIDEO STATUS :- ", VideoStatus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  END-READ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END-IF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IF VideoTitleKey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  DISPLAY "Enter Video Title (40 chars) -&gt; " 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          WITH NO ADVANCING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  ACCEPT VideoTitle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  READ VideoFile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    KEY IS VideoTitle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    INVALID KEY DISPLAY "VIDEO STATUS :- ", VideoStatus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   END-READ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END-IF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IF RecordFound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   MOVE VideoCode TO PrnVideoCode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   MOVE VideoTitle TO PrnVideoTitle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   MOVE SupplierCode TO PrnSupplierCode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   DISPLAY  PrnVideoRecord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END-IF.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CLOSE VideoFile.</a:t>
            </a:r>
          </a:p>
          <a:p>
            <a:pPr>
              <a:lnSpc>
                <a:spcPct val="85000"/>
              </a:lnSpc>
            </a:pPr>
            <a:r>
              <a:rPr lang="en-US" altLang="en-US" sz="1000" b="1">
                <a:solidFill>
                  <a:srgbClr val="000000"/>
                </a:solidFill>
                <a:latin typeface="Courier New" panose="02070309020205020404" pitchFamily="49" charset="0"/>
              </a:rPr>
              <a:t>   STOP RUN.</a:t>
            </a:r>
          </a:p>
        </p:txBody>
      </p:sp>
      <p:grpSp>
        <p:nvGrpSpPr>
          <p:cNvPr id="6149" name="Group 5">
            <a:extLst>
              <a:ext uri="{FF2B5EF4-FFF2-40B4-BE49-F238E27FC236}">
                <a16:creationId xmlns:a16="http://schemas.microsoft.com/office/drawing/2014/main" id="{118F75CF-6698-D276-4CDD-235205582FAC}"/>
              </a:ext>
            </a:extLst>
          </p:cNvPr>
          <p:cNvGrpSpPr>
            <a:grpSpLocks/>
          </p:cNvGrpSpPr>
          <p:nvPr/>
        </p:nvGrpSpPr>
        <p:grpSpPr bwMode="auto">
          <a:xfrm>
            <a:off x="187325" y="519113"/>
            <a:ext cx="4510088" cy="1322387"/>
            <a:chOff x="118" y="327"/>
            <a:chExt cx="2841" cy="833"/>
          </a:xfrm>
        </p:grpSpPr>
        <p:sp>
          <p:nvSpPr>
            <p:cNvPr id="6147" name="Rectangle 3">
              <a:extLst>
                <a:ext uri="{FF2B5EF4-FFF2-40B4-BE49-F238E27FC236}">
                  <a16:creationId xmlns:a16="http://schemas.microsoft.com/office/drawing/2014/main" id="{1A251B1B-17F7-409D-5BBA-FE01BCD396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8" y="327"/>
              <a:ext cx="2824" cy="275"/>
            </a:xfrm>
            <a:prstGeom prst="rect">
              <a:avLst/>
            </a:prstGeom>
            <a:noFill/>
            <a:ln w="12700">
              <a:solidFill>
                <a:srgbClr val="CC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148" name="AutoShape 4">
              <a:extLst>
                <a:ext uri="{FF2B5EF4-FFF2-40B4-BE49-F238E27FC236}">
                  <a16:creationId xmlns:a16="http://schemas.microsoft.com/office/drawing/2014/main" id="{ABE8B493-486B-1376-B815-A6E46FA58D5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2308" y="490"/>
              <a:ext cx="651" cy="558"/>
            </a:xfrm>
            <a:prstGeom prst="wedgeRoundRectCallout">
              <a:avLst>
                <a:gd name="adj1" fmla="val -50000"/>
                <a:gd name="adj2" fmla="val 66667"/>
                <a:gd name="adj3" fmla="val 16667"/>
              </a:avLst>
            </a:prstGeom>
            <a:solidFill>
              <a:srgbClr val="FFFF99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19050" rIns="0" bIns="19050" anchorCtr="1"/>
            <a:lstStyle/>
            <a:p>
              <a:pPr algn="ctr">
                <a:lnSpc>
                  <a:spcPct val="90000"/>
                </a:lnSpc>
              </a:pPr>
              <a:r>
                <a:rPr lang="en-US" altLang="en-US" sz="1000"/>
                <a:t>First we find out which key the user wants to use to read the file.</a:t>
              </a:r>
            </a:p>
          </p:txBody>
        </p:sp>
      </p:grpSp>
      <p:grpSp>
        <p:nvGrpSpPr>
          <p:cNvPr id="6153" name="Group 9">
            <a:extLst>
              <a:ext uri="{FF2B5EF4-FFF2-40B4-BE49-F238E27FC236}">
                <a16:creationId xmlns:a16="http://schemas.microsoft.com/office/drawing/2014/main" id="{820D5571-93F7-9A3F-EF85-30FAF9F9612B}"/>
              </a:ext>
            </a:extLst>
          </p:cNvPr>
          <p:cNvGrpSpPr>
            <a:grpSpLocks/>
          </p:cNvGrpSpPr>
          <p:nvPr/>
        </p:nvGrpSpPr>
        <p:grpSpPr bwMode="auto">
          <a:xfrm>
            <a:off x="187325" y="947738"/>
            <a:ext cx="4473575" cy="3827462"/>
            <a:chOff x="118" y="597"/>
            <a:chExt cx="2818" cy="2411"/>
          </a:xfrm>
        </p:grpSpPr>
        <p:sp>
          <p:nvSpPr>
            <p:cNvPr id="6150" name="Rectangle 6">
              <a:extLst>
                <a:ext uri="{FF2B5EF4-FFF2-40B4-BE49-F238E27FC236}">
                  <a16:creationId xmlns:a16="http://schemas.microsoft.com/office/drawing/2014/main" id="{142AFA78-F858-A7A6-7245-ED605EE452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8" y="597"/>
              <a:ext cx="2818" cy="821"/>
            </a:xfrm>
            <a:prstGeom prst="rect">
              <a:avLst/>
            </a:prstGeom>
            <a:noFill/>
            <a:ln w="12700">
              <a:solidFill>
                <a:srgbClr val="CC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151" name="AutoShape 7">
              <a:extLst>
                <a:ext uri="{FF2B5EF4-FFF2-40B4-BE49-F238E27FC236}">
                  <a16:creationId xmlns:a16="http://schemas.microsoft.com/office/drawing/2014/main" id="{F1C19212-96CB-02EC-54BC-AE1233CDCA4D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2110" y="2134"/>
              <a:ext cx="823" cy="728"/>
            </a:xfrm>
            <a:prstGeom prst="wedgeRoundRectCallout">
              <a:avLst>
                <a:gd name="adj1" fmla="val -50000"/>
                <a:gd name="adj2" fmla="val 66667"/>
                <a:gd name="adj3" fmla="val 16667"/>
              </a:avLst>
            </a:prstGeom>
            <a:solidFill>
              <a:srgbClr val="FFFF99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19050" rIns="0" bIns="19050" anchorCtr="1"/>
            <a:lstStyle/>
            <a:p>
              <a:pPr algn="ctr">
                <a:lnSpc>
                  <a:spcPct val="90000"/>
                </a:lnSpc>
              </a:pPr>
              <a:r>
                <a:rPr lang="en-US" altLang="en-US" sz="1000"/>
                <a:t>If the VideoCode is chosen then we get the VideoCode from the user and read the file using the VideoCode as the key.</a:t>
              </a:r>
            </a:p>
          </p:txBody>
        </p:sp>
        <p:sp>
          <p:nvSpPr>
            <p:cNvPr id="6152" name="Rectangle 8">
              <a:extLst>
                <a:ext uri="{FF2B5EF4-FFF2-40B4-BE49-F238E27FC236}">
                  <a16:creationId xmlns:a16="http://schemas.microsoft.com/office/drawing/2014/main" id="{FA930CD5-5368-62C1-1FB3-9F8AC70F58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0" y="1050"/>
              <a:ext cx="768" cy="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/>
            <a:p>
              <a:r>
                <a:rPr lang="en-US" altLang="en-US" sz="1000" b="1">
                  <a:solidFill>
                    <a:srgbClr val="CC0000"/>
                  </a:solidFill>
                  <a:latin typeface="Courier New" panose="02070309020205020404" pitchFamily="49" charset="0"/>
                </a:rPr>
                <a:t>KEY IS VideoCode</a:t>
              </a:r>
            </a:p>
          </p:txBody>
        </p:sp>
      </p:grpSp>
      <p:grpSp>
        <p:nvGrpSpPr>
          <p:cNvPr id="6157" name="Group 13">
            <a:extLst>
              <a:ext uri="{FF2B5EF4-FFF2-40B4-BE49-F238E27FC236}">
                <a16:creationId xmlns:a16="http://schemas.microsoft.com/office/drawing/2014/main" id="{F80F78B6-CE59-7993-86CC-C1DD5B7006AB}"/>
              </a:ext>
            </a:extLst>
          </p:cNvPr>
          <p:cNvGrpSpPr>
            <a:grpSpLocks/>
          </p:cNvGrpSpPr>
          <p:nvPr/>
        </p:nvGrpSpPr>
        <p:grpSpPr bwMode="auto">
          <a:xfrm>
            <a:off x="187325" y="2243138"/>
            <a:ext cx="4519613" cy="2341562"/>
            <a:chOff x="118" y="1413"/>
            <a:chExt cx="2847" cy="1475"/>
          </a:xfrm>
        </p:grpSpPr>
        <p:sp>
          <p:nvSpPr>
            <p:cNvPr id="6154" name="Rectangle 10">
              <a:extLst>
                <a:ext uri="{FF2B5EF4-FFF2-40B4-BE49-F238E27FC236}">
                  <a16:creationId xmlns:a16="http://schemas.microsoft.com/office/drawing/2014/main" id="{1E3D8DCC-3515-F33F-E24A-B58E7DCAEE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8" y="1413"/>
              <a:ext cx="2824" cy="803"/>
            </a:xfrm>
            <a:prstGeom prst="rect">
              <a:avLst/>
            </a:prstGeom>
            <a:noFill/>
            <a:ln w="12700">
              <a:solidFill>
                <a:srgbClr val="CC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155" name="AutoShape 11">
              <a:extLst>
                <a:ext uri="{FF2B5EF4-FFF2-40B4-BE49-F238E27FC236}">
                  <a16:creationId xmlns:a16="http://schemas.microsoft.com/office/drawing/2014/main" id="{C48C9E8C-6737-1ACE-EDED-047FDB30599D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2104" y="2236"/>
              <a:ext cx="861" cy="543"/>
            </a:xfrm>
            <a:prstGeom prst="wedgeRoundRectCallout">
              <a:avLst>
                <a:gd name="adj1" fmla="val -50000"/>
                <a:gd name="adj2" fmla="val 66667"/>
                <a:gd name="adj3" fmla="val 16667"/>
              </a:avLst>
            </a:prstGeom>
            <a:solidFill>
              <a:srgbClr val="FFFF99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19050" rIns="0" bIns="19050" anchorCtr="1"/>
            <a:lstStyle/>
            <a:p>
              <a:pPr algn="ctr">
                <a:lnSpc>
                  <a:spcPct val="90000"/>
                </a:lnSpc>
              </a:pPr>
              <a:r>
                <a:rPr lang="en-US" altLang="en-US" sz="1000"/>
                <a:t>If VideoTitle is chosen we get the title from the user and read the file using the VideoTitle as the key</a:t>
              </a:r>
            </a:p>
          </p:txBody>
        </p:sp>
        <p:sp>
          <p:nvSpPr>
            <p:cNvPr id="6156" name="Rectangle 12">
              <a:extLst>
                <a:ext uri="{FF2B5EF4-FFF2-40B4-BE49-F238E27FC236}">
                  <a16:creationId xmlns:a16="http://schemas.microsoft.com/office/drawing/2014/main" id="{2A1D4C68-F308-0EDC-CB84-C41BDD724B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4" y="1863"/>
              <a:ext cx="860" cy="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0" rIns="0" bIns="0"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en-US" sz="1000" b="1">
                  <a:solidFill>
                    <a:srgbClr val="CC0000"/>
                  </a:solidFill>
                  <a:latin typeface="Courier New" panose="02070309020205020404" pitchFamily="49" charset="0"/>
                </a:rPr>
                <a:t>KEY IS VideoTitle</a:t>
              </a:r>
            </a:p>
          </p:txBody>
        </p:sp>
      </p:grpSp>
      <p:grpSp>
        <p:nvGrpSpPr>
          <p:cNvPr id="6160" name="Group 16">
            <a:extLst>
              <a:ext uri="{FF2B5EF4-FFF2-40B4-BE49-F238E27FC236}">
                <a16:creationId xmlns:a16="http://schemas.microsoft.com/office/drawing/2014/main" id="{1E7F461E-EB20-E73F-E1DC-A625E97774DA}"/>
              </a:ext>
            </a:extLst>
          </p:cNvPr>
          <p:cNvGrpSpPr>
            <a:grpSpLocks/>
          </p:cNvGrpSpPr>
          <p:nvPr/>
        </p:nvGrpSpPr>
        <p:grpSpPr bwMode="auto">
          <a:xfrm>
            <a:off x="187325" y="3359150"/>
            <a:ext cx="4567238" cy="1549400"/>
            <a:chOff x="118" y="2116"/>
            <a:chExt cx="2877" cy="976"/>
          </a:xfrm>
        </p:grpSpPr>
        <p:sp>
          <p:nvSpPr>
            <p:cNvPr id="6158" name="Rectangle 14">
              <a:extLst>
                <a:ext uri="{FF2B5EF4-FFF2-40B4-BE49-F238E27FC236}">
                  <a16:creationId xmlns:a16="http://schemas.microsoft.com/office/drawing/2014/main" id="{360715D5-FD1F-ABF1-64C4-512B9577C8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8" y="2224"/>
              <a:ext cx="2116" cy="538"/>
            </a:xfrm>
            <a:prstGeom prst="rect">
              <a:avLst/>
            </a:prstGeom>
            <a:noFill/>
            <a:ln w="12700">
              <a:solidFill>
                <a:srgbClr val="CC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159" name="AutoShape 15">
              <a:extLst>
                <a:ext uri="{FF2B5EF4-FFF2-40B4-BE49-F238E27FC236}">
                  <a16:creationId xmlns:a16="http://schemas.microsoft.com/office/drawing/2014/main" id="{F4C96357-4042-3A38-9ABB-13E744BACE76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2134" y="2116"/>
              <a:ext cx="861" cy="813"/>
            </a:xfrm>
            <a:prstGeom prst="wedgeRoundRectCallout">
              <a:avLst>
                <a:gd name="adj1" fmla="val -50000"/>
                <a:gd name="adj2" fmla="val 66667"/>
                <a:gd name="adj3" fmla="val 16667"/>
              </a:avLst>
            </a:prstGeom>
            <a:solidFill>
              <a:srgbClr val="FFFF99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19050" rIns="0" bIns="19050" anchorCtr="1"/>
            <a:lstStyle/>
            <a:p>
              <a:pPr algn="ctr">
                <a:lnSpc>
                  <a:spcPct val="90000"/>
                </a:lnSpc>
              </a:pPr>
              <a:r>
                <a:rPr lang="en-US" altLang="en-US" sz="1000"/>
                <a:t>RecordFound is a condition name monitoring the File Status.</a:t>
              </a:r>
            </a:p>
            <a:p>
              <a:pPr algn="ctr">
                <a:lnSpc>
                  <a:spcPct val="90000"/>
                </a:lnSpc>
              </a:pPr>
              <a:r>
                <a:rPr lang="en-US" altLang="en-US" sz="1000"/>
                <a:t>If RecordFound is true then the read succeeded and it is ok to display the record.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14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15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15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616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Blank Presentatio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E:\MSOffice\Templates\Blank Presentation.pot</Template>
  <TotalTime>1407</TotalTime>
  <Words>493</Words>
  <Application>Microsoft Office PowerPoint</Application>
  <PresentationFormat>Custom</PresentationFormat>
  <Paragraphs>83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Times New Roman</vt:lpstr>
      <vt:lpstr>Courier New</vt:lpstr>
      <vt:lpstr>Blank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Slide Title</dc:title>
  <dc:creator>Michael Coughlan</dc:creator>
  <cp:lastModifiedBy>Sean McBride</cp:lastModifiedBy>
  <cp:revision>37</cp:revision>
  <dcterms:created xsi:type="dcterms:W3CDTF">1995-06-17T23:31:02Z</dcterms:created>
  <dcterms:modified xsi:type="dcterms:W3CDTF">2026-05-13T01:05:29Z</dcterms:modified>
</cp:coreProperties>
</file>