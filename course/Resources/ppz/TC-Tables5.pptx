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68" r:id="rId2"/>
    <p:sldId id="275" r:id="rId3"/>
    <p:sldId id="278" r:id="rId4"/>
    <p:sldId id="279" r:id="rId5"/>
    <p:sldId id="280" r:id="rId6"/>
    <p:sldId id="281" r:id="rId7"/>
    <p:sldId id="282" r:id="rId8"/>
    <p:sldId id="284" r:id="rId9"/>
  </p:sldIdLst>
  <p:sldSz cx="4764088" cy="36576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10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52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152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5F5F5F"/>
    <a:srgbClr val="FFFFCC"/>
    <a:srgbClr val="FF3300"/>
    <a:srgbClr val="F8F8F8"/>
    <a:srgbClr val="393939"/>
    <a:srgbClr val="FFFF9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31" d="100"/>
          <a:sy n="231" d="100"/>
        </p:scale>
        <p:origin x="444" y="186"/>
      </p:cViewPr>
      <p:guideLst>
        <p:guide orient="horz" pos="1152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1152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6A52BF5-9FFD-3F5D-4B9A-BF36B76A025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i="1"/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424F166-CED4-48A5-6C37-DB686F4E368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i="1"/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49B11634-BC72-3896-B65B-69AACDBCBFA8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01738" y="692150"/>
            <a:ext cx="4454525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94CC0D6D-808F-FEBE-74A9-61947811367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237C14BA-7B31-EA50-B154-93ADD59B417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i="1"/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1B8DBC9A-926A-1DBA-8539-EF3625C9BB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i="1"/>
            </a:lvl1pPr>
          </a:lstStyle>
          <a:p>
            <a:fld id="{98098E26-C560-4F97-8EE5-DB997BC67AC0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18D2A-E025-26CA-5A8C-4711BF11B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598488"/>
            <a:ext cx="3573462" cy="1273175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39F29-084B-4225-E492-4697CC3BF1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1920875"/>
            <a:ext cx="3573462" cy="882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90360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11163-ABCC-BCBC-8819-E19D3CE1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95263"/>
            <a:ext cx="4110038" cy="7064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E855B6-352A-7C83-EDDB-CE32060F6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25" y="973138"/>
            <a:ext cx="4110038" cy="2320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0662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A778-A792-F55C-C702-7BED801E2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911225"/>
            <a:ext cx="4108450" cy="152241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DA19F-7788-055B-D311-C38FB4B70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2447925"/>
            <a:ext cx="4108450" cy="800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24705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7A97-160B-F654-E957-1E8810323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95263"/>
            <a:ext cx="4110038" cy="7064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5DA2D-1581-79DC-66F5-39F2897034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025" y="973138"/>
            <a:ext cx="1978025" cy="2320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1D627C-2540-CA99-997F-DD56792B64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973138"/>
            <a:ext cx="1979613" cy="2320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0626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DC0AD-013D-44B6-37F1-27611810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195263"/>
            <a:ext cx="4108450" cy="7064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A743A-5662-AED9-CF32-F86B6E8EEE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896938"/>
            <a:ext cx="2014537" cy="439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B34574-8466-6F92-20ED-1950C4D39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336675"/>
            <a:ext cx="2014537" cy="19637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EA0B32-F719-5751-60A6-2E05C820B1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896938"/>
            <a:ext cx="2025650" cy="43973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1C412-9228-6C75-1DFC-ADDCA78F9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1336675"/>
            <a:ext cx="2025650" cy="19637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55637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C9F2B-2EF8-CDB6-A013-F8F67DEA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95263"/>
            <a:ext cx="4110038" cy="7064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30196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718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3FD49-A031-6137-9202-73A1CF09B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44475"/>
            <a:ext cx="1536700" cy="852488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BBC05-0FE1-2948-477E-FC469F0C20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5650" y="527050"/>
            <a:ext cx="2411413" cy="259873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F8192E-F5A8-7C15-5AB8-DCD2B11E3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096963"/>
            <a:ext cx="1536700" cy="2033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99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C42AB-CE9A-D4A1-5C4F-9E8A12C44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44475"/>
            <a:ext cx="1536700" cy="852488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D751FF-32B5-1E2D-9ECE-A07C6DC7F4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5650" y="527050"/>
            <a:ext cx="2411413" cy="25987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7F202A-A4A8-8BAD-D974-9C7BA4A2C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096963"/>
            <a:ext cx="1536700" cy="2033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1648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1AA59-5A47-0501-FCC9-C48FC1D71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195263"/>
            <a:ext cx="4110038" cy="706437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BD9044-D03E-2AB5-C928-B01FE40DB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973138"/>
            <a:ext cx="4110038" cy="23209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9019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C8EB50-9D18-F123-4D88-CC3A27905A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09950" y="195263"/>
            <a:ext cx="1027113" cy="3098800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84B314-B221-D76E-4A11-42C1DCA42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195263"/>
            <a:ext cx="2930525" cy="3098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50166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C76F695-471B-CD52-7456-443E54DA0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17463"/>
            <a:ext cx="4733925" cy="362585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72DDAD7-D07F-D78E-C0D9-CE834B877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125" y="1592263"/>
            <a:ext cx="3460750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01 PopulationTable.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02 County OCCURS 26 TIMES.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6633"/>
                </a:solidFill>
                <a:latin typeface="Courier New" panose="02070309020205020404" pitchFamily="49" charset="0"/>
              </a:rPr>
              <a:t>      03 Age OCCURS 3 TIMES.</a:t>
            </a:r>
            <a:endParaRPr lang="en-US" altLang="en-US" sz="1200" b="1">
              <a:solidFill>
                <a:srgbClr val="0099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chemeClr val="accent2"/>
                </a:solidFill>
                <a:latin typeface="Courier New" panose="02070309020205020404" pitchFamily="49" charset="0"/>
              </a:rPr>
              <a:t>         04 Gender OCCURS 2 TIMES.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         </a:t>
            </a:r>
            <a:r>
              <a:rPr lang="en-US" altLang="en-US" sz="1200" b="1">
                <a:solidFill>
                  <a:srgbClr val="393939"/>
                </a:solidFill>
                <a:latin typeface="Courier New" panose="02070309020205020404" pitchFamily="49" charset="0"/>
              </a:rPr>
              <a:t>05 PopTotal   PIC 9(6).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9AD7B6A-2170-D168-E126-AE47E3127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" y="660400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A1E07406-51C9-3177-7BAE-71CDD6574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688" y="660400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138C7F8D-6C8C-B875-A0FB-6169C7A65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113" y="660400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B9D005C3-2AA1-9645-50BF-CE0CD5611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1775" y="660400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DBF8A5D5-4828-F96A-59EA-544744EF2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438" y="660400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021A99E3-CCB8-13F6-76FE-A92C20EFD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7100" y="660400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41338A3A-E62D-6878-59C0-49FFB9D38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" y="179388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3082" name="Rectangle 10">
            <a:extLst>
              <a:ext uri="{FF2B5EF4-FFF2-40B4-BE49-F238E27FC236}">
                <a16:creationId xmlns:a16="http://schemas.microsoft.com/office/drawing/2014/main" id="{A4690F8F-2984-BF7D-AC0B-95EE3FCED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" y="346075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3085" name="Group 13">
            <a:extLst>
              <a:ext uri="{FF2B5EF4-FFF2-40B4-BE49-F238E27FC236}">
                <a16:creationId xmlns:a16="http://schemas.microsoft.com/office/drawing/2014/main" id="{CE3E8999-D876-D66C-3973-149FA05CB389}"/>
              </a:ext>
            </a:extLst>
          </p:cNvPr>
          <p:cNvGrpSpPr>
            <a:grpSpLocks/>
          </p:cNvGrpSpPr>
          <p:nvPr/>
        </p:nvGrpSpPr>
        <p:grpSpPr bwMode="auto">
          <a:xfrm>
            <a:off x="454025" y="508000"/>
            <a:ext cx="693738" cy="149225"/>
            <a:chOff x="286" y="320"/>
            <a:chExt cx="437" cy="94"/>
          </a:xfrm>
        </p:grpSpPr>
        <p:sp>
          <p:nvSpPr>
            <p:cNvPr id="3083" name="Rectangle 11">
              <a:extLst>
                <a:ext uri="{FF2B5EF4-FFF2-40B4-BE49-F238E27FC236}">
                  <a16:creationId xmlns:a16="http://schemas.microsoft.com/office/drawing/2014/main" id="{FD746742-4831-5EFC-2950-B518190727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6" y="320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84" name="Rectangle 12">
              <a:extLst>
                <a:ext uri="{FF2B5EF4-FFF2-40B4-BE49-F238E27FC236}">
                  <a16:creationId xmlns:a16="http://schemas.microsoft.com/office/drawing/2014/main" id="{E821DB46-99FA-EEE8-D65E-93E7F7600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" y="320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3086" name="Rectangle 14">
            <a:extLst>
              <a:ext uri="{FF2B5EF4-FFF2-40B4-BE49-F238E27FC236}">
                <a16:creationId xmlns:a16="http://schemas.microsoft.com/office/drawing/2014/main" id="{5B1DC9EF-06D7-B003-60F2-46B257CDD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113" y="346075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3089" name="Group 17">
            <a:extLst>
              <a:ext uri="{FF2B5EF4-FFF2-40B4-BE49-F238E27FC236}">
                <a16:creationId xmlns:a16="http://schemas.microsoft.com/office/drawing/2014/main" id="{8BEAFD93-4018-E896-F3B5-8EC2F79BDEBB}"/>
              </a:ext>
            </a:extLst>
          </p:cNvPr>
          <p:cNvGrpSpPr>
            <a:grpSpLocks/>
          </p:cNvGrpSpPr>
          <p:nvPr/>
        </p:nvGrpSpPr>
        <p:grpSpPr bwMode="auto">
          <a:xfrm>
            <a:off x="1154113" y="508000"/>
            <a:ext cx="693737" cy="149225"/>
            <a:chOff x="727" y="320"/>
            <a:chExt cx="437" cy="94"/>
          </a:xfrm>
        </p:grpSpPr>
        <p:sp>
          <p:nvSpPr>
            <p:cNvPr id="3087" name="Rectangle 15">
              <a:extLst>
                <a:ext uri="{FF2B5EF4-FFF2-40B4-BE49-F238E27FC236}">
                  <a16:creationId xmlns:a16="http://schemas.microsoft.com/office/drawing/2014/main" id="{460A601E-5698-6D6D-F614-2118FD143B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" y="320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88" name="Rectangle 16">
              <a:extLst>
                <a:ext uri="{FF2B5EF4-FFF2-40B4-BE49-F238E27FC236}">
                  <a16:creationId xmlns:a16="http://schemas.microsoft.com/office/drawing/2014/main" id="{0547930F-3F2E-BF15-CCB5-D7C064B3B8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" y="320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3090" name="Rectangle 18">
            <a:extLst>
              <a:ext uri="{FF2B5EF4-FFF2-40B4-BE49-F238E27FC236}">
                <a16:creationId xmlns:a16="http://schemas.microsoft.com/office/drawing/2014/main" id="{685DC9EB-2BBE-2AD7-5955-576A76344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9438" y="346075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3093" name="Group 21">
            <a:extLst>
              <a:ext uri="{FF2B5EF4-FFF2-40B4-BE49-F238E27FC236}">
                <a16:creationId xmlns:a16="http://schemas.microsoft.com/office/drawing/2014/main" id="{17BA6D49-9B48-7AC7-B844-D16369C58EE4}"/>
              </a:ext>
            </a:extLst>
          </p:cNvPr>
          <p:cNvGrpSpPr>
            <a:grpSpLocks/>
          </p:cNvGrpSpPr>
          <p:nvPr/>
        </p:nvGrpSpPr>
        <p:grpSpPr bwMode="auto">
          <a:xfrm>
            <a:off x="1849438" y="508000"/>
            <a:ext cx="693737" cy="149225"/>
            <a:chOff x="1165" y="320"/>
            <a:chExt cx="437" cy="94"/>
          </a:xfrm>
        </p:grpSpPr>
        <p:sp>
          <p:nvSpPr>
            <p:cNvPr id="3091" name="Rectangle 19">
              <a:extLst>
                <a:ext uri="{FF2B5EF4-FFF2-40B4-BE49-F238E27FC236}">
                  <a16:creationId xmlns:a16="http://schemas.microsoft.com/office/drawing/2014/main" id="{25E7BB94-10BA-C388-F1AF-ED43B2CC7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65" y="320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092" name="Rectangle 20">
              <a:extLst>
                <a:ext uri="{FF2B5EF4-FFF2-40B4-BE49-F238E27FC236}">
                  <a16:creationId xmlns:a16="http://schemas.microsoft.com/office/drawing/2014/main" id="{BB289701-61C4-3646-508E-91FED1044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3" y="320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3094" name="Rectangle 22">
            <a:extLst>
              <a:ext uri="{FF2B5EF4-FFF2-40B4-BE49-F238E27FC236}">
                <a16:creationId xmlns:a16="http://schemas.microsoft.com/office/drawing/2014/main" id="{A91D3E20-EBDA-76A0-9755-10AF4E2B7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350" y="660400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5" name="Rectangle 23">
            <a:extLst>
              <a:ext uri="{FF2B5EF4-FFF2-40B4-BE49-F238E27FC236}">
                <a16:creationId xmlns:a16="http://schemas.microsoft.com/office/drawing/2014/main" id="{DC97B9A6-2816-C65E-62B6-1EE3CAE599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4013" y="660400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6" name="Rectangle 24">
            <a:extLst>
              <a:ext uri="{FF2B5EF4-FFF2-40B4-BE49-F238E27FC236}">
                <a16:creationId xmlns:a16="http://schemas.microsoft.com/office/drawing/2014/main" id="{6C402E2C-AED0-D8A3-B64D-08A2EC23E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438" y="660400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7" name="Rectangle 25">
            <a:extLst>
              <a:ext uri="{FF2B5EF4-FFF2-40B4-BE49-F238E27FC236}">
                <a16:creationId xmlns:a16="http://schemas.microsoft.com/office/drawing/2014/main" id="{86231B05-41FB-0082-6465-987053365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100" y="660400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8" name="Rectangle 26">
            <a:extLst>
              <a:ext uri="{FF2B5EF4-FFF2-40B4-BE49-F238E27FC236}">
                <a16:creationId xmlns:a16="http://schemas.microsoft.com/office/drawing/2014/main" id="{A2C95109-F743-2560-4243-650F02A111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1763" y="660400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9" name="Rectangle 27">
            <a:extLst>
              <a:ext uri="{FF2B5EF4-FFF2-40B4-BE49-F238E27FC236}">
                <a16:creationId xmlns:a16="http://schemas.microsoft.com/office/drawing/2014/main" id="{C201D1AA-3EBC-5EF1-E987-F4ED83F48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9425" y="660400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0" name="Rectangle 28">
            <a:extLst>
              <a:ext uri="{FF2B5EF4-FFF2-40B4-BE49-F238E27FC236}">
                <a16:creationId xmlns:a16="http://schemas.microsoft.com/office/drawing/2014/main" id="{E183629A-2EA1-244D-3569-B85F06B36F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350" y="179388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3101" name="Rectangle 29">
            <a:extLst>
              <a:ext uri="{FF2B5EF4-FFF2-40B4-BE49-F238E27FC236}">
                <a16:creationId xmlns:a16="http://schemas.microsoft.com/office/drawing/2014/main" id="{4BD30936-931E-6190-08F1-D1B89A159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6350" y="346075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3104" name="Group 32">
            <a:extLst>
              <a:ext uri="{FF2B5EF4-FFF2-40B4-BE49-F238E27FC236}">
                <a16:creationId xmlns:a16="http://schemas.microsoft.com/office/drawing/2014/main" id="{9DBAE5D2-B1B7-341B-6883-8851E955E3FE}"/>
              </a:ext>
            </a:extLst>
          </p:cNvPr>
          <p:cNvGrpSpPr>
            <a:grpSpLocks/>
          </p:cNvGrpSpPr>
          <p:nvPr/>
        </p:nvGrpSpPr>
        <p:grpSpPr bwMode="auto">
          <a:xfrm>
            <a:off x="2546350" y="508000"/>
            <a:ext cx="693738" cy="149225"/>
            <a:chOff x="1604" y="320"/>
            <a:chExt cx="437" cy="94"/>
          </a:xfrm>
        </p:grpSpPr>
        <p:sp>
          <p:nvSpPr>
            <p:cNvPr id="3102" name="Rectangle 30">
              <a:extLst>
                <a:ext uri="{FF2B5EF4-FFF2-40B4-BE49-F238E27FC236}">
                  <a16:creationId xmlns:a16="http://schemas.microsoft.com/office/drawing/2014/main" id="{5A340C28-7769-CCD2-5395-3196730EB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04" y="320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103" name="Rectangle 31">
              <a:extLst>
                <a:ext uri="{FF2B5EF4-FFF2-40B4-BE49-F238E27FC236}">
                  <a16:creationId xmlns:a16="http://schemas.microsoft.com/office/drawing/2014/main" id="{DBD5C480-A56B-F3B8-4BA7-400593E644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2" y="320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3105" name="Rectangle 33">
            <a:extLst>
              <a:ext uri="{FF2B5EF4-FFF2-40B4-BE49-F238E27FC236}">
                <a16:creationId xmlns:a16="http://schemas.microsoft.com/office/drawing/2014/main" id="{7CD6A118-D60B-61E5-1633-D21AF5A20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6438" y="346075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3108" name="Group 36">
            <a:extLst>
              <a:ext uri="{FF2B5EF4-FFF2-40B4-BE49-F238E27FC236}">
                <a16:creationId xmlns:a16="http://schemas.microsoft.com/office/drawing/2014/main" id="{7CD39606-AB8F-A3EA-068C-74338BA9428D}"/>
              </a:ext>
            </a:extLst>
          </p:cNvPr>
          <p:cNvGrpSpPr>
            <a:grpSpLocks/>
          </p:cNvGrpSpPr>
          <p:nvPr/>
        </p:nvGrpSpPr>
        <p:grpSpPr bwMode="auto">
          <a:xfrm>
            <a:off x="3246438" y="508000"/>
            <a:ext cx="693737" cy="149225"/>
            <a:chOff x="2045" y="320"/>
            <a:chExt cx="437" cy="94"/>
          </a:xfrm>
        </p:grpSpPr>
        <p:sp>
          <p:nvSpPr>
            <p:cNvPr id="3106" name="Rectangle 34">
              <a:extLst>
                <a:ext uri="{FF2B5EF4-FFF2-40B4-BE49-F238E27FC236}">
                  <a16:creationId xmlns:a16="http://schemas.microsoft.com/office/drawing/2014/main" id="{1554D8BE-C153-0DD0-D712-19A442C0C4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5" y="320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107" name="Rectangle 35">
              <a:extLst>
                <a:ext uri="{FF2B5EF4-FFF2-40B4-BE49-F238E27FC236}">
                  <a16:creationId xmlns:a16="http://schemas.microsoft.com/office/drawing/2014/main" id="{576540EE-AE59-B66B-F50E-D3A0259699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3" y="320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3109" name="Rectangle 37">
            <a:extLst>
              <a:ext uri="{FF2B5EF4-FFF2-40B4-BE49-F238E27FC236}">
                <a16:creationId xmlns:a16="http://schemas.microsoft.com/office/drawing/2014/main" id="{8563B449-6B46-15BC-C9A4-2F31BE891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1763" y="346075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3112" name="Group 40">
            <a:extLst>
              <a:ext uri="{FF2B5EF4-FFF2-40B4-BE49-F238E27FC236}">
                <a16:creationId xmlns:a16="http://schemas.microsoft.com/office/drawing/2014/main" id="{E515FF8E-A8C8-B26E-DD83-7F9C5F3945D2}"/>
              </a:ext>
            </a:extLst>
          </p:cNvPr>
          <p:cNvGrpSpPr>
            <a:grpSpLocks/>
          </p:cNvGrpSpPr>
          <p:nvPr/>
        </p:nvGrpSpPr>
        <p:grpSpPr bwMode="auto">
          <a:xfrm>
            <a:off x="3941763" y="508000"/>
            <a:ext cx="693737" cy="149225"/>
            <a:chOff x="2483" y="320"/>
            <a:chExt cx="437" cy="94"/>
          </a:xfrm>
        </p:grpSpPr>
        <p:sp>
          <p:nvSpPr>
            <p:cNvPr id="3110" name="Rectangle 38">
              <a:extLst>
                <a:ext uri="{FF2B5EF4-FFF2-40B4-BE49-F238E27FC236}">
                  <a16:creationId xmlns:a16="http://schemas.microsoft.com/office/drawing/2014/main" id="{2D2FBCB6-D4ED-AE71-1291-BB92B39726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83" y="320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3111" name="Rectangle 39">
              <a:extLst>
                <a:ext uri="{FF2B5EF4-FFF2-40B4-BE49-F238E27FC236}">
                  <a16:creationId xmlns:a16="http://schemas.microsoft.com/office/drawing/2014/main" id="{CAA1E00F-0979-2DBB-AFF0-D38C4817CA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1" y="320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3113" name="Freeform 41">
            <a:extLst>
              <a:ext uri="{FF2B5EF4-FFF2-40B4-BE49-F238E27FC236}">
                <a16:creationId xmlns:a16="http://schemas.microsoft.com/office/drawing/2014/main" id="{A80F31C2-EB33-02BD-A536-42F44753605A}"/>
              </a:ext>
            </a:extLst>
          </p:cNvPr>
          <p:cNvSpPr>
            <a:spLocks/>
          </p:cNvSpPr>
          <p:nvPr/>
        </p:nvSpPr>
        <p:spPr bwMode="auto">
          <a:xfrm>
            <a:off x="4471988" y="177800"/>
            <a:ext cx="249237" cy="785813"/>
          </a:xfrm>
          <a:custGeom>
            <a:avLst/>
            <a:gdLst>
              <a:gd name="T0" fmla="*/ 144 w 157"/>
              <a:gd name="T1" fmla="*/ 0 h 495"/>
              <a:gd name="T2" fmla="*/ 63 w 157"/>
              <a:gd name="T3" fmla="*/ 0 h 495"/>
              <a:gd name="T4" fmla="*/ 54 w 157"/>
              <a:gd name="T5" fmla="*/ 28 h 495"/>
              <a:gd name="T6" fmla="*/ 42 w 157"/>
              <a:gd name="T7" fmla="*/ 33 h 495"/>
              <a:gd name="T8" fmla="*/ 36 w 157"/>
              <a:gd name="T9" fmla="*/ 45 h 495"/>
              <a:gd name="T10" fmla="*/ 24 w 157"/>
              <a:gd name="T11" fmla="*/ 51 h 495"/>
              <a:gd name="T12" fmla="*/ 18 w 157"/>
              <a:gd name="T13" fmla="*/ 63 h 495"/>
              <a:gd name="T14" fmla="*/ 30 w 157"/>
              <a:gd name="T15" fmla="*/ 68 h 495"/>
              <a:gd name="T16" fmla="*/ 42 w 157"/>
              <a:gd name="T17" fmla="*/ 74 h 495"/>
              <a:gd name="T18" fmla="*/ 48 w 157"/>
              <a:gd name="T19" fmla="*/ 86 h 495"/>
              <a:gd name="T20" fmla="*/ 54 w 157"/>
              <a:gd name="T21" fmla="*/ 98 h 495"/>
              <a:gd name="T22" fmla="*/ 42 w 157"/>
              <a:gd name="T23" fmla="*/ 98 h 495"/>
              <a:gd name="T24" fmla="*/ 30 w 157"/>
              <a:gd name="T25" fmla="*/ 109 h 495"/>
              <a:gd name="T26" fmla="*/ 24 w 157"/>
              <a:gd name="T27" fmla="*/ 121 h 495"/>
              <a:gd name="T28" fmla="*/ 12 w 157"/>
              <a:gd name="T29" fmla="*/ 132 h 495"/>
              <a:gd name="T30" fmla="*/ 6 w 157"/>
              <a:gd name="T31" fmla="*/ 144 h 495"/>
              <a:gd name="T32" fmla="*/ 18 w 157"/>
              <a:gd name="T33" fmla="*/ 150 h 495"/>
              <a:gd name="T34" fmla="*/ 30 w 157"/>
              <a:gd name="T35" fmla="*/ 162 h 495"/>
              <a:gd name="T36" fmla="*/ 42 w 157"/>
              <a:gd name="T37" fmla="*/ 167 h 495"/>
              <a:gd name="T38" fmla="*/ 42 w 157"/>
              <a:gd name="T39" fmla="*/ 179 h 495"/>
              <a:gd name="T40" fmla="*/ 36 w 157"/>
              <a:gd name="T41" fmla="*/ 191 h 495"/>
              <a:gd name="T42" fmla="*/ 24 w 157"/>
              <a:gd name="T43" fmla="*/ 191 h 495"/>
              <a:gd name="T44" fmla="*/ 18 w 157"/>
              <a:gd name="T45" fmla="*/ 202 h 495"/>
              <a:gd name="T46" fmla="*/ 12 w 157"/>
              <a:gd name="T47" fmla="*/ 214 h 495"/>
              <a:gd name="T48" fmla="*/ 12 w 157"/>
              <a:gd name="T49" fmla="*/ 226 h 495"/>
              <a:gd name="T50" fmla="*/ 12 w 157"/>
              <a:gd name="T51" fmla="*/ 237 h 495"/>
              <a:gd name="T52" fmla="*/ 6 w 157"/>
              <a:gd name="T53" fmla="*/ 249 h 495"/>
              <a:gd name="T54" fmla="*/ 0 w 157"/>
              <a:gd name="T55" fmla="*/ 261 h 495"/>
              <a:gd name="T56" fmla="*/ 0 w 157"/>
              <a:gd name="T57" fmla="*/ 272 h 495"/>
              <a:gd name="T58" fmla="*/ 6 w 157"/>
              <a:gd name="T59" fmla="*/ 284 h 495"/>
              <a:gd name="T60" fmla="*/ 18 w 157"/>
              <a:gd name="T61" fmla="*/ 290 h 495"/>
              <a:gd name="T62" fmla="*/ 30 w 157"/>
              <a:gd name="T63" fmla="*/ 296 h 495"/>
              <a:gd name="T64" fmla="*/ 36 w 157"/>
              <a:gd name="T65" fmla="*/ 307 h 495"/>
              <a:gd name="T66" fmla="*/ 42 w 157"/>
              <a:gd name="T67" fmla="*/ 319 h 495"/>
              <a:gd name="T68" fmla="*/ 48 w 157"/>
              <a:gd name="T69" fmla="*/ 330 h 495"/>
              <a:gd name="T70" fmla="*/ 36 w 157"/>
              <a:gd name="T71" fmla="*/ 342 h 495"/>
              <a:gd name="T72" fmla="*/ 24 w 157"/>
              <a:gd name="T73" fmla="*/ 348 h 495"/>
              <a:gd name="T74" fmla="*/ 12 w 157"/>
              <a:gd name="T75" fmla="*/ 354 h 495"/>
              <a:gd name="T76" fmla="*/ 18 w 157"/>
              <a:gd name="T77" fmla="*/ 365 h 495"/>
              <a:gd name="T78" fmla="*/ 24 w 157"/>
              <a:gd name="T79" fmla="*/ 377 h 495"/>
              <a:gd name="T80" fmla="*/ 36 w 157"/>
              <a:gd name="T81" fmla="*/ 383 h 495"/>
              <a:gd name="T82" fmla="*/ 42 w 157"/>
              <a:gd name="T83" fmla="*/ 395 h 495"/>
              <a:gd name="T84" fmla="*/ 36 w 157"/>
              <a:gd name="T85" fmla="*/ 406 h 495"/>
              <a:gd name="T86" fmla="*/ 30 w 157"/>
              <a:gd name="T87" fmla="*/ 418 h 495"/>
              <a:gd name="T88" fmla="*/ 18 w 157"/>
              <a:gd name="T89" fmla="*/ 418 h 495"/>
              <a:gd name="T90" fmla="*/ 6 w 157"/>
              <a:gd name="T91" fmla="*/ 429 h 495"/>
              <a:gd name="T92" fmla="*/ 6 w 157"/>
              <a:gd name="T93" fmla="*/ 441 h 495"/>
              <a:gd name="T94" fmla="*/ 18 w 157"/>
              <a:gd name="T95" fmla="*/ 447 h 495"/>
              <a:gd name="T96" fmla="*/ 24 w 157"/>
              <a:gd name="T97" fmla="*/ 459 h 495"/>
              <a:gd name="T98" fmla="*/ 30 w 157"/>
              <a:gd name="T99" fmla="*/ 470 h 495"/>
              <a:gd name="T100" fmla="*/ 60 w 157"/>
              <a:gd name="T101" fmla="*/ 491 h 495"/>
              <a:gd name="T102" fmla="*/ 156 w 157"/>
              <a:gd name="T103" fmla="*/ 494 h 495"/>
              <a:gd name="T104" fmla="*/ 156 w 157"/>
              <a:gd name="T105" fmla="*/ 0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7" h="495">
                <a:moveTo>
                  <a:pt x="144" y="0"/>
                </a:moveTo>
                <a:lnTo>
                  <a:pt x="63" y="0"/>
                </a:lnTo>
                <a:lnTo>
                  <a:pt x="54" y="28"/>
                </a:lnTo>
                <a:lnTo>
                  <a:pt x="42" y="33"/>
                </a:lnTo>
                <a:lnTo>
                  <a:pt x="36" y="45"/>
                </a:lnTo>
                <a:lnTo>
                  <a:pt x="24" y="51"/>
                </a:lnTo>
                <a:lnTo>
                  <a:pt x="18" y="63"/>
                </a:lnTo>
                <a:lnTo>
                  <a:pt x="30" y="68"/>
                </a:lnTo>
                <a:lnTo>
                  <a:pt x="42" y="74"/>
                </a:lnTo>
                <a:lnTo>
                  <a:pt x="48" y="86"/>
                </a:lnTo>
                <a:lnTo>
                  <a:pt x="54" y="98"/>
                </a:lnTo>
                <a:lnTo>
                  <a:pt x="42" y="98"/>
                </a:lnTo>
                <a:lnTo>
                  <a:pt x="30" y="109"/>
                </a:lnTo>
                <a:lnTo>
                  <a:pt x="24" y="121"/>
                </a:lnTo>
                <a:lnTo>
                  <a:pt x="12" y="132"/>
                </a:lnTo>
                <a:lnTo>
                  <a:pt x="6" y="144"/>
                </a:lnTo>
                <a:lnTo>
                  <a:pt x="18" y="150"/>
                </a:lnTo>
                <a:lnTo>
                  <a:pt x="30" y="162"/>
                </a:lnTo>
                <a:lnTo>
                  <a:pt x="42" y="167"/>
                </a:lnTo>
                <a:lnTo>
                  <a:pt x="42" y="179"/>
                </a:lnTo>
                <a:lnTo>
                  <a:pt x="36" y="191"/>
                </a:lnTo>
                <a:lnTo>
                  <a:pt x="24" y="191"/>
                </a:lnTo>
                <a:lnTo>
                  <a:pt x="18" y="202"/>
                </a:lnTo>
                <a:lnTo>
                  <a:pt x="12" y="214"/>
                </a:lnTo>
                <a:lnTo>
                  <a:pt x="12" y="226"/>
                </a:lnTo>
                <a:lnTo>
                  <a:pt x="12" y="237"/>
                </a:lnTo>
                <a:lnTo>
                  <a:pt x="6" y="249"/>
                </a:lnTo>
                <a:lnTo>
                  <a:pt x="0" y="261"/>
                </a:lnTo>
                <a:lnTo>
                  <a:pt x="0" y="272"/>
                </a:lnTo>
                <a:lnTo>
                  <a:pt x="6" y="284"/>
                </a:lnTo>
                <a:lnTo>
                  <a:pt x="18" y="290"/>
                </a:lnTo>
                <a:lnTo>
                  <a:pt x="30" y="296"/>
                </a:lnTo>
                <a:lnTo>
                  <a:pt x="36" y="307"/>
                </a:lnTo>
                <a:lnTo>
                  <a:pt x="42" y="319"/>
                </a:lnTo>
                <a:lnTo>
                  <a:pt x="48" y="330"/>
                </a:lnTo>
                <a:lnTo>
                  <a:pt x="36" y="342"/>
                </a:lnTo>
                <a:lnTo>
                  <a:pt x="24" y="348"/>
                </a:lnTo>
                <a:lnTo>
                  <a:pt x="12" y="354"/>
                </a:lnTo>
                <a:lnTo>
                  <a:pt x="18" y="365"/>
                </a:lnTo>
                <a:lnTo>
                  <a:pt x="24" y="377"/>
                </a:lnTo>
                <a:lnTo>
                  <a:pt x="36" y="383"/>
                </a:lnTo>
                <a:lnTo>
                  <a:pt x="42" y="395"/>
                </a:lnTo>
                <a:lnTo>
                  <a:pt x="36" y="406"/>
                </a:lnTo>
                <a:lnTo>
                  <a:pt x="30" y="418"/>
                </a:lnTo>
                <a:lnTo>
                  <a:pt x="18" y="418"/>
                </a:lnTo>
                <a:lnTo>
                  <a:pt x="6" y="429"/>
                </a:lnTo>
                <a:lnTo>
                  <a:pt x="6" y="441"/>
                </a:lnTo>
                <a:lnTo>
                  <a:pt x="18" y="447"/>
                </a:lnTo>
                <a:lnTo>
                  <a:pt x="24" y="459"/>
                </a:lnTo>
                <a:lnTo>
                  <a:pt x="30" y="470"/>
                </a:lnTo>
                <a:lnTo>
                  <a:pt x="60" y="491"/>
                </a:lnTo>
                <a:lnTo>
                  <a:pt x="156" y="494"/>
                </a:lnTo>
                <a:lnTo>
                  <a:pt x="156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14" name="Rectangle 42">
            <a:extLst>
              <a:ext uri="{FF2B5EF4-FFF2-40B4-BE49-F238E27FC236}">
                <a16:creationId xmlns:a16="http://schemas.microsoft.com/office/drawing/2014/main" id="{EDC79C73-347B-973B-4DFA-41E656C150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1050" y="160338"/>
            <a:ext cx="142875" cy="819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15" name="Rectangle 43">
            <a:extLst>
              <a:ext uri="{FF2B5EF4-FFF2-40B4-BE49-F238E27FC236}">
                <a16:creationId xmlns:a16="http://schemas.microsoft.com/office/drawing/2014/main" id="{345B4B43-569A-1961-46E6-37008A775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13" y="177800"/>
            <a:ext cx="37465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CC0000"/>
                </a:solidFill>
              </a:rPr>
              <a:t>County</a:t>
            </a:r>
          </a:p>
        </p:txBody>
      </p:sp>
      <p:sp>
        <p:nvSpPr>
          <p:cNvPr id="3116" name="Rectangle 44">
            <a:extLst>
              <a:ext uri="{FF2B5EF4-FFF2-40B4-BE49-F238E27FC236}">
                <a16:creationId xmlns:a16="http://schemas.microsoft.com/office/drawing/2014/main" id="{F451849C-E21E-02CA-E234-D60C004D1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838" y="349250"/>
            <a:ext cx="2111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6633"/>
                </a:solidFill>
              </a:rPr>
              <a:t>Age</a:t>
            </a:r>
          </a:p>
        </p:txBody>
      </p:sp>
      <p:sp>
        <p:nvSpPr>
          <p:cNvPr id="3117" name="Rectangle 45">
            <a:extLst>
              <a:ext uri="{FF2B5EF4-FFF2-40B4-BE49-F238E27FC236}">
                <a16:creationId xmlns:a16="http://schemas.microsoft.com/office/drawing/2014/main" id="{FBD46E02-42AA-2AE7-6595-5C41E8495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506413"/>
            <a:ext cx="373062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chemeClr val="accent2"/>
                </a:solidFill>
              </a:rPr>
              <a:t>Gender</a:t>
            </a:r>
          </a:p>
        </p:txBody>
      </p:sp>
      <p:sp>
        <p:nvSpPr>
          <p:cNvPr id="3118" name="Rectangle 46">
            <a:extLst>
              <a:ext uri="{FF2B5EF4-FFF2-40B4-BE49-F238E27FC236}">
                <a16:creationId xmlns:a16="http://schemas.microsoft.com/office/drawing/2014/main" id="{FDD61FB5-A164-461E-5F2B-71C10AB35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1420813"/>
            <a:ext cx="465137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/>
              <a:t>PopTotal</a:t>
            </a:r>
          </a:p>
        </p:txBody>
      </p:sp>
      <p:sp>
        <p:nvSpPr>
          <p:cNvPr id="3119" name="Line 47">
            <a:extLst>
              <a:ext uri="{FF2B5EF4-FFF2-40B4-BE49-F238E27FC236}">
                <a16:creationId xmlns:a16="http://schemas.microsoft.com/office/drawing/2014/main" id="{1E57D205-B5F4-99B1-EAC2-50A9559B1336}"/>
              </a:ext>
            </a:extLst>
          </p:cNvPr>
          <p:cNvSpPr>
            <a:spLocks noChangeShapeType="1"/>
          </p:cNvSpPr>
          <p:nvPr/>
        </p:nvSpPr>
        <p:spPr bwMode="auto">
          <a:xfrm>
            <a:off x="619125" y="885825"/>
            <a:ext cx="1933575" cy="4953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0" name="Line 48">
            <a:extLst>
              <a:ext uri="{FF2B5EF4-FFF2-40B4-BE49-F238E27FC236}">
                <a16:creationId xmlns:a16="http://schemas.microsoft.com/office/drawing/2014/main" id="{5254DBA1-3A55-C311-1071-FAE4E758B919}"/>
              </a:ext>
            </a:extLst>
          </p:cNvPr>
          <p:cNvSpPr>
            <a:spLocks noChangeShapeType="1"/>
          </p:cNvSpPr>
          <p:nvPr/>
        </p:nvSpPr>
        <p:spPr bwMode="auto">
          <a:xfrm>
            <a:off x="981075" y="866775"/>
            <a:ext cx="1571625" cy="5207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1" name="Line 49">
            <a:extLst>
              <a:ext uri="{FF2B5EF4-FFF2-40B4-BE49-F238E27FC236}">
                <a16:creationId xmlns:a16="http://schemas.microsoft.com/office/drawing/2014/main" id="{E8303739-308C-958E-4B81-6064231D99A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66825" y="892175"/>
            <a:ext cx="1285875" cy="4953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2" name="Line 50">
            <a:extLst>
              <a:ext uri="{FF2B5EF4-FFF2-40B4-BE49-F238E27FC236}">
                <a16:creationId xmlns:a16="http://schemas.microsoft.com/office/drawing/2014/main" id="{99540C47-AC17-BF48-0C51-583E0C761B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47825" y="885825"/>
            <a:ext cx="904875" cy="50165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3" name="Line 51">
            <a:extLst>
              <a:ext uri="{FF2B5EF4-FFF2-40B4-BE49-F238E27FC236}">
                <a16:creationId xmlns:a16="http://schemas.microsoft.com/office/drawing/2014/main" id="{7205784A-1D15-4514-9748-2C3E54C8E9F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90725" y="866775"/>
            <a:ext cx="561975" cy="5207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4" name="Line 52">
            <a:extLst>
              <a:ext uri="{FF2B5EF4-FFF2-40B4-BE49-F238E27FC236}">
                <a16:creationId xmlns:a16="http://schemas.microsoft.com/office/drawing/2014/main" id="{D2979D95-00B9-244D-3AB5-0A36D122B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52675" y="828675"/>
            <a:ext cx="200025" cy="5588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5" name="Line 53">
            <a:extLst>
              <a:ext uri="{FF2B5EF4-FFF2-40B4-BE49-F238E27FC236}">
                <a16:creationId xmlns:a16="http://schemas.microsoft.com/office/drawing/2014/main" id="{B5666668-720D-1F17-64AE-C86AC2FADD2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2700" y="847725"/>
            <a:ext cx="200025" cy="53975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6" name="Line 54">
            <a:extLst>
              <a:ext uri="{FF2B5EF4-FFF2-40B4-BE49-F238E27FC236}">
                <a16:creationId xmlns:a16="http://schemas.microsoft.com/office/drawing/2014/main" id="{50469421-C1C3-547C-A923-918233CBF5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2700" y="866775"/>
            <a:ext cx="504825" cy="5207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7" name="Line 55">
            <a:extLst>
              <a:ext uri="{FF2B5EF4-FFF2-40B4-BE49-F238E27FC236}">
                <a16:creationId xmlns:a16="http://schemas.microsoft.com/office/drawing/2014/main" id="{F945ABEE-1D87-998B-546A-28E8FB644CB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2700" y="885825"/>
            <a:ext cx="866775" cy="50165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8" name="Line 56">
            <a:extLst>
              <a:ext uri="{FF2B5EF4-FFF2-40B4-BE49-F238E27FC236}">
                <a16:creationId xmlns:a16="http://schemas.microsoft.com/office/drawing/2014/main" id="{6A5A3F1D-6CA8-E927-095A-8A1A0A5807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2700" y="904875"/>
            <a:ext cx="1190625" cy="4826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29" name="Line 57">
            <a:extLst>
              <a:ext uri="{FF2B5EF4-FFF2-40B4-BE49-F238E27FC236}">
                <a16:creationId xmlns:a16="http://schemas.microsoft.com/office/drawing/2014/main" id="{27F48CEE-5520-51E9-5AF6-4744C2AAEF0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2700" y="904875"/>
            <a:ext cx="1590675" cy="4826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30" name="Line 58">
            <a:extLst>
              <a:ext uri="{FF2B5EF4-FFF2-40B4-BE49-F238E27FC236}">
                <a16:creationId xmlns:a16="http://schemas.microsoft.com/office/drawing/2014/main" id="{DA976A5D-83BF-C39F-8D3C-675B521E63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52700" y="942975"/>
            <a:ext cx="1857375" cy="44450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31" name="AutoShape 59">
            <a:extLst>
              <a:ext uri="{FF2B5EF4-FFF2-40B4-BE49-F238E27FC236}">
                <a16:creationId xmlns:a16="http://schemas.microsoft.com/office/drawing/2014/main" id="{20F6B5E6-318B-33E1-4A94-B437FC375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0250" y="492125"/>
            <a:ext cx="168275" cy="139700"/>
          </a:xfrm>
          <a:prstGeom prst="rightArrow">
            <a:avLst>
              <a:gd name="adj1" fmla="val 50000"/>
              <a:gd name="adj2" fmla="val 60233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2700" dir="54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A11314C-05FD-69E2-7CB9-B1F2FA1B9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982663"/>
            <a:ext cx="3460750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01 PopulationTable.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02 County OCCURS 26 TIMES.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6633"/>
                </a:solidFill>
                <a:latin typeface="Courier New" panose="02070309020205020404" pitchFamily="49" charset="0"/>
              </a:rPr>
              <a:t>      03 Age OCCURS 3 TIMES.</a:t>
            </a:r>
            <a:endParaRPr lang="en-US" altLang="en-US" sz="1200" b="1">
              <a:solidFill>
                <a:srgbClr val="0099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chemeClr val="accent2"/>
                </a:solidFill>
                <a:latin typeface="Courier New" panose="02070309020205020404" pitchFamily="49" charset="0"/>
              </a:rPr>
              <a:t>         04 Gender OCCURS 2 TIMES.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         </a:t>
            </a:r>
            <a:r>
              <a:rPr lang="en-US" altLang="en-US" sz="1200" b="1">
                <a:solidFill>
                  <a:srgbClr val="393939"/>
                </a:solidFill>
                <a:latin typeface="Courier New" panose="02070309020205020404" pitchFamily="49" charset="0"/>
              </a:rPr>
              <a:t>05 PopTotal   PIC 9(6).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6B1C305A-648F-F2CF-DD1A-BB9A8AD02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F3F8A3B7-2879-E42C-4150-F41E31E994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CE535DE3-9527-86C7-B610-75F8129E1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3FA0D2C6-75BB-BE6D-882A-5D8EB7F30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1A5BBDF5-3CEA-CEC5-6E3B-FB59A6B83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816B2ABC-579F-F653-D3D6-976C2B52A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06597033-C898-46F1-0E1D-BAC5089E76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4106" name="Rectangle 10">
            <a:extLst>
              <a:ext uri="{FF2B5EF4-FFF2-40B4-BE49-F238E27FC236}">
                <a16:creationId xmlns:a16="http://schemas.microsoft.com/office/drawing/2014/main" id="{B5873042-CEEB-347D-7975-DDE72EBD7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4109" name="Group 13">
            <a:extLst>
              <a:ext uri="{FF2B5EF4-FFF2-40B4-BE49-F238E27FC236}">
                <a16:creationId xmlns:a16="http://schemas.microsoft.com/office/drawing/2014/main" id="{87EB2C60-3342-944C-20E1-76657A41A2CE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517525"/>
            <a:ext cx="693738" cy="149225"/>
            <a:chOff x="136" y="326"/>
            <a:chExt cx="437" cy="94"/>
          </a:xfrm>
        </p:grpSpPr>
        <p:sp>
          <p:nvSpPr>
            <p:cNvPr id="4107" name="Rectangle 11">
              <a:extLst>
                <a:ext uri="{FF2B5EF4-FFF2-40B4-BE49-F238E27FC236}">
                  <a16:creationId xmlns:a16="http://schemas.microsoft.com/office/drawing/2014/main" id="{C54DDC6C-1EB9-3F98-F434-CB65F5BA82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108" name="Rectangle 12">
              <a:extLst>
                <a:ext uri="{FF2B5EF4-FFF2-40B4-BE49-F238E27FC236}">
                  <a16:creationId xmlns:a16="http://schemas.microsoft.com/office/drawing/2014/main" id="{EA5430DD-E80B-1B1D-2C1C-6F880FAD16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4110" name="Rectangle 14">
            <a:extLst>
              <a:ext uri="{FF2B5EF4-FFF2-40B4-BE49-F238E27FC236}">
                <a16:creationId xmlns:a16="http://schemas.microsoft.com/office/drawing/2014/main" id="{2DD782C6-303C-F67A-B588-4133AEC5A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4113" name="Group 17">
            <a:extLst>
              <a:ext uri="{FF2B5EF4-FFF2-40B4-BE49-F238E27FC236}">
                <a16:creationId xmlns:a16="http://schemas.microsoft.com/office/drawing/2014/main" id="{D3F48592-94F2-1F07-3E26-FE2CA9B6FE5E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517525"/>
            <a:ext cx="693737" cy="149225"/>
            <a:chOff x="577" y="326"/>
            <a:chExt cx="437" cy="94"/>
          </a:xfrm>
        </p:grpSpPr>
        <p:sp>
          <p:nvSpPr>
            <p:cNvPr id="4111" name="Rectangle 15">
              <a:extLst>
                <a:ext uri="{FF2B5EF4-FFF2-40B4-BE49-F238E27FC236}">
                  <a16:creationId xmlns:a16="http://schemas.microsoft.com/office/drawing/2014/main" id="{F1029DD5-5C49-C3C2-E4F8-879E4A378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112" name="Rectangle 16">
              <a:extLst>
                <a:ext uri="{FF2B5EF4-FFF2-40B4-BE49-F238E27FC236}">
                  <a16:creationId xmlns:a16="http://schemas.microsoft.com/office/drawing/2014/main" id="{8F0C7100-FD64-2DB5-73CA-E6E26BD73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4114" name="Rectangle 18">
            <a:extLst>
              <a:ext uri="{FF2B5EF4-FFF2-40B4-BE49-F238E27FC236}">
                <a16:creationId xmlns:a16="http://schemas.microsoft.com/office/drawing/2014/main" id="{13F567F2-5D51-9BB0-BCAD-C95311E29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4117" name="Group 21">
            <a:extLst>
              <a:ext uri="{FF2B5EF4-FFF2-40B4-BE49-F238E27FC236}">
                <a16:creationId xmlns:a16="http://schemas.microsoft.com/office/drawing/2014/main" id="{66CED531-6DCC-B34F-3607-C39DFBB1EE1A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517525"/>
            <a:ext cx="693737" cy="149225"/>
            <a:chOff x="1015" y="326"/>
            <a:chExt cx="437" cy="94"/>
          </a:xfrm>
        </p:grpSpPr>
        <p:sp>
          <p:nvSpPr>
            <p:cNvPr id="4115" name="Rectangle 19">
              <a:extLst>
                <a:ext uri="{FF2B5EF4-FFF2-40B4-BE49-F238E27FC236}">
                  <a16:creationId xmlns:a16="http://schemas.microsoft.com/office/drawing/2014/main" id="{FEBD0B84-4AB0-3D22-9119-637C1C5649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116" name="Rectangle 20">
              <a:extLst>
                <a:ext uri="{FF2B5EF4-FFF2-40B4-BE49-F238E27FC236}">
                  <a16:creationId xmlns:a16="http://schemas.microsoft.com/office/drawing/2014/main" id="{53F65017-87ED-2CD2-1A81-542EAB31DE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4118" name="Rectangle 22">
            <a:extLst>
              <a:ext uri="{FF2B5EF4-FFF2-40B4-BE49-F238E27FC236}">
                <a16:creationId xmlns:a16="http://schemas.microsoft.com/office/drawing/2014/main" id="{68170F1A-E065-85E8-BD39-0DF82C779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19" name="Rectangle 23">
            <a:extLst>
              <a:ext uri="{FF2B5EF4-FFF2-40B4-BE49-F238E27FC236}">
                <a16:creationId xmlns:a16="http://schemas.microsoft.com/office/drawing/2014/main" id="{51A43934-2756-681F-1FFF-C7BE5B55C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0" name="Rectangle 24">
            <a:extLst>
              <a:ext uri="{FF2B5EF4-FFF2-40B4-BE49-F238E27FC236}">
                <a16:creationId xmlns:a16="http://schemas.microsoft.com/office/drawing/2014/main" id="{89D72D25-14FF-35F3-2C2D-7B230E499F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1" name="Rectangle 25">
            <a:extLst>
              <a:ext uri="{FF2B5EF4-FFF2-40B4-BE49-F238E27FC236}">
                <a16:creationId xmlns:a16="http://schemas.microsoft.com/office/drawing/2014/main" id="{5E833C7A-9C6A-F7E1-6C1B-4B824ABA4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2" name="Rectangle 26">
            <a:extLst>
              <a:ext uri="{FF2B5EF4-FFF2-40B4-BE49-F238E27FC236}">
                <a16:creationId xmlns:a16="http://schemas.microsoft.com/office/drawing/2014/main" id="{FECAC93D-DB5D-56CF-F721-61CF409AC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3" name="Rectangle 27">
            <a:extLst>
              <a:ext uri="{FF2B5EF4-FFF2-40B4-BE49-F238E27FC236}">
                <a16:creationId xmlns:a16="http://schemas.microsoft.com/office/drawing/2014/main" id="{232008A2-44D2-B5FE-DCB2-716B01946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30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4" name="Rectangle 28">
            <a:extLst>
              <a:ext uri="{FF2B5EF4-FFF2-40B4-BE49-F238E27FC236}">
                <a16:creationId xmlns:a16="http://schemas.microsoft.com/office/drawing/2014/main" id="{7E630EF6-C001-E5CC-0338-2CBA865F7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4125" name="Rectangle 29">
            <a:extLst>
              <a:ext uri="{FF2B5EF4-FFF2-40B4-BE49-F238E27FC236}">
                <a16:creationId xmlns:a16="http://schemas.microsoft.com/office/drawing/2014/main" id="{09DA377D-5230-2AEA-ABCE-C48F979B6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4128" name="Group 32">
            <a:extLst>
              <a:ext uri="{FF2B5EF4-FFF2-40B4-BE49-F238E27FC236}">
                <a16:creationId xmlns:a16="http://schemas.microsoft.com/office/drawing/2014/main" id="{0713C522-8E1B-766E-6A99-FF1E83065502}"/>
              </a:ext>
            </a:extLst>
          </p:cNvPr>
          <p:cNvGrpSpPr>
            <a:grpSpLocks/>
          </p:cNvGrpSpPr>
          <p:nvPr/>
        </p:nvGrpSpPr>
        <p:grpSpPr bwMode="auto">
          <a:xfrm>
            <a:off x="2308225" y="517525"/>
            <a:ext cx="693738" cy="149225"/>
            <a:chOff x="1454" y="326"/>
            <a:chExt cx="437" cy="94"/>
          </a:xfrm>
        </p:grpSpPr>
        <p:sp>
          <p:nvSpPr>
            <p:cNvPr id="4126" name="Rectangle 30">
              <a:extLst>
                <a:ext uri="{FF2B5EF4-FFF2-40B4-BE49-F238E27FC236}">
                  <a16:creationId xmlns:a16="http://schemas.microsoft.com/office/drawing/2014/main" id="{F921A1A6-30C5-A90C-ABA1-A152E3A84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4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127" name="Rectangle 31">
              <a:extLst>
                <a:ext uri="{FF2B5EF4-FFF2-40B4-BE49-F238E27FC236}">
                  <a16:creationId xmlns:a16="http://schemas.microsoft.com/office/drawing/2014/main" id="{D4C30B9E-8451-41AC-37AE-3E0AA3C7F9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4129" name="Rectangle 33">
            <a:extLst>
              <a:ext uri="{FF2B5EF4-FFF2-40B4-BE49-F238E27FC236}">
                <a16:creationId xmlns:a16="http://schemas.microsoft.com/office/drawing/2014/main" id="{399AC34F-41FD-3A04-B211-DE55AB096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4132" name="Group 36">
            <a:extLst>
              <a:ext uri="{FF2B5EF4-FFF2-40B4-BE49-F238E27FC236}">
                <a16:creationId xmlns:a16="http://schemas.microsoft.com/office/drawing/2014/main" id="{7DBBED39-BAE0-D35F-EDF6-AFC7EA4E55E2}"/>
              </a:ext>
            </a:extLst>
          </p:cNvPr>
          <p:cNvGrpSpPr>
            <a:grpSpLocks/>
          </p:cNvGrpSpPr>
          <p:nvPr/>
        </p:nvGrpSpPr>
        <p:grpSpPr bwMode="auto">
          <a:xfrm>
            <a:off x="3008313" y="517525"/>
            <a:ext cx="693737" cy="149225"/>
            <a:chOff x="1895" y="326"/>
            <a:chExt cx="437" cy="94"/>
          </a:xfrm>
        </p:grpSpPr>
        <p:sp>
          <p:nvSpPr>
            <p:cNvPr id="4130" name="Rectangle 34">
              <a:extLst>
                <a:ext uri="{FF2B5EF4-FFF2-40B4-BE49-F238E27FC236}">
                  <a16:creationId xmlns:a16="http://schemas.microsoft.com/office/drawing/2014/main" id="{FDFAA535-1BE9-9F37-E7F0-2D5753F2E5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131" name="Rectangle 35">
              <a:extLst>
                <a:ext uri="{FF2B5EF4-FFF2-40B4-BE49-F238E27FC236}">
                  <a16:creationId xmlns:a16="http://schemas.microsoft.com/office/drawing/2014/main" id="{FB13BC30-BDAC-3D7B-A084-9C632836E4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4133" name="Rectangle 37">
            <a:extLst>
              <a:ext uri="{FF2B5EF4-FFF2-40B4-BE49-F238E27FC236}">
                <a16:creationId xmlns:a16="http://schemas.microsoft.com/office/drawing/2014/main" id="{74C5ABF6-DD01-02DD-530C-AD36C93A61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4136" name="Group 40">
            <a:extLst>
              <a:ext uri="{FF2B5EF4-FFF2-40B4-BE49-F238E27FC236}">
                <a16:creationId xmlns:a16="http://schemas.microsoft.com/office/drawing/2014/main" id="{FFD948B2-E089-08CB-3E4A-5FD447FCA2DA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517525"/>
            <a:ext cx="693737" cy="149225"/>
            <a:chOff x="2333" y="326"/>
            <a:chExt cx="437" cy="94"/>
          </a:xfrm>
        </p:grpSpPr>
        <p:sp>
          <p:nvSpPr>
            <p:cNvPr id="4134" name="Rectangle 38">
              <a:extLst>
                <a:ext uri="{FF2B5EF4-FFF2-40B4-BE49-F238E27FC236}">
                  <a16:creationId xmlns:a16="http://schemas.microsoft.com/office/drawing/2014/main" id="{7C3B0A96-3E79-982C-0DAE-1C1905BE32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4135" name="Rectangle 39">
              <a:extLst>
                <a:ext uri="{FF2B5EF4-FFF2-40B4-BE49-F238E27FC236}">
                  <a16:creationId xmlns:a16="http://schemas.microsoft.com/office/drawing/2014/main" id="{4FEE3737-DE77-C29F-74B2-2E64C23A0A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4137" name="Freeform 41">
            <a:extLst>
              <a:ext uri="{FF2B5EF4-FFF2-40B4-BE49-F238E27FC236}">
                <a16:creationId xmlns:a16="http://schemas.microsoft.com/office/drawing/2014/main" id="{9724DA60-A918-3956-D5C3-423D7923F517}"/>
              </a:ext>
            </a:extLst>
          </p:cNvPr>
          <p:cNvSpPr>
            <a:spLocks/>
          </p:cNvSpPr>
          <p:nvPr/>
        </p:nvSpPr>
        <p:spPr bwMode="auto">
          <a:xfrm>
            <a:off x="4233863" y="187325"/>
            <a:ext cx="249237" cy="785813"/>
          </a:xfrm>
          <a:custGeom>
            <a:avLst/>
            <a:gdLst>
              <a:gd name="T0" fmla="*/ 144 w 157"/>
              <a:gd name="T1" fmla="*/ 0 h 495"/>
              <a:gd name="T2" fmla="*/ 63 w 157"/>
              <a:gd name="T3" fmla="*/ 0 h 495"/>
              <a:gd name="T4" fmla="*/ 54 w 157"/>
              <a:gd name="T5" fmla="*/ 28 h 495"/>
              <a:gd name="T6" fmla="*/ 42 w 157"/>
              <a:gd name="T7" fmla="*/ 33 h 495"/>
              <a:gd name="T8" fmla="*/ 36 w 157"/>
              <a:gd name="T9" fmla="*/ 45 h 495"/>
              <a:gd name="T10" fmla="*/ 24 w 157"/>
              <a:gd name="T11" fmla="*/ 51 h 495"/>
              <a:gd name="T12" fmla="*/ 18 w 157"/>
              <a:gd name="T13" fmla="*/ 63 h 495"/>
              <a:gd name="T14" fmla="*/ 30 w 157"/>
              <a:gd name="T15" fmla="*/ 68 h 495"/>
              <a:gd name="T16" fmla="*/ 42 w 157"/>
              <a:gd name="T17" fmla="*/ 74 h 495"/>
              <a:gd name="T18" fmla="*/ 48 w 157"/>
              <a:gd name="T19" fmla="*/ 86 h 495"/>
              <a:gd name="T20" fmla="*/ 54 w 157"/>
              <a:gd name="T21" fmla="*/ 98 h 495"/>
              <a:gd name="T22" fmla="*/ 42 w 157"/>
              <a:gd name="T23" fmla="*/ 98 h 495"/>
              <a:gd name="T24" fmla="*/ 30 w 157"/>
              <a:gd name="T25" fmla="*/ 109 h 495"/>
              <a:gd name="T26" fmla="*/ 24 w 157"/>
              <a:gd name="T27" fmla="*/ 121 h 495"/>
              <a:gd name="T28" fmla="*/ 12 w 157"/>
              <a:gd name="T29" fmla="*/ 132 h 495"/>
              <a:gd name="T30" fmla="*/ 6 w 157"/>
              <a:gd name="T31" fmla="*/ 144 h 495"/>
              <a:gd name="T32" fmla="*/ 18 w 157"/>
              <a:gd name="T33" fmla="*/ 150 h 495"/>
              <a:gd name="T34" fmla="*/ 30 w 157"/>
              <a:gd name="T35" fmla="*/ 162 h 495"/>
              <a:gd name="T36" fmla="*/ 42 w 157"/>
              <a:gd name="T37" fmla="*/ 167 h 495"/>
              <a:gd name="T38" fmla="*/ 42 w 157"/>
              <a:gd name="T39" fmla="*/ 179 h 495"/>
              <a:gd name="T40" fmla="*/ 36 w 157"/>
              <a:gd name="T41" fmla="*/ 191 h 495"/>
              <a:gd name="T42" fmla="*/ 24 w 157"/>
              <a:gd name="T43" fmla="*/ 191 h 495"/>
              <a:gd name="T44" fmla="*/ 18 w 157"/>
              <a:gd name="T45" fmla="*/ 202 h 495"/>
              <a:gd name="T46" fmla="*/ 12 w 157"/>
              <a:gd name="T47" fmla="*/ 214 h 495"/>
              <a:gd name="T48" fmla="*/ 12 w 157"/>
              <a:gd name="T49" fmla="*/ 226 h 495"/>
              <a:gd name="T50" fmla="*/ 12 w 157"/>
              <a:gd name="T51" fmla="*/ 237 h 495"/>
              <a:gd name="T52" fmla="*/ 6 w 157"/>
              <a:gd name="T53" fmla="*/ 249 h 495"/>
              <a:gd name="T54" fmla="*/ 0 w 157"/>
              <a:gd name="T55" fmla="*/ 261 h 495"/>
              <a:gd name="T56" fmla="*/ 0 w 157"/>
              <a:gd name="T57" fmla="*/ 272 h 495"/>
              <a:gd name="T58" fmla="*/ 6 w 157"/>
              <a:gd name="T59" fmla="*/ 284 h 495"/>
              <a:gd name="T60" fmla="*/ 18 w 157"/>
              <a:gd name="T61" fmla="*/ 290 h 495"/>
              <a:gd name="T62" fmla="*/ 30 w 157"/>
              <a:gd name="T63" fmla="*/ 296 h 495"/>
              <a:gd name="T64" fmla="*/ 36 w 157"/>
              <a:gd name="T65" fmla="*/ 307 h 495"/>
              <a:gd name="T66" fmla="*/ 42 w 157"/>
              <a:gd name="T67" fmla="*/ 319 h 495"/>
              <a:gd name="T68" fmla="*/ 48 w 157"/>
              <a:gd name="T69" fmla="*/ 330 h 495"/>
              <a:gd name="T70" fmla="*/ 36 w 157"/>
              <a:gd name="T71" fmla="*/ 342 h 495"/>
              <a:gd name="T72" fmla="*/ 24 w 157"/>
              <a:gd name="T73" fmla="*/ 348 h 495"/>
              <a:gd name="T74" fmla="*/ 12 w 157"/>
              <a:gd name="T75" fmla="*/ 354 h 495"/>
              <a:gd name="T76" fmla="*/ 18 w 157"/>
              <a:gd name="T77" fmla="*/ 365 h 495"/>
              <a:gd name="T78" fmla="*/ 24 w 157"/>
              <a:gd name="T79" fmla="*/ 377 h 495"/>
              <a:gd name="T80" fmla="*/ 36 w 157"/>
              <a:gd name="T81" fmla="*/ 383 h 495"/>
              <a:gd name="T82" fmla="*/ 42 w 157"/>
              <a:gd name="T83" fmla="*/ 395 h 495"/>
              <a:gd name="T84" fmla="*/ 36 w 157"/>
              <a:gd name="T85" fmla="*/ 406 h 495"/>
              <a:gd name="T86" fmla="*/ 30 w 157"/>
              <a:gd name="T87" fmla="*/ 418 h 495"/>
              <a:gd name="T88" fmla="*/ 18 w 157"/>
              <a:gd name="T89" fmla="*/ 418 h 495"/>
              <a:gd name="T90" fmla="*/ 6 w 157"/>
              <a:gd name="T91" fmla="*/ 429 h 495"/>
              <a:gd name="T92" fmla="*/ 6 w 157"/>
              <a:gd name="T93" fmla="*/ 441 h 495"/>
              <a:gd name="T94" fmla="*/ 18 w 157"/>
              <a:gd name="T95" fmla="*/ 447 h 495"/>
              <a:gd name="T96" fmla="*/ 24 w 157"/>
              <a:gd name="T97" fmla="*/ 459 h 495"/>
              <a:gd name="T98" fmla="*/ 30 w 157"/>
              <a:gd name="T99" fmla="*/ 470 h 495"/>
              <a:gd name="T100" fmla="*/ 60 w 157"/>
              <a:gd name="T101" fmla="*/ 491 h 495"/>
              <a:gd name="T102" fmla="*/ 156 w 157"/>
              <a:gd name="T103" fmla="*/ 494 h 495"/>
              <a:gd name="T104" fmla="*/ 156 w 157"/>
              <a:gd name="T105" fmla="*/ 0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7" h="495">
                <a:moveTo>
                  <a:pt x="144" y="0"/>
                </a:moveTo>
                <a:lnTo>
                  <a:pt x="63" y="0"/>
                </a:lnTo>
                <a:lnTo>
                  <a:pt x="54" y="28"/>
                </a:lnTo>
                <a:lnTo>
                  <a:pt x="42" y="33"/>
                </a:lnTo>
                <a:lnTo>
                  <a:pt x="36" y="45"/>
                </a:lnTo>
                <a:lnTo>
                  <a:pt x="24" y="51"/>
                </a:lnTo>
                <a:lnTo>
                  <a:pt x="18" y="63"/>
                </a:lnTo>
                <a:lnTo>
                  <a:pt x="30" y="68"/>
                </a:lnTo>
                <a:lnTo>
                  <a:pt x="42" y="74"/>
                </a:lnTo>
                <a:lnTo>
                  <a:pt x="48" y="86"/>
                </a:lnTo>
                <a:lnTo>
                  <a:pt x="54" y="98"/>
                </a:lnTo>
                <a:lnTo>
                  <a:pt x="42" y="98"/>
                </a:lnTo>
                <a:lnTo>
                  <a:pt x="30" y="109"/>
                </a:lnTo>
                <a:lnTo>
                  <a:pt x="24" y="121"/>
                </a:lnTo>
                <a:lnTo>
                  <a:pt x="12" y="132"/>
                </a:lnTo>
                <a:lnTo>
                  <a:pt x="6" y="144"/>
                </a:lnTo>
                <a:lnTo>
                  <a:pt x="18" y="150"/>
                </a:lnTo>
                <a:lnTo>
                  <a:pt x="30" y="162"/>
                </a:lnTo>
                <a:lnTo>
                  <a:pt x="42" y="167"/>
                </a:lnTo>
                <a:lnTo>
                  <a:pt x="42" y="179"/>
                </a:lnTo>
                <a:lnTo>
                  <a:pt x="36" y="191"/>
                </a:lnTo>
                <a:lnTo>
                  <a:pt x="24" y="191"/>
                </a:lnTo>
                <a:lnTo>
                  <a:pt x="18" y="202"/>
                </a:lnTo>
                <a:lnTo>
                  <a:pt x="12" y="214"/>
                </a:lnTo>
                <a:lnTo>
                  <a:pt x="12" y="226"/>
                </a:lnTo>
                <a:lnTo>
                  <a:pt x="12" y="237"/>
                </a:lnTo>
                <a:lnTo>
                  <a:pt x="6" y="249"/>
                </a:lnTo>
                <a:lnTo>
                  <a:pt x="0" y="261"/>
                </a:lnTo>
                <a:lnTo>
                  <a:pt x="0" y="272"/>
                </a:lnTo>
                <a:lnTo>
                  <a:pt x="6" y="284"/>
                </a:lnTo>
                <a:lnTo>
                  <a:pt x="18" y="290"/>
                </a:lnTo>
                <a:lnTo>
                  <a:pt x="30" y="296"/>
                </a:lnTo>
                <a:lnTo>
                  <a:pt x="36" y="307"/>
                </a:lnTo>
                <a:lnTo>
                  <a:pt x="42" y="319"/>
                </a:lnTo>
                <a:lnTo>
                  <a:pt x="48" y="330"/>
                </a:lnTo>
                <a:lnTo>
                  <a:pt x="36" y="342"/>
                </a:lnTo>
                <a:lnTo>
                  <a:pt x="24" y="348"/>
                </a:lnTo>
                <a:lnTo>
                  <a:pt x="12" y="354"/>
                </a:lnTo>
                <a:lnTo>
                  <a:pt x="18" y="365"/>
                </a:lnTo>
                <a:lnTo>
                  <a:pt x="24" y="377"/>
                </a:lnTo>
                <a:lnTo>
                  <a:pt x="36" y="383"/>
                </a:lnTo>
                <a:lnTo>
                  <a:pt x="42" y="395"/>
                </a:lnTo>
                <a:lnTo>
                  <a:pt x="36" y="406"/>
                </a:lnTo>
                <a:lnTo>
                  <a:pt x="30" y="418"/>
                </a:lnTo>
                <a:lnTo>
                  <a:pt x="18" y="418"/>
                </a:lnTo>
                <a:lnTo>
                  <a:pt x="6" y="429"/>
                </a:lnTo>
                <a:lnTo>
                  <a:pt x="6" y="441"/>
                </a:lnTo>
                <a:lnTo>
                  <a:pt x="18" y="447"/>
                </a:lnTo>
                <a:lnTo>
                  <a:pt x="24" y="459"/>
                </a:lnTo>
                <a:lnTo>
                  <a:pt x="30" y="470"/>
                </a:lnTo>
                <a:lnTo>
                  <a:pt x="60" y="491"/>
                </a:lnTo>
                <a:lnTo>
                  <a:pt x="156" y="494"/>
                </a:lnTo>
                <a:lnTo>
                  <a:pt x="156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38" name="Rectangle 42">
            <a:extLst>
              <a:ext uri="{FF2B5EF4-FFF2-40B4-BE49-F238E27FC236}">
                <a16:creationId xmlns:a16="http://schemas.microsoft.com/office/drawing/2014/main" id="{24860889-70D0-B08E-9834-7DC6FAB7E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169863"/>
            <a:ext cx="142875" cy="819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39" name="AutoShape 43">
            <a:extLst>
              <a:ext uri="{FF2B5EF4-FFF2-40B4-BE49-F238E27FC236}">
                <a16:creationId xmlns:a16="http://schemas.microsoft.com/office/drawing/2014/main" id="{02175486-C532-D5FF-7D71-6B54FB2AB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501650"/>
            <a:ext cx="168275" cy="139700"/>
          </a:xfrm>
          <a:prstGeom prst="rightArrow">
            <a:avLst>
              <a:gd name="adj1" fmla="val 50000"/>
              <a:gd name="adj2" fmla="val 60233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2700" dir="54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0" name="Rectangle 44">
            <a:extLst>
              <a:ext uri="{FF2B5EF4-FFF2-40B4-BE49-F238E27FC236}">
                <a16:creationId xmlns:a16="http://schemas.microsoft.com/office/drawing/2014/main" id="{A755E91B-2891-1535-CC09-4C636A03B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2192338"/>
            <a:ext cx="3278188" cy="117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County(1)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Age(2,3)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PopTotal(2,2,1)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26 TO PopTotal(2,3,1)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12 TO PopTotal(2,1,1) 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PopulationTable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6C050AFA-72EC-108C-F6F4-19145AEE16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982663"/>
            <a:ext cx="3460750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01 PopulationTable.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02 County OCCURS 26 TIMES.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6633"/>
                </a:solidFill>
                <a:latin typeface="Courier New" panose="02070309020205020404" pitchFamily="49" charset="0"/>
              </a:rPr>
              <a:t>      03 Age OCCURS 3 TIMES.</a:t>
            </a:r>
            <a:endParaRPr lang="en-US" altLang="en-US" sz="1200" b="1">
              <a:solidFill>
                <a:srgbClr val="0099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chemeClr val="accent2"/>
                </a:solidFill>
                <a:latin typeface="Courier New" panose="02070309020205020404" pitchFamily="49" charset="0"/>
              </a:rPr>
              <a:t>         04 Gender OCCURS 2 TIMES.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         </a:t>
            </a:r>
            <a:r>
              <a:rPr lang="en-US" altLang="en-US" sz="1200" b="1">
                <a:solidFill>
                  <a:srgbClr val="393939"/>
                </a:solidFill>
                <a:latin typeface="Courier New" panose="02070309020205020404" pitchFamily="49" charset="0"/>
              </a:rPr>
              <a:t>05 PopTotal   PIC 9(6).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1F20648-F764-AE7E-2EF0-BC41C1F59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801FAB3E-FAD9-2288-CF9A-96811CA71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A4F8CF33-5DE4-999B-B540-32C7B38DA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D4301B7E-130E-BD8C-101A-0E814C376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994AC1EC-772A-0B35-845C-B9DB1B2FA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A8022AAF-8710-9DCD-B5B0-EEF66059D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26E97650-3967-4605-83BD-452DA3C43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5130" name="Rectangle 10">
            <a:extLst>
              <a:ext uri="{FF2B5EF4-FFF2-40B4-BE49-F238E27FC236}">
                <a16:creationId xmlns:a16="http://schemas.microsoft.com/office/drawing/2014/main" id="{D4DCD5EE-E011-75A5-8E55-7413FDC63E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5133" name="Group 13">
            <a:extLst>
              <a:ext uri="{FF2B5EF4-FFF2-40B4-BE49-F238E27FC236}">
                <a16:creationId xmlns:a16="http://schemas.microsoft.com/office/drawing/2014/main" id="{A2BA4D28-A713-2350-FE65-9FA0B8C95B14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517525"/>
            <a:ext cx="693738" cy="149225"/>
            <a:chOff x="136" y="326"/>
            <a:chExt cx="437" cy="94"/>
          </a:xfrm>
        </p:grpSpPr>
        <p:sp>
          <p:nvSpPr>
            <p:cNvPr id="5131" name="Rectangle 11">
              <a:extLst>
                <a:ext uri="{FF2B5EF4-FFF2-40B4-BE49-F238E27FC236}">
                  <a16:creationId xmlns:a16="http://schemas.microsoft.com/office/drawing/2014/main" id="{F1C9AA55-5932-334D-8734-57B07E29D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132" name="Rectangle 12">
              <a:extLst>
                <a:ext uri="{FF2B5EF4-FFF2-40B4-BE49-F238E27FC236}">
                  <a16:creationId xmlns:a16="http://schemas.microsoft.com/office/drawing/2014/main" id="{CAE90369-1174-243B-BDAA-AECB383F59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5134" name="Rectangle 14">
            <a:extLst>
              <a:ext uri="{FF2B5EF4-FFF2-40B4-BE49-F238E27FC236}">
                <a16:creationId xmlns:a16="http://schemas.microsoft.com/office/drawing/2014/main" id="{9DC07147-8F90-C440-7091-CBE4ED8E6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5137" name="Group 17">
            <a:extLst>
              <a:ext uri="{FF2B5EF4-FFF2-40B4-BE49-F238E27FC236}">
                <a16:creationId xmlns:a16="http://schemas.microsoft.com/office/drawing/2014/main" id="{101B11A4-1B0B-35EA-2EFD-F536F0CF1E4E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517525"/>
            <a:ext cx="693737" cy="149225"/>
            <a:chOff x="577" y="326"/>
            <a:chExt cx="437" cy="94"/>
          </a:xfrm>
        </p:grpSpPr>
        <p:sp>
          <p:nvSpPr>
            <p:cNvPr id="5135" name="Rectangle 15">
              <a:extLst>
                <a:ext uri="{FF2B5EF4-FFF2-40B4-BE49-F238E27FC236}">
                  <a16:creationId xmlns:a16="http://schemas.microsoft.com/office/drawing/2014/main" id="{5ECA7607-7491-5FCB-049A-55AA4EF1BB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136" name="Rectangle 16">
              <a:extLst>
                <a:ext uri="{FF2B5EF4-FFF2-40B4-BE49-F238E27FC236}">
                  <a16:creationId xmlns:a16="http://schemas.microsoft.com/office/drawing/2014/main" id="{68F6A895-1896-EC78-B1AD-2D6010B8E9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5138" name="Rectangle 18">
            <a:extLst>
              <a:ext uri="{FF2B5EF4-FFF2-40B4-BE49-F238E27FC236}">
                <a16:creationId xmlns:a16="http://schemas.microsoft.com/office/drawing/2014/main" id="{603F2A3F-ECB3-14E8-DA73-3032847FA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5141" name="Group 21">
            <a:extLst>
              <a:ext uri="{FF2B5EF4-FFF2-40B4-BE49-F238E27FC236}">
                <a16:creationId xmlns:a16="http://schemas.microsoft.com/office/drawing/2014/main" id="{687A6334-4501-80F0-3228-2A666237987F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517525"/>
            <a:ext cx="693737" cy="149225"/>
            <a:chOff x="1015" y="326"/>
            <a:chExt cx="437" cy="94"/>
          </a:xfrm>
        </p:grpSpPr>
        <p:sp>
          <p:nvSpPr>
            <p:cNvPr id="5139" name="Rectangle 19">
              <a:extLst>
                <a:ext uri="{FF2B5EF4-FFF2-40B4-BE49-F238E27FC236}">
                  <a16:creationId xmlns:a16="http://schemas.microsoft.com/office/drawing/2014/main" id="{99B2BAA6-1EB9-9FF6-269A-37AF1F76E2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140" name="Rectangle 20">
              <a:extLst>
                <a:ext uri="{FF2B5EF4-FFF2-40B4-BE49-F238E27FC236}">
                  <a16:creationId xmlns:a16="http://schemas.microsoft.com/office/drawing/2014/main" id="{8217DC01-3ABC-A158-9201-58059B210B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5142" name="Rectangle 22">
            <a:extLst>
              <a:ext uri="{FF2B5EF4-FFF2-40B4-BE49-F238E27FC236}">
                <a16:creationId xmlns:a16="http://schemas.microsoft.com/office/drawing/2014/main" id="{2A85CCA6-AC35-1686-699F-AE096B89E1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3" name="Rectangle 23">
            <a:extLst>
              <a:ext uri="{FF2B5EF4-FFF2-40B4-BE49-F238E27FC236}">
                <a16:creationId xmlns:a16="http://schemas.microsoft.com/office/drawing/2014/main" id="{D65101D9-1C49-FC94-EF41-D424D7971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4" name="Rectangle 24">
            <a:extLst>
              <a:ext uri="{FF2B5EF4-FFF2-40B4-BE49-F238E27FC236}">
                <a16:creationId xmlns:a16="http://schemas.microsoft.com/office/drawing/2014/main" id="{57C0BC59-3EE8-9B49-6EA4-D45AD5AF8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5" name="Rectangle 25">
            <a:extLst>
              <a:ext uri="{FF2B5EF4-FFF2-40B4-BE49-F238E27FC236}">
                <a16:creationId xmlns:a16="http://schemas.microsoft.com/office/drawing/2014/main" id="{39BA14FE-EB9D-AFA7-C8A8-0F9BEE7649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6" name="Rectangle 26">
            <a:extLst>
              <a:ext uri="{FF2B5EF4-FFF2-40B4-BE49-F238E27FC236}">
                <a16:creationId xmlns:a16="http://schemas.microsoft.com/office/drawing/2014/main" id="{EB1EBFF5-BB4E-317F-85CF-09ADDD84A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7" name="Rectangle 27">
            <a:extLst>
              <a:ext uri="{FF2B5EF4-FFF2-40B4-BE49-F238E27FC236}">
                <a16:creationId xmlns:a16="http://schemas.microsoft.com/office/drawing/2014/main" id="{67A7A1DA-D62D-F18A-370E-CADF1B60C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30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48" name="Rectangle 28">
            <a:extLst>
              <a:ext uri="{FF2B5EF4-FFF2-40B4-BE49-F238E27FC236}">
                <a16:creationId xmlns:a16="http://schemas.microsoft.com/office/drawing/2014/main" id="{E9063A95-AE25-A863-ED41-C7233592A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5149" name="Rectangle 29">
            <a:extLst>
              <a:ext uri="{FF2B5EF4-FFF2-40B4-BE49-F238E27FC236}">
                <a16:creationId xmlns:a16="http://schemas.microsoft.com/office/drawing/2014/main" id="{A0E74330-2429-FB0A-0476-2D552C2CF7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5152" name="Group 32">
            <a:extLst>
              <a:ext uri="{FF2B5EF4-FFF2-40B4-BE49-F238E27FC236}">
                <a16:creationId xmlns:a16="http://schemas.microsoft.com/office/drawing/2014/main" id="{0D3586A6-0628-60C3-C708-79726E688F50}"/>
              </a:ext>
            </a:extLst>
          </p:cNvPr>
          <p:cNvGrpSpPr>
            <a:grpSpLocks/>
          </p:cNvGrpSpPr>
          <p:nvPr/>
        </p:nvGrpSpPr>
        <p:grpSpPr bwMode="auto">
          <a:xfrm>
            <a:off x="2308225" y="517525"/>
            <a:ext cx="693738" cy="149225"/>
            <a:chOff x="1454" y="326"/>
            <a:chExt cx="437" cy="94"/>
          </a:xfrm>
        </p:grpSpPr>
        <p:sp>
          <p:nvSpPr>
            <p:cNvPr id="5150" name="Rectangle 30">
              <a:extLst>
                <a:ext uri="{FF2B5EF4-FFF2-40B4-BE49-F238E27FC236}">
                  <a16:creationId xmlns:a16="http://schemas.microsoft.com/office/drawing/2014/main" id="{E2D3CA85-E842-A002-E3F6-A3A26B5B74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4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151" name="Rectangle 31">
              <a:extLst>
                <a:ext uri="{FF2B5EF4-FFF2-40B4-BE49-F238E27FC236}">
                  <a16:creationId xmlns:a16="http://schemas.microsoft.com/office/drawing/2014/main" id="{32716A35-2298-FF1A-C743-FCE58746A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5153" name="Rectangle 33">
            <a:extLst>
              <a:ext uri="{FF2B5EF4-FFF2-40B4-BE49-F238E27FC236}">
                <a16:creationId xmlns:a16="http://schemas.microsoft.com/office/drawing/2014/main" id="{D9F3A5B9-178B-A562-0A26-098DED696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5156" name="Group 36">
            <a:extLst>
              <a:ext uri="{FF2B5EF4-FFF2-40B4-BE49-F238E27FC236}">
                <a16:creationId xmlns:a16="http://schemas.microsoft.com/office/drawing/2014/main" id="{A27421A2-307B-6402-4226-6E8B703BA479}"/>
              </a:ext>
            </a:extLst>
          </p:cNvPr>
          <p:cNvGrpSpPr>
            <a:grpSpLocks/>
          </p:cNvGrpSpPr>
          <p:nvPr/>
        </p:nvGrpSpPr>
        <p:grpSpPr bwMode="auto">
          <a:xfrm>
            <a:off x="3008313" y="517525"/>
            <a:ext cx="693737" cy="149225"/>
            <a:chOff x="1895" y="326"/>
            <a:chExt cx="437" cy="94"/>
          </a:xfrm>
        </p:grpSpPr>
        <p:sp>
          <p:nvSpPr>
            <p:cNvPr id="5154" name="Rectangle 34">
              <a:extLst>
                <a:ext uri="{FF2B5EF4-FFF2-40B4-BE49-F238E27FC236}">
                  <a16:creationId xmlns:a16="http://schemas.microsoft.com/office/drawing/2014/main" id="{72FC06AA-DC8B-3A84-CAA0-F0D08ED5B6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155" name="Rectangle 35">
              <a:extLst>
                <a:ext uri="{FF2B5EF4-FFF2-40B4-BE49-F238E27FC236}">
                  <a16:creationId xmlns:a16="http://schemas.microsoft.com/office/drawing/2014/main" id="{E78F6E45-4863-11EF-946C-BB6C72FDE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5157" name="Rectangle 37">
            <a:extLst>
              <a:ext uri="{FF2B5EF4-FFF2-40B4-BE49-F238E27FC236}">
                <a16:creationId xmlns:a16="http://schemas.microsoft.com/office/drawing/2014/main" id="{C32E5B46-A1CB-5CCB-2EE2-88F104FF0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5160" name="Group 40">
            <a:extLst>
              <a:ext uri="{FF2B5EF4-FFF2-40B4-BE49-F238E27FC236}">
                <a16:creationId xmlns:a16="http://schemas.microsoft.com/office/drawing/2014/main" id="{A5E6E1F8-3F92-016A-4852-413BC5BBB0E0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517525"/>
            <a:ext cx="693737" cy="149225"/>
            <a:chOff x="2333" y="326"/>
            <a:chExt cx="437" cy="94"/>
          </a:xfrm>
        </p:grpSpPr>
        <p:sp>
          <p:nvSpPr>
            <p:cNvPr id="5158" name="Rectangle 38">
              <a:extLst>
                <a:ext uri="{FF2B5EF4-FFF2-40B4-BE49-F238E27FC236}">
                  <a16:creationId xmlns:a16="http://schemas.microsoft.com/office/drawing/2014/main" id="{82743600-E010-DDA5-1E48-8422897C85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5159" name="Rectangle 39">
              <a:extLst>
                <a:ext uri="{FF2B5EF4-FFF2-40B4-BE49-F238E27FC236}">
                  <a16:creationId xmlns:a16="http://schemas.microsoft.com/office/drawing/2014/main" id="{64BEF944-3734-78F7-B3C4-6A1DE4711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5161" name="Freeform 41">
            <a:extLst>
              <a:ext uri="{FF2B5EF4-FFF2-40B4-BE49-F238E27FC236}">
                <a16:creationId xmlns:a16="http://schemas.microsoft.com/office/drawing/2014/main" id="{5B06F903-0CFB-EFBB-2469-927A4508EEBF}"/>
              </a:ext>
            </a:extLst>
          </p:cNvPr>
          <p:cNvSpPr>
            <a:spLocks/>
          </p:cNvSpPr>
          <p:nvPr/>
        </p:nvSpPr>
        <p:spPr bwMode="auto">
          <a:xfrm>
            <a:off x="4233863" y="187325"/>
            <a:ext cx="249237" cy="785813"/>
          </a:xfrm>
          <a:custGeom>
            <a:avLst/>
            <a:gdLst>
              <a:gd name="T0" fmla="*/ 144 w 157"/>
              <a:gd name="T1" fmla="*/ 0 h 495"/>
              <a:gd name="T2" fmla="*/ 63 w 157"/>
              <a:gd name="T3" fmla="*/ 0 h 495"/>
              <a:gd name="T4" fmla="*/ 54 w 157"/>
              <a:gd name="T5" fmla="*/ 28 h 495"/>
              <a:gd name="T6" fmla="*/ 42 w 157"/>
              <a:gd name="T7" fmla="*/ 33 h 495"/>
              <a:gd name="T8" fmla="*/ 36 w 157"/>
              <a:gd name="T9" fmla="*/ 45 h 495"/>
              <a:gd name="T10" fmla="*/ 24 w 157"/>
              <a:gd name="T11" fmla="*/ 51 h 495"/>
              <a:gd name="T12" fmla="*/ 18 w 157"/>
              <a:gd name="T13" fmla="*/ 63 h 495"/>
              <a:gd name="T14" fmla="*/ 30 w 157"/>
              <a:gd name="T15" fmla="*/ 68 h 495"/>
              <a:gd name="T16" fmla="*/ 42 w 157"/>
              <a:gd name="T17" fmla="*/ 74 h 495"/>
              <a:gd name="T18" fmla="*/ 48 w 157"/>
              <a:gd name="T19" fmla="*/ 86 h 495"/>
              <a:gd name="T20" fmla="*/ 54 w 157"/>
              <a:gd name="T21" fmla="*/ 98 h 495"/>
              <a:gd name="T22" fmla="*/ 42 w 157"/>
              <a:gd name="T23" fmla="*/ 98 h 495"/>
              <a:gd name="T24" fmla="*/ 30 w 157"/>
              <a:gd name="T25" fmla="*/ 109 h 495"/>
              <a:gd name="T26" fmla="*/ 24 w 157"/>
              <a:gd name="T27" fmla="*/ 121 h 495"/>
              <a:gd name="T28" fmla="*/ 12 w 157"/>
              <a:gd name="T29" fmla="*/ 132 h 495"/>
              <a:gd name="T30" fmla="*/ 6 w 157"/>
              <a:gd name="T31" fmla="*/ 144 h 495"/>
              <a:gd name="T32" fmla="*/ 18 w 157"/>
              <a:gd name="T33" fmla="*/ 150 h 495"/>
              <a:gd name="T34" fmla="*/ 30 w 157"/>
              <a:gd name="T35" fmla="*/ 162 h 495"/>
              <a:gd name="T36" fmla="*/ 42 w 157"/>
              <a:gd name="T37" fmla="*/ 167 h 495"/>
              <a:gd name="T38" fmla="*/ 42 w 157"/>
              <a:gd name="T39" fmla="*/ 179 h 495"/>
              <a:gd name="T40" fmla="*/ 36 w 157"/>
              <a:gd name="T41" fmla="*/ 191 h 495"/>
              <a:gd name="T42" fmla="*/ 24 w 157"/>
              <a:gd name="T43" fmla="*/ 191 h 495"/>
              <a:gd name="T44" fmla="*/ 18 w 157"/>
              <a:gd name="T45" fmla="*/ 202 h 495"/>
              <a:gd name="T46" fmla="*/ 12 w 157"/>
              <a:gd name="T47" fmla="*/ 214 h 495"/>
              <a:gd name="T48" fmla="*/ 12 w 157"/>
              <a:gd name="T49" fmla="*/ 226 h 495"/>
              <a:gd name="T50" fmla="*/ 12 w 157"/>
              <a:gd name="T51" fmla="*/ 237 h 495"/>
              <a:gd name="T52" fmla="*/ 6 w 157"/>
              <a:gd name="T53" fmla="*/ 249 h 495"/>
              <a:gd name="T54" fmla="*/ 0 w 157"/>
              <a:gd name="T55" fmla="*/ 261 h 495"/>
              <a:gd name="T56" fmla="*/ 0 w 157"/>
              <a:gd name="T57" fmla="*/ 272 h 495"/>
              <a:gd name="T58" fmla="*/ 6 w 157"/>
              <a:gd name="T59" fmla="*/ 284 h 495"/>
              <a:gd name="T60" fmla="*/ 18 w 157"/>
              <a:gd name="T61" fmla="*/ 290 h 495"/>
              <a:gd name="T62" fmla="*/ 30 w 157"/>
              <a:gd name="T63" fmla="*/ 296 h 495"/>
              <a:gd name="T64" fmla="*/ 36 w 157"/>
              <a:gd name="T65" fmla="*/ 307 h 495"/>
              <a:gd name="T66" fmla="*/ 42 w 157"/>
              <a:gd name="T67" fmla="*/ 319 h 495"/>
              <a:gd name="T68" fmla="*/ 48 w 157"/>
              <a:gd name="T69" fmla="*/ 330 h 495"/>
              <a:gd name="T70" fmla="*/ 36 w 157"/>
              <a:gd name="T71" fmla="*/ 342 h 495"/>
              <a:gd name="T72" fmla="*/ 24 w 157"/>
              <a:gd name="T73" fmla="*/ 348 h 495"/>
              <a:gd name="T74" fmla="*/ 12 w 157"/>
              <a:gd name="T75" fmla="*/ 354 h 495"/>
              <a:gd name="T76" fmla="*/ 18 w 157"/>
              <a:gd name="T77" fmla="*/ 365 h 495"/>
              <a:gd name="T78" fmla="*/ 24 w 157"/>
              <a:gd name="T79" fmla="*/ 377 h 495"/>
              <a:gd name="T80" fmla="*/ 36 w 157"/>
              <a:gd name="T81" fmla="*/ 383 h 495"/>
              <a:gd name="T82" fmla="*/ 42 w 157"/>
              <a:gd name="T83" fmla="*/ 395 h 495"/>
              <a:gd name="T84" fmla="*/ 36 w 157"/>
              <a:gd name="T85" fmla="*/ 406 h 495"/>
              <a:gd name="T86" fmla="*/ 30 w 157"/>
              <a:gd name="T87" fmla="*/ 418 h 495"/>
              <a:gd name="T88" fmla="*/ 18 w 157"/>
              <a:gd name="T89" fmla="*/ 418 h 495"/>
              <a:gd name="T90" fmla="*/ 6 w 157"/>
              <a:gd name="T91" fmla="*/ 429 h 495"/>
              <a:gd name="T92" fmla="*/ 6 w 157"/>
              <a:gd name="T93" fmla="*/ 441 h 495"/>
              <a:gd name="T94" fmla="*/ 18 w 157"/>
              <a:gd name="T95" fmla="*/ 447 h 495"/>
              <a:gd name="T96" fmla="*/ 24 w 157"/>
              <a:gd name="T97" fmla="*/ 459 h 495"/>
              <a:gd name="T98" fmla="*/ 30 w 157"/>
              <a:gd name="T99" fmla="*/ 470 h 495"/>
              <a:gd name="T100" fmla="*/ 60 w 157"/>
              <a:gd name="T101" fmla="*/ 491 h 495"/>
              <a:gd name="T102" fmla="*/ 156 w 157"/>
              <a:gd name="T103" fmla="*/ 494 h 495"/>
              <a:gd name="T104" fmla="*/ 156 w 157"/>
              <a:gd name="T105" fmla="*/ 0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7" h="495">
                <a:moveTo>
                  <a:pt x="144" y="0"/>
                </a:moveTo>
                <a:lnTo>
                  <a:pt x="63" y="0"/>
                </a:lnTo>
                <a:lnTo>
                  <a:pt x="54" y="28"/>
                </a:lnTo>
                <a:lnTo>
                  <a:pt x="42" y="33"/>
                </a:lnTo>
                <a:lnTo>
                  <a:pt x="36" y="45"/>
                </a:lnTo>
                <a:lnTo>
                  <a:pt x="24" y="51"/>
                </a:lnTo>
                <a:lnTo>
                  <a:pt x="18" y="63"/>
                </a:lnTo>
                <a:lnTo>
                  <a:pt x="30" y="68"/>
                </a:lnTo>
                <a:lnTo>
                  <a:pt x="42" y="74"/>
                </a:lnTo>
                <a:lnTo>
                  <a:pt x="48" y="86"/>
                </a:lnTo>
                <a:lnTo>
                  <a:pt x="54" y="98"/>
                </a:lnTo>
                <a:lnTo>
                  <a:pt x="42" y="98"/>
                </a:lnTo>
                <a:lnTo>
                  <a:pt x="30" y="109"/>
                </a:lnTo>
                <a:lnTo>
                  <a:pt x="24" y="121"/>
                </a:lnTo>
                <a:lnTo>
                  <a:pt x="12" y="132"/>
                </a:lnTo>
                <a:lnTo>
                  <a:pt x="6" y="144"/>
                </a:lnTo>
                <a:lnTo>
                  <a:pt x="18" y="150"/>
                </a:lnTo>
                <a:lnTo>
                  <a:pt x="30" y="162"/>
                </a:lnTo>
                <a:lnTo>
                  <a:pt x="42" y="167"/>
                </a:lnTo>
                <a:lnTo>
                  <a:pt x="42" y="179"/>
                </a:lnTo>
                <a:lnTo>
                  <a:pt x="36" y="191"/>
                </a:lnTo>
                <a:lnTo>
                  <a:pt x="24" y="191"/>
                </a:lnTo>
                <a:lnTo>
                  <a:pt x="18" y="202"/>
                </a:lnTo>
                <a:lnTo>
                  <a:pt x="12" y="214"/>
                </a:lnTo>
                <a:lnTo>
                  <a:pt x="12" y="226"/>
                </a:lnTo>
                <a:lnTo>
                  <a:pt x="12" y="237"/>
                </a:lnTo>
                <a:lnTo>
                  <a:pt x="6" y="249"/>
                </a:lnTo>
                <a:lnTo>
                  <a:pt x="0" y="261"/>
                </a:lnTo>
                <a:lnTo>
                  <a:pt x="0" y="272"/>
                </a:lnTo>
                <a:lnTo>
                  <a:pt x="6" y="284"/>
                </a:lnTo>
                <a:lnTo>
                  <a:pt x="18" y="290"/>
                </a:lnTo>
                <a:lnTo>
                  <a:pt x="30" y="296"/>
                </a:lnTo>
                <a:lnTo>
                  <a:pt x="36" y="307"/>
                </a:lnTo>
                <a:lnTo>
                  <a:pt x="42" y="319"/>
                </a:lnTo>
                <a:lnTo>
                  <a:pt x="48" y="330"/>
                </a:lnTo>
                <a:lnTo>
                  <a:pt x="36" y="342"/>
                </a:lnTo>
                <a:lnTo>
                  <a:pt x="24" y="348"/>
                </a:lnTo>
                <a:lnTo>
                  <a:pt x="12" y="354"/>
                </a:lnTo>
                <a:lnTo>
                  <a:pt x="18" y="365"/>
                </a:lnTo>
                <a:lnTo>
                  <a:pt x="24" y="377"/>
                </a:lnTo>
                <a:lnTo>
                  <a:pt x="36" y="383"/>
                </a:lnTo>
                <a:lnTo>
                  <a:pt x="42" y="395"/>
                </a:lnTo>
                <a:lnTo>
                  <a:pt x="36" y="406"/>
                </a:lnTo>
                <a:lnTo>
                  <a:pt x="30" y="418"/>
                </a:lnTo>
                <a:lnTo>
                  <a:pt x="18" y="418"/>
                </a:lnTo>
                <a:lnTo>
                  <a:pt x="6" y="429"/>
                </a:lnTo>
                <a:lnTo>
                  <a:pt x="6" y="441"/>
                </a:lnTo>
                <a:lnTo>
                  <a:pt x="18" y="447"/>
                </a:lnTo>
                <a:lnTo>
                  <a:pt x="24" y="459"/>
                </a:lnTo>
                <a:lnTo>
                  <a:pt x="30" y="470"/>
                </a:lnTo>
                <a:lnTo>
                  <a:pt x="60" y="491"/>
                </a:lnTo>
                <a:lnTo>
                  <a:pt x="156" y="494"/>
                </a:lnTo>
                <a:lnTo>
                  <a:pt x="156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62" name="Rectangle 42">
            <a:extLst>
              <a:ext uri="{FF2B5EF4-FFF2-40B4-BE49-F238E27FC236}">
                <a16:creationId xmlns:a16="http://schemas.microsoft.com/office/drawing/2014/main" id="{12D9001C-D5F6-381B-84D1-C6C35F5E7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169863"/>
            <a:ext cx="142875" cy="819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3" name="AutoShape 43">
            <a:extLst>
              <a:ext uri="{FF2B5EF4-FFF2-40B4-BE49-F238E27FC236}">
                <a16:creationId xmlns:a16="http://schemas.microsoft.com/office/drawing/2014/main" id="{07D0AB32-A422-1E35-BFCA-682AD44E3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501650"/>
            <a:ext cx="168275" cy="139700"/>
          </a:xfrm>
          <a:prstGeom prst="rightArrow">
            <a:avLst>
              <a:gd name="adj1" fmla="val 50000"/>
              <a:gd name="adj2" fmla="val 60233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2700" dir="54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5164" name="Rectangle 44">
            <a:extLst>
              <a:ext uri="{FF2B5EF4-FFF2-40B4-BE49-F238E27FC236}">
                <a16:creationId xmlns:a16="http://schemas.microsoft.com/office/drawing/2014/main" id="{5A0FFA47-5BE8-3706-4035-E02888B94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2192338"/>
            <a:ext cx="3278188" cy="117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ZEROS TO County(1)</a:t>
            </a:r>
            <a:endParaRPr lang="en-US" altLang="en-US" sz="14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Age(2,3)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PopTotal(2,2,1)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26 TO PopTotal(2,3,1)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12 TO PopTotal(2,1,1) 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PopulationTable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6DBB631-1A9A-91A4-9337-6DF49299D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982663"/>
            <a:ext cx="3460750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01 PopulationTable.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02 County OCCURS 26 TIMES.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6633"/>
                </a:solidFill>
                <a:latin typeface="Courier New" panose="02070309020205020404" pitchFamily="49" charset="0"/>
              </a:rPr>
              <a:t>      03 Age OCCURS 3 TIMES.</a:t>
            </a:r>
            <a:endParaRPr lang="en-US" altLang="en-US" sz="1200" b="1">
              <a:solidFill>
                <a:srgbClr val="0099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chemeClr val="accent2"/>
                </a:solidFill>
                <a:latin typeface="Courier New" panose="02070309020205020404" pitchFamily="49" charset="0"/>
              </a:rPr>
              <a:t>         04 Gender OCCURS 2 TIMES.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         </a:t>
            </a:r>
            <a:r>
              <a:rPr lang="en-US" altLang="en-US" sz="1200" b="1">
                <a:solidFill>
                  <a:srgbClr val="393939"/>
                </a:solidFill>
                <a:latin typeface="Courier New" panose="02070309020205020404" pitchFamily="49" charset="0"/>
              </a:rPr>
              <a:t>05 PopTotal   PIC 9(6).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ACAE396-F460-1E49-7323-FDE8E4F4B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2CB5C5F6-1C2E-55E1-231A-B66F2A2750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4DCC7661-63DC-99D2-E399-5A72EAAE5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6028EE97-B1DC-82FC-44D2-56568EAAC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4E1E1E1-A1AF-8C39-C8FB-01B046C1F7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2F6B7383-3E0B-E842-3A1E-F2CB270D5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92519D4C-E575-7BDA-DCC7-B79585D731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6154" name="Rectangle 10">
            <a:extLst>
              <a:ext uri="{FF2B5EF4-FFF2-40B4-BE49-F238E27FC236}">
                <a16:creationId xmlns:a16="http://schemas.microsoft.com/office/drawing/2014/main" id="{7C088197-563A-4E63-2761-1E43ABD98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6157" name="Group 13">
            <a:extLst>
              <a:ext uri="{FF2B5EF4-FFF2-40B4-BE49-F238E27FC236}">
                <a16:creationId xmlns:a16="http://schemas.microsoft.com/office/drawing/2014/main" id="{B981F854-8CBF-BF87-FAE6-A7CAFA83AAB6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517525"/>
            <a:ext cx="693738" cy="149225"/>
            <a:chOff x="136" y="326"/>
            <a:chExt cx="437" cy="94"/>
          </a:xfrm>
        </p:grpSpPr>
        <p:sp>
          <p:nvSpPr>
            <p:cNvPr id="6155" name="Rectangle 11">
              <a:extLst>
                <a:ext uri="{FF2B5EF4-FFF2-40B4-BE49-F238E27FC236}">
                  <a16:creationId xmlns:a16="http://schemas.microsoft.com/office/drawing/2014/main" id="{AAB2FAF4-BFB6-6702-0EC9-A5D91E05C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6156" name="Rectangle 12">
              <a:extLst>
                <a:ext uri="{FF2B5EF4-FFF2-40B4-BE49-F238E27FC236}">
                  <a16:creationId xmlns:a16="http://schemas.microsoft.com/office/drawing/2014/main" id="{A433EAFF-D611-338F-DC6B-9F62BEA20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6158" name="Rectangle 14">
            <a:extLst>
              <a:ext uri="{FF2B5EF4-FFF2-40B4-BE49-F238E27FC236}">
                <a16:creationId xmlns:a16="http://schemas.microsoft.com/office/drawing/2014/main" id="{3CA7608E-7787-9937-5EA8-8630325C4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6161" name="Group 17">
            <a:extLst>
              <a:ext uri="{FF2B5EF4-FFF2-40B4-BE49-F238E27FC236}">
                <a16:creationId xmlns:a16="http://schemas.microsoft.com/office/drawing/2014/main" id="{6EF570C6-FDAF-FD98-2FB1-B3DF7B80E3D7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517525"/>
            <a:ext cx="693737" cy="149225"/>
            <a:chOff x="577" y="326"/>
            <a:chExt cx="437" cy="94"/>
          </a:xfrm>
        </p:grpSpPr>
        <p:sp>
          <p:nvSpPr>
            <p:cNvPr id="6159" name="Rectangle 15">
              <a:extLst>
                <a:ext uri="{FF2B5EF4-FFF2-40B4-BE49-F238E27FC236}">
                  <a16:creationId xmlns:a16="http://schemas.microsoft.com/office/drawing/2014/main" id="{32BA35B1-A393-032B-4546-67A6478BFB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6160" name="Rectangle 16">
              <a:extLst>
                <a:ext uri="{FF2B5EF4-FFF2-40B4-BE49-F238E27FC236}">
                  <a16:creationId xmlns:a16="http://schemas.microsoft.com/office/drawing/2014/main" id="{07A3C014-33FC-1A0F-2C87-DDE751B02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6162" name="Rectangle 18">
            <a:extLst>
              <a:ext uri="{FF2B5EF4-FFF2-40B4-BE49-F238E27FC236}">
                <a16:creationId xmlns:a16="http://schemas.microsoft.com/office/drawing/2014/main" id="{09335194-4F44-1CE4-D40F-E0898AB86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6165" name="Group 21">
            <a:extLst>
              <a:ext uri="{FF2B5EF4-FFF2-40B4-BE49-F238E27FC236}">
                <a16:creationId xmlns:a16="http://schemas.microsoft.com/office/drawing/2014/main" id="{071BC3F5-25FA-BA4C-3E95-A7B69B40DA66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517525"/>
            <a:ext cx="693737" cy="149225"/>
            <a:chOff x="1015" y="326"/>
            <a:chExt cx="437" cy="94"/>
          </a:xfrm>
        </p:grpSpPr>
        <p:sp>
          <p:nvSpPr>
            <p:cNvPr id="6163" name="Rectangle 19">
              <a:extLst>
                <a:ext uri="{FF2B5EF4-FFF2-40B4-BE49-F238E27FC236}">
                  <a16:creationId xmlns:a16="http://schemas.microsoft.com/office/drawing/2014/main" id="{F2E53FE2-826F-ACD1-7FA6-8D7473A3C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6164" name="Rectangle 20">
              <a:extLst>
                <a:ext uri="{FF2B5EF4-FFF2-40B4-BE49-F238E27FC236}">
                  <a16:creationId xmlns:a16="http://schemas.microsoft.com/office/drawing/2014/main" id="{890DFAAD-8516-9A84-E2D6-066AEC811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6166" name="Rectangle 22">
            <a:extLst>
              <a:ext uri="{FF2B5EF4-FFF2-40B4-BE49-F238E27FC236}">
                <a16:creationId xmlns:a16="http://schemas.microsoft.com/office/drawing/2014/main" id="{FC9B3A8C-8DF9-50A2-46F3-B3FC6265D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7" name="Rectangle 23">
            <a:extLst>
              <a:ext uri="{FF2B5EF4-FFF2-40B4-BE49-F238E27FC236}">
                <a16:creationId xmlns:a16="http://schemas.microsoft.com/office/drawing/2014/main" id="{15B55224-AC6D-C736-E3FF-827B5D008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8" name="Rectangle 24">
            <a:extLst>
              <a:ext uri="{FF2B5EF4-FFF2-40B4-BE49-F238E27FC236}">
                <a16:creationId xmlns:a16="http://schemas.microsoft.com/office/drawing/2014/main" id="{67D403D0-DD0A-E616-9FF2-22FCF0B3D9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9" name="Rectangle 25">
            <a:extLst>
              <a:ext uri="{FF2B5EF4-FFF2-40B4-BE49-F238E27FC236}">
                <a16:creationId xmlns:a16="http://schemas.microsoft.com/office/drawing/2014/main" id="{13AC8D3F-97CA-1B8A-2BA7-446C09C61B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0" name="Rectangle 26">
            <a:extLst>
              <a:ext uri="{FF2B5EF4-FFF2-40B4-BE49-F238E27FC236}">
                <a16:creationId xmlns:a16="http://schemas.microsoft.com/office/drawing/2014/main" id="{5ABDC9BD-C3DE-33CE-958A-0EC78A54D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6171" name="Rectangle 27">
            <a:extLst>
              <a:ext uri="{FF2B5EF4-FFF2-40B4-BE49-F238E27FC236}">
                <a16:creationId xmlns:a16="http://schemas.microsoft.com/office/drawing/2014/main" id="{0BE9A9A6-0D2B-19F2-EC9E-9F7D07696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30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6172" name="Rectangle 28">
            <a:extLst>
              <a:ext uri="{FF2B5EF4-FFF2-40B4-BE49-F238E27FC236}">
                <a16:creationId xmlns:a16="http://schemas.microsoft.com/office/drawing/2014/main" id="{85E170C0-C8BB-77A8-ED5E-53CB1487C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6173" name="Rectangle 29">
            <a:extLst>
              <a:ext uri="{FF2B5EF4-FFF2-40B4-BE49-F238E27FC236}">
                <a16:creationId xmlns:a16="http://schemas.microsoft.com/office/drawing/2014/main" id="{0B2876CC-C730-C071-F783-2E79CDF15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6176" name="Group 32">
            <a:extLst>
              <a:ext uri="{FF2B5EF4-FFF2-40B4-BE49-F238E27FC236}">
                <a16:creationId xmlns:a16="http://schemas.microsoft.com/office/drawing/2014/main" id="{678FD219-4F3F-2A0F-56D5-C42D4A39B744}"/>
              </a:ext>
            </a:extLst>
          </p:cNvPr>
          <p:cNvGrpSpPr>
            <a:grpSpLocks/>
          </p:cNvGrpSpPr>
          <p:nvPr/>
        </p:nvGrpSpPr>
        <p:grpSpPr bwMode="auto">
          <a:xfrm>
            <a:off x="2308225" y="517525"/>
            <a:ext cx="693738" cy="149225"/>
            <a:chOff x="1454" y="326"/>
            <a:chExt cx="437" cy="94"/>
          </a:xfrm>
        </p:grpSpPr>
        <p:sp>
          <p:nvSpPr>
            <p:cNvPr id="6174" name="Rectangle 30">
              <a:extLst>
                <a:ext uri="{FF2B5EF4-FFF2-40B4-BE49-F238E27FC236}">
                  <a16:creationId xmlns:a16="http://schemas.microsoft.com/office/drawing/2014/main" id="{3900A7E7-BD0F-95E9-BAB6-9FCFB05DEF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4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6175" name="Rectangle 31">
              <a:extLst>
                <a:ext uri="{FF2B5EF4-FFF2-40B4-BE49-F238E27FC236}">
                  <a16:creationId xmlns:a16="http://schemas.microsoft.com/office/drawing/2014/main" id="{650CB643-E17D-FC9E-B4E8-4A1D26528E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6177" name="Rectangle 33">
            <a:extLst>
              <a:ext uri="{FF2B5EF4-FFF2-40B4-BE49-F238E27FC236}">
                <a16:creationId xmlns:a16="http://schemas.microsoft.com/office/drawing/2014/main" id="{A8152C17-9E2F-7388-6AFF-99A2277304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6180" name="Group 36">
            <a:extLst>
              <a:ext uri="{FF2B5EF4-FFF2-40B4-BE49-F238E27FC236}">
                <a16:creationId xmlns:a16="http://schemas.microsoft.com/office/drawing/2014/main" id="{9887BE11-DCC6-74DC-D2FD-60C0798DC2F7}"/>
              </a:ext>
            </a:extLst>
          </p:cNvPr>
          <p:cNvGrpSpPr>
            <a:grpSpLocks/>
          </p:cNvGrpSpPr>
          <p:nvPr/>
        </p:nvGrpSpPr>
        <p:grpSpPr bwMode="auto">
          <a:xfrm>
            <a:off x="3008313" y="517525"/>
            <a:ext cx="693737" cy="149225"/>
            <a:chOff x="1895" y="326"/>
            <a:chExt cx="437" cy="94"/>
          </a:xfrm>
        </p:grpSpPr>
        <p:sp>
          <p:nvSpPr>
            <p:cNvPr id="6178" name="Rectangle 34">
              <a:extLst>
                <a:ext uri="{FF2B5EF4-FFF2-40B4-BE49-F238E27FC236}">
                  <a16:creationId xmlns:a16="http://schemas.microsoft.com/office/drawing/2014/main" id="{60BC5592-6FA1-70F0-AD5C-3894D741F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6179" name="Rectangle 35">
              <a:extLst>
                <a:ext uri="{FF2B5EF4-FFF2-40B4-BE49-F238E27FC236}">
                  <a16:creationId xmlns:a16="http://schemas.microsoft.com/office/drawing/2014/main" id="{3A2E387D-2A75-08CD-4175-85D0248FE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6181" name="Rectangle 37">
            <a:extLst>
              <a:ext uri="{FF2B5EF4-FFF2-40B4-BE49-F238E27FC236}">
                <a16:creationId xmlns:a16="http://schemas.microsoft.com/office/drawing/2014/main" id="{17660A5F-0062-7543-B527-668545F01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6184" name="Group 40">
            <a:extLst>
              <a:ext uri="{FF2B5EF4-FFF2-40B4-BE49-F238E27FC236}">
                <a16:creationId xmlns:a16="http://schemas.microsoft.com/office/drawing/2014/main" id="{BA457F6D-2A0B-DB2B-31A4-739355422789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517525"/>
            <a:ext cx="693737" cy="149225"/>
            <a:chOff x="2333" y="326"/>
            <a:chExt cx="437" cy="94"/>
          </a:xfrm>
        </p:grpSpPr>
        <p:sp>
          <p:nvSpPr>
            <p:cNvPr id="6182" name="Rectangle 38">
              <a:extLst>
                <a:ext uri="{FF2B5EF4-FFF2-40B4-BE49-F238E27FC236}">
                  <a16:creationId xmlns:a16="http://schemas.microsoft.com/office/drawing/2014/main" id="{7A0B916A-9FFE-2E66-655B-ED122CC25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6183" name="Rectangle 39">
              <a:extLst>
                <a:ext uri="{FF2B5EF4-FFF2-40B4-BE49-F238E27FC236}">
                  <a16:creationId xmlns:a16="http://schemas.microsoft.com/office/drawing/2014/main" id="{26AA7DE4-493E-AAC0-12AE-6C6AF3B59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6185" name="Freeform 41">
            <a:extLst>
              <a:ext uri="{FF2B5EF4-FFF2-40B4-BE49-F238E27FC236}">
                <a16:creationId xmlns:a16="http://schemas.microsoft.com/office/drawing/2014/main" id="{70368AFC-ECCF-80EC-FBB3-B4E8F77036A2}"/>
              </a:ext>
            </a:extLst>
          </p:cNvPr>
          <p:cNvSpPr>
            <a:spLocks/>
          </p:cNvSpPr>
          <p:nvPr/>
        </p:nvSpPr>
        <p:spPr bwMode="auto">
          <a:xfrm>
            <a:off x="4233863" y="187325"/>
            <a:ext cx="249237" cy="785813"/>
          </a:xfrm>
          <a:custGeom>
            <a:avLst/>
            <a:gdLst>
              <a:gd name="T0" fmla="*/ 144 w 157"/>
              <a:gd name="T1" fmla="*/ 0 h 495"/>
              <a:gd name="T2" fmla="*/ 63 w 157"/>
              <a:gd name="T3" fmla="*/ 0 h 495"/>
              <a:gd name="T4" fmla="*/ 54 w 157"/>
              <a:gd name="T5" fmla="*/ 28 h 495"/>
              <a:gd name="T6" fmla="*/ 42 w 157"/>
              <a:gd name="T7" fmla="*/ 33 h 495"/>
              <a:gd name="T8" fmla="*/ 36 w 157"/>
              <a:gd name="T9" fmla="*/ 45 h 495"/>
              <a:gd name="T10" fmla="*/ 24 w 157"/>
              <a:gd name="T11" fmla="*/ 51 h 495"/>
              <a:gd name="T12" fmla="*/ 18 w 157"/>
              <a:gd name="T13" fmla="*/ 63 h 495"/>
              <a:gd name="T14" fmla="*/ 30 w 157"/>
              <a:gd name="T15" fmla="*/ 68 h 495"/>
              <a:gd name="T16" fmla="*/ 42 w 157"/>
              <a:gd name="T17" fmla="*/ 74 h 495"/>
              <a:gd name="T18" fmla="*/ 48 w 157"/>
              <a:gd name="T19" fmla="*/ 86 h 495"/>
              <a:gd name="T20" fmla="*/ 54 w 157"/>
              <a:gd name="T21" fmla="*/ 98 h 495"/>
              <a:gd name="T22" fmla="*/ 42 w 157"/>
              <a:gd name="T23" fmla="*/ 98 h 495"/>
              <a:gd name="T24" fmla="*/ 30 w 157"/>
              <a:gd name="T25" fmla="*/ 109 h 495"/>
              <a:gd name="T26" fmla="*/ 24 w 157"/>
              <a:gd name="T27" fmla="*/ 121 h 495"/>
              <a:gd name="T28" fmla="*/ 12 w 157"/>
              <a:gd name="T29" fmla="*/ 132 h 495"/>
              <a:gd name="T30" fmla="*/ 6 w 157"/>
              <a:gd name="T31" fmla="*/ 144 h 495"/>
              <a:gd name="T32" fmla="*/ 18 w 157"/>
              <a:gd name="T33" fmla="*/ 150 h 495"/>
              <a:gd name="T34" fmla="*/ 30 w 157"/>
              <a:gd name="T35" fmla="*/ 162 h 495"/>
              <a:gd name="T36" fmla="*/ 42 w 157"/>
              <a:gd name="T37" fmla="*/ 167 h 495"/>
              <a:gd name="T38" fmla="*/ 42 w 157"/>
              <a:gd name="T39" fmla="*/ 179 h 495"/>
              <a:gd name="T40" fmla="*/ 36 w 157"/>
              <a:gd name="T41" fmla="*/ 191 h 495"/>
              <a:gd name="T42" fmla="*/ 24 w 157"/>
              <a:gd name="T43" fmla="*/ 191 h 495"/>
              <a:gd name="T44" fmla="*/ 18 w 157"/>
              <a:gd name="T45" fmla="*/ 202 h 495"/>
              <a:gd name="T46" fmla="*/ 12 w 157"/>
              <a:gd name="T47" fmla="*/ 214 h 495"/>
              <a:gd name="T48" fmla="*/ 12 w 157"/>
              <a:gd name="T49" fmla="*/ 226 h 495"/>
              <a:gd name="T50" fmla="*/ 12 w 157"/>
              <a:gd name="T51" fmla="*/ 237 h 495"/>
              <a:gd name="T52" fmla="*/ 6 w 157"/>
              <a:gd name="T53" fmla="*/ 249 h 495"/>
              <a:gd name="T54" fmla="*/ 0 w 157"/>
              <a:gd name="T55" fmla="*/ 261 h 495"/>
              <a:gd name="T56" fmla="*/ 0 w 157"/>
              <a:gd name="T57" fmla="*/ 272 h 495"/>
              <a:gd name="T58" fmla="*/ 6 w 157"/>
              <a:gd name="T59" fmla="*/ 284 h 495"/>
              <a:gd name="T60" fmla="*/ 18 w 157"/>
              <a:gd name="T61" fmla="*/ 290 h 495"/>
              <a:gd name="T62" fmla="*/ 30 w 157"/>
              <a:gd name="T63" fmla="*/ 296 h 495"/>
              <a:gd name="T64" fmla="*/ 36 w 157"/>
              <a:gd name="T65" fmla="*/ 307 h 495"/>
              <a:gd name="T66" fmla="*/ 42 w 157"/>
              <a:gd name="T67" fmla="*/ 319 h 495"/>
              <a:gd name="T68" fmla="*/ 48 w 157"/>
              <a:gd name="T69" fmla="*/ 330 h 495"/>
              <a:gd name="T70" fmla="*/ 36 w 157"/>
              <a:gd name="T71" fmla="*/ 342 h 495"/>
              <a:gd name="T72" fmla="*/ 24 w 157"/>
              <a:gd name="T73" fmla="*/ 348 h 495"/>
              <a:gd name="T74" fmla="*/ 12 w 157"/>
              <a:gd name="T75" fmla="*/ 354 h 495"/>
              <a:gd name="T76" fmla="*/ 18 w 157"/>
              <a:gd name="T77" fmla="*/ 365 h 495"/>
              <a:gd name="T78" fmla="*/ 24 w 157"/>
              <a:gd name="T79" fmla="*/ 377 h 495"/>
              <a:gd name="T80" fmla="*/ 36 w 157"/>
              <a:gd name="T81" fmla="*/ 383 h 495"/>
              <a:gd name="T82" fmla="*/ 42 w 157"/>
              <a:gd name="T83" fmla="*/ 395 h 495"/>
              <a:gd name="T84" fmla="*/ 36 w 157"/>
              <a:gd name="T85" fmla="*/ 406 h 495"/>
              <a:gd name="T86" fmla="*/ 30 w 157"/>
              <a:gd name="T87" fmla="*/ 418 h 495"/>
              <a:gd name="T88" fmla="*/ 18 w 157"/>
              <a:gd name="T89" fmla="*/ 418 h 495"/>
              <a:gd name="T90" fmla="*/ 6 w 157"/>
              <a:gd name="T91" fmla="*/ 429 h 495"/>
              <a:gd name="T92" fmla="*/ 6 w 157"/>
              <a:gd name="T93" fmla="*/ 441 h 495"/>
              <a:gd name="T94" fmla="*/ 18 w 157"/>
              <a:gd name="T95" fmla="*/ 447 h 495"/>
              <a:gd name="T96" fmla="*/ 24 w 157"/>
              <a:gd name="T97" fmla="*/ 459 h 495"/>
              <a:gd name="T98" fmla="*/ 30 w 157"/>
              <a:gd name="T99" fmla="*/ 470 h 495"/>
              <a:gd name="T100" fmla="*/ 60 w 157"/>
              <a:gd name="T101" fmla="*/ 491 h 495"/>
              <a:gd name="T102" fmla="*/ 156 w 157"/>
              <a:gd name="T103" fmla="*/ 494 h 495"/>
              <a:gd name="T104" fmla="*/ 156 w 157"/>
              <a:gd name="T105" fmla="*/ 0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7" h="495">
                <a:moveTo>
                  <a:pt x="144" y="0"/>
                </a:moveTo>
                <a:lnTo>
                  <a:pt x="63" y="0"/>
                </a:lnTo>
                <a:lnTo>
                  <a:pt x="54" y="28"/>
                </a:lnTo>
                <a:lnTo>
                  <a:pt x="42" y="33"/>
                </a:lnTo>
                <a:lnTo>
                  <a:pt x="36" y="45"/>
                </a:lnTo>
                <a:lnTo>
                  <a:pt x="24" y="51"/>
                </a:lnTo>
                <a:lnTo>
                  <a:pt x="18" y="63"/>
                </a:lnTo>
                <a:lnTo>
                  <a:pt x="30" y="68"/>
                </a:lnTo>
                <a:lnTo>
                  <a:pt x="42" y="74"/>
                </a:lnTo>
                <a:lnTo>
                  <a:pt x="48" y="86"/>
                </a:lnTo>
                <a:lnTo>
                  <a:pt x="54" y="98"/>
                </a:lnTo>
                <a:lnTo>
                  <a:pt x="42" y="98"/>
                </a:lnTo>
                <a:lnTo>
                  <a:pt x="30" y="109"/>
                </a:lnTo>
                <a:lnTo>
                  <a:pt x="24" y="121"/>
                </a:lnTo>
                <a:lnTo>
                  <a:pt x="12" y="132"/>
                </a:lnTo>
                <a:lnTo>
                  <a:pt x="6" y="144"/>
                </a:lnTo>
                <a:lnTo>
                  <a:pt x="18" y="150"/>
                </a:lnTo>
                <a:lnTo>
                  <a:pt x="30" y="162"/>
                </a:lnTo>
                <a:lnTo>
                  <a:pt x="42" y="167"/>
                </a:lnTo>
                <a:lnTo>
                  <a:pt x="42" y="179"/>
                </a:lnTo>
                <a:lnTo>
                  <a:pt x="36" y="191"/>
                </a:lnTo>
                <a:lnTo>
                  <a:pt x="24" y="191"/>
                </a:lnTo>
                <a:lnTo>
                  <a:pt x="18" y="202"/>
                </a:lnTo>
                <a:lnTo>
                  <a:pt x="12" y="214"/>
                </a:lnTo>
                <a:lnTo>
                  <a:pt x="12" y="226"/>
                </a:lnTo>
                <a:lnTo>
                  <a:pt x="12" y="237"/>
                </a:lnTo>
                <a:lnTo>
                  <a:pt x="6" y="249"/>
                </a:lnTo>
                <a:lnTo>
                  <a:pt x="0" y="261"/>
                </a:lnTo>
                <a:lnTo>
                  <a:pt x="0" y="272"/>
                </a:lnTo>
                <a:lnTo>
                  <a:pt x="6" y="284"/>
                </a:lnTo>
                <a:lnTo>
                  <a:pt x="18" y="290"/>
                </a:lnTo>
                <a:lnTo>
                  <a:pt x="30" y="296"/>
                </a:lnTo>
                <a:lnTo>
                  <a:pt x="36" y="307"/>
                </a:lnTo>
                <a:lnTo>
                  <a:pt x="42" y="319"/>
                </a:lnTo>
                <a:lnTo>
                  <a:pt x="48" y="330"/>
                </a:lnTo>
                <a:lnTo>
                  <a:pt x="36" y="342"/>
                </a:lnTo>
                <a:lnTo>
                  <a:pt x="24" y="348"/>
                </a:lnTo>
                <a:lnTo>
                  <a:pt x="12" y="354"/>
                </a:lnTo>
                <a:lnTo>
                  <a:pt x="18" y="365"/>
                </a:lnTo>
                <a:lnTo>
                  <a:pt x="24" y="377"/>
                </a:lnTo>
                <a:lnTo>
                  <a:pt x="36" y="383"/>
                </a:lnTo>
                <a:lnTo>
                  <a:pt x="42" y="395"/>
                </a:lnTo>
                <a:lnTo>
                  <a:pt x="36" y="406"/>
                </a:lnTo>
                <a:lnTo>
                  <a:pt x="30" y="418"/>
                </a:lnTo>
                <a:lnTo>
                  <a:pt x="18" y="418"/>
                </a:lnTo>
                <a:lnTo>
                  <a:pt x="6" y="429"/>
                </a:lnTo>
                <a:lnTo>
                  <a:pt x="6" y="441"/>
                </a:lnTo>
                <a:lnTo>
                  <a:pt x="18" y="447"/>
                </a:lnTo>
                <a:lnTo>
                  <a:pt x="24" y="459"/>
                </a:lnTo>
                <a:lnTo>
                  <a:pt x="30" y="470"/>
                </a:lnTo>
                <a:lnTo>
                  <a:pt x="60" y="491"/>
                </a:lnTo>
                <a:lnTo>
                  <a:pt x="156" y="494"/>
                </a:lnTo>
                <a:lnTo>
                  <a:pt x="156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86" name="Rectangle 42">
            <a:extLst>
              <a:ext uri="{FF2B5EF4-FFF2-40B4-BE49-F238E27FC236}">
                <a16:creationId xmlns:a16="http://schemas.microsoft.com/office/drawing/2014/main" id="{FD28C13B-FE17-1F92-F3FB-E7B37A261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169863"/>
            <a:ext cx="142875" cy="819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7" name="AutoShape 43">
            <a:extLst>
              <a:ext uri="{FF2B5EF4-FFF2-40B4-BE49-F238E27FC236}">
                <a16:creationId xmlns:a16="http://schemas.microsoft.com/office/drawing/2014/main" id="{5502E245-924D-8740-77E0-898AB6ADF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501650"/>
            <a:ext cx="168275" cy="139700"/>
          </a:xfrm>
          <a:prstGeom prst="rightArrow">
            <a:avLst>
              <a:gd name="adj1" fmla="val 50000"/>
              <a:gd name="adj2" fmla="val 60233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2700" dir="54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8" name="Rectangle 44">
            <a:extLst>
              <a:ext uri="{FF2B5EF4-FFF2-40B4-BE49-F238E27FC236}">
                <a16:creationId xmlns:a16="http://schemas.microsoft.com/office/drawing/2014/main" id="{860DBAC8-3321-C7C8-556E-502BE5E82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2192338"/>
            <a:ext cx="3278188" cy="117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County(1)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ZEROS TO Age(2,</a:t>
            </a:r>
            <a:r>
              <a:rPr lang="en-US" altLang="en-US" sz="1400" b="1">
                <a:solidFill>
                  <a:srgbClr val="006633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)</a:t>
            </a:r>
            <a:endParaRPr lang="en-US" altLang="en-US" sz="14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PopTotal(2,2,1)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26 TO PopTotal(2,3,1)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12 TO PopTotal(2,1,1) 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PopulationTable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0C985AA-C8A7-6714-D6CE-45F162265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982663"/>
            <a:ext cx="3460750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01 PopulationTable.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02 County OCCURS 26 TIMES.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6633"/>
                </a:solidFill>
                <a:latin typeface="Courier New" panose="02070309020205020404" pitchFamily="49" charset="0"/>
              </a:rPr>
              <a:t>      03 Age OCCURS 3 TIMES.</a:t>
            </a:r>
            <a:endParaRPr lang="en-US" altLang="en-US" sz="1200" b="1">
              <a:solidFill>
                <a:srgbClr val="0099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chemeClr val="accent2"/>
                </a:solidFill>
                <a:latin typeface="Courier New" panose="02070309020205020404" pitchFamily="49" charset="0"/>
              </a:rPr>
              <a:t>         04 Gender OCCURS 2 TIMES.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         </a:t>
            </a:r>
            <a:r>
              <a:rPr lang="en-US" altLang="en-US" sz="1200" b="1">
                <a:solidFill>
                  <a:srgbClr val="393939"/>
                </a:solidFill>
                <a:latin typeface="Courier New" panose="02070309020205020404" pitchFamily="49" charset="0"/>
              </a:rPr>
              <a:t>05 PopTotal   PIC 9(6).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6CAD192-A4D5-A901-6B56-B86A1A2D41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2E731F29-EB8D-F95B-E1D5-6E28BD3CD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9A9E0700-BC89-A137-E868-9BACB6775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411AB0EC-A8F6-5206-91AD-4409FCBAD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4B7E6E4D-F1E7-B0DD-0378-77B318E5B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C7A12E83-AA55-E4A0-9281-7F79DB3A2D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23BE0D32-D1D2-70E8-06CF-A6B4D9883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7178" name="Rectangle 10">
            <a:extLst>
              <a:ext uri="{FF2B5EF4-FFF2-40B4-BE49-F238E27FC236}">
                <a16:creationId xmlns:a16="http://schemas.microsoft.com/office/drawing/2014/main" id="{98A0C0C6-9E8F-C62F-664D-34FB61A0C1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7181" name="Group 13">
            <a:extLst>
              <a:ext uri="{FF2B5EF4-FFF2-40B4-BE49-F238E27FC236}">
                <a16:creationId xmlns:a16="http://schemas.microsoft.com/office/drawing/2014/main" id="{3902E6DF-3EE5-26F5-4E7C-8E93681B6E15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517525"/>
            <a:ext cx="693738" cy="149225"/>
            <a:chOff x="136" y="326"/>
            <a:chExt cx="437" cy="94"/>
          </a:xfrm>
        </p:grpSpPr>
        <p:sp>
          <p:nvSpPr>
            <p:cNvPr id="7179" name="Rectangle 11">
              <a:extLst>
                <a:ext uri="{FF2B5EF4-FFF2-40B4-BE49-F238E27FC236}">
                  <a16:creationId xmlns:a16="http://schemas.microsoft.com/office/drawing/2014/main" id="{4890BE5B-674A-208D-B8A7-EB47780087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7180" name="Rectangle 12">
              <a:extLst>
                <a:ext uri="{FF2B5EF4-FFF2-40B4-BE49-F238E27FC236}">
                  <a16:creationId xmlns:a16="http://schemas.microsoft.com/office/drawing/2014/main" id="{06B906D5-8DF8-7178-52A4-D611202BE7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7182" name="Rectangle 14">
            <a:extLst>
              <a:ext uri="{FF2B5EF4-FFF2-40B4-BE49-F238E27FC236}">
                <a16:creationId xmlns:a16="http://schemas.microsoft.com/office/drawing/2014/main" id="{9C986683-AE96-3EB9-D41F-8C2088B7B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7185" name="Group 17">
            <a:extLst>
              <a:ext uri="{FF2B5EF4-FFF2-40B4-BE49-F238E27FC236}">
                <a16:creationId xmlns:a16="http://schemas.microsoft.com/office/drawing/2014/main" id="{4AA7D43A-29C5-E0B4-B74C-8995456D03B8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517525"/>
            <a:ext cx="693737" cy="149225"/>
            <a:chOff x="577" y="326"/>
            <a:chExt cx="437" cy="94"/>
          </a:xfrm>
        </p:grpSpPr>
        <p:sp>
          <p:nvSpPr>
            <p:cNvPr id="7183" name="Rectangle 15">
              <a:extLst>
                <a:ext uri="{FF2B5EF4-FFF2-40B4-BE49-F238E27FC236}">
                  <a16:creationId xmlns:a16="http://schemas.microsoft.com/office/drawing/2014/main" id="{58368983-12FC-51ED-F265-CA2B8A909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7184" name="Rectangle 16">
              <a:extLst>
                <a:ext uri="{FF2B5EF4-FFF2-40B4-BE49-F238E27FC236}">
                  <a16:creationId xmlns:a16="http://schemas.microsoft.com/office/drawing/2014/main" id="{864A273B-1E17-4E9D-AC2D-A2FA6D502A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7186" name="Rectangle 18">
            <a:extLst>
              <a:ext uri="{FF2B5EF4-FFF2-40B4-BE49-F238E27FC236}">
                <a16:creationId xmlns:a16="http://schemas.microsoft.com/office/drawing/2014/main" id="{0CD36FCF-1FB7-D736-832E-59AE4F884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7189" name="Group 21">
            <a:extLst>
              <a:ext uri="{FF2B5EF4-FFF2-40B4-BE49-F238E27FC236}">
                <a16:creationId xmlns:a16="http://schemas.microsoft.com/office/drawing/2014/main" id="{442E96D8-1DBD-E074-6036-E8F2AED8612A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517525"/>
            <a:ext cx="693737" cy="149225"/>
            <a:chOff x="1015" y="326"/>
            <a:chExt cx="437" cy="94"/>
          </a:xfrm>
        </p:grpSpPr>
        <p:sp>
          <p:nvSpPr>
            <p:cNvPr id="7187" name="Rectangle 19">
              <a:extLst>
                <a:ext uri="{FF2B5EF4-FFF2-40B4-BE49-F238E27FC236}">
                  <a16:creationId xmlns:a16="http://schemas.microsoft.com/office/drawing/2014/main" id="{EACBA5DB-8C1A-CFD5-0AE0-4DCFF7AFD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7188" name="Rectangle 20">
              <a:extLst>
                <a:ext uri="{FF2B5EF4-FFF2-40B4-BE49-F238E27FC236}">
                  <a16:creationId xmlns:a16="http://schemas.microsoft.com/office/drawing/2014/main" id="{4EADE4E9-AC6C-CF71-9DE1-3F1E5C8D81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7190" name="Rectangle 22">
            <a:extLst>
              <a:ext uri="{FF2B5EF4-FFF2-40B4-BE49-F238E27FC236}">
                <a16:creationId xmlns:a16="http://schemas.microsoft.com/office/drawing/2014/main" id="{0A5151BE-01BD-4E1C-B50D-A46FE31FA8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1" name="Rectangle 23">
            <a:extLst>
              <a:ext uri="{FF2B5EF4-FFF2-40B4-BE49-F238E27FC236}">
                <a16:creationId xmlns:a16="http://schemas.microsoft.com/office/drawing/2014/main" id="{3C7FAEA0-104E-FB34-2ED9-B320C504B1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2" name="Rectangle 24">
            <a:extLst>
              <a:ext uri="{FF2B5EF4-FFF2-40B4-BE49-F238E27FC236}">
                <a16:creationId xmlns:a16="http://schemas.microsoft.com/office/drawing/2014/main" id="{690B167F-0529-E908-FF0B-55135BDFB1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7193" name="Rectangle 25">
            <a:extLst>
              <a:ext uri="{FF2B5EF4-FFF2-40B4-BE49-F238E27FC236}">
                <a16:creationId xmlns:a16="http://schemas.microsoft.com/office/drawing/2014/main" id="{6FD3FD68-F9C0-A9E4-E8F9-FDD5A7DF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4" name="Rectangle 26">
            <a:extLst>
              <a:ext uri="{FF2B5EF4-FFF2-40B4-BE49-F238E27FC236}">
                <a16:creationId xmlns:a16="http://schemas.microsoft.com/office/drawing/2014/main" id="{16E39333-8714-7213-57AB-A32BCF03D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7195" name="Rectangle 27">
            <a:extLst>
              <a:ext uri="{FF2B5EF4-FFF2-40B4-BE49-F238E27FC236}">
                <a16:creationId xmlns:a16="http://schemas.microsoft.com/office/drawing/2014/main" id="{35D45E12-5BDC-5D23-501A-7F60E7C0E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30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7196" name="Rectangle 28">
            <a:extLst>
              <a:ext uri="{FF2B5EF4-FFF2-40B4-BE49-F238E27FC236}">
                <a16:creationId xmlns:a16="http://schemas.microsoft.com/office/drawing/2014/main" id="{30F9B12D-F73A-ADF2-78AA-1B4640AAF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7197" name="Rectangle 29">
            <a:extLst>
              <a:ext uri="{FF2B5EF4-FFF2-40B4-BE49-F238E27FC236}">
                <a16:creationId xmlns:a16="http://schemas.microsoft.com/office/drawing/2014/main" id="{918CA5D1-3F9F-633F-AC4F-1DAF7B3C0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7200" name="Group 32">
            <a:extLst>
              <a:ext uri="{FF2B5EF4-FFF2-40B4-BE49-F238E27FC236}">
                <a16:creationId xmlns:a16="http://schemas.microsoft.com/office/drawing/2014/main" id="{F9C377E4-4C06-1EB2-62CF-56009D380ADF}"/>
              </a:ext>
            </a:extLst>
          </p:cNvPr>
          <p:cNvGrpSpPr>
            <a:grpSpLocks/>
          </p:cNvGrpSpPr>
          <p:nvPr/>
        </p:nvGrpSpPr>
        <p:grpSpPr bwMode="auto">
          <a:xfrm>
            <a:off x="2308225" y="517525"/>
            <a:ext cx="693738" cy="149225"/>
            <a:chOff x="1454" y="326"/>
            <a:chExt cx="437" cy="94"/>
          </a:xfrm>
        </p:grpSpPr>
        <p:sp>
          <p:nvSpPr>
            <p:cNvPr id="7198" name="Rectangle 30">
              <a:extLst>
                <a:ext uri="{FF2B5EF4-FFF2-40B4-BE49-F238E27FC236}">
                  <a16:creationId xmlns:a16="http://schemas.microsoft.com/office/drawing/2014/main" id="{0C55AE94-BEFD-E5F5-94FF-D92E704763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4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7199" name="Rectangle 31">
              <a:extLst>
                <a:ext uri="{FF2B5EF4-FFF2-40B4-BE49-F238E27FC236}">
                  <a16:creationId xmlns:a16="http://schemas.microsoft.com/office/drawing/2014/main" id="{62C69CEC-DFEC-2B9D-6C08-EE614360DB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7201" name="Rectangle 33">
            <a:extLst>
              <a:ext uri="{FF2B5EF4-FFF2-40B4-BE49-F238E27FC236}">
                <a16:creationId xmlns:a16="http://schemas.microsoft.com/office/drawing/2014/main" id="{FC18152E-91AE-4D9A-1052-68454B0FFA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7204" name="Group 36">
            <a:extLst>
              <a:ext uri="{FF2B5EF4-FFF2-40B4-BE49-F238E27FC236}">
                <a16:creationId xmlns:a16="http://schemas.microsoft.com/office/drawing/2014/main" id="{30F5BB2D-BB17-24CB-180B-F92446A5B9B2}"/>
              </a:ext>
            </a:extLst>
          </p:cNvPr>
          <p:cNvGrpSpPr>
            <a:grpSpLocks/>
          </p:cNvGrpSpPr>
          <p:nvPr/>
        </p:nvGrpSpPr>
        <p:grpSpPr bwMode="auto">
          <a:xfrm>
            <a:off x="3008313" y="517525"/>
            <a:ext cx="693737" cy="149225"/>
            <a:chOff x="1895" y="326"/>
            <a:chExt cx="437" cy="94"/>
          </a:xfrm>
        </p:grpSpPr>
        <p:sp>
          <p:nvSpPr>
            <p:cNvPr id="7202" name="Rectangle 34">
              <a:extLst>
                <a:ext uri="{FF2B5EF4-FFF2-40B4-BE49-F238E27FC236}">
                  <a16:creationId xmlns:a16="http://schemas.microsoft.com/office/drawing/2014/main" id="{DE072B37-C81D-E3A8-D2F5-883C918E1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7203" name="Rectangle 35">
              <a:extLst>
                <a:ext uri="{FF2B5EF4-FFF2-40B4-BE49-F238E27FC236}">
                  <a16:creationId xmlns:a16="http://schemas.microsoft.com/office/drawing/2014/main" id="{C2C06417-1535-60C6-0292-D4A87F3BBB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7205" name="Rectangle 37">
            <a:extLst>
              <a:ext uri="{FF2B5EF4-FFF2-40B4-BE49-F238E27FC236}">
                <a16:creationId xmlns:a16="http://schemas.microsoft.com/office/drawing/2014/main" id="{910F82C5-5250-EC9F-A530-931B20EAFA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7208" name="Group 40">
            <a:extLst>
              <a:ext uri="{FF2B5EF4-FFF2-40B4-BE49-F238E27FC236}">
                <a16:creationId xmlns:a16="http://schemas.microsoft.com/office/drawing/2014/main" id="{B51D9B2E-E617-985E-7073-B78C0A55FE46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517525"/>
            <a:ext cx="693737" cy="149225"/>
            <a:chOff x="2333" y="326"/>
            <a:chExt cx="437" cy="94"/>
          </a:xfrm>
        </p:grpSpPr>
        <p:sp>
          <p:nvSpPr>
            <p:cNvPr id="7206" name="Rectangle 38">
              <a:extLst>
                <a:ext uri="{FF2B5EF4-FFF2-40B4-BE49-F238E27FC236}">
                  <a16:creationId xmlns:a16="http://schemas.microsoft.com/office/drawing/2014/main" id="{FE560791-423B-E432-3E71-E11C7D238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7207" name="Rectangle 39">
              <a:extLst>
                <a:ext uri="{FF2B5EF4-FFF2-40B4-BE49-F238E27FC236}">
                  <a16:creationId xmlns:a16="http://schemas.microsoft.com/office/drawing/2014/main" id="{B1521FD6-7DF3-C189-5D99-A9C97A1A52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7209" name="Freeform 41">
            <a:extLst>
              <a:ext uri="{FF2B5EF4-FFF2-40B4-BE49-F238E27FC236}">
                <a16:creationId xmlns:a16="http://schemas.microsoft.com/office/drawing/2014/main" id="{E2E5D7E0-A6BB-507B-8AF0-95CA1078286D}"/>
              </a:ext>
            </a:extLst>
          </p:cNvPr>
          <p:cNvSpPr>
            <a:spLocks/>
          </p:cNvSpPr>
          <p:nvPr/>
        </p:nvSpPr>
        <p:spPr bwMode="auto">
          <a:xfrm>
            <a:off x="4233863" y="187325"/>
            <a:ext cx="249237" cy="785813"/>
          </a:xfrm>
          <a:custGeom>
            <a:avLst/>
            <a:gdLst>
              <a:gd name="T0" fmla="*/ 144 w 157"/>
              <a:gd name="T1" fmla="*/ 0 h 495"/>
              <a:gd name="T2" fmla="*/ 63 w 157"/>
              <a:gd name="T3" fmla="*/ 0 h 495"/>
              <a:gd name="T4" fmla="*/ 54 w 157"/>
              <a:gd name="T5" fmla="*/ 28 h 495"/>
              <a:gd name="T6" fmla="*/ 42 w 157"/>
              <a:gd name="T7" fmla="*/ 33 h 495"/>
              <a:gd name="T8" fmla="*/ 36 w 157"/>
              <a:gd name="T9" fmla="*/ 45 h 495"/>
              <a:gd name="T10" fmla="*/ 24 w 157"/>
              <a:gd name="T11" fmla="*/ 51 h 495"/>
              <a:gd name="T12" fmla="*/ 18 w 157"/>
              <a:gd name="T13" fmla="*/ 63 h 495"/>
              <a:gd name="T14" fmla="*/ 30 w 157"/>
              <a:gd name="T15" fmla="*/ 68 h 495"/>
              <a:gd name="T16" fmla="*/ 42 w 157"/>
              <a:gd name="T17" fmla="*/ 74 h 495"/>
              <a:gd name="T18" fmla="*/ 48 w 157"/>
              <a:gd name="T19" fmla="*/ 86 h 495"/>
              <a:gd name="T20" fmla="*/ 54 w 157"/>
              <a:gd name="T21" fmla="*/ 98 h 495"/>
              <a:gd name="T22" fmla="*/ 42 w 157"/>
              <a:gd name="T23" fmla="*/ 98 h 495"/>
              <a:gd name="T24" fmla="*/ 30 w 157"/>
              <a:gd name="T25" fmla="*/ 109 h 495"/>
              <a:gd name="T26" fmla="*/ 24 w 157"/>
              <a:gd name="T27" fmla="*/ 121 h 495"/>
              <a:gd name="T28" fmla="*/ 12 w 157"/>
              <a:gd name="T29" fmla="*/ 132 h 495"/>
              <a:gd name="T30" fmla="*/ 6 w 157"/>
              <a:gd name="T31" fmla="*/ 144 h 495"/>
              <a:gd name="T32" fmla="*/ 18 w 157"/>
              <a:gd name="T33" fmla="*/ 150 h 495"/>
              <a:gd name="T34" fmla="*/ 30 w 157"/>
              <a:gd name="T35" fmla="*/ 162 h 495"/>
              <a:gd name="T36" fmla="*/ 42 w 157"/>
              <a:gd name="T37" fmla="*/ 167 h 495"/>
              <a:gd name="T38" fmla="*/ 42 w 157"/>
              <a:gd name="T39" fmla="*/ 179 h 495"/>
              <a:gd name="T40" fmla="*/ 36 w 157"/>
              <a:gd name="T41" fmla="*/ 191 h 495"/>
              <a:gd name="T42" fmla="*/ 24 w 157"/>
              <a:gd name="T43" fmla="*/ 191 h 495"/>
              <a:gd name="T44" fmla="*/ 18 w 157"/>
              <a:gd name="T45" fmla="*/ 202 h 495"/>
              <a:gd name="T46" fmla="*/ 12 w 157"/>
              <a:gd name="T47" fmla="*/ 214 h 495"/>
              <a:gd name="T48" fmla="*/ 12 w 157"/>
              <a:gd name="T49" fmla="*/ 226 h 495"/>
              <a:gd name="T50" fmla="*/ 12 w 157"/>
              <a:gd name="T51" fmla="*/ 237 h 495"/>
              <a:gd name="T52" fmla="*/ 6 w 157"/>
              <a:gd name="T53" fmla="*/ 249 h 495"/>
              <a:gd name="T54" fmla="*/ 0 w 157"/>
              <a:gd name="T55" fmla="*/ 261 h 495"/>
              <a:gd name="T56" fmla="*/ 0 w 157"/>
              <a:gd name="T57" fmla="*/ 272 h 495"/>
              <a:gd name="T58" fmla="*/ 6 w 157"/>
              <a:gd name="T59" fmla="*/ 284 h 495"/>
              <a:gd name="T60" fmla="*/ 18 w 157"/>
              <a:gd name="T61" fmla="*/ 290 h 495"/>
              <a:gd name="T62" fmla="*/ 30 w 157"/>
              <a:gd name="T63" fmla="*/ 296 h 495"/>
              <a:gd name="T64" fmla="*/ 36 w 157"/>
              <a:gd name="T65" fmla="*/ 307 h 495"/>
              <a:gd name="T66" fmla="*/ 42 w 157"/>
              <a:gd name="T67" fmla="*/ 319 h 495"/>
              <a:gd name="T68" fmla="*/ 48 w 157"/>
              <a:gd name="T69" fmla="*/ 330 h 495"/>
              <a:gd name="T70" fmla="*/ 36 w 157"/>
              <a:gd name="T71" fmla="*/ 342 h 495"/>
              <a:gd name="T72" fmla="*/ 24 w 157"/>
              <a:gd name="T73" fmla="*/ 348 h 495"/>
              <a:gd name="T74" fmla="*/ 12 w 157"/>
              <a:gd name="T75" fmla="*/ 354 h 495"/>
              <a:gd name="T76" fmla="*/ 18 w 157"/>
              <a:gd name="T77" fmla="*/ 365 h 495"/>
              <a:gd name="T78" fmla="*/ 24 w 157"/>
              <a:gd name="T79" fmla="*/ 377 h 495"/>
              <a:gd name="T80" fmla="*/ 36 w 157"/>
              <a:gd name="T81" fmla="*/ 383 h 495"/>
              <a:gd name="T82" fmla="*/ 42 w 157"/>
              <a:gd name="T83" fmla="*/ 395 h 495"/>
              <a:gd name="T84" fmla="*/ 36 w 157"/>
              <a:gd name="T85" fmla="*/ 406 h 495"/>
              <a:gd name="T86" fmla="*/ 30 w 157"/>
              <a:gd name="T87" fmla="*/ 418 h 495"/>
              <a:gd name="T88" fmla="*/ 18 w 157"/>
              <a:gd name="T89" fmla="*/ 418 h 495"/>
              <a:gd name="T90" fmla="*/ 6 w 157"/>
              <a:gd name="T91" fmla="*/ 429 h 495"/>
              <a:gd name="T92" fmla="*/ 6 w 157"/>
              <a:gd name="T93" fmla="*/ 441 h 495"/>
              <a:gd name="T94" fmla="*/ 18 w 157"/>
              <a:gd name="T95" fmla="*/ 447 h 495"/>
              <a:gd name="T96" fmla="*/ 24 w 157"/>
              <a:gd name="T97" fmla="*/ 459 h 495"/>
              <a:gd name="T98" fmla="*/ 30 w 157"/>
              <a:gd name="T99" fmla="*/ 470 h 495"/>
              <a:gd name="T100" fmla="*/ 60 w 157"/>
              <a:gd name="T101" fmla="*/ 491 h 495"/>
              <a:gd name="T102" fmla="*/ 156 w 157"/>
              <a:gd name="T103" fmla="*/ 494 h 495"/>
              <a:gd name="T104" fmla="*/ 156 w 157"/>
              <a:gd name="T105" fmla="*/ 0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7" h="495">
                <a:moveTo>
                  <a:pt x="144" y="0"/>
                </a:moveTo>
                <a:lnTo>
                  <a:pt x="63" y="0"/>
                </a:lnTo>
                <a:lnTo>
                  <a:pt x="54" y="28"/>
                </a:lnTo>
                <a:lnTo>
                  <a:pt x="42" y="33"/>
                </a:lnTo>
                <a:lnTo>
                  <a:pt x="36" y="45"/>
                </a:lnTo>
                <a:lnTo>
                  <a:pt x="24" y="51"/>
                </a:lnTo>
                <a:lnTo>
                  <a:pt x="18" y="63"/>
                </a:lnTo>
                <a:lnTo>
                  <a:pt x="30" y="68"/>
                </a:lnTo>
                <a:lnTo>
                  <a:pt x="42" y="74"/>
                </a:lnTo>
                <a:lnTo>
                  <a:pt x="48" y="86"/>
                </a:lnTo>
                <a:lnTo>
                  <a:pt x="54" y="98"/>
                </a:lnTo>
                <a:lnTo>
                  <a:pt x="42" y="98"/>
                </a:lnTo>
                <a:lnTo>
                  <a:pt x="30" y="109"/>
                </a:lnTo>
                <a:lnTo>
                  <a:pt x="24" y="121"/>
                </a:lnTo>
                <a:lnTo>
                  <a:pt x="12" y="132"/>
                </a:lnTo>
                <a:lnTo>
                  <a:pt x="6" y="144"/>
                </a:lnTo>
                <a:lnTo>
                  <a:pt x="18" y="150"/>
                </a:lnTo>
                <a:lnTo>
                  <a:pt x="30" y="162"/>
                </a:lnTo>
                <a:lnTo>
                  <a:pt x="42" y="167"/>
                </a:lnTo>
                <a:lnTo>
                  <a:pt x="42" y="179"/>
                </a:lnTo>
                <a:lnTo>
                  <a:pt x="36" y="191"/>
                </a:lnTo>
                <a:lnTo>
                  <a:pt x="24" y="191"/>
                </a:lnTo>
                <a:lnTo>
                  <a:pt x="18" y="202"/>
                </a:lnTo>
                <a:lnTo>
                  <a:pt x="12" y="214"/>
                </a:lnTo>
                <a:lnTo>
                  <a:pt x="12" y="226"/>
                </a:lnTo>
                <a:lnTo>
                  <a:pt x="12" y="237"/>
                </a:lnTo>
                <a:lnTo>
                  <a:pt x="6" y="249"/>
                </a:lnTo>
                <a:lnTo>
                  <a:pt x="0" y="261"/>
                </a:lnTo>
                <a:lnTo>
                  <a:pt x="0" y="272"/>
                </a:lnTo>
                <a:lnTo>
                  <a:pt x="6" y="284"/>
                </a:lnTo>
                <a:lnTo>
                  <a:pt x="18" y="290"/>
                </a:lnTo>
                <a:lnTo>
                  <a:pt x="30" y="296"/>
                </a:lnTo>
                <a:lnTo>
                  <a:pt x="36" y="307"/>
                </a:lnTo>
                <a:lnTo>
                  <a:pt x="42" y="319"/>
                </a:lnTo>
                <a:lnTo>
                  <a:pt x="48" y="330"/>
                </a:lnTo>
                <a:lnTo>
                  <a:pt x="36" y="342"/>
                </a:lnTo>
                <a:lnTo>
                  <a:pt x="24" y="348"/>
                </a:lnTo>
                <a:lnTo>
                  <a:pt x="12" y="354"/>
                </a:lnTo>
                <a:lnTo>
                  <a:pt x="18" y="365"/>
                </a:lnTo>
                <a:lnTo>
                  <a:pt x="24" y="377"/>
                </a:lnTo>
                <a:lnTo>
                  <a:pt x="36" y="383"/>
                </a:lnTo>
                <a:lnTo>
                  <a:pt x="42" y="395"/>
                </a:lnTo>
                <a:lnTo>
                  <a:pt x="36" y="406"/>
                </a:lnTo>
                <a:lnTo>
                  <a:pt x="30" y="418"/>
                </a:lnTo>
                <a:lnTo>
                  <a:pt x="18" y="418"/>
                </a:lnTo>
                <a:lnTo>
                  <a:pt x="6" y="429"/>
                </a:lnTo>
                <a:lnTo>
                  <a:pt x="6" y="441"/>
                </a:lnTo>
                <a:lnTo>
                  <a:pt x="18" y="447"/>
                </a:lnTo>
                <a:lnTo>
                  <a:pt x="24" y="459"/>
                </a:lnTo>
                <a:lnTo>
                  <a:pt x="30" y="470"/>
                </a:lnTo>
                <a:lnTo>
                  <a:pt x="60" y="491"/>
                </a:lnTo>
                <a:lnTo>
                  <a:pt x="156" y="494"/>
                </a:lnTo>
                <a:lnTo>
                  <a:pt x="156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10" name="Rectangle 42">
            <a:extLst>
              <a:ext uri="{FF2B5EF4-FFF2-40B4-BE49-F238E27FC236}">
                <a16:creationId xmlns:a16="http://schemas.microsoft.com/office/drawing/2014/main" id="{327E2270-029A-56EA-91A1-E112906D6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169863"/>
            <a:ext cx="142875" cy="819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1" name="AutoShape 43">
            <a:extLst>
              <a:ext uri="{FF2B5EF4-FFF2-40B4-BE49-F238E27FC236}">
                <a16:creationId xmlns:a16="http://schemas.microsoft.com/office/drawing/2014/main" id="{2F439557-F8FE-2F80-24ED-A4ABD1A81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501650"/>
            <a:ext cx="168275" cy="139700"/>
          </a:xfrm>
          <a:prstGeom prst="rightArrow">
            <a:avLst>
              <a:gd name="adj1" fmla="val 50000"/>
              <a:gd name="adj2" fmla="val 60233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2700" dir="54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7212" name="Rectangle 44">
            <a:extLst>
              <a:ext uri="{FF2B5EF4-FFF2-40B4-BE49-F238E27FC236}">
                <a16:creationId xmlns:a16="http://schemas.microsoft.com/office/drawing/2014/main" id="{232422F2-7B7B-6CA4-E2B3-A29209CC52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2192338"/>
            <a:ext cx="3278188" cy="117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County(1)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Age(2,3)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ZEROS TO PopTotal(2,</a:t>
            </a:r>
            <a:r>
              <a:rPr lang="en-US" altLang="en-US" sz="1400" b="1">
                <a:solidFill>
                  <a:srgbClr val="006600"/>
                </a:solidFill>
                <a:latin typeface="Courier New" panose="02070309020205020404" pitchFamily="49" charset="0"/>
              </a:rPr>
              <a:t>2</a:t>
            </a: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,</a:t>
            </a:r>
            <a:r>
              <a:rPr lang="en-US" altLang="en-US" sz="1400" b="1">
                <a:solidFill>
                  <a:schemeClr val="accent2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)</a:t>
            </a:r>
            <a:endParaRPr lang="en-US" altLang="en-US" sz="14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26 TO PopTotal(2,3,1)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12 TO PopTotal(2,1,1) 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PopulationTable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AE2BB73-00D1-F0BE-1BB7-83CC1EA86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982663"/>
            <a:ext cx="3460750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01 PopulationTable.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02 County OCCURS 26 TIMES.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6633"/>
                </a:solidFill>
                <a:latin typeface="Courier New" panose="02070309020205020404" pitchFamily="49" charset="0"/>
              </a:rPr>
              <a:t>      03 Age OCCURS 3 TIMES.</a:t>
            </a:r>
            <a:endParaRPr lang="en-US" altLang="en-US" sz="1200" b="1">
              <a:solidFill>
                <a:srgbClr val="0099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chemeClr val="accent2"/>
                </a:solidFill>
                <a:latin typeface="Courier New" panose="02070309020205020404" pitchFamily="49" charset="0"/>
              </a:rPr>
              <a:t>         04 Gender OCCURS 2 TIMES.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         </a:t>
            </a:r>
            <a:r>
              <a:rPr lang="en-US" altLang="en-US" sz="1200" b="1">
                <a:solidFill>
                  <a:srgbClr val="393939"/>
                </a:solidFill>
                <a:latin typeface="Courier New" panose="02070309020205020404" pitchFamily="49" charset="0"/>
              </a:rPr>
              <a:t>05 PopTotal   PIC 9(6).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2750A580-BBD7-D0CA-1E65-4CC238CB7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A6857113-DAEE-B21A-DCE0-39B98CDCD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BECC3089-CEBE-DAB2-4CB7-1C040124DD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9B25F25D-2BBC-2373-F7D5-D3216D0DE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5D1F2022-88E9-B5CD-3ECC-D17B8F069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8200" name="Rectangle 8">
            <a:extLst>
              <a:ext uri="{FF2B5EF4-FFF2-40B4-BE49-F238E27FC236}">
                <a16:creationId xmlns:a16="http://schemas.microsoft.com/office/drawing/2014/main" id="{B222DFD3-5D82-C62B-4E7D-E6CDE4FC5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8201" name="Rectangle 9">
            <a:extLst>
              <a:ext uri="{FF2B5EF4-FFF2-40B4-BE49-F238E27FC236}">
                <a16:creationId xmlns:a16="http://schemas.microsoft.com/office/drawing/2014/main" id="{6D546C89-8D24-5A22-9057-85B71BC51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8202" name="Rectangle 10">
            <a:extLst>
              <a:ext uri="{FF2B5EF4-FFF2-40B4-BE49-F238E27FC236}">
                <a16:creationId xmlns:a16="http://schemas.microsoft.com/office/drawing/2014/main" id="{1BF1B6D2-B64A-ABCA-2310-88C3038BF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8205" name="Group 13">
            <a:extLst>
              <a:ext uri="{FF2B5EF4-FFF2-40B4-BE49-F238E27FC236}">
                <a16:creationId xmlns:a16="http://schemas.microsoft.com/office/drawing/2014/main" id="{29E115C4-0A4D-398B-8373-8C718ECFE4D6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517525"/>
            <a:ext cx="693738" cy="149225"/>
            <a:chOff x="136" y="326"/>
            <a:chExt cx="437" cy="94"/>
          </a:xfrm>
        </p:grpSpPr>
        <p:sp>
          <p:nvSpPr>
            <p:cNvPr id="8203" name="Rectangle 11">
              <a:extLst>
                <a:ext uri="{FF2B5EF4-FFF2-40B4-BE49-F238E27FC236}">
                  <a16:creationId xmlns:a16="http://schemas.microsoft.com/office/drawing/2014/main" id="{CFDA840F-ADDC-6309-C352-56FDA53723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8204" name="Rectangle 12">
              <a:extLst>
                <a:ext uri="{FF2B5EF4-FFF2-40B4-BE49-F238E27FC236}">
                  <a16:creationId xmlns:a16="http://schemas.microsoft.com/office/drawing/2014/main" id="{967C3BA8-D9F8-1585-E0F7-8F3B221FDF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8206" name="Rectangle 14">
            <a:extLst>
              <a:ext uri="{FF2B5EF4-FFF2-40B4-BE49-F238E27FC236}">
                <a16:creationId xmlns:a16="http://schemas.microsoft.com/office/drawing/2014/main" id="{5E976366-8426-7500-5464-5DD1BAC25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8209" name="Group 17">
            <a:extLst>
              <a:ext uri="{FF2B5EF4-FFF2-40B4-BE49-F238E27FC236}">
                <a16:creationId xmlns:a16="http://schemas.microsoft.com/office/drawing/2014/main" id="{C5873CCE-1EAE-23E2-67FF-29E896485325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517525"/>
            <a:ext cx="693737" cy="149225"/>
            <a:chOff x="577" y="326"/>
            <a:chExt cx="437" cy="94"/>
          </a:xfrm>
        </p:grpSpPr>
        <p:sp>
          <p:nvSpPr>
            <p:cNvPr id="8207" name="Rectangle 15">
              <a:extLst>
                <a:ext uri="{FF2B5EF4-FFF2-40B4-BE49-F238E27FC236}">
                  <a16:creationId xmlns:a16="http://schemas.microsoft.com/office/drawing/2014/main" id="{F82B5E0B-E3E8-9684-3CA9-D9F7A7961C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8208" name="Rectangle 16">
              <a:extLst>
                <a:ext uri="{FF2B5EF4-FFF2-40B4-BE49-F238E27FC236}">
                  <a16:creationId xmlns:a16="http://schemas.microsoft.com/office/drawing/2014/main" id="{1635B0E4-0A3F-3FC1-DE8B-990FC626EC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8210" name="Rectangle 18">
            <a:extLst>
              <a:ext uri="{FF2B5EF4-FFF2-40B4-BE49-F238E27FC236}">
                <a16:creationId xmlns:a16="http://schemas.microsoft.com/office/drawing/2014/main" id="{4DC64304-8611-9D35-499F-572B4B74F4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8213" name="Group 21">
            <a:extLst>
              <a:ext uri="{FF2B5EF4-FFF2-40B4-BE49-F238E27FC236}">
                <a16:creationId xmlns:a16="http://schemas.microsoft.com/office/drawing/2014/main" id="{D0524E0B-951A-803D-5B8C-D738EA0995A5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517525"/>
            <a:ext cx="693737" cy="149225"/>
            <a:chOff x="1015" y="326"/>
            <a:chExt cx="437" cy="94"/>
          </a:xfrm>
        </p:grpSpPr>
        <p:sp>
          <p:nvSpPr>
            <p:cNvPr id="8211" name="Rectangle 19">
              <a:extLst>
                <a:ext uri="{FF2B5EF4-FFF2-40B4-BE49-F238E27FC236}">
                  <a16:creationId xmlns:a16="http://schemas.microsoft.com/office/drawing/2014/main" id="{5AE2EB73-DF1F-429C-1FA6-CE5E7A128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8212" name="Rectangle 20">
              <a:extLst>
                <a:ext uri="{FF2B5EF4-FFF2-40B4-BE49-F238E27FC236}">
                  <a16:creationId xmlns:a16="http://schemas.microsoft.com/office/drawing/2014/main" id="{E36944F4-40DB-C45F-0A4F-2CF81E1447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8214" name="Rectangle 22">
            <a:extLst>
              <a:ext uri="{FF2B5EF4-FFF2-40B4-BE49-F238E27FC236}">
                <a16:creationId xmlns:a16="http://schemas.microsoft.com/office/drawing/2014/main" id="{E1CFB1F5-6DB2-3620-98F6-E9E63457F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5" name="Rectangle 23">
            <a:extLst>
              <a:ext uri="{FF2B5EF4-FFF2-40B4-BE49-F238E27FC236}">
                <a16:creationId xmlns:a16="http://schemas.microsoft.com/office/drawing/2014/main" id="{C3970864-45F7-70FD-C53C-B6173B1D81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6" name="Rectangle 24">
            <a:extLst>
              <a:ext uri="{FF2B5EF4-FFF2-40B4-BE49-F238E27FC236}">
                <a16:creationId xmlns:a16="http://schemas.microsoft.com/office/drawing/2014/main" id="{9CB0736F-B8C8-F6C2-4158-BF61906490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8217" name="Rectangle 25">
            <a:extLst>
              <a:ext uri="{FF2B5EF4-FFF2-40B4-BE49-F238E27FC236}">
                <a16:creationId xmlns:a16="http://schemas.microsoft.com/office/drawing/2014/main" id="{A3334160-B67E-7F8E-7CDE-6612038D9C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8" name="Rectangle 26">
            <a:extLst>
              <a:ext uri="{FF2B5EF4-FFF2-40B4-BE49-F238E27FC236}">
                <a16:creationId xmlns:a16="http://schemas.microsoft.com/office/drawing/2014/main" id="{E1EB9DE8-4BE8-6D01-194B-A6143E22E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669925"/>
            <a:ext cx="341312" cy="296863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9" name="Rectangle 27">
            <a:extLst>
              <a:ext uri="{FF2B5EF4-FFF2-40B4-BE49-F238E27FC236}">
                <a16:creationId xmlns:a16="http://schemas.microsoft.com/office/drawing/2014/main" id="{9FB59B90-B381-6607-6DC5-FA360179E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30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8220" name="Rectangle 28">
            <a:extLst>
              <a:ext uri="{FF2B5EF4-FFF2-40B4-BE49-F238E27FC236}">
                <a16:creationId xmlns:a16="http://schemas.microsoft.com/office/drawing/2014/main" id="{04D4C7B1-2CAE-3FF3-7301-40D4926185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8221" name="Rectangle 29">
            <a:extLst>
              <a:ext uri="{FF2B5EF4-FFF2-40B4-BE49-F238E27FC236}">
                <a16:creationId xmlns:a16="http://schemas.microsoft.com/office/drawing/2014/main" id="{E9C4A5F1-0E0B-D05E-357E-93C46C4DB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8224" name="Group 32">
            <a:extLst>
              <a:ext uri="{FF2B5EF4-FFF2-40B4-BE49-F238E27FC236}">
                <a16:creationId xmlns:a16="http://schemas.microsoft.com/office/drawing/2014/main" id="{CDF27A5D-363B-CE09-9C65-B0C28ABDD32C}"/>
              </a:ext>
            </a:extLst>
          </p:cNvPr>
          <p:cNvGrpSpPr>
            <a:grpSpLocks/>
          </p:cNvGrpSpPr>
          <p:nvPr/>
        </p:nvGrpSpPr>
        <p:grpSpPr bwMode="auto">
          <a:xfrm>
            <a:off x="2308225" y="517525"/>
            <a:ext cx="693738" cy="149225"/>
            <a:chOff x="1454" y="326"/>
            <a:chExt cx="437" cy="94"/>
          </a:xfrm>
        </p:grpSpPr>
        <p:sp>
          <p:nvSpPr>
            <p:cNvPr id="8222" name="Rectangle 30">
              <a:extLst>
                <a:ext uri="{FF2B5EF4-FFF2-40B4-BE49-F238E27FC236}">
                  <a16:creationId xmlns:a16="http://schemas.microsoft.com/office/drawing/2014/main" id="{16B9F470-461A-9A11-B381-EC373D88F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4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8223" name="Rectangle 31">
              <a:extLst>
                <a:ext uri="{FF2B5EF4-FFF2-40B4-BE49-F238E27FC236}">
                  <a16:creationId xmlns:a16="http://schemas.microsoft.com/office/drawing/2014/main" id="{116C8182-AB26-19C5-1B6F-B07745EE5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8225" name="Rectangle 33">
            <a:extLst>
              <a:ext uri="{FF2B5EF4-FFF2-40B4-BE49-F238E27FC236}">
                <a16:creationId xmlns:a16="http://schemas.microsoft.com/office/drawing/2014/main" id="{74E07ACD-8CB1-4923-2DA6-ABFB5F12A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8228" name="Group 36">
            <a:extLst>
              <a:ext uri="{FF2B5EF4-FFF2-40B4-BE49-F238E27FC236}">
                <a16:creationId xmlns:a16="http://schemas.microsoft.com/office/drawing/2014/main" id="{874E2025-F3EC-E723-29A3-11C09F2C6F26}"/>
              </a:ext>
            </a:extLst>
          </p:cNvPr>
          <p:cNvGrpSpPr>
            <a:grpSpLocks/>
          </p:cNvGrpSpPr>
          <p:nvPr/>
        </p:nvGrpSpPr>
        <p:grpSpPr bwMode="auto">
          <a:xfrm>
            <a:off x="3008313" y="517525"/>
            <a:ext cx="693737" cy="149225"/>
            <a:chOff x="1895" y="326"/>
            <a:chExt cx="437" cy="94"/>
          </a:xfrm>
        </p:grpSpPr>
        <p:sp>
          <p:nvSpPr>
            <p:cNvPr id="8226" name="Rectangle 34">
              <a:extLst>
                <a:ext uri="{FF2B5EF4-FFF2-40B4-BE49-F238E27FC236}">
                  <a16:creationId xmlns:a16="http://schemas.microsoft.com/office/drawing/2014/main" id="{C8EED31C-1BED-3386-B03D-6B5E085558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8227" name="Rectangle 35">
              <a:extLst>
                <a:ext uri="{FF2B5EF4-FFF2-40B4-BE49-F238E27FC236}">
                  <a16:creationId xmlns:a16="http://schemas.microsoft.com/office/drawing/2014/main" id="{F2E0382A-309C-02A9-B53D-C607792CD1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8229" name="Rectangle 37">
            <a:extLst>
              <a:ext uri="{FF2B5EF4-FFF2-40B4-BE49-F238E27FC236}">
                <a16:creationId xmlns:a16="http://schemas.microsoft.com/office/drawing/2014/main" id="{B9FBAEAA-3344-7534-79F1-9E7A3C0377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8232" name="Group 40">
            <a:extLst>
              <a:ext uri="{FF2B5EF4-FFF2-40B4-BE49-F238E27FC236}">
                <a16:creationId xmlns:a16="http://schemas.microsoft.com/office/drawing/2014/main" id="{5B88BEE6-FC8C-6DE8-7CDD-083C390FDFBF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517525"/>
            <a:ext cx="693737" cy="149225"/>
            <a:chOff x="2333" y="326"/>
            <a:chExt cx="437" cy="94"/>
          </a:xfrm>
        </p:grpSpPr>
        <p:sp>
          <p:nvSpPr>
            <p:cNvPr id="8230" name="Rectangle 38">
              <a:extLst>
                <a:ext uri="{FF2B5EF4-FFF2-40B4-BE49-F238E27FC236}">
                  <a16:creationId xmlns:a16="http://schemas.microsoft.com/office/drawing/2014/main" id="{4DED33B0-E89F-7FA4-9857-9E313D135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8231" name="Rectangle 39">
              <a:extLst>
                <a:ext uri="{FF2B5EF4-FFF2-40B4-BE49-F238E27FC236}">
                  <a16:creationId xmlns:a16="http://schemas.microsoft.com/office/drawing/2014/main" id="{A63BCB2A-61A4-BCE5-1F54-4315F8F263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8233" name="Freeform 41">
            <a:extLst>
              <a:ext uri="{FF2B5EF4-FFF2-40B4-BE49-F238E27FC236}">
                <a16:creationId xmlns:a16="http://schemas.microsoft.com/office/drawing/2014/main" id="{ED1B9F34-CBF8-421C-9404-9112D26740E1}"/>
              </a:ext>
            </a:extLst>
          </p:cNvPr>
          <p:cNvSpPr>
            <a:spLocks/>
          </p:cNvSpPr>
          <p:nvPr/>
        </p:nvSpPr>
        <p:spPr bwMode="auto">
          <a:xfrm>
            <a:off x="4233863" y="187325"/>
            <a:ext cx="249237" cy="785813"/>
          </a:xfrm>
          <a:custGeom>
            <a:avLst/>
            <a:gdLst>
              <a:gd name="T0" fmla="*/ 144 w 157"/>
              <a:gd name="T1" fmla="*/ 0 h 495"/>
              <a:gd name="T2" fmla="*/ 63 w 157"/>
              <a:gd name="T3" fmla="*/ 0 h 495"/>
              <a:gd name="T4" fmla="*/ 54 w 157"/>
              <a:gd name="T5" fmla="*/ 28 h 495"/>
              <a:gd name="T6" fmla="*/ 42 w 157"/>
              <a:gd name="T7" fmla="*/ 33 h 495"/>
              <a:gd name="T8" fmla="*/ 36 w 157"/>
              <a:gd name="T9" fmla="*/ 45 h 495"/>
              <a:gd name="T10" fmla="*/ 24 w 157"/>
              <a:gd name="T11" fmla="*/ 51 h 495"/>
              <a:gd name="T12" fmla="*/ 18 w 157"/>
              <a:gd name="T13" fmla="*/ 63 h 495"/>
              <a:gd name="T14" fmla="*/ 30 w 157"/>
              <a:gd name="T15" fmla="*/ 68 h 495"/>
              <a:gd name="T16" fmla="*/ 42 w 157"/>
              <a:gd name="T17" fmla="*/ 74 h 495"/>
              <a:gd name="T18" fmla="*/ 48 w 157"/>
              <a:gd name="T19" fmla="*/ 86 h 495"/>
              <a:gd name="T20" fmla="*/ 54 w 157"/>
              <a:gd name="T21" fmla="*/ 98 h 495"/>
              <a:gd name="T22" fmla="*/ 42 w 157"/>
              <a:gd name="T23" fmla="*/ 98 h 495"/>
              <a:gd name="T24" fmla="*/ 30 w 157"/>
              <a:gd name="T25" fmla="*/ 109 h 495"/>
              <a:gd name="T26" fmla="*/ 24 w 157"/>
              <a:gd name="T27" fmla="*/ 121 h 495"/>
              <a:gd name="T28" fmla="*/ 12 w 157"/>
              <a:gd name="T29" fmla="*/ 132 h 495"/>
              <a:gd name="T30" fmla="*/ 6 w 157"/>
              <a:gd name="T31" fmla="*/ 144 h 495"/>
              <a:gd name="T32" fmla="*/ 18 w 157"/>
              <a:gd name="T33" fmla="*/ 150 h 495"/>
              <a:gd name="T34" fmla="*/ 30 w 157"/>
              <a:gd name="T35" fmla="*/ 162 h 495"/>
              <a:gd name="T36" fmla="*/ 42 w 157"/>
              <a:gd name="T37" fmla="*/ 167 h 495"/>
              <a:gd name="T38" fmla="*/ 42 w 157"/>
              <a:gd name="T39" fmla="*/ 179 h 495"/>
              <a:gd name="T40" fmla="*/ 36 w 157"/>
              <a:gd name="T41" fmla="*/ 191 h 495"/>
              <a:gd name="T42" fmla="*/ 24 w 157"/>
              <a:gd name="T43" fmla="*/ 191 h 495"/>
              <a:gd name="T44" fmla="*/ 18 w 157"/>
              <a:gd name="T45" fmla="*/ 202 h 495"/>
              <a:gd name="T46" fmla="*/ 12 w 157"/>
              <a:gd name="T47" fmla="*/ 214 h 495"/>
              <a:gd name="T48" fmla="*/ 12 w 157"/>
              <a:gd name="T49" fmla="*/ 226 h 495"/>
              <a:gd name="T50" fmla="*/ 12 w 157"/>
              <a:gd name="T51" fmla="*/ 237 h 495"/>
              <a:gd name="T52" fmla="*/ 6 w 157"/>
              <a:gd name="T53" fmla="*/ 249 h 495"/>
              <a:gd name="T54" fmla="*/ 0 w 157"/>
              <a:gd name="T55" fmla="*/ 261 h 495"/>
              <a:gd name="T56" fmla="*/ 0 w 157"/>
              <a:gd name="T57" fmla="*/ 272 h 495"/>
              <a:gd name="T58" fmla="*/ 6 w 157"/>
              <a:gd name="T59" fmla="*/ 284 h 495"/>
              <a:gd name="T60" fmla="*/ 18 w 157"/>
              <a:gd name="T61" fmla="*/ 290 h 495"/>
              <a:gd name="T62" fmla="*/ 30 w 157"/>
              <a:gd name="T63" fmla="*/ 296 h 495"/>
              <a:gd name="T64" fmla="*/ 36 w 157"/>
              <a:gd name="T65" fmla="*/ 307 h 495"/>
              <a:gd name="T66" fmla="*/ 42 w 157"/>
              <a:gd name="T67" fmla="*/ 319 h 495"/>
              <a:gd name="T68" fmla="*/ 48 w 157"/>
              <a:gd name="T69" fmla="*/ 330 h 495"/>
              <a:gd name="T70" fmla="*/ 36 w 157"/>
              <a:gd name="T71" fmla="*/ 342 h 495"/>
              <a:gd name="T72" fmla="*/ 24 w 157"/>
              <a:gd name="T73" fmla="*/ 348 h 495"/>
              <a:gd name="T74" fmla="*/ 12 w 157"/>
              <a:gd name="T75" fmla="*/ 354 h 495"/>
              <a:gd name="T76" fmla="*/ 18 w 157"/>
              <a:gd name="T77" fmla="*/ 365 h 495"/>
              <a:gd name="T78" fmla="*/ 24 w 157"/>
              <a:gd name="T79" fmla="*/ 377 h 495"/>
              <a:gd name="T80" fmla="*/ 36 w 157"/>
              <a:gd name="T81" fmla="*/ 383 h 495"/>
              <a:gd name="T82" fmla="*/ 42 w 157"/>
              <a:gd name="T83" fmla="*/ 395 h 495"/>
              <a:gd name="T84" fmla="*/ 36 w 157"/>
              <a:gd name="T85" fmla="*/ 406 h 495"/>
              <a:gd name="T86" fmla="*/ 30 w 157"/>
              <a:gd name="T87" fmla="*/ 418 h 495"/>
              <a:gd name="T88" fmla="*/ 18 w 157"/>
              <a:gd name="T89" fmla="*/ 418 h 495"/>
              <a:gd name="T90" fmla="*/ 6 w 157"/>
              <a:gd name="T91" fmla="*/ 429 h 495"/>
              <a:gd name="T92" fmla="*/ 6 w 157"/>
              <a:gd name="T93" fmla="*/ 441 h 495"/>
              <a:gd name="T94" fmla="*/ 18 w 157"/>
              <a:gd name="T95" fmla="*/ 447 h 495"/>
              <a:gd name="T96" fmla="*/ 24 w 157"/>
              <a:gd name="T97" fmla="*/ 459 h 495"/>
              <a:gd name="T98" fmla="*/ 30 w 157"/>
              <a:gd name="T99" fmla="*/ 470 h 495"/>
              <a:gd name="T100" fmla="*/ 60 w 157"/>
              <a:gd name="T101" fmla="*/ 491 h 495"/>
              <a:gd name="T102" fmla="*/ 156 w 157"/>
              <a:gd name="T103" fmla="*/ 494 h 495"/>
              <a:gd name="T104" fmla="*/ 156 w 157"/>
              <a:gd name="T105" fmla="*/ 0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7" h="495">
                <a:moveTo>
                  <a:pt x="144" y="0"/>
                </a:moveTo>
                <a:lnTo>
                  <a:pt x="63" y="0"/>
                </a:lnTo>
                <a:lnTo>
                  <a:pt x="54" y="28"/>
                </a:lnTo>
                <a:lnTo>
                  <a:pt x="42" y="33"/>
                </a:lnTo>
                <a:lnTo>
                  <a:pt x="36" y="45"/>
                </a:lnTo>
                <a:lnTo>
                  <a:pt x="24" y="51"/>
                </a:lnTo>
                <a:lnTo>
                  <a:pt x="18" y="63"/>
                </a:lnTo>
                <a:lnTo>
                  <a:pt x="30" y="68"/>
                </a:lnTo>
                <a:lnTo>
                  <a:pt x="42" y="74"/>
                </a:lnTo>
                <a:lnTo>
                  <a:pt x="48" y="86"/>
                </a:lnTo>
                <a:lnTo>
                  <a:pt x="54" y="98"/>
                </a:lnTo>
                <a:lnTo>
                  <a:pt x="42" y="98"/>
                </a:lnTo>
                <a:lnTo>
                  <a:pt x="30" y="109"/>
                </a:lnTo>
                <a:lnTo>
                  <a:pt x="24" y="121"/>
                </a:lnTo>
                <a:lnTo>
                  <a:pt x="12" y="132"/>
                </a:lnTo>
                <a:lnTo>
                  <a:pt x="6" y="144"/>
                </a:lnTo>
                <a:lnTo>
                  <a:pt x="18" y="150"/>
                </a:lnTo>
                <a:lnTo>
                  <a:pt x="30" y="162"/>
                </a:lnTo>
                <a:lnTo>
                  <a:pt x="42" y="167"/>
                </a:lnTo>
                <a:lnTo>
                  <a:pt x="42" y="179"/>
                </a:lnTo>
                <a:lnTo>
                  <a:pt x="36" y="191"/>
                </a:lnTo>
                <a:lnTo>
                  <a:pt x="24" y="191"/>
                </a:lnTo>
                <a:lnTo>
                  <a:pt x="18" y="202"/>
                </a:lnTo>
                <a:lnTo>
                  <a:pt x="12" y="214"/>
                </a:lnTo>
                <a:lnTo>
                  <a:pt x="12" y="226"/>
                </a:lnTo>
                <a:lnTo>
                  <a:pt x="12" y="237"/>
                </a:lnTo>
                <a:lnTo>
                  <a:pt x="6" y="249"/>
                </a:lnTo>
                <a:lnTo>
                  <a:pt x="0" y="261"/>
                </a:lnTo>
                <a:lnTo>
                  <a:pt x="0" y="272"/>
                </a:lnTo>
                <a:lnTo>
                  <a:pt x="6" y="284"/>
                </a:lnTo>
                <a:lnTo>
                  <a:pt x="18" y="290"/>
                </a:lnTo>
                <a:lnTo>
                  <a:pt x="30" y="296"/>
                </a:lnTo>
                <a:lnTo>
                  <a:pt x="36" y="307"/>
                </a:lnTo>
                <a:lnTo>
                  <a:pt x="42" y="319"/>
                </a:lnTo>
                <a:lnTo>
                  <a:pt x="48" y="330"/>
                </a:lnTo>
                <a:lnTo>
                  <a:pt x="36" y="342"/>
                </a:lnTo>
                <a:lnTo>
                  <a:pt x="24" y="348"/>
                </a:lnTo>
                <a:lnTo>
                  <a:pt x="12" y="354"/>
                </a:lnTo>
                <a:lnTo>
                  <a:pt x="18" y="365"/>
                </a:lnTo>
                <a:lnTo>
                  <a:pt x="24" y="377"/>
                </a:lnTo>
                <a:lnTo>
                  <a:pt x="36" y="383"/>
                </a:lnTo>
                <a:lnTo>
                  <a:pt x="42" y="395"/>
                </a:lnTo>
                <a:lnTo>
                  <a:pt x="36" y="406"/>
                </a:lnTo>
                <a:lnTo>
                  <a:pt x="30" y="418"/>
                </a:lnTo>
                <a:lnTo>
                  <a:pt x="18" y="418"/>
                </a:lnTo>
                <a:lnTo>
                  <a:pt x="6" y="429"/>
                </a:lnTo>
                <a:lnTo>
                  <a:pt x="6" y="441"/>
                </a:lnTo>
                <a:lnTo>
                  <a:pt x="18" y="447"/>
                </a:lnTo>
                <a:lnTo>
                  <a:pt x="24" y="459"/>
                </a:lnTo>
                <a:lnTo>
                  <a:pt x="30" y="470"/>
                </a:lnTo>
                <a:lnTo>
                  <a:pt x="60" y="491"/>
                </a:lnTo>
                <a:lnTo>
                  <a:pt x="156" y="494"/>
                </a:lnTo>
                <a:lnTo>
                  <a:pt x="156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4" name="Rectangle 42">
            <a:extLst>
              <a:ext uri="{FF2B5EF4-FFF2-40B4-BE49-F238E27FC236}">
                <a16:creationId xmlns:a16="http://schemas.microsoft.com/office/drawing/2014/main" id="{3DFE5EA2-613F-F775-9C35-5288711148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169863"/>
            <a:ext cx="142875" cy="819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35" name="AutoShape 43">
            <a:extLst>
              <a:ext uri="{FF2B5EF4-FFF2-40B4-BE49-F238E27FC236}">
                <a16:creationId xmlns:a16="http://schemas.microsoft.com/office/drawing/2014/main" id="{4DF8FD7A-2635-8222-B81F-D54A2E7D6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501650"/>
            <a:ext cx="168275" cy="139700"/>
          </a:xfrm>
          <a:prstGeom prst="rightArrow">
            <a:avLst>
              <a:gd name="adj1" fmla="val 50000"/>
              <a:gd name="adj2" fmla="val 60233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2700" dir="54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8236" name="Rectangle 44">
            <a:extLst>
              <a:ext uri="{FF2B5EF4-FFF2-40B4-BE49-F238E27FC236}">
                <a16:creationId xmlns:a16="http://schemas.microsoft.com/office/drawing/2014/main" id="{6C4F6B65-6790-19BF-78D9-A4DB7FF99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2192338"/>
            <a:ext cx="3278188" cy="117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County(1)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Age(2,3)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PopTotal(2,2,1)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26 TO PopTotal(2,</a:t>
            </a:r>
            <a:r>
              <a:rPr lang="en-US" altLang="en-US" sz="1400" b="1">
                <a:solidFill>
                  <a:srgbClr val="006600"/>
                </a:solidFill>
                <a:latin typeface="Courier New" panose="02070309020205020404" pitchFamily="49" charset="0"/>
              </a:rPr>
              <a:t>3</a:t>
            </a: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,</a:t>
            </a:r>
            <a:r>
              <a:rPr lang="en-US" altLang="en-US" sz="1400" b="1">
                <a:solidFill>
                  <a:schemeClr val="accent2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)</a:t>
            </a:r>
            <a:endParaRPr lang="en-US" altLang="en-US" sz="14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12 TO PopTotal(2,1,1) 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PopulationTable</a:t>
            </a:r>
          </a:p>
        </p:txBody>
      </p:sp>
      <p:sp>
        <p:nvSpPr>
          <p:cNvPr id="8237" name="Rectangle 45">
            <a:extLst>
              <a:ext uri="{FF2B5EF4-FFF2-40B4-BE49-F238E27FC236}">
                <a16:creationId xmlns:a16="http://schemas.microsoft.com/office/drawing/2014/main" id="{4B34A50C-5436-7ADF-F820-056F8C5C6A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6463" y="1241425"/>
            <a:ext cx="909637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000026</a:t>
            </a:r>
          </a:p>
        </p:txBody>
      </p:sp>
      <p:sp>
        <p:nvSpPr>
          <p:cNvPr id="8238" name="Line 46">
            <a:extLst>
              <a:ext uri="{FF2B5EF4-FFF2-40B4-BE49-F238E27FC236}">
                <a16:creationId xmlns:a16="http://schemas.microsoft.com/office/drawing/2014/main" id="{6BD9C5C2-AE33-56D7-65CE-6DD1FE2D54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38525" y="990600"/>
            <a:ext cx="247650" cy="2476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39" name="Line 47">
            <a:extLst>
              <a:ext uri="{FF2B5EF4-FFF2-40B4-BE49-F238E27FC236}">
                <a16:creationId xmlns:a16="http://schemas.microsoft.com/office/drawing/2014/main" id="{BB85AA68-72CE-32E2-2A47-4DD21AFC36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8125" y="990600"/>
            <a:ext cx="323850" cy="2571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40" name="Rectangle 48">
            <a:extLst>
              <a:ext uri="{FF2B5EF4-FFF2-40B4-BE49-F238E27FC236}">
                <a16:creationId xmlns:a16="http://schemas.microsoft.com/office/drawing/2014/main" id="{879F5E13-F71F-7C96-5E9B-B5B895572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6338" y="939800"/>
            <a:ext cx="314325" cy="7461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D9BD172-0DD5-2821-7F73-53FFB35F3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982663"/>
            <a:ext cx="3460750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01 PopulationTable.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02 County OCCURS 26 TIMES.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6633"/>
                </a:solidFill>
                <a:latin typeface="Courier New" panose="02070309020205020404" pitchFamily="49" charset="0"/>
              </a:rPr>
              <a:t>      03 Age OCCURS 3 TIMES.</a:t>
            </a:r>
            <a:endParaRPr lang="en-US" altLang="en-US" sz="1200" b="1">
              <a:solidFill>
                <a:srgbClr val="0099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chemeClr val="accent2"/>
                </a:solidFill>
                <a:latin typeface="Courier New" panose="02070309020205020404" pitchFamily="49" charset="0"/>
              </a:rPr>
              <a:t>         04 Gender OCCURS 2 TIMES.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         </a:t>
            </a:r>
            <a:r>
              <a:rPr lang="en-US" altLang="en-US" sz="1200" b="1">
                <a:solidFill>
                  <a:srgbClr val="393939"/>
                </a:solidFill>
                <a:latin typeface="Courier New" panose="02070309020205020404" pitchFamily="49" charset="0"/>
              </a:rPr>
              <a:t>05 PopTotal   PIC 9(6).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71C9EBFE-9C6F-2A66-348E-410739AA6D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5204D49E-BE73-F388-B8FD-8067D40304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5C337B67-3DA0-7551-6CAA-B6B7E02D2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1B5FA306-B84E-4065-9014-46E19D12A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9758BD36-32AD-F80E-824B-7FEF6E3D08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9224" name="Rectangle 8">
            <a:extLst>
              <a:ext uri="{FF2B5EF4-FFF2-40B4-BE49-F238E27FC236}">
                <a16:creationId xmlns:a16="http://schemas.microsoft.com/office/drawing/2014/main" id="{7B52168B-4397-46E6-264B-E366B033C2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5A1A4EBC-6309-16D9-779F-1DE7F3E6D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9226" name="Rectangle 10">
            <a:extLst>
              <a:ext uri="{FF2B5EF4-FFF2-40B4-BE49-F238E27FC236}">
                <a16:creationId xmlns:a16="http://schemas.microsoft.com/office/drawing/2014/main" id="{D36821D4-78C5-074B-5C37-CED2FB62B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9229" name="Group 13">
            <a:extLst>
              <a:ext uri="{FF2B5EF4-FFF2-40B4-BE49-F238E27FC236}">
                <a16:creationId xmlns:a16="http://schemas.microsoft.com/office/drawing/2014/main" id="{07662CB7-1AF2-56AC-4849-7639EAE7316B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517525"/>
            <a:ext cx="693738" cy="149225"/>
            <a:chOff x="136" y="326"/>
            <a:chExt cx="437" cy="94"/>
          </a:xfrm>
        </p:grpSpPr>
        <p:sp>
          <p:nvSpPr>
            <p:cNvPr id="9227" name="Rectangle 11">
              <a:extLst>
                <a:ext uri="{FF2B5EF4-FFF2-40B4-BE49-F238E27FC236}">
                  <a16:creationId xmlns:a16="http://schemas.microsoft.com/office/drawing/2014/main" id="{50D81B8B-4F5A-113E-572D-30F3A9A9A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228" name="Rectangle 12">
              <a:extLst>
                <a:ext uri="{FF2B5EF4-FFF2-40B4-BE49-F238E27FC236}">
                  <a16:creationId xmlns:a16="http://schemas.microsoft.com/office/drawing/2014/main" id="{4898C21D-B34A-6863-952A-49176E3C7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9230" name="Rectangle 14">
            <a:extLst>
              <a:ext uri="{FF2B5EF4-FFF2-40B4-BE49-F238E27FC236}">
                <a16:creationId xmlns:a16="http://schemas.microsoft.com/office/drawing/2014/main" id="{9A47E2E0-632C-6416-DED6-7639F6DACD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9233" name="Group 17">
            <a:extLst>
              <a:ext uri="{FF2B5EF4-FFF2-40B4-BE49-F238E27FC236}">
                <a16:creationId xmlns:a16="http://schemas.microsoft.com/office/drawing/2014/main" id="{99FAAF0E-85C9-00EA-550F-E842EDEC7457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517525"/>
            <a:ext cx="693737" cy="149225"/>
            <a:chOff x="577" y="326"/>
            <a:chExt cx="437" cy="94"/>
          </a:xfrm>
        </p:grpSpPr>
        <p:sp>
          <p:nvSpPr>
            <p:cNvPr id="9231" name="Rectangle 15">
              <a:extLst>
                <a:ext uri="{FF2B5EF4-FFF2-40B4-BE49-F238E27FC236}">
                  <a16:creationId xmlns:a16="http://schemas.microsoft.com/office/drawing/2014/main" id="{B4F931CD-CF4A-2EA2-A42A-3D62B10DE0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232" name="Rectangle 16">
              <a:extLst>
                <a:ext uri="{FF2B5EF4-FFF2-40B4-BE49-F238E27FC236}">
                  <a16:creationId xmlns:a16="http://schemas.microsoft.com/office/drawing/2014/main" id="{8C58B6F6-EB0F-5F52-FF78-5774095391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9234" name="Rectangle 18">
            <a:extLst>
              <a:ext uri="{FF2B5EF4-FFF2-40B4-BE49-F238E27FC236}">
                <a16:creationId xmlns:a16="http://schemas.microsoft.com/office/drawing/2014/main" id="{CC10B19E-7C8F-FA00-7662-804387FF2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9237" name="Group 21">
            <a:extLst>
              <a:ext uri="{FF2B5EF4-FFF2-40B4-BE49-F238E27FC236}">
                <a16:creationId xmlns:a16="http://schemas.microsoft.com/office/drawing/2014/main" id="{EC88686B-AC85-B586-60F0-0ED0A6265F9E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517525"/>
            <a:ext cx="693737" cy="149225"/>
            <a:chOff x="1015" y="326"/>
            <a:chExt cx="437" cy="94"/>
          </a:xfrm>
        </p:grpSpPr>
        <p:sp>
          <p:nvSpPr>
            <p:cNvPr id="9235" name="Rectangle 19">
              <a:extLst>
                <a:ext uri="{FF2B5EF4-FFF2-40B4-BE49-F238E27FC236}">
                  <a16:creationId xmlns:a16="http://schemas.microsoft.com/office/drawing/2014/main" id="{424CF458-64DE-52B2-DE15-9AF179011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236" name="Rectangle 20">
              <a:extLst>
                <a:ext uri="{FF2B5EF4-FFF2-40B4-BE49-F238E27FC236}">
                  <a16:creationId xmlns:a16="http://schemas.microsoft.com/office/drawing/2014/main" id="{FB30A3AC-84C5-E34D-64B3-E12342F124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9238" name="Rectangle 22">
            <a:extLst>
              <a:ext uri="{FF2B5EF4-FFF2-40B4-BE49-F238E27FC236}">
                <a16:creationId xmlns:a16="http://schemas.microsoft.com/office/drawing/2014/main" id="{57990228-DFF2-0D09-E37D-8C3BDADA2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012</a:t>
            </a:r>
          </a:p>
        </p:txBody>
      </p:sp>
      <p:sp>
        <p:nvSpPr>
          <p:cNvPr id="9239" name="Rectangle 23">
            <a:extLst>
              <a:ext uri="{FF2B5EF4-FFF2-40B4-BE49-F238E27FC236}">
                <a16:creationId xmlns:a16="http://schemas.microsoft.com/office/drawing/2014/main" id="{76B918A2-624D-6373-56EB-083E8AF23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0" name="Rectangle 24">
            <a:extLst>
              <a:ext uri="{FF2B5EF4-FFF2-40B4-BE49-F238E27FC236}">
                <a16:creationId xmlns:a16="http://schemas.microsoft.com/office/drawing/2014/main" id="{43B7B750-7686-75C5-A227-347D73AF7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9241" name="Rectangle 25">
            <a:extLst>
              <a:ext uri="{FF2B5EF4-FFF2-40B4-BE49-F238E27FC236}">
                <a16:creationId xmlns:a16="http://schemas.microsoft.com/office/drawing/2014/main" id="{1C27E9ED-7A94-1484-8319-235D5DC8F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42" name="Rectangle 26">
            <a:extLst>
              <a:ext uri="{FF2B5EF4-FFF2-40B4-BE49-F238E27FC236}">
                <a16:creationId xmlns:a16="http://schemas.microsoft.com/office/drawing/2014/main" id="{BB089687-EDFF-64B7-6597-675DFF990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026</a:t>
            </a:r>
          </a:p>
        </p:txBody>
      </p:sp>
      <p:sp>
        <p:nvSpPr>
          <p:cNvPr id="9243" name="Rectangle 27">
            <a:extLst>
              <a:ext uri="{FF2B5EF4-FFF2-40B4-BE49-F238E27FC236}">
                <a16:creationId xmlns:a16="http://schemas.microsoft.com/office/drawing/2014/main" id="{0FBAB67D-6E2E-3D3C-2C9A-D7B186732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30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5F5F5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9244" name="Rectangle 28">
            <a:extLst>
              <a:ext uri="{FF2B5EF4-FFF2-40B4-BE49-F238E27FC236}">
                <a16:creationId xmlns:a16="http://schemas.microsoft.com/office/drawing/2014/main" id="{159D96ED-6976-F949-BE84-970BC9605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9245" name="Rectangle 29">
            <a:extLst>
              <a:ext uri="{FF2B5EF4-FFF2-40B4-BE49-F238E27FC236}">
                <a16:creationId xmlns:a16="http://schemas.microsoft.com/office/drawing/2014/main" id="{E167E1E0-2B01-D804-F972-51C0B127AE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9248" name="Group 32">
            <a:extLst>
              <a:ext uri="{FF2B5EF4-FFF2-40B4-BE49-F238E27FC236}">
                <a16:creationId xmlns:a16="http://schemas.microsoft.com/office/drawing/2014/main" id="{0B7EC78E-407B-9600-B93E-7753979F5C72}"/>
              </a:ext>
            </a:extLst>
          </p:cNvPr>
          <p:cNvGrpSpPr>
            <a:grpSpLocks/>
          </p:cNvGrpSpPr>
          <p:nvPr/>
        </p:nvGrpSpPr>
        <p:grpSpPr bwMode="auto">
          <a:xfrm>
            <a:off x="2308225" y="517525"/>
            <a:ext cx="693738" cy="149225"/>
            <a:chOff x="1454" y="326"/>
            <a:chExt cx="437" cy="94"/>
          </a:xfrm>
        </p:grpSpPr>
        <p:sp>
          <p:nvSpPr>
            <p:cNvPr id="9246" name="Rectangle 30">
              <a:extLst>
                <a:ext uri="{FF2B5EF4-FFF2-40B4-BE49-F238E27FC236}">
                  <a16:creationId xmlns:a16="http://schemas.microsoft.com/office/drawing/2014/main" id="{783DF4C8-3B06-A3FA-7754-65D6AAA26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4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247" name="Rectangle 31">
              <a:extLst>
                <a:ext uri="{FF2B5EF4-FFF2-40B4-BE49-F238E27FC236}">
                  <a16:creationId xmlns:a16="http://schemas.microsoft.com/office/drawing/2014/main" id="{96199807-2A4E-D5BE-3380-D706ECD249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9249" name="Rectangle 33">
            <a:extLst>
              <a:ext uri="{FF2B5EF4-FFF2-40B4-BE49-F238E27FC236}">
                <a16:creationId xmlns:a16="http://schemas.microsoft.com/office/drawing/2014/main" id="{CF7C7E7E-0545-F533-6CD2-16F475F11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9252" name="Group 36">
            <a:extLst>
              <a:ext uri="{FF2B5EF4-FFF2-40B4-BE49-F238E27FC236}">
                <a16:creationId xmlns:a16="http://schemas.microsoft.com/office/drawing/2014/main" id="{3884C109-1AF6-026C-B0B4-878BD1671E93}"/>
              </a:ext>
            </a:extLst>
          </p:cNvPr>
          <p:cNvGrpSpPr>
            <a:grpSpLocks/>
          </p:cNvGrpSpPr>
          <p:nvPr/>
        </p:nvGrpSpPr>
        <p:grpSpPr bwMode="auto">
          <a:xfrm>
            <a:off x="3008313" y="517525"/>
            <a:ext cx="693737" cy="149225"/>
            <a:chOff x="1895" y="326"/>
            <a:chExt cx="437" cy="94"/>
          </a:xfrm>
        </p:grpSpPr>
        <p:sp>
          <p:nvSpPr>
            <p:cNvPr id="9250" name="Rectangle 34">
              <a:extLst>
                <a:ext uri="{FF2B5EF4-FFF2-40B4-BE49-F238E27FC236}">
                  <a16:creationId xmlns:a16="http://schemas.microsoft.com/office/drawing/2014/main" id="{178CC89C-9816-4566-FD53-4F3855CF0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251" name="Rectangle 35">
              <a:extLst>
                <a:ext uri="{FF2B5EF4-FFF2-40B4-BE49-F238E27FC236}">
                  <a16:creationId xmlns:a16="http://schemas.microsoft.com/office/drawing/2014/main" id="{7F0C3A3E-2E92-1ED0-7C0E-C16420DFF9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9253" name="Rectangle 37">
            <a:extLst>
              <a:ext uri="{FF2B5EF4-FFF2-40B4-BE49-F238E27FC236}">
                <a16:creationId xmlns:a16="http://schemas.microsoft.com/office/drawing/2014/main" id="{0A2D4905-C94F-F9DC-DA00-92A7B9357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9256" name="Group 40">
            <a:extLst>
              <a:ext uri="{FF2B5EF4-FFF2-40B4-BE49-F238E27FC236}">
                <a16:creationId xmlns:a16="http://schemas.microsoft.com/office/drawing/2014/main" id="{6CBE80C5-E3D6-E330-F87F-8CF84398C076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517525"/>
            <a:ext cx="693737" cy="149225"/>
            <a:chOff x="2333" y="326"/>
            <a:chExt cx="437" cy="94"/>
          </a:xfrm>
        </p:grpSpPr>
        <p:sp>
          <p:nvSpPr>
            <p:cNvPr id="9254" name="Rectangle 38">
              <a:extLst>
                <a:ext uri="{FF2B5EF4-FFF2-40B4-BE49-F238E27FC236}">
                  <a16:creationId xmlns:a16="http://schemas.microsoft.com/office/drawing/2014/main" id="{43BE88D0-87BE-8DE6-8FA8-44EC322D00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9255" name="Rectangle 39">
              <a:extLst>
                <a:ext uri="{FF2B5EF4-FFF2-40B4-BE49-F238E27FC236}">
                  <a16:creationId xmlns:a16="http://schemas.microsoft.com/office/drawing/2014/main" id="{24E06F63-78FF-7C0A-5B5C-1B0159B829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9257" name="Freeform 41">
            <a:extLst>
              <a:ext uri="{FF2B5EF4-FFF2-40B4-BE49-F238E27FC236}">
                <a16:creationId xmlns:a16="http://schemas.microsoft.com/office/drawing/2014/main" id="{DF1DBA0B-B0AC-A993-A1F5-F7F6239A0CA8}"/>
              </a:ext>
            </a:extLst>
          </p:cNvPr>
          <p:cNvSpPr>
            <a:spLocks/>
          </p:cNvSpPr>
          <p:nvPr/>
        </p:nvSpPr>
        <p:spPr bwMode="auto">
          <a:xfrm>
            <a:off x="4233863" y="187325"/>
            <a:ext cx="249237" cy="785813"/>
          </a:xfrm>
          <a:custGeom>
            <a:avLst/>
            <a:gdLst>
              <a:gd name="T0" fmla="*/ 144 w 157"/>
              <a:gd name="T1" fmla="*/ 0 h 495"/>
              <a:gd name="T2" fmla="*/ 63 w 157"/>
              <a:gd name="T3" fmla="*/ 0 h 495"/>
              <a:gd name="T4" fmla="*/ 54 w 157"/>
              <a:gd name="T5" fmla="*/ 28 h 495"/>
              <a:gd name="T6" fmla="*/ 42 w 157"/>
              <a:gd name="T7" fmla="*/ 33 h 495"/>
              <a:gd name="T8" fmla="*/ 36 w 157"/>
              <a:gd name="T9" fmla="*/ 45 h 495"/>
              <a:gd name="T10" fmla="*/ 24 w 157"/>
              <a:gd name="T11" fmla="*/ 51 h 495"/>
              <a:gd name="T12" fmla="*/ 18 w 157"/>
              <a:gd name="T13" fmla="*/ 63 h 495"/>
              <a:gd name="T14" fmla="*/ 30 w 157"/>
              <a:gd name="T15" fmla="*/ 68 h 495"/>
              <a:gd name="T16" fmla="*/ 42 w 157"/>
              <a:gd name="T17" fmla="*/ 74 h 495"/>
              <a:gd name="T18" fmla="*/ 48 w 157"/>
              <a:gd name="T19" fmla="*/ 86 h 495"/>
              <a:gd name="T20" fmla="*/ 54 w 157"/>
              <a:gd name="T21" fmla="*/ 98 h 495"/>
              <a:gd name="T22" fmla="*/ 42 w 157"/>
              <a:gd name="T23" fmla="*/ 98 h 495"/>
              <a:gd name="T24" fmla="*/ 30 w 157"/>
              <a:gd name="T25" fmla="*/ 109 h 495"/>
              <a:gd name="T26" fmla="*/ 24 w 157"/>
              <a:gd name="T27" fmla="*/ 121 h 495"/>
              <a:gd name="T28" fmla="*/ 12 w 157"/>
              <a:gd name="T29" fmla="*/ 132 h 495"/>
              <a:gd name="T30" fmla="*/ 6 w 157"/>
              <a:gd name="T31" fmla="*/ 144 h 495"/>
              <a:gd name="T32" fmla="*/ 18 w 157"/>
              <a:gd name="T33" fmla="*/ 150 h 495"/>
              <a:gd name="T34" fmla="*/ 30 w 157"/>
              <a:gd name="T35" fmla="*/ 162 h 495"/>
              <a:gd name="T36" fmla="*/ 42 w 157"/>
              <a:gd name="T37" fmla="*/ 167 h 495"/>
              <a:gd name="T38" fmla="*/ 42 w 157"/>
              <a:gd name="T39" fmla="*/ 179 h 495"/>
              <a:gd name="T40" fmla="*/ 36 w 157"/>
              <a:gd name="T41" fmla="*/ 191 h 495"/>
              <a:gd name="T42" fmla="*/ 24 w 157"/>
              <a:gd name="T43" fmla="*/ 191 h 495"/>
              <a:gd name="T44" fmla="*/ 18 w 157"/>
              <a:gd name="T45" fmla="*/ 202 h 495"/>
              <a:gd name="T46" fmla="*/ 12 w 157"/>
              <a:gd name="T47" fmla="*/ 214 h 495"/>
              <a:gd name="T48" fmla="*/ 12 w 157"/>
              <a:gd name="T49" fmla="*/ 226 h 495"/>
              <a:gd name="T50" fmla="*/ 12 w 157"/>
              <a:gd name="T51" fmla="*/ 237 h 495"/>
              <a:gd name="T52" fmla="*/ 6 w 157"/>
              <a:gd name="T53" fmla="*/ 249 h 495"/>
              <a:gd name="T54" fmla="*/ 0 w 157"/>
              <a:gd name="T55" fmla="*/ 261 h 495"/>
              <a:gd name="T56" fmla="*/ 0 w 157"/>
              <a:gd name="T57" fmla="*/ 272 h 495"/>
              <a:gd name="T58" fmla="*/ 6 w 157"/>
              <a:gd name="T59" fmla="*/ 284 h 495"/>
              <a:gd name="T60" fmla="*/ 18 w 157"/>
              <a:gd name="T61" fmla="*/ 290 h 495"/>
              <a:gd name="T62" fmla="*/ 30 w 157"/>
              <a:gd name="T63" fmla="*/ 296 h 495"/>
              <a:gd name="T64" fmla="*/ 36 w 157"/>
              <a:gd name="T65" fmla="*/ 307 h 495"/>
              <a:gd name="T66" fmla="*/ 42 w 157"/>
              <a:gd name="T67" fmla="*/ 319 h 495"/>
              <a:gd name="T68" fmla="*/ 48 w 157"/>
              <a:gd name="T69" fmla="*/ 330 h 495"/>
              <a:gd name="T70" fmla="*/ 36 w 157"/>
              <a:gd name="T71" fmla="*/ 342 h 495"/>
              <a:gd name="T72" fmla="*/ 24 w 157"/>
              <a:gd name="T73" fmla="*/ 348 h 495"/>
              <a:gd name="T74" fmla="*/ 12 w 157"/>
              <a:gd name="T75" fmla="*/ 354 h 495"/>
              <a:gd name="T76" fmla="*/ 18 w 157"/>
              <a:gd name="T77" fmla="*/ 365 h 495"/>
              <a:gd name="T78" fmla="*/ 24 w 157"/>
              <a:gd name="T79" fmla="*/ 377 h 495"/>
              <a:gd name="T80" fmla="*/ 36 w 157"/>
              <a:gd name="T81" fmla="*/ 383 h 495"/>
              <a:gd name="T82" fmla="*/ 42 w 157"/>
              <a:gd name="T83" fmla="*/ 395 h 495"/>
              <a:gd name="T84" fmla="*/ 36 w 157"/>
              <a:gd name="T85" fmla="*/ 406 h 495"/>
              <a:gd name="T86" fmla="*/ 30 w 157"/>
              <a:gd name="T87" fmla="*/ 418 h 495"/>
              <a:gd name="T88" fmla="*/ 18 w 157"/>
              <a:gd name="T89" fmla="*/ 418 h 495"/>
              <a:gd name="T90" fmla="*/ 6 w 157"/>
              <a:gd name="T91" fmla="*/ 429 h 495"/>
              <a:gd name="T92" fmla="*/ 6 w 157"/>
              <a:gd name="T93" fmla="*/ 441 h 495"/>
              <a:gd name="T94" fmla="*/ 18 w 157"/>
              <a:gd name="T95" fmla="*/ 447 h 495"/>
              <a:gd name="T96" fmla="*/ 24 w 157"/>
              <a:gd name="T97" fmla="*/ 459 h 495"/>
              <a:gd name="T98" fmla="*/ 30 w 157"/>
              <a:gd name="T99" fmla="*/ 470 h 495"/>
              <a:gd name="T100" fmla="*/ 60 w 157"/>
              <a:gd name="T101" fmla="*/ 491 h 495"/>
              <a:gd name="T102" fmla="*/ 156 w 157"/>
              <a:gd name="T103" fmla="*/ 494 h 495"/>
              <a:gd name="T104" fmla="*/ 156 w 157"/>
              <a:gd name="T105" fmla="*/ 0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7" h="495">
                <a:moveTo>
                  <a:pt x="144" y="0"/>
                </a:moveTo>
                <a:lnTo>
                  <a:pt x="63" y="0"/>
                </a:lnTo>
                <a:lnTo>
                  <a:pt x="54" y="28"/>
                </a:lnTo>
                <a:lnTo>
                  <a:pt x="42" y="33"/>
                </a:lnTo>
                <a:lnTo>
                  <a:pt x="36" y="45"/>
                </a:lnTo>
                <a:lnTo>
                  <a:pt x="24" y="51"/>
                </a:lnTo>
                <a:lnTo>
                  <a:pt x="18" y="63"/>
                </a:lnTo>
                <a:lnTo>
                  <a:pt x="30" y="68"/>
                </a:lnTo>
                <a:lnTo>
                  <a:pt x="42" y="74"/>
                </a:lnTo>
                <a:lnTo>
                  <a:pt x="48" y="86"/>
                </a:lnTo>
                <a:lnTo>
                  <a:pt x="54" y="98"/>
                </a:lnTo>
                <a:lnTo>
                  <a:pt x="42" y="98"/>
                </a:lnTo>
                <a:lnTo>
                  <a:pt x="30" y="109"/>
                </a:lnTo>
                <a:lnTo>
                  <a:pt x="24" y="121"/>
                </a:lnTo>
                <a:lnTo>
                  <a:pt x="12" y="132"/>
                </a:lnTo>
                <a:lnTo>
                  <a:pt x="6" y="144"/>
                </a:lnTo>
                <a:lnTo>
                  <a:pt x="18" y="150"/>
                </a:lnTo>
                <a:lnTo>
                  <a:pt x="30" y="162"/>
                </a:lnTo>
                <a:lnTo>
                  <a:pt x="42" y="167"/>
                </a:lnTo>
                <a:lnTo>
                  <a:pt x="42" y="179"/>
                </a:lnTo>
                <a:lnTo>
                  <a:pt x="36" y="191"/>
                </a:lnTo>
                <a:lnTo>
                  <a:pt x="24" y="191"/>
                </a:lnTo>
                <a:lnTo>
                  <a:pt x="18" y="202"/>
                </a:lnTo>
                <a:lnTo>
                  <a:pt x="12" y="214"/>
                </a:lnTo>
                <a:lnTo>
                  <a:pt x="12" y="226"/>
                </a:lnTo>
                <a:lnTo>
                  <a:pt x="12" y="237"/>
                </a:lnTo>
                <a:lnTo>
                  <a:pt x="6" y="249"/>
                </a:lnTo>
                <a:lnTo>
                  <a:pt x="0" y="261"/>
                </a:lnTo>
                <a:lnTo>
                  <a:pt x="0" y="272"/>
                </a:lnTo>
                <a:lnTo>
                  <a:pt x="6" y="284"/>
                </a:lnTo>
                <a:lnTo>
                  <a:pt x="18" y="290"/>
                </a:lnTo>
                <a:lnTo>
                  <a:pt x="30" y="296"/>
                </a:lnTo>
                <a:lnTo>
                  <a:pt x="36" y="307"/>
                </a:lnTo>
                <a:lnTo>
                  <a:pt x="42" y="319"/>
                </a:lnTo>
                <a:lnTo>
                  <a:pt x="48" y="330"/>
                </a:lnTo>
                <a:lnTo>
                  <a:pt x="36" y="342"/>
                </a:lnTo>
                <a:lnTo>
                  <a:pt x="24" y="348"/>
                </a:lnTo>
                <a:lnTo>
                  <a:pt x="12" y="354"/>
                </a:lnTo>
                <a:lnTo>
                  <a:pt x="18" y="365"/>
                </a:lnTo>
                <a:lnTo>
                  <a:pt x="24" y="377"/>
                </a:lnTo>
                <a:lnTo>
                  <a:pt x="36" y="383"/>
                </a:lnTo>
                <a:lnTo>
                  <a:pt x="42" y="395"/>
                </a:lnTo>
                <a:lnTo>
                  <a:pt x="36" y="406"/>
                </a:lnTo>
                <a:lnTo>
                  <a:pt x="30" y="418"/>
                </a:lnTo>
                <a:lnTo>
                  <a:pt x="18" y="418"/>
                </a:lnTo>
                <a:lnTo>
                  <a:pt x="6" y="429"/>
                </a:lnTo>
                <a:lnTo>
                  <a:pt x="6" y="441"/>
                </a:lnTo>
                <a:lnTo>
                  <a:pt x="18" y="447"/>
                </a:lnTo>
                <a:lnTo>
                  <a:pt x="24" y="459"/>
                </a:lnTo>
                <a:lnTo>
                  <a:pt x="30" y="470"/>
                </a:lnTo>
                <a:lnTo>
                  <a:pt x="60" y="491"/>
                </a:lnTo>
                <a:lnTo>
                  <a:pt x="156" y="494"/>
                </a:lnTo>
                <a:lnTo>
                  <a:pt x="156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58" name="Rectangle 42">
            <a:extLst>
              <a:ext uri="{FF2B5EF4-FFF2-40B4-BE49-F238E27FC236}">
                <a16:creationId xmlns:a16="http://schemas.microsoft.com/office/drawing/2014/main" id="{D68BFD27-5ED4-F0F8-0BA3-735979ED0F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169863"/>
            <a:ext cx="142875" cy="819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59" name="AutoShape 43">
            <a:extLst>
              <a:ext uri="{FF2B5EF4-FFF2-40B4-BE49-F238E27FC236}">
                <a16:creationId xmlns:a16="http://schemas.microsoft.com/office/drawing/2014/main" id="{DAA074E4-EC58-F28D-3A68-B483D9E28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501650"/>
            <a:ext cx="168275" cy="139700"/>
          </a:xfrm>
          <a:prstGeom prst="rightArrow">
            <a:avLst>
              <a:gd name="adj1" fmla="val 50000"/>
              <a:gd name="adj2" fmla="val 60233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2700" dir="54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9260" name="Rectangle 44">
            <a:extLst>
              <a:ext uri="{FF2B5EF4-FFF2-40B4-BE49-F238E27FC236}">
                <a16:creationId xmlns:a16="http://schemas.microsoft.com/office/drawing/2014/main" id="{DE842536-2C1E-239D-1A9F-CDCD0E378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2192338"/>
            <a:ext cx="3278188" cy="117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County(1)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Age(2,3)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PopTotal(2,2,1)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26 TO PopTotal(2,3,1)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12 TO PopTotal(2,</a:t>
            </a:r>
            <a:r>
              <a:rPr lang="en-US" altLang="en-US" sz="1400" b="1">
                <a:solidFill>
                  <a:srgbClr val="006600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,</a:t>
            </a:r>
            <a:r>
              <a:rPr lang="en-US" altLang="en-US" sz="1400" b="1">
                <a:solidFill>
                  <a:schemeClr val="accent2"/>
                </a:solidFill>
                <a:latin typeface="Courier New" panose="02070309020205020404" pitchFamily="49" charset="0"/>
              </a:rPr>
              <a:t>1</a:t>
            </a: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)</a:t>
            </a:r>
            <a:r>
              <a:rPr lang="en-US" altLang="en-US" sz="1400" b="1">
                <a:latin typeface="Courier New" panose="02070309020205020404" pitchFamily="49" charset="0"/>
              </a:rPr>
              <a:t> 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PopulationTable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4C4F7872-A8F6-29C0-D384-9B17E02513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" y="982663"/>
            <a:ext cx="3460750" cy="86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01 PopulationTable.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</a:t>
            </a: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02 County OCCURS 26 TIMES.</a:t>
            </a: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rgbClr val="006633"/>
                </a:solidFill>
                <a:latin typeface="Courier New" panose="02070309020205020404" pitchFamily="49" charset="0"/>
              </a:rPr>
              <a:t>      03 Age OCCURS 3 TIMES.</a:t>
            </a:r>
            <a:endParaRPr lang="en-US" altLang="en-US" sz="1200" b="1">
              <a:solidFill>
                <a:srgbClr val="009900"/>
              </a:solidFill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solidFill>
                  <a:schemeClr val="accent2"/>
                </a:solidFill>
                <a:latin typeface="Courier New" panose="02070309020205020404" pitchFamily="49" charset="0"/>
              </a:rPr>
              <a:t>         04 Gender OCCURS 2 TIMES.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>
              <a:lnSpc>
                <a:spcPct val="85000"/>
              </a:lnSpc>
            </a:pPr>
            <a:r>
              <a:rPr lang="en-US" altLang="en-US" sz="1200" b="1">
                <a:latin typeface="Courier New" panose="02070309020205020404" pitchFamily="49" charset="0"/>
              </a:rPr>
              <a:t>            </a:t>
            </a:r>
            <a:r>
              <a:rPr lang="en-US" altLang="en-US" sz="1200" b="1">
                <a:solidFill>
                  <a:srgbClr val="393939"/>
                </a:solidFill>
                <a:latin typeface="Courier New" panose="02070309020205020404" pitchFamily="49" charset="0"/>
              </a:rPr>
              <a:t>05 PopTotal   PIC 9(6).</a:t>
            </a:r>
            <a:r>
              <a:rPr lang="en-US" altLang="en-US" b="1"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AF4E6F2E-14C2-959F-C23D-EEBA776EE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DB4789E9-597F-BD37-DFF6-912324640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563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FC3B6357-ABD6-7A8A-FD2E-3561CF485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7B8FBB8A-F6A4-E240-B762-BEFFF91A9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65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E3C7B8C8-99A0-481C-9250-9988449AB9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5A5E2678-C06E-F3E3-A145-1195D01CD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8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28F14E49-38E2-128A-53C3-94381AC3D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1</a:t>
            </a:r>
          </a:p>
        </p:txBody>
      </p:sp>
      <p:sp>
        <p:nvSpPr>
          <p:cNvPr id="10250" name="Rectangle 10">
            <a:extLst>
              <a:ext uri="{FF2B5EF4-FFF2-40B4-BE49-F238E27FC236}">
                <a16:creationId xmlns:a16="http://schemas.microsoft.com/office/drawing/2014/main" id="{5A54B3F2-E041-CC71-C8F3-0A6FDE2A0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10253" name="Group 13">
            <a:extLst>
              <a:ext uri="{FF2B5EF4-FFF2-40B4-BE49-F238E27FC236}">
                <a16:creationId xmlns:a16="http://schemas.microsoft.com/office/drawing/2014/main" id="{29154973-B4FE-C415-6981-AE96308C3666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517525"/>
            <a:ext cx="693738" cy="149225"/>
            <a:chOff x="136" y="326"/>
            <a:chExt cx="437" cy="94"/>
          </a:xfrm>
        </p:grpSpPr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AFF0FB48-A657-C5C1-5482-B3817A4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41E8FFEC-CF49-C330-9BBC-5FFA0E14A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0E2F7175-FF93-D514-FB5F-F7A16C50F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98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10257" name="Group 17">
            <a:extLst>
              <a:ext uri="{FF2B5EF4-FFF2-40B4-BE49-F238E27FC236}">
                <a16:creationId xmlns:a16="http://schemas.microsoft.com/office/drawing/2014/main" id="{4EE21CB1-0E7F-A3A2-2DA7-ABFB9AA07A28}"/>
              </a:ext>
            </a:extLst>
          </p:cNvPr>
          <p:cNvGrpSpPr>
            <a:grpSpLocks/>
          </p:cNvGrpSpPr>
          <p:nvPr/>
        </p:nvGrpSpPr>
        <p:grpSpPr bwMode="auto">
          <a:xfrm>
            <a:off x="915988" y="517525"/>
            <a:ext cx="693737" cy="149225"/>
            <a:chOff x="577" y="326"/>
            <a:chExt cx="437" cy="94"/>
          </a:xfrm>
        </p:grpSpPr>
        <p:sp>
          <p:nvSpPr>
            <p:cNvPr id="10255" name="Rectangle 15">
              <a:extLst>
                <a:ext uri="{FF2B5EF4-FFF2-40B4-BE49-F238E27FC236}">
                  <a16:creationId xmlns:a16="http://schemas.microsoft.com/office/drawing/2014/main" id="{891F9276-EEDC-E9B7-FE7B-0036F190ED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7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0256" name="Rectangle 16">
              <a:extLst>
                <a:ext uri="{FF2B5EF4-FFF2-40B4-BE49-F238E27FC236}">
                  <a16:creationId xmlns:a16="http://schemas.microsoft.com/office/drawing/2014/main" id="{7216F67D-07CD-9D6C-D74F-F700D58CE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5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10258" name="Rectangle 18">
            <a:extLst>
              <a:ext uri="{FF2B5EF4-FFF2-40B4-BE49-F238E27FC236}">
                <a16:creationId xmlns:a16="http://schemas.microsoft.com/office/drawing/2014/main" id="{9786C216-F608-913E-BD39-CE955163F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1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10261" name="Group 21">
            <a:extLst>
              <a:ext uri="{FF2B5EF4-FFF2-40B4-BE49-F238E27FC236}">
                <a16:creationId xmlns:a16="http://schemas.microsoft.com/office/drawing/2014/main" id="{55E92035-15EA-326D-9A50-5952DCDD87C9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517525"/>
            <a:ext cx="693737" cy="149225"/>
            <a:chOff x="1015" y="326"/>
            <a:chExt cx="437" cy="94"/>
          </a:xfrm>
        </p:grpSpPr>
        <p:sp>
          <p:nvSpPr>
            <p:cNvPr id="10259" name="Rectangle 19">
              <a:extLst>
                <a:ext uri="{FF2B5EF4-FFF2-40B4-BE49-F238E27FC236}">
                  <a16:creationId xmlns:a16="http://schemas.microsoft.com/office/drawing/2014/main" id="{69202E64-E3DC-2F70-5107-5243658AE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1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0260" name="Rectangle 20">
              <a:extLst>
                <a:ext uri="{FF2B5EF4-FFF2-40B4-BE49-F238E27FC236}">
                  <a16:creationId xmlns:a16="http://schemas.microsoft.com/office/drawing/2014/main" id="{2FB5668D-2544-FF12-9E8B-256C6A2D78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3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10262" name="Rectangle 22">
            <a:extLst>
              <a:ext uri="{FF2B5EF4-FFF2-40B4-BE49-F238E27FC236}">
                <a16:creationId xmlns:a16="http://schemas.microsoft.com/office/drawing/2014/main" id="{AC3FA007-EC96-1E2A-447D-A5847B9A1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669925"/>
            <a:ext cx="341313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10263" name="Rectangle 23">
            <a:extLst>
              <a:ext uri="{FF2B5EF4-FFF2-40B4-BE49-F238E27FC236}">
                <a16:creationId xmlns:a16="http://schemas.microsoft.com/office/drawing/2014/main" id="{89055545-5B01-40AF-F31E-4F753452CB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5888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10264" name="Rectangle 24">
            <a:extLst>
              <a:ext uri="{FF2B5EF4-FFF2-40B4-BE49-F238E27FC236}">
                <a16:creationId xmlns:a16="http://schemas.microsoft.com/office/drawing/2014/main" id="{537B9AE3-5C90-1653-8489-D500BE3F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10265" name="Rectangle 25">
            <a:extLst>
              <a:ext uri="{FF2B5EF4-FFF2-40B4-BE49-F238E27FC236}">
                <a16:creationId xmlns:a16="http://schemas.microsoft.com/office/drawing/2014/main" id="{7B45C0D7-2911-A2BB-986A-B42B6EE2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5975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10266" name="Rectangle 26">
            <a:extLst>
              <a:ext uri="{FF2B5EF4-FFF2-40B4-BE49-F238E27FC236}">
                <a16:creationId xmlns:a16="http://schemas.microsoft.com/office/drawing/2014/main" id="{249A6F29-62EF-5F49-B1F3-2C01F3360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669925"/>
            <a:ext cx="341312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10267" name="Rectangle 27">
            <a:extLst>
              <a:ext uri="{FF2B5EF4-FFF2-40B4-BE49-F238E27FC236}">
                <a16:creationId xmlns:a16="http://schemas.microsoft.com/office/drawing/2014/main" id="{63D7BCE2-16BF-6DDD-3130-722442987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1300" y="669925"/>
            <a:ext cx="346075" cy="296863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4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000</a:t>
            </a:r>
          </a:p>
        </p:txBody>
      </p:sp>
      <p:sp>
        <p:nvSpPr>
          <p:cNvPr id="10268" name="Rectangle 28">
            <a:extLst>
              <a:ext uri="{FF2B5EF4-FFF2-40B4-BE49-F238E27FC236}">
                <a16:creationId xmlns:a16="http://schemas.microsoft.com/office/drawing/2014/main" id="{009C7109-6BA0-73D7-698A-8F3679759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188913"/>
            <a:ext cx="2089150" cy="16351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ctr"/>
            <a:r>
              <a:rPr lang="en-US" altLang="en-US" sz="1200" b="1">
                <a:solidFill>
                  <a:srgbClr val="CC0000"/>
                </a:solidFill>
                <a:latin typeface="Arial" panose="020B0604020202020204" pitchFamily="34" charset="0"/>
              </a:rPr>
              <a:t>2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0DF85055-0362-FE60-6A90-C7A8709B4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355600"/>
            <a:ext cx="693738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1</a:t>
            </a:r>
          </a:p>
        </p:txBody>
      </p:sp>
      <p:grpSp>
        <p:nvGrpSpPr>
          <p:cNvPr id="10272" name="Group 32">
            <a:extLst>
              <a:ext uri="{FF2B5EF4-FFF2-40B4-BE49-F238E27FC236}">
                <a16:creationId xmlns:a16="http://schemas.microsoft.com/office/drawing/2014/main" id="{3EB9CF97-059B-7BA6-E93C-2353F0A42448}"/>
              </a:ext>
            </a:extLst>
          </p:cNvPr>
          <p:cNvGrpSpPr>
            <a:grpSpLocks/>
          </p:cNvGrpSpPr>
          <p:nvPr/>
        </p:nvGrpSpPr>
        <p:grpSpPr bwMode="auto">
          <a:xfrm>
            <a:off x="2308225" y="517525"/>
            <a:ext cx="693738" cy="149225"/>
            <a:chOff x="1454" y="326"/>
            <a:chExt cx="437" cy="94"/>
          </a:xfrm>
        </p:grpSpPr>
        <p:sp>
          <p:nvSpPr>
            <p:cNvPr id="10270" name="Rectangle 30">
              <a:extLst>
                <a:ext uri="{FF2B5EF4-FFF2-40B4-BE49-F238E27FC236}">
                  <a16:creationId xmlns:a16="http://schemas.microsoft.com/office/drawing/2014/main" id="{1FBE3004-270D-37E9-CB96-0E6DD2867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4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0271" name="Rectangle 31">
              <a:extLst>
                <a:ext uri="{FF2B5EF4-FFF2-40B4-BE49-F238E27FC236}">
                  <a16:creationId xmlns:a16="http://schemas.microsoft.com/office/drawing/2014/main" id="{9238B085-E32E-A09E-0ABB-B519526FA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10273" name="Rectangle 33">
            <a:extLst>
              <a:ext uri="{FF2B5EF4-FFF2-40B4-BE49-F238E27FC236}">
                <a16:creationId xmlns:a16="http://schemas.microsoft.com/office/drawing/2014/main" id="{8CDFA36B-2063-C26F-5FF2-04F0D5299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8313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2</a:t>
            </a:r>
          </a:p>
        </p:txBody>
      </p:sp>
      <p:grpSp>
        <p:nvGrpSpPr>
          <p:cNvPr id="10276" name="Group 36">
            <a:extLst>
              <a:ext uri="{FF2B5EF4-FFF2-40B4-BE49-F238E27FC236}">
                <a16:creationId xmlns:a16="http://schemas.microsoft.com/office/drawing/2014/main" id="{BCB8E5FC-732A-CDD1-0D9E-4603D262A530}"/>
              </a:ext>
            </a:extLst>
          </p:cNvPr>
          <p:cNvGrpSpPr>
            <a:grpSpLocks/>
          </p:cNvGrpSpPr>
          <p:nvPr/>
        </p:nvGrpSpPr>
        <p:grpSpPr bwMode="auto">
          <a:xfrm>
            <a:off x="3008313" y="517525"/>
            <a:ext cx="693737" cy="149225"/>
            <a:chOff x="1895" y="326"/>
            <a:chExt cx="437" cy="94"/>
          </a:xfrm>
        </p:grpSpPr>
        <p:sp>
          <p:nvSpPr>
            <p:cNvPr id="10274" name="Rectangle 34">
              <a:extLst>
                <a:ext uri="{FF2B5EF4-FFF2-40B4-BE49-F238E27FC236}">
                  <a16:creationId xmlns:a16="http://schemas.microsoft.com/office/drawing/2014/main" id="{AA20991F-D766-4DE1-D71E-F1CF1E7F65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0275" name="Rectangle 35">
              <a:extLst>
                <a:ext uri="{FF2B5EF4-FFF2-40B4-BE49-F238E27FC236}">
                  <a16:creationId xmlns:a16="http://schemas.microsoft.com/office/drawing/2014/main" id="{8066ADB4-633A-0779-7938-9157D47DEF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3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10277" name="Rectangle 37">
            <a:extLst>
              <a:ext uri="{FF2B5EF4-FFF2-40B4-BE49-F238E27FC236}">
                <a16:creationId xmlns:a16="http://schemas.microsoft.com/office/drawing/2014/main" id="{4AC3E8A3-1E4E-C125-50EA-EF6AA07869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3638" y="355600"/>
            <a:ext cx="693737" cy="15875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Ctr="1"/>
          <a:lstStyle/>
          <a:p>
            <a:pPr algn="ctr"/>
            <a:r>
              <a:rPr lang="en-US" altLang="en-US" sz="1200" b="1">
                <a:solidFill>
                  <a:srgbClr val="006633"/>
                </a:solidFill>
                <a:latin typeface="Arial" panose="020B0604020202020204" pitchFamily="34" charset="0"/>
              </a:rPr>
              <a:t>3</a:t>
            </a:r>
          </a:p>
        </p:txBody>
      </p:sp>
      <p:grpSp>
        <p:nvGrpSpPr>
          <p:cNvPr id="10280" name="Group 40">
            <a:extLst>
              <a:ext uri="{FF2B5EF4-FFF2-40B4-BE49-F238E27FC236}">
                <a16:creationId xmlns:a16="http://schemas.microsoft.com/office/drawing/2014/main" id="{C53A291D-84EE-FD9C-4CC0-AD6B0BB0AEEC}"/>
              </a:ext>
            </a:extLst>
          </p:cNvPr>
          <p:cNvGrpSpPr>
            <a:grpSpLocks/>
          </p:cNvGrpSpPr>
          <p:nvPr/>
        </p:nvGrpSpPr>
        <p:grpSpPr bwMode="auto">
          <a:xfrm>
            <a:off x="3703638" y="517525"/>
            <a:ext cx="693737" cy="149225"/>
            <a:chOff x="2333" y="326"/>
            <a:chExt cx="437" cy="94"/>
          </a:xfrm>
        </p:grpSpPr>
        <p:sp>
          <p:nvSpPr>
            <p:cNvPr id="10278" name="Rectangle 38">
              <a:extLst>
                <a:ext uri="{FF2B5EF4-FFF2-40B4-BE49-F238E27FC236}">
                  <a16:creationId xmlns:a16="http://schemas.microsoft.com/office/drawing/2014/main" id="{1AE33A4E-A74D-449B-7523-FD33A78A0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326"/>
              <a:ext cx="218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1</a:t>
              </a:r>
            </a:p>
          </p:txBody>
        </p:sp>
        <p:sp>
          <p:nvSpPr>
            <p:cNvPr id="10279" name="Rectangle 39">
              <a:extLst>
                <a:ext uri="{FF2B5EF4-FFF2-40B4-BE49-F238E27FC236}">
                  <a16:creationId xmlns:a16="http://schemas.microsoft.com/office/drawing/2014/main" id="{45887324-8902-5E6A-5434-A567ED5BC3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1" y="326"/>
              <a:ext cx="219" cy="9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 anchorCtr="1"/>
            <a:lstStyle/>
            <a:p>
              <a:pPr algn="ctr"/>
              <a:r>
                <a:rPr lang="en-US" altLang="en-US" sz="1200" b="1">
                  <a:solidFill>
                    <a:schemeClr val="accent2"/>
                  </a:solidFill>
                  <a:latin typeface="Arial" panose="020B0604020202020204" pitchFamily="34" charset="0"/>
                </a:rPr>
                <a:t>2</a:t>
              </a:r>
            </a:p>
          </p:txBody>
        </p:sp>
      </p:grpSp>
      <p:sp>
        <p:nvSpPr>
          <p:cNvPr id="10281" name="Freeform 41">
            <a:extLst>
              <a:ext uri="{FF2B5EF4-FFF2-40B4-BE49-F238E27FC236}">
                <a16:creationId xmlns:a16="http://schemas.microsoft.com/office/drawing/2014/main" id="{543DAB42-A154-C48B-FC91-B0F67ACBD3C6}"/>
              </a:ext>
            </a:extLst>
          </p:cNvPr>
          <p:cNvSpPr>
            <a:spLocks/>
          </p:cNvSpPr>
          <p:nvPr/>
        </p:nvSpPr>
        <p:spPr bwMode="auto">
          <a:xfrm>
            <a:off x="4233863" y="187325"/>
            <a:ext cx="249237" cy="785813"/>
          </a:xfrm>
          <a:custGeom>
            <a:avLst/>
            <a:gdLst>
              <a:gd name="T0" fmla="*/ 144 w 157"/>
              <a:gd name="T1" fmla="*/ 0 h 495"/>
              <a:gd name="T2" fmla="*/ 63 w 157"/>
              <a:gd name="T3" fmla="*/ 0 h 495"/>
              <a:gd name="T4" fmla="*/ 54 w 157"/>
              <a:gd name="T5" fmla="*/ 28 h 495"/>
              <a:gd name="T6" fmla="*/ 42 w 157"/>
              <a:gd name="T7" fmla="*/ 33 h 495"/>
              <a:gd name="T8" fmla="*/ 36 w 157"/>
              <a:gd name="T9" fmla="*/ 45 h 495"/>
              <a:gd name="T10" fmla="*/ 24 w 157"/>
              <a:gd name="T11" fmla="*/ 51 h 495"/>
              <a:gd name="T12" fmla="*/ 18 w 157"/>
              <a:gd name="T13" fmla="*/ 63 h 495"/>
              <a:gd name="T14" fmla="*/ 30 w 157"/>
              <a:gd name="T15" fmla="*/ 68 h 495"/>
              <a:gd name="T16" fmla="*/ 42 w 157"/>
              <a:gd name="T17" fmla="*/ 74 h 495"/>
              <a:gd name="T18" fmla="*/ 48 w 157"/>
              <a:gd name="T19" fmla="*/ 86 h 495"/>
              <a:gd name="T20" fmla="*/ 54 w 157"/>
              <a:gd name="T21" fmla="*/ 98 h 495"/>
              <a:gd name="T22" fmla="*/ 42 w 157"/>
              <a:gd name="T23" fmla="*/ 98 h 495"/>
              <a:gd name="T24" fmla="*/ 30 w 157"/>
              <a:gd name="T25" fmla="*/ 109 h 495"/>
              <a:gd name="T26" fmla="*/ 24 w 157"/>
              <a:gd name="T27" fmla="*/ 121 h 495"/>
              <a:gd name="T28" fmla="*/ 12 w 157"/>
              <a:gd name="T29" fmla="*/ 132 h 495"/>
              <a:gd name="T30" fmla="*/ 6 w 157"/>
              <a:gd name="T31" fmla="*/ 144 h 495"/>
              <a:gd name="T32" fmla="*/ 18 w 157"/>
              <a:gd name="T33" fmla="*/ 150 h 495"/>
              <a:gd name="T34" fmla="*/ 30 w 157"/>
              <a:gd name="T35" fmla="*/ 162 h 495"/>
              <a:gd name="T36" fmla="*/ 42 w 157"/>
              <a:gd name="T37" fmla="*/ 167 h 495"/>
              <a:gd name="T38" fmla="*/ 42 w 157"/>
              <a:gd name="T39" fmla="*/ 179 h 495"/>
              <a:gd name="T40" fmla="*/ 36 w 157"/>
              <a:gd name="T41" fmla="*/ 191 h 495"/>
              <a:gd name="T42" fmla="*/ 24 w 157"/>
              <a:gd name="T43" fmla="*/ 191 h 495"/>
              <a:gd name="T44" fmla="*/ 18 w 157"/>
              <a:gd name="T45" fmla="*/ 202 h 495"/>
              <a:gd name="T46" fmla="*/ 12 w 157"/>
              <a:gd name="T47" fmla="*/ 214 h 495"/>
              <a:gd name="T48" fmla="*/ 12 w 157"/>
              <a:gd name="T49" fmla="*/ 226 h 495"/>
              <a:gd name="T50" fmla="*/ 12 w 157"/>
              <a:gd name="T51" fmla="*/ 237 h 495"/>
              <a:gd name="T52" fmla="*/ 6 w 157"/>
              <a:gd name="T53" fmla="*/ 249 h 495"/>
              <a:gd name="T54" fmla="*/ 0 w 157"/>
              <a:gd name="T55" fmla="*/ 261 h 495"/>
              <a:gd name="T56" fmla="*/ 0 w 157"/>
              <a:gd name="T57" fmla="*/ 272 h 495"/>
              <a:gd name="T58" fmla="*/ 6 w 157"/>
              <a:gd name="T59" fmla="*/ 284 h 495"/>
              <a:gd name="T60" fmla="*/ 18 w 157"/>
              <a:gd name="T61" fmla="*/ 290 h 495"/>
              <a:gd name="T62" fmla="*/ 30 w 157"/>
              <a:gd name="T63" fmla="*/ 296 h 495"/>
              <a:gd name="T64" fmla="*/ 36 w 157"/>
              <a:gd name="T65" fmla="*/ 307 h 495"/>
              <a:gd name="T66" fmla="*/ 42 w 157"/>
              <a:gd name="T67" fmla="*/ 319 h 495"/>
              <a:gd name="T68" fmla="*/ 48 w 157"/>
              <a:gd name="T69" fmla="*/ 330 h 495"/>
              <a:gd name="T70" fmla="*/ 36 w 157"/>
              <a:gd name="T71" fmla="*/ 342 h 495"/>
              <a:gd name="T72" fmla="*/ 24 w 157"/>
              <a:gd name="T73" fmla="*/ 348 h 495"/>
              <a:gd name="T74" fmla="*/ 12 w 157"/>
              <a:gd name="T75" fmla="*/ 354 h 495"/>
              <a:gd name="T76" fmla="*/ 18 w 157"/>
              <a:gd name="T77" fmla="*/ 365 h 495"/>
              <a:gd name="T78" fmla="*/ 24 w 157"/>
              <a:gd name="T79" fmla="*/ 377 h 495"/>
              <a:gd name="T80" fmla="*/ 36 w 157"/>
              <a:gd name="T81" fmla="*/ 383 h 495"/>
              <a:gd name="T82" fmla="*/ 42 w 157"/>
              <a:gd name="T83" fmla="*/ 395 h 495"/>
              <a:gd name="T84" fmla="*/ 36 w 157"/>
              <a:gd name="T85" fmla="*/ 406 h 495"/>
              <a:gd name="T86" fmla="*/ 30 w 157"/>
              <a:gd name="T87" fmla="*/ 418 h 495"/>
              <a:gd name="T88" fmla="*/ 18 w 157"/>
              <a:gd name="T89" fmla="*/ 418 h 495"/>
              <a:gd name="T90" fmla="*/ 6 w 157"/>
              <a:gd name="T91" fmla="*/ 429 h 495"/>
              <a:gd name="T92" fmla="*/ 6 w 157"/>
              <a:gd name="T93" fmla="*/ 441 h 495"/>
              <a:gd name="T94" fmla="*/ 18 w 157"/>
              <a:gd name="T95" fmla="*/ 447 h 495"/>
              <a:gd name="T96" fmla="*/ 24 w 157"/>
              <a:gd name="T97" fmla="*/ 459 h 495"/>
              <a:gd name="T98" fmla="*/ 30 w 157"/>
              <a:gd name="T99" fmla="*/ 470 h 495"/>
              <a:gd name="T100" fmla="*/ 60 w 157"/>
              <a:gd name="T101" fmla="*/ 491 h 495"/>
              <a:gd name="T102" fmla="*/ 156 w 157"/>
              <a:gd name="T103" fmla="*/ 494 h 495"/>
              <a:gd name="T104" fmla="*/ 156 w 157"/>
              <a:gd name="T105" fmla="*/ 0 h 4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57" h="495">
                <a:moveTo>
                  <a:pt x="144" y="0"/>
                </a:moveTo>
                <a:lnTo>
                  <a:pt x="63" y="0"/>
                </a:lnTo>
                <a:lnTo>
                  <a:pt x="54" y="28"/>
                </a:lnTo>
                <a:lnTo>
                  <a:pt x="42" y="33"/>
                </a:lnTo>
                <a:lnTo>
                  <a:pt x="36" y="45"/>
                </a:lnTo>
                <a:lnTo>
                  <a:pt x="24" y="51"/>
                </a:lnTo>
                <a:lnTo>
                  <a:pt x="18" y="63"/>
                </a:lnTo>
                <a:lnTo>
                  <a:pt x="30" y="68"/>
                </a:lnTo>
                <a:lnTo>
                  <a:pt x="42" y="74"/>
                </a:lnTo>
                <a:lnTo>
                  <a:pt x="48" y="86"/>
                </a:lnTo>
                <a:lnTo>
                  <a:pt x="54" y="98"/>
                </a:lnTo>
                <a:lnTo>
                  <a:pt x="42" y="98"/>
                </a:lnTo>
                <a:lnTo>
                  <a:pt x="30" y="109"/>
                </a:lnTo>
                <a:lnTo>
                  <a:pt x="24" y="121"/>
                </a:lnTo>
                <a:lnTo>
                  <a:pt x="12" y="132"/>
                </a:lnTo>
                <a:lnTo>
                  <a:pt x="6" y="144"/>
                </a:lnTo>
                <a:lnTo>
                  <a:pt x="18" y="150"/>
                </a:lnTo>
                <a:lnTo>
                  <a:pt x="30" y="162"/>
                </a:lnTo>
                <a:lnTo>
                  <a:pt x="42" y="167"/>
                </a:lnTo>
                <a:lnTo>
                  <a:pt x="42" y="179"/>
                </a:lnTo>
                <a:lnTo>
                  <a:pt x="36" y="191"/>
                </a:lnTo>
                <a:lnTo>
                  <a:pt x="24" y="191"/>
                </a:lnTo>
                <a:lnTo>
                  <a:pt x="18" y="202"/>
                </a:lnTo>
                <a:lnTo>
                  <a:pt x="12" y="214"/>
                </a:lnTo>
                <a:lnTo>
                  <a:pt x="12" y="226"/>
                </a:lnTo>
                <a:lnTo>
                  <a:pt x="12" y="237"/>
                </a:lnTo>
                <a:lnTo>
                  <a:pt x="6" y="249"/>
                </a:lnTo>
                <a:lnTo>
                  <a:pt x="0" y="261"/>
                </a:lnTo>
                <a:lnTo>
                  <a:pt x="0" y="272"/>
                </a:lnTo>
                <a:lnTo>
                  <a:pt x="6" y="284"/>
                </a:lnTo>
                <a:lnTo>
                  <a:pt x="18" y="290"/>
                </a:lnTo>
                <a:lnTo>
                  <a:pt x="30" y="296"/>
                </a:lnTo>
                <a:lnTo>
                  <a:pt x="36" y="307"/>
                </a:lnTo>
                <a:lnTo>
                  <a:pt x="42" y="319"/>
                </a:lnTo>
                <a:lnTo>
                  <a:pt x="48" y="330"/>
                </a:lnTo>
                <a:lnTo>
                  <a:pt x="36" y="342"/>
                </a:lnTo>
                <a:lnTo>
                  <a:pt x="24" y="348"/>
                </a:lnTo>
                <a:lnTo>
                  <a:pt x="12" y="354"/>
                </a:lnTo>
                <a:lnTo>
                  <a:pt x="18" y="365"/>
                </a:lnTo>
                <a:lnTo>
                  <a:pt x="24" y="377"/>
                </a:lnTo>
                <a:lnTo>
                  <a:pt x="36" y="383"/>
                </a:lnTo>
                <a:lnTo>
                  <a:pt x="42" y="395"/>
                </a:lnTo>
                <a:lnTo>
                  <a:pt x="36" y="406"/>
                </a:lnTo>
                <a:lnTo>
                  <a:pt x="30" y="418"/>
                </a:lnTo>
                <a:lnTo>
                  <a:pt x="18" y="418"/>
                </a:lnTo>
                <a:lnTo>
                  <a:pt x="6" y="429"/>
                </a:lnTo>
                <a:lnTo>
                  <a:pt x="6" y="441"/>
                </a:lnTo>
                <a:lnTo>
                  <a:pt x="18" y="447"/>
                </a:lnTo>
                <a:lnTo>
                  <a:pt x="24" y="459"/>
                </a:lnTo>
                <a:lnTo>
                  <a:pt x="30" y="470"/>
                </a:lnTo>
                <a:lnTo>
                  <a:pt x="60" y="491"/>
                </a:lnTo>
                <a:lnTo>
                  <a:pt x="156" y="494"/>
                </a:lnTo>
                <a:lnTo>
                  <a:pt x="156" y="0"/>
                </a:lnTo>
              </a:path>
            </a:pathLst>
          </a:custGeom>
          <a:solidFill>
            <a:schemeClr val="bg1"/>
          </a:solidFill>
          <a:ln w="12700" cap="rnd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82" name="Rectangle 42">
            <a:extLst>
              <a:ext uri="{FF2B5EF4-FFF2-40B4-BE49-F238E27FC236}">
                <a16:creationId xmlns:a16="http://schemas.microsoft.com/office/drawing/2014/main" id="{0D64F64B-8751-94E4-813D-E1B8D1E17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925" y="169863"/>
            <a:ext cx="142875" cy="81915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3" name="AutoShape 43">
            <a:extLst>
              <a:ext uri="{FF2B5EF4-FFF2-40B4-BE49-F238E27FC236}">
                <a16:creationId xmlns:a16="http://schemas.microsoft.com/office/drawing/2014/main" id="{C5488F95-A2D7-C16B-2308-C3B9D984E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25" y="501650"/>
            <a:ext cx="168275" cy="139700"/>
          </a:xfrm>
          <a:prstGeom prst="rightArrow">
            <a:avLst>
              <a:gd name="adj1" fmla="val 50000"/>
              <a:gd name="adj2" fmla="val 60233"/>
            </a:avLst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2700" dir="54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84" name="Rectangle 44">
            <a:extLst>
              <a:ext uri="{FF2B5EF4-FFF2-40B4-BE49-F238E27FC236}">
                <a16:creationId xmlns:a16="http://schemas.microsoft.com/office/drawing/2014/main" id="{C30506E4-5BFE-09E6-3ADA-760763E4A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2192338"/>
            <a:ext cx="3278188" cy="117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County(1)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Age(2,3)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ZEROS TO PopTotal(2,2,1)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26 TO PopTotal(2,3,1)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latin typeface="Courier New" panose="02070309020205020404" pitchFamily="49" charset="0"/>
              </a:rPr>
              <a:t>MOVE 12 TO PopTotal(2,1,1) </a:t>
            </a:r>
          </a:p>
          <a:p>
            <a:pPr>
              <a:lnSpc>
                <a:spcPct val="85000"/>
              </a:lnSpc>
            </a:pPr>
            <a:r>
              <a:rPr lang="en-US" altLang="en-US" sz="1400" b="1">
                <a:solidFill>
                  <a:srgbClr val="CC0000"/>
                </a:solidFill>
                <a:latin typeface="Courier New" panose="02070309020205020404" pitchFamily="49" charset="0"/>
              </a:rPr>
              <a:t>MOVE ZEROS TO PopulationTable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637</TotalTime>
  <Words>731</Words>
  <Application>Microsoft Office PowerPoint</Application>
  <PresentationFormat>Custom</PresentationFormat>
  <Paragraphs>300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21</cp:revision>
  <dcterms:created xsi:type="dcterms:W3CDTF">1995-06-17T23:31:02Z</dcterms:created>
  <dcterms:modified xsi:type="dcterms:W3CDTF">2026-05-13T01:07:05Z</dcterms:modified>
</cp:coreProperties>
</file>