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presProps.xml" ContentType="application/vnd.openxmlformats-officedocument.presentationml.pres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Lst>
  <p:sldSz cx="4762500" cy="30480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Master0">
    <p:spTree>
      <p:nvGrpSpPr>
        <p:cNvPr id="1" name=""/>
        <p:cNvGrpSpPr/>
        <p:nvPr/>
      </p:nvGrpSpPr>
      <p:grpSpPr>
        <a:xfrm>
          <a:off x="0" y="0"/>
          <a:ext cx="0" cy="0"/>
          <a:chOff x="0" y="0"/>
          <a:chExt cx="0" cy="0"/>
        </a:xfrm>
      </p:grpSpPr>
      <p:sp>
        <p:nvSpPr>
          <p:cNvPr id="6" name="PlaceHolder 1"/>
          <p:cNvSpPr>
            <a:spLocks noGrp="1"/>
          </p:cNvSpPr>
          <p:nvPr>
            <p:ph type="title"/>
          </p:nvPr>
        </p:nvSpPr>
        <p:spPr>
          <a:xfrm>
            <a:off x="237960" y="63000"/>
            <a:ext cx="4285800" cy="62532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7" name="PlaceHolder 2"/>
          <p:cNvSpPr>
            <a:spLocks noGrp="1"/>
          </p:cNvSpPr>
          <p:nvPr>
            <p:ph type="subTitle"/>
          </p:nvPr>
        </p:nvSpPr>
        <p:spPr>
          <a:xfrm>
            <a:off x="237960" y="713160"/>
            <a:ext cx="4285800" cy="1767240"/>
          </a:xfrm>
          <a:prstGeom prst="rect">
            <a:avLst/>
          </a:prstGeom>
          <a:noFill/>
          <a:ln w="0">
            <a:noFill/>
          </a:ln>
        </p:spPr>
        <p:txBody>
          <a:bodyPr lIns="0" tIns="0" rIns="0" bIns="0" anchor="ctr">
            <a:spAutoFit/>
          </a:bodyPr>
          <a:p>
            <a:pPr indent="0" algn="ctr">
              <a:buNone/>
            </a:pPr>
            <a:endParaRPr lang="en-US" sz="3200" b="0" u="none" strike="noStrik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0">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
          <p:cNvSpPr/>
          <p:nvPr/>
        </p:nvSpPr>
        <p:spPr>
          <a:xfrm>
            <a:off x="0" y="0"/>
            <a:ext cx="4762440" cy="3048120"/>
          </a:xfrm>
          <a:prstGeom prst="rect">
            <a:avLst/>
          </a:prstGeom>
          <a:solidFill>
            <a:srgbClr val="FFFFFF"/>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3" name=""/>
          <p:cNvSpPr/>
          <p:nvPr/>
        </p:nvSpPr>
        <p:spPr>
          <a:xfrm>
            <a:off x="9360" y="9360"/>
            <a:ext cx="4746600" cy="3032280"/>
          </a:xfrm>
          <a:prstGeom prst="rect">
            <a:avLst/>
          </a:prstGeom>
          <a:noFill/>
          <a:ln w="12600">
            <a:solidFill>
              <a:srgbClr val="000000"/>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4" name="PlaceHolder 1"/>
          <p:cNvSpPr>
            <a:spLocks noGrp="1"/>
          </p:cNvSpPr>
          <p:nvPr>
            <p:ph type="title"/>
          </p:nvPr>
        </p:nvSpPr>
        <p:spPr>
          <a:xfrm>
            <a:off x="237960" y="121320"/>
            <a:ext cx="4285800" cy="508320"/>
          </a:xfrm>
          <a:prstGeom prst="rect">
            <a:avLst/>
          </a:prstGeom>
          <a:noFill/>
          <a:ln w="0">
            <a:noFill/>
          </a:ln>
        </p:spPr>
        <p:txBody>
          <a:bodyPr lIns="0" tIns="0" rIns="0" bIns="0" anchor="ctr">
            <a:noAutofit/>
          </a:bodyPr>
          <a:lstStyle>
            <a:lvl1pPr indent="0" algn="ctr">
              <a:buNone/>
              <a:defRPr lang="en-US" sz="4400" b="0" u="none" strike="noStrike">
                <a:solidFill>
                  <a:srgbClr val="000000"/>
                </a:solidFill>
                <a:effectLst/>
                <a:uFillTx/>
                <a:latin typeface="Arial"/>
              </a:defRPr>
            </a:lvl1pPr>
          </a:lstStyle>
          <a:p>
            <a:pPr indent="0" algn="ctr">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5" name="PlaceHolder 2"/>
          <p:cNvSpPr>
            <a:spLocks noGrp="1"/>
          </p:cNvSpPr>
          <p:nvPr>
            <p:ph type="body"/>
          </p:nvPr>
        </p:nvSpPr>
        <p:spPr>
          <a:xfrm>
            <a:off x="237960" y="713160"/>
            <a:ext cx="4285800" cy="1767240"/>
          </a:xfrm>
          <a:prstGeom prst="rect">
            <a:avLst/>
          </a:prstGeom>
          <a:noFill/>
          <a:ln w="0">
            <a:noFill/>
          </a:ln>
        </p:spPr>
        <p:txBody>
          <a:bodyPr lIns="0" tIns="0" rIns="0" bIns="0" anchor="t">
            <a:normAutofit fontScale="62500" lnSpcReduction="19999"/>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 name=""/>
          <p:cNvSpPr txBox="1"/>
          <p:nvPr/>
        </p:nvSpPr>
        <p:spPr>
          <a:xfrm>
            <a:off x="171360" y="579600"/>
            <a:ext cx="4389480" cy="464760"/>
          </a:xfrm>
          <a:prstGeom prst="rect">
            <a:avLst/>
          </a:prstGeom>
          <a:noFill/>
          <a:ln w="0">
            <a:noFill/>
          </a:ln>
        </p:spPr>
        <p:txBody>
          <a:bodyPr lIns="0" tIns="0" rIns="0" bIns="0" anchor="t">
            <a:spAutoFit/>
          </a:bodyPr>
          <a:p>
            <a:pPr>
              <a:lnSpc>
                <a:spcPct val="90000"/>
              </a:lnSpc>
              <a:spcBef>
                <a:spcPts val="2041"/>
              </a:spcBef>
              <a:tabLst>
                <a:tab pos="2577960" algn="l"/>
                <a:tab pos="4762440" algn="l"/>
                <a:tab pos="6095880" algn="l"/>
              </a:tabLst>
            </a:pPr>
            <a:r>
              <a:rPr lang="en-US" sz="1200" b="1" u="none" strike="noStrike">
                <a:solidFill>
                  <a:srgbClr val="CC0000"/>
                </a:solidFill>
                <a:effectLst/>
                <a:uFillTx/>
                <a:latin typeface="Courier New"/>
                <a:ea typeface="Courier New"/>
              </a:rPr>
              <a:t>01 TextValue    PIC X(7).</a:t>
            </a:r>
            <a:br>
              <a:rPr sz="1800"/>
            </a:br>
            <a:r>
              <a:rPr lang="en-US" sz="1200" b="1" u="none" strike="noStrike">
                <a:solidFill>
                  <a:srgbClr val="000000"/>
                </a:solidFill>
                <a:effectLst/>
                <a:uFillTx/>
                <a:latin typeface="Courier New"/>
                <a:ea typeface="Courier New"/>
              </a:rPr>
              <a:t>01 NumericValue REDEFINES TextValue PIC 9(5)V99.</a:t>
            </a:r>
            <a:endParaRPr lang="en-US" sz="1200" b="0" u="none" strike="noStrike">
              <a:solidFill>
                <a:srgbClr val="000000"/>
              </a:solidFill>
              <a:effectLst/>
              <a:uFillTx/>
              <a:latin typeface="Arial"/>
            </a:endParaRPr>
          </a:p>
        </p:txBody>
      </p:sp>
      <p:sp>
        <p:nvSpPr>
          <p:cNvPr id="9" name=""/>
          <p:cNvSpPr txBox="1"/>
          <p:nvPr/>
        </p:nvSpPr>
        <p:spPr>
          <a:xfrm>
            <a:off x="171360" y="152280"/>
            <a:ext cx="1986120" cy="417600"/>
          </a:xfrm>
          <a:prstGeom prst="rect">
            <a:avLst/>
          </a:prstGeom>
          <a:solidFill>
            <a:srgbClr val="FFFFCC"/>
          </a:solidFill>
          <a:ln w="25560">
            <a:solidFill>
              <a:srgbClr val="000000"/>
            </a:solidFill>
            <a:round/>
          </a:ln>
        </p:spPr>
        <p:txBody>
          <a:bodyPr lIns="0" tIns="0" rIns="0" bIns="0" anchor="t">
            <a:spAutoFit/>
          </a:bodyPr>
          <a:p>
            <a:pPr algn="ctr">
              <a:lnSpc>
                <a:spcPct val="100000"/>
              </a:lnSpc>
            </a:pPr>
            <a:r>
              <a:rPr lang="en-US" sz="1800" b="1" u="none" strike="noStrike">
                <a:solidFill>
                  <a:srgbClr val="FF3300"/>
                </a:solidFill>
                <a:effectLst/>
                <a:uFillTx/>
                <a:latin typeface="Courier New"/>
                <a:ea typeface="Courier New"/>
              </a:rPr>
              <a:t>1 2 3 4 5 6 7</a:t>
            </a:r>
            <a:endParaRPr lang="en-US" sz="1800" b="0" u="none" strike="noStrike">
              <a:solidFill>
                <a:srgbClr val="000000"/>
              </a:solidFill>
              <a:effectLst/>
              <a:uFillTx/>
              <a:latin typeface="Arial"/>
            </a:endParaRPr>
          </a:p>
        </p:txBody>
      </p:sp>
      <p:sp>
        <p:nvSpPr>
          <p:cNvPr id="10" name=""/>
          <p:cNvSpPr txBox="1"/>
          <p:nvPr/>
        </p:nvSpPr>
        <p:spPr>
          <a:xfrm>
            <a:off x="2614680" y="1833480"/>
            <a:ext cx="2082960" cy="1060560"/>
          </a:xfrm>
          <a:prstGeom prst="rect">
            <a:avLst/>
          </a:prstGeom>
          <a:solidFill>
            <a:srgbClr val="FFFFCC"/>
          </a:solidFill>
          <a:ln w="12600">
            <a:solidFill>
              <a:srgbClr val="000000"/>
            </a:solidFill>
            <a:round/>
          </a:ln>
        </p:spPr>
        <p:txBody>
          <a:bodyPr lIns="0" tIns="0" rIns="0" bIns="0" anchor="t">
            <a:spAutoFit/>
          </a:bodyPr>
          <a:p>
            <a:pPr algn="ctr">
              <a:lnSpc>
                <a:spcPct val="100000"/>
              </a:lnSpc>
            </a:pPr>
            <a:r>
              <a:rPr lang="en-US" sz="1000" b="0" u="none" strike="noStrike">
                <a:solidFill>
                  <a:srgbClr val="000000"/>
                </a:solidFill>
                <a:effectLst/>
                <a:uFillTx/>
                <a:latin typeface="Times New Roman"/>
                <a:ea typeface="Times New Roman"/>
              </a:rPr>
              <a:t>When we refer to TextValue, the value is treated as if it were an alphanumeric value. For instance, the compiler will reject a statement like IF </a:t>
            </a:r>
            <a:r>
              <a:rPr lang="en-US" sz="1000" b="0" i="1" u="none" strike="noStrike">
                <a:solidFill>
                  <a:srgbClr val="000000"/>
                </a:solidFill>
                <a:effectLst/>
                <a:uFillTx/>
                <a:latin typeface="Times New Roman"/>
                <a:ea typeface="Times New Roman"/>
              </a:rPr>
              <a:t>TextValue = 1234567.</a:t>
            </a:r>
            <a:r>
              <a:rPr lang="en-US" sz="1000" b="0" u="none" strike="noStrike">
                <a:solidFill>
                  <a:srgbClr val="000000"/>
                </a:solidFill>
                <a:effectLst/>
                <a:uFillTx/>
                <a:latin typeface="Times New Roman"/>
                <a:ea typeface="Times New Roman"/>
              </a:rPr>
              <a:t> </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 name=""/>
          <p:cNvSpPr txBox="1"/>
          <p:nvPr/>
        </p:nvSpPr>
        <p:spPr>
          <a:xfrm>
            <a:off x="171360" y="152280"/>
            <a:ext cx="1986120" cy="417600"/>
          </a:xfrm>
          <a:prstGeom prst="rect">
            <a:avLst/>
          </a:prstGeom>
          <a:solidFill>
            <a:srgbClr val="FFFFCC"/>
          </a:solidFill>
          <a:ln w="25560">
            <a:solidFill>
              <a:srgbClr val="000000"/>
            </a:solidFill>
            <a:round/>
          </a:ln>
        </p:spPr>
        <p:txBody>
          <a:bodyPr lIns="0" tIns="0" rIns="0" bIns="0" anchor="t">
            <a:spAutoFit/>
          </a:bodyPr>
          <a:p>
            <a:pPr algn="ctr">
              <a:lnSpc>
                <a:spcPct val="100000"/>
              </a:lnSpc>
            </a:pPr>
            <a:r>
              <a:rPr lang="en-US" sz="1800" b="1" u="none" strike="noStrike">
                <a:solidFill>
                  <a:srgbClr val="FF3300"/>
                </a:solidFill>
                <a:effectLst/>
                <a:uFillTx/>
                <a:latin typeface="Courier New"/>
                <a:ea typeface="Courier New"/>
              </a:rPr>
              <a:t>1 2 3 4 5 6 7</a:t>
            </a:r>
            <a:endParaRPr lang="en-US" sz="1800" b="0" u="none" strike="noStrike">
              <a:solidFill>
                <a:srgbClr val="000000"/>
              </a:solidFill>
              <a:effectLst/>
              <a:uFillTx/>
              <a:latin typeface="Arial"/>
            </a:endParaRPr>
          </a:p>
        </p:txBody>
      </p:sp>
      <p:sp>
        <p:nvSpPr>
          <p:cNvPr id="12" name=""/>
          <p:cNvSpPr/>
          <p:nvPr/>
        </p:nvSpPr>
        <p:spPr>
          <a:xfrm>
            <a:off x="1552680" y="399960"/>
            <a:ext cx="61920" cy="61920"/>
          </a:xfrm>
          <a:prstGeom prst="ellipse">
            <a:avLst/>
          </a:prstGeom>
          <a:solidFill>
            <a:srgbClr val="3333CC"/>
          </a:solidFill>
          <a:ln w="12600">
            <a:solidFill>
              <a:srgbClr val="3333CC"/>
            </a:solidFill>
            <a:round/>
          </a:ln>
        </p:spPr>
        <p:txBody>
          <a:bodyPr lIns="96120" tIns="10800" rIns="96120" bIns="10800" anchor="t">
            <a:noAutofit/>
          </a:bodyPr>
          <a:p>
            <a:endParaRPr lang="en-US" sz="1800" b="0" u="none" strike="noStrike">
              <a:solidFill>
                <a:srgbClr val="FFFFFF"/>
              </a:solidFill>
              <a:effectLst/>
              <a:uFillTx/>
              <a:latin typeface="Arial"/>
            </a:endParaRPr>
          </a:p>
        </p:txBody>
      </p:sp>
      <p:sp>
        <p:nvSpPr>
          <p:cNvPr id="13" name=""/>
          <p:cNvSpPr/>
          <p:nvPr/>
        </p:nvSpPr>
        <p:spPr>
          <a:xfrm>
            <a:off x="1495440" y="485640"/>
            <a:ext cx="171720" cy="171720"/>
          </a:xfrm>
          <a:custGeom>
            <a:avLst/>
            <a:gdLst/>
            <a:ahLst/>
            <a:rect l="0" t="0" r="r" b="b"/>
            <a:pathLst>
              <a:path w="477" h="477">
                <a:moveTo>
                  <a:pt x="0" y="158"/>
                </a:moveTo>
                <a:lnTo>
                  <a:pt x="0" y="318"/>
                </a:lnTo>
                <a:lnTo>
                  <a:pt x="334" y="318"/>
                </a:lnTo>
                <a:lnTo>
                  <a:pt x="334" y="477"/>
                </a:lnTo>
                <a:lnTo>
                  <a:pt x="477" y="239"/>
                </a:lnTo>
                <a:lnTo>
                  <a:pt x="334" y="0"/>
                </a:lnTo>
                <a:lnTo>
                  <a:pt x="334" y="158"/>
                </a:lnTo>
                <a:lnTo>
                  <a:pt x="0" y="158"/>
                </a:lnTo>
                <a:close/>
              </a:path>
            </a:pathLst>
          </a:custGeom>
          <a:solidFill>
            <a:srgbClr val="00CC00"/>
          </a:solidFill>
          <a:ln w="12600">
            <a:solidFill>
              <a:srgbClr val="000000"/>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14" name=""/>
          <p:cNvSpPr txBox="1"/>
          <p:nvPr/>
        </p:nvSpPr>
        <p:spPr>
          <a:xfrm>
            <a:off x="2475000" y="1108080"/>
            <a:ext cx="2233440" cy="1889280"/>
          </a:xfrm>
          <a:prstGeom prst="rect">
            <a:avLst/>
          </a:prstGeom>
          <a:solidFill>
            <a:srgbClr val="FFFFCC"/>
          </a:solidFill>
          <a:ln w="12600">
            <a:solidFill>
              <a:srgbClr val="000000"/>
            </a:solidFill>
            <a:round/>
          </a:ln>
        </p:spPr>
        <p:txBody>
          <a:bodyPr lIns="0" tIns="0" rIns="0" bIns="0" anchor="t">
            <a:spAutoFit/>
          </a:bodyPr>
          <a:p>
            <a:pPr algn="ctr">
              <a:lnSpc>
                <a:spcPct val="100000"/>
              </a:lnSpc>
            </a:pPr>
            <a:r>
              <a:rPr lang="en-US" sz="1000" b="0" u="none" strike="noStrike">
                <a:solidFill>
                  <a:srgbClr val="000000"/>
                </a:solidFill>
                <a:effectLst/>
                <a:uFillTx/>
                <a:latin typeface="Times New Roman"/>
                <a:ea typeface="Times New Roman"/>
              </a:rPr>
              <a:t>When we refer to NumericValue, the value is treated as if it were an numeric value with 2 decimal places.  In this case a statement like - </a:t>
            </a:r>
            <a:br>
              <a:rPr sz="1000"/>
            </a:br>
            <a:r>
              <a:rPr lang="en-US" sz="1000" b="0" i="1" u="none" strike="noStrike">
                <a:solidFill>
                  <a:srgbClr val="000000"/>
                </a:solidFill>
                <a:effectLst/>
                <a:uFillTx/>
                <a:latin typeface="Times New Roman"/>
                <a:ea typeface="Times New Roman"/>
              </a:rPr>
              <a:t>IF NumericValue = 1234567</a:t>
            </a:r>
            <a:r>
              <a:rPr lang="en-US" sz="1000" b="0" u="none" strike="noStrike">
                <a:solidFill>
                  <a:srgbClr val="000000"/>
                </a:solidFill>
                <a:effectLst/>
                <a:uFillTx/>
                <a:latin typeface="Times New Roman"/>
                <a:ea typeface="Times New Roman"/>
              </a:rPr>
              <a:t> </a:t>
            </a:r>
            <a:br>
              <a:rPr sz="1000"/>
            </a:br>
            <a:r>
              <a:rPr lang="en-US" sz="1000" b="0" u="none" strike="noStrike">
                <a:solidFill>
                  <a:srgbClr val="000000"/>
                </a:solidFill>
                <a:effectLst/>
                <a:uFillTx/>
                <a:latin typeface="Times New Roman"/>
                <a:ea typeface="Times New Roman"/>
              </a:rPr>
              <a:t>does not cause the compiler any problems but the statement evaluates to FALSE. </a:t>
            </a:r>
            <a:endParaRPr lang="en-US" sz="1000" b="0" u="none" strike="noStrike">
              <a:solidFill>
                <a:srgbClr val="000000"/>
              </a:solidFill>
              <a:effectLst/>
              <a:uFillTx/>
              <a:latin typeface="Arial"/>
            </a:endParaRPr>
          </a:p>
          <a:p>
            <a:pPr algn="ctr">
              <a:lnSpc>
                <a:spcPct val="100000"/>
              </a:lnSpc>
            </a:pPr>
            <a:r>
              <a:rPr lang="en-US" sz="1000" b="0" i="1" u="none" strike="noStrike">
                <a:solidFill>
                  <a:srgbClr val="000000"/>
                </a:solidFill>
                <a:effectLst/>
                <a:uFillTx/>
                <a:latin typeface="Times New Roman"/>
                <a:ea typeface="Times New Roman"/>
              </a:rPr>
              <a:t>IF NumericValue = 12345.67</a:t>
            </a:r>
            <a:r>
              <a:rPr lang="en-US" sz="1000" b="0" u="none" strike="noStrike">
                <a:solidFill>
                  <a:srgbClr val="000000"/>
                </a:solidFill>
                <a:effectLst/>
                <a:uFillTx/>
                <a:latin typeface="Times New Roman"/>
                <a:ea typeface="Times New Roman"/>
              </a:rPr>
              <a:t> is TRUE</a:t>
            </a:r>
            <a:endParaRPr lang="en-US" sz="1000" b="0" u="none" strike="noStrike">
              <a:solidFill>
                <a:srgbClr val="000000"/>
              </a:solidFill>
              <a:effectLst/>
              <a:uFillTx/>
              <a:latin typeface="Arial"/>
            </a:endParaRPr>
          </a:p>
        </p:txBody>
      </p:sp>
      <p:sp>
        <p:nvSpPr>
          <p:cNvPr id="15" name=""/>
          <p:cNvSpPr txBox="1"/>
          <p:nvPr/>
        </p:nvSpPr>
        <p:spPr>
          <a:xfrm>
            <a:off x="171360" y="579600"/>
            <a:ext cx="4389480" cy="464760"/>
          </a:xfrm>
          <a:prstGeom prst="rect">
            <a:avLst/>
          </a:prstGeom>
          <a:noFill/>
          <a:ln w="0">
            <a:noFill/>
          </a:ln>
        </p:spPr>
        <p:txBody>
          <a:bodyPr lIns="0" tIns="0" rIns="0" bIns="0" anchor="t">
            <a:spAutoFit/>
          </a:bodyPr>
          <a:p>
            <a:pPr>
              <a:lnSpc>
                <a:spcPct val="90000"/>
              </a:lnSpc>
              <a:spcBef>
                <a:spcPts val="2041"/>
              </a:spcBef>
              <a:tabLst>
                <a:tab pos="2577960" algn="l"/>
                <a:tab pos="4762440" algn="l"/>
                <a:tab pos="6095880" algn="l"/>
              </a:tabLst>
            </a:pPr>
            <a:r>
              <a:rPr lang="en-US" sz="1200" b="1" u="none" strike="noStrike">
                <a:solidFill>
                  <a:srgbClr val="000000"/>
                </a:solidFill>
                <a:effectLst/>
                <a:uFillTx/>
                <a:latin typeface="Courier New"/>
                <a:ea typeface="Courier New"/>
              </a:rPr>
              <a:t>01 TextValue    PIC X(7).</a:t>
            </a:r>
            <a:br>
              <a:rPr sz="1200"/>
            </a:br>
            <a:r>
              <a:rPr lang="en-US" sz="1200" b="1" u="none" strike="noStrike">
                <a:solidFill>
                  <a:srgbClr val="CC0000"/>
                </a:solidFill>
                <a:effectLst/>
                <a:uFillTx/>
                <a:latin typeface="Courier New"/>
                <a:ea typeface="Courier New"/>
              </a:rPr>
              <a:t>01 NumericValue REDEFINES TextValue PIC 9(5)V99.</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 name=""/>
          <p:cNvSpPr txBox="1"/>
          <p:nvPr/>
        </p:nvSpPr>
        <p:spPr>
          <a:xfrm>
            <a:off x="31680" y="49320"/>
            <a:ext cx="3110040" cy="2736720"/>
          </a:xfrm>
          <a:prstGeom prst="rect">
            <a:avLst/>
          </a:prstGeom>
          <a:noFill/>
          <a:ln w="0">
            <a:noFill/>
          </a:ln>
        </p:spPr>
        <p:txBody>
          <a:bodyPr lIns="0" tIns="0" rIns="0" bIns="0" anchor="t">
            <a:spAutoFit/>
          </a:bodyPr>
          <a:p>
            <a:pPr>
              <a:lnSpc>
                <a:spcPct val="85000"/>
              </a:lnSpc>
              <a:spcBef>
                <a:spcPts val="2041"/>
              </a:spcBef>
              <a:tabLst>
                <a:tab pos="2577960" algn="l"/>
                <a:tab pos="4762440" algn="l"/>
                <a:tab pos="6095880" algn="l"/>
              </a:tabLst>
            </a:pPr>
            <a:r>
              <a:rPr lang="en-US" sz="1200" b="1" u="none" strike="noStrike">
                <a:solidFill>
                  <a:srgbClr val="000000"/>
                </a:solidFill>
                <a:effectLst/>
                <a:uFillTx/>
                <a:latin typeface="Courier New"/>
                <a:ea typeface="Courier New"/>
              </a:rPr>
              <a:t>01 InputDate.</a:t>
            </a:r>
            <a:br>
              <a:rPr sz="1200"/>
            </a:br>
            <a:r>
              <a:rPr lang="en-US" sz="1200" b="1" u="none" strike="noStrike">
                <a:solidFill>
                  <a:srgbClr val="000000"/>
                </a:solidFill>
                <a:effectLst/>
                <a:uFillTx/>
                <a:latin typeface="Courier New"/>
                <a:ea typeface="Courier New"/>
              </a:rPr>
              <a:t>   02 DateType       PIC 9.</a:t>
            </a:r>
            <a:br>
              <a:rPr sz="1200"/>
            </a:br>
            <a:r>
              <a:rPr lang="en-US" sz="1200" b="1" u="none" strike="noStrike">
                <a:solidFill>
                  <a:srgbClr val="CC0000"/>
                </a:solidFill>
                <a:effectLst/>
                <a:uFillTx/>
                <a:latin typeface="Courier New"/>
                <a:ea typeface="Courier New"/>
              </a:rPr>
              <a:t>      88 DateIsSort  VALUE 1.</a:t>
            </a:r>
            <a:br>
              <a:rPr sz="1800"/>
            </a:br>
            <a:r>
              <a:rPr lang="en-US" sz="1200" b="1" u="none" strike="noStrike">
                <a:solidFill>
                  <a:srgbClr val="000000"/>
                </a:solidFill>
                <a:effectLst/>
                <a:uFillTx/>
                <a:latin typeface="Courier New"/>
                <a:ea typeface="Courier New"/>
              </a:rPr>
              <a:t>      88 DateIsEuro  VALUE 2.</a:t>
            </a:r>
            <a:br>
              <a:rPr sz="1200"/>
            </a:br>
            <a:r>
              <a:rPr lang="en-US" sz="1200" b="1" u="none" strike="noStrike">
                <a:solidFill>
                  <a:srgbClr val="000000"/>
                </a:solidFill>
                <a:effectLst/>
                <a:uFillTx/>
                <a:latin typeface="Courier New"/>
                <a:ea typeface="Courier New"/>
              </a:rPr>
              <a:t>      88 DateIsUS    VALUE 3.</a:t>
            </a:r>
            <a:br>
              <a:rPr sz="1200"/>
            </a:br>
            <a:r>
              <a:rPr lang="en-US" sz="1200" b="1" u="none" strike="noStrike">
                <a:solidFill>
                  <a:srgbClr val="CC0000"/>
                </a:solidFill>
                <a:effectLst/>
                <a:uFillTx/>
                <a:latin typeface="Courier New"/>
                <a:ea typeface="Courier New"/>
              </a:rPr>
              <a:t>   02 SortDate.</a:t>
            </a:r>
            <a:br>
              <a:rPr sz="1200"/>
            </a:br>
            <a:r>
              <a:rPr lang="en-US" sz="1200" b="1" u="none" strike="noStrike">
                <a:solidFill>
                  <a:srgbClr val="CC0000"/>
                </a:solidFill>
                <a:effectLst/>
                <a:uFillTx/>
                <a:latin typeface="Courier New"/>
                <a:ea typeface="Courier New"/>
              </a:rPr>
              <a:t>      03 SortYear    PIC 9(4).</a:t>
            </a:r>
            <a:br>
              <a:rPr sz="1200"/>
            </a:br>
            <a:r>
              <a:rPr lang="en-US" sz="1200" b="1" u="none" strike="noStrike">
                <a:solidFill>
                  <a:srgbClr val="CC0000"/>
                </a:solidFill>
                <a:effectLst/>
                <a:uFillTx/>
                <a:latin typeface="Courier New"/>
                <a:ea typeface="Courier New"/>
              </a:rPr>
              <a:t>      03 SortMonth   PIC 99.</a:t>
            </a:r>
            <a:br>
              <a:rPr sz="1200"/>
            </a:br>
            <a:r>
              <a:rPr lang="en-US" sz="1200" b="1" u="none" strike="noStrike">
                <a:solidFill>
                  <a:srgbClr val="CC0000"/>
                </a:solidFill>
                <a:effectLst/>
                <a:uFillTx/>
                <a:latin typeface="Courier New"/>
                <a:ea typeface="Courier New"/>
              </a:rPr>
              <a:t>      03 SortDay     PIC 99.</a:t>
            </a:r>
            <a:br>
              <a:rPr sz="1800"/>
            </a:br>
            <a:r>
              <a:rPr lang="en-US" sz="1200" b="1" u="none" strike="noStrike">
                <a:solidFill>
                  <a:srgbClr val="000000"/>
                </a:solidFill>
                <a:effectLst/>
                <a:uFillTx/>
                <a:latin typeface="Courier New"/>
                <a:ea typeface="Courier New"/>
              </a:rPr>
              <a:t>   02 EuroDate REDEFINES SortDate.</a:t>
            </a:r>
            <a:br>
              <a:rPr sz="1200"/>
            </a:br>
            <a:r>
              <a:rPr lang="en-US" sz="1200" b="1" u="none" strike="noStrike">
                <a:solidFill>
                  <a:srgbClr val="000000"/>
                </a:solidFill>
                <a:effectLst/>
                <a:uFillTx/>
                <a:latin typeface="Courier New"/>
                <a:ea typeface="Courier New"/>
              </a:rPr>
              <a:t>      03 EuroDay     PIC 99.</a:t>
            </a:r>
            <a:br>
              <a:rPr sz="1200"/>
            </a:br>
            <a:r>
              <a:rPr lang="en-US" sz="1200" b="1" u="none" strike="noStrike">
                <a:solidFill>
                  <a:srgbClr val="000000"/>
                </a:solidFill>
                <a:effectLst/>
                <a:uFillTx/>
                <a:latin typeface="Courier New"/>
                <a:ea typeface="Courier New"/>
              </a:rPr>
              <a:t>      03 EuroMonth   PIC 99.</a:t>
            </a:r>
            <a:br>
              <a:rPr sz="1200"/>
            </a:br>
            <a:r>
              <a:rPr lang="en-US" sz="1200" b="1" u="none" strike="noStrike">
                <a:solidFill>
                  <a:srgbClr val="000000"/>
                </a:solidFill>
                <a:effectLst/>
                <a:uFillTx/>
                <a:latin typeface="Courier New"/>
                <a:ea typeface="Courier New"/>
              </a:rPr>
              <a:t>      03 EuroYear    PIC 9(4).</a:t>
            </a:r>
            <a:br>
              <a:rPr sz="1200"/>
            </a:br>
            <a:r>
              <a:rPr lang="en-US" sz="1200" b="1" u="none" strike="noStrike">
                <a:solidFill>
                  <a:srgbClr val="000000"/>
                </a:solidFill>
                <a:effectLst/>
                <a:uFillTx/>
                <a:latin typeface="Courier New"/>
                <a:ea typeface="Courier New"/>
              </a:rPr>
              <a:t>   02 USDate   REDEFINES SortDate.</a:t>
            </a:r>
            <a:br>
              <a:rPr sz="1200"/>
            </a:br>
            <a:r>
              <a:rPr lang="en-US" sz="1200" b="1" u="none" strike="noStrike">
                <a:solidFill>
                  <a:srgbClr val="000000"/>
                </a:solidFill>
                <a:effectLst/>
                <a:uFillTx/>
                <a:latin typeface="Courier New"/>
                <a:ea typeface="Courier New"/>
              </a:rPr>
              <a:t>      03 USMonth     PIC 99.</a:t>
            </a:r>
            <a:br>
              <a:rPr sz="1200"/>
            </a:br>
            <a:r>
              <a:rPr lang="en-US" sz="1200" b="1" u="none" strike="noStrike">
                <a:solidFill>
                  <a:srgbClr val="000000"/>
                </a:solidFill>
                <a:effectLst/>
                <a:uFillTx/>
                <a:latin typeface="Courier New"/>
                <a:ea typeface="Courier New"/>
              </a:rPr>
              <a:t>      03 USDay       PIC 99.</a:t>
            </a:r>
            <a:br>
              <a:rPr sz="1200"/>
            </a:br>
            <a:r>
              <a:rPr lang="en-US" sz="1200" b="1" u="none" strike="noStrike">
                <a:solidFill>
                  <a:srgbClr val="000000"/>
                </a:solidFill>
                <a:effectLst/>
                <a:uFillTx/>
                <a:latin typeface="Courier New"/>
                <a:ea typeface="Courier New"/>
              </a:rPr>
              <a:t>      03 USYear      PIC 9(4).</a:t>
            </a:r>
            <a:endParaRPr lang="en-US" sz="1200" b="0" u="none" strike="noStrike">
              <a:solidFill>
                <a:srgbClr val="000000"/>
              </a:solidFill>
              <a:effectLst/>
              <a:uFillTx/>
              <a:latin typeface="Arial"/>
            </a:endParaRPr>
          </a:p>
        </p:txBody>
      </p:sp>
      <p:sp>
        <p:nvSpPr>
          <p:cNvPr id="17" name=""/>
          <p:cNvSpPr txBox="1"/>
          <p:nvPr/>
        </p:nvSpPr>
        <p:spPr>
          <a:xfrm>
            <a:off x="2944800" y="438120"/>
            <a:ext cx="1773360" cy="415800"/>
          </a:xfrm>
          <a:prstGeom prst="rect">
            <a:avLst/>
          </a:prstGeom>
          <a:solidFill>
            <a:srgbClr val="FFFFCC"/>
          </a:solidFill>
          <a:ln w="25560">
            <a:solidFill>
              <a:srgbClr val="000000"/>
            </a:solidFill>
            <a:round/>
          </a:ln>
        </p:spPr>
        <p:txBody>
          <a:bodyPr lIns="0" tIns="0" rIns="0" bIns="0" anchor="t">
            <a:spAutoFit/>
          </a:bodyPr>
          <a:p>
            <a:pPr algn="ctr">
              <a:lnSpc>
                <a:spcPct val="100000"/>
              </a:lnSpc>
            </a:pPr>
            <a:r>
              <a:rPr lang="en-US" sz="2400" b="1" u="none" strike="noStrike">
                <a:solidFill>
                  <a:srgbClr val="FF3300"/>
                </a:solidFill>
                <a:effectLst/>
                <a:uFillTx/>
                <a:latin typeface="Courier New"/>
                <a:ea typeface="Courier New"/>
              </a:rPr>
              <a:t>119951029</a:t>
            </a:r>
            <a:endParaRPr lang="en-US" sz="2400" b="0" u="none" strike="noStrike">
              <a:solidFill>
                <a:srgbClr val="000000"/>
              </a:solidFill>
              <a:effectLst/>
              <a:uFillTx/>
              <a:latin typeface="Arial"/>
            </a:endParaRPr>
          </a:p>
        </p:txBody>
      </p:sp>
      <p:sp>
        <p:nvSpPr>
          <p:cNvPr id="18" name=""/>
          <p:cNvSpPr/>
          <p:nvPr/>
        </p:nvSpPr>
        <p:spPr>
          <a:xfrm>
            <a:off x="3191040" y="438120"/>
            <a:ext cx="0" cy="409680"/>
          </a:xfrm>
          <a:prstGeom prst="line">
            <a:avLst/>
          </a:prstGeom>
          <a:ln w="12600">
            <a:solidFill>
              <a:srgbClr val="000000"/>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19" name=""/>
          <p:cNvSpPr/>
          <p:nvPr/>
        </p:nvSpPr>
        <p:spPr>
          <a:xfrm>
            <a:off x="3933720" y="438120"/>
            <a:ext cx="0" cy="409680"/>
          </a:xfrm>
          <a:prstGeom prst="line">
            <a:avLst/>
          </a:prstGeom>
          <a:ln w="12600">
            <a:solidFill>
              <a:srgbClr val="000000"/>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20" name=""/>
          <p:cNvSpPr/>
          <p:nvPr/>
        </p:nvSpPr>
        <p:spPr>
          <a:xfrm>
            <a:off x="4295880" y="438120"/>
            <a:ext cx="0" cy="409680"/>
          </a:xfrm>
          <a:prstGeom prst="line">
            <a:avLst/>
          </a:prstGeom>
          <a:ln w="12600">
            <a:solidFill>
              <a:srgbClr val="000000"/>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21" name=""/>
          <p:cNvSpPr txBox="1"/>
          <p:nvPr/>
        </p:nvSpPr>
        <p:spPr>
          <a:xfrm>
            <a:off x="3362400" y="316080"/>
            <a:ext cx="399960" cy="122400"/>
          </a:xfrm>
          <a:prstGeom prst="rect">
            <a:avLst/>
          </a:prstGeom>
          <a:noFill/>
          <a:ln w="0">
            <a:noFill/>
          </a:ln>
        </p:spPr>
        <p:txBody>
          <a:bodyPr lIns="0" tIns="0" rIns="0" bIns="0" anchor="t">
            <a:spAutoFit/>
          </a:bodyPr>
          <a:p>
            <a:pPr>
              <a:lnSpc>
                <a:spcPct val="100000"/>
              </a:lnSpc>
            </a:pPr>
            <a:r>
              <a:rPr lang="en-US" sz="800" b="1" u="none" strike="noStrike">
                <a:solidFill>
                  <a:srgbClr val="CC0000"/>
                </a:solidFill>
                <a:effectLst/>
                <a:uFillTx/>
                <a:latin typeface="Times New Roman"/>
                <a:ea typeface="Times New Roman"/>
              </a:rPr>
              <a:t>SortYear</a:t>
            </a:r>
            <a:endParaRPr lang="en-US" sz="800" b="0" u="none" strike="noStrike">
              <a:solidFill>
                <a:srgbClr val="000000"/>
              </a:solidFill>
              <a:effectLst/>
              <a:uFillTx/>
              <a:latin typeface="Arial"/>
            </a:endParaRPr>
          </a:p>
        </p:txBody>
      </p:sp>
      <p:sp>
        <p:nvSpPr>
          <p:cNvPr id="22" name=""/>
          <p:cNvSpPr txBox="1"/>
          <p:nvPr/>
        </p:nvSpPr>
        <p:spPr>
          <a:xfrm>
            <a:off x="3952800" y="316080"/>
            <a:ext cx="351000" cy="225720"/>
          </a:xfrm>
          <a:prstGeom prst="rect">
            <a:avLst/>
          </a:prstGeom>
          <a:noFill/>
          <a:ln w="0">
            <a:noFill/>
          </a:ln>
        </p:spPr>
        <p:txBody>
          <a:bodyPr lIns="0" tIns="0" rIns="0" bIns="0" anchor="t">
            <a:spAutoFit/>
          </a:bodyPr>
          <a:p>
            <a:pPr>
              <a:lnSpc>
                <a:spcPct val="100000"/>
              </a:lnSpc>
            </a:pPr>
            <a:r>
              <a:rPr lang="en-US" sz="800" b="1" u="none" strike="noStrike">
                <a:solidFill>
                  <a:srgbClr val="CC0000"/>
                </a:solidFill>
                <a:effectLst/>
                <a:uFillTx/>
                <a:latin typeface="Times New Roman"/>
                <a:ea typeface="Times New Roman"/>
              </a:rPr>
              <a:t>SMonth</a:t>
            </a:r>
            <a:endParaRPr lang="en-US" sz="800" b="0" u="none" strike="noStrike">
              <a:solidFill>
                <a:srgbClr val="000000"/>
              </a:solidFill>
              <a:effectLst/>
              <a:uFillTx/>
              <a:latin typeface="Arial"/>
            </a:endParaRPr>
          </a:p>
        </p:txBody>
      </p:sp>
      <p:sp>
        <p:nvSpPr>
          <p:cNvPr id="23" name=""/>
          <p:cNvSpPr txBox="1"/>
          <p:nvPr/>
        </p:nvSpPr>
        <p:spPr>
          <a:xfrm>
            <a:off x="4371840" y="316080"/>
            <a:ext cx="231840" cy="225720"/>
          </a:xfrm>
          <a:prstGeom prst="rect">
            <a:avLst/>
          </a:prstGeom>
          <a:noFill/>
          <a:ln w="0">
            <a:noFill/>
          </a:ln>
        </p:spPr>
        <p:txBody>
          <a:bodyPr lIns="0" tIns="0" rIns="0" bIns="0" anchor="t">
            <a:spAutoFit/>
          </a:bodyPr>
          <a:p>
            <a:pPr>
              <a:lnSpc>
                <a:spcPct val="100000"/>
              </a:lnSpc>
            </a:pPr>
            <a:r>
              <a:rPr lang="en-US" sz="800" b="1" u="none" strike="noStrike">
                <a:solidFill>
                  <a:srgbClr val="CC0000"/>
                </a:solidFill>
                <a:effectLst/>
                <a:uFillTx/>
                <a:latin typeface="Times New Roman"/>
                <a:ea typeface="Times New Roman"/>
              </a:rPr>
              <a:t>SDay</a:t>
            </a:r>
            <a:endParaRPr lang="en-US" sz="800" b="0" u="none" strike="noStrike">
              <a:solidFill>
                <a:srgbClr val="000000"/>
              </a:solidFill>
              <a:effectLst/>
              <a:uFillTx/>
              <a:latin typeface="Arial"/>
            </a:endParaRPr>
          </a:p>
        </p:txBody>
      </p:sp>
      <p:sp>
        <p:nvSpPr>
          <p:cNvPr id="24" name=""/>
          <p:cNvSpPr txBox="1"/>
          <p:nvPr/>
        </p:nvSpPr>
        <p:spPr>
          <a:xfrm>
            <a:off x="4143240" y="868320"/>
            <a:ext cx="395280" cy="122400"/>
          </a:xfrm>
          <a:prstGeom prst="rect">
            <a:avLst/>
          </a:prstGeom>
          <a:noFill/>
          <a:ln w="0">
            <a:noFill/>
          </a:ln>
        </p:spPr>
        <p:txBody>
          <a:bodyPr lIns="0" tIns="0" rIns="0" bIns="0" anchor="t">
            <a:spAutoFit/>
          </a:bodyPr>
          <a:p>
            <a:pPr>
              <a:lnSpc>
                <a:spcPct val="100000"/>
              </a:lnSpc>
            </a:pPr>
            <a:r>
              <a:rPr lang="en-US" sz="800" b="0" u="none" strike="noStrike">
                <a:solidFill>
                  <a:srgbClr val="000000"/>
                </a:solidFill>
                <a:effectLst/>
                <a:uFillTx/>
                <a:latin typeface="Times New Roman"/>
                <a:ea typeface="Times New Roman"/>
              </a:rPr>
              <a:t>EuroYear</a:t>
            </a:r>
            <a:endParaRPr lang="en-US" sz="800" b="0" u="none" strike="noStrike">
              <a:solidFill>
                <a:srgbClr val="000000"/>
              </a:solidFill>
              <a:effectLst/>
              <a:uFillTx/>
              <a:latin typeface="Arial"/>
            </a:endParaRPr>
          </a:p>
        </p:txBody>
      </p:sp>
      <p:sp>
        <p:nvSpPr>
          <p:cNvPr id="25" name=""/>
          <p:cNvSpPr txBox="1"/>
          <p:nvPr/>
        </p:nvSpPr>
        <p:spPr>
          <a:xfrm>
            <a:off x="3571920" y="868320"/>
            <a:ext cx="333360" cy="225720"/>
          </a:xfrm>
          <a:prstGeom prst="rect">
            <a:avLst/>
          </a:prstGeom>
          <a:noFill/>
          <a:ln w="0">
            <a:noFill/>
          </a:ln>
        </p:spPr>
        <p:txBody>
          <a:bodyPr lIns="0" tIns="0" rIns="0" bIns="0" anchor="t">
            <a:spAutoFit/>
          </a:bodyPr>
          <a:p>
            <a:pPr>
              <a:lnSpc>
                <a:spcPct val="100000"/>
              </a:lnSpc>
            </a:pPr>
            <a:r>
              <a:rPr lang="en-US" sz="800" b="0" u="none" strike="noStrike">
                <a:solidFill>
                  <a:srgbClr val="000000"/>
                </a:solidFill>
                <a:effectLst/>
                <a:uFillTx/>
                <a:latin typeface="Times New Roman"/>
                <a:ea typeface="Times New Roman"/>
              </a:rPr>
              <a:t>EMonth</a:t>
            </a:r>
            <a:endParaRPr lang="en-US" sz="800" b="0" u="none" strike="noStrike">
              <a:solidFill>
                <a:srgbClr val="000000"/>
              </a:solidFill>
              <a:effectLst/>
              <a:uFillTx/>
              <a:latin typeface="Arial"/>
            </a:endParaRPr>
          </a:p>
        </p:txBody>
      </p:sp>
      <p:sp>
        <p:nvSpPr>
          <p:cNvPr id="26" name=""/>
          <p:cNvSpPr txBox="1"/>
          <p:nvPr/>
        </p:nvSpPr>
        <p:spPr>
          <a:xfrm>
            <a:off x="3247920" y="868320"/>
            <a:ext cx="231840" cy="225720"/>
          </a:xfrm>
          <a:prstGeom prst="rect">
            <a:avLst/>
          </a:prstGeom>
          <a:noFill/>
          <a:ln w="0">
            <a:noFill/>
          </a:ln>
        </p:spPr>
        <p:txBody>
          <a:bodyPr lIns="0" tIns="0" rIns="0" bIns="0" anchor="t">
            <a:spAutoFit/>
          </a:bodyPr>
          <a:p>
            <a:pPr>
              <a:lnSpc>
                <a:spcPct val="100000"/>
              </a:lnSpc>
            </a:pPr>
            <a:r>
              <a:rPr lang="en-US" sz="800" b="0" u="none" strike="noStrike">
                <a:solidFill>
                  <a:srgbClr val="000000"/>
                </a:solidFill>
                <a:effectLst/>
                <a:uFillTx/>
                <a:latin typeface="Times New Roman"/>
                <a:ea typeface="Times New Roman"/>
              </a:rPr>
              <a:t>EDay</a:t>
            </a:r>
            <a:endParaRPr lang="en-US" sz="800" b="0" u="none" strike="noStrike">
              <a:solidFill>
                <a:srgbClr val="000000"/>
              </a:solidFill>
              <a:effectLst/>
              <a:uFillTx/>
              <a:latin typeface="Arial"/>
            </a:endParaRPr>
          </a:p>
        </p:txBody>
      </p:sp>
      <p:sp>
        <p:nvSpPr>
          <p:cNvPr id="27" name=""/>
          <p:cNvSpPr txBox="1"/>
          <p:nvPr/>
        </p:nvSpPr>
        <p:spPr>
          <a:xfrm>
            <a:off x="4143240" y="1020600"/>
            <a:ext cx="326880" cy="122400"/>
          </a:xfrm>
          <a:prstGeom prst="rect">
            <a:avLst/>
          </a:prstGeom>
          <a:noFill/>
          <a:ln w="0">
            <a:noFill/>
          </a:ln>
        </p:spPr>
        <p:txBody>
          <a:bodyPr lIns="0" tIns="0" rIns="0" bIns="0" anchor="t">
            <a:spAutoFit/>
          </a:bodyPr>
          <a:p>
            <a:pPr>
              <a:lnSpc>
                <a:spcPct val="100000"/>
              </a:lnSpc>
            </a:pPr>
            <a:r>
              <a:rPr lang="en-US" sz="800" b="0" u="none" strike="noStrike">
                <a:solidFill>
                  <a:srgbClr val="000000"/>
                </a:solidFill>
                <a:effectLst/>
                <a:uFillTx/>
                <a:latin typeface="Times New Roman"/>
                <a:ea typeface="Times New Roman"/>
              </a:rPr>
              <a:t>USYear</a:t>
            </a:r>
            <a:endParaRPr lang="en-US" sz="800" b="0" u="none" strike="noStrike">
              <a:solidFill>
                <a:srgbClr val="000000"/>
              </a:solidFill>
              <a:effectLst/>
              <a:uFillTx/>
              <a:latin typeface="Arial"/>
            </a:endParaRPr>
          </a:p>
        </p:txBody>
      </p:sp>
      <p:sp>
        <p:nvSpPr>
          <p:cNvPr id="28" name=""/>
          <p:cNvSpPr txBox="1"/>
          <p:nvPr/>
        </p:nvSpPr>
        <p:spPr>
          <a:xfrm>
            <a:off x="3571920" y="1020600"/>
            <a:ext cx="401760" cy="225720"/>
          </a:xfrm>
          <a:prstGeom prst="rect">
            <a:avLst/>
          </a:prstGeom>
          <a:noFill/>
          <a:ln w="0">
            <a:noFill/>
          </a:ln>
        </p:spPr>
        <p:txBody>
          <a:bodyPr lIns="0" tIns="0" rIns="0" bIns="0" anchor="t">
            <a:spAutoFit/>
          </a:bodyPr>
          <a:p>
            <a:pPr>
              <a:lnSpc>
                <a:spcPct val="100000"/>
              </a:lnSpc>
            </a:pPr>
            <a:r>
              <a:rPr lang="en-US" sz="800" b="0" u="none" strike="noStrike">
                <a:solidFill>
                  <a:srgbClr val="000000"/>
                </a:solidFill>
                <a:effectLst/>
                <a:uFillTx/>
                <a:latin typeface="Times New Roman"/>
                <a:ea typeface="Times New Roman"/>
              </a:rPr>
              <a:t>USMonth</a:t>
            </a:r>
            <a:endParaRPr lang="en-US" sz="800" b="0" u="none" strike="noStrike">
              <a:solidFill>
                <a:srgbClr val="000000"/>
              </a:solidFill>
              <a:effectLst/>
              <a:uFillTx/>
              <a:latin typeface="Arial"/>
            </a:endParaRPr>
          </a:p>
        </p:txBody>
      </p:sp>
      <p:sp>
        <p:nvSpPr>
          <p:cNvPr id="29" name=""/>
          <p:cNvSpPr txBox="1"/>
          <p:nvPr/>
        </p:nvSpPr>
        <p:spPr>
          <a:xfrm>
            <a:off x="3228840" y="1020600"/>
            <a:ext cx="298440" cy="225720"/>
          </a:xfrm>
          <a:prstGeom prst="rect">
            <a:avLst/>
          </a:prstGeom>
          <a:noFill/>
          <a:ln w="0">
            <a:noFill/>
          </a:ln>
        </p:spPr>
        <p:txBody>
          <a:bodyPr lIns="0" tIns="0" rIns="0" bIns="0" anchor="t">
            <a:spAutoFit/>
          </a:bodyPr>
          <a:p>
            <a:pPr>
              <a:lnSpc>
                <a:spcPct val="100000"/>
              </a:lnSpc>
            </a:pPr>
            <a:r>
              <a:rPr lang="en-US" sz="800" b="0" u="none" strike="noStrike">
                <a:solidFill>
                  <a:srgbClr val="000000"/>
                </a:solidFill>
                <a:effectLst/>
                <a:uFillTx/>
                <a:latin typeface="Times New Roman"/>
                <a:ea typeface="Times New Roman"/>
              </a:rPr>
              <a:t>USDay</a:t>
            </a:r>
            <a:endParaRPr lang="en-US" sz="800" b="0" u="none" strike="noStrike">
              <a:solidFill>
                <a:srgbClr val="000000"/>
              </a:solidFill>
              <a:effectLst/>
              <a:uFillTx/>
              <a:latin typeface="Arial"/>
            </a:endParaRPr>
          </a:p>
        </p:txBody>
      </p:sp>
      <p:sp>
        <p:nvSpPr>
          <p:cNvPr id="30" name=""/>
          <p:cNvSpPr txBox="1"/>
          <p:nvPr/>
        </p:nvSpPr>
        <p:spPr>
          <a:xfrm>
            <a:off x="3330720" y="1270080"/>
            <a:ext cx="1397160" cy="1738440"/>
          </a:xfrm>
          <a:prstGeom prst="rect">
            <a:avLst/>
          </a:prstGeom>
          <a:solidFill>
            <a:srgbClr val="FFFFCC"/>
          </a:solidFill>
          <a:ln w="12600">
            <a:solidFill>
              <a:srgbClr val="000000"/>
            </a:solidFill>
            <a:round/>
          </a:ln>
        </p:spPr>
        <p:txBody>
          <a:bodyPr lIns="0" tIns="0" rIns="0" bIns="0" anchor="t">
            <a:spAutoFit/>
          </a:bodyPr>
          <a:p>
            <a:pPr algn="ctr">
              <a:lnSpc>
                <a:spcPct val="100000"/>
              </a:lnSpc>
            </a:pPr>
            <a:r>
              <a:rPr lang="en-US" sz="1000" b="0" u="none" strike="noStrike">
                <a:solidFill>
                  <a:srgbClr val="000000"/>
                </a:solidFill>
                <a:effectLst/>
                <a:uFillTx/>
                <a:latin typeface="Times New Roman"/>
                <a:ea typeface="Times New Roman"/>
              </a:rPr>
              <a:t>We can accept dates with different formats  into the same area of storage and as long as we know what type of date has been entered we can access the day, month and year correctly.</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 name=""/>
          <p:cNvSpPr txBox="1"/>
          <p:nvPr/>
        </p:nvSpPr>
        <p:spPr>
          <a:xfrm>
            <a:off x="31680" y="49320"/>
            <a:ext cx="3110040" cy="2736720"/>
          </a:xfrm>
          <a:prstGeom prst="rect">
            <a:avLst/>
          </a:prstGeom>
          <a:noFill/>
          <a:ln w="0">
            <a:noFill/>
          </a:ln>
        </p:spPr>
        <p:txBody>
          <a:bodyPr lIns="0" tIns="0" rIns="0" bIns="0" anchor="t">
            <a:spAutoFit/>
          </a:bodyPr>
          <a:p>
            <a:pPr>
              <a:lnSpc>
                <a:spcPct val="85000"/>
              </a:lnSpc>
              <a:spcBef>
                <a:spcPts val="2041"/>
              </a:spcBef>
              <a:tabLst>
                <a:tab pos="2577960" algn="l"/>
                <a:tab pos="4762440" algn="l"/>
                <a:tab pos="6095880" algn="l"/>
              </a:tabLst>
            </a:pPr>
            <a:r>
              <a:rPr lang="en-US" sz="1200" b="1" u="none" strike="noStrike">
                <a:solidFill>
                  <a:srgbClr val="000000"/>
                </a:solidFill>
                <a:effectLst/>
                <a:uFillTx/>
                <a:latin typeface="Courier New"/>
                <a:ea typeface="Courier New"/>
              </a:rPr>
              <a:t>01 InputDate.</a:t>
            </a:r>
            <a:br>
              <a:rPr sz="1200"/>
            </a:br>
            <a:r>
              <a:rPr lang="en-US" sz="1200" b="1" u="none" strike="noStrike">
                <a:solidFill>
                  <a:srgbClr val="000000"/>
                </a:solidFill>
                <a:effectLst/>
                <a:uFillTx/>
                <a:latin typeface="Courier New"/>
                <a:ea typeface="Courier New"/>
              </a:rPr>
              <a:t>   02 DateType       PIC 9.</a:t>
            </a:r>
            <a:br>
              <a:rPr sz="1200"/>
            </a:br>
            <a:r>
              <a:rPr lang="en-US" sz="1200" b="1" u="none" strike="noStrike">
                <a:solidFill>
                  <a:srgbClr val="000000"/>
                </a:solidFill>
                <a:effectLst/>
                <a:uFillTx/>
                <a:latin typeface="Courier New"/>
                <a:ea typeface="Courier New"/>
              </a:rPr>
              <a:t>      88 DateIsSort  VALUE 1.</a:t>
            </a:r>
            <a:br>
              <a:rPr sz="1200"/>
            </a:br>
            <a:r>
              <a:rPr lang="en-US" sz="1200" b="1" u="none" strike="noStrike">
                <a:solidFill>
                  <a:srgbClr val="CC0000"/>
                </a:solidFill>
                <a:effectLst/>
                <a:uFillTx/>
                <a:latin typeface="Courier New"/>
                <a:ea typeface="Courier New"/>
              </a:rPr>
              <a:t>      88 DateIsEuro  VALUE 2.</a:t>
            </a:r>
            <a:br>
              <a:rPr sz="1800"/>
            </a:br>
            <a:r>
              <a:rPr lang="en-US" sz="1200" b="1" u="none" strike="noStrike">
                <a:solidFill>
                  <a:srgbClr val="000000"/>
                </a:solidFill>
                <a:effectLst/>
                <a:uFillTx/>
                <a:latin typeface="Courier New"/>
                <a:ea typeface="Courier New"/>
              </a:rPr>
              <a:t>      88 DateIsUS    VALUE 3.</a:t>
            </a:r>
            <a:br>
              <a:rPr sz="1200"/>
            </a:br>
            <a:r>
              <a:rPr lang="en-US" sz="1200" b="1" u="none" strike="noStrike">
                <a:solidFill>
                  <a:srgbClr val="000000"/>
                </a:solidFill>
                <a:effectLst/>
                <a:uFillTx/>
                <a:latin typeface="Courier New"/>
                <a:ea typeface="Courier New"/>
              </a:rPr>
              <a:t>   02 SortDate.</a:t>
            </a:r>
            <a:br>
              <a:rPr sz="1200"/>
            </a:br>
            <a:r>
              <a:rPr lang="en-US" sz="1200" b="1" u="none" strike="noStrike">
                <a:solidFill>
                  <a:srgbClr val="000000"/>
                </a:solidFill>
                <a:effectLst/>
                <a:uFillTx/>
                <a:latin typeface="Courier New"/>
                <a:ea typeface="Courier New"/>
              </a:rPr>
              <a:t>      03 SortYear    PIC 9(4).</a:t>
            </a:r>
            <a:br>
              <a:rPr sz="1200"/>
            </a:br>
            <a:r>
              <a:rPr lang="en-US" sz="1200" b="1" u="none" strike="noStrike">
                <a:solidFill>
                  <a:srgbClr val="000000"/>
                </a:solidFill>
                <a:effectLst/>
                <a:uFillTx/>
                <a:latin typeface="Courier New"/>
                <a:ea typeface="Courier New"/>
              </a:rPr>
              <a:t>      03 SortMonth   PIC 99.</a:t>
            </a:r>
            <a:br>
              <a:rPr sz="1200"/>
            </a:br>
            <a:r>
              <a:rPr lang="en-US" sz="1200" b="1" u="none" strike="noStrike">
                <a:solidFill>
                  <a:srgbClr val="000000"/>
                </a:solidFill>
                <a:effectLst/>
                <a:uFillTx/>
                <a:latin typeface="Courier New"/>
                <a:ea typeface="Courier New"/>
              </a:rPr>
              <a:t>      03 SortDay     PIC 99.</a:t>
            </a:r>
            <a:br>
              <a:rPr sz="1200"/>
            </a:br>
            <a:r>
              <a:rPr lang="en-US" sz="1200" b="1" u="none" strike="noStrike">
                <a:solidFill>
                  <a:srgbClr val="CC0000"/>
                </a:solidFill>
                <a:effectLst/>
                <a:uFillTx/>
                <a:latin typeface="Courier New"/>
                <a:ea typeface="Courier New"/>
              </a:rPr>
              <a:t>   02 EuroDate REDEFINES SortDate.</a:t>
            </a:r>
            <a:br>
              <a:rPr sz="1200"/>
            </a:br>
            <a:r>
              <a:rPr lang="en-US" sz="1200" b="1" u="none" strike="noStrike">
                <a:solidFill>
                  <a:srgbClr val="CC0000"/>
                </a:solidFill>
                <a:effectLst/>
                <a:uFillTx/>
                <a:latin typeface="Courier New"/>
                <a:ea typeface="Courier New"/>
              </a:rPr>
              <a:t>      03 EuroDay     PIC 99.</a:t>
            </a:r>
            <a:br>
              <a:rPr sz="1200"/>
            </a:br>
            <a:r>
              <a:rPr lang="en-US" sz="1200" b="1" u="none" strike="noStrike">
                <a:solidFill>
                  <a:srgbClr val="CC0000"/>
                </a:solidFill>
                <a:effectLst/>
                <a:uFillTx/>
                <a:latin typeface="Courier New"/>
                <a:ea typeface="Courier New"/>
              </a:rPr>
              <a:t>      03 EuroMonth   PIC 99.</a:t>
            </a:r>
            <a:br>
              <a:rPr sz="1200"/>
            </a:br>
            <a:r>
              <a:rPr lang="en-US" sz="1200" b="1" u="none" strike="noStrike">
                <a:solidFill>
                  <a:srgbClr val="CC0000"/>
                </a:solidFill>
                <a:effectLst/>
                <a:uFillTx/>
                <a:latin typeface="Courier New"/>
                <a:ea typeface="Courier New"/>
              </a:rPr>
              <a:t>      03 EuroYear    PIC 9(4).</a:t>
            </a:r>
            <a:br>
              <a:rPr sz="1800"/>
            </a:br>
            <a:r>
              <a:rPr lang="en-US" sz="1200" b="1" u="none" strike="noStrike">
                <a:solidFill>
                  <a:srgbClr val="000000"/>
                </a:solidFill>
                <a:effectLst/>
                <a:uFillTx/>
                <a:latin typeface="Courier New"/>
                <a:ea typeface="Courier New"/>
              </a:rPr>
              <a:t>   02 USDate   REDEFINES SortDate.</a:t>
            </a:r>
            <a:br>
              <a:rPr sz="1200"/>
            </a:br>
            <a:r>
              <a:rPr lang="en-US" sz="1200" b="1" u="none" strike="noStrike">
                <a:solidFill>
                  <a:srgbClr val="000000"/>
                </a:solidFill>
                <a:effectLst/>
                <a:uFillTx/>
                <a:latin typeface="Courier New"/>
                <a:ea typeface="Courier New"/>
              </a:rPr>
              <a:t>      03 USMonth     PIC 99.</a:t>
            </a:r>
            <a:br>
              <a:rPr sz="1200"/>
            </a:br>
            <a:r>
              <a:rPr lang="en-US" sz="1200" b="1" u="none" strike="noStrike">
                <a:solidFill>
                  <a:srgbClr val="000000"/>
                </a:solidFill>
                <a:effectLst/>
                <a:uFillTx/>
                <a:latin typeface="Courier New"/>
                <a:ea typeface="Courier New"/>
              </a:rPr>
              <a:t>      03 USDay       PIC 99.</a:t>
            </a:r>
            <a:br>
              <a:rPr sz="1200"/>
            </a:br>
            <a:r>
              <a:rPr lang="en-US" sz="1200" b="1" u="none" strike="noStrike">
                <a:solidFill>
                  <a:srgbClr val="000000"/>
                </a:solidFill>
                <a:effectLst/>
                <a:uFillTx/>
                <a:latin typeface="Courier New"/>
                <a:ea typeface="Courier New"/>
              </a:rPr>
              <a:t>      03 USYear      PIC 9(4).</a:t>
            </a:r>
            <a:endParaRPr lang="en-US" sz="1200" b="0" u="none" strike="noStrike">
              <a:solidFill>
                <a:srgbClr val="000000"/>
              </a:solidFill>
              <a:effectLst/>
              <a:uFillTx/>
              <a:latin typeface="Arial"/>
            </a:endParaRPr>
          </a:p>
        </p:txBody>
      </p:sp>
      <p:sp>
        <p:nvSpPr>
          <p:cNvPr id="32" name=""/>
          <p:cNvSpPr txBox="1"/>
          <p:nvPr/>
        </p:nvSpPr>
        <p:spPr>
          <a:xfrm>
            <a:off x="2946240" y="438120"/>
            <a:ext cx="1773360" cy="415800"/>
          </a:xfrm>
          <a:prstGeom prst="rect">
            <a:avLst/>
          </a:prstGeom>
          <a:solidFill>
            <a:srgbClr val="FFFFCC"/>
          </a:solidFill>
          <a:ln w="25560">
            <a:solidFill>
              <a:srgbClr val="000000"/>
            </a:solidFill>
            <a:round/>
          </a:ln>
        </p:spPr>
        <p:txBody>
          <a:bodyPr lIns="0" tIns="0" rIns="0" bIns="0" anchor="t">
            <a:spAutoFit/>
          </a:bodyPr>
          <a:p>
            <a:pPr algn="ctr">
              <a:lnSpc>
                <a:spcPct val="100000"/>
              </a:lnSpc>
            </a:pPr>
            <a:r>
              <a:rPr lang="en-US" sz="2400" b="1" u="none" strike="noStrike">
                <a:solidFill>
                  <a:srgbClr val="FF3300"/>
                </a:solidFill>
                <a:effectLst/>
                <a:uFillTx/>
                <a:latin typeface="Courier New"/>
                <a:ea typeface="Courier New"/>
              </a:rPr>
              <a:t>215071999</a:t>
            </a:r>
            <a:endParaRPr lang="en-US" sz="2400" b="0" u="none" strike="noStrike">
              <a:solidFill>
                <a:srgbClr val="000000"/>
              </a:solidFill>
              <a:effectLst/>
              <a:uFillTx/>
              <a:latin typeface="Arial"/>
            </a:endParaRPr>
          </a:p>
        </p:txBody>
      </p:sp>
      <p:sp>
        <p:nvSpPr>
          <p:cNvPr id="33" name=""/>
          <p:cNvSpPr/>
          <p:nvPr/>
        </p:nvSpPr>
        <p:spPr>
          <a:xfrm>
            <a:off x="3191040" y="438120"/>
            <a:ext cx="0" cy="409680"/>
          </a:xfrm>
          <a:prstGeom prst="line">
            <a:avLst/>
          </a:prstGeom>
          <a:ln w="12600">
            <a:solidFill>
              <a:srgbClr val="000000"/>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34" name=""/>
          <p:cNvSpPr/>
          <p:nvPr/>
        </p:nvSpPr>
        <p:spPr>
          <a:xfrm>
            <a:off x="3933720" y="438120"/>
            <a:ext cx="0" cy="409680"/>
          </a:xfrm>
          <a:prstGeom prst="line">
            <a:avLst/>
          </a:prstGeom>
          <a:ln w="12600">
            <a:solidFill>
              <a:srgbClr val="000000"/>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35" name=""/>
          <p:cNvSpPr/>
          <p:nvPr/>
        </p:nvSpPr>
        <p:spPr>
          <a:xfrm>
            <a:off x="3552840" y="438120"/>
            <a:ext cx="0" cy="409680"/>
          </a:xfrm>
          <a:prstGeom prst="line">
            <a:avLst/>
          </a:prstGeom>
          <a:ln w="12600">
            <a:solidFill>
              <a:srgbClr val="000000"/>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36" name=""/>
          <p:cNvSpPr txBox="1"/>
          <p:nvPr/>
        </p:nvSpPr>
        <p:spPr>
          <a:xfrm>
            <a:off x="3362400" y="316080"/>
            <a:ext cx="366840" cy="122400"/>
          </a:xfrm>
          <a:prstGeom prst="rect">
            <a:avLst/>
          </a:prstGeom>
          <a:noFill/>
          <a:ln w="0">
            <a:noFill/>
          </a:ln>
        </p:spPr>
        <p:txBody>
          <a:bodyPr lIns="0" tIns="0" rIns="0" bIns="0" anchor="t">
            <a:spAutoFit/>
          </a:bodyPr>
          <a:p>
            <a:pPr>
              <a:lnSpc>
                <a:spcPct val="100000"/>
              </a:lnSpc>
            </a:pPr>
            <a:r>
              <a:rPr lang="en-US" sz="800" b="0" u="none" strike="noStrike">
                <a:solidFill>
                  <a:srgbClr val="000000"/>
                </a:solidFill>
                <a:effectLst/>
                <a:uFillTx/>
                <a:latin typeface="Times New Roman"/>
                <a:ea typeface="Times New Roman"/>
              </a:rPr>
              <a:t>SortYear</a:t>
            </a:r>
            <a:endParaRPr lang="en-US" sz="800" b="0" u="none" strike="noStrike">
              <a:solidFill>
                <a:srgbClr val="000000"/>
              </a:solidFill>
              <a:effectLst/>
              <a:uFillTx/>
              <a:latin typeface="Arial"/>
            </a:endParaRPr>
          </a:p>
        </p:txBody>
      </p:sp>
      <p:sp>
        <p:nvSpPr>
          <p:cNvPr id="37" name=""/>
          <p:cNvSpPr txBox="1"/>
          <p:nvPr/>
        </p:nvSpPr>
        <p:spPr>
          <a:xfrm>
            <a:off x="3952800" y="316080"/>
            <a:ext cx="326880" cy="225720"/>
          </a:xfrm>
          <a:prstGeom prst="rect">
            <a:avLst/>
          </a:prstGeom>
          <a:noFill/>
          <a:ln w="0">
            <a:noFill/>
          </a:ln>
        </p:spPr>
        <p:txBody>
          <a:bodyPr lIns="0" tIns="0" rIns="0" bIns="0" anchor="t">
            <a:spAutoFit/>
          </a:bodyPr>
          <a:p>
            <a:pPr>
              <a:lnSpc>
                <a:spcPct val="100000"/>
              </a:lnSpc>
            </a:pPr>
            <a:r>
              <a:rPr lang="en-US" sz="800" b="0" u="none" strike="noStrike">
                <a:solidFill>
                  <a:srgbClr val="000000"/>
                </a:solidFill>
                <a:effectLst/>
                <a:uFillTx/>
                <a:latin typeface="Times New Roman"/>
                <a:ea typeface="Times New Roman"/>
              </a:rPr>
              <a:t>SMonth</a:t>
            </a:r>
            <a:endParaRPr lang="en-US" sz="800" b="0" u="none" strike="noStrike">
              <a:solidFill>
                <a:srgbClr val="000000"/>
              </a:solidFill>
              <a:effectLst/>
              <a:uFillTx/>
              <a:latin typeface="Arial"/>
            </a:endParaRPr>
          </a:p>
        </p:txBody>
      </p:sp>
      <p:sp>
        <p:nvSpPr>
          <p:cNvPr id="38" name=""/>
          <p:cNvSpPr txBox="1"/>
          <p:nvPr/>
        </p:nvSpPr>
        <p:spPr>
          <a:xfrm>
            <a:off x="4371840" y="316080"/>
            <a:ext cx="225360" cy="225720"/>
          </a:xfrm>
          <a:prstGeom prst="rect">
            <a:avLst/>
          </a:prstGeom>
          <a:noFill/>
          <a:ln w="0">
            <a:noFill/>
          </a:ln>
        </p:spPr>
        <p:txBody>
          <a:bodyPr lIns="0" tIns="0" rIns="0" bIns="0" anchor="t">
            <a:spAutoFit/>
          </a:bodyPr>
          <a:p>
            <a:pPr>
              <a:lnSpc>
                <a:spcPct val="100000"/>
              </a:lnSpc>
            </a:pPr>
            <a:r>
              <a:rPr lang="en-US" sz="800" b="0" u="none" strike="noStrike">
                <a:solidFill>
                  <a:srgbClr val="000000"/>
                </a:solidFill>
                <a:effectLst/>
                <a:uFillTx/>
                <a:latin typeface="Times New Roman"/>
                <a:ea typeface="Times New Roman"/>
              </a:rPr>
              <a:t>SDay</a:t>
            </a:r>
            <a:endParaRPr lang="en-US" sz="800" b="0" u="none" strike="noStrike">
              <a:solidFill>
                <a:srgbClr val="000000"/>
              </a:solidFill>
              <a:effectLst/>
              <a:uFillTx/>
              <a:latin typeface="Arial"/>
            </a:endParaRPr>
          </a:p>
        </p:txBody>
      </p:sp>
      <p:sp>
        <p:nvSpPr>
          <p:cNvPr id="39" name=""/>
          <p:cNvSpPr txBox="1"/>
          <p:nvPr/>
        </p:nvSpPr>
        <p:spPr>
          <a:xfrm>
            <a:off x="4143240" y="868320"/>
            <a:ext cx="434880" cy="122400"/>
          </a:xfrm>
          <a:prstGeom prst="rect">
            <a:avLst/>
          </a:prstGeom>
          <a:noFill/>
          <a:ln w="0">
            <a:noFill/>
          </a:ln>
        </p:spPr>
        <p:txBody>
          <a:bodyPr lIns="0" tIns="0" rIns="0" bIns="0" anchor="t">
            <a:spAutoFit/>
          </a:bodyPr>
          <a:p>
            <a:pPr>
              <a:lnSpc>
                <a:spcPct val="100000"/>
              </a:lnSpc>
            </a:pPr>
            <a:r>
              <a:rPr lang="en-US" sz="800" b="1" u="none" strike="noStrike">
                <a:solidFill>
                  <a:srgbClr val="CC0000"/>
                </a:solidFill>
                <a:effectLst/>
                <a:uFillTx/>
                <a:latin typeface="Times New Roman"/>
                <a:ea typeface="Times New Roman"/>
              </a:rPr>
              <a:t>EuroYear</a:t>
            </a:r>
            <a:endParaRPr lang="en-US" sz="800" b="0" u="none" strike="noStrike">
              <a:solidFill>
                <a:srgbClr val="000000"/>
              </a:solidFill>
              <a:effectLst/>
              <a:uFillTx/>
              <a:latin typeface="Arial"/>
            </a:endParaRPr>
          </a:p>
        </p:txBody>
      </p:sp>
      <p:sp>
        <p:nvSpPr>
          <p:cNvPr id="40" name=""/>
          <p:cNvSpPr txBox="1"/>
          <p:nvPr/>
        </p:nvSpPr>
        <p:spPr>
          <a:xfrm>
            <a:off x="3571920" y="868320"/>
            <a:ext cx="361800" cy="225720"/>
          </a:xfrm>
          <a:prstGeom prst="rect">
            <a:avLst/>
          </a:prstGeom>
          <a:noFill/>
          <a:ln w="0">
            <a:noFill/>
          </a:ln>
        </p:spPr>
        <p:txBody>
          <a:bodyPr lIns="0" tIns="0" rIns="0" bIns="0" anchor="t">
            <a:spAutoFit/>
          </a:bodyPr>
          <a:p>
            <a:pPr>
              <a:lnSpc>
                <a:spcPct val="100000"/>
              </a:lnSpc>
            </a:pPr>
            <a:r>
              <a:rPr lang="en-US" sz="800" b="1" u="none" strike="noStrike">
                <a:solidFill>
                  <a:srgbClr val="CC0000"/>
                </a:solidFill>
                <a:effectLst/>
                <a:uFillTx/>
                <a:latin typeface="Times New Roman"/>
                <a:ea typeface="Times New Roman"/>
              </a:rPr>
              <a:t>EMonth</a:t>
            </a:r>
            <a:endParaRPr lang="en-US" sz="800" b="0" u="none" strike="noStrike">
              <a:solidFill>
                <a:srgbClr val="000000"/>
              </a:solidFill>
              <a:effectLst/>
              <a:uFillTx/>
              <a:latin typeface="Arial"/>
            </a:endParaRPr>
          </a:p>
        </p:txBody>
      </p:sp>
      <p:sp>
        <p:nvSpPr>
          <p:cNvPr id="41" name=""/>
          <p:cNvSpPr txBox="1"/>
          <p:nvPr/>
        </p:nvSpPr>
        <p:spPr>
          <a:xfrm>
            <a:off x="3247920" y="868320"/>
            <a:ext cx="243000" cy="225720"/>
          </a:xfrm>
          <a:prstGeom prst="rect">
            <a:avLst/>
          </a:prstGeom>
          <a:noFill/>
          <a:ln w="0">
            <a:noFill/>
          </a:ln>
        </p:spPr>
        <p:txBody>
          <a:bodyPr lIns="0" tIns="0" rIns="0" bIns="0" anchor="t">
            <a:spAutoFit/>
          </a:bodyPr>
          <a:p>
            <a:pPr>
              <a:lnSpc>
                <a:spcPct val="100000"/>
              </a:lnSpc>
            </a:pPr>
            <a:r>
              <a:rPr lang="en-US" sz="800" b="1" u="none" strike="noStrike">
                <a:solidFill>
                  <a:srgbClr val="CC0000"/>
                </a:solidFill>
                <a:effectLst/>
                <a:uFillTx/>
                <a:latin typeface="Times New Roman"/>
                <a:ea typeface="Times New Roman"/>
              </a:rPr>
              <a:t>EDay</a:t>
            </a:r>
            <a:endParaRPr lang="en-US" sz="800" b="0" u="none" strike="noStrike">
              <a:solidFill>
                <a:srgbClr val="000000"/>
              </a:solidFill>
              <a:effectLst/>
              <a:uFillTx/>
              <a:latin typeface="Arial"/>
            </a:endParaRPr>
          </a:p>
        </p:txBody>
      </p:sp>
      <p:sp>
        <p:nvSpPr>
          <p:cNvPr id="42" name=""/>
          <p:cNvSpPr txBox="1"/>
          <p:nvPr/>
        </p:nvSpPr>
        <p:spPr>
          <a:xfrm>
            <a:off x="4143240" y="1020600"/>
            <a:ext cx="326880" cy="122400"/>
          </a:xfrm>
          <a:prstGeom prst="rect">
            <a:avLst/>
          </a:prstGeom>
          <a:noFill/>
          <a:ln w="0">
            <a:noFill/>
          </a:ln>
        </p:spPr>
        <p:txBody>
          <a:bodyPr lIns="0" tIns="0" rIns="0" bIns="0" anchor="t">
            <a:spAutoFit/>
          </a:bodyPr>
          <a:p>
            <a:pPr>
              <a:lnSpc>
                <a:spcPct val="100000"/>
              </a:lnSpc>
            </a:pPr>
            <a:r>
              <a:rPr lang="en-US" sz="800" b="0" u="none" strike="noStrike">
                <a:solidFill>
                  <a:srgbClr val="000000"/>
                </a:solidFill>
                <a:effectLst/>
                <a:uFillTx/>
                <a:latin typeface="Times New Roman"/>
                <a:ea typeface="Times New Roman"/>
              </a:rPr>
              <a:t>USYear</a:t>
            </a:r>
            <a:endParaRPr lang="en-US" sz="800" b="0" u="none" strike="noStrike">
              <a:solidFill>
                <a:srgbClr val="000000"/>
              </a:solidFill>
              <a:effectLst/>
              <a:uFillTx/>
              <a:latin typeface="Arial"/>
            </a:endParaRPr>
          </a:p>
        </p:txBody>
      </p:sp>
      <p:sp>
        <p:nvSpPr>
          <p:cNvPr id="43" name=""/>
          <p:cNvSpPr txBox="1"/>
          <p:nvPr/>
        </p:nvSpPr>
        <p:spPr>
          <a:xfrm>
            <a:off x="3571920" y="1020600"/>
            <a:ext cx="401760" cy="225720"/>
          </a:xfrm>
          <a:prstGeom prst="rect">
            <a:avLst/>
          </a:prstGeom>
          <a:noFill/>
          <a:ln w="0">
            <a:noFill/>
          </a:ln>
        </p:spPr>
        <p:txBody>
          <a:bodyPr lIns="0" tIns="0" rIns="0" bIns="0" anchor="t">
            <a:spAutoFit/>
          </a:bodyPr>
          <a:p>
            <a:pPr>
              <a:lnSpc>
                <a:spcPct val="100000"/>
              </a:lnSpc>
            </a:pPr>
            <a:r>
              <a:rPr lang="en-US" sz="800" b="0" u="none" strike="noStrike">
                <a:solidFill>
                  <a:srgbClr val="000000"/>
                </a:solidFill>
                <a:effectLst/>
                <a:uFillTx/>
                <a:latin typeface="Times New Roman"/>
                <a:ea typeface="Times New Roman"/>
              </a:rPr>
              <a:t>USMonth</a:t>
            </a:r>
            <a:endParaRPr lang="en-US" sz="800" b="0" u="none" strike="noStrike">
              <a:solidFill>
                <a:srgbClr val="000000"/>
              </a:solidFill>
              <a:effectLst/>
              <a:uFillTx/>
              <a:latin typeface="Arial"/>
            </a:endParaRPr>
          </a:p>
        </p:txBody>
      </p:sp>
      <p:sp>
        <p:nvSpPr>
          <p:cNvPr id="44" name=""/>
          <p:cNvSpPr txBox="1"/>
          <p:nvPr/>
        </p:nvSpPr>
        <p:spPr>
          <a:xfrm>
            <a:off x="3228840" y="1020600"/>
            <a:ext cx="298440" cy="225720"/>
          </a:xfrm>
          <a:prstGeom prst="rect">
            <a:avLst/>
          </a:prstGeom>
          <a:noFill/>
          <a:ln w="0">
            <a:noFill/>
          </a:ln>
        </p:spPr>
        <p:txBody>
          <a:bodyPr lIns="0" tIns="0" rIns="0" bIns="0" anchor="t">
            <a:spAutoFit/>
          </a:bodyPr>
          <a:p>
            <a:pPr>
              <a:lnSpc>
                <a:spcPct val="100000"/>
              </a:lnSpc>
            </a:pPr>
            <a:r>
              <a:rPr lang="en-US" sz="800" b="0" u="none" strike="noStrike">
                <a:solidFill>
                  <a:srgbClr val="000000"/>
                </a:solidFill>
                <a:effectLst/>
                <a:uFillTx/>
                <a:latin typeface="Times New Roman"/>
                <a:ea typeface="Times New Roman"/>
              </a:rPr>
              <a:t>USDay</a:t>
            </a:r>
            <a:endParaRPr lang="en-US"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 name=""/>
          <p:cNvSpPr txBox="1"/>
          <p:nvPr/>
        </p:nvSpPr>
        <p:spPr>
          <a:xfrm>
            <a:off x="31680" y="49320"/>
            <a:ext cx="3110040" cy="2736720"/>
          </a:xfrm>
          <a:prstGeom prst="rect">
            <a:avLst/>
          </a:prstGeom>
          <a:noFill/>
          <a:ln w="0">
            <a:noFill/>
          </a:ln>
        </p:spPr>
        <p:txBody>
          <a:bodyPr lIns="0" tIns="0" rIns="0" bIns="0" anchor="t">
            <a:spAutoFit/>
          </a:bodyPr>
          <a:p>
            <a:pPr>
              <a:lnSpc>
                <a:spcPct val="85000"/>
              </a:lnSpc>
              <a:spcBef>
                <a:spcPts val="2041"/>
              </a:spcBef>
              <a:tabLst>
                <a:tab pos="2577960" algn="l"/>
                <a:tab pos="4762440" algn="l"/>
                <a:tab pos="6095880" algn="l"/>
              </a:tabLst>
            </a:pPr>
            <a:r>
              <a:rPr lang="en-US" sz="1200" b="1" u="none" strike="noStrike">
                <a:solidFill>
                  <a:srgbClr val="000000"/>
                </a:solidFill>
                <a:effectLst/>
                <a:uFillTx/>
                <a:latin typeface="Courier New"/>
                <a:ea typeface="Courier New"/>
              </a:rPr>
              <a:t>01 InputDate.</a:t>
            </a:r>
            <a:br>
              <a:rPr sz="1200"/>
            </a:br>
            <a:r>
              <a:rPr lang="en-US" sz="1200" b="1" u="none" strike="noStrike">
                <a:solidFill>
                  <a:srgbClr val="000000"/>
                </a:solidFill>
                <a:effectLst/>
                <a:uFillTx/>
                <a:latin typeface="Courier New"/>
                <a:ea typeface="Courier New"/>
              </a:rPr>
              <a:t>   02 DateType       PIC 9.</a:t>
            </a:r>
            <a:br>
              <a:rPr sz="1200"/>
            </a:br>
            <a:r>
              <a:rPr lang="en-US" sz="1200" b="1" u="none" strike="noStrike">
                <a:solidFill>
                  <a:srgbClr val="000000"/>
                </a:solidFill>
                <a:effectLst/>
                <a:uFillTx/>
                <a:latin typeface="Courier New"/>
                <a:ea typeface="Courier New"/>
              </a:rPr>
              <a:t>      88 DateIsSort  VALUE 1.</a:t>
            </a:r>
            <a:br>
              <a:rPr sz="1200"/>
            </a:br>
            <a:r>
              <a:rPr lang="en-US" sz="1200" b="1" u="none" strike="noStrike">
                <a:solidFill>
                  <a:srgbClr val="000000"/>
                </a:solidFill>
                <a:effectLst/>
                <a:uFillTx/>
                <a:latin typeface="Courier New"/>
                <a:ea typeface="Courier New"/>
              </a:rPr>
              <a:t>      88 DateIsEuro  VALUE 2.</a:t>
            </a:r>
            <a:br>
              <a:rPr sz="1200"/>
            </a:br>
            <a:r>
              <a:rPr lang="en-US" sz="1200" b="1" u="none" strike="noStrike">
                <a:solidFill>
                  <a:srgbClr val="CC0000"/>
                </a:solidFill>
                <a:effectLst/>
                <a:uFillTx/>
                <a:latin typeface="Courier New"/>
                <a:ea typeface="Courier New"/>
              </a:rPr>
              <a:t>      88 DateIsUS    VALUE 3.</a:t>
            </a:r>
            <a:br>
              <a:rPr sz="1800"/>
            </a:br>
            <a:r>
              <a:rPr lang="en-US" sz="1200" b="1" u="none" strike="noStrike">
                <a:solidFill>
                  <a:srgbClr val="000000"/>
                </a:solidFill>
                <a:effectLst/>
                <a:uFillTx/>
                <a:latin typeface="Courier New"/>
                <a:ea typeface="Courier New"/>
              </a:rPr>
              <a:t>   02 SortDate.</a:t>
            </a:r>
            <a:br>
              <a:rPr sz="1200"/>
            </a:br>
            <a:r>
              <a:rPr lang="en-US" sz="1200" b="1" u="none" strike="noStrike">
                <a:solidFill>
                  <a:srgbClr val="000000"/>
                </a:solidFill>
                <a:effectLst/>
                <a:uFillTx/>
                <a:latin typeface="Courier New"/>
                <a:ea typeface="Courier New"/>
              </a:rPr>
              <a:t>      03 SortYear    PIC 9(4).</a:t>
            </a:r>
            <a:br>
              <a:rPr sz="1200"/>
            </a:br>
            <a:r>
              <a:rPr lang="en-US" sz="1200" b="1" u="none" strike="noStrike">
                <a:solidFill>
                  <a:srgbClr val="000000"/>
                </a:solidFill>
                <a:effectLst/>
                <a:uFillTx/>
                <a:latin typeface="Courier New"/>
                <a:ea typeface="Courier New"/>
              </a:rPr>
              <a:t>      03 SortMonth   PIC 99.</a:t>
            </a:r>
            <a:br>
              <a:rPr sz="1200"/>
            </a:br>
            <a:r>
              <a:rPr lang="en-US" sz="1200" b="1" u="none" strike="noStrike">
                <a:solidFill>
                  <a:srgbClr val="000000"/>
                </a:solidFill>
                <a:effectLst/>
                <a:uFillTx/>
                <a:latin typeface="Courier New"/>
                <a:ea typeface="Courier New"/>
              </a:rPr>
              <a:t>      03 SortDay     PIC 99.</a:t>
            </a:r>
            <a:br>
              <a:rPr sz="1200"/>
            </a:br>
            <a:r>
              <a:rPr lang="en-US" sz="1200" b="1" u="none" strike="noStrike">
                <a:solidFill>
                  <a:srgbClr val="000000"/>
                </a:solidFill>
                <a:effectLst/>
                <a:uFillTx/>
                <a:latin typeface="Courier New"/>
                <a:ea typeface="Courier New"/>
              </a:rPr>
              <a:t>   02 EuroDate REDEFINES SortDate.</a:t>
            </a:r>
            <a:br>
              <a:rPr sz="1200"/>
            </a:br>
            <a:r>
              <a:rPr lang="en-US" sz="1200" b="1" u="none" strike="noStrike">
                <a:solidFill>
                  <a:srgbClr val="000000"/>
                </a:solidFill>
                <a:effectLst/>
                <a:uFillTx/>
                <a:latin typeface="Courier New"/>
                <a:ea typeface="Courier New"/>
              </a:rPr>
              <a:t>      03 EuroDay     PIC 99.</a:t>
            </a:r>
            <a:br>
              <a:rPr sz="1200"/>
            </a:br>
            <a:r>
              <a:rPr lang="en-US" sz="1200" b="1" u="none" strike="noStrike">
                <a:solidFill>
                  <a:srgbClr val="000000"/>
                </a:solidFill>
                <a:effectLst/>
                <a:uFillTx/>
                <a:latin typeface="Courier New"/>
                <a:ea typeface="Courier New"/>
              </a:rPr>
              <a:t>      03 EuroMonth   PIC 99.</a:t>
            </a:r>
            <a:br>
              <a:rPr sz="1200"/>
            </a:br>
            <a:r>
              <a:rPr lang="en-US" sz="1200" b="1" u="none" strike="noStrike">
                <a:solidFill>
                  <a:srgbClr val="000000"/>
                </a:solidFill>
                <a:effectLst/>
                <a:uFillTx/>
                <a:latin typeface="Courier New"/>
                <a:ea typeface="Courier New"/>
              </a:rPr>
              <a:t>      03 EuroYear    PIC 9(4).</a:t>
            </a:r>
            <a:br>
              <a:rPr sz="1200"/>
            </a:br>
            <a:r>
              <a:rPr lang="en-US" sz="1200" b="1" u="none" strike="noStrike">
                <a:solidFill>
                  <a:srgbClr val="CC0000"/>
                </a:solidFill>
                <a:effectLst/>
                <a:uFillTx/>
                <a:latin typeface="Courier New"/>
                <a:ea typeface="Courier New"/>
              </a:rPr>
              <a:t>   02 USDate   REDEFINES SortDate.</a:t>
            </a:r>
            <a:br>
              <a:rPr sz="1200"/>
            </a:br>
            <a:r>
              <a:rPr lang="en-US" sz="1200" b="1" u="none" strike="noStrike">
                <a:solidFill>
                  <a:srgbClr val="CC0000"/>
                </a:solidFill>
                <a:effectLst/>
                <a:uFillTx/>
                <a:latin typeface="Courier New"/>
                <a:ea typeface="Courier New"/>
              </a:rPr>
              <a:t>      03 USMonth     PIC 99.</a:t>
            </a:r>
            <a:br>
              <a:rPr sz="1200"/>
            </a:br>
            <a:r>
              <a:rPr lang="en-US" sz="1200" b="1" u="none" strike="noStrike">
                <a:solidFill>
                  <a:srgbClr val="CC0000"/>
                </a:solidFill>
                <a:effectLst/>
                <a:uFillTx/>
                <a:latin typeface="Courier New"/>
                <a:ea typeface="Courier New"/>
              </a:rPr>
              <a:t>      03 USDay       PIC 99.</a:t>
            </a:r>
            <a:br>
              <a:rPr sz="1200"/>
            </a:br>
            <a:r>
              <a:rPr lang="en-US" sz="1200" b="1" u="none" strike="noStrike">
                <a:solidFill>
                  <a:srgbClr val="CC0000"/>
                </a:solidFill>
                <a:effectLst/>
                <a:uFillTx/>
                <a:latin typeface="Courier New"/>
                <a:ea typeface="Courier New"/>
              </a:rPr>
              <a:t>      03 USYear      PIC 9(4).</a:t>
            </a:r>
            <a:endParaRPr lang="en-US" sz="1200" b="0" u="none" strike="noStrike">
              <a:solidFill>
                <a:srgbClr val="000000"/>
              </a:solidFill>
              <a:effectLst/>
              <a:uFillTx/>
              <a:latin typeface="Arial"/>
            </a:endParaRPr>
          </a:p>
        </p:txBody>
      </p:sp>
      <p:sp>
        <p:nvSpPr>
          <p:cNvPr id="46" name=""/>
          <p:cNvSpPr txBox="1"/>
          <p:nvPr/>
        </p:nvSpPr>
        <p:spPr>
          <a:xfrm>
            <a:off x="2946240" y="438120"/>
            <a:ext cx="1773360" cy="415800"/>
          </a:xfrm>
          <a:prstGeom prst="rect">
            <a:avLst/>
          </a:prstGeom>
          <a:solidFill>
            <a:srgbClr val="FFFFCC"/>
          </a:solidFill>
          <a:ln w="25560">
            <a:solidFill>
              <a:srgbClr val="000000"/>
            </a:solidFill>
            <a:round/>
          </a:ln>
        </p:spPr>
        <p:txBody>
          <a:bodyPr lIns="0" tIns="0" rIns="0" bIns="0" anchor="t">
            <a:spAutoFit/>
          </a:bodyPr>
          <a:p>
            <a:pPr algn="ctr">
              <a:lnSpc>
                <a:spcPct val="100000"/>
              </a:lnSpc>
            </a:pPr>
            <a:r>
              <a:rPr lang="en-US" sz="2400" b="1" u="none" strike="noStrike">
                <a:solidFill>
                  <a:srgbClr val="FF3300"/>
                </a:solidFill>
                <a:effectLst/>
                <a:uFillTx/>
                <a:latin typeface="Courier New"/>
                <a:ea typeface="Courier New"/>
              </a:rPr>
              <a:t>304131999</a:t>
            </a:r>
            <a:endParaRPr lang="en-US" sz="2400" b="0" u="none" strike="noStrike">
              <a:solidFill>
                <a:srgbClr val="000000"/>
              </a:solidFill>
              <a:effectLst/>
              <a:uFillTx/>
              <a:latin typeface="Arial"/>
            </a:endParaRPr>
          </a:p>
        </p:txBody>
      </p:sp>
      <p:sp>
        <p:nvSpPr>
          <p:cNvPr id="47" name=""/>
          <p:cNvSpPr/>
          <p:nvPr/>
        </p:nvSpPr>
        <p:spPr>
          <a:xfrm>
            <a:off x="3191040" y="438120"/>
            <a:ext cx="0" cy="409680"/>
          </a:xfrm>
          <a:prstGeom prst="line">
            <a:avLst/>
          </a:prstGeom>
          <a:ln w="12600">
            <a:solidFill>
              <a:srgbClr val="000000"/>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48" name=""/>
          <p:cNvSpPr/>
          <p:nvPr/>
        </p:nvSpPr>
        <p:spPr>
          <a:xfrm>
            <a:off x="3933720" y="438120"/>
            <a:ext cx="0" cy="409680"/>
          </a:xfrm>
          <a:prstGeom prst="line">
            <a:avLst/>
          </a:prstGeom>
          <a:ln w="12600">
            <a:solidFill>
              <a:srgbClr val="000000"/>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49" name=""/>
          <p:cNvSpPr/>
          <p:nvPr/>
        </p:nvSpPr>
        <p:spPr>
          <a:xfrm>
            <a:off x="3552840" y="438120"/>
            <a:ext cx="0" cy="409680"/>
          </a:xfrm>
          <a:prstGeom prst="line">
            <a:avLst/>
          </a:prstGeom>
          <a:ln w="12600">
            <a:solidFill>
              <a:srgbClr val="000000"/>
            </a:solidFill>
            <a:round/>
          </a:ln>
        </p:spPr>
        <p:style>
          <a:lnRef idx="0"/>
          <a:fillRef idx="0"/>
          <a:effectRef idx="0"/>
          <a:fontRef idx="minor"/>
        </p:style>
        <p:txBody>
          <a:bodyPr lIns="96120" tIns="51120" rIns="96120" bIns="51120" anchor="t">
            <a:noAutofit/>
          </a:bodyPr>
          <a:p>
            <a:endParaRPr lang="en-US" sz="1800" b="0" u="none" strike="noStrike">
              <a:solidFill>
                <a:srgbClr val="000000"/>
              </a:solidFill>
              <a:effectLst/>
              <a:uFillTx/>
              <a:latin typeface="Arial"/>
            </a:endParaRPr>
          </a:p>
        </p:txBody>
      </p:sp>
      <p:sp>
        <p:nvSpPr>
          <p:cNvPr id="50" name=""/>
          <p:cNvSpPr txBox="1"/>
          <p:nvPr/>
        </p:nvSpPr>
        <p:spPr>
          <a:xfrm>
            <a:off x="3362400" y="316080"/>
            <a:ext cx="366840" cy="122400"/>
          </a:xfrm>
          <a:prstGeom prst="rect">
            <a:avLst/>
          </a:prstGeom>
          <a:noFill/>
          <a:ln w="0">
            <a:noFill/>
          </a:ln>
        </p:spPr>
        <p:txBody>
          <a:bodyPr lIns="0" tIns="0" rIns="0" bIns="0" anchor="t">
            <a:spAutoFit/>
          </a:bodyPr>
          <a:p>
            <a:pPr>
              <a:lnSpc>
                <a:spcPct val="100000"/>
              </a:lnSpc>
            </a:pPr>
            <a:r>
              <a:rPr lang="en-US" sz="800" b="0" u="none" strike="noStrike">
                <a:solidFill>
                  <a:srgbClr val="000000"/>
                </a:solidFill>
                <a:effectLst/>
                <a:uFillTx/>
                <a:latin typeface="Times New Roman"/>
                <a:ea typeface="Times New Roman"/>
              </a:rPr>
              <a:t>SortYear</a:t>
            </a:r>
            <a:endParaRPr lang="en-US" sz="800" b="0" u="none" strike="noStrike">
              <a:solidFill>
                <a:srgbClr val="000000"/>
              </a:solidFill>
              <a:effectLst/>
              <a:uFillTx/>
              <a:latin typeface="Arial"/>
            </a:endParaRPr>
          </a:p>
        </p:txBody>
      </p:sp>
      <p:sp>
        <p:nvSpPr>
          <p:cNvPr id="51" name=""/>
          <p:cNvSpPr txBox="1"/>
          <p:nvPr/>
        </p:nvSpPr>
        <p:spPr>
          <a:xfrm>
            <a:off x="3952800" y="316080"/>
            <a:ext cx="326880" cy="225720"/>
          </a:xfrm>
          <a:prstGeom prst="rect">
            <a:avLst/>
          </a:prstGeom>
          <a:noFill/>
          <a:ln w="0">
            <a:noFill/>
          </a:ln>
        </p:spPr>
        <p:txBody>
          <a:bodyPr lIns="0" tIns="0" rIns="0" bIns="0" anchor="t">
            <a:spAutoFit/>
          </a:bodyPr>
          <a:p>
            <a:pPr>
              <a:lnSpc>
                <a:spcPct val="100000"/>
              </a:lnSpc>
            </a:pPr>
            <a:r>
              <a:rPr lang="en-US" sz="800" b="0" u="none" strike="noStrike">
                <a:solidFill>
                  <a:srgbClr val="000000"/>
                </a:solidFill>
                <a:effectLst/>
                <a:uFillTx/>
                <a:latin typeface="Times New Roman"/>
                <a:ea typeface="Times New Roman"/>
              </a:rPr>
              <a:t>SMonth</a:t>
            </a:r>
            <a:endParaRPr lang="en-US" sz="800" b="0" u="none" strike="noStrike">
              <a:solidFill>
                <a:srgbClr val="000000"/>
              </a:solidFill>
              <a:effectLst/>
              <a:uFillTx/>
              <a:latin typeface="Arial"/>
            </a:endParaRPr>
          </a:p>
        </p:txBody>
      </p:sp>
      <p:sp>
        <p:nvSpPr>
          <p:cNvPr id="52" name=""/>
          <p:cNvSpPr txBox="1"/>
          <p:nvPr/>
        </p:nvSpPr>
        <p:spPr>
          <a:xfrm>
            <a:off x="4371840" y="316080"/>
            <a:ext cx="225360" cy="225720"/>
          </a:xfrm>
          <a:prstGeom prst="rect">
            <a:avLst/>
          </a:prstGeom>
          <a:noFill/>
          <a:ln w="0">
            <a:noFill/>
          </a:ln>
        </p:spPr>
        <p:txBody>
          <a:bodyPr lIns="0" tIns="0" rIns="0" bIns="0" anchor="t">
            <a:spAutoFit/>
          </a:bodyPr>
          <a:p>
            <a:pPr>
              <a:lnSpc>
                <a:spcPct val="100000"/>
              </a:lnSpc>
            </a:pPr>
            <a:r>
              <a:rPr lang="en-US" sz="800" b="0" u="none" strike="noStrike">
                <a:solidFill>
                  <a:srgbClr val="000000"/>
                </a:solidFill>
                <a:effectLst/>
                <a:uFillTx/>
                <a:latin typeface="Times New Roman"/>
                <a:ea typeface="Times New Roman"/>
              </a:rPr>
              <a:t>SDay</a:t>
            </a:r>
            <a:endParaRPr lang="en-US" sz="800" b="0" u="none" strike="noStrike">
              <a:solidFill>
                <a:srgbClr val="000000"/>
              </a:solidFill>
              <a:effectLst/>
              <a:uFillTx/>
              <a:latin typeface="Arial"/>
            </a:endParaRPr>
          </a:p>
        </p:txBody>
      </p:sp>
      <p:sp>
        <p:nvSpPr>
          <p:cNvPr id="53" name=""/>
          <p:cNvSpPr txBox="1"/>
          <p:nvPr/>
        </p:nvSpPr>
        <p:spPr>
          <a:xfrm>
            <a:off x="4143240" y="868320"/>
            <a:ext cx="395280" cy="122400"/>
          </a:xfrm>
          <a:prstGeom prst="rect">
            <a:avLst/>
          </a:prstGeom>
          <a:noFill/>
          <a:ln w="0">
            <a:noFill/>
          </a:ln>
        </p:spPr>
        <p:txBody>
          <a:bodyPr lIns="0" tIns="0" rIns="0" bIns="0" anchor="t">
            <a:spAutoFit/>
          </a:bodyPr>
          <a:p>
            <a:pPr>
              <a:lnSpc>
                <a:spcPct val="100000"/>
              </a:lnSpc>
            </a:pPr>
            <a:r>
              <a:rPr lang="en-US" sz="800" b="0" u="none" strike="noStrike">
                <a:solidFill>
                  <a:srgbClr val="000000"/>
                </a:solidFill>
                <a:effectLst/>
                <a:uFillTx/>
                <a:latin typeface="Times New Roman"/>
                <a:ea typeface="Times New Roman"/>
              </a:rPr>
              <a:t>EuroYear</a:t>
            </a:r>
            <a:endParaRPr lang="en-US" sz="800" b="0" u="none" strike="noStrike">
              <a:solidFill>
                <a:srgbClr val="000000"/>
              </a:solidFill>
              <a:effectLst/>
              <a:uFillTx/>
              <a:latin typeface="Arial"/>
            </a:endParaRPr>
          </a:p>
        </p:txBody>
      </p:sp>
      <p:sp>
        <p:nvSpPr>
          <p:cNvPr id="54" name=""/>
          <p:cNvSpPr txBox="1"/>
          <p:nvPr/>
        </p:nvSpPr>
        <p:spPr>
          <a:xfrm>
            <a:off x="3571920" y="868320"/>
            <a:ext cx="333360" cy="225720"/>
          </a:xfrm>
          <a:prstGeom prst="rect">
            <a:avLst/>
          </a:prstGeom>
          <a:noFill/>
          <a:ln w="0">
            <a:noFill/>
          </a:ln>
        </p:spPr>
        <p:txBody>
          <a:bodyPr lIns="0" tIns="0" rIns="0" bIns="0" anchor="t">
            <a:spAutoFit/>
          </a:bodyPr>
          <a:p>
            <a:pPr>
              <a:lnSpc>
                <a:spcPct val="100000"/>
              </a:lnSpc>
            </a:pPr>
            <a:r>
              <a:rPr lang="en-US" sz="800" b="0" u="none" strike="noStrike">
                <a:solidFill>
                  <a:srgbClr val="000000"/>
                </a:solidFill>
                <a:effectLst/>
                <a:uFillTx/>
                <a:latin typeface="Times New Roman"/>
                <a:ea typeface="Times New Roman"/>
              </a:rPr>
              <a:t>EMonth</a:t>
            </a:r>
            <a:endParaRPr lang="en-US" sz="800" b="0" u="none" strike="noStrike">
              <a:solidFill>
                <a:srgbClr val="000000"/>
              </a:solidFill>
              <a:effectLst/>
              <a:uFillTx/>
              <a:latin typeface="Arial"/>
            </a:endParaRPr>
          </a:p>
        </p:txBody>
      </p:sp>
      <p:sp>
        <p:nvSpPr>
          <p:cNvPr id="55" name=""/>
          <p:cNvSpPr txBox="1"/>
          <p:nvPr/>
        </p:nvSpPr>
        <p:spPr>
          <a:xfrm>
            <a:off x="3247920" y="868320"/>
            <a:ext cx="231840" cy="225720"/>
          </a:xfrm>
          <a:prstGeom prst="rect">
            <a:avLst/>
          </a:prstGeom>
          <a:noFill/>
          <a:ln w="0">
            <a:noFill/>
          </a:ln>
        </p:spPr>
        <p:txBody>
          <a:bodyPr lIns="0" tIns="0" rIns="0" bIns="0" anchor="t">
            <a:spAutoFit/>
          </a:bodyPr>
          <a:p>
            <a:pPr>
              <a:lnSpc>
                <a:spcPct val="100000"/>
              </a:lnSpc>
            </a:pPr>
            <a:r>
              <a:rPr lang="en-US" sz="800" b="0" u="none" strike="noStrike">
                <a:solidFill>
                  <a:srgbClr val="000000"/>
                </a:solidFill>
                <a:effectLst/>
                <a:uFillTx/>
                <a:latin typeface="Times New Roman"/>
                <a:ea typeface="Times New Roman"/>
              </a:rPr>
              <a:t>EDay</a:t>
            </a:r>
            <a:endParaRPr lang="en-US" sz="800" b="0" u="none" strike="noStrike">
              <a:solidFill>
                <a:srgbClr val="000000"/>
              </a:solidFill>
              <a:effectLst/>
              <a:uFillTx/>
              <a:latin typeface="Arial"/>
            </a:endParaRPr>
          </a:p>
        </p:txBody>
      </p:sp>
      <p:sp>
        <p:nvSpPr>
          <p:cNvPr id="56" name=""/>
          <p:cNvSpPr txBox="1"/>
          <p:nvPr/>
        </p:nvSpPr>
        <p:spPr>
          <a:xfrm>
            <a:off x="4143240" y="1020600"/>
            <a:ext cx="344520" cy="122400"/>
          </a:xfrm>
          <a:prstGeom prst="rect">
            <a:avLst/>
          </a:prstGeom>
          <a:noFill/>
          <a:ln w="0">
            <a:noFill/>
          </a:ln>
        </p:spPr>
        <p:txBody>
          <a:bodyPr lIns="0" tIns="0" rIns="0" bIns="0" anchor="t">
            <a:spAutoFit/>
          </a:bodyPr>
          <a:p>
            <a:pPr>
              <a:lnSpc>
                <a:spcPct val="100000"/>
              </a:lnSpc>
            </a:pPr>
            <a:r>
              <a:rPr lang="en-US" sz="800" b="1" u="none" strike="noStrike">
                <a:solidFill>
                  <a:srgbClr val="CC0000"/>
                </a:solidFill>
                <a:effectLst/>
                <a:uFillTx/>
                <a:latin typeface="Times New Roman"/>
                <a:ea typeface="Times New Roman"/>
              </a:rPr>
              <a:t>USYear</a:t>
            </a:r>
            <a:endParaRPr lang="en-US" sz="800" b="0" u="none" strike="noStrike">
              <a:solidFill>
                <a:srgbClr val="000000"/>
              </a:solidFill>
              <a:effectLst/>
              <a:uFillTx/>
              <a:latin typeface="Arial"/>
            </a:endParaRPr>
          </a:p>
        </p:txBody>
      </p:sp>
      <p:sp>
        <p:nvSpPr>
          <p:cNvPr id="57" name=""/>
          <p:cNvSpPr txBox="1"/>
          <p:nvPr/>
        </p:nvSpPr>
        <p:spPr>
          <a:xfrm>
            <a:off x="3571920" y="1020600"/>
            <a:ext cx="423720" cy="225720"/>
          </a:xfrm>
          <a:prstGeom prst="rect">
            <a:avLst/>
          </a:prstGeom>
          <a:noFill/>
          <a:ln w="0">
            <a:noFill/>
          </a:ln>
        </p:spPr>
        <p:txBody>
          <a:bodyPr lIns="0" tIns="0" rIns="0" bIns="0" anchor="t">
            <a:spAutoFit/>
          </a:bodyPr>
          <a:p>
            <a:pPr>
              <a:lnSpc>
                <a:spcPct val="100000"/>
              </a:lnSpc>
            </a:pPr>
            <a:r>
              <a:rPr lang="en-US" sz="800" b="1" u="none" strike="noStrike">
                <a:solidFill>
                  <a:srgbClr val="CC0000"/>
                </a:solidFill>
                <a:effectLst/>
                <a:uFillTx/>
                <a:latin typeface="Times New Roman"/>
                <a:ea typeface="Times New Roman"/>
              </a:rPr>
              <a:t>USMonth</a:t>
            </a:r>
            <a:endParaRPr lang="en-US" sz="800" b="0" u="none" strike="noStrike">
              <a:solidFill>
                <a:srgbClr val="000000"/>
              </a:solidFill>
              <a:effectLst/>
              <a:uFillTx/>
              <a:latin typeface="Arial"/>
            </a:endParaRPr>
          </a:p>
        </p:txBody>
      </p:sp>
      <p:sp>
        <p:nvSpPr>
          <p:cNvPr id="58" name=""/>
          <p:cNvSpPr txBox="1"/>
          <p:nvPr/>
        </p:nvSpPr>
        <p:spPr>
          <a:xfrm>
            <a:off x="3228840" y="1020600"/>
            <a:ext cx="304920" cy="225720"/>
          </a:xfrm>
          <a:prstGeom prst="rect">
            <a:avLst/>
          </a:prstGeom>
          <a:noFill/>
          <a:ln w="0">
            <a:noFill/>
          </a:ln>
        </p:spPr>
        <p:txBody>
          <a:bodyPr lIns="0" tIns="0" rIns="0" bIns="0" anchor="t">
            <a:spAutoFit/>
          </a:bodyPr>
          <a:p>
            <a:pPr>
              <a:lnSpc>
                <a:spcPct val="100000"/>
              </a:lnSpc>
            </a:pPr>
            <a:r>
              <a:rPr lang="en-US" sz="800" b="1" u="none" strike="noStrike">
                <a:solidFill>
                  <a:srgbClr val="CC0000"/>
                </a:solidFill>
                <a:effectLst/>
                <a:uFillTx/>
                <a:latin typeface="Times New Roman"/>
                <a:ea typeface="Times New Roman"/>
              </a:rPr>
              <a:t>USDay</a:t>
            </a:r>
            <a:endParaRPr lang="en-US"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
          <p:cNvSpPr txBox="1"/>
          <p:nvPr/>
        </p:nvSpPr>
        <p:spPr>
          <a:xfrm>
            <a:off x="77760" y="1017720"/>
            <a:ext cx="4587840" cy="1342800"/>
          </a:xfrm>
          <a:prstGeom prst="rect">
            <a:avLst/>
          </a:prstGeom>
          <a:noFill/>
          <a:ln w="0">
            <a:noFill/>
          </a:ln>
        </p:spPr>
        <p:txBody>
          <a:bodyPr lIns="0" tIns="0" rIns="0" bIns="0" anchor="t">
            <a:spAutoFit/>
          </a:bodyPr>
          <a:p>
            <a:pPr>
              <a:lnSpc>
                <a:spcPct val="90000"/>
              </a:lnSpc>
              <a:spcBef>
                <a:spcPts val="2041"/>
              </a:spcBef>
              <a:tabLst>
                <a:tab pos="2577960" algn="l"/>
                <a:tab pos="4762440" algn="l"/>
                <a:tab pos="6095880" algn="l"/>
              </a:tabLst>
            </a:pPr>
            <a:r>
              <a:rPr lang="en-US" sz="1400" b="1" u="none" strike="noStrike">
                <a:solidFill>
                  <a:srgbClr val="5F5F5F"/>
                </a:solidFill>
                <a:effectLst/>
                <a:uFillTx/>
                <a:latin typeface="Courier New"/>
                <a:ea typeface="Courier New"/>
              </a:rPr>
              <a:t>01 Rates.</a:t>
            </a:r>
            <a:br>
              <a:rPr sz="1400"/>
            </a:br>
            <a:r>
              <a:rPr lang="en-US" sz="1400" b="1" u="none" strike="noStrike">
                <a:solidFill>
                  <a:srgbClr val="5F5F5F"/>
                </a:solidFill>
                <a:effectLst/>
                <a:uFillTx/>
                <a:latin typeface="Courier New"/>
                <a:ea typeface="Courier New"/>
              </a:rPr>
              <a:t>   </a:t>
            </a:r>
            <a:r>
              <a:rPr lang="en-US" sz="1400" b="1" u="none" strike="noStrike">
                <a:solidFill>
                  <a:srgbClr val="CC0000"/>
                </a:solidFill>
                <a:effectLst/>
                <a:uFillTx/>
                <a:latin typeface="Courier New"/>
                <a:ea typeface="Courier New"/>
              </a:rPr>
              <a:t>02 10Rate   PIC 99V999.</a:t>
            </a:r>
            <a:br>
              <a:rPr sz="1800"/>
            </a:br>
            <a:r>
              <a:rPr lang="en-US" sz="1400" b="1" u="none" strike="noStrike">
                <a:solidFill>
                  <a:srgbClr val="5F5F5F"/>
                </a:solidFill>
                <a:effectLst/>
                <a:uFillTx/>
                <a:latin typeface="Courier New"/>
                <a:ea typeface="Courier New"/>
              </a:rPr>
              <a:t>   02 100Rate  REDEFINES 10Rate PIC 999V99.</a:t>
            </a:r>
            <a:br>
              <a:rPr sz="1400"/>
            </a:br>
            <a:r>
              <a:rPr lang="en-US" sz="1400" b="1" u="none" strike="noStrike">
                <a:solidFill>
                  <a:srgbClr val="5F5F5F"/>
                </a:solidFill>
                <a:effectLst/>
                <a:uFillTx/>
                <a:latin typeface="Courier New"/>
                <a:ea typeface="Courier New"/>
              </a:rPr>
              <a:t>   02 1000Rate REDEFINES 10Rate PIC 9999V9.</a:t>
            </a:r>
            <a:br>
              <a:rPr sz="1800"/>
            </a:br>
            <a:endParaRPr lang="en-US" sz="1400" b="0" u="none" strike="noStrike">
              <a:solidFill>
                <a:srgbClr val="000000"/>
              </a:solidFill>
              <a:effectLst/>
              <a:uFillTx/>
              <a:latin typeface="Arial"/>
            </a:endParaRPr>
          </a:p>
        </p:txBody>
      </p:sp>
      <p:sp>
        <p:nvSpPr>
          <p:cNvPr id="60" name=""/>
          <p:cNvSpPr txBox="1"/>
          <p:nvPr/>
        </p:nvSpPr>
        <p:spPr>
          <a:xfrm>
            <a:off x="1398600" y="447840"/>
            <a:ext cx="1487520" cy="355680"/>
          </a:xfrm>
          <a:prstGeom prst="rect">
            <a:avLst/>
          </a:prstGeom>
          <a:solidFill>
            <a:srgbClr val="FFFFCC"/>
          </a:solidFill>
          <a:ln w="25560">
            <a:solidFill>
              <a:srgbClr val="000000"/>
            </a:solidFill>
            <a:round/>
          </a:ln>
        </p:spPr>
        <p:txBody>
          <a:bodyPr lIns="0" tIns="0" rIns="0" bIns="0" anchor="t">
            <a:spAutoFit/>
          </a:bodyPr>
          <a:p>
            <a:pPr algn="ctr">
              <a:lnSpc>
                <a:spcPct val="100000"/>
              </a:lnSpc>
            </a:pPr>
            <a:r>
              <a:rPr lang="en-US" sz="1400" b="1" u="none" strike="noStrike">
                <a:solidFill>
                  <a:srgbClr val="FF3300"/>
                </a:solidFill>
                <a:effectLst/>
                <a:uFillTx/>
                <a:latin typeface="Arial"/>
                <a:ea typeface="Arial"/>
              </a:rPr>
              <a:t>1    2    3    4    5</a:t>
            </a:r>
            <a:endParaRPr lang="en-US" sz="1400" b="0" u="none" strike="noStrike">
              <a:solidFill>
                <a:srgbClr val="000000"/>
              </a:solidFill>
              <a:effectLst/>
              <a:uFillTx/>
              <a:latin typeface="Arial"/>
            </a:endParaRPr>
          </a:p>
        </p:txBody>
      </p:sp>
      <p:sp>
        <p:nvSpPr>
          <p:cNvPr id="61" name=""/>
          <p:cNvSpPr txBox="1"/>
          <p:nvPr/>
        </p:nvSpPr>
        <p:spPr>
          <a:xfrm>
            <a:off x="1305000" y="187200"/>
            <a:ext cx="1014480" cy="274680"/>
          </a:xfrm>
          <a:prstGeom prst="rect">
            <a:avLst/>
          </a:prstGeom>
          <a:noFill/>
          <a:ln w="0">
            <a:noFill/>
          </a:ln>
        </p:spPr>
        <p:txBody>
          <a:bodyPr lIns="0" tIns="0" rIns="0" bIns="0" anchor="t">
            <a:spAutoFit/>
          </a:bodyPr>
          <a:p>
            <a:pPr>
              <a:lnSpc>
                <a:spcPct val="100000"/>
              </a:lnSpc>
            </a:pPr>
            <a:r>
              <a:rPr lang="en-US" sz="1200" b="1" u="none" strike="noStrike">
                <a:solidFill>
                  <a:srgbClr val="000000"/>
                </a:solidFill>
                <a:effectLst/>
                <a:uFillTx/>
                <a:latin typeface="Arial"/>
                <a:ea typeface="Arial"/>
              </a:rPr>
              <a:t>Rates</a:t>
            </a:r>
            <a:endParaRPr lang="en-US" sz="1200" b="0" u="none" strike="noStrike">
              <a:solidFill>
                <a:srgbClr val="000000"/>
              </a:solidFill>
              <a:effectLst/>
              <a:uFillTx/>
              <a:latin typeface="Arial"/>
            </a:endParaRPr>
          </a:p>
        </p:txBody>
      </p:sp>
      <p:sp>
        <p:nvSpPr>
          <p:cNvPr id="62" name=""/>
          <p:cNvSpPr/>
          <p:nvPr/>
        </p:nvSpPr>
        <p:spPr>
          <a:xfrm>
            <a:off x="1971720" y="647640"/>
            <a:ext cx="61920" cy="61920"/>
          </a:xfrm>
          <a:prstGeom prst="ellipse">
            <a:avLst/>
          </a:prstGeom>
          <a:solidFill>
            <a:srgbClr val="3333CC"/>
          </a:solidFill>
          <a:ln w="12600">
            <a:solidFill>
              <a:srgbClr val="3333CC"/>
            </a:solidFill>
            <a:round/>
          </a:ln>
        </p:spPr>
        <p:txBody>
          <a:bodyPr lIns="96120" tIns="10800" rIns="96120" bIns="10800" anchor="t">
            <a:noAutofit/>
          </a:bodyPr>
          <a:p>
            <a:endParaRPr lang="en-US" sz="1800" b="0" u="none" strike="noStrike">
              <a:solidFill>
                <a:srgbClr val="FFFFFF"/>
              </a:solidFill>
              <a:effectLst/>
              <a:uFillTx/>
              <a:latin typeface="Arial"/>
            </a:endParaRPr>
          </a:p>
        </p:txBody>
      </p:sp>
      <p:sp>
        <p:nvSpPr>
          <p:cNvPr id="63" name=""/>
          <p:cNvSpPr/>
          <p:nvPr/>
        </p:nvSpPr>
        <p:spPr>
          <a:xfrm>
            <a:off x="1914480" y="733320"/>
            <a:ext cx="171720" cy="171720"/>
          </a:xfrm>
          <a:custGeom>
            <a:avLst/>
            <a:gdLst/>
            <a:ahLst/>
            <a:rect l="0" t="0" r="r" b="b"/>
            <a:pathLst>
              <a:path w="477" h="477">
                <a:moveTo>
                  <a:pt x="0" y="158"/>
                </a:moveTo>
                <a:lnTo>
                  <a:pt x="0" y="318"/>
                </a:lnTo>
                <a:lnTo>
                  <a:pt x="334" y="318"/>
                </a:lnTo>
                <a:lnTo>
                  <a:pt x="334" y="477"/>
                </a:lnTo>
                <a:lnTo>
                  <a:pt x="477" y="239"/>
                </a:lnTo>
                <a:lnTo>
                  <a:pt x="334" y="0"/>
                </a:lnTo>
                <a:lnTo>
                  <a:pt x="334" y="158"/>
                </a:lnTo>
                <a:lnTo>
                  <a:pt x="0" y="158"/>
                </a:lnTo>
                <a:close/>
              </a:path>
            </a:pathLst>
          </a:custGeom>
          <a:solidFill>
            <a:srgbClr val="00CC00"/>
          </a:solidFill>
          <a:ln w="12600">
            <a:solidFill>
              <a:srgbClr val="000000"/>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64" name=""/>
          <p:cNvSpPr txBox="1"/>
          <p:nvPr/>
        </p:nvSpPr>
        <p:spPr>
          <a:xfrm>
            <a:off x="2428920" y="2038320"/>
            <a:ext cx="2298600" cy="969840"/>
          </a:xfrm>
          <a:prstGeom prst="rect">
            <a:avLst/>
          </a:prstGeom>
          <a:solidFill>
            <a:srgbClr val="FFFFCC"/>
          </a:solidFill>
          <a:ln w="12600">
            <a:solidFill>
              <a:srgbClr val="000000"/>
            </a:solidFill>
            <a:round/>
          </a:ln>
        </p:spPr>
        <p:txBody>
          <a:bodyPr lIns="0" tIns="0" rIns="0" bIns="0" anchor="t">
            <a:spAutoFit/>
          </a:bodyPr>
          <a:p>
            <a:pPr algn="ctr">
              <a:lnSpc>
                <a:spcPct val="100000"/>
              </a:lnSpc>
            </a:pPr>
            <a:r>
              <a:rPr lang="en-US" sz="1000" b="0" u="none" strike="noStrike">
                <a:solidFill>
                  <a:srgbClr val="000000"/>
                </a:solidFill>
                <a:effectLst/>
                <a:uFillTx/>
                <a:latin typeface="Times New Roman"/>
                <a:ea typeface="Times New Roman"/>
              </a:rPr>
              <a:t>The REDEFINES clause allows us to treat an item as if it had 3, 2, or 1 decimal places merely by using  different names.</a:t>
            </a:r>
            <a:endParaRPr lang="en-US"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
          <p:cNvSpPr txBox="1"/>
          <p:nvPr/>
        </p:nvSpPr>
        <p:spPr>
          <a:xfrm>
            <a:off x="77760" y="1017720"/>
            <a:ext cx="4587840" cy="1342800"/>
          </a:xfrm>
          <a:prstGeom prst="rect">
            <a:avLst/>
          </a:prstGeom>
          <a:noFill/>
          <a:ln w="0">
            <a:noFill/>
          </a:ln>
        </p:spPr>
        <p:txBody>
          <a:bodyPr lIns="0" tIns="0" rIns="0" bIns="0" anchor="t">
            <a:spAutoFit/>
          </a:bodyPr>
          <a:p>
            <a:pPr>
              <a:lnSpc>
                <a:spcPct val="90000"/>
              </a:lnSpc>
              <a:spcBef>
                <a:spcPts val="2041"/>
              </a:spcBef>
              <a:tabLst>
                <a:tab pos="2577960" algn="l"/>
                <a:tab pos="4762440" algn="l"/>
                <a:tab pos="6095880" algn="l"/>
              </a:tabLst>
            </a:pPr>
            <a:r>
              <a:rPr lang="en-US" sz="1400" b="1" u="none" strike="noStrike">
                <a:solidFill>
                  <a:srgbClr val="5F5F5F"/>
                </a:solidFill>
                <a:effectLst/>
                <a:uFillTx/>
                <a:latin typeface="Courier New"/>
                <a:ea typeface="Courier New"/>
              </a:rPr>
              <a:t>01 Rates.</a:t>
            </a:r>
            <a:br>
              <a:rPr sz="1400"/>
            </a:br>
            <a:r>
              <a:rPr lang="en-US" sz="1400" b="1" u="none" strike="noStrike">
                <a:solidFill>
                  <a:srgbClr val="5F5F5F"/>
                </a:solidFill>
                <a:effectLst/>
                <a:uFillTx/>
                <a:latin typeface="Courier New"/>
                <a:ea typeface="Courier New"/>
              </a:rPr>
              <a:t>   02 10Rate   PIC 99V999.</a:t>
            </a:r>
            <a:br>
              <a:rPr sz="1400"/>
            </a:br>
            <a:r>
              <a:rPr lang="en-US" sz="1400" b="1" u="none" strike="noStrike">
                <a:solidFill>
                  <a:srgbClr val="5F5F5F"/>
                </a:solidFill>
                <a:effectLst/>
                <a:uFillTx/>
                <a:latin typeface="Courier New"/>
                <a:ea typeface="Courier New"/>
              </a:rPr>
              <a:t>   </a:t>
            </a:r>
            <a:r>
              <a:rPr lang="en-US" sz="1400" b="1" u="none" strike="noStrike">
                <a:solidFill>
                  <a:srgbClr val="CC0000"/>
                </a:solidFill>
                <a:effectLst/>
                <a:uFillTx/>
                <a:latin typeface="Courier New"/>
                <a:ea typeface="Courier New"/>
              </a:rPr>
              <a:t>02 100Rate  REDEFINES 10Rate PIC 999V99.</a:t>
            </a:r>
            <a:br>
              <a:rPr sz="1800"/>
            </a:br>
            <a:r>
              <a:rPr lang="en-US" sz="1400" b="1" u="none" strike="noStrike">
                <a:solidFill>
                  <a:srgbClr val="5F5F5F"/>
                </a:solidFill>
                <a:effectLst/>
                <a:uFillTx/>
                <a:latin typeface="Courier New"/>
                <a:ea typeface="Courier New"/>
              </a:rPr>
              <a:t>   02 1000Rate REDEFINES 10Rate PIC 9999V9.</a:t>
            </a:r>
            <a:br>
              <a:rPr sz="1800"/>
            </a:br>
            <a:endParaRPr lang="en-US" sz="1400" b="0" u="none" strike="noStrike">
              <a:solidFill>
                <a:srgbClr val="000000"/>
              </a:solidFill>
              <a:effectLst/>
              <a:uFillTx/>
              <a:latin typeface="Arial"/>
            </a:endParaRPr>
          </a:p>
        </p:txBody>
      </p:sp>
      <p:sp>
        <p:nvSpPr>
          <p:cNvPr id="66" name=""/>
          <p:cNvSpPr txBox="1"/>
          <p:nvPr/>
        </p:nvSpPr>
        <p:spPr>
          <a:xfrm>
            <a:off x="1398600" y="447840"/>
            <a:ext cx="1487520" cy="355680"/>
          </a:xfrm>
          <a:prstGeom prst="rect">
            <a:avLst/>
          </a:prstGeom>
          <a:solidFill>
            <a:srgbClr val="FFFFCC"/>
          </a:solidFill>
          <a:ln w="25560">
            <a:solidFill>
              <a:srgbClr val="000000"/>
            </a:solidFill>
            <a:round/>
          </a:ln>
        </p:spPr>
        <p:txBody>
          <a:bodyPr lIns="0" tIns="0" rIns="0" bIns="0" anchor="t">
            <a:spAutoFit/>
          </a:bodyPr>
          <a:p>
            <a:pPr algn="ctr">
              <a:lnSpc>
                <a:spcPct val="100000"/>
              </a:lnSpc>
            </a:pPr>
            <a:r>
              <a:rPr lang="en-US" sz="1400" b="1" u="none" strike="noStrike">
                <a:solidFill>
                  <a:srgbClr val="FF3300"/>
                </a:solidFill>
                <a:effectLst/>
                <a:uFillTx/>
                <a:latin typeface="Arial"/>
                <a:ea typeface="Arial"/>
              </a:rPr>
              <a:t>1    2    3    4    5</a:t>
            </a:r>
            <a:endParaRPr lang="en-US" sz="1400" b="0" u="none" strike="noStrike">
              <a:solidFill>
                <a:srgbClr val="000000"/>
              </a:solidFill>
              <a:effectLst/>
              <a:uFillTx/>
              <a:latin typeface="Arial"/>
            </a:endParaRPr>
          </a:p>
        </p:txBody>
      </p:sp>
      <p:sp>
        <p:nvSpPr>
          <p:cNvPr id="67" name=""/>
          <p:cNvSpPr txBox="1"/>
          <p:nvPr/>
        </p:nvSpPr>
        <p:spPr>
          <a:xfrm>
            <a:off x="1305000" y="187200"/>
            <a:ext cx="1014480" cy="274680"/>
          </a:xfrm>
          <a:prstGeom prst="rect">
            <a:avLst/>
          </a:prstGeom>
          <a:noFill/>
          <a:ln w="0">
            <a:noFill/>
          </a:ln>
        </p:spPr>
        <p:txBody>
          <a:bodyPr lIns="0" tIns="0" rIns="0" bIns="0" anchor="t">
            <a:spAutoFit/>
          </a:bodyPr>
          <a:p>
            <a:pPr>
              <a:lnSpc>
                <a:spcPct val="100000"/>
              </a:lnSpc>
            </a:pPr>
            <a:r>
              <a:rPr lang="en-US" sz="1200" b="1" u="none" strike="noStrike">
                <a:solidFill>
                  <a:srgbClr val="000000"/>
                </a:solidFill>
                <a:effectLst/>
                <a:uFillTx/>
                <a:latin typeface="Arial"/>
                <a:ea typeface="Arial"/>
              </a:rPr>
              <a:t>Rates</a:t>
            </a:r>
            <a:endParaRPr lang="en-US" sz="1200" b="0" u="none" strike="noStrike">
              <a:solidFill>
                <a:srgbClr val="000000"/>
              </a:solidFill>
              <a:effectLst/>
              <a:uFillTx/>
              <a:latin typeface="Arial"/>
            </a:endParaRPr>
          </a:p>
        </p:txBody>
      </p:sp>
      <p:sp>
        <p:nvSpPr>
          <p:cNvPr id="68" name=""/>
          <p:cNvSpPr/>
          <p:nvPr/>
        </p:nvSpPr>
        <p:spPr>
          <a:xfrm>
            <a:off x="2257560" y="647640"/>
            <a:ext cx="61920" cy="61920"/>
          </a:xfrm>
          <a:prstGeom prst="ellipse">
            <a:avLst/>
          </a:prstGeom>
          <a:solidFill>
            <a:srgbClr val="3333CC"/>
          </a:solidFill>
          <a:ln w="12600">
            <a:solidFill>
              <a:srgbClr val="3333CC"/>
            </a:solidFill>
            <a:round/>
          </a:ln>
        </p:spPr>
        <p:txBody>
          <a:bodyPr lIns="96120" tIns="10800" rIns="96120" bIns="10800" anchor="t">
            <a:noAutofit/>
          </a:bodyPr>
          <a:p>
            <a:endParaRPr lang="en-US" sz="1800" b="0" u="none" strike="noStrike">
              <a:solidFill>
                <a:srgbClr val="FFFFFF"/>
              </a:solidFill>
              <a:effectLst/>
              <a:uFillTx/>
              <a:latin typeface="Arial"/>
            </a:endParaRPr>
          </a:p>
        </p:txBody>
      </p:sp>
      <p:sp>
        <p:nvSpPr>
          <p:cNvPr id="69" name=""/>
          <p:cNvSpPr/>
          <p:nvPr/>
        </p:nvSpPr>
        <p:spPr>
          <a:xfrm>
            <a:off x="2200320" y="733320"/>
            <a:ext cx="171720" cy="171720"/>
          </a:xfrm>
          <a:custGeom>
            <a:avLst/>
            <a:gdLst/>
            <a:ahLst/>
            <a:rect l="0" t="0" r="r" b="b"/>
            <a:pathLst>
              <a:path w="477" h="477">
                <a:moveTo>
                  <a:pt x="0" y="158"/>
                </a:moveTo>
                <a:lnTo>
                  <a:pt x="0" y="318"/>
                </a:lnTo>
                <a:lnTo>
                  <a:pt x="334" y="318"/>
                </a:lnTo>
                <a:lnTo>
                  <a:pt x="334" y="477"/>
                </a:lnTo>
                <a:lnTo>
                  <a:pt x="477" y="239"/>
                </a:lnTo>
                <a:lnTo>
                  <a:pt x="334" y="0"/>
                </a:lnTo>
                <a:lnTo>
                  <a:pt x="334" y="158"/>
                </a:lnTo>
                <a:lnTo>
                  <a:pt x="0" y="158"/>
                </a:lnTo>
                <a:close/>
              </a:path>
            </a:pathLst>
          </a:custGeom>
          <a:solidFill>
            <a:srgbClr val="00CC00"/>
          </a:solidFill>
          <a:ln w="12600">
            <a:solidFill>
              <a:srgbClr val="000000"/>
            </a:solidFill>
            <a:round/>
          </a:ln>
        </p:spPr>
        <p:txBody>
          <a:bodyPr lIns="96120" tIns="51120" rIns="96120" bIns="51120" anchor="t">
            <a:noAutofit/>
          </a:bodyPr>
          <a:p>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
          <p:cNvSpPr txBox="1"/>
          <p:nvPr/>
        </p:nvSpPr>
        <p:spPr>
          <a:xfrm>
            <a:off x="77760" y="1017720"/>
            <a:ext cx="4587840" cy="1342800"/>
          </a:xfrm>
          <a:prstGeom prst="rect">
            <a:avLst/>
          </a:prstGeom>
          <a:noFill/>
          <a:ln w="0">
            <a:noFill/>
          </a:ln>
        </p:spPr>
        <p:txBody>
          <a:bodyPr lIns="0" tIns="0" rIns="0" bIns="0" anchor="t">
            <a:spAutoFit/>
          </a:bodyPr>
          <a:p>
            <a:pPr>
              <a:lnSpc>
                <a:spcPct val="90000"/>
              </a:lnSpc>
              <a:spcBef>
                <a:spcPts val="2041"/>
              </a:spcBef>
              <a:tabLst>
                <a:tab pos="2577960" algn="l"/>
                <a:tab pos="4762440" algn="l"/>
                <a:tab pos="6095880" algn="l"/>
              </a:tabLst>
            </a:pPr>
            <a:r>
              <a:rPr lang="en-US" sz="1400" b="1" u="none" strike="noStrike">
                <a:solidFill>
                  <a:srgbClr val="5F5F5F"/>
                </a:solidFill>
                <a:effectLst/>
                <a:uFillTx/>
                <a:latin typeface="Courier New"/>
                <a:ea typeface="Courier New"/>
              </a:rPr>
              <a:t>01 Rates.</a:t>
            </a:r>
            <a:br>
              <a:rPr sz="1400"/>
            </a:br>
            <a:r>
              <a:rPr lang="en-US" sz="1400" b="1" u="none" strike="noStrike">
                <a:solidFill>
                  <a:srgbClr val="5F5F5F"/>
                </a:solidFill>
                <a:effectLst/>
                <a:uFillTx/>
                <a:latin typeface="Courier New"/>
                <a:ea typeface="Courier New"/>
              </a:rPr>
              <a:t>   02 10Rate   PIC 99V999.</a:t>
            </a:r>
            <a:br>
              <a:rPr sz="1400"/>
            </a:br>
            <a:r>
              <a:rPr lang="en-US" sz="1400" b="1" u="none" strike="noStrike">
                <a:solidFill>
                  <a:srgbClr val="5F5F5F"/>
                </a:solidFill>
                <a:effectLst/>
                <a:uFillTx/>
                <a:latin typeface="Courier New"/>
                <a:ea typeface="Courier New"/>
              </a:rPr>
              <a:t>   02 100Rate  REDEFINES 10Rate PIC 999V99.</a:t>
            </a:r>
            <a:br>
              <a:rPr sz="1400"/>
            </a:br>
            <a:r>
              <a:rPr lang="en-US" sz="1400" b="1" u="none" strike="noStrike">
                <a:solidFill>
                  <a:srgbClr val="5F5F5F"/>
                </a:solidFill>
                <a:effectLst/>
                <a:uFillTx/>
                <a:latin typeface="Courier New"/>
                <a:ea typeface="Courier New"/>
              </a:rPr>
              <a:t>   </a:t>
            </a:r>
            <a:r>
              <a:rPr lang="en-US" sz="1400" b="1" u="none" strike="noStrike">
                <a:solidFill>
                  <a:srgbClr val="CC0000"/>
                </a:solidFill>
                <a:effectLst/>
                <a:uFillTx/>
                <a:latin typeface="Courier New"/>
                <a:ea typeface="Courier New"/>
              </a:rPr>
              <a:t>02 1000Rate REDEFINES 10Rate PIC 9999V9.</a:t>
            </a:r>
            <a:br>
              <a:rPr sz="1800"/>
            </a:br>
            <a:endParaRPr lang="en-US" sz="1400" b="0" u="none" strike="noStrike">
              <a:solidFill>
                <a:srgbClr val="000000"/>
              </a:solidFill>
              <a:effectLst/>
              <a:uFillTx/>
              <a:latin typeface="Arial"/>
            </a:endParaRPr>
          </a:p>
        </p:txBody>
      </p:sp>
      <p:sp>
        <p:nvSpPr>
          <p:cNvPr id="71" name=""/>
          <p:cNvSpPr txBox="1"/>
          <p:nvPr/>
        </p:nvSpPr>
        <p:spPr>
          <a:xfrm>
            <a:off x="1398600" y="447840"/>
            <a:ext cx="1487520" cy="355680"/>
          </a:xfrm>
          <a:prstGeom prst="rect">
            <a:avLst/>
          </a:prstGeom>
          <a:solidFill>
            <a:srgbClr val="FFFFCC"/>
          </a:solidFill>
          <a:ln w="25560">
            <a:solidFill>
              <a:srgbClr val="000000"/>
            </a:solidFill>
            <a:round/>
          </a:ln>
        </p:spPr>
        <p:txBody>
          <a:bodyPr lIns="0" tIns="0" rIns="0" bIns="0" anchor="t">
            <a:spAutoFit/>
          </a:bodyPr>
          <a:p>
            <a:pPr algn="ctr">
              <a:lnSpc>
                <a:spcPct val="100000"/>
              </a:lnSpc>
            </a:pPr>
            <a:r>
              <a:rPr lang="en-US" sz="1400" b="1" u="none" strike="noStrike">
                <a:solidFill>
                  <a:srgbClr val="FF3300"/>
                </a:solidFill>
                <a:effectLst/>
                <a:uFillTx/>
                <a:latin typeface="Arial"/>
                <a:ea typeface="Arial"/>
              </a:rPr>
              <a:t>1    2    3    4    5</a:t>
            </a:r>
            <a:endParaRPr lang="en-US" sz="1400" b="0" u="none" strike="noStrike">
              <a:solidFill>
                <a:srgbClr val="000000"/>
              </a:solidFill>
              <a:effectLst/>
              <a:uFillTx/>
              <a:latin typeface="Arial"/>
            </a:endParaRPr>
          </a:p>
        </p:txBody>
      </p:sp>
      <p:sp>
        <p:nvSpPr>
          <p:cNvPr id="72" name=""/>
          <p:cNvSpPr txBox="1"/>
          <p:nvPr/>
        </p:nvSpPr>
        <p:spPr>
          <a:xfrm>
            <a:off x="1305000" y="187200"/>
            <a:ext cx="1014480" cy="274680"/>
          </a:xfrm>
          <a:prstGeom prst="rect">
            <a:avLst/>
          </a:prstGeom>
          <a:noFill/>
          <a:ln w="0">
            <a:noFill/>
          </a:ln>
        </p:spPr>
        <p:txBody>
          <a:bodyPr lIns="0" tIns="0" rIns="0" bIns="0" anchor="t">
            <a:spAutoFit/>
          </a:bodyPr>
          <a:p>
            <a:pPr>
              <a:lnSpc>
                <a:spcPct val="100000"/>
              </a:lnSpc>
            </a:pPr>
            <a:r>
              <a:rPr lang="en-US" sz="1200" b="1" u="none" strike="noStrike">
                <a:solidFill>
                  <a:srgbClr val="000000"/>
                </a:solidFill>
                <a:effectLst/>
                <a:uFillTx/>
                <a:latin typeface="Arial"/>
                <a:ea typeface="Arial"/>
              </a:rPr>
              <a:t>Rates</a:t>
            </a:r>
            <a:endParaRPr lang="en-US" sz="1200" b="0" u="none" strike="noStrike">
              <a:solidFill>
                <a:srgbClr val="000000"/>
              </a:solidFill>
              <a:effectLst/>
              <a:uFillTx/>
              <a:latin typeface="Arial"/>
            </a:endParaRPr>
          </a:p>
        </p:txBody>
      </p:sp>
      <p:sp>
        <p:nvSpPr>
          <p:cNvPr id="73" name=""/>
          <p:cNvSpPr/>
          <p:nvPr/>
        </p:nvSpPr>
        <p:spPr>
          <a:xfrm>
            <a:off x="2505240" y="752400"/>
            <a:ext cx="171720" cy="171720"/>
          </a:xfrm>
          <a:custGeom>
            <a:avLst/>
            <a:gdLst/>
            <a:ahLst/>
            <a:rect l="0" t="0" r="r" b="b"/>
            <a:pathLst>
              <a:path w="477" h="477">
                <a:moveTo>
                  <a:pt x="0" y="158"/>
                </a:moveTo>
                <a:lnTo>
                  <a:pt x="0" y="318"/>
                </a:lnTo>
                <a:lnTo>
                  <a:pt x="334" y="318"/>
                </a:lnTo>
                <a:lnTo>
                  <a:pt x="334" y="477"/>
                </a:lnTo>
                <a:lnTo>
                  <a:pt x="477" y="239"/>
                </a:lnTo>
                <a:lnTo>
                  <a:pt x="334" y="0"/>
                </a:lnTo>
                <a:lnTo>
                  <a:pt x="334" y="158"/>
                </a:lnTo>
                <a:lnTo>
                  <a:pt x="0" y="158"/>
                </a:lnTo>
                <a:close/>
              </a:path>
            </a:pathLst>
          </a:custGeom>
          <a:solidFill>
            <a:srgbClr val="00CC00"/>
          </a:solidFill>
          <a:ln w="12600">
            <a:solidFill>
              <a:srgbClr val="000000"/>
            </a:solidFill>
            <a:round/>
          </a:ln>
        </p:spPr>
        <p:txBody>
          <a:bodyPr lIns="96120" tIns="51120" rIns="96120" bIns="51120" anchor="t">
            <a:noAutofit/>
          </a:bodyPr>
          <a:p>
            <a:endParaRPr lang="en-US" sz="1800" b="0" u="none" strike="noStrike">
              <a:solidFill>
                <a:srgbClr val="000000"/>
              </a:solidFill>
              <a:effectLst/>
              <a:uFillTx/>
              <a:latin typeface="Arial"/>
            </a:endParaRPr>
          </a:p>
        </p:txBody>
      </p:sp>
      <p:sp>
        <p:nvSpPr>
          <p:cNvPr id="74" name=""/>
          <p:cNvSpPr/>
          <p:nvPr/>
        </p:nvSpPr>
        <p:spPr>
          <a:xfrm>
            <a:off x="2562120" y="647640"/>
            <a:ext cx="57240" cy="57240"/>
          </a:xfrm>
          <a:prstGeom prst="ellipse">
            <a:avLst/>
          </a:prstGeom>
          <a:solidFill>
            <a:srgbClr val="3333CC"/>
          </a:solidFill>
          <a:ln w="12600">
            <a:solidFill>
              <a:srgbClr val="3333CC"/>
            </a:solidFill>
            <a:round/>
          </a:ln>
        </p:spPr>
        <p:txBody>
          <a:bodyPr lIns="96120" tIns="6120" rIns="96120" bIns="6120" anchor="t">
            <a:noAutofit/>
          </a:bodyPr>
          <a:p>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LibreOffice/26.2.2.2$Windows_X86_64 LibreOffice_project/1f77d10d6938fd34972958f64b2bcfa54f8b1ba5</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Michael Coughlan</dc:creator>
  <dc:description/>
  <dc:language>en-US</dc:language>
  <cp:lastModifiedBy>Michael Coughlan</cp:lastModifiedBy>
  <cp:revision>0</cp:revision>
  <dc:subject/>
  <dc:title>No Slide Title</dc:title>
</cp:coreProperties>
</file>