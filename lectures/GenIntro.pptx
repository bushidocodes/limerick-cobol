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EBF44B7-0C00-4A5D-A700-FFCF0F75283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374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380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386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390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392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398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404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406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410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412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30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31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416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32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418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33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34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422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35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424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r">
              <a:lnSpc>
                <a:spcPct val="100000"/>
              </a:lnSpc>
              <a:buNone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36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M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0">
            <a:gsLst>
              <a:gs pos="0">
                <a:srgbClr val="114FFB"/>
              </a:gs>
              <a:gs pos="100000">
                <a:srgbClr val="FFFFFF"/>
              </a:gs>
            </a:gsLst>
            <a:path path="rect">
              <a:fillToRect l="0" t="0" r="100000" b="100000"/>
            </a:path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" name=""/>
          <p:cNvGrpSpPr/>
          <p:nvPr/>
        </p:nvGrpSpPr>
        <p:grpSpPr>
          <a:xfrm>
            <a:off x="6629400" y="4343400"/>
            <a:ext cx="2286000" cy="2286000"/>
            <a:chOff x="6629400" y="4343400"/>
            <a:chExt cx="2286000" cy="2286000"/>
          </a:xfrm>
        </p:grpSpPr>
        <p:sp>
          <p:nvSpPr>
            <p:cNvPr id="4" name=""/>
            <p:cNvSpPr/>
            <p:nvPr/>
          </p:nvSpPr>
          <p:spPr>
            <a:xfrm>
              <a:off x="8763120" y="6477120"/>
              <a:ext cx="152280" cy="152280"/>
            </a:xfrm>
            <a:prstGeom prst="rect">
              <a:avLst/>
            </a:prstGeom>
            <a:solidFill>
              <a:srgbClr val="FF0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8458200" y="6477120"/>
              <a:ext cx="152280" cy="152280"/>
            </a:xfrm>
            <a:prstGeom prst="rect">
              <a:avLst/>
            </a:prstGeom>
            <a:solidFill>
              <a:srgbClr val="FF8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8153280" y="6477120"/>
              <a:ext cx="152280" cy="152280"/>
            </a:xfrm>
            <a:prstGeom prst="rect">
              <a:avLst/>
            </a:prstGeom>
            <a:solidFill>
              <a:srgbClr val="FF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7848720" y="6477120"/>
              <a:ext cx="152280" cy="152280"/>
            </a:xfrm>
            <a:prstGeom prst="rect">
              <a:avLst/>
            </a:prstGeom>
            <a:solidFill>
              <a:srgbClr val="00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7543800" y="6477120"/>
              <a:ext cx="152280" cy="152280"/>
            </a:xfrm>
            <a:prstGeom prst="rect">
              <a:avLst/>
            </a:prstGeom>
            <a:solidFill>
              <a:srgbClr val="00FF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7238880" y="6477120"/>
              <a:ext cx="152280" cy="152280"/>
            </a:xfrm>
            <a:prstGeom prst="rect">
              <a:avLst/>
            </a:prstGeom>
            <a:solidFill>
              <a:srgbClr val="00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6934320" y="6477120"/>
              <a:ext cx="152280" cy="152280"/>
            </a:xfrm>
            <a:prstGeom prst="rect">
              <a:avLst/>
            </a:prstGeom>
            <a:solidFill>
              <a:srgbClr val="FF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6629400" y="6477120"/>
              <a:ext cx="152280" cy="152280"/>
            </a:xfrm>
            <a:prstGeom prst="rect">
              <a:avLst/>
            </a:prstGeom>
            <a:solidFill>
              <a:srgbClr val="A000A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8763120" y="6172200"/>
              <a:ext cx="152280" cy="152280"/>
            </a:xfrm>
            <a:prstGeom prst="rect">
              <a:avLst/>
            </a:prstGeom>
            <a:solidFill>
              <a:srgbClr val="FF8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8763120" y="5867280"/>
              <a:ext cx="152280" cy="152280"/>
            </a:xfrm>
            <a:prstGeom prst="rect">
              <a:avLst/>
            </a:prstGeom>
            <a:solidFill>
              <a:srgbClr val="FF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8763120" y="5562720"/>
              <a:ext cx="152280" cy="152280"/>
            </a:xfrm>
            <a:prstGeom prst="rect">
              <a:avLst/>
            </a:prstGeom>
            <a:solidFill>
              <a:srgbClr val="00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8763120" y="5257800"/>
              <a:ext cx="152280" cy="152280"/>
            </a:xfrm>
            <a:prstGeom prst="rect">
              <a:avLst/>
            </a:prstGeom>
            <a:solidFill>
              <a:srgbClr val="00FF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8763120" y="4952880"/>
              <a:ext cx="152280" cy="152280"/>
            </a:xfrm>
            <a:prstGeom prst="rect">
              <a:avLst/>
            </a:prstGeom>
            <a:solidFill>
              <a:srgbClr val="00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8763120" y="4648320"/>
              <a:ext cx="152280" cy="152280"/>
            </a:xfrm>
            <a:prstGeom prst="rect">
              <a:avLst/>
            </a:prstGeom>
            <a:solidFill>
              <a:srgbClr val="FF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8763120" y="4343400"/>
              <a:ext cx="152280" cy="152280"/>
            </a:xfrm>
            <a:prstGeom prst="rect">
              <a:avLst/>
            </a:prstGeom>
            <a:solidFill>
              <a:srgbClr val="A000A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"/>
          <p:cNvSpPr/>
          <p:nvPr/>
        </p:nvSpPr>
        <p:spPr>
          <a:xfrm>
            <a:off x="0" y="0"/>
            <a:ext cx="9131400" cy="6845400"/>
          </a:xfrm>
          <a:prstGeom prst="rect">
            <a:avLst/>
          </a:prstGeom>
          <a:gradFill rotWithShape="0">
            <a:gsLst>
              <a:gs pos="0">
                <a:srgbClr val="063DE8"/>
              </a:gs>
              <a:gs pos="100000">
                <a:srgbClr val="FFFFFF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2425680" y="2797200"/>
            <a:ext cx="4680000" cy="10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90000"/>
              </a:lnSpc>
            </a:pPr>
            <a:r>
              <a:rPr lang="en-US" sz="36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General Introduction</a:t>
            </a:r>
            <a:br>
              <a:rPr sz="3600"/>
            </a:br>
            <a:r>
              <a:rPr lang="en-US" sz="36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Algorithms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2438280" y="95400"/>
            <a:ext cx="42670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Let’s write a program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380880" y="838080"/>
            <a:ext cx="8153280" cy="541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100000"/>
              </a:lnSpc>
              <a:spcBef>
                <a:spcPts val="119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 program is a collection of statements written in a language the computer understands.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119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 computer executes program statements one after another </a:t>
            </a: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in sequence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until it reaches the end of the program unless some statement in the program alters the order of execution.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119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Let’s write a program to accept two numbers from the user, multiply them together and display the result on the screen.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119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We’ll write the program in COBOL.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119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What COBOL program statements will we need to do the job?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2438280" y="209520"/>
            <a:ext cx="40384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Program Statements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304920" y="835200"/>
            <a:ext cx="8153280" cy="548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We need a statement to take in the first number and store it in a named memory location.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52560" lvl="1" indent="-380880">
              <a:lnSpc>
                <a:spcPct val="90000"/>
              </a:lnSpc>
              <a:spcBef>
                <a:spcPts val="720"/>
              </a:spcBef>
              <a:buClr>
                <a:srgbClr val="00FF00"/>
              </a:buClr>
              <a:buSzPct val="65000"/>
              <a:buFont typeface="Monotype Sorts"/>
              <a:buChar char="_x0000_"/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ACCEPT Num1.</a:t>
            </a:r>
            <a:br>
              <a:rPr sz="1800"/>
            </a:b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We need a statement to take in the second number and store it in a named memory location.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52560" lvl="1" indent="-380880">
              <a:lnSpc>
                <a:spcPct val="90000"/>
              </a:lnSpc>
              <a:spcBef>
                <a:spcPts val="720"/>
              </a:spcBef>
              <a:buClr>
                <a:srgbClr val="00FF00"/>
              </a:buClr>
              <a:buSzPct val="65000"/>
              <a:buFont typeface="Monotype Sorts"/>
              <a:buChar char="_x0000_"/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ACCEPT Num2.</a:t>
            </a:r>
            <a:br>
              <a:rPr sz="1800"/>
            </a:b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We need a statement to multiply the two numbers together and store the result in a named location.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52560" lvl="1" indent="-380880">
              <a:lnSpc>
                <a:spcPct val="90000"/>
              </a:lnSpc>
              <a:spcBef>
                <a:spcPts val="720"/>
              </a:spcBef>
              <a:buClr>
                <a:srgbClr val="00FF00"/>
              </a:buClr>
              <a:buSzPct val="65000"/>
              <a:buFont typeface="Monotype Sorts"/>
              <a:buChar char="_x0000_"/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MULTIPLY Num1 BY Num2 GIVING Result.</a:t>
            </a:r>
            <a:br>
              <a:rPr sz="1800"/>
            </a:br>
            <a:r>
              <a:rPr lang="en-US" sz="20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	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We need a statement to display the result on the screen.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52560" lvl="1" indent="-380880">
              <a:lnSpc>
                <a:spcPct val="90000"/>
              </a:lnSpc>
              <a:spcBef>
                <a:spcPts val="720"/>
              </a:spcBef>
              <a:buClr>
                <a:srgbClr val="00FF00"/>
              </a:buClr>
              <a:buSzPct val="65000"/>
              <a:buFont typeface="Monotype Sorts"/>
              <a:buChar char="_x0000_"/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DISPLAY "Result is = ", Result.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154080" y="154080"/>
            <a:ext cx="6400800" cy="612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PROGRAM-ID.  </a:t>
            </a:r>
            <a:r>
              <a:rPr lang="en-US" sz="20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FragmentA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Num1           PIC 9 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Num2           PIC 9 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Result         PIC 99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Calc-Result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ACCEPT Num1.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MULTIPLY Num1 BY Num2 GIVING 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ACCEPT Num2.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DISPLAY "Result is = ", 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6705720" y="1066680"/>
            <a:ext cx="2209680" cy="304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Num1  Num2     Result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6705720" y="137160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7315200" y="1371600"/>
            <a:ext cx="609480" cy="664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7924680" y="137160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7315200" y="685800"/>
            <a:ext cx="10666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154080" y="154080"/>
            <a:ext cx="6400800" cy="612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PROGRAM-ID.  FragmentA.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Num1           PIC 9 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Num2           PIC 9 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Result         PIC 99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Calc-Result.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20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ACCEPT Num1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MULTIPLY Num1 BY Num2 GIVING 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ACCEPT Num2.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DISPLAY "Result is = ", 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6705720" y="1066680"/>
            <a:ext cx="2209680" cy="304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Num1  Num2     Result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6705720" y="137160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7315200" y="1371600"/>
            <a:ext cx="609480" cy="664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7924680" y="137160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7315200" y="685800"/>
            <a:ext cx="10666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154080" y="154080"/>
            <a:ext cx="6400800" cy="612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PROGRAM-ID.  FragmentA.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Num1           PIC 9 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Num2           PIC 9 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Result         PIC 99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Calc-Result.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ACCEPT Num1.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20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MULTIPLY Num1 BY Num2 GIVING Result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ACCEPT Num2.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DISPLAY "Result is = ", 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6705720" y="1066680"/>
            <a:ext cx="2209680" cy="304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Num1  Num2     Result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6705720" y="137160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7315200" y="1371600"/>
            <a:ext cx="609480" cy="664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7924680" y="137160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00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7315200" y="685800"/>
            <a:ext cx="10666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154080" y="154080"/>
            <a:ext cx="6400800" cy="612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PROGRAM-ID.  FragmentA.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Num1           PIC 9 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Num2           PIC 9 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Result         PIC 99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Calc-Result.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ACCEPT Num1.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MULTIPLY Num1 BY Num2 GIVING 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20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ACCEPT Num2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DISPLAY "Result is = ", 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6705720" y="1066680"/>
            <a:ext cx="2209680" cy="304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Num1  Num2     Result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6705720" y="137160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7315200" y="137160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7924680" y="137160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7315200" y="685800"/>
            <a:ext cx="10666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"/>
          <p:cNvSpPr txBox="1"/>
          <p:nvPr/>
        </p:nvSpPr>
        <p:spPr>
          <a:xfrm>
            <a:off x="154080" y="154080"/>
            <a:ext cx="6400800" cy="612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PROGRAM-ID.  FragmentA.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Num1           PIC 9 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Num2           PIC 9 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Result         PIC 99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Calc-Result.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ACCEPT Num1.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MULTIPLY Num1 BY Num2 GIVING 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ACCEPT Num2.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20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 DISPLAY "Result is = ", Result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6705720" y="1066680"/>
            <a:ext cx="2209680" cy="304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Num1  Num2     Result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6705720" y="137160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7315200" y="137160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7924680" y="137160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20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00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7315200" y="685800"/>
            <a:ext cx="10666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8077320" y="1371600"/>
            <a:ext cx="685800" cy="380880"/>
          </a:xfrm>
          <a:prstGeom prst="rect">
            <a:avLst/>
          </a:prstGeom>
          <a:noFill/>
          <a:ln w="25560">
            <a:solidFill>
              <a:srgbClr val="FC0128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6932520" y="1752480"/>
            <a:ext cx="1822320" cy="2416320"/>
          </a:xfrm>
          <a:prstGeom prst="rect">
            <a:avLst/>
          </a:prstGeom>
          <a:solidFill>
            <a:srgbClr val="DADADA"/>
          </a:solidFill>
          <a:ln w="25560">
            <a:solidFill>
              <a:srgbClr val="FC0128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Oh No!!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We got the wrong answer.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Let’s try again.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154080" y="154080"/>
            <a:ext cx="6400800" cy="6188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PROGRAM-ID. </a:t>
            </a:r>
            <a:r>
              <a:rPr lang="en-US" sz="20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FragmentB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Num1           PIC 9 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Num2           PIC 9 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Result         PIC 99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Calc-Result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ACCEPT Num1.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ACCEPT Num2.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DISPLAY "Result is = ", 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MULTIPLY Num1 BY Num2 GIVING 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6705720" y="1066680"/>
            <a:ext cx="2209680" cy="304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Num1  Num2     Result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6705720" y="137160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7315200" y="137160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7924680" y="137160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7315200" y="685800"/>
            <a:ext cx="10666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154080" y="154080"/>
            <a:ext cx="6400800" cy="612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PROGRAM-ID.  FragmentB.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Num1           PIC 9 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Num2           PIC 9 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Result         PIC 99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Calc-Result.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20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ACCEPT Num1.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ACCEPT Num2.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DISPLAY "Result is = ", 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MULTIPLY Num1 BY Num2 GIVING 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6705720" y="1066680"/>
            <a:ext cx="2209680" cy="304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Num1  Num2     Result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6705720" y="137160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7315200" y="137160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7924680" y="137160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7315200" y="685800"/>
            <a:ext cx="10666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154080" y="154080"/>
            <a:ext cx="6400800" cy="612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PROGRAM-ID.  FragmentB.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Num1           PIC 9 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Num2           PIC 9 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Result         PIC 99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Calc-Result.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ACCEPT Num1.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   ACCEPT Num2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DISPLAY "Result is = ", 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MULTIPLY Num1 BY Num2 GIVING 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6705720" y="1066680"/>
            <a:ext cx="2209680" cy="304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Num1  Num2     Result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6705720" y="137160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7315200" y="137160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7924680" y="137160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7315200" y="685800"/>
            <a:ext cx="10666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154080" y="154080"/>
            <a:ext cx="6400800" cy="612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PROGRAM-ID.  FragmentB.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Num1           PIC 9 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Num2           PIC 9 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Result         PIC 99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Calc-Result.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ACCEPT Num1.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ACCEPT Num2.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20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DISPLAY "Result is = ", Result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MULTIPLY Num1 BY Num2 GIVING 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6705720" y="1066680"/>
            <a:ext cx="2209680" cy="304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Num1  Num2     Result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6705720" y="137160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7315200" y="137160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7924680" y="137160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20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00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7315200" y="685800"/>
            <a:ext cx="10666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6626160" y="1768320"/>
            <a:ext cx="2054160" cy="2416320"/>
          </a:xfrm>
          <a:prstGeom prst="rect">
            <a:avLst/>
          </a:prstGeom>
          <a:solidFill>
            <a:srgbClr val="DADADA"/>
          </a:solidFill>
          <a:ln w="25560">
            <a:solidFill>
              <a:srgbClr val="FC0128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Oh No!!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We got the wrong answer again.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Let’s have one more try.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154080" y="154080"/>
            <a:ext cx="6400800" cy="612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PROGRAM-ID.  FragmentB.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Num1           PIC 9 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Num2           PIC 9 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Result         PIC 99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Calc-Result.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ACCEPT Num1.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ACCEPT Num2.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DISPLAY "Result is = ", 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20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  MULTIPLY Num1 BY Num2 GIVING Result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6705720" y="1066680"/>
            <a:ext cx="2209680" cy="304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Num1  Num2     Result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6705720" y="137160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7315200" y="137160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7924680" y="137160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45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7315200" y="685800"/>
            <a:ext cx="10666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6705720" y="1066680"/>
            <a:ext cx="2209680" cy="304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Num1  Num2     Result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154080" y="154080"/>
            <a:ext cx="6400800" cy="6188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PROGRAM-ID.  </a:t>
            </a:r>
            <a:r>
              <a:rPr lang="en-US" sz="20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Sequence-Program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Num1           PIC 9 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Num2           PIC 9 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Result         PIC 99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Calc-Result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ACCEPT Num1.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ACCEPT Num2.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MULTIPLY Num1 BY Num2 GIVING 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DISPLAY "Result is = ", 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6705720" y="137160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7315200" y="1371600"/>
            <a:ext cx="609480" cy="664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7924680" y="137160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7315200" y="685800"/>
            <a:ext cx="10666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154080" y="154080"/>
            <a:ext cx="6400800" cy="612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PROGRAM-ID.  Sequence-Program.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Num1           PIC 9 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Num2           PIC 9 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Result         PIC 99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Calc-Result.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20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 ACCEPT Num1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ACCEPT Num2.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MULTIPLY Num1 BY Num2 GIVING 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DISPLAY "Result is = ", 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6705720" y="137160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7315200" y="1371600"/>
            <a:ext cx="609480" cy="664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7924680" y="137160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6705720" y="1066680"/>
            <a:ext cx="2209680" cy="304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Num1  Num2     Result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7315200" y="685800"/>
            <a:ext cx="10666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154080" y="154080"/>
            <a:ext cx="6400800" cy="612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PROGRAM-ID.  Sequence-Program.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Num1           PIC 9 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Num2           PIC 9 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Result         PIC 99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Calc-Result.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ACCEPT Num1.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20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 ACCEPT Num2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MULTIPLY Num1 BY Num2 GIVING 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DISPLAY "Result is = ", 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6705720" y="137160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7315200" y="137160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7924680" y="137160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6705720" y="1066680"/>
            <a:ext cx="2209680" cy="304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Num1  Num2     Result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7315200" y="685800"/>
            <a:ext cx="10666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154080" y="154080"/>
            <a:ext cx="6400800" cy="612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PROGRAM-ID.  Sequence-Program.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Num1           PIC 9 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Num2           PIC 9 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Result         PIC 99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Calc-Result.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ACCEPT Num1.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ACCEPT Num2.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20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 MULTIPLY Num1 BY Num2 GIVING Result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DISPLAY "Result is = ", 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6705720" y="137160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7315200" y="1371600"/>
            <a:ext cx="609480" cy="664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7924680" y="137160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45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6705720" y="1066680"/>
            <a:ext cx="2209680" cy="304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Num1  Num2     Result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7315200" y="685800"/>
            <a:ext cx="10666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154080" y="154080"/>
            <a:ext cx="6400800" cy="612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PROGRAM-ID.  Sequence-Program.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Num1           PIC 9 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Num2           PIC 9 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Result         PIC 99 VALUE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Calc-Result.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ACCEPT Num1.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ACCEPT Num2.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MULTIPLY Num1 BY Num2 GIVING 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20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DISPLAY "Result is = ", Result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6705720" y="137160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7315200" y="1371600"/>
            <a:ext cx="609480" cy="664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7924680" y="137160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20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45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6705720" y="1066680"/>
            <a:ext cx="2209680" cy="304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Num1  Num2     Result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7315200" y="685800"/>
            <a:ext cx="10666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6323040" y="1508040"/>
            <a:ext cx="2670120" cy="3949560"/>
          </a:xfrm>
          <a:prstGeom prst="rect">
            <a:avLst/>
          </a:prstGeom>
          <a:solidFill>
            <a:srgbClr val="DADADA"/>
          </a:solidFill>
          <a:ln w="25560">
            <a:solidFill>
              <a:srgbClr val="037C03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Right .. At last!!</a:t>
            </a:r>
            <a:br>
              <a:rPr sz="1800"/>
            </a:b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It’s not enough to know what statements we need.  We must make sure the computer executes them in the right order.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3114720" y="2386080"/>
            <a:ext cx="2514600" cy="260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100000"/>
              </a:lnSpc>
              <a:spcBef>
                <a:spcPts val="240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Sequence.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240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Selection.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100000"/>
              </a:lnSpc>
              <a:spcBef>
                <a:spcPts val="240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Iteration.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304920" y="230040"/>
            <a:ext cx="8610480" cy="163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720"/>
              </a:spcBef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20"/>
              </a:spcBef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Programs are written using three </a:t>
            </a:r>
            <a:br>
              <a:rPr sz="2800"/>
            </a:b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main programming constructs</a:t>
            </a: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5715000" y="685800"/>
            <a:ext cx="3200400" cy="304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Num1  Num2     Result       Operator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77760" y="1440"/>
            <a:ext cx="6172200" cy="628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PROGRAM-ID.  </a:t>
            </a:r>
            <a:r>
              <a:rPr lang="en-US" sz="18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Selection-Program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Num1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Num2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Result         PIC 99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Operator       PIC X  VALUE SPACE.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Calculator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ACCEPT Num1.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ACCEPT Num2.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ACCEPT Operator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IF Operator = "+"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ADD Num1,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END-IF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IF Operator = "*"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MULTIPLY Num1 BY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END-IF.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DISPLAY "Result is = ", Result.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5715000" y="99072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6324480" y="990720"/>
            <a:ext cx="609480" cy="664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693432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6781680" y="304920"/>
            <a:ext cx="10666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792468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_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77760" y="154080"/>
            <a:ext cx="6172200" cy="628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PROGRAM-ID.  Selection-Program.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Num1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Num2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Result         PIC 99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Operator       PIC X  VALUE SPACE.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Calculator.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  ACCEPT Num1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ACCEPT Num2.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ACCEPT Operator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IF Operator = "+"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ADD Num1,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END-IF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IF Operator = "*"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MULTIPLY Num1 BY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END-IF.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DISPLAY "Result is = ", Result.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5715000" y="685800"/>
            <a:ext cx="3200400" cy="304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Num1  Num2     Result       Operator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5715000" y="99072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6324480" y="990720"/>
            <a:ext cx="609480" cy="664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693432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6781680" y="304920"/>
            <a:ext cx="10666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792468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_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77760" y="154080"/>
            <a:ext cx="6172200" cy="628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PROGRAM-ID.  Selection-Program.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Num1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Num2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Result         PIC 99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Operator       PIC X  VALUE SPACE.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Calculator.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ACCEPT Num1.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8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ACCEPT Num2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ACCEPT Operator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IF Operator = "+"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ADD Num1,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END-IF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IF Operator = "*"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MULTIPLY Num1 BY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END-IF.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DISPLAY "Result is = ", Result.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5715000" y="685800"/>
            <a:ext cx="3200400" cy="304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Num1  Num2     Result       Operator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5715000" y="99072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6324480" y="990720"/>
            <a:ext cx="609480" cy="691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693432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6781680" y="304920"/>
            <a:ext cx="10666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792468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_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77760" y="154080"/>
            <a:ext cx="6172200" cy="628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PROGRAM-ID.  Selection-Program.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Num1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Num2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Result         PIC 99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Operator       PIC X  VALUE SPACE.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Calculator.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ACCEPT Num1.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ACCEPT Num2.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8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ACCEPT Operator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IF Operator = "+"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ADD Num1,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END-IF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IF Operator = "*"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MULTIPLY Num1 BY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END-IF.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DISPLAY "Result is = ", Result.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STOP RUN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5715000" y="685800"/>
            <a:ext cx="3200400" cy="304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Num1  Num2     Result       Operator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5715000" y="99072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6324480" y="990720"/>
            <a:ext cx="609480" cy="664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693432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6781680" y="304920"/>
            <a:ext cx="10666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792468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+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77760" y="154080"/>
            <a:ext cx="6172200" cy="628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PROGRAM-ID.  Selection-Program.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Num1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Num2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Result         PIC 99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Operator       PIC X  VALUE SPACE.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Calculator.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ACCEPT Num1.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ACCEPT Num2.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ACCEPT Operator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8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 IF Operator = "+"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ADD Num1,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8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END-IF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IF Operator = "*"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MULTIPLY Num1 BY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END-IF.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DISPLAY "Result is = ", Result.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5715000" y="685800"/>
            <a:ext cx="3200400" cy="304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Num1  Num2     Result       Operator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5715000" y="99072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6324480" y="990720"/>
            <a:ext cx="609480" cy="664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693432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6781680" y="304920"/>
            <a:ext cx="10666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792468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77760" y="154080"/>
            <a:ext cx="6172200" cy="628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PROGRAM-ID.  Selection-Program.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Num1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Num2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Result         PIC 99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Operator       PIC X  VALUE SPACE.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Calculator.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ACCEPT Num1.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ACCEPT Num2.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ACCEPT Operator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IF Operator = "+"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</a:t>
            </a:r>
            <a:r>
              <a:rPr lang="en-US" sz="18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ADD Num1,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END-IF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IF Operator = "*"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MULTIPLY Num1 BY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END-IF.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DISPLAY "Result is = ", Result.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5715000" y="685800"/>
            <a:ext cx="3200400" cy="304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Num1  Num2     Result       Operator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5715000" y="99072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6324480" y="990720"/>
            <a:ext cx="609480" cy="664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693432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6781680" y="304920"/>
            <a:ext cx="10666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792468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77760" y="154080"/>
            <a:ext cx="6172200" cy="628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PROGRAM-ID.  Selection-Program.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Num1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Num2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Result         PIC 99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Operator       PIC X  VALUE SPACE.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Calculator.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ACCEPT Num1.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ACCEPT Num2.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ACCEPT Operator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IF Operator = "+"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ADD Num1,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END-IF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8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IF Operator = "*"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MULTIPLY Num1 BY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8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END-IF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DISPLAY "Result is = ", Result.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5715000" y="685800"/>
            <a:ext cx="3200400" cy="304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Num1  Num2     Result       Operator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5715000" y="99072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6324480" y="990720"/>
            <a:ext cx="609480" cy="664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693432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6781680" y="304920"/>
            <a:ext cx="10666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792468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77760" y="154080"/>
            <a:ext cx="6172200" cy="628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PROGRAM-ID.  Selection-Program.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Num1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Num2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Result         PIC 99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Operator       PIC X  VALUE SPACE.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Calculator.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ACCEPT Num1.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ACCEPT Num2.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ACCEPT Operator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IF Operator = "+"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ADD Num1,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END-IF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IF Operator = "*"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MULTIPLY Num1 BY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END-IF.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   DISPLAY "Result is = ", Result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5715000" y="685800"/>
            <a:ext cx="3200400" cy="304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Num1  Num2     Result       Operator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5715000" y="99072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6324480" y="990720"/>
            <a:ext cx="609480" cy="664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693432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20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6781680" y="304920"/>
            <a:ext cx="10666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792468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154080" y="230040"/>
            <a:ext cx="7162920" cy="639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PROGRAM-ID.  </a:t>
            </a:r>
            <a:r>
              <a:rPr lang="en-US" sz="18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Iteration-Program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DATA DIVISION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Num1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Num2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Result         PIC 99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Operator       PIC X  VALUE SPACE.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Calculator.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PERFORM 5 TIMES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ACCEPT Num1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ACCEPT Num2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ACCEPT Operator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IF Operator = "+"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   ADD Num1,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END-IF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IF Operator = "*"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   MULTIPLY Num1 BY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END-IF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DISPLAY "Result is = ",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END-PERFORM.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6553080" y="685800"/>
            <a:ext cx="1066680" cy="380880"/>
          </a:xfrm>
          <a:prstGeom prst="rect">
            <a:avLst/>
          </a:prstGeom>
          <a:solidFill>
            <a:srgbClr val="114FFB"/>
          </a:solidFill>
          <a:ln w="12600">
            <a:solidFill>
              <a:srgbClr val="FFFFFF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5715000" y="685800"/>
            <a:ext cx="3200400" cy="304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Num1  Num2     Result       Operator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5715000" y="99072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6324480" y="990720"/>
            <a:ext cx="609480" cy="664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693432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6781680" y="304920"/>
            <a:ext cx="10666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792468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_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154080" y="230040"/>
            <a:ext cx="7162920" cy="639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PROGRAM-ID.  Iteration-Program.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Num1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Num2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Result         PIC 99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Operator       PIC X  VALUE SPACE.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Calculator.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   PERFORM 5 TIMES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ACCEPT Num1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ACCEPT Num2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ACCEPT Operator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IF Operator = "+"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   ADD Num1,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END-IF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IF Operator = "*"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   MULTIPLY Num1 BY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END-IF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DISPLAY "Result is = ",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8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 END-PERFORM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6553080" y="685800"/>
            <a:ext cx="1066680" cy="380880"/>
          </a:xfrm>
          <a:prstGeom prst="rect">
            <a:avLst/>
          </a:prstGeom>
          <a:solidFill>
            <a:srgbClr val="114FFB"/>
          </a:solidFill>
          <a:ln w="12600">
            <a:solidFill>
              <a:srgbClr val="FFFFFF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5715000" y="685800"/>
            <a:ext cx="3200400" cy="304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Num1  Num2     Result       Operator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5715000" y="99072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6324480" y="990720"/>
            <a:ext cx="609480" cy="664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693432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6781680" y="304920"/>
            <a:ext cx="10666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792468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_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154080" y="230040"/>
            <a:ext cx="7162920" cy="639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PROGRAM-ID.  Iteration-Program.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Num1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Num2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Result         PIC 99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Operator       PIC X  VALUE SPACE.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Calculator.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PERFORM 5 TIMES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8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 ACCEPT Num1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ACCEPT Num2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ACCEPT Operator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IF Operator = "+"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   ADD Num1,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END-IF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IF Operator = "*"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   MULTIPLY Num1 BY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END-IF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DISPLAY "Result is = ",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END-PERFORM.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6553080" y="685800"/>
            <a:ext cx="1066680" cy="380880"/>
          </a:xfrm>
          <a:prstGeom prst="rect">
            <a:avLst/>
          </a:prstGeom>
          <a:solidFill>
            <a:srgbClr val="114FFB"/>
          </a:solidFill>
          <a:ln w="12600">
            <a:solidFill>
              <a:srgbClr val="FFFFFF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5715000" y="685800"/>
            <a:ext cx="3200400" cy="304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Num1  Num2     Result       Operator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5715000" y="99072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6324480" y="990720"/>
            <a:ext cx="609480" cy="664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693432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6781680" y="304920"/>
            <a:ext cx="10666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792468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_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154080" y="230040"/>
            <a:ext cx="7162920" cy="639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PROGRAM-ID.  Iteration-Program.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Num1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Num2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Result         PIC 99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Operator       PIC X  VALUE SPACE.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Calculator.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PERFORM 5 TIMES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ACCEPT Num1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</a:t>
            </a:r>
            <a:r>
              <a:rPr lang="en-US" sz="18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ACCEPT Num2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ACCEPT Operator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IF Operator = "+"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   ADD Num1,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END-IF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IF Operator = "*"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   MULTIPLY Num1 BY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END-IF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DISPLAY "Result is = ",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END-PERFORM.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6553080" y="685800"/>
            <a:ext cx="1066680" cy="380880"/>
          </a:xfrm>
          <a:prstGeom prst="rect">
            <a:avLst/>
          </a:prstGeom>
          <a:solidFill>
            <a:srgbClr val="114FFB"/>
          </a:solidFill>
          <a:ln w="12600">
            <a:solidFill>
              <a:srgbClr val="FFFFFF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5715000" y="685800"/>
            <a:ext cx="3200400" cy="304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Num1  Num2     Result       Operator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5715000" y="99072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6324480" y="990720"/>
            <a:ext cx="609480" cy="691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693432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6781680" y="304920"/>
            <a:ext cx="10666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792468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_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154080" y="230040"/>
            <a:ext cx="7162920" cy="639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PROGRAM-ID.  Iteration-Program.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Num1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Num2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Result         PIC 99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Operator       PIC X  VALUE SPACE.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Calculator.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PERFORM 5 TIMES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ACCEPT Num1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ACCEPT Num2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8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   ACCEPT Operator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IF Operator = "+"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   ADD Num1,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END-IF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IF Operator = "*"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   MULTIPLY Num1 BY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END-IF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DISPLAY "Result is = ",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END-PERFORM.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6553080" y="685800"/>
            <a:ext cx="1066680" cy="380880"/>
          </a:xfrm>
          <a:prstGeom prst="rect">
            <a:avLst/>
          </a:prstGeom>
          <a:solidFill>
            <a:srgbClr val="114FFB"/>
          </a:solidFill>
          <a:ln w="12600">
            <a:solidFill>
              <a:srgbClr val="FFFFFF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5715000" y="685800"/>
            <a:ext cx="3200400" cy="304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Num1  Num2     Result       Operator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5715000" y="99072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6324480" y="990720"/>
            <a:ext cx="609480" cy="664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693432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6781680" y="304920"/>
            <a:ext cx="10666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7924680" y="990720"/>
            <a:ext cx="990720" cy="3967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28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*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154080" y="230040"/>
            <a:ext cx="7162920" cy="639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PROGRAM-ID.  Iteration-Program.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Num1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Num2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Result         PIC 99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Operator       PIC X  VALUE SPACE.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Calculator.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PERFORM 5 TIMES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ACCEPT Num1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ACCEPT Num2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ACCEPT Operator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8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     IF Operator = "+"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   ADD Num1,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</a:t>
            </a:r>
            <a:r>
              <a:rPr lang="en-US" sz="18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END-IF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IF Operator = "*"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   MULTIPLY Num1 BY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END-IF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DISPLAY "Result is = ",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END-PERFORM.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6553080" y="685800"/>
            <a:ext cx="1066680" cy="380880"/>
          </a:xfrm>
          <a:prstGeom prst="rect">
            <a:avLst/>
          </a:prstGeom>
          <a:solidFill>
            <a:srgbClr val="114FFB"/>
          </a:solidFill>
          <a:ln w="12600">
            <a:solidFill>
              <a:srgbClr val="FFFFFF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5715000" y="685800"/>
            <a:ext cx="3200400" cy="304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Num1  Num2     Result       Operator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5715000" y="99072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6324480" y="990720"/>
            <a:ext cx="609480" cy="664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693432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6781680" y="304920"/>
            <a:ext cx="10666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7924680" y="990720"/>
            <a:ext cx="990720" cy="3967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*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154080" y="230040"/>
            <a:ext cx="7162920" cy="639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PROGRAM-ID.  Iteration-Program.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Num1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Num2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Result         PIC 99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Operator       PIC X  VALUE SPACE.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Calculator.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PERFORM 5 TIMES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ACCEPT Num1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ACCEPT Num2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ACCEPT Operator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IF Operator = "+"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   ADD Num1,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END-IF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8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 IF Operator = "*"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   MULTIPLY Num1 BY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</a:t>
            </a:r>
            <a:r>
              <a:rPr lang="en-US" sz="18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END-IF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DISPLAY "Result is = ",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END-PERFORM.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6553080" y="685800"/>
            <a:ext cx="1066680" cy="380880"/>
          </a:xfrm>
          <a:prstGeom prst="rect">
            <a:avLst/>
          </a:prstGeom>
          <a:solidFill>
            <a:srgbClr val="114FFB"/>
          </a:solidFill>
          <a:ln w="12600">
            <a:solidFill>
              <a:srgbClr val="FFFFFF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5715000" y="685800"/>
            <a:ext cx="3200400" cy="304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Num1  Num2     Result       Operator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5715000" y="99072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6324480" y="990720"/>
            <a:ext cx="609480" cy="664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693432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6781680" y="304920"/>
            <a:ext cx="10666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792468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*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154080" y="230040"/>
            <a:ext cx="7162920" cy="639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PROGRAM-ID.  Iteration-Program.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Num1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Num2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Result         PIC 99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Operator       PIC X  VALUE SPACE.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Calculator.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PERFORM 5 TIMES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ACCEPT Num1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ACCEPT Num2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ACCEPT Operator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IF Operator = "+"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   ADD Num1,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END-IF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IF Operator = "*"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   </a:t>
            </a:r>
            <a:r>
              <a:rPr lang="en-US" sz="18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MULTIPLY Num1 BY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END-IF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DISPLAY "Result is = ",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END-PERFORM.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6553080" y="685800"/>
            <a:ext cx="1066680" cy="380880"/>
          </a:xfrm>
          <a:prstGeom prst="rect">
            <a:avLst/>
          </a:prstGeom>
          <a:solidFill>
            <a:srgbClr val="114FFB"/>
          </a:solidFill>
          <a:ln w="12600">
            <a:solidFill>
              <a:srgbClr val="FFFFFF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5715000" y="685800"/>
            <a:ext cx="3200400" cy="304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Num1  Num2     Result       Operator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5715000" y="99072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6324480" y="990720"/>
            <a:ext cx="609480" cy="664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693432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6781680" y="304920"/>
            <a:ext cx="10666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792468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*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154080" y="230040"/>
            <a:ext cx="7162920" cy="639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PROGRAM-ID.  Iteration-Program.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Num1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Num2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Result         PIC 99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Operator       PIC X  VALUE SPACE.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Calculator.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PERFORM 5 TIMES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ACCEPT Num1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ACCEPT Num2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ACCEPT Operator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IF Operator = "+"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   ADD Num1,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END-IF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IF Operator = "*"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   MULTIPLY Num1 BY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END-IF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8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   DISPLAY "Result is = ",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END-PERFORM.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6553080" y="685800"/>
            <a:ext cx="1066680" cy="380880"/>
          </a:xfrm>
          <a:prstGeom prst="rect">
            <a:avLst/>
          </a:prstGeom>
          <a:solidFill>
            <a:srgbClr val="114FFB"/>
          </a:solidFill>
          <a:ln w="12600">
            <a:solidFill>
              <a:srgbClr val="FFFFFF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5715000" y="685800"/>
            <a:ext cx="3200400" cy="304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Num1  Num2     Result       Operator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5715000" y="99072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6324480" y="990720"/>
            <a:ext cx="609480" cy="664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693432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20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6781680" y="304920"/>
            <a:ext cx="10666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792468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*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154080" y="230040"/>
            <a:ext cx="7162920" cy="639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PROGRAM-ID.  Iteration-Program.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Num1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Num2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Result         PIC 99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Operator       PIC X  VALUE SPACE.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Calculator.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PERFORM 5 TIMES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8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 ACCEPT Num1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ACCEPT Num2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ACCEPT Operator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IF Operator = "+"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   ADD Num1,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END-IF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IF Operator = "*"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   MULTIPLY Num1 BY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END-IF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DISPLAY "Result is = ",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END-PERFORM.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6553080" y="685800"/>
            <a:ext cx="1066680" cy="380880"/>
          </a:xfrm>
          <a:prstGeom prst="rect">
            <a:avLst/>
          </a:prstGeom>
          <a:solidFill>
            <a:srgbClr val="114FFB"/>
          </a:solidFill>
          <a:ln w="12600">
            <a:solidFill>
              <a:srgbClr val="FFFFFF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5715000" y="685800"/>
            <a:ext cx="3200400" cy="304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Num1  Num2     Result       Operator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5715000" y="99072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6324480" y="990720"/>
            <a:ext cx="609480" cy="664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693432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6781680" y="304920"/>
            <a:ext cx="10666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792468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*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"/>
          <p:cNvSpPr/>
          <p:nvPr/>
        </p:nvSpPr>
        <p:spPr>
          <a:xfrm>
            <a:off x="312408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154080" y="230040"/>
            <a:ext cx="7162920" cy="639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PROGRAM-ID.  Iteration-Program.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Num1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Num2           PIC 9 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Result         PIC 99 VALUE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01  Operator       PIC X  VALUE SPACE.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Calculator.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PERFORM 5 TIMES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ACCEPT Num1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</a:t>
            </a:r>
            <a:r>
              <a:rPr lang="en-US" sz="1800" b="1" u="none" strike="noStrike">
                <a:solidFill>
                  <a:srgbClr val="FAFD00"/>
                </a:solidFill>
                <a:effectLst/>
                <a:uFillTx/>
                <a:latin typeface="Courier New"/>
                <a:ea typeface="Courier New"/>
              </a:rPr>
              <a:t>ACCEPT Num2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ACCEPT Operator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IF Operator = "+"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   ADD Num1,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END-IF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IF Operator = "*" THEN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   MULTIPLY Num1 BY Num2 GIVING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END-IF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  DISPLAY "Result is = ",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END-PERFORM.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6553080" y="685800"/>
            <a:ext cx="1066680" cy="380880"/>
          </a:xfrm>
          <a:prstGeom prst="rect">
            <a:avLst/>
          </a:prstGeom>
          <a:solidFill>
            <a:srgbClr val="114FFB"/>
          </a:solidFill>
          <a:ln w="12600">
            <a:solidFill>
              <a:srgbClr val="FFFFFF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5715000" y="685800"/>
            <a:ext cx="3200400" cy="3049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Num1  Num2     Result       Operator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5715000" y="990720"/>
            <a:ext cx="6094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6324480" y="990720"/>
            <a:ext cx="609480" cy="664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693432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1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6781680" y="304920"/>
            <a:ext cx="106668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7924680" y="990720"/>
            <a:ext cx="990720" cy="380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</a:pPr>
            <a:r>
              <a:rPr lang="en-US" sz="24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*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Michael Coughlan</dc:creator>
  <dc:description/>
  <dc:language>en-US</dc:language>
  <cp:lastModifiedBy>Michael Coughlan</cp:lastModifiedBy>
  <cp:revision>0</cp:revision>
  <dc:subject/>
  <dc:title>ALGORITHMS </dc:title>
</cp:coreProperties>
</file>