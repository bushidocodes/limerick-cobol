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path path="rect">
              <a:fillToRect l="0" t="0" r="100000" b="10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"/>
          <p:cNvGrpSpPr/>
          <p:nvPr/>
        </p:nvGrpSpPr>
        <p:grpSpPr>
          <a:xfrm>
            <a:off x="6629400" y="4343400"/>
            <a:ext cx="2286000" cy="2286000"/>
            <a:chOff x="6629400" y="4343400"/>
            <a:chExt cx="2286000" cy="2286000"/>
          </a:xfrm>
        </p:grpSpPr>
        <p:sp>
          <p:nvSpPr>
            <p:cNvPr id="4" name=""/>
            <p:cNvSpPr/>
            <p:nvPr/>
          </p:nvSpPr>
          <p:spPr>
            <a:xfrm>
              <a:off x="8763120" y="6477120"/>
              <a:ext cx="152280" cy="152280"/>
            </a:xfrm>
            <a:prstGeom prst="rect">
              <a:avLst/>
            </a:prstGeom>
            <a:solidFill>
              <a:srgbClr val="FF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8458200" y="647712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8153280" y="647712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7848720" y="64771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7543800" y="647712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7238880" y="647712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934320" y="64771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629400" y="647712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8763120" y="617220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8763120" y="586728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8763120" y="55627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763120" y="525780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763120" y="495288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8763120" y="46483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8763120" y="434340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0" y="0"/>
            <a:ext cx="9131400" cy="6845400"/>
          </a:xfrm>
          <a:prstGeom prst="rect">
            <a:avLst/>
          </a:prstGeom>
          <a:gradFill rotWithShape="0">
            <a:gsLst>
              <a:gs pos="0">
                <a:srgbClr val="063DE8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668760" y="2809800"/>
            <a:ext cx="2065320" cy="10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Relative </a:t>
            </a:r>
            <a:br>
              <a:rPr sz="3600"/>
            </a:b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Files.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2540160" y="6480"/>
            <a:ext cx="4097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Creating a Relative File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504800" y="501480"/>
            <a:ext cx="6966000" cy="6232680"/>
          </a:xfrm>
          <a:prstGeom prst="rect">
            <a:avLst/>
          </a:prstGeom>
          <a:solidFill>
            <a:srgbClr val="DADADA"/>
          </a:solidFill>
          <a:ln w="0">
            <a:noFill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 CreateRelativeFromSeq.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* Creates a Relative file from a sequential file.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720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ENVIRONMENT DIVISION.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INPUT-OUTPUT SECTION.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FILE-CONTROL.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SELECT SupplierFile ASSIGN TO "SUPP.DAT"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ORGANIZATION IS RELATIVE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ACCESS MODE IS RANDOM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RELATIVE KEY IS SupplierKey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FILE STATUS IS SupplierStatus.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SELECT SupplierFileSeq ASSIGN TO "INSUPP.DAT".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SupplierFile.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SupplierRecord.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SupplierCode               PIC 99.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SupplierName               PIC X(20).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SupplierAddress            PIC X(60).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961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SupplierFileSeq.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SupplierRecordSeq.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88 EndOfFile    VALUE HIGH-VALUES.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SupplierCodeSeq            PIC 99.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SupplierNameSeq            PIC X(20).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SupplierAddressSeq         PIC X(60).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SupplierStatus                PIC X(2).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SupplierKey                   PIC 99.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 txBox="1"/>
          <p:nvPr/>
        </p:nvSpPr>
        <p:spPr>
          <a:xfrm>
            <a:off x="1504800" y="501480"/>
            <a:ext cx="7067520" cy="6232680"/>
          </a:xfrm>
          <a:prstGeom prst="rect">
            <a:avLst/>
          </a:prstGeom>
          <a:solidFill>
            <a:srgbClr val="DADADA"/>
          </a:solidFill>
          <a:ln w="0">
            <a:noFill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 CreateRelativeFromSeq.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* Creates a Relative file from a sequential file.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720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ENVIRONMENT DIVISION.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INPUT-OUTPUT SECTION.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FILE-CONTROL.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SELECT SupplierFile ASSIGN TO "SUPP.DAT"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ORGANIZATION IS RELATIVE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ACCESS MODE IS RANDOM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RELATIVE KEY IS </a:t>
            </a:r>
            <a:r>
              <a:rPr lang="en-US" sz="16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SupplierKey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FILE STATUS IS </a:t>
            </a:r>
            <a:r>
              <a:rPr lang="en-US" sz="1600" b="1" u="none" strike="noStrike">
                <a:solidFill>
                  <a:srgbClr val="00AE00"/>
                </a:solidFill>
                <a:effectLst/>
                <a:uFillTx/>
                <a:latin typeface="Courier New"/>
                <a:ea typeface="Courier New"/>
              </a:rPr>
              <a:t>SupplierStatus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SELECT SupplierFileSeq ASSIGN TO "INSUPP.DAT".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SupplierFile.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SupplierRecord.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SupplierCode               PIC 99.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SupplierName               PIC X(20).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SupplierAddress            PIC X(60).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961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SupplierFileSeq.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SupplierRecordSeq.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88 EndOfFile    VALUE HIGH-VALUES.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SupplierCodeSeq            PIC 99.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SupplierNameSeq            PIC X(20).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SupplierAddressSeq         PIC X(60).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</a:t>
            </a:r>
            <a:r>
              <a:rPr lang="en-US" sz="1600" b="1" u="none" strike="noStrike">
                <a:solidFill>
                  <a:srgbClr val="00AE00"/>
                </a:solidFill>
                <a:effectLst/>
                <a:uFillTx/>
                <a:latin typeface="Courier New"/>
                <a:ea typeface="Courier New"/>
              </a:rPr>
              <a:t>SupplierStatus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 PIC X(2).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SupplierKey</a:t>
            </a:r>
            <a:r>
              <a:rPr lang="en-US" sz="16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600" b="1" u="none" strike="noStrike">
                <a:solidFill>
                  <a:srgbClr val="00279F"/>
                </a:solidFill>
                <a:effectLst/>
                <a:uFillTx/>
                <a:latin typeface="Courier New"/>
                <a:ea typeface="Courier New"/>
              </a:rPr>
              <a:t>                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99.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2540160" y="6480"/>
            <a:ext cx="4097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Creating a Relative File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162480" y="2619360"/>
            <a:ext cx="1272240" cy="3956400"/>
          </a:xfrm>
          <a:custGeom>
            <a:avLst/>
            <a:gdLst/>
            <a:ahLst/>
            <a:rect l="0" t="0" r="r" b="b"/>
            <a:pathLst>
              <a:path fill="none" w="3534" h="10990">
                <a:moveTo>
                  <a:pt x="541" y="10990"/>
                </a:moveTo>
                <a:lnTo>
                  <a:pt x="541" y="10990"/>
                </a:lnTo>
                <a:cubicBezTo>
                  <a:pt x="986" y="10893"/>
                  <a:pt x="1415" y="10659"/>
                  <a:pt x="1803" y="10301"/>
                </a:cubicBezTo>
                <a:cubicBezTo>
                  <a:pt x="2330" y="9817"/>
                  <a:pt x="2766" y="9120"/>
                  <a:pt x="3070" y="8281"/>
                </a:cubicBezTo>
                <a:cubicBezTo>
                  <a:pt x="3374" y="7441"/>
                  <a:pt x="3534" y="6489"/>
                  <a:pt x="3534" y="5520"/>
                </a:cubicBezTo>
                <a:cubicBezTo>
                  <a:pt x="3534" y="4551"/>
                  <a:pt x="3374" y="3599"/>
                  <a:pt x="3070" y="2760"/>
                </a:cubicBezTo>
                <a:cubicBezTo>
                  <a:pt x="2766" y="1921"/>
                  <a:pt x="2330" y="1224"/>
                  <a:pt x="1803" y="739"/>
                </a:cubicBezTo>
                <a:cubicBezTo>
                  <a:pt x="1277" y="255"/>
                  <a:pt x="680" y="0"/>
                  <a:pt x="73" y="0"/>
                </a:cubicBezTo>
                <a:cubicBezTo>
                  <a:pt x="49" y="0"/>
                  <a:pt x="24" y="0"/>
                  <a:pt x="0" y="1"/>
                </a:cubicBezTo>
              </a:path>
            </a:pathLst>
          </a:custGeom>
          <a:ln w="12600">
            <a:solidFill>
              <a:srgbClr val="FC0128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3822840" y="2946240"/>
            <a:ext cx="2121120" cy="3454920"/>
          </a:xfrm>
          <a:custGeom>
            <a:avLst/>
            <a:gdLst/>
            <a:ahLst/>
            <a:rect l="0" t="0" r="r" b="b"/>
            <a:pathLst>
              <a:path fill="none" w="5892" h="9597">
                <a:moveTo>
                  <a:pt x="0" y="9597"/>
                </a:moveTo>
                <a:lnTo>
                  <a:pt x="0" y="9597"/>
                </a:lnTo>
                <a:cubicBezTo>
                  <a:pt x="1034" y="9597"/>
                  <a:pt x="2050" y="9154"/>
                  <a:pt x="2946" y="8311"/>
                </a:cubicBezTo>
                <a:cubicBezTo>
                  <a:pt x="3842" y="7469"/>
                  <a:pt x="4585" y="6257"/>
                  <a:pt x="5103" y="4798"/>
                </a:cubicBezTo>
                <a:cubicBezTo>
                  <a:pt x="5620" y="3340"/>
                  <a:pt x="5892" y="1685"/>
                  <a:pt x="5892" y="0"/>
                </a:cubicBezTo>
              </a:path>
            </a:pathLst>
          </a:custGeom>
          <a:ln w="12600">
            <a:solidFill>
              <a:srgbClr val="00AE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2419200" y="133200"/>
            <a:ext cx="4097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Creating a Relative File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76320" y="1000080"/>
            <a:ext cx="9029880" cy="4951440"/>
          </a:xfrm>
          <a:prstGeom prst="rect">
            <a:avLst/>
          </a:prstGeom>
          <a:solidFill>
            <a:srgbClr val="DADADA"/>
          </a:solidFill>
          <a:ln w="0">
            <a:noFill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85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Begin.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OPEN OUTPUT SupplierFile.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OPEN INPUT SupplierFileSeq.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READ SupplierFileSeq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AT END SET EndOfFile TO TRUE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END-READ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PERFORM UNTIL EndOfFile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MOVE SupplierCodeSeq TO SupplierKey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MOVE SupplierRecordSeq TO SupplierRecord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WRITE SupplierRecord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INVALID KEY DISPLAY "SUPP STATUS :-", SupplierStatus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END-WRITE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READ SupplierFileSeq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AT END SET EndOfFile TO TRUE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END-READ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END-PERFORM.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CLOSE  SupplierFile, SupplierFileSeq.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 txBox="1"/>
          <p:nvPr/>
        </p:nvSpPr>
        <p:spPr>
          <a:xfrm>
            <a:off x="2489040" y="19080"/>
            <a:ext cx="41562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Reading a Relative File.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498680" y="463680"/>
            <a:ext cx="7289640" cy="6288120"/>
          </a:xfrm>
          <a:prstGeom prst="rect">
            <a:avLst/>
          </a:prstGeom>
          <a:solidFill>
            <a:srgbClr val="DADADA"/>
          </a:solidFill>
          <a:ln w="0">
            <a:noFill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 ReadRelative.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* Reads a Relative file directly or in sequence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1080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ENVIRONMENT DIVISION.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INPUT-OUTPUT SECTION.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FILE-CONTROL.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SELECT SupplierFile ASSIGN TO "SUPP.DAT"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ORGANIZATION IS RELATIVE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ACCESS MODE IS DYNAMIC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RELATIVE KEY IS </a:t>
            </a:r>
            <a:r>
              <a:rPr lang="en-US" sz="16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SupplierKey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FILE STATUS IS </a:t>
            </a:r>
            <a:r>
              <a:rPr lang="en-US" sz="1600" b="1" u="none" strike="noStrike">
                <a:solidFill>
                  <a:srgbClr val="00AE00"/>
                </a:solidFill>
                <a:effectLst/>
                <a:uFillTx/>
                <a:latin typeface="Courier New"/>
                <a:ea typeface="Courier New"/>
              </a:rPr>
              <a:t>SupplierStatus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1080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SupplierFile.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SupplierRecord.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88 EndOfFile  VALUE HIGH-VALUES.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SupplierCode         PIC 99.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SupplierName         PIC X(20).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SupplierAddress      PIC X(60).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1080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WORKING-STORAGE SECTION.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</a:t>
            </a:r>
            <a:r>
              <a:rPr lang="en-US" sz="1600" b="1" u="none" strike="noStrike">
                <a:solidFill>
                  <a:srgbClr val="00AE00"/>
                </a:solidFill>
                <a:effectLst/>
                <a:uFillTx/>
                <a:latin typeface="Courier New"/>
                <a:ea typeface="Courier New"/>
              </a:rPr>
              <a:t>SupplierStatus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PIC X(2).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88 RecordFound          VALUE "00".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47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</a:t>
            </a:r>
            <a:r>
              <a:rPr lang="en-US" sz="16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SupplierKey </a:t>
            </a: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PIC 99.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47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PrnSupplierRecord.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PrnSupplierCode      PIC BB99.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PrnSupplierName      PIC BBX(20).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02 PrnSupplierAddress   PIC BBX(50).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  <a:spcBef>
                <a:spcPts val="47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 ReadType                PIC 9.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88 DirectRead           VALUE 1.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88 SequentialRead       VALUE 2.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 txBox="1"/>
          <p:nvPr/>
        </p:nvSpPr>
        <p:spPr>
          <a:xfrm>
            <a:off x="2362320" y="6480"/>
            <a:ext cx="41562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Reading a Relative File.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0" y="468360"/>
            <a:ext cx="9118440" cy="6129360"/>
          </a:xfrm>
          <a:prstGeom prst="rect">
            <a:avLst/>
          </a:prstGeom>
          <a:solidFill>
            <a:srgbClr val="DADADA"/>
          </a:solidFill>
          <a:ln w="0">
            <a:noFill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BEGIN.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OPEN INPUT SupplierFile.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DISPLAY "Enter Read type (Direct=1, Seq=2)-&gt; " WITH NO ADVANCING.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ACCEPT ReadType.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83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IF DirectRead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DISPLAY "Enter supplier key (2 digits)-&gt; " WITH NO ADVANCING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ACCEPT SupplierKey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READ SupplierFile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INVALID KEY DISPLAY "SUPP STATUS :-", SupplierStatus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END-READ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PERFORM DisplayRecord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END-IF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83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IF SequentialRead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READ SupplierFile NEXT RECORD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AT END SET EndOfFile TO TRUE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END-READ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PERFORM UNTIL EndOfFile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PERFORM DisplayRecord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READ SupplierFile NEXT RECORD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    AT END SET EndOfFile TO TRUE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 END-READ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END-PERFORM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END-IF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83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CLOSE  SupplierFile.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STOP RUN.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DisplayRecord.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IF RecordFound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MOVE SupplierCode TO PrnSupplierCode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MOVE SupplierName TO PrnSupplierName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MOVE SupplierAddress TO PrnSupplierAddress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DISPLAY PrnSupplierRecord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END-IF.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2362320" y="6480"/>
            <a:ext cx="41562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Reading a Relative File.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76320" y="1550880"/>
            <a:ext cx="9055080" cy="3038400"/>
          </a:xfrm>
          <a:prstGeom prst="rect">
            <a:avLst/>
          </a:prstGeom>
          <a:solidFill>
            <a:srgbClr val="DADADA"/>
          </a:solidFill>
          <a:ln w="0">
            <a:noFill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 OF REL-EG2.EXE USING SEQUENTIAL READING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Enter Read type (Direct=1, Seq=2)-&gt; 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01  VESTRON VIDEOS        OVER THE SEA SOMEWHERE IN LONDON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02  EMI STUDIOS           HOLLYWOOD, CALIFORNIA, USA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03  BBC WILDLIFE          BUSH HOUSE, LONDON, ENGLAND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04  CBS STUDIOS           HOLLYWOOD, CALIFORNIA, USA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05  YACHTING MONTHLY      TREE HOUSE, LONDON, ENGLAND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06  VIRGIN VIDEOS         IS THIS ONE ALSO LOCATED IN ENGLAND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07  CIC VIDEOS            NEW YORK PLAZZA, NEW YORK, USA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RUN OF REL-EG2.EXE USING DIRECT READ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Enter Read type (Direct=1, Seq=2)-&gt;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Enter supplier key (2 digits)-&gt;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75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05  YACHTING MONTHLY      TREE HOUSE, LONDON, ENGLAND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 txBox="1"/>
          <p:nvPr/>
        </p:nvSpPr>
        <p:spPr>
          <a:xfrm>
            <a:off x="1511280" y="133200"/>
            <a:ext cx="61912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Select and Assign for Relative Files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2273400" y="120600"/>
            <a:ext cx="3800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FDs for Relative Files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 txBox="1"/>
          <p:nvPr/>
        </p:nvSpPr>
        <p:spPr>
          <a:xfrm>
            <a:off x="1841400" y="222120"/>
            <a:ext cx="46702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Relative File Verbs - OPEN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 txBox="1"/>
          <p:nvPr/>
        </p:nvSpPr>
        <p:spPr>
          <a:xfrm>
            <a:off x="1841400" y="222120"/>
            <a:ext cx="46702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Relative File Verbs - READ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1143000" y="209520"/>
            <a:ext cx="66657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Relative File Verbs - Write and Rewrite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"/>
          <p:cNvPicPr/>
          <p:nvPr/>
        </p:nvPicPr>
        <p:blipFill>
          <a:blip r:embed="rId1"/>
          <a:stretch/>
        </p:blipFill>
        <p:spPr>
          <a:xfrm>
            <a:off x="1363680" y="3984480"/>
            <a:ext cx="5151600" cy="151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 txBox="1"/>
          <p:nvPr/>
        </p:nvSpPr>
        <p:spPr>
          <a:xfrm>
            <a:off x="1663560" y="285840"/>
            <a:ext cx="50655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Relative File Verbs - DELETE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1663560" y="285840"/>
            <a:ext cx="48481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Relative File Verbs - START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 txBox="1"/>
          <p:nvPr/>
        </p:nvSpPr>
        <p:spPr>
          <a:xfrm>
            <a:off x="1917720" y="95400"/>
            <a:ext cx="61516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Error Handling Using Declaratives.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93680" y="644400"/>
            <a:ext cx="6829560" cy="594360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DECLARATIVES.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SectionOne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USE clause for this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ParOne1.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????????????????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????????????????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ParOne2.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????????????????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????????????????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3600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SectionTwo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USE clause for this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ParTwo1.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????????????????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????????????????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ParTwo2.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????????????????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????????????????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END-DECLARATIVES.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Main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Begin.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"/>
          <p:cNvPicPr/>
          <p:nvPr/>
        </p:nvPicPr>
        <p:blipFill>
          <a:blip r:embed="rId1"/>
          <a:stretch/>
        </p:blipFill>
        <p:spPr>
          <a:xfrm>
            <a:off x="3314880" y="1755720"/>
            <a:ext cx="5245200" cy="208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 txBox="1"/>
          <p:nvPr/>
        </p:nvSpPr>
        <p:spPr>
          <a:xfrm>
            <a:off x="1739880" y="146160"/>
            <a:ext cx="61516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Error Handling Using Declaratives.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358920" y="1190520"/>
            <a:ext cx="8454960" cy="38386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DECLARATIVES.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FileError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USE AFTER ERROR PROCEDURE ON RelativeFile.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479"/>
              </a:spcBef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CheckFileStatus.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EVALUATE TRUE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WHEN RecordDoesNotExist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DISPLAY "Record does not exist"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WHEN RecordAlreadyExists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  DISPLAY "Record already exists"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WHEN FileNotOpen OPEN I-O RelativeFile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END-EVALUATE.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END-DECLARATIVES.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Main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Begin.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Relative Files</dc:title>
</cp:coreProperties>
</file>