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402000" y="2909880"/>
            <a:ext cx="2394000" cy="10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Designing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Programs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3390840" y="247680"/>
            <a:ext cx="1468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COBOL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33520" y="1495440"/>
            <a:ext cx="7877160" cy="336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85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COBOL is an acronym standing for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mmon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B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usiness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riented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anguage.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COBOL programs are (mostly) written for the vertical market.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COBOL programs tend to be long lived.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Because of this longevity ease of program maintenance is an important consideration.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5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Why is program maintenance important?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1319040" y="147600"/>
            <a:ext cx="6172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Cost of a system over its entire life.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63600" y="5497560"/>
            <a:ext cx="8410680" cy="125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Maintenance Costs are only as low as this because many systems become so unmaintainable early in their lives that they have to be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SCRAPPED !!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:- B. Boehm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986120" y="693720"/>
            <a:ext cx="4557600" cy="4557600"/>
          </a:xfrm>
          <a:prstGeom prst="ellipse">
            <a:avLst/>
          </a:prstGeom>
          <a:gradFill rotWithShape="0">
            <a:gsLst>
              <a:gs pos="0">
                <a:srgbClr val="00DFCA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986120" y="2979720"/>
            <a:ext cx="228600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243240" y="936720"/>
            <a:ext cx="1028880" cy="20286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 flipV="1">
            <a:off x="4272120" y="979560"/>
            <a:ext cx="1071360" cy="2000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600360" y="4079880"/>
            <a:ext cx="1457280" cy="70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Maintenance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67%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757680" y="801720"/>
            <a:ext cx="1100160" cy="95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15%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643120" y="1265400"/>
            <a:ext cx="814320" cy="62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128680" y="2008080"/>
            <a:ext cx="1171440" cy="94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Design 9%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 flipV="1">
            <a:off x="2500200" y="1536840"/>
            <a:ext cx="1771920" cy="14428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700680" y="2986200"/>
            <a:ext cx="1628640" cy="131436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Zelkowitz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ACM 1978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p202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2685960" y="281160"/>
            <a:ext cx="3997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Program Maintenance.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99960" y="987480"/>
            <a:ext cx="8172360" cy="509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Aft>
                <a:spcPts val="961"/>
              </a:spcAft>
              <a:buClr>
                <a:srgbClr val="FC0128"/>
              </a:buClr>
              <a:buSzPct val="75000"/>
              <a:buFont typeface="Wingdings"/>
              <a:buChar char="_x0000_"/>
              <a:tabLst>
                <a:tab pos="0" algn="l"/>
                <a:tab pos="5716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Program maintenance is an umbrella term that covers;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Aft>
                <a:spcPts val="961"/>
              </a:spcAft>
              <a:tabLst>
                <a:tab pos="0" algn="l"/>
                <a:tab pos="5716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❶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Changing the program to fix bugs that appear in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system.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Aft>
                <a:spcPts val="961"/>
              </a:spcAft>
              <a:tabLst>
                <a:tab pos="0" algn="l"/>
                <a:tab pos="5716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❷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Changing the program to reflect changes in the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environment.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Aft>
                <a:spcPts val="961"/>
              </a:spcAft>
              <a:tabLst>
                <a:tab pos="0" algn="l"/>
                <a:tab pos="5716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❸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Changing the program to reflect changes in the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users perception of the requirements.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Aft>
                <a:spcPts val="961"/>
              </a:spcAft>
              <a:tabLst>
                <a:tab pos="0" algn="l"/>
                <a:tab pos="5716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❹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Changing the program to include extensions to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user requirements (i.e. new requirements).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Aft>
                <a:spcPts val="961"/>
              </a:spcAft>
              <a:buClr>
                <a:srgbClr val="FC0128"/>
              </a:buClr>
              <a:buSzPct val="75000"/>
              <a:buFont typeface="Wingdings"/>
              <a:buChar char="_x0000_"/>
              <a:tabLst>
                <a:tab pos="0" algn="l"/>
                <a:tab pos="5716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do these all have in common?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Aft>
                <a:spcPts val="961"/>
              </a:spcAft>
              <a:tabLst>
                <a:tab pos="0" algn="l"/>
                <a:tab pos="5716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CHANGING THE PROGRAM.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1319040" y="233280"/>
            <a:ext cx="59529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should write your programs?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19120" y="1104840"/>
            <a:ext cx="7881840" cy="408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You should write your programs with the expectation that they will have to be changed.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This means that you should;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96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✹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write programs that are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easy to read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96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✹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write programs that are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easy to understand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961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✹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Wingdings"/>
                <a:ea typeface="Wingdings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write programs that are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easy to change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You should write your programs as you would like them written if you had to maintain them.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 txBox="1"/>
          <p:nvPr/>
        </p:nvSpPr>
        <p:spPr>
          <a:xfrm>
            <a:off x="2619360" y="162000"/>
            <a:ext cx="36622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Efficiency vs Clarity.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04840" y="738360"/>
            <a:ext cx="8386920" cy="546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Many programmers are overly concerned about making their programs as efficient as possible (in terms of the speed of execution or the amount of memory used).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But the proper concern of a programmer, and particularly a COBOL programmer, is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not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this kind of efficiency, it is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clarity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As a rule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70%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work of the program will be done in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10%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code.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 is therefore a pointless exercise to try to optimize the whole program, especially if this has to be done at the expense of clarity.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Write your program as clearly as possible and then, if its too slow, identify the 10% of the code where the work is being done and optimize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076400" y="176040"/>
            <a:ext cx="72961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When shouldn’t we design our programs?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52280" y="795240"/>
            <a:ext cx="8763120" cy="583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shouldn’t design our programs, when we want to create programs that do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work.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shouldn’t design when we want to produce programs that do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not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solve the problem specified.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we want to create programs that;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47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get the wrong inputs,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47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or perform the wrong transformations on them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47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or produce the wrong outputs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47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then we shouldn’t bother to design our programs.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But if we want to create programs that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work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we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cannot avoid design.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44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only question is;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479"/>
              </a:spcBef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will it be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good design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or a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bad design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1990800" y="162000"/>
            <a:ext cx="4649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Producing a Good Design.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5400" y="852480"/>
            <a:ext cx="8410680" cy="493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first step to producing a good design is to design consciously.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Subconscious design means that design is done while constructing the program.  This 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never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leads to good results.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Conscious design starts by separating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design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task from the task of program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construction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Design, consists of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devising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a solution to the problem specified.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Construction, consists of taking the design and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encoding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the solution using a particular programming language.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1143000" y="176040"/>
            <a:ext cx="7099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Why separate design from construction?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43080" y="776160"/>
            <a:ext cx="8420040" cy="55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Separating program design from program construction makes both tasks easier.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Designing before construction, allows us to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plan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our solution to the problem - instead of stumbling from one incorrect solution to another.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Good program structure results from planing and design.  It is unlikely to result from ad hoc tinkering.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Designing helps us to get an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overview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problem and to think about the solution without getting bogged down by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details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 construction.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 helps us to iron out problems with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specification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and to discover any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bugs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in our solution before we commit it to code (see next slide).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Design allows us to develop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portable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solutions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000160" y="262080"/>
            <a:ext cx="50054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cost of fixing a bug.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104920" y="923760"/>
            <a:ext cx="4581360" cy="4581360"/>
          </a:xfrm>
          <a:prstGeom prst="rect">
            <a:avLst/>
          </a:prstGeom>
          <a:gradFill rotWithShape="0">
            <a:gsLst>
              <a:gs pos="0">
                <a:srgbClr val="DC0081"/>
              </a:gs>
              <a:gs pos="100000">
                <a:srgbClr val="FFFFFF"/>
              </a:gs>
            </a:gsLst>
            <a:path path="rect">
              <a:fillToRect l="0" t="100000" r="100000" b="0"/>
            </a:path>
          </a:gra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Production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x82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143080" y="3462480"/>
            <a:ext cx="2004840" cy="2004840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FFFFFF"/>
              </a:gs>
            </a:gsLst>
            <a:path path="rect">
              <a:fillToRect l="0" t="100000" r="100000" b="0"/>
            </a:path>
          </a:gra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Construction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x20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152800" y="4919760"/>
            <a:ext cx="538200" cy="538200"/>
          </a:xfrm>
          <a:prstGeom prst="rect">
            <a:avLst/>
          </a:prstGeom>
          <a:gradFill rotWithShape="0">
            <a:gsLst>
              <a:gs pos="0">
                <a:srgbClr val="FC0128"/>
              </a:gs>
              <a:gs pos="100000">
                <a:srgbClr val="FFFFFF"/>
              </a:gs>
            </a:gsLst>
            <a:path path="rect">
              <a:fillToRect l="0" t="100000" r="100000" b="0"/>
            </a:path>
          </a:gradFill>
          <a:ln w="1260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324240" y="5584680"/>
            <a:ext cx="1238400" cy="3920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 flipH="1">
            <a:off x="2314440" y="5738760"/>
            <a:ext cx="100980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2314440" y="5205240"/>
            <a:ext cx="0" cy="52416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500200" y="6235560"/>
            <a:ext cx="4108320" cy="39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Figures from IBM in Santa Clara.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 txBox="1"/>
          <p:nvPr/>
        </p:nvSpPr>
        <p:spPr>
          <a:xfrm>
            <a:off x="2498760" y="160200"/>
            <a:ext cx="3206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Design Notations.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85640" y="1300320"/>
            <a:ext cx="8124840" cy="313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number of notations have been suggested to assist the programmer with the  task of program design.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Some notations are textual and others graphical.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Some notations can actually assist in the design process.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9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While others merely articulate the design.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 txBox="1"/>
          <p:nvPr/>
        </p:nvSpPr>
        <p:spPr>
          <a:xfrm>
            <a:off x="1947960" y="176040"/>
            <a:ext cx="48466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Flowcharts as design tools.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1447920" y="1138320"/>
            <a:ext cx="6105600" cy="458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 txBox="1"/>
          <p:nvPr/>
        </p:nvSpPr>
        <p:spPr>
          <a:xfrm>
            <a:off x="1447920" y="219240"/>
            <a:ext cx="6743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Structured Flowcharts as design tools.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1943280" y="1643040"/>
            <a:ext cx="5248440" cy="357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2419200" y="219240"/>
            <a:ext cx="34639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Structured English.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041480" y="966960"/>
            <a:ext cx="6896160" cy="5335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 each transaction record do the following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IF the record is a receipt then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 1 to the ReceiptsCount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 the Amount to the Balance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otherwise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 1 to the PaymentsCount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subtract the Amount from the Balance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EndIF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 1 to the RecordCount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Write the Balance to the CustomerFile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When the file has been processed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Output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ReceiptsCount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PaymentsCount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6280" indent="-476280">
              <a:lnSpc>
                <a:spcPct val="90000"/>
              </a:lnSpc>
              <a:tabLst>
                <a:tab pos="476280" algn="l"/>
                <a:tab pos="952560" algn="l"/>
                <a:tab pos="142884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and the RecordCount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 txBox="1"/>
          <p:nvPr/>
        </p:nvSpPr>
        <p:spPr>
          <a:xfrm>
            <a:off x="2533680" y="190440"/>
            <a:ext cx="3800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Jackson Method.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2276640" y="1204920"/>
            <a:ext cx="4581360" cy="444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447840" y="1390680"/>
            <a:ext cx="7896240" cy="299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714760" y="176040"/>
            <a:ext cx="3998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Warnier-Orr Diagrams.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549360" y="1481040"/>
            <a:ext cx="7713720" cy="281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Designing Programs</dc:title>
</cp:coreProperties>
</file>