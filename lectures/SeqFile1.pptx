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wmf" ContentType="image/x-wmf"/>
  <Override PartName="/ppt/media/image4.wmf" ContentType="image/x-wmf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"/>
          <p:cNvGrpSpPr/>
          <p:nvPr/>
        </p:nvGrpSpPr>
        <p:grpSpPr>
          <a:xfrm>
            <a:off x="6629400" y="4343400"/>
            <a:ext cx="2286000" cy="2286000"/>
            <a:chOff x="6629400" y="4343400"/>
            <a:chExt cx="2286000" cy="2286000"/>
          </a:xfrm>
        </p:grpSpPr>
        <p:sp>
          <p:nvSpPr>
            <p:cNvPr id="4" name=""/>
            <p:cNvSpPr/>
            <p:nvPr/>
          </p:nvSpPr>
          <p:spPr>
            <a:xfrm>
              <a:off x="8763120" y="6477120"/>
              <a:ext cx="152280" cy="152280"/>
            </a:xfrm>
            <a:prstGeom prst="rect">
              <a:avLst/>
            </a:prstGeom>
            <a:solidFill>
              <a:srgbClr val="FF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458200" y="647712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153280" y="647712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7848720" y="64771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7543800" y="647712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7238880" y="647712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34320" y="64771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629400" y="647712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8763120" y="617220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8763120" y="586728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763120" y="55627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763120" y="525780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63120" y="495288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763120" y="46483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763120" y="434340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>
            <a:off x="0" y="0"/>
            <a:ext cx="9131400" cy="6845400"/>
          </a:xfrm>
          <a:prstGeom prst="rect">
            <a:avLst/>
          </a:prstGeom>
          <a:gradFill rotWithShape="0">
            <a:gsLst>
              <a:gs pos="0">
                <a:srgbClr val="063DE8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2884320" y="2541600"/>
            <a:ext cx="3665520" cy="157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Introduction</a:t>
            </a:r>
            <a:br>
              <a:rPr sz="3600"/>
            </a:b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to </a:t>
            </a:r>
            <a:br>
              <a:rPr sz="3600"/>
            </a:b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Sequential Files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 txBox="1"/>
          <p:nvPr/>
        </p:nvSpPr>
        <p:spPr>
          <a:xfrm>
            <a:off x="3046320" y="79200"/>
            <a:ext cx="26398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COBOL's forte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514440" y="1163520"/>
            <a:ext cx="7643880" cy="395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5000"/>
              </a:lnSpc>
              <a:spcBef>
                <a:spcPts val="24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COBOL is generally used in situations where the volume of data to be processed is large.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5000"/>
              </a:lnSpc>
              <a:spcBef>
                <a:spcPts val="24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These systems are sometimes referred to as “</a:t>
            </a:r>
            <a:r>
              <a:rPr lang="en-US" sz="2400" b="1" i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data intensive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” systems.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5000"/>
              </a:lnSpc>
              <a:spcBef>
                <a:spcPts val="240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Generally, large volumes of data arise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not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because the data is inherently voluminous but because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same items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of information have been recorded about a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great many instances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of the same object.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 txBox="1"/>
          <p:nvPr/>
        </p:nvSpPr>
        <p:spPr>
          <a:xfrm>
            <a:off x="2546280" y="122400"/>
            <a:ext cx="39387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Files, Records, Fields.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01520" y="723960"/>
            <a:ext cx="8331120" cy="580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17520" indent="-317520">
              <a:lnSpc>
                <a:spcPct val="90000"/>
              </a:lnSpc>
              <a:spcBef>
                <a:spcPts val="1681"/>
              </a:spcBef>
              <a:spcAft>
                <a:spcPts val="720"/>
              </a:spcAft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We use the term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FIELD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to describe an item of information we are recording about an object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indent="-380880">
              <a:lnSpc>
                <a:spcPct val="9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(e.g. StudentName, DateOfBirth, CourseCode).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7520" indent="-317520">
              <a:lnSpc>
                <a:spcPct val="90000"/>
              </a:lnSpc>
              <a:spcBef>
                <a:spcPts val="1681"/>
              </a:spcBef>
              <a:spcAft>
                <a:spcPts val="720"/>
              </a:spcAft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We use the term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RECORD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to describe the collection of fields which record information about an object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indent="-380880">
              <a:lnSpc>
                <a:spcPct val="9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(e.g. a StudentRecord is a collection of fields recording information about a student).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7520" indent="-317520">
              <a:lnSpc>
                <a:spcPct val="90000"/>
              </a:lnSpc>
              <a:spcBef>
                <a:spcPts val="1681"/>
              </a:spcBef>
              <a:spcAft>
                <a:spcPts val="720"/>
              </a:spcAft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We use the term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FILE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 describe a collection of one or more occurrences (instances) of a record type (template).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7520" indent="-31752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It is important to distinguish between the record occurrence (i.e. the values of a record) and the record type (i.e. the structure of the record). 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Every record in a file has a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different value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but 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same structure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 txBox="1"/>
          <p:nvPr/>
        </p:nvSpPr>
        <p:spPr>
          <a:xfrm>
            <a:off x="2546280" y="122400"/>
            <a:ext cx="39387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Files, Records, Fields.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0" name=""/>
          <p:cNvGrpSpPr/>
          <p:nvPr/>
        </p:nvGrpSpPr>
        <p:grpSpPr>
          <a:xfrm>
            <a:off x="662040" y="1077840"/>
            <a:ext cx="4343400" cy="1987560"/>
            <a:chOff x="662040" y="1077840"/>
            <a:chExt cx="4343400" cy="1987560"/>
          </a:xfrm>
        </p:grpSpPr>
        <p:sp>
          <p:nvSpPr>
            <p:cNvPr id="41" name=""/>
            <p:cNvSpPr txBox="1"/>
            <p:nvPr/>
          </p:nvSpPr>
          <p:spPr>
            <a:xfrm>
              <a:off x="662040" y="1496880"/>
              <a:ext cx="4343400" cy="156852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919191"/>
              </a:outerShdw>
            </a:effectLst>
          </p:spPr>
          <p:txBody>
            <a:bodyPr lIns="0" tIns="0" rIns="0" bIns="0" anchor="t">
              <a:spAutoFit/>
            </a:bodyPr>
            <a:p>
              <a:pPr>
                <a:lnSpc>
                  <a:spcPct val="85000"/>
                </a:lnSpc>
                <a:spcAft>
                  <a:spcPts val="720"/>
                </a:spcAft>
              </a:pP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Courier New"/>
                  <a:ea typeface="Courier New"/>
                </a:rPr>
                <a:t>StudId StudName DateOfBirth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9723456 COUGHLAN   10091961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9724567 RYAN       31121976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9534118 COFFEY     23061964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9423458 O'BRIEN    03111979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8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9312876 SMITH      12121976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 txBox="1"/>
            <p:nvPr/>
          </p:nvSpPr>
          <p:spPr>
            <a:xfrm>
              <a:off x="1628640" y="1077840"/>
              <a:ext cx="2405160" cy="42876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85000"/>
                </a:lnSpc>
              </a:pPr>
              <a:r>
                <a:rPr lang="en-US" sz="2400" b="1" u="none" strike="noStrike">
                  <a:solidFill>
                    <a:srgbClr val="114FFB"/>
                  </a:solidFill>
                  <a:effectLst/>
                  <a:uFillTx/>
                  <a:latin typeface="Courier New"/>
                  <a:ea typeface="Courier New"/>
                </a:rPr>
                <a:t>STUDENTS.DAT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676440" y="1811160"/>
              <a:ext cx="4302000" cy="5040"/>
            </a:xfrm>
            <a:prstGeom prst="line">
              <a:avLst/>
            </a:prstGeom>
            <a:ln w="1260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-46080" rIns="96120" bIns="-460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" name=""/>
          <p:cNvGrpSpPr/>
          <p:nvPr/>
        </p:nvGrpSpPr>
        <p:grpSpPr>
          <a:xfrm>
            <a:off x="636480" y="3784680"/>
            <a:ext cx="4483440" cy="2514600"/>
            <a:chOff x="636480" y="3784680"/>
            <a:chExt cx="4483440" cy="2514600"/>
          </a:xfrm>
        </p:grpSpPr>
        <p:sp>
          <p:nvSpPr>
            <p:cNvPr id="45" name=""/>
            <p:cNvSpPr txBox="1"/>
            <p:nvPr/>
          </p:nvSpPr>
          <p:spPr>
            <a:xfrm>
              <a:off x="744480" y="3860640"/>
              <a:ext cx="4187880" cy="227808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000000"/>
              </a:solidFill>
              <a:round/>
            </a:ln>
            <a:effectLst>
              <a:outerShdw dist="0" dir="0" rotWithShape="0">
                <a:srgbClr val="919191"/>
              </a:outerShdw>
            </a:effectLst>
          </p:spPr>
          <p:txBody>
            <a:bodyPr lIns="0" tIns="0" rIns="0" bIns="0" anchor="t">
              <a:spAutoFit/>
            </a:bodyPr>
            <a:p>
              <a:pPr marL="190440" indent="-190440">
                <a:lnSpc>
                  <a:spcPct val="85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90440" indent="-190440">
                <a:lnSpc>
                  <a:spcPct val="8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DATA DIVISION.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90440" indent="-190440">
                <a:lnSpc>
                  <a:spcPct val="8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FILE SECTION.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90440" indent="-190440">
                <a:lnSpc>
                  <a:spcPct val="8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FD StudentFile.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90440" indent="-190440">
                <a:lnSpc>
                  <a:spcPct val="8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01 StudentDetails.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90440" indent="-190440">
                <a:lnSpc>
                  <a:spcPct val="8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02  StudId       PIC 9(7).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90440" indent="-190440">
                <a:lnSpc>
                  <a:spcPct val="8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02  StudName     PIC X(8).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marL="190440" indent="-190440">
                <a:lnSpc>
                  <a:spcPct val="85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02  DateOfBirth  PIC X(8).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636480" y="3784680"/>
              <a:ext cx="4458240" cy="495720"/>
            </a:xfrm>
            <a:custGeom>
              <a:avLst/>
              <a:gdLst/>
              <a:ahLst/>
              <a:rect l="0" t="0" r="r" b="b"/>
              <a:pathLst>
                <a:path w="12384" h="1377">
                  <a:moveTo>
                    <a:pt x="0" y="1024"/>
                  </a:moveTo>
                  <a:lnTo>
                    <a:pt x="105" y="953"/>
                  </a:lnTo>
                  <a:lnTo>
                    <a:pt x="211" y="918"/>
                  </a:lnTo>
                  <a:lnTo>
                    <a:pt x="317" y="847"/>
                  </a:lnTo>
                  <a:lnTo>
                    <a:pt x="458" y="812"/>
                  </a:lnTo>
                  <a:lnTo>
                    <a:pt x="564" y="777"/>
                  </a:lnTo>
                  <a:lnTo>
                    <a:pt x="670" y="671"/>
                  </a:lnTo>
                  <a:lnTo>
                    <a:pt x="776" y="600"/>
                  </a:lnTo>
                  <a:lnTo>
                    <a:pt x="881" y="671"/>
                  </a:lnTo>
                  <a:lnTo>
                    <a:pt x="952" y="777"/>
                  </a:lnTo>
                  <a:lnTo>
                    <a:pt x="1058" y="777"/>
                  </a:lnTo>
                  <a:lnTo>
                    <a:pt x="1199" y="706"/>
                  </a:lnTo>
                  <a:lnTo>
                    <a:pt x="1305" y="741"/>
                  </a:lnTo>
                  <a:lnTo>
                    <a:pt x="1411" y="777"/>
                  </a:lnTo>
                  <a:lnTo>
                    <a:pt x="1516" y="777"/>
                  </a:lnTo>
                  <a:lnTo>
                    <a:pt x="1658" y="812"/>
                  </a:lnTo>
                  <a:lnTo>
                    <a:pt x="1799" y="777"/>
                  </a:lnTo>
                  <a:lnTo>
                    <a:pt x="1975" y="706"/>
                  </a:lnTo>
                  <a:lnTo>
                    <a:pt x="2081" y="636"/>
                  </a:lnTo>
                  <a:lnTo>
                    <a:pt x="2116" y="741"/>
                  </a:lnTo>
                  <a:lnTo>
                    <a:pt x="2222" y="706"/>
                  </a:lnTo>
                  <a:lnTo>
                    <a:pt x="2328" y="671"/>
                  </a:lnTo>
                  <a:lnTo>
                    <a:pt x="2434" y="671"/>
                  </a:lnTo>
                  <a:lnTo>
                    <a:pt x="2540" y="706"/>
                  </a:lnTo>
                  <a:lnTo>
                    <a:pt x="2645" y="706"/>
                  </a:lnTo>
                  <a:lnTo>
                    <a:pt x="2751" y="671"/>
                  </a:lnTo>
                  <a:lnTo>
                    <a:pt x="2857" y="671"/>
                  </a:lnTo>
                  <a:lnTo>
                    <a:pt x="2963" y="636"/>
                  </a:lnTo>
                  <a:lnTo>
                    <a:pt x="3105" y="565"/>
                  </a:lnTo>
                  <a:lnTo>
                    <a:pt x="3211" y="494"/>
                  </a:lnTo>
                  <a:lnTo>
                    <a:pt x="3352" y="459"/>
                  </a:lnTo>
                  <a:lnTo>
                    <a:pt x="3493" y="389"/>
                  </a:lnTo>
                  <a:lnTo>
                    <a:pt x="3634" y="494"/>
                  </a:lnTo>
                  <a:lnTo>
                    <a:pt x="3705" y="636"/>
                  </a:lnTo>
                  <a:lnTo>
                    <a:pt x="3775" y="741"/>
                  </a:lnTo>
                  <a:lnTo>
                    <a:pt x="3952" y="565"/>
                  </a:lnTo>
                  <a:lnTo>
                    <a:pt x="4057" y="494"/>
                  </a:lnTo>
                  <a:lnTo>
                    <a:pt x="4093" y="636"/>
                  </a:lnTo>
                  <a:lnTo>
                    <a:pt x="4269" y="600"/>
                  </a:lnTo>
                  <a:lnTo>
                    <a:pt x="4375" y="565"/>
                  </a:lnTo>
                  <a:lnTo>
                    <a:pt x="4551" y="565"/>
                  </a:lnTo>
                  <a:lnTo>
                    <a:pt x="4692" y="600"/>
                  </a:lnTo>
                  <a:lnTo>
                    <a:pt x="4834" y="706"/>
                  </a:lnTo>
                  <a:lnTo>
                    <a:pt x="4939" y="671"/>
                  </a:lnTo>
                  <a:lnTo>
                    <a:pt x="5080" y="671"/>
                  </a:lnTo>
                  <a:lnTo>
                    <a:pt x="5257" y="636"/>
                  </a:lnTo>
                  <a:lnTo>
                    <a:pt x="5363" y="600"/>
                  </a:lnTo>
                  <a:lnTo>
                    <a:pt x="5469" y="706"/>
                  </a:lnTo>
                  <a:lnTo>
                    <a:pt x="5610" y="565"/>
                  </a:lnTo>
                  <a:lnTo>
                    <a:pt x="5716" y="671"/>
                  </a:lnTo>
                  <a:lnTo>
                    <a:pt x="5821" y="671"/>
                  </a:lnTo>
                  <a:lnTo>
                    <a:pt x="5892" y="777"/>
                  </a:lnTo>
                  <a:lnTo>
                    <a:pt x="5998" y="777"/>
                  </a:lnTo>
                  <a:lnTo>
                    <a:pt x="6104" y="777"/>
                  </a:lnTo>
                  <a:lnTo>
                    <a:pt x="6209" y="741"/>
                  </a:lnTo>
                  <a:lnTo>
                    <a:pt x="6315" y="706"/>
                  </a:lnTo>
                  <a:lnTo>
                    <a:pt x="6421" y="671"/>
                  </a:lnTo>
                  <a:lnTo>
                    <a:pt x="6562" y="636"/>
                  </a:lnTo>
                  <a:lnTo>
                    <a:pt x="6703" y="565"/>
                  </a:lnTo>
                  <a:lnTo>
                    <a:pt x="6809" y="565"/>
                  </a:lnTo>
                  <a:lnTo>
                    <a:pt x="6915" y="671"/>
                  </a:lnTo>
                  <a:lnTo>
                    <a:pt x="6986" y="777"/>
                  </a:lnTo>
                  <a:lnTo>
                    <a:pt x="7091" y="847"/>
                  </a:lnTo>
                  <a:lnTo>
                    <a:pt x="7303" y="953"/>
                  </a:lnTo>
                  <a:lnTo>
                    <a:pt x="7444" y="918"/>
                  </a:lnTo>
                  <a:lnTo>
                    <a:pt x="7550" y="847"/>
                  </a:lnTo>
                  <a:lnTo>
                    <a:pt x="7691" y="777"/>
                  </a:lnTo>
                  <a:lnTo>
                    <a:pt x="7867" y="741"/>
                  </a:lnTo>
                  <a:lnTo>
                    <a:pt x="8079" y="636"/>
                  </a:lnTo>
                  <a:lnTo>
                    <a:pt x="8220" y="600"/>
                  </a:lnTo>
                  <a:lnTo>
                    <a:pt x="8361" y="671"/>
                  </a:lnTo>
                  <a:lnTo>
                    <a:pt x="8432" y="777"/>
                  </a:lnTo>
                  <a:lnTo>
                    <a:pt x="8573" y="671"/>
                  </a:lnTo>
                  <a:lnTo>
                    <a:pt x="8679" y="636"/>
                  </a:lnTo>
                  <a:lnTo>
                    <a:pt x="8855" y="671"/>
                  </a:lnTo>
                  <a:lnTo>
                    <a:pt x="8961" y="636"/>
                  </a:lnTo>
                  <a:lnTo>
                    <a:pt x="9067" y="671"/>
                  </a:lnTo>
                  <a:lnTo>
                    <a:pt x="9208" y="671"/>
                  </a:lnTo>
                  <a:lnTo>
                    <a:pt x="9279" y="777"/>
                  </a:lnTo>
                  <a:lnTo>
                    <a:pt x="9385" y="812"/>
                  </a:lnTo>
                  <a:lnTo>
                    <a:pt x="9527" y="812"/>
                  </a:lnTo>
                  <a:lnTo>
                    <a:pt x="9668" y="812"/>
                  </a:lnTo>
                  <a:lnTo>
                    <a:pt x="9773" y="777"/>
                  </a:lnTo>
                  <a:lnTo>
                    <a:pt x="9879" y="847"/>
                  </a:lnTo>
                  <a:lnTo>
                    <a:pt x="9985" y="918"/>
                  </a:lnTo>
                  <a:lnTo>
                    <a:pt x="10091" y="953"/>
                  </a:lnTo>
                  <a:lnTo>
                    <a:pt x="10267" y="918"/>
                  </a:lnTo>
                  <a:lnTo>
                    <a:pt x="10338" y="812"/>
                  </a:lnTo>
                  <a:lnTo>
                    <a:pt x="10444" y="706"/>
                  </a:lnTo>
                  <a:lnTo>
                    <a:pt x="10550" y="671"/>
                  </a:lnTo>
                  <a:lnTo>
                    <a:pt x="10655" y="636"/>
                  </a:lnTo>
                  <a:lnTo>
                    <a:pt x="10761" y="600"/>
                  </a:lnTo>
                  <a:lnTo>
                    <a:pt x="10832" y="706"/>
                  </a:lnTo>
                  <a:lnTo>
                    <a:pt x="10938" y="777"/>
                  </a:lnTo>
                  <a:lnTo>
                    <a:pt x="11043" y="847"/>
                  </a:lnTo>
                  <a:lnTo>
                    <a:pt x="11255" y="918"/>
                  </a:lnTo>
                  <a:lnTo>
                    <a:pt x="11361" y="953"/>
                  </a:lnTo>
                  <a:lnTo>
                    <a:pt x="11573" y="988"/>
                  </a:lnTo>
                  <a:lnTo>
                    <a:pt x="11678" y="988"/>
                  </a:lnTo>
                  <a:lnTo>
                    <a:pt x="11784" y="1130"/>
                  </a:lnTo>
                  <a:lnTo>
                    <a:pt x="11925" y="1201"/>
                  </a:lnTo>
                  <a:lnTo>
                    <a:pt x="12067" y="1272"/>
                  </a:lnTo>
                  <a:lnTo>
                    <a:pt x="12172" y="1342"/>
                  </a:lnTo>
                  <a:lnTo>
                    <a:pt x="12278" y="1342"/>
                  </a:lnTo>
                  <a:lnTo>
                    <a:pt x="12384" y="1377"/>
                  </a:lnTo>
                  <a:lnTo>
                    <a:pt x="12384" y="70"/>
                  </a:lnTo>
                  <a:lnTo>
                    <a:pt x="0" y="0"/>
                  </a:lnTo>
                  <a:lnTo>
                    <a:pt x="70" y="812"/>
                  </a:lnTo>
                  <a:lnTo>
                    <a:pt x="0" y="1024"/>
                  </a:lnTo>
                  <a:close/>
                </a:path>
              </a:pathLst>
            </a:custGeom>
            <a:solidFill>
              <a:srgbClr val="114FFB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636480" y="5867280"/>
              <a:ext cx="4483440" cy="432000"/>
            </a:xfrm>
            <a:custGeom>
              <a:avLst/>
              <a:gdLst/>
              <a:ahLst/>
              <a:rect l="0" t="0" r="r" b="b"/>
              <a:pathLst>
                <a:path w="12454" h="1200">
                  <a:moveTo>
                    <a:pt x="0" y="599"/>
                  </a:moveTo>
                  <a:lnTo>
                    <a:pt x="70" y="493"/>
                  </a:lnTo>
                  <a:lnTo>
                    <a:pt x="211" y="388"/>
                  </a:lnTo>
                  <a:lnTo>
                    <a:pt x="352" y="352"/>
                  </a:lnTo>
                  <a:lnTo>
                    <a:pt x="458" y="317"/>
                  </a:lnTo>
                  <a:lnTo>
                    <a:pt x="564" y="211"/>
                  </a:lnTo>
                  <a:lnTo>
                    <a:pt x="670" y="317"/>
                  </a:lnTo>
                  <a:lnTo>
                    <a:pt x="881" y="388"/>
                  </a:lnTo>
                  <a:lnTo>
                    <a:pt x="987" y="493"/>
                  </a:lnTo>
                  <a:lnTo>
                    <a:pt x="1093" y="458"/>
                  </a:lnTo>
                  <a:lnTo>
                    <a:pt x="1199" y="352"/>
                  </a:lnTo>
                  <a:lnTo>
                    <a:pt x="1340" y="388"/>
                  </a:lnTo>
                  <a:lnTo>
                    <a:pt x="1446" y="458"/>
                  </a:lnTo>
                  <a:lnTo>
                    <a:pt x="1622" y="388"/>
                  </a:lnTo>
                  <a:lnTo>
                    <a:pt x="1728" y="282"/>
                  </a:lnTo>
                  <a:lnTo>
                    <a:pt x="1799" y="176"/>
                  </a:lnTo>
                  <a:lnTo>
                    <a:pt x="1975" y="211"/>
                  </a:lnTo>
                  <a:lnTo>
                    <a:pt x="2187" y="211"/>
                  </a:lnTo>
                  <a:lnTo>
                    <a:pt x="2328" y="352"/>
                  </a:lnTo>
                  <a:lnTo>
                    <a:pt x="2434" y="352"/>
                  </a:lnTo>
                  <a:lnTo>
                    <a:pt x="2469" y="246"/>
                  </a:lnTo>
                  <a:lnTo>
                    <a:pt x="2610" y="317"/>
                  </a:lnTo>
                  <a:lnTo>
                    <a:pt x="2751" y="352"/>
                  </a:lnTo>
                  <a:lnTo>
                    <a:pt x="2857" y="282"/>
                  </a:lnTo>
                  <a:lnTo>
                    <a:pt x="2998" y="352"/>
                  </a:lnTo>
                  <a:lnTo>
                    <a:pt x="3104" y="388"/>
                  </a:lnTo>
                  <a:lnTo>
                    <a:pt x="3280" y="352"/>
                  </a:lnTo>
                  <a:lnTo>
                    <a:pt x="3386" y="246"/>
                  </a:lnTo>
                  <a:lnTo>
                    <a:pt x="3527" y="176"/>
                  </a:lnTo>
                  <a:lnTo>
                    <a:pt x="3668" y="176"/>
                  </a:lnTo>
                  <a:lnTo>
                    <a:pt x="3809" y="211"/>
                  </a:lnTo>
                  <a:lnTo>
                    <a:pt x="3915" y="211"/>
                  </a:lnTo>
                  <a:lnTo>
                    <a:pt x="4056" y="141"/>
                  </a:lnTo>
                  <a:lnTo>
                    <a:pt x="4162" y="105"/>
                  </a:lnTo>
                  <a:lnTo>
                    <a:pt x="4303" y="70"/>
                  </a:lnTo>
                  <a:lnTo>
                    <a:pt x="4444" y="70"/>
                  </a:lnTo>
                  <a:lnTo>
                    <a:pt x="4586" y="176"/>
                  </a:lnTo>
                  <a:lnTo>
                    <a:pt x="4727" y="176"/>
                  </a:lnTo>
                  <a:lnTo>
                    <a:pt x="4833" y="211"/>
                  </a:lnTo>
                  <a:lnTo>
                    <a:pt x="4868" y="317"/>
                  </a:lnTo>
                  <a:lnTo>
                    <a:pt x="5009" y="246"/>
                  </a:lnTo>
                  <a:lnTo>
                    <a:pt x="5150" y="211"/>
                  </a:lnTo>
                  <a:lnTo>
                    <a:pt x="5326" y="141"/>
                  </a:lnTo>
                  <a:lnTo>
                    <a:pt x="5820" y="70"/>
                  </a:lnTo>
                  <a:lnTo>
                    <a:pt x="5961" y="35"/>
                  </a:lnTo>
                  <a:lnTo>
                    <a:pt x="6032" y="141"/>
                  </a:lnTo>
                  <a:lnTo>
                    <a:pt x="6245" y="211"/>
                  </a:lnTo>
                  <a:lnTo>
                    <a:pt x="6386" y="246"/>
                  </a:lnTo>
                  <a:lnTo>
                    <a:pt x="6527" y="317"/>
                  </a:lnTo>
                  <a:lnTo>
                    <a:pt x="6668" y="282"/>
                  </a:lnTo>
                  <a:lnTo>
                    <a:pt x="6774" y="246"/>
                  </a:lnTo>
                  <a:lnTo>
                    <a:pt x="6809" y="141"/>
                  </a:lnTo>
                  <a:lnTo>
                    <a:pt x="6950" y="105"/>
                  </a:lnTo>
                  <a:lnTo>
                    <a:pt x="7056" y="141"/>
                  </a:lnTo>
                  <a:lnTo>
                    <a:pt x="7127" y="246"/>
                  </a:lnTo>
                  <a:lnTo>
                    <a:pt x="7232" y="176"/>
                  </a:lnTo>
                  <a:lnTo>
                    <a:pt x="7409" y="141"/>
                  </a:lnTo>
                  <a:lnTo>
                    <a:pt x="7515" y="105"/>
                  </a:lnTo>
                  <a:lnTo>
                    <a:pt x="7621" y="105"/>
                  </a:lnTo>
                  <a:lnTo>
                    <a:pt x="7726" y="70"/>
                  </a:lnTo>
                  <a:lnTo>
                    <a:pt x="7903" y="35"/>
                  </a:lnTo>
                  <a:lnTo>
                    <a:pt x="8009" y="0"/>
                  </a:lnTo>
                  <a:lnTo>
                    <a:pt x="8114" y="105"/>
                  </a:lnTo>
                  <a:lnTo>
                    <a:pt x="8220" y="105"/>
                  </a:lnTo>
                  <a:lnTo>
                    <a:pt x="8326" y="35"/>
                  </a:lnTo>
                  <a:lnTo>
                    <a:pt x="8467" y="211"/>
                  </a:lnTo>
                  <a:lnTo>
                    <a:pt x="8573" y="282"/>
                  </a:lnTo>
                  <a:lnTo>
                    <a:pt x="8714" y="246"/>
                  </a:lnTo>
                  <a:lnTo>
                    <a:pt x="8891" y="211"/>
                  </a:lnTo>
                  <a:lnTo>
                    <a:pt x="8996" y="176"/>
                  </a:lnTo>
                  <a:lnTo>
                    <a:pt x="9102" y="105"/>
                  </a:lnTo>
                  <a:lnTo>
                    <a:pt x="9243" y="70"/>
                  </a:lnTo>
                  <a:lnTo>
                    <a:pt x="9314" y="211"/>
                  </a:lnTo>
                  <a:lnTo>
                    <a:pt x="9455" y="176"/>
                  </a:lnTo>
                  <a:lnTo>
                    <a:pt x="9596" y="70"/>
                  </a:lnTo>
                  <a:lnTo>
                    <a:pt x="9667" y="176"/>
                  </a:lnTo>
                  <a:lnTo>
                    <a:pt x="9808" y="246"/>
                  </a:lnTo>
                  <a:lnTo>
                    <a:pt x="9914" y="282"/>
                  </a:lnTo>
                  <a:lnTo>
                    <a:pt x="10055" y="211"/>
                  </a:lnTo>
                  <a:lnTo>
                    <a:pt x="10231" y="211"/>
                  </a:lnTo>
                  <a:lnTo>
                    <a:pt x="10337" y="246"/>
                  </a:lnTo>
                  <a:lnTo>
                    <a:pt x="10478" y="352"/>
                  </a:lnTo>
                  <a:lnTo>
                    <a:pt x="10619" y="317"/>
                  </a:lnTo>
                  <a:lnTo>
                    <a:pt x="10725" y="317"/>
                  </a:lnTo>
                  <a:lnTo>
                    <a:pt x="10901" y="317"/>
                  </a:lnTo>
                  <a:lnTo>
                    <a:pt x="11042" y="317"/>
                  </a:lnTo>
                  <a:lnTo>
                    <a:pt x="11184" y="282"/>
                  </a:lnTo>
                  <a:lnTo>
                    <a:pt x="11325" y="317"/>
                  </a:lnTo>
                  <a:lnTo>
                    <a:pt x="11466" y="317"/>
                  </a:lnTo>
                  <a:lnTo>
                    <a:pt x="11572" y="282"/>
                  </a:lnTo>
                  <a:lnTo>
                    <a:pt x="11713" y="352"/>
                  </a:lnTo>
                  <a:lnTo>
                    <a:pt x="11924" y="388"/>
                  </a:lnTo>
                  <a:lnTo>
                    <a:pt x="12101" y="458"/>
                  </a:lnTo>
                  <a:lnTo>
                    <a:pt x="12242" y="458"/>
                  </a:lnTo>
                  <a:lnTo>
                    <a:pt x="12383" y="493"/>
                  </a:lnTo>
                  <a:lnTo>
                    <a:pt x="12454" y="599"/>
                  </a:lnTo>
                  <a:lnTo>
                    <a:pt x="12454" y="1200"/>
                  </a:lnTo>
                  <a:lnTo>
                    <a:pt x="35" y="1200"/>
                  </a:lnTo>
                  <a:lnTo>
                    <a:pt x="0" y="599"/>
                  </a:lnTo>
                  <a:close/>
                </a:path>
              </a:pathLst>
            </a:custGeom>
            <a:solidFill>
              <a:srgbClr val="114FFB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" name=""/>
          <p:cNvGrpSpPr/>
          <p:nvPr/>
        </p:nvGrpSpPr>
        <p:grpSpPr>
          <a:xfrm>
            <a:off x="4521240" y="1981080"/>
            <a:ext cx="3162240" cy="914400"/>
            <a:chOff x="4521240" y="1981080"/>
            <a:chExt cx="3162240" cy="914400"/>
          </a:xfrm>
        </p:grpSpPr>
        <p:sp>
          <p:nvSpPr>
            <p:cNvPr id="49" name=""/>
            <p:cNvSpPr txBox="1"/>
            <p:nvPr/>
          </p:nvSpPr>
          <p:spPr>
            <a:xfrm>
              <a:off x="6057720" y="2133720"/>
              <a:ext cx="1625760" cy="6224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2000" b="1" u="none" strike="noStrike">
                  <a:solidFill>
                    <a:srgbClr val="00FF00"/>
                  </a:solidFill>
                  <a:effectLst/>
                  <a:uFillTx/>
                  <a:latin typeface="Arial"/>
                  <a:ea typeface="Arial"/>
                </a:rPr>
                <a:t>occurrences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4521240" y="2425680"/>
              <a:ext cx="1562040" cy="0"/>
            </a:xfrm>
            <a:prstGeom prst="line">
              <a:avLst/>
            </a:prstGeom>
            <a:ln w="12600">
              <a:solidFill>
                <a:srgbClr val="00FF00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-51120" rIns="96120" bIns="-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4521240" y="1981080"/>
              <a:ext cx="1562040" cy="368280"/>
            </a:xfrm>
            <a:prstGeom prst="line">
              <a:avLst/>
            </a:prstGeom>
            <a:ln w="12600">
              <a:solidFill>
                <a:srgbClr val="00FF00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4521240" y="2184480"/>
              <a:ext cx="1562040" cy="203040"/>
            </a:xfrm>
            <a:prstGeom prst="line">
              <a:avLst/>
            </a:prstGeom>
            <a:ln w="12600">
              <a:solidFill>
                <a:srgbClr val="00FF00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 flipV="1">
              <a:off x="4521240" y="2476440"/>
              <a:ext cx="1562040" cy="190440"/>
            </a:xfrm>
            <a:prstGeom prst="line">
              <a:avLst/>
            </a:prstGeom>
            <a:ln w="12600">
              <a:solidFill>
                <a:srgbClr val="00FF00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 flipV="1">
              <a:off x="4521240" y="2514600"/>
              <a:ext cx="1600200" cy="380880"/>
            </a:xfrm>
            <a:prstGeom prst="line">
              <a:avLst/>
            </a:prstGeom>
            <a:ln w="12600">
              <a:solidFill>
                <a:srgbClr val="00FF00"/>
              </a:solidFill>
              <a:round/>
              <a:head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5" name=""/>
          <p:cNvSpPr txBox="1"/>
          <p:nvPr/>
        </p:nvSpPr>
        <p:spPr>
          <a:xfrm>
            <a:off x="5807160" y="4041720"/>
            <a:ext cx="17938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Record Type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(Template)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(Structure)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 flipV="1">
            <a:off x="3301920" y="4241880"/>
            <a:ext cx="2565360" cy="723960"/>
          </a:xfrm>
          <a:prstGeom prst="line">
            <a:avLst/>
          </a:prstGeom>
          <a:ln w="12600">
            <a:solidFill>
              <a:srgbClr val="00FF00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 txBox="1"/>
          <p:nvPr/>
        </p:nvSpPr>
        <p:spPr>
          <a:xfrm>
            <a:off x="2489040" y="122400"/>
            <a:ext cx="43545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How files are processed.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54080" y="776160"/>
            <a:ext cx="8393040" cy="553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32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Files are repositories of data that reside on backing storage (hard disk or magnetic tape).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32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 file may consist of hundreds of thousands or even millions of records.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32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Suppose we want to keep information about all the TV license holders in the country.  Suppose each record is about 150 characters/bytes long.  If we estimate the number of licenses at 1 million this gives us a size for the file of 150 X 1,000,000 =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150 megabytes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32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If we want to process a file of this size we cannot do it by loading the whole file into the computer’s memory at once.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32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Files are processed by reading them into the computer’s memory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one record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at a time.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046320" y="122400"/>
            <a:ext cx="27525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Record Buffers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343080" y="1041480"/>
            <a:ext cx="8153280" cy="5410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 process a file records are read from the file into the computer’s memory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one record at a time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computer uses the programmers description of the record (i.e. the record template) to set aside sufficient memory to store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one instance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of the record.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Memory allocated for storing a record is usually called a “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record buffer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”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record buffer is the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only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connection between the program and the records in the file.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 txBox="1"/>
          <p:nvPr/>
        </p:nvSpPr>
        <p:spPr>
          <a:xfrm>
            <a:off x="2959200" y="171360"/>
            <a:ext cx="27525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Record Buffers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2" name=""/>
          <p:cNvGrpSpPr/>
          <p:nvPr/>
        </p:nvGrpSpPr>
        <p:grpSpPr>
          <a:xfrm>
            <a:off x="4052880" y="1231920"/>
            <a:ext cx="3998880" cy="3860640"/>
            <a:chOff x="4052880" y="1231920"/>
            <a:chExt cx="3998880" cy="3860640"/>
          </a:xfrm>
        </p:grpSpPr>
        <p:sp>
          <p:nvSpPr>
            <p:cNvPr id="63" name=""/>
            <p:cNvSpPr/>
            <p:nvPr/>
          </p:nvSpPr>
          <p:spPr>
            <a:xfrm>
              <a:off x="4052880" y="1677960"/>
              <a:ext cx="3998880" cy="341460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FFFFFF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 txBox="1"/>
            <p:nvPr/>
          </p:nvSpPr>
          <p:spPr>
            <a:xfrm>
              <a:off x="4226040" y="1878120"/>
              <a:ext cx="3070080" cy="225108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IDENTIFICATION DIVISION.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etc.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ENVIRONMENT DIVISION.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etc.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DATA DIVISION.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FILE SECTION.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 txBox="1"/>
            <p:nvPr/>
          </p:nvSpPr>
          <p:spPr>
            <a:xfrm>
              <a:off x="5345280" y="1231920"/>
              <a:ext cx="1365120" cy="419040"/>
            </a:xfrm>
            <a:prstGeom prst="rect">
              <a:avLst/>
            </a:prstGeom>
            <a:solidFill>
              <a:srgbClr val="DADADA"/>
            </a:solidFill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676767"/>
                  </a:solidFill>
                  <a:effectLst/>
                  <a:uFillTx/>
                  <a:latin typeface="Arial"/>
                  <a:ea typeface="Arial"/>
                </a:rPr>
                <a:t>Program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 txBox="1"/>
            <p:nvPr/>
          </p:nvSpPr>
          <p:spPr>
            <a:xfrm>
              <a:off x="4640400" y="3645000"/>
              <a:ext cx="2738520" cy="816120"/>
            </a:xfrm>
            <a:prstGeom prst="rect">
              <a:avLst/>
            </a:prstGeom>
            <a:solidFill>
              <a:srgbClr val="114FFB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RecordBuffer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Declaration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7" name=""/>
          <p:cNvGrpSpPr/>
          <p:nvPr/>
        </p:nvGrpSpPr>
        <p:grpSpPr>
          <a:xfrm>
            <a:off x="455760" y="3081240"/>
            <a:ext cx="1343160" cy="1810080"/>
            <a:chOff x="455760" y="3081240"/>
            <a:chExt cx="1343160" cy="1810080"/>
          </a:xfrm>
        </p:grpSpPr>
        <p:sp>
          <p:nvSpPr>
            <p:cNvPr id="68" name=""/>
            <p:cNvSpPr txBox="1"/>
            <p:nvPr/>
          </p:nvSpPr>
          <p:spPr>
            <a:xfrm>
              <a:off x="455760" y="3324240"/>
              <a:ext cx="1343160" cy="137160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marL="190440" indent="-190440"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12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STUDENTS.DAT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479520" y="4419720"/>
              <a:ext cx="1314360" cy="471600"/>
            </a:xfrm>
            <a:prstGeom prst="ellipse">
              <a:avLst/>
            </a:prstGeom>
            <a:solidFill>
              <a:srgbClr val="DADADA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 txBox="1"/>
            <p:nvPr/>
          </p:nvSpPr>
          <p:spPr>
            <a:xfrm>
              <a:off x="469800" y="3081240"/>
              <a:ext cx="1314360" cy="47160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marL="190440" indent="-190440" algn="ctr">
                <a:lnSpc>
                  <a:spcPct val="103000"/>
                </a:lnSpc>
                <a:spcAft>
                  <a:spcPts val="1247"/>
                </a:spcAft>
              </a:pPr>
              <a:r>
                <a:rPr lang="en-US" sz="2000" b="1" u="none" strike="noStrike">
                  <a:solidFill>
                    <a:srgbClr val="000000"/>
                  </a:solidFill>
                  <a:effectLst/>
                  <a:uFillTx/>
                  <a:latin typeface="Times New Roman"/>
                  <a:ea typeface="Times New Roman"/>
                </a:rPr>
                <a:t>DISK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" name=""/>
          <p:cNvSpPr/>
          <p:nvPr/>
        </p:nvSpPr>
        <p:spPr>
          <a:xfrm>
            <a:off x="1384200" y="3187800"/>
            <a:ext cx="3594240" cy="684000"/>
          </a:xfrm>
          <a:custGeom>
            <a:avLst/>
            <a:gdLst/>
            <a:ahLst/>
            <a:rect l="0" t="0" r="r" b="b"/>
            <a:pathLst>
              <a:path fill="none" w="9984" h="1900">
                <a:moveTo>
                  <a:pt x="9982" y="1900"/>
                </a:moveTo>
                <a:lnTo>
                  <a:pt x="9982" y="1900"/>
                </a:lnTo>
                <a:cubicBezTo>
                  <a:pt x="9983" y="1883"/>
                  <a:pt x="9984" y="1867"/>
                  <a:pt x="9984" y="1850"/>
                </a:cubicBezTo>
                <a:cubicBezTo>
                  <a:pt x="9984" y="1525"/>
                  <a:pt x="9753" y="1206"/>
                  <a:pt x="9315" y="925"/>
                </a:cubicBezTo>
                <a:cubicBezTo>
                  <a:pt x="8877" y="644"/>
                  <a:pt x="8247" y="410"/>
                  <a:pt x="7488" y="248"/>
                </a:cubicBezTo>
                <a:cubicBezTo>
                  <a:pt x="6729" y="85"/>
                  <a:pt x="5868" y="0"/>
                  <a:pt x="4992" y="0"/>
                </a:cubicBezTo>
                <a:cubicBezTo>
                  <a:pt x="4116" y="0"/>
                  <a:pt x="3255" y="85"/>
                  <a:pt x="2496" y="248"/>
                </a:cubicBezTo>
                <a:cubicBezTo>
                  <a:pt x="1737" y="410"/>
                  <a:pt x="1107" y="644"/>
                  <a:pt x="669" y="925"/>
                </a:cubicBezTo>
                <a:cubicBezTo>
                  <a:pt x="237" y="1202"/>
                  <a:pt x="7" y="1515"/>
                  <a:pt x="0" y="1835"/>
                </a:cubicBezTo>
              </a:path>
            </a:pathLst>
          </a:custGeom>
          <a:ln w="12600">
            <a:solidFill>
              <a:srgbClr val="FC0128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2066760" y="3081240"/>
            <a:ext cx="1889280" cy="32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Record Instance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 txBox="1"/>
          <p:nvPr/>
        </p:nvSpPr>
        <p:spPr>
          <a:xfrm>
            <a:off x="2517840" y="150840"/>
            <a:ext cx="42339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Implications of ‘Buffers’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347760" y="839880"/>
            <a:ext cx="7970760" cy="553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32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If your program processes more than one file you will have to describe a record buffer for 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each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file.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32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 process all the records in an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INPUT file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each record instance must be copied (read) from the file into the record buffer when required.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32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 create an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OUTPUT file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containing data records each record must be placed in the record buffer and then transferred (written) to the file.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32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 transfer a record from an input file to an output file we will have 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lvl="1" indent="-380880">
              <a:lnSpc>
                <a:spcPct val="90000"/>
              </a:lnSpc>
              <a:spcBef>
                <a:spcPts val="479"/>
              </a:spcBef>
              <a:buClr>
                <a:srgbClr val="00FF00"/>
              </a:buClr>
              <a:buSzPct val="65000"/>
              <a:buFont typeface="Monotype Sorts"/>
              <a:buChar char="_x0000_"/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read the record into the input record buffer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lvl="1" indent="-380880">
              <a:lnSpc>
                <a:spcPct val="90000"/>
              </a:lnSpc>
              <a:spcBef>
                <a:spcPts val="479"/>
              </a:spcBef>
              <a:buClr>
                <a:srgbClr val="00FF00"/>
              </a:buClr>
              <a:buSzPct val="65000"/>
              <a:buFont typeface="Monotype Sorts"/>
              <a:buChar char="_x0000_"/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transfer it to the output record buffer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lvl="1" indent="-380880">
              <a:lnSpc>
                <a:spcPct val="90000"/>
              </a:lnSpc>
              <a:spcBef>
                <a:spcPts val="479"/>
              </a:spcBef>
              <a:buClr>
                <a:srgbClr val="00FF00"/>
              </a:buClr>
              <a:buSzPct val="65000"/>
              <a:buFont typeface="Monotype Sorts"/>
              <a:buChar char="_x0000_"/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write the data to the output file from the output record buffer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 txBox="1"/>
          <p:nvPr/>
        </p:nvSpPr>
        <p:spPr>
          <a:xfrm>
            <a:off x="2111400" y="219240"/>
            <a:ext cx="46688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Creating a Student Record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08080" y="1476360"/>
            <a:ext cx="8304120" cy="453060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marL="317520" indent="-317520">
              <a:lnSpc>
                <a:spcPct val="90000"/>
              </a:lnSpc>
              <a:spcBef>
                <a:spcPts val="479"/>
              </a:spcBef>
              <a:tabLst>
                <a:tab pos="355680" algn="l"/>
                <a:tab pos="2641680" algn="l"/>
                <a:tab pos="3111480" algn="l"/>
                <a:tab pos="3594240" algn="l"/>
              </a:tabLst>
            </a:pP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StudentDetails.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7520" indent="-317520">
              <a:lnSpc>
                <a:spcPct val="90000"/>
              </a:lnSpc>
              <a:spcBef>
                <a:spcPts val="479"/>
              </a:spcBef>
              <a:buClr>
                <a:srgbClr val="FC0128"/>
              </a:buClr>
              <a:buSzPct val="75000"/>
              <a:buFont typeface="Wingdings"/>
              <a:buChar char="_x0000_"/>
              <a:tabLst>
                <a:tab pos="355680" algn="l"/>
                <a:tab pos="2641680" algn="l"/>
                <a:tab pos="3111480" algn="l"/>
                <a:tab pos="3594240" algn="l"/>
              </a:tabLst>
            </a:pP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Student Id.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02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StudentId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9(7).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7520" indent="-317520">
              <a:lnSpc>
                <a:spcPct val="90000"/>
              </a:lnSpc>
              <a:spcBef>
                <a:spcPts val="479"/>
              </a:spcBef>
              <a:buClr>
                <a:srgbClr val="FC0128"/>
              </a:buClr>
              <a:buSzPct val="75000"/>
              <a:buFont typeface="Wingdings"/>
              <a:buChar char="_x0000_"/>
              <a:tabLst>
                <a:tab pos="355680" algn="l"/>
                <a:tab pos="2641680" algn="l"/>
                <a:tab pos="3111480" algn="l"/>
                <a:tab pos="3594240" algn="l"/>
              </a:tabLst>
            </a:pP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Student Name.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02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StudentName.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7520" indent="-317520">
              <a:lnSpc>
                <a:spcPct val="90000"/>
              </a:lnSpc>
              <a:spcBef>
                <a:spcPts val="479"/>
              </a:spcBef>
              <a:tabLst>
                <a:tab pos="355680" algn="l"/>
                <a:tab pos="2641680" algn="l"/>
                <a:tab pos="3111480" algn="l"/>
                <a:tab pos="3594240" algn="l"/>
              </a:tabLst>
            </a:pP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Surname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03 Surname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X(8).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7520" indent="-317520">
              <a:lnSpc>
                <a:spcPct val="90000"/>
              </a:lnSpc>
              <a:spcBef>
                <a:spcPts val="479"/>
              </a:spcBef>
              <a:tabLst>
                <a:tab pos="355680" algn="l"/>
                <a:tab pos="2641680" algn="l"/>
                <a:tab pos="3111480" algn="l"/>
                <a:tab pos="3594240" algn="l"/>
              </a:tabLst>
            </a:pP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Initials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03 Initials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XX.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7520" indent="-317520">
              <a:lnSpc>
                <a:spcPct val="90000"/>
              </a:lnSpc>
              <a:spcBef>
                <a:spcPts val="479"/>
              </a:spcBef>
              <a:buClr>
                <a:srgbClr val="FC0128"/>
              </a:buClr>
              <a:buSzPct val="75000"/>
              <a:buFont typeface="Wingdings"/>
              <a:buChar char="_x0000_"/>
              <a:tabLst>
                <a:tab pos="355680" algn="l"/>
                <a:tab pos="2641680" algn="l"/>
                <a:tab pos="3111480" algn="l"/>
                <a:tab pos="3594240" algn="l"/>
              </a:tabLst>
            </a:pP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Date of Birth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02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DateOfBirth.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7520" indent="-317520">
              <a:lnSpc>
                <a:spcPct val="90000"/>
              </a:lnSpc>
              <a:spcBef>
                <a:spcPts val="479"/>
              </a:spcBef>
              <a:tabLst>
                <a:tab pos="355680" algn="l"/>
                <a:tab pos="2641680" algn="l"/>
                <a:tab pos="3111480" algn="l"/>
                <a:tab pos="3594240" algn="l"/>
              </a:tabLst>
            </a:pP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Year of Birth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03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YOBirth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7520" indent="-317520">
              <a:lnSpc>
                <a:spcPct val="90000"/>
              </a:lnSpc>
              <a:spcBef>
                <a:spcPts val="479"/>
              </a:spcBef>
              <a:tabLst>
                <a:tab pos="355680" algn="l"/>
                <a:tab pos="2641680" algn="l"/>
                <a:tab pos="3111480" algn="l"/>
                <a:tab pos="3594240" algn="l"/>
              </a:tabLst>
            </a:pP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Month of Birth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03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MOBirth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7520" indent="-317520">
              <a:lnSpc>
                <a:spcPct val="90000"/>
              </a:lnSpc>
              <a:spcBef>
                <a:spcPts val="479"/>
              </a:spcBef>
              <a:tabLst>
                <a:tab pos="355680" algn="l"/>
                <a:tab pos="2641680" algn="l"/>
                <a:tab pos="3111480" algn="l"/>
                <a:tab pos="3594240" algn="l"/>
              </a:tabLst>
            </a:pP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Day of Birth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676767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03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DOBirth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99.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7520" indent="-317520">
              <a:lnSpc>
                <a:spcPct val="90000"/>
              </a:lnSpc>
              <a:spcBef>
                <a:spcPts val="479"/>
              </a:spcBef>
              <a:buClr>
                <a:srgbClr val="FC0128"/>
              </a:buClr>
              <a:buSzPct val="75000"/>
              <a:buFont typeface="Wingdings"/>
              <a:buChar char="_x0000_"/>
              <a:tabLst>
                <a:tab pos="355680" algn="l"/>
                <a:tab pos="2641680" algn="l"/>
                <a:tab pos="3111480" algn="l"/>
                <a:tab pos="3594240" algn="l"/>
              </a:tabLst>
            </a:pP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Course Code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02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CourseCode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X(4).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7520" indent="-317520">
              <a:lnSpc>
                <a:spcPct val="90000"/>
              </a:lnSpc>
              <a:spcBef>
                <a:spcPts val="479"/>
              </a:spcBef>
              <a:buClr>
                <a:srgbClr val="FC0128"/>
              </a:buClr>
              <a:buSzPct val="75000"/>
              <a:buFont typeface="Wingdings"/>
              <a:buChar char="_x0000_"/>
              <a:tabLst>
                <a:tab pos="355680" algn="l"/>
                <a:tab pos="2641680" algn="l"/>
                <a:tab pos="3111480" algn="l"/>
                <a:tab pos="3594240" algn="l"/>
              </a:tabLst>
            </a:pP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Value of grant 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02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Grant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9(4).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17520" indent="-317520">
              <a:lnSpc>
                <a:spcPct val="90000"/>
              </a:lnSpc>
              <a:spcBef>
                <a:spcPts val="479"/>
              </a:spcBef>
              <a:buClr>
                <a:srgbClr val="FC0128"/>
              </a:buClr>
              <a:buSzPct val="75000"/>
              <a:buFont typeface="Wingdings"/>
              <a:buChar char="_x0000_"/>
              <a:tabLst>
                <a:tab pos="355680" algn="l"/>
                <a:tab pos="2641680" algn="l"/>
                <a:tab pos="3111480" algn="l"/>
                <a:tab pos="3594240" algn="l"/>
              </a:tabLst>
            </a:pP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Gender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02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Gender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X.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3132000" y="973080"/>
            <a:ext cx="2513160" cy="493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103000"/>
              </a:lnSpc>
              <a:spcAft>
                <a:spcPts val="1247"/>
              </a:spcAft>
            </a:pPr>
            <a:r>
              <a:rPr lang="en-US" sz="24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Student Details.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 txBox="1"/>
          <p:nvPr/>
        </p:nvSpPr>
        <p:spPr>
          <a:xfrm>
            <a:off x="1203480" y="122400"/>
            <a:ext cx="67626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Describing the record buffer in COBOL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390600" y="4341960"/>
            <a:ext cx="8093160" cy="1809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record type/template/buffer of 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every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file used in a program 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must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be described in the FILE SECTION by means of an FD (file description) entry.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FD entry consists of the letters FD and an internal file name.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995480" y="716040"/>
            <a:ext cx="5068800" cy="32734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StudentFile.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StudentDetails.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StudentId       PIC 9(7).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StudentName.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Surname      PIC X(8).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Initials     PIC XX.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DateOfBirth.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YOBirth      PIC 9(2).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MOBirth      PIC 9(2).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DOBirth      PIC 9(2).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CourseCode      PIC X(4).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Grant           PIC 9(4).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Gender          PIC X.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431640" y="3809880"/>
            <a:ext cx="1359000" cy="471600"/>
          </a:xfrm>
          <a:prstGeom prst="ellipse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442800" y="2714760"/>
            <a:ext cx="1322280" cy="1371600"/>
          </a:xfrm>
          <a:prstGeom prst="rect">
            <a:avLst/>
          </a:prstGeom>
          <a:solidFill>
            <a:srgbClr val="DADADA"/>
          </a:solidFill>
          <a:ln w="0">
            <a:noFill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103000"/>
              </a:lnSpc>
              <a:spcAft>
                <a:spcPts val="1247"/>
              </a:spcAft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STUDENTS.DAT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932120" y="122400"/>
            <a:ext cx="53420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Select and Assign Clause.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92240" y="5392800"/>
            <a:ext cx="8481960" cy="918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internal file name used in the FD entry is connected to an external file (on disk or tape) by means of the Select and Assign clause.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2273400" y="615960"/>
            <a:ext cx="4737240" cy="45115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ENVIRONMENT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INPUT-OUTPUT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FILE-CONTROL.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SELECT StudentFile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ASSIGN TO “STUDENTS.DAT”.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StudentFile.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StudentDetails.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StudentId       PIC 9(7).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StudentName.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Surname      PIC X(8).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Initials     PIC XX.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DateOfBirth.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YOBirth      PIC 9(2).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MOBirth      PIC 9(2).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DOBirth      PIC 9(2).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CourseCode      PIC X(4).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Grant           PIC 9(4).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Gender          PIC X.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457200" y="2471760"/>
            <a:ext cx="1314360" cy="471600"/>
          </a:xfrm>
          <a:prstGeom prst="rect">
            <a:avLst/>
          </a:prstGeom>
          <a:solidFill>
            <a:srgbClr val="DADADA"/>
          </a:solidFill>
          <a:ln w="1260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marL="190440" indent="-190440" algn="ctr">
              <a:lnSpc>
                <a:spcPct val="103000"/>
              </a:lnSpc>
              <a:spcAft>
                <a:spcPts val="1247"/>
              </a:spcAf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DISK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414440" y="1400040"/>
            <a:ext cx="1414800" cy="1843560"/>
          </a:xfrm>
          <a:custGeom>
            <a:avLst/>
            <a:gdLst/>
            <a:ahLst/>
            <a:rect l="0" t="0" r="r" b="b"/>
            <a:pathLst>
              <a:path fill="none" w="3930" h="5121">
                <a:moveTo>
                  <a:pt x="3930" y="0"/>
                </a:moveTo>
                <a:lnTo>
                  <a:pt x="3930" y="0"/>
                </a:lnTo>
                <a:cubicBezTo>
                  <a:pt x="3240" y="0"/>
                  <a:pt x="2562" y="237"/>
                  <a:pt x="1965" y="686"/>
                </a:cubicBezTo>
                <a:cubicBezTo>
                  <a:pt x="1368" y="1136"/>
                  <a:pt x="871" y="1782"/>
                  <a:pt x="527" y="2561"/>
                </a:cubicBezTo>
                <a:cubicBezTo>
                  <a:pt x="182" y="3339"/>
                  <a:pt x="0" y="4222"/>
                  <a:pt x="0" y="5121"/>
                </a:cubicBezTo>
              </a:path>
            </a:pathLst>
          </a:custGeom>
          <a:ln w="12600">
            <a:solidFill>
              <a:srgbClr val="FC0128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4572000" y="1743120"/>
            <a:ext cx="1414800" cy="729000"/>
          </a:xfrm>
          <a:custGeom>
            <a:avLst/>
            <a:gdLst/>
            <a:ahLst/>
            <a:rect l="0" t="0" r="r" b="b"/>
            <a:pathLst>
              <a:path fill="none" w="3930" h="2025">
                <a:moveTo>
                  <a:pt x="0" y="2025"/>
                </a:moveTo>
                <a:lnTo>
                  <a:pt x="0" y="2025"/>
                </a:lnTo>
                <a:cubicBezTo>
                  <a:pt x="690" y="2025"/>
                  <a:pt x="1368" y="1931"/>
                  <a:pt x="1965" y="1754"/>
                </a:cubicBezTo>
                <a:cubicBezTo>
                  <a:pt x="2562" y="1576"/>
                  <a:pt x="3059" y="1320"/>
                  <a:pt x="3403" y="1012"/>
                </a:cubicBezTo>
                <a:cubicBezTo>
                  <a:pt x="3748" y="705"/>
                  <a:pt x="3930" y="355"/>
                  <a:pt x="3930" y="0"/>
                </a:cubicBezTo>
              </a:path>
            </a:pathLst>
          </a:custGeom>
          <a:ln w="12600">
            <a:solidFill>
              <a:srgbClr val="FC0128"/>
            </a:solidFill>
            <a:round/>
            <a:head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 txBox="1"/>
          <p:nvPr/>
        </p:nvSpPr>
        <p:spPr>
          <a:xfrm>
            <a:off x="2232000" y="165240"/>
            <a:ext cx="46116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Select and Assign Syntax.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331920" y="2914560"/>
            <a:ext cx="8062920" cy="226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LINE SEQUENTIAL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means each record is followed by the carriage return and line feed characters.</a:t>
            </a:r>
            <a:br>
              <a:rPr sz="2400"/>
            </a:b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RECORD SEQUENTIAL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means that the file consists of a stream of bytes.  Only the fact that we know the size of each record allows us to retrieve them.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"/>
          <p:cNvPicPr/>
          <p:nvPr/>
        </p:nvPicPr>
        <p:blipFill>
          <a:blip r:embed="rId1"/>
          <a:stretch/>
        </p:blipFill>
        <p:spPr>
          <a:xfrm>
            <a:off x="1366920" y="1123920"/>
            <a:ext cx="5389560" cy="98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 txBox="1"/>
          <p:nvPr/>
        </p:nvSpPr>
        <p:spPr>
          <a:xfrm>
            <a:off x="2075040" y="179280"/>
            <a:ext cx="47480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COBOL file handling Verbs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228600" y="844560"/>
            <a:ext cx="8331120" cy="540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80000"/>
              </a:lnSpc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OPEN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Before your program can access the data in an input file or place data in an output file you must make the file available to the program by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Times New Roman"/>
                <a:ea typeface="Times New Roman"/>
              </a:rPr>
              <a:t>OPEN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ing it.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0000"/>
              </a:lnSpc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Times New Roman"/>
                <a:ea typeface="Times New Roman"/>
              </a:rPr>
              <a:t>READ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copies a record occurrence/instance from the file and places it in the record buffer.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0000"/>
              </a:lnSpc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WRITE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The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Times New Roman"/>
                <a:ea typeface="Times New Roman"/>
              </a:rPr>
              <a:t>WRITE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copies the record it finds in the record buffer to the file.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0000"/>
              </a:lnSpc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CLOSE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8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You must ensure that (before terminating) your program closes all the files it has opened. Failure to do so may result in data </a:t>
            </a:r>
            <a:r>
              <a:rPr lang="en-US" sz="2400" b="1" u="none" strike="noStrike">
                <a:solidFill>
                  <a:srgbClr val="FAFD00"/>
                </a:solidFill>
                <a:effectLst/>
                <a:uFillTx/>
                <a:latin typeface="Times New Roman"/>
                <a:ea typeface="Times New Roman"/>
              </a:rPr>
              <a:t>not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Times New Roman"/>
              </a:rPr>
              <a:t> being written to the file or users being prevented from accessing the file.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 txBox="1"/>
          <p:nvPr/>
        </p:nvSpPr>
        <p:spPr>
          <a:xfrm>
            <a:off x="2100240" y="165240"/>
            <a:ext cx="53229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OPEN and CLOSE verb syntax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636480" y="2752560"/>
            <a:ext cx="7345440" cy="303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 you open a file you have to indicate to the system what how you want to use it (e.g. INPUT, OUTPUT, EXTEND) so that the system can manage the file correctly.</a:t>
            </a:r>
            <a:br>
              <a:rPr sz="2400"/>
            </a:b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Opening a file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does not transfer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any data to the record buffer, it simply provides access.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"/>
          <p:cNvPicPr/>
          <p:nvPr/>
        </p:nvPicPr>
        <p:blipFill>
          <a:blip r:embed="rId1"/>
          <a:stretch/>
        </p:blipFill>
        <p:spPr>
          <a:xfrm>
            <a:off x="2265480" y="1174680"/>
            <a:ext cx="3941640" cy="1084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 txBox="1"/>
          <p:nvPr/>
        </p:nvSpPr>
        <p:spPr>
          <a:xfrm>
            <a:off x="2817720" y="250920"/>
            <a:ext cx="28717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READ verb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54160" y="1055520"/>
            <a:ext cx="8381880" cy="414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Once the system has opened a file and made it available to the program it is the programmers responsibility to process it correctly.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Remember, the file record buffer is our only connection with the file and it is only able to store a single record at a time.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 process all the records in the file we have to transfer them, one record at a time, from the file to the buffer.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COBOL provides the READ verb for this purpose.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 txBox="1"/>
          <p:nvPr/>
        </p:nvSpPr>
        <p:spPr>
          <a:xfrm>
            <a:off x="2860560" y="93600"/>
            <a:ext cx="32670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READ verb syntax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55680" y="2576520"/>
            <a:ext cx="7975440" cy="354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InternalFilename specified must be a file that has been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OPEN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ed for INPUT.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NEXT RECORD clause is optional and generally not used.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Using INTO Identifier clause causes the data to be read into the record buffer and then copied from there to the specified Identifier in one operation.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lvl="1" indent="-380880">
              <a:lnSpc>
                <a:spcPct val="90000"/>
              </a:lnSpc>
              <a:spcBef>
                <a:spcPts val="720"/>
              </a:spcBef>
              <a:buClr>
                <a:srgbClr val="00FF00"/>
              </a:buClr>
              <a:buSzPct val="65000"/>
              <a:buFont typeface="Monotype Sorts"/>
              <a:buChar char="_x0000_"/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 this option is used there will be two copies of the data.  It is the equivalent of a READ followed by a MOVE.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1" name=""/>
          <p:cNvPicPr/>
          <p:nvPr/>
        </p:nvPicPr>
        <p:blipFill>
          <a:blip r:embed="rId1"/>
          <a:stretch/>
        </p:blipFill>
        <p:spPr>
          <a:xfrm>
            <a:off x="2459160" y="776160"/>
            <a:ext cx="4075200" cy="1407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1128600" y="1376280"/>
            <a:ext cx="7392960" cy="7747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163520" y="4738680"/>
            <a:ext cx="6191280" cy="14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PERFORM UNTIL StudentRecord = HIGH-VALUES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    READ StudentRecords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     AT END MOVE HIGH-VALUES TO StudentRecord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    END-READ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END-PERFORM.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310824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37176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63528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389880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415908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442260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468612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495000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521172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547524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57387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600228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62643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652788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79140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19844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146196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72260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98612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224964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25131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277488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71229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738648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76485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791208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817560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1281240" y="1430280"/>
            <a:ext cx="12636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StudentID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3860640" y="1430280"/>
            <a:ext cx="1657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StudentName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7238880" y="1393920"/>
            <a:ext cx="10350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Course.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3079800" y="1389240"/>
            <a:ext cx="0" cy="77292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7095960" y="1376280"/>
            <a:ext cx="0" cy="77472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133640" y="988920"/>
            <a:ext cx="18223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StudentRecord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303840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330192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35654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38289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409104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43545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461808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488160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514332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540720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567072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59342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19452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645804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672156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11984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14619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172260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98612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224964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251316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277488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98508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724680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51032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77738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80373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303840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330192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356544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382896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409104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436716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461808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488160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514332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540720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567072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593424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619452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645804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672156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19844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46196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172260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198612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224964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251316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277488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698508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724680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751032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778680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803736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303840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331488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35654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38289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409104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43545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461808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‘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488160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514332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540720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567072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59342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619452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645804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672156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11984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4619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72260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98612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224964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251316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277488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698508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724680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751032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77738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80373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303840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330192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35654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38289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409104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43545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461808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488160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514332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540720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567072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59342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619452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645804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672156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11984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4619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72260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98612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224964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251316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277488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698508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724680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751032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77738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80373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5" name=""/>
          <p:cNvGrpSpPr/>
          <p:nvPr/>
        </p:nvGrpSpPr>
        <p:grpSpPr>
          <a:xfrm>
            <a:off x="431640" y="1871640"/>
            <a:ext cx="776880" cy="1224360"/>
            <a:chOff x="431640" y="1871640"/>
            <a:chExt cx="776880" cy="1224360"/>
          </a:xfrm>
        </p:grpSpPr>
        <p:sp>
          <p:nvSpPr>
            <p:cNvPr id="246" name=""/>
            <p:cNvSpPr/>
            <p:nvPr/>
          </p:nvSpPr>
          <p:spPr>
            <a:xfrm>
              <a:off x="498600" y="1871640"/>
              <a:ext cx="709920" cy="608400"/>
            </a:xfrm>
            <a:custGeom>
              <a:avLst/>
              <a:gdLst/>
              <a:ahLst/>
              <a:rect l="0" t="0" r="r" b="b"/>
              <a:pathLst>
                <a:path w="1972" h="1690">
                  <a:moveTo>
                    <a:pt x="1478" y="0"/>
                  </a:moveTo>
                  <a:lnTo>
                    <a:pt x="1972" y="282"/>
                  </a:lnTo>
                  <a:lnTo>
                    <a:pt x="1478" y="565"/>
                  </a:lnTo>
                  <a:lnTo>
                    <a:pt x="1478" y="418"/>
                  </a:lnTo>
                  <a:lnTo>
                    <a:pt x="489" y="418"/>
                  </a:lnTo>
                  <a:lnTo>
                    <a:pt x="418" y="441"/>
                  </a:lnTo>
                  <a:lnTo>
                    <a:pt x="366" y="481"/>
                  </a:lnTo>
                  <a:lnTo>
                    <a:pt x="339" y="534"/>
                  </a:lnTo>
                  <a:lnTo>
                    <a:pt x="330" y="618"/>
                  </a:lnTo>
                  <a:lnTo>
                    <a:pt x="330" y="702"/>
                  </a:lnTo>
                  <a:lnTo>
                    <a:pt x="330" y="1690"/>
                  </a:lnTo>
                  <a:lnTo>
                    <a:pt x="0" y="1690"/>
                  </a:lnTo>
                  <a:lnTo>
                    <a:pt x="0" y="702"/>
                  </a:lnTo>
                  <a:lnTo>
                    <a:pt x="0" y="569"/>
                  </a:lnTo>
                  <a:lnTo>
                    <a:pt x="13" y="508"/>
                  </a:lnTo>
                  <a:lnTo>
                    <a:pt x="26" y="441"/>
                  </a:lnTo>
                  <a:lnTo>
                    <a:pt x="44" y="392"/>
                  </a:lnTo>
                  <a:lnTo>
                    <a:pt x="74" y="343"/>
                  </a:lnTo>
                  <a:lnTo>
                    <a:pt x="105" y="304"/>
                  </a:lnTo>
                  <a:lnTo>
                    <a:pt x="154" y="255"/>
                  </a:lnTo>
                  <a:lnTo>
                    <a:pt x="211" y="216"/>
                  </a:lnTo>
                  <a:lnTo>
                    <a:pt x="268" y="189"/>
                  </a:lnTo>
                  <a:lnTo>
                    <a:pt x="335" y="158"/>
                  </a:lnTo>
                  <a:lnTo>
                    <a:pt x="414" y="145"/>
                  </a:lnTo>
                  <a:lnTo>
                    <a:pt x="489" y="141"/>
                  </a:lnTo>
                  <a:lnTo>
                    <a:pt x="1478" y="141"/>
                  </a:lnTo>
                  <a:lnTo>
                    <a:pt x="1478" y="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431640" y="2486160"/>
              <a:ext cx="708480" cy="609840"/>
            </a:xfrm>
            <a:custGeom>
              <a:avLst/>
              <a:gdLst/>
              <a:ahLst/>
              <a:rect l="0" t="0" r="r" b="b"/>
              <a:pathLst>
                <a:path w="1968" h="1694">
                  <a:moveTo>
                    <a:pt x="0" y="423"/>
                  </a:moveTo>
                  <a:lnTo>
                    <a:pt x="326" y="0"/>
                  </a:lnTo>
                  <a:lnTo>
                    <a:pt x="658" y="423"/>
                  </a:lnTo>
                  <a:lnTo>
                    <a:pt x="494" y="423"/>
                  </a:lnTo>
                  <a:lnTo>
                    <a:pt x="494" y="1271"/>
                  </a:lnTo>
                  <a:lnTo>
                    <a:pt x="516" y="1332"/>
                  </a:lnTo>
                  <a:lnTo>
                    <a:pt x="561" y="1376"/>
                  </a:lnTo>
                  <a:lnTo>
                    <a:pt x="622" y="1403"/>
                  </a:lnTo>
                  <a:lnTo>
                    <a:pt x="715" y="1412"/>
                  </a:lnTo>
                  <a:lnTo>
                    <a:pt x="821" y="1412"/>
                  </a:lnTo>
                  <a:lnTo>
                    <a:pt x="1968" y="1412"/>
                  </a:lnTo>
                  <a:lnTo>
                    <a:pt x="1968" y="1694"/>
                  </a:lnTo>
                  <a:lnTo>
                    <a:pt x="821" y="1694"/>
                  </a:lnTo>
                  <a:lnTo>
                    <a:pt x="662" y="1694"/>
                  </a:lnTo>
                  <a:lnTo>
                    <a:pt x="591" y="1681"/>
                  </a:lnTo>
                  <a:lnTo>
                    <a:pt x="516" y="1672"/>
                  </a:lnTo>
                  <a:lnTo>
                    <a:pt x="463" y="1654"/>
                  </a:lnTo>
                  <a:lnTo>
                    <a:pt x="401" y="1628"/>
                  </a:lnTo>
                  <a:lnTo>
                    <a:pt x="357" y="1601"/>
                  </a:lnTo>
                  <a:lnTo>
                    <a:pt x="299" y="1562"/>
                  </a:lnTo>
                  <a:lnTo>
                    <a:pt x="251" y="1513"/>
                  </a:lnTo>
                  <a:lnTo>
                    <a:pt x="220" y="1460"/>
                  </a:lnTo>
                  <a:lnTo>
                    <a:pt x="185" y="1407"/>
                  </a:lnTo>
                  <a:lnTo>
                    <a:pt x="167" y="1337"/>
                  </a:lnTo>
                  <a:lnTo>
                    <a:pt x="163" y="1271"/>
                  </a:lnTo>
                  <a:lnTo>
                    <a:pt x="163" y="423"/>
                  </a:lnTo>
                  <a:lnTo>
                    <a:pt x="0" y="423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8" name=""/>
          <p:cNvSpPr txBox="1"/>
          <p:nvPr/>
        </p:nvSpPr>
        <p:spPr>
          <a:xfrm>
            <a:off x="1100160" y="4033800"/>
            <a:ext cx="6541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EOF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2400480" y="133200"/>
            <a:ext cx="3800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How the READ works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533520" y="4876920"/>
            <a:ext cx="533520" cy="1206360"/>
          </a:xfrm>
          <a:prstGeom prst="ellipse">
            <a:avLst/>
          </a:prstGeom>
          <a:noFill/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981000" y="5038560"/>
            <a:ext cx="76320" cy="20988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571680" y="5772240"/>
            <a:ext cx="56880" cy="162000"/>
          </a:xfrm>
          <a:prstGeom prst="line">
            <a:avLst/>
          </a:prstGeom>
          <a:ln w="12600">
            <a:solidFill>
              <a:srgbClr val="FFFFFF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"/>
          <p:cNvSpPr/>
          <p:nvPr/>
        </p:nvSpPr>
        <p:spPr>
          <a:xfrm>
            <a:off x="1128600" y="1376280"/>
            <a:ext cx="7392960" cy="7747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310824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337176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363528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389880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415908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442260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4686120" y="1781280"/>
            <a:ext cx="268200" cy="33732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495000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521172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547524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57387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600228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6264360" y="1781280"/>
            <a:ext cx="268200" cy="33732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652788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679140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119844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146196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172260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198612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224964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25131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277488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71229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738648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76485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791208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817560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1281240" y="1430280"/>
            <a:ext cx="12636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StudentID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3860640" y="1430280"/>
            <a:ext cx="1657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StudentName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7238880" y="1393920"/>
            <a:ext cx="10350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Course.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3079800" y="1389240"/>
            <a:ext cx="0" cy="77292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7095960" y="1376280"/>
            <a:ext cx="0" cy="77472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1133640" y="988920"/>
            <a:ext cx="18223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StudentRecord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303840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330192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35654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38289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409104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43545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461808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488160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514332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540720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567072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59342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619452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645804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672156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11984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14619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172260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198612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224964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251316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277488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698508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724680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751032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77738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80373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303840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330192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356544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382896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409104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436716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461808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488160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514332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540720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567072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593424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619452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645804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672156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119844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146196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172260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198612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224964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251316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277488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698508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724680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751032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778680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803736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303840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331488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35654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38289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409104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43545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461808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‘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488160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514332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540720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567072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59342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619452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645804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672156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11984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14619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172260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198612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224964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251316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277488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698508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724680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751032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77738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80373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303840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330192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35654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38289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409104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43545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461808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488160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514332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540720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567072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59342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619452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645804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672156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11984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14619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172260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198612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224964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251316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277488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698508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724680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751032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77738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80373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95" name=""/>
          <p:cNvGrpSpPr/>
          <p:nvPr/>
        </p:nvGrpSpPr>
        <p:grpSpPr>
          <a:xfrm>
            <a:off x="431640" y="1816200"/>
            <a:ext cx="776880" cy="1562400"/>
            <a:chOff x="431640" y="1816200"/>
            <a:chExt cx="776880" cy="1562400"/>
          </a:xfrm>
        </p:grpSpPr>
        <p:sp>
          <p:nvSpPr>
            <p:cNvPr id="396" name=""/>
            <p:cNvSpPr/>
            <p:nvPr/>
          </p:nvSpPr>
          <p:spPr>
            <a:xfrm>
              <a:off x="498600" y="1816200"/>
              <a:ext cx="709920" cy="775080"/>
            </a:xfrm>
            <a:custGeom>
              <a:avLst/>
              <a:gdLst/>
              <a:ahLst/>
              <a:rect l="0" t="0" r="r" b="b"/>
              <a:pathLst>
                <a:path w="1972" h="2153">
                  <a:moveTo>
                    <a:pt x="1478" y="0"/>
                  </a:moveTo>
                  <a:lnTo>
                    <a:pt x="1972" y="357"/>
                  </a:lnTo>
                  <a:lnTo>
                    <a:pt x="1478" y="719"/>
                  </a:lnTo>
                  <a:lnTo>
                    <a:pt x="1478" y="537"/>
                  </a:lnTo>
                  <a:lnTo>
                    <a:pt x="489" y="537"/>
                  </a:lnTo>
                  <a:lnTo>
                    <a:pt x="418" y="561"/>
                  </a:lnTo>
                  <a:lnTo>
                    <a:pt x="366" y="613"/>
                  </a:lnTo>
                  <a:lnTo>
                    <a:pt x="339" y="684"/>
                  </a:lnTo>
                  <a:lnTo>
                    <a:pt x="330" y="785"/>
                  </a:lnTo>
                  <a:lnTo>
                    <a:pt x="330" y="896"/>
                  </a:lnTo>
                  <a:lnTo>
                    <a:pt x="330" y="2153"/>
                  </a:lnTo>
                  <a:lnTo>
                    <a:pt x="0" y="2153"/>
                  </a:lnTo>
                  <a:lnTo>
                    <a:pt x="0" y="896"/>
                  </a:lnTo>
                  <a:lnTo>
                    <a:pt x="0" y="724"/>
                  </a:lnTo>
                  <a:lnTo>
                    <a:pt x="13" y="644"/>
                  </a:lnTo>
                  <a:lnTo>
                    <a:pt x="26" y="561"/>
                  </a:lnTo>
                  <a:lnTo>
                    <a:pt x="44" y="502"/>
                  </a:lnTo>
                  <a:lnTo>
                    <a:pt x="74" y="440"/>
                  </a:lnTo>
                  <a:lnTo>
                    <a:pt x="105" y="388"/>
                  </a:lnTo>
                  <a:lnTo>
                    <a:pt x="154" y="326"/>
                  </a:lnTo>
                  <a:lnTo>
                    <a:pt x="211" y="273"/>
                  </a:lnTo>
                  <a:lnTo>
                    <a:pt x="268" y="238"/>
                  </a:lnTo>
                  <a:lnTo>
                    <a:pt x="335" y="202"/>
                  </a:lnTo>
                  <a:lnTo>
                    <a:pt x="414" y="185"/>
                  </a:lnTo>
                  <a:lnTo>
                    <a:pt x="489" y="180"/>
                  </a:lnTo>
                  <a:lnTo>
                    <a:pt x="1478" y="180"/>
                  </a:lnTo>
                  <a:lnTo>
                    <a:pt x="1478" y="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7" name=""/>
            <p:cNvSpPr/>
            <p:nvPr/>
          </p:nvSpPr>
          <p:spPr>
            <a:xfrm>
              <a:off x="431640" y="2600280"/>
              <a:ext cx="708480" cy="778320"/>
            </a:xfrm>
            <a:custGeom>
              <a:avLst/>
              <a:gdLst/>
              <a:ahLst/>
              <a:rect l="0" t="0" r="r" b="b"/>
              <a:pathLst>
                <a:path w="1968" h="2162">
                  <a:moveTo>
                    <a:pt x="0" y="543"/>
                  </a:moveTo>
                  <a:lnTo>
                    <a:pt x="326" y="0"/>
                  </a:lnTo>
                  <a:lnTo>
                    <a:pt x="658" y="543"/>
                  </a:lnTo>
                  <a:lnTo>
                    <a:pt x="494" y="543"/>
                  </a:lnTo>
                  <a:lnTo>
                    <a:pt x="494" y="1624"/>
                  </a:lnTo>
                  <a:lnTo>
                    <a:pt x="516" y="1704"/>
                  </a:lnTo>
                  <a:lnTo>
                    <a:pt x="561" y="1761"/>
                  </a:lnTo>
                  <a:lnTo>
                    <a:pt x="622" y="1792"/>
                  </a:lnTo>
                  <a:lnTo>
                    <a:pt x="715" y="1805"/>
                  </a:lnTo>
                  <a:lnTo>
                    <a:pt x="821" y="1805"/>
                  </a:lnTo>
                  <a:lnTo>
                    <a:pt x="1968" y="1805"/>
                  </a:lnTo>
                  <a:lnTo>
                    <a:pt x="1968" y="2162"/>
                  </a:lnTo>
                  <a:lnTo>
                    <a:pt x="821" y="2162"/>
                  </a:lnTo>
                  <a:lnTo>
                    <a:pt x="662" y="2162"/>
                  </a:lnTo>
                  <a:lnTo>
                    <a:pt x="591" y="2149"/>
                  </a:lnTo>
                  <a:lnTo>
                    <a:pt x="516" y="2131"/>
                  </a:lnTo>
                  <a:lnTo>
                    <a:pt x="463" y="2114"/>
                  </a:lnTo>
                  <a:lnTo>
                    <a:pt x="401" y="2078"/>
                  </a:lnTo>
                  <a:lnTo>
                    <a:pt x="357" y="2048"/>
                  </a:lnTo>
                  <a:lnTo>
                    <a:pt x="299" y="1990"/>
                  </a:lnTo>
                  <a:lnTo>
                    <a:pt x="251" y="1929"/>
                  </a:lnTo>
                  <a:lnTo>
                    <a:pt x="220" y="1867"/>
                  </a:lnTo>
                  <a:lnTo>
                    <a:pt x="185" y="1796"/>
                  </a:lnTo>
                  <a:lnTo>
                    <a:pt x="167" y="1708"/>
                  </a:lnTo>
                  <a:lnTo>
                    <a:pt x="163" y="1624"/>
                  </a:lnTo>
                  <a:lnTo>
                    <a:pt x="163" y="543"/>
                  </a:lnTo>
                  <a:lnTo>
                    <a:pt x="0" y="543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8" name=""/>
          <p:cNvSpPr txBox="1"/>
          <p:nvPr/>
        </p:nvSpPr>
        <p:spPr>
          <a:xfrm>
            <a:off x="1100160" y="4033800"/>
            <a:ext cx="6541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EOF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1163520" y="4738680"/>
            <a:ext cx="6191280" cy="14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PERFORM UNTIL StudentRecord = HIGH-VALUES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    READ StudentRecords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     AT END MOVE HIGH-VALUES TO StudentRecord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    END-READ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END-PERFORM.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2400480" y="133200"/>
            <a:ext cx="3800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How the READ works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533520" y="4876920"/>
            <a:ext cx="533520" cy="1206360"/>
          </a:xfrm>
          <a:prstGeom prst="ellipse">
            <a:avLst/>
          </a:prstGeom>
          <a:noFill/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 flipH="1">
            <a:off x="971640" y="5762520"/>
            <a:ext cx="66600" cy="18108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 flipH="1">
            <a:off x="561960" y="4981680"/>
            <a:ext cx="85680" cy="199800"/>
          </a:xfrm>
          <a:prstGeom prst="line">
            <a:avLst/>
          </a:prstGeom>
          <a:ln w="12600">
            <a:solidFill>
              <a:srgbClr val="FFFFFF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"/>
          <p:cNvSpPr/>
          <p:nvPr/>
        </p:nvSpPr>
        <p:spPr>
          <a:xfrm>
            <a:off x="1128600" y="1376280"/>
            <a:ext cx="7392960" cy="7747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310824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337176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363528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389880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4159080" y="1781280"/>
            <a:ext cx="270000" cy="33732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442260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468612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‘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495000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521172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547524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 txBox="1"/>
          <p:nvPr/>
        </p:nvSpPr>
        <p:spPr>
          <a:xfrm>
            <a:off x="57387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600228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6264360" y="1781280"/>
            <a:ext cx="268200" cy="33732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652788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679140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119844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146196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172260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198612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224964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25131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277488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71229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738648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76485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791208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817560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1281240" y="1430280"/>
            <a:ext cx="12636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StudentID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3860640" y="1430280"/>
            <a:ext cx="1657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StudentName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7238880" y="1393920"/>
            <a:ext cx="10350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Course.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3079800" y="1389240"/>
            <a:ext cx="0" cy="77292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7095960" y="1376280"/>
            <a:ext cx="0" cy="77472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1133640" y="988920"/>
            <a:ext cx="18223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StudentRecord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303840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330192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35654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38289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409104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43545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461808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488160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514332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540720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567072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59342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619452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645804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672156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11984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14619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172260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198612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224964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251316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277488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698508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724680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 txBox="1"/>
          <p:nvPr/>
        </p:nvSpPr>
        <p:spPr>
          <a:xfrm>
            <a:off x="751032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77738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80373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303840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330192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356544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382896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409104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436716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461808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488160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514332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540720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567072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593424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619452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645804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672156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119844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146196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172260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198612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224964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251316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277488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698508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724680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751032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778680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803736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303840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331488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35654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38289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409104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43545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461808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‘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488160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514332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540720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567072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59342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619452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645804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672156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11984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14619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172260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198612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224964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251316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277488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698508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724680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751032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77738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80373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303840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330192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35654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38289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409104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43545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461808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488160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514332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540720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567072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59342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619452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645804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672156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11984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14619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172260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198612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224964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251316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277488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698508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724680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751032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77738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80373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46" name=""/>
          <p:cNvGrpSpPr/>
          <p:nvPr/>
        </p:nvGrpSpPr>
        <p:grpSpPr>
          <a:xfrm>
            <a:off x="431640" y="1778040"/>
            <a:ext cx="776880" cy="1918080"/>
            <a:chOff x="431640" y="1778040"/>
            <a:chExt cx="776880" cy="1918080"/>
          </a:xfrm>
        </p:grpSpPr>
        <p:sp>
          <p:nvSpPr>
            <p:cNvPr id="547" name=""/>
            <p:cNvSpPr/>
            <p:nvPr/>
          </p:nvSpPr>
          <p:spPr>
            <a:xfrm>
              <a:off x="498600" y="1778040"/>
              <a:ext cx="709920" cy="952920"/>
            </a:xfrm>
            <a:custGeom>
              <a:avLst/>
              <a:gdLst/>
              <a:ahLst/>
              <a:rect l="0" t="0" r="r" b="b"/>
              <a:pathLst>
                <a:path w="1972" h="2647">
                  <a:moveTo>
                    <a:pt x="1478" y="0"/>
                  </a:moveTo>
                  <a:lnTo>
                    <a:pt x="1972" y="440"/>
                  </a:lnTo>
                  <a:lnTo>
                    <a:pt x="1478" y="882"/>
                  </a:lnTo>
                  <a:lnTo>
                    <a:pt x="1478" y="661"/>
                  </a:lnTo>
                  <a:lnTo>
                    <a:pt x="489" y="661"/>
                  </a:lnTo>
                  <a:lnTo>
                    <a:pt x="418" y="693"/>
                  </a:lnTo>
                  <a:lnTo>
                    <a:pt x="366" y="755"/>
                  </a:lnTo>
                  <a:lnTo>
                    <a:pt x="339" y="838"/>
                  </a:lnTo>
                  <a:lnTo>
                    <a:pt x="330" y="966"/>
                  </a:lnTo>
                  <a:lnTo>
                    <a:pt x="330" y="1103"/>
                  </a:lnTo>
                  <a:lnTo>
                    <a:pt x="330" y="2647"/>
                  </a:lnTo>
                  <a:lnTo>
                    <a:pt x="0" y="2647"/>
                  </a:lnTo>
                  <a:lnTo>
                    <a:pt x="0" y="1103"/>
                  </a:lnTo>
                  <a:lnTo>
                    <a:pt x="0" y="891"/>
                  </a:lnTo>
                  <a:lnTo>
                    <a:pt x="13" y="794"/>
                  </a:lnTo>
                  <a:lnTo>
                    <a:pt x="26" y="693"/>
                  </a:lnTo>
                  <a:lnTo>
                    <a:pt x="44" y="617"/>
                  </a:lnTo>
                  <a:lnTo>
                    <a:pt x="74" y="542"/>
                  </a:lnTo>
                  <a:lnTo>
                    <a:pt x="105" y="476"/>
                  </a:lnTo>
                  <a:lnTo>
                    <a:pt x="154" y="401"/>
                  </a:lnTo>
                  <a:lnTo>
                    <a:pt x="211" y="339"/>
                  </a:lnTo>
                  <a:lnTo>
                    <a:pt x="268" y="295"/>
                  </a:lnTo>
                  <a:lnTo>
                    <a:pt x="335" y="251"/>
                  </a:lnTo>
                  <a:lnTo>
                    <a:pt x="414" y="224"/>
                  </a:lnTo>
                  <a:lnTo>
                    <a:pt x="489" y="220"/>
                  </a:lnTo>
                  <a:lnTo>
                    <a:pt x="1478" y="220"/>
                  </a:lnTo>
                  <a:lnTo>
                    <a:pt x="1478" y="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8" name=""/>
            <p:cNvSpPr/>
            <p:nvPr/>
          </p:nvSpPr>
          <p:spPr>
            <a:xfrm>
              <a:off x="431640" y="2741760"/>
              <a:ext cx="708480" cy="954360"/>
            </a:xfrm>
            <a:custGeom>
              <a:avLst/>
              <a:gdLst/>
              <a:ahLst/>
              <a:rect l="0" t="0" r="r" b="b"/>
              <a:pathLst>
                <a:path w="1968" h="2651">
                  <a:moveTo>
                    <a:pt x="0" y="661"/>
                  </a:moveTo>
                  <a:lnTo>
                    <a:pt x="326" y="0"/>
                  </a:lnTo>
                  <a:lnTo>
                    <a:pt x="658" y="661"/>
                  </a:lnTo>
                  <a:lnTo>
                    <a:pt x="494" y="661"/>
                  </a:lnTo>
                  <a:lnTo>
                    <a:pt x="494" y="1989"/>
                  </a:lnTo>
                  <a:lnTo>
                    <a:pt x="516" y="2086"/>
                  </a:lnTo>
                  <a:lnTo>
                    <a:pt x="561" y="2157"/>
                  </a:lnTo>
                  <a:lnTo>
                    <a:pt x="622" y="2197"/>
                  </a:lnTo>
                  <a:lnTo>
                    <a:pt x="715" y="2210"/>
                  </a:lnTo>
                  <a:lnTo>
                    <a:pt x="821" y="2210"/>
                  </a:lnTo>
                  <a:lnTo>
                    <a:pt x="1968" y="2210"/>
                  </a:lnTo>
                  <a:lnTo>
                    <a:pt x="1968" y="2651"/>
                  </a:lnTo>
                  <a:lnTo>
                    <a:pt x="821" y="2651"/>
                  </a:lnTo>
                  <a:lnTo>
                    <a:pt x="662" y="2646"/>
                  </a:lnTo>
                  <a:lnTo>
                    <a:pt x="591" y="2633"/>
                  </a:lnTo>
                  <a:lnTo>
                    <a:pt x="516" y="2615"/>
                  </a:lnTo>
                  <a:lnTo>
                    <a:pt x="463" y="2589"/>
                  </a:lnTo>
                  <a:lnTo>
                    <a:pt x="401" y="2549"/>
                  </a:lnTo>
                  <a:lnTo>
                    <a:pt x="357" y="2510"/>
                  </a:lnTo>
                  <a:lnTo>
                    <a:pt x="299" y="2439"/>
                  </a:lnTo>
                  <a:lnTo>
                    <a:pt x="251" y="2364"/>
                  </a:lnTo>
                  <a:lnTo>
                    <a:pt x="220" y="2289"/>
                  </a:lnTo>
                  <a:lnTo>
                    <a:pt x="185" y="2201"/>
                  </a:lnTo>
                  <a:lnTo>
                    <a:pt x="167" y="2091"/>
                  </a:lnTo>
                  <a:lnTo>
                    <a:pt x="163" y="1989"/>
                  </a:lnTo>
                  <a:lnTo>
                    <a:pt x="163" y="661"/>
                  </a:lnTo>
                  <a:lnTo>
                    <a:pt x="0" y="661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9" name=""/>
          <p:cNvSpPr txBox="1"/>
          <p:nvPr/>
        </p:nvSpPr>
        <p:spPr>
          <a:xfrm>
            <a:off x="1100160" y="4033800"/>
            <a:ext cx="6541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EOF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1163520" y="4738680"/>
            <a:ext cx="6191280" cy="14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PERFORM UNTIL StudentRecord = HIGH-VALUES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    READ StudentRecords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     AT END MOVE HIGH-VALUES TO StudentRecord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    END-READ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END-PERFORM.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2400480" y="133200"/>
            <a:ext cx="3800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How the READ works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533520" y="4876920"/>
            <a:ext cx="533520" cy="1206360"/>
          </a:xfrm>
          <a:prstGeom prst="ellipse">
            <a:avLst/>
          </a:prstGeom>
          <a:noFill/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981000" y="5038560"/>
            <a:ext cx="76320" cy="20988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571680" y="5772240"/>
            <a:ext cx="56880" cy="162000"/>
          </a:xfrm>
          <a:prstGeom prst="line">
            <a:avLst/>
          </a:prstGeom>
          <a:ln w="12600">
            <a:solidFill>
              <a:srgbClr val="FFFFFF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"/>
          <p:cNvSpPr/>
          <p:nvPr/>
        </p:nvSpPr>
        <p:spPr>
          <a:xfrm>
            <a:off x="1128600" y="1376280"/>
            <a:ext cx="7392960" cy="7747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310824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337176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363528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389880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415908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442260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468612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495000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521172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547524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57387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600228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6264360" y="1781280"/>
            <a:ext cx="268200" cy="33732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652788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>
            <a:off x="679140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119844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146196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172260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198612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224964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25131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277488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71229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738648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76485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791208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817560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1281240" y="1430280"/>
            <a:ext cx="12636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StudentID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3860640" y="1430280"/>
            <a:ext cx="1657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StudentName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7238880" y="1393920"/>
            <a:ext cx="10350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Course.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3079800" y="1389240"/>
            <a:ext cx="0" cy="77292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7095960" y="1376280"/>
            <a:ext cx="0" cy="77472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1133640" y="988920"/>
            <a:ext cx="18223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StudentRecord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303840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330192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35654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38289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409104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>
            <a:off x="43545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461808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488160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514332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540720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567072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59342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619452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>
            <a:off x="645804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672156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11984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14619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172260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198612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224964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251316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277488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698508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724680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751032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77738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80373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303840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330192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356544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382896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409104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436716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"/>
          <p:cNvSpPr/>
          <p:nvPr/>
        </p:nvSpPr>
        <p:spPr>
          <a:xfrm>
            <a:off x="461808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488160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514332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540720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567072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593424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>
            <a:off x="619452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"/>
          <p:cNvSpPr/>
          <p:nvPr/>
        </p:nvSpPr>
        <p:spPr>
          <a:xfrm>
            <a:off x="645804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"/>
          <p:cNvSpPr/>
          <p:nvPr/>
        </p:nvSpPr>
        <p:spPr>
          <a:xfrm>
            <a:off x="672156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119844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146196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172260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198612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224964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251316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277488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698508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724680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751032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778680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803736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303840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331488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35654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38289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"/>
          <p:cNvSpPr/>
          <p:nvPr/>
        </p:nvSpPr>
        <p:spPr>
          <a:xfrm>
            <a:off x="409104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43545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461808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‘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488160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514332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540720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567072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59342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>
            <a:off x="619452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"/>
          <p:cNvSpPr/>
          <p:nvPr/>
        </p:nvSpPr>
        <p:spPr>
          <a:xfrm>
            <a:off x="645804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"/>
          <p:cNvSpPr/>
          <p:nvPr/>
        </p:nvSpPr>
        <p:spPr>
          <a:xfrm>
            <a:off x="672156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11984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14619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172260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198612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224964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251316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277488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698508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724680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751032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77738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80373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303840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330192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35654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38289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409104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>
            <a:off x="43545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461808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488160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514332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540720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567072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59342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"/>
          <p:cNvSpPr/>
          <p:nvPr/>
        </p:nvSpPr>
        <p:spPr>
          <a:xfrm>
            <a:off x="619452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"/>
          <p:cNvSpPr/>
          <p:nvPr/>
        </p:nvSpPr>
        <p:spPr>
          <a:xfrm>
            <a:off x="645804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"/>
          <p:cNvSpPr/>
          <p:nvPr/>
        </p:nvSpPr>
        <p:spPr>
          <a:xfrm>
            <a:off x="672156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11984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14619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172260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198612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224964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251316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277488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698508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724680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751032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77738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80373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1100160" y="4033800"/>
            <a:ext cx="6541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EOF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98" name=""/>
          <p:cNvGrpSpPr/>
          <p:nvPr/>
        </p:nvGrpSpPr>
        <p:grpSpPr>
          <a:xfrm>
            <a:off x="431640" y="1752480"/>
            <a:ext cx="776880" cy="2223000"/>
            <a:chOff x="431640" y="1752480"/>
            <a:chExt cx="776880" cy="2223000"/>
          </a:xfrm>
        </p:grpSpPr>
        <p:sp>
          <p:nvSpPr>
            <p:cNvPr id="699" name=""/>
            <p:cNvSpPr/>
            <p:nvPr/>
          </p:nvSpPr>
          <p:spPr>
            <a:xfrm>
              <a:off x="498600" y="1752480"/>
              <a:ext cx="709920" cy="1103760"/>
            </a:xfrm>
            <a:custGeom>
              <a:avLst/>
              <a:gdLst/>
              <a:ahLst/>
              <a:rect l="0" t="0" r="r" b="b"/>
              <a:pathLst>
                <a:path w="1972" h="3066">
                  <a:moveTo>
                    <a:pt x="1478" y="0"/>
                  </a:moveTo>
                  <a:lnTo>
                    <a:pt x="1972" y="507"/>
                  </a:lnTo>
                  <a:lnTo>
                    <a:pt x="1478" y="1024"/>
                  </a:lnTo>
                  <a:lnTo>
                    <a:pt x="1478" y="762"/>
                  </a:lnTo>
                  <a:lnTo>
                    <a:pt x="489" y="762"/>
                  </a:lnTo>
                  <a:lnTo>
                    <a:pt x="418" y="799"/>
                  </a:lnTo>
                  <a:lnTo>
                    <a:pt x="366" y="874"/>
                  </a:lnTo>
                  <a:lnTo>
                    <a:pt x="339" y="971"/>
                  </a:lnTo>
                  <a:lnTo>
                    <a:pt x="330" y="1116"/>
                  </a:lnTo>
                  <a:lnTo>
                    <a:pt x="330" y="1275"/>
                  </a:lnTo>
                  <a:lnTo>
                    <a:pt x="330" y="3066"/>
                  </a:lnTo>
                  <a:lnTo>
                    <a:pt x="0" y="3066"/>
                  </a:lnTo>
                  <a:lnTo>
                    <a:pt x="0" y="1275"/>
                  </a:lnTo>
                  <a:lnTo>
                    <a:pt x="0" y="1032"/>
                  </a:lnTo>
                  <a:lnTo>
                    <a:pt x="13" y="922"/>
                  </a:lnTo>
                  <a:lnTo>
                    <a:pt x="26" y="799"/>
                  </a:lnTo>
                  <a:lnTo>
                    <a:pt x="44" y="714"/>
                  </a:lnTo>
                  <a:lnTo>
                    <a:pt x="74" y="626"/>
                  </a:lnTo>
                  <a:lnTo>
                    <a:pt x="105" y="551"/>
                  </a:lnTo>
                  <a:lnTo>
                    <a:pt x="154" y="467"/>
                  </a:lnTo>
                  <a:lnTo>
                    <a:pt x="211" y="392"/>
                  </a:lnTo>
                  <a:lnTo>
                    <a:pt x="268" y="339"/>
                  </a:lnTo>
                  <a:lnTo>
                    <a:pt x="335" y="291"/>
                  </a:lnTo>
                  <a:lnTo>
                    <a:pt x="414" y="260"/>
                  </a:lnTo>
                  <a:lnTo>
                    <a:pt x="489" y="255"/>
                  </a:lnTo>
                  <a:lnTo>
                    <a:pt x="1478" y="255"/>
                  </a:lnTo>
                  <a:lnTo>
                    <a:pt x="1478" y="0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0" name=""/>
            <p:cNvSpPr/>
            <p:nvPr/>
          </p:nvSpPr>
          <p:spPr>
            <a:xfrm>
              <a:off x="431640" y="2868480"/>
              <a:ext cx="708480" cy="1107000"/>
            </a:xfrm>
            <a:custGeom>
              <a:avLst/>
              <a:gdLst/>
              <a:ahLst/>
              <a:rect l="0" t="0" r="r" b="b"/>
              <a:pathLst>
                <a:path w="1968" h="3075">
                  <a:moveTo>
                    <a:pt x="0" y="767"/>
                  </a:moveTo>
                  <a:lnTo>
                    <a:pt x="326" y="0"/>
                  </a:lnTo>
                  <a:lnTo>
                    <a:pt x="658" y="767"/>
                  </a:lnTo>
                  <a:lnTo>
                    <a:pt x="494" y="767"/>
                  </a:lnTo>
                  <a:lnTo>
                    <a:pt x="494" y="2308"/>
                  </a:lnTo>
                  <a:lnTo>
                    <a:pt x="516" y="2418"/>
                  </a:lnTo>
                  <a:lnTo>
                    <a:pt x="561" y="2502"/>
                  </a:lnTo>
                  <a:lnTo>
                    <a:pt x="622" y="2550"/>
                  </a:lnTo>
                  <a:lnTo>
                    <a:pt x="715" y="2564"/>
                  </a:lnTo>
                  <a:lnTo>
                    <a:pt x="821" y="2564"/>
                  </a:lnTo>
                  <a:lnTo>
                    <a:pt x="1968" y="2564"/>
                  </a:lnTo>
                  <a:lnTo>
                    <a:pt x="1968" y="3075"/>
                  </a:lnTo>
                  <a:lnTo>
                    <a:pt x="821" y="3075"/>
                  </a:lnTo>
                  <a:lnTo>
                    <a:pt x="662" y="3071"/>
                  </a:lnTo>
                  <a:lnTo>
                    <a:pt x="591" y="3053"/>
                  </a:lnTo>
                  <a:lnTo>
                    <a:pt x="516" y="3031"/>
                  </a:lnTo>
                  <a:lnTo>
                    <a:pt x="463" y="3005"/>
                  </a:lnTo>
                  <a:lnTo>
                    <a:pt x="401" y="2956"/>
                  </a:lnTo>
                  <a:lnTo>
                    <a:pt x="357" y="2912"/>
                  </a:lnTo>
                  <a:lnTo>
                    <a:pt x="299" y="2833"/>
                  </a:lnTo>
                  <a:lnTo>
                    <a:pt x="251" y="2744"/>
                  </a:lnTo>
                  <a:lnTo>
                    <a:pt x="220" y="2656"/>
                  </a:lnTo>
                  <a:lnTo>
                    <a:pt x="185" y="2555"/>
                  </a:lnTo>
                  <a:lnTo>
                    <a:pt x="167" y="2427"/>
                  </a:lnTo>
                  <a:lnTo>
                    <a:pt x="163" y="2308"/>
                  </a:lnTo>
                  <a:lnTo>
                    <a:pt x="163" y="767"/>
                  </a:lnTo>
                  <a:lnTo>
                    <a:pt x="0" y="767"/>
                  </a:lnTo>
                  <a:close/>
                </a:path>
              </a:pathLst>
            </a:custGeom>
            <a:solidFill>
              <a:srgbClr val="FFFFFF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01" name=""/>
          <p:cNvSpPr txBox="1"/>
          <p:nvPr/>
        </p:nvSpPr>
        <p:spPr>
          <a:xfrm>
            <a:off x="1163520" y="4738680"/>
            <a:ext cx="6191280" cy="14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PERFORM UNTIL StudentRecord = HIGH-VALUES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    READ StudentRecords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     AT END MOVE HIGH-VALUES TO StudentRecord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    END-READ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END-PERFORM.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2400480" y="133200"/>
            <a:ext cx="3800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How the READ works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"/>
          <p:cNvSpPr/>
          <p:nvPr/>
        </p:nvSpPr>
        <p:spPr>
          <a:xfrm>
            <a:off x="533520" y="4876920"/>
            <a:ext cx="533520" cy="1206360"/>
          </a:xfrm>
          <a:prstGeom prst="ellipse">
            <a:avLst/>
          </a:prstGeom>
          <a:noFill/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"/>
          <p:cNvSpPr/>
          <p:nvPr/>
        </p:nvSpPr>
        <p:spPr>
          <a:xfrm flipH="1">
            <a:off x="971640" y="5762520"/>
            <a:ext cx="66600" cy="18108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"/>
          <p:cNvSpPr/>
          <p:nvPr/>
        </p:nvSpPr>
        <p:spPr>
          <a:xfrm flipH="1">
            <a:off x="561960" y="4981680"/>
            <a:ext cx="85680" cy="199800"/>
          </a:xfrm>
          <a:prstGeom prst="line">
            <a:avLst/>
          </a:prstGeom>
          <a:ln w="12600">
            <a:solidFill>
              <a:srgbClr val="FFFFFF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"/>
          <p:cNvSpPr/>
          <p:nvPr/>
        </p:nvSpPr>
        <p:spPr>
          <a:xfrm>
            <a:off x="1128600" y="1376280"/>
            <a:ext cx="7392960" cy="7747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310824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337176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363528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389880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415908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442260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468612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495000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521172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547524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57387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600228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62643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652788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679140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119844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1461960" y="17812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172260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198612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224964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25131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2774880" y="17812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"/>
          <p:cNvSpPr txBox="1"/>
          <p:nvPr/>
        </p:nvSpPr>
        <p:spPr>
          <a:xfrm>
            <a:off x="71229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738648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764856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791208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8175600" y="17812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0" u="none" strike="noStrike">
                <a:solidFill>
                  <a:srgbClr val="FC0128"/>
                </a:solidFill>
                <a:effectLst/>
                <a:uFillTx/>
                <a:latin typeface="Wingdings"/>
                <a:ea typeface="Wingdings"/>
              </a:rPr>
              <a:t>☺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1281240" y="1430280"/>
            <a:ext cx="12636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StudentID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3860640" y="1430280"/>
            <a:ext cx="1657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StudentName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7238880" y="1393920"/>
            <a:ext cx="10350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Course.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"/>
          <p:cNvSpPr/>
          <p:nvPr/>
        </p:nvSpPr>
        <p:spPr>
          <a:xfrm>
            <a:off x="3079800" y="1389240"/>
            <a:ext cx="0" cy="77292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"/>
          <p:cNvSpPr/>
          <p:nvPr/>
        </p:nvSpPr>
        <p:spPr>
          <a:xfrm>
            <a:off x="7095960" y="1376280"/>
            <a:ext cx="0" cy="77472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1133640" y="988920"/>
            <a:ext cx="18223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StudentRecord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303840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330192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35654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38289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409104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"/>
          <p:cNvSpPr/>
          <p:nvPr/>
        </p:nvSpPr>
        <p:spPr>
          <a:xfrm>
            <a:off x="43545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461808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488160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514332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540720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567072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59342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619452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"/>
          <p:cNvSpPr/>
          <p:nvPr/>
        </p:nvSpPr>
        <p:spPr>
          <a:xfrm>
            <a:off x="645804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"/>
          <p:cNvSpPr/>
          <p:nvPr/>
        </p:nvSpPr>
        <p:spPr>
          <a:xfrm>
            <a:off x="672156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11984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14619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"/>
          <p:cNvSpPr txBox="1"/>
          <p:nvPr/>
        </p:nvSpPr>
        <p:spPr>
          <a:xfrm>
            <a:off x="172260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198612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"/>
          <p:cNvSpPr txBox="1"/>
          <p:nvPr/>
        </p:nvSpPr>
        <p:spPr>
          <a:xfrm>
            <a:off x="224964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"/>
          <p:cNvSpPr txBox="1"/>
          <p:nvPr/>
        </p:nvSpPr>
        <p:spPr>
          <a:xfrm>
            <a:off x="251316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"/>
          <p:cNvSpPr txBox="1"/>
          <p:nvPr/>
        </p:nvSpPr>
        <p:spPr>
          <a:xfrm>
            <a:off x="277488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6985080" y="29368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7246800" y="29368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751032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777384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8037360" y="29368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303840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330192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356544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382896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409104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436716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"/>
          <p:cNvSpPr/>
          <p:nvPr/>
        </p:nvSpPr>
        <p:spPr>
          <a:xfrm>
            <a:off x="461808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488160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514332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540720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567072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593424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"/>
          <p:cNvSpPr/>
          <p:nvPr/>
        </p:nvSpPr>
        <p:spPr>
          <a:xfrm>
            <a:off x="619452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"/>
          <p:cNvSpPr/>
          <p:nvPr/>
        </p:nvSpPr>
        <p:spPr>
          <a:xfrm>
            <a:off x="645804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"/>
          <p:cNvSpPr/>
          <p:nvPr/>
        </p:nvSpPr>
        <p:spPr>
          <a:xfrm>
            <a:off x="672156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119844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146196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"/>
          <p:cNvSpPr txBox="1"/>
          <p:nvPr/>
        </p:nvSpPr>
        <p:spPr>
          <a:xfrm>
            <a:off x="172260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198612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224964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"/>
          <p:cNvSpPr txBox="1"/>
          <p:nvPr/>
        </p:nvSpPr>
        <p:spPr>
          <a:xfrm>
            <a:off x="251316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277488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6985080" y="32115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724680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751032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7786800" y="32115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8037360" y="32115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303840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331488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35654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38289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"/>
          <p:cNvSpPr/>
          <p:nvPr/>
        </p:nvSpPr>
        <p:spPr>
          <a:xfrm>
            <a:off x="409104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43545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461808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‘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488160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514332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540720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567072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59342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"/>
          <p:cNvSpPr/>
          <p:nvPr/>
        </p:nvSpPr>
        <p:spPr>
          <a:xfrm>
            <a:off x="619452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"/>
          <p:cNvSpPr/>
          <p:nvPr/>
        </p:nvSpPr>
        <p:spPr>
          <a:xfrm>
            <a:off x="645804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"/>
          <p:cNvSpPr/>
          <p:nvPr/>
        </p:nvSpPr>
        <p:spPr>
          <a:xfrm>
            <a:off x="672156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11984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14619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172260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198612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224964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251316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277488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6985080" y="348444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7246800" y="348444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751032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777384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8037360" y="348444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303840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330192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35654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38289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409104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"/>
          <p:cNvSpPr/>
          <p:nvPr/>
        </p:nvSpPr>
        <p:spPr>
          <a:xfrm>
            <a:off x="43545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461808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488160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514332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w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540720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567072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59342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"/>
          <p:cNvSpPr/>
          <p:nvPr/>
        </p:nvSpPr>
        <p:spPr>
          <a:xfrm>
            <a:off x="619452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"/>
          <p:cNvSpPr/>
          <p:nvPr/>
        </p:nvSpPr>
        <p:spPr>
          <a:xfrm>
            <a:off x="645804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"/>
          <p:cNvSpPr/>
          <p:nvPr/>
        </p:nvSpPr>
        <p:spPr>
          <a:xfrm>
            <a:off x="672156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11984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14619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172260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198612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224964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251316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277488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6985080" y="375912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7246800" y="375912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751032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777384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8037360" y="375912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676767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1100160" y="4033800"/>
            <a:ext cx="6541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EOF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"/>
          <p:cNvSpPr/>
          <p:nvPr/>
        </p:nvSpPr>
        <p:spPr>
          <a:xfrm>
            <a:off x="498600" y="1752480"/>
            <a:ext cx="709920" cy="787680"/>
          </a:xfrm>
          <a:custGeom>
            <a:avLst/>
            <a:gdLst/>
            <a:ahLst/>
            <a:rect l="0" t="0" r="r" b="b"/>
            <a:pathLst>
              <a:path w="1972" h="2188">
                <a:moveTo>
                  <a:pt x="1478" y="0"/>
                </a:moveTo>
                <a:lnTo>
                  <a:pt x="1972" y="361"/>
                </a:lnTo>
                <a:lnTo>
                  <a:pt x="1478" y="727"/>
                </a:lnTo>
                <a:lnTo>
                  <a:pt x="1478" y="546"/>
                </a:lnTo>
                <a:lnTo>
                  <a:pt x="489" y="546"/>
                </a:lnTo>
                <a:lnTo>
                  <a:pt x="418" y="568"/>
                </a:lnTo>
                <a:lnTo>
                  <a:pt x="366" y="621"/>
                </a:lnTo>
                <a:lnTo>
                  <a:pt x="339" y="692"/>
                </a:lnTo>
                <a:lnTo>
                  <a:pt x="330" y="798"/>
                </a:lnTo>
                <a:lnTo>
                  <a:pt x="330" y="912"/>
                </a:lnTo>
                <a:lnTo>
                  <a:pt x="330" y="2188"/>
                </a:lnTo>
                <a:lnTo>
                  <a:pt x="0" y="2188"/>
                </a:lnTo>
                <a:lnTo>
                  <a:pt x="0" y="912"/>
                </a:lnTo>
                <a:lnTo>
                  <a:pt x="0" y="736"/>
                </a:lnTo>
                <a:lnTo>
                  <a:pt x="13" y="657"/>
                </a:lnTo>
                <a:lnTo>
                  <a:pt x="26" y="568"/>
                </a:lnTo>
                <a:lnTo>
                  <a:pt x="44" y="511"/>
                </a:lnTo>
                <a:lnTo>
                  <a:pt x="74" y="445"/>
                </a:lnTo>
                <a:lnTo>
                  <a:pt x="105" y="392"/>
                </a:lnTo>
                <a:lnTo>
                  <a:pt x="154" y="335"/>
                </a:lnTo>
                <a:lnTo>
                  <a:pt x="211" y="282"/>
                </a:lnTo>
                <a:lnTo>
                  <a:pt x="268" y="242"/>
                </a:lnTo>
                <a:lnTo>
                  <a:pt x="335" y="207"/>
                </a:lnTo>
                <a:lnTo>
                  <a:pt x="414" y="185"/>
                </a:lnTo>
                <a:lnTo>
                  <a:pt x="489" y="180"/>
                </a:lnTo>
                <a:lnTo>
                  <a:pt x="1478" y="180"/>
                </a:lnTo>
                <a:lnTo>
                  <a:pt x="1478" y="0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"/>
          <p:cNvSpPr/>
          <p:nvPr/>
        </p:nvSpPr>
        <p:spPr>
          <a:xfrm>
            <a:off x="431640" y="2857680"/>
            <a:ext cx="708480" cy="1435320"/>
          </a:xfrm>
          <a:custGeom>
            <a:avLst/>
            <a:gdLst/>
            <a:ahLst/>
            <a:rect l="0" t="0" r="r" b="b"/>
            <a:pathLst>
              <a:path w="1968" h="3987">
                <a:moveTo>
                  <a:pt x="0" y="1036"/>
                </a:moveTo>
                <a:lnTo>
                  <a:pt x="326" y="0"/>
                </a:lnTo>
                <a:lnTo>
                  <a:pt x="658" y="1036"/>
                </a:lnTo>
                <a:lnTo>
                  <a:pt x="494" y="1036"/>
                </a:lnTo>
                <a:lnTo>
                  <a:pt x="494" y="3105"/>
                </a:lnTo>
                <a:lnTo>
                  <a:pt x="516" y="3255"/>
                </a:lnTo>
                <a:lnTo>
                  <a:pt x="561" y="3365"/>
                </a:lnTo>
                <a:lnTo>
                  <a:pt x="622" y="3427"/>
                </a:lnTo>
                <a:lnTo>
                  <a:pt x="715" y="3449"/>
                </a:lnTo>
                <a:lnTo>
                  <a:pt x="821" y="3449"/>
                </a:lnTo>
                <a:lnTo>
                  <a:pt x="1968" y="3449"/>
                </a:lnTo>
                <a:lnTo>
                  <a:pt x="1968" y="3982"/>
                </a:lnTo>
                <a:lnTo>
                  <a:pt x="918" y="3987"/>
                </a:lnTo>
                <a:lnTo>
                  <a:pt x="671" y="3987"/>
                </a:lnTo>
                <a:lnTo>
                  <a:pt x="644" y="3978"/>
                </a:lnTo>
                <a:lnTo>
                  <a:pt x="613" y="3974"/>
                </a:lnTo>
                <a:lnTo>
                  <a:pt x="538" y="3969"/>
                </a:lnTo>
                <a:lnTo>
                  <a:pt x="485" y="3943"/>
                </a:lnTo>
                <a:lnTo>
                  <a:pt x="392" y="3890"/>
                </a:lnTo>
                <a:lnTo>
                  <a:pt x="299" y="3811"/>
                </a:lnTo>
                <a:lnTo>
                  <a:pt x="251" y="3691"/>
                </a:lnTo>
                <a:lnTo>
                  <a:pt x="220" y="3572"/>
                </a:lnTo>
                <a:lnTo>
                  <a:pt x="185" y="3436"/>
                </a:lnTo>
                <a:lnTo>
                  <a:pt x="167" y="3264"/>
                </a:lnTo>
                <a:lnTo>
                  <a:pt x="163" y="3105"/>
                </a:lnTo>
                <a:lnTo>
                  <a:pt x="163" y="1036"/>
                </a:lnTo>
                <a:lnTo>
                  <a:pt x="0" y="1036"/>
                </a:lnTo>
                <a:close/>
              </a:path>
            </a:pathLst>
          </a:cu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12600" y="2573280"/>
            <a:ext cx="175896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HIGH-VALUES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1163520" y="4738680"/>
            <a:ext cx="6191280" cy="14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PERFORM UNTIL StudentRecord = HIGH-VALUES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READ StudentRecords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     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AT END MOVE HIGH-VALUES TO StudentRecord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END-READ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END-PERFORM.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2400480" y="133200"/>
            <a:ext cx="3800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How the READ works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"/>
          <p:cNvSpPr/>
          <p:nvPr/>
        </p:nvSpPr>
        <p:spPr>
          <a:xfrm>
            <a:off x="533520" y="4876920"/>
            <a:ext cx="533520" cy="1206360"/>
          </a:xfrm>
          <a:prstGeom prst="ellipse">
            <a:avLst/>
          </a:prstGeom>
          <a:noFill/>
          <a:ln w="12600">
            <a:solidFill>
              <a:srgbClr val="FFFFFF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"/>
          <p:cNvSpPr/>
          <p:nvPr/>
        </p:nvSpPr>
        <p:spPr>
          <a:xfrm>
            <a:off x="981000" y="5038560"/>
            <a:ext cx="76320" cy="209880"/>
          </a:xfrm>
          <a:prstGeom prst="line">
            <a:avLst/>
          </a:prstGeom>
          <a:ln w="1260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"/>
          <p:cNvSpPr/>
          <p:nvPr/>
        </p:nvSpPr>
        <p:spPr>
          <a:xfrm>
            <a:off x="571680" y="5772240"/>
            <a:ext cx="56880" cy="162000"/>
          </a:xfrm>
          <a:prstGeom prst="line">
            <a:avLst/>
          </a:prstGeom>
          <a:ln w="12600">
            <a:solidFill>
              <a:srgbClr val="FFFFFF"/>
            </a:solidFill>
            <a:round/>
            <a:head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"/>
          <p:cNvSpPr txBox="1"/>
          <p:nvPr/>
        </p:nvSpPr>
        <p:spPr>
          <a:xfrm>
            <a:off x="3146400" y="165240"/>
            <a:ext cx="26938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WRITE Syntax.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482760" y="3905280"/>
            <a:ext cx="7696080" cy="107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To WRITE data to a file move the data to the record buffer (declared in the FD entry) and then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WRITE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contents of record buffer to the file.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9" name=""/>
          <p:cNvPicPr/>
          <p:nvPr/>
        </p:nvPicPr>
        <p:blipFill>
          <a:blip r:embed="rId1"/>
          <a:stretch/>
        </p:blipFill>
        <p:spPr>
          <a:xfrm>
            <a:off x="1558800" y="1058760"/>
            <a:ext cx="5961240" cy="2170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" name=""/>
          <p:cNvGrpSpPr/>
          <p:nvPr/>
        </p:nvGrpSpPr>
        <p:grpSpPr>
          <a:xfrm>
            <a:off x="938160" y="3771720"/>
            <a:ext cx="7392960" cy="1173240"/>
            <a:chOff x="938160" y="3771720"/>
            <a:chExt cx="7392960" cy="1173240"/>
          </a:xfrm>
        </p:grpSpPr>
        <p:sp>
          <p:nvSpPr>
            <p:cNvPr id="861" name=""/>
            <p:cNvSpPr/>
            <p:nvPr/>
          </p:nvSpPr>
          <p:spPr>
            <a:xfrm>
              <a:off x="938160" y="4159080"/>
              <a:ext cx="7392960" cy="77472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2" name=""/>
            <p:cNvSpPr txBox="1"/>
            <p:nvPr/>
          </p:nvSpPr>
          <p:spPr>
            <a:xfrm>
              <a:off x="2917800" y="4564080"/>
              <a:ext cx="2682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F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3" name=""/>
            <p:cNvSpPr txBox="1"/>
            <p:nvPr/>
          </p:nvSpPr>
          <p:spPr>
            <a:xfrm>
              <a:off x="3181320" y="4564080"/>
              <a:ext cx="26676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r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4" name=""/>
            <p:cNvSpPr txBox="1"/>
            <p:nvPr/>
          </p:nvSpPr>
          <p:spPr>
            <a:xfrm>
              <a:off x="3444840" y="4564080"/>
              <a:ext cx="26676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a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5" name=""/>
            <p:cNvSpPr txBox="1"/>
            <p:nvPr/>
          </p:nvSpPr>
          <p:spPr>
            <a:xfrm>
              <a:off x="3708360" y="4564080"/>
              <a:ext cx="26676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6" name=""/>
            <p:cNvSpPr txBox="1"/>
            <p:nvPr/>
          </p:nvSpPr>
          <p:spPr>
            <a:xfrm>
              <a:off x="3968640" y="4564080"/>
              <a:ext cx="2700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k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"/>
            <p:cNvSpPr/>
            <p:nvPr/>
          </p:nvSpPr>
          <p:spPr>
            <a:xfrm>
              <a:off x="4232160" y="4564080"/>
              <a:ext cx="2682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8" name=""/>
            <p:cNvSpPr txBox="1"/>
            <p:nvPr/>
          </p:nvSpPr>
          <p:spPr>
            <a:xfrm>
              <a:off x="4495680" y="4564080"/>
              <a:ext cx="2682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C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9" name=""/>
            <p:cNvSpPr txBox="1"/>
            <p:nvPr/>
          </p:nvSpPr>
          <p:spPr>
            <a:xfrm>
              <a:off x="4759200" y="4564080"/>
              <a:ext cx="2682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u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0" name=""/>
            <p:cNvSpPr txBox="1"/>
            <p:nvPr/>
          </p:nvSpPr>
          <p:spPr>
            <a:xfrm>
              <a:off x="5021280" y="4564080"/>
              <a:ext cx="2700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r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1" name=""/>
            <p:cNvSpPr txBox="1"/>
            <p:nvPr/>
          </p:nvSpPr>
          <p:spPr>
            <a:xfrm>
              <a:off x="5284800" y="4564080"/>
              <a:ext cx="2682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t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2" name=""/>
            <p:cNvSpPr txBox="1"/>
            <p:nvPr/>
          </p:nvSpPr>
          <p:spPr>
            <a:xfrm>
              <a:off x="5548320" y="4564080"/>
              <a:ext cx="2682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a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3" name=""/>
            <p:cNvSpPr txBox="1"/>
            <p:nvPr/>
          </p:nvSpPr>
          <p:spPr>
            <a:xfrm>
              <a:off x="5811840" y="4564080"/>
              <a:ext cx="2682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i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4" name=""/>
            <p:cNvSpPr txBox="1"/>
            <p:nvPr/>
          </p:nvSpPr>
          <p:spPr>
            <a:xfrm>
              <a:off x="6073920" y="4564080"/>
              <a:ext cx="2682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n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5" name=""/>
            <p:cNvSpPr/>
            <p:nvPr/>
          </p:nvSpPr>
          <p:spPr>
            <a:xfrm>
              <a:off x="6337440" y="4564080"/>
              <a:ext cx="26676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6" name=""/>
            <p:cNvSpPr/>
            <p:nvPr/>
          </p:nvSpPr>
          <p:spPr>
            <a:xfrm>
              <a:off x="6600960" y="4564080"/>
              <a:ext cx="26676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7" name=""/>
            <p:cNvSpPr txBox="1"/>
            <p:nvPr/>
          </p:nvSpPr>
          <p:spPr>
            <a:xfrm>
              <a:off x="1008000" y="4564080"/>
              <a:ext cx="26676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9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8" name=""/>
            <p:cNvSpPr txBox="1"/>
            <p:nvPr/>
          </p:nvSpPr>
          <p:spPr>
            <a:xfrm>
              <a:off x="1271520" y="4564080"/>
              <a:ext cx="26676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3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9" name=""/>
            <p:cNvSpPr txBox="1"/>
            <p:nvPr/>
          </p:nvSpPr>
          <p:spPr>
            <a:xfrm>
              <a:off x="1531800" y="4564080"/>
              <a:ext cx="2700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3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0" name=""/>
            <p:cNvSpPr txBox="1"/>
            <p:nvPr/>
          </p:nvSpPr>
          <p:spPr>
            <a:xfrm>
              <a:off x="1795320" y="4564080"/>
              <a:ext cx="2682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4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1" name=""/>
            <p:cNvSpPr txBox="1"/>
            <p:nvPr/>
          </p:nvSpPr>
          <p:spPr>
            <a:xfrm>
              <a:off x="2058840" y="4564080"/>
              <a:ext cx="2682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5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2" name=""/>
            <p:cNvSpPr txBox="1"/>
            <p:nvPr/>
          </p:nvSpPr>
          <p:spPr>
            <a:xfrm>
              <a:off x="2322360" y="4564080"/>
              <a:ext cx="2682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6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3" name=""/>
            <p:cNvSpPr txBox="1"/>
            <p:nvPr/>
          </p:nvSpPr>
          <p:spPr>
            <a:xfrm>
              <a:off x="2584440" y="4564080"/>
              <a:ext cx="2700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7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4" name=""/>
            <p:cNvSpPr txBox="1"/>
            <p:nvPr/>
          </p:nvSpPr>
          <p:spPr>
            <a:xfrm>
              <a:off x="6932520" y="4564080"/>
              <a:ext cx="2682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L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5" name=""/>
            <p:cNvSpPr txBox="1"/>
            <p:nvPr/>
          </p:nvSpPr>
          <p:spPr>
            <a:xfrm>
              <a:off x="7196040" y="4564080"/>
              <a:ext cx="2682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M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6" name=""/>
            <p:cNvSpPr txBox="1"/>
            <p:nvPr/>
          </p:nvSpPr>
          <p:spPr>
            <a:xfrm>
              <a:off x="7458120" y="4564080"/>
              <a:ext cx="2682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0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7" name=""/>
            <p:cNvSpPr txBox="1"/>
            <p:nvPr/>
          </p:nvSpPr>
          <p:spPr>
            <a:xfrm>
              <a:off x="7721640" y="4564080"/>
              <a:ext cx="2682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5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8" name=""/>
            <p:cNvSpPr txBox="1"/>
            <p:nvPr/>
          </p:nvSpPr>
          <p:spPr>
            <a:xfrm>
              <a:off x="7985160" y="4564080"/>
              <a:ext cx="268200" cy="272880"/>
            </a:xfrm>
            <a:prstGeom prst="rect">
              <a:avLst/>
            </a:prstGeom>
            <a:noFill/>
            <a:ln w="12600">
              <a:solidFill>
                <a:srgbClr val="676767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6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9" name=""/>
            <p:cNvSpPr txBox="1"/>
            <p:nvPr/>
          </p:nvSpPr>
          <p:spPr>
            <a:xfrm>
              <a:off x="1090440" y="4213080"/>
              <a:ext cx="1263600" cy="3668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StudentID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0" name=""/>
            <p:cNvSpPr txBox="1"/>
            <p:nvPr/>
          </p:nvSpPr>
          <p:spPr>
            <a:xfrm>
              <a:off x="3670200" y="4213080"/>
              <a:ext cx="1657440" cy="3668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StudentName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1" name=""/>
            <p:cNvSpPr txBox="1"/>
            <p:nvPr/>
          </p:nvSpPr>
          <p:spPr>
            <a:xfrm>
              <a:off x="7048440" y="4176720"/>
              <a:ext cx="1035000" cy="3668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Arial"/>
                  <a:ea typeface="Arial"/>
                </a:rPr>
                <a:t>Course.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2" name=""/>
            <p:cNvSpPr/>
            <p:nvPr/>
          </p:nvSpPr>
          <p:spPr>
            <a:xfrm>
              <a:off x="2889360" y="4172040"/>
              <a:ext cx="0" cy="7729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3" name=""/>
            <p:cNvSpPr/>
            <p:nvPr/>
          </p:nvSpPr>
          <p:spPr>
            <a:xfrm>
              <a:off x="6905520" y="4159080"/>
              <a:ext cx="0" cy="774720"/>
            </a:xfrm>
            <a:prstGeom prst="line">
              <a:avLst/>
            </a:prstGeom>
            <a:ln w="12600">
              <a:solidFill>
                <a:srgbClr val="67676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" name=""/>
            <p:cNvSpPr txBox="1"/>
            <p:nvPr/>
          </p:nvSpPr>
          <p:spPr>
            <a:xfrm>
              <a:off x="942840" y="3771720"/>
              <a:ext cx="1822320" cy="3668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Arial"/>
                </a:rPr>
                <a:t>StudentRecord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5" name=""/>
          <p:cNvSpPr txBox="1"/>
          <p:nvPr/>
        </p:nvSpPr>
        <p:spPr>
          <a:xfrm>
            <a:off x="280980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307332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"/>
          <p:cNvSpPr txBox="1"/>
          <p:nvPr/>
        </p:nvSpPr>
        <p:spPr>
          <a:xfrm>
            <a:off x="333684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360036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"/>
          <p:cNvSpPr txBox="1"/>
          <p:nvPr/>
        </p:nvSpPr>
        <p:spPr>
          <a:xfrm>
            <a:off x="3862440" y="54910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"/>
          <p:cNvSpPr/>
          <p:nvPr/>
        </p:nvSpPr>
        <p:spPr>
          <a:xfrm>
            <a:off x="412596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"/>
          <p:cNvSpPr txBox="1"/>
          <p:nvPr/>
        </p:nvSpPr>
        <p:spPr>
          <a:xfrm>
            <a:off x="438948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465300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4915080" y="54910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517860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544212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570564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5965920" y="54910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"/>
          <p:cNvSpPr/>
          <p:nvPr/>
        </p:nvSpPr>
        <p:spPr>
          <a:xfrm>
            <a:off x="6229440" y="54910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"/>
          <p:cNvSpPr/>
          <p:nvPr/>
        </p:nvSpPr>
        <p:spPr>
          <a:xfrm>
            <a:off x="6492960" y="54910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"/>
          <p:cNvSpPr txBox="1"/>
          <p:nvPr/>
        </p:nvSpPr>
        <p:spPr>
          <a:xfrm>
            <a:off x="96984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"/>
          <p:cNvSpPr txBox="1"/>
          <p:nvPr/>
        </p:nvSpPr>
        <p:spPr>
          <a:xfrm>
            <a:off x="123336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"/>
          <p:cNvSpPr txBox="1"/>
          <p:nvPr/>
        </p:nvSpPr>
        <p:spPr>
          <a:xfrm>
            <a:off x="1494000" y="54910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"/>
          <p:cNvSpPr txBox="1"/>
          <p:nvPr/>
        </p:nvSpPr>
        <p:spPr>
          <a:xfrm>
            <a:off x="1757520" y="54910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"/>
          <p:cNvSpPr txBox="1"/>
          <p:nvPr/>
        </p:nvSpPr>
        <p:spPr>
          <a:xfrm>
            <a:off x="2021040" y="54910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"/>
          <p:cNvSpPr txBox="1"/>
          <p:nvPr/>
        </p:nvSpPr>
        <p:spPr>
          <a:xfrm>
            <a:off x="2284560" y="54910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"/>
          <p:cNvSpPr txBox="1"/>
          <p:nvPr/>
        </p:nvSpPr>
        <p:spPr>
          <a:xfrm>
            <a:off x="2546280" y="54910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"/>
          <p:cNvSpPr txBox="1"/>
          <p:nvPr/>
        </p:nvSpPr>
        <p:spPr>
          <a:xfrm>
            <a:off x="6756480" y="54910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"/>
          <p:cNvSpPr txBox="1"/>
          <p:nvPr/>
        </p:nvSpPr>
        <p:spPr>
          <a:xfrm>
            <a:off x="7018200" y="54910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"/>
          <p:cNvSpPr txBox="1"/>
          <p:nvPr/>
        </p:nvSpPr>
        <p:spPr>
          <a:xfrm>
            <a:off x="728172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754524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"/>
          <p:cNvSpPr txBox="1"/>
          <p:nvPr/>
        </p:nvSpPr>
        <p:spPr>
          <a:xfrm>
            <a:off x="780876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2" name=""/>
          <p:cNvGrpSpPr/>
          <p:nvPr/>
        </p:nvGrpSpPr>
        <p:grpSpPr>
          <a:xfrm>
            <a:off x="216000" y="4653000"/>
            <a:ext cx="776520" cy="1051200"/>
            <a:chOff x="216000" y="4653000"/>
            <a:chExt cx="776520" cy="1051200"/>
          </a:xfrm>
        </p:grpSpPr>
        <p:sp>
          <p:nvSpPr>
            <p:cNvPr id="923" name=""/>
            <p:cNvSpPr/>
            <p:nvPr/>
          </p:nvSpPr>
          <p:spPr>
            <a:xfrm>
              <a:off x="282600" y="5181480"/>
              <a:ext cx="709920" cy="522720"/>
            </a:xfrm>
            <a:custGeom>
              <a:avLst/>
              <a:gdLst/>
              <a:ahLst/>
              <a:rect l="0" t="0" r="r" b="b"/>
              <a:pathLst>
                <a:path w="1972" h="1452">
                  <a:moveTo>
                    <a:pt x="1478" y="1452"/>
                  </a:moveTo>
                  <a:lnTo>
                    <a:pt x="1972" y="1210"/>
                  </a:lnTo>
                  <a:lnTo>
                    <a:pt x="1478" y="966"/>
                  </a:lnTo>
                  <a:lnTo>
                    <a:pt x="1478" y="1091"/>
                  </a:lnTo>
                  <a:lnTo>
                    <a:pt x="489" y="1091"/>
                  </a:lnTo>
                  <a:lnTo>
                    <a:pt x="418" y="1072"/>
                  </a:lnTo>
                  <a:lnTo>
                    <a:pt x="366" y="1037"/>
                  </a:lnTo>
                  <a:lnTo>
                    <a:pt x="339" y="993"/>
                  </a:lnTo>
                  <a:lnTo>
                    <a:pt x="330" y="922"/>
                  </a:lnTo>
                  <a:lnTo>
                    <a:pt x="330" y="847"/>
                  </a:lnTo>
                  <a:lnTo>
                    <a:pt x="330" y="0"/>
                  </a:lnTo>
                  <a:lnTo>
                    <a:pt x="0" y="0"/>
                  </a:lnTo>
                  <a:lnTo>
                    <a:pt x="0" y="847"/>
                  </a:lnTo>
                  <a:lnTo>
                    <a:pt x="0" y="962"/>
                  </a:lnTo>
                  <a:lnTo>
                    <a:pt x="13" y="1015"/>
                  </a:lnTo>
                  <a:lnTo>
                    <a:pt x="26" y="1072"/>
                  </a:lnTo>
                  <a:lnTo>
                    <a:pt x="44" y="1113"/>
                  </a:lnTo>
                  <a:lnTo>
                    <a:pt x="74" y="1157"/>
                  </a:lnTo>
                  <a:lnTo>
                    <a:pt x="105" y="1192"/>
                  </a:lnTo>
                  <a:lnTo>
                    <a:pt x="154" y="1232"/>
                  </a:lnTo>
                  <a:lnTo>
                    <a:pt x="211" y="1267"/>
                  </a:lnTo>
                  <a:lnTo>
                    <a:pt x="268" y="1289"/>
                  </a:lnTo>
                  <a:lnTo>
                    <a:pt x="335" y="1316"/>
                  </a:lnTo>
                  <a:lnTo>
                    <a:pt x="414" y="1329"/>
                  </a:lnTo>
                  <a:lnTo>
                    <a:pt x="489" y="1333"/>
                  </a:lnTo>
                  <a:lnTo>
                    <a:pt x="1478" y="1333"/>
                  </a:lnTo>
                  <a:lnTo>
                    <a:pt x="1478" y="1452"/>
                  </a:lnTo>
                  <a:close/>
                </a:path>
              </a:pathLst>
            </a:custGeom>
            <a:solidFill>
              <a:srgbClr val="FC0128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4" name=""/>
            <p:cNvSpPr/>
            <p:nvPr/>
          </p:nvSpPr>
          <p:spPr>
            <a:xfrm>
              <a:off x="216000" y="4653000"/>
              <a:ext cx="708480" cy="524160"/>
            </a:xfrm>
            <a:custGeom>
              <a:avLst/>
              <a:gdLst/>
              <a:ahLst/>
              <a:rect l="0" t="0" r="r" b="b"/>
              <a:pathLst>
                <a:path w="1968" h="1456">
                  <a:moveTo>
                    <a:pt x="0" y="1090"/>
                  </a:moveTo>
                  <a:lnTo>
                    <a:pt x="326" y="1456"/>
                  </a:lnTo>
                  <a:lnTo>
                    <a:pt x="658" y="1090"/>
                  </a:lnTo>
                  <a:lnTo>
                    <a:pt x="494" y="1090"/>
                  </a:lnTo>
                  <a:lnTo>
                    <a:pt x="494" y="361"/>
                  </a:lnTo>
                  <a:lnTo>
                    <a:pt x="516" y="308"/>
                  </a:lnTo>
                  <a:lnTo>
                    <a:pt x="561" y="273"/>
                  </a:lnTo>
                  <a:lnTo>
                    <a:pt x="622" y="246"/>
                  </a:lnTo>
                  <a:lnTo>
                    <a:pt x="715" y="242"/>
                  </a:lnTo>
                  <a:lnTo>
                    <a:pt x="821" y="242"/>
                  </a:lnTo>
                  <a:lnTo>
                    <a:pt x="1968" y="242"/>
                  </a:lnTo>
                  <a:lnTo>
                    <a:pt x="1968" y="0"/>
                  </a:lnTo>
                  <a:lnTo>
                    <a:pt x="821" y="0"/>
                  </a:lnTo>
                  <a:lnTo>
                    <a:pt x="662" y="0"/>
                  </a:lnTo>
                  <a:lnTo>
                    <a:pt x="591" y="8"/>
                  </a:lnTo>
                  <a:lnTo>
                    <a:pt x="516" y="22"/>
                  </a:lnTo>
                  <a:lnTo>
                    <a:pt x="463" y="35"/>
                  </a:lnTo>
                  <a:lnTo>
                    <a:pt x="401" y="57"/>
                  </a:lnTo>
                  <a:lnTo>
                    <a:pt x="357" y="79"/>
                  </a:lnTo>
                  <a:lnTo>
                    <a:pt x="299" y="114"/>
                  </a:lnTo>
                  <a:lnTo>
                    <a:pt x="251" y="154"/>
                  </a:lnTo>
                  <a:lnTo>
                    <a:pt x="220" y="198"/>
                  </a:lnTo>
                  <a:lnTo>
                    <a:pt x="185" y="246"/>
                  </a:lnTo>
                  <a:lnTo>
                    <a:pt x="167" y="308"/>
                  </a:lnTo>
                  <a:lnTo>
                    <a:pt x="163" y="361"/>
                  </a:lnTo>
                  <a:lnTo>
                    <a:pt x="163" y="1090"/>
                  </a:lnTo>
                  <a:lnTo>
                    <a:pt x="0" y="1090"/>
                  </a:lnTo>
                  <a:close/>
                </a:path>
              </a:pathLst>
            </a:custGeom>
            <a:solidFill>
              <a:srgbClr val="FC0128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25" name=""/>
          <p:cNvSpPr txBox="1"/>
          <p:nvPr/>
        </p:nvSpPr>
        <p:spPr>
          <a:xfrm>
            <a:off x="1011240" y="5803920"/>
            <a:ext cx="6541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EOF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"/>
          <p:cNvSpPr txBox="1"/>
          <p:nvPr/>
        </p:nvSpPr>
        <p:spPr>
          <a:xfrm>
            <a:off x="2400480" y="133200"/>
            <a:ext cx="39387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How the WRITE works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927" name=""/>
          <p:cNvGrpSpPr/>
          <p:nvPr/>
        </p:nvGrpSpPr>
        <p:grpSpPr>
          <a:xfrm>
            <a:off x="546120" y="736560"/>
            <a:ext cx="8369640" cy="2397240"/>
            <a:chOff x="546120" y="736560"/>
            <a:chExt cx="8369640" cy="2397240"/>
          </a:xfrm>
        </p:grpSpPr>
        <p:sp>
          <p:nvSpPr>
            <p:cNvPr id="928" name=""/>
            <p:cNvSpPr txBox="1"/>
            <p:nvPr/>
          </p:nvSpPr>
          <p:spPr>
            <a:xfrm>
              <a:off x="744480" y="824040"/>
              <a:ext cx="7904160" cy="2309760"/>
            </a:xfrm>
            <a:prstGeom prst="rect">
              <a:avLst/>
            </a:prstGeom>
            <a:solidFill>
              <a:srgbClr val="DADADA"/>
            </a:solidFill>
            <a:ln w="0">
              <a:noFill/>
            </a:ln>
            <a:effectLst>
              <a:outerShdw dist="0" dir="0" rotWithShape="0">
                <a:srgbClr val="919191"/>
              </a:outerShdw>
            </a:effectLst>
          </p:spPr>
          <p:txBody>
            <a:bodyPr lIns="0" tIns="0" rIns="0" bIns="0" anchor="t">
              <a:spAutoFit/>
            </a:bodyPr>
            <a:p>
              <a:pPr>
                <a:lnSpc>
                  <a:spcPct val="80000"/>
                </a:lnSpc>
              </a:pPr>
              <a:r>
                <a:rPr lang="en-US" sz="16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OPEN OUTPUT StudentFile.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1800" b="1" u="none" strike="noStrike">
                  <a:solidFill>
                    <a:srgbClr val="CF0E30"/>
                  </a:solidFill>
                  <a:effectLst/>
                  <a:uFillTx/>
                  <a:latin typeface="Courier New"/>
                  <a:ea typeface="Courier New"/>
                </a:rPr>
                <a:t>MOVE "9334567Frank Curtain  LM051" TO StudentDetails.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1800" b="1" u="none" strike="noStrike">
                  <a:solidFill>
                    <a:srgbClr val="CF0E30"/>
                  </a:solidFill>
                  <a:effectLst/>
                  <a:uFillTx/>
                  <a:latin typeface="Courier New"/>
                  <a:ea typeface="Courier New"/>
                </a:rPr>
                <a:t>WRITE StudentDetails.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spcBef>
                  <a:spcPts val="601"/>
                </a:spcBef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MOVE "9383715Thomas Healy   LM068" TO StudentDetails.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WRITE StudentDetails.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CLOSE StudentFile.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STOP RUN.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9" name=""/>
            <p:cNvSpPr/>
            <p:nvPr/>
          </p:nvSpPr>
          <p:spPr>
            <a:xfrm>
              <a:off x="546120" y="736560"/>
              <a:ext cx="8369640" cy="470160"/>
            </a:xfrm>
            <a:custGeom>
              <a:avLst/>
              <a:gdLst/>
              <a:ahLst/>
              <a:rect l="0" t="0" r="r" b="b"/>
              <a:pathLst>
                <a:path w="23249" h="1306">
                  <a:moveTo>
                    <a:pt x="0" y="35"/>
                  </a:moveTo>
                  <a:lnTo>
                    <a:pt x="48" y="141"/>
                  </a:lnTo>
                  <a:lnTo>
                    <a:pt x="149" y="246"/>
                  </a:lnTo>
                  <a:lnTo>
                    <a:pt x="251" y="352"/>
                  </a:lnTo>
                  <a:lnTo>
                    <a:pt x="352" y="493"/>
                  </a:lnTo>
                  <a:lnTo>
                    <a:pt x="502" y="564"/>
                  </a:lnTo>
                  <a:lnTo>
                    <a:pt x="652" y="671"/>
                  </a:lnTo>
                  <a:lnTo>
                    <a:pt x="754" y="777"/>
                  </a:lnTo>
                  <a:lnTo>
                    <a:pt x="855" y="671"/>
                  </a:lnTo>
                  <a:lnTo>
                    <a:pt x="956" y="564"/>
                  </a:lnTo>
                  <a:lnTo>
                    <a:pt x="1106" y="564"/>
                  </a:lnTo>
                  <a:lnTo>
                    <a:pt x="1256" y="564"/>
                  </a:lnTo>
                  <a:lnTo>
                    <a:pt x="1459" y="564"/>
                  </a:lnTo>
                  <a:lnTo>
                    <a:pt x="1609" y="635"/>
                  </a:lnTo>
                  <a:lnTo>
                    <a:pt x="1759" y="671"/>
                  </a:lnTo>
                  <a:lnTo>
                    <a:pt x="1962" y="635"/>
                  </a:lnTo>
                  <a:lnTo>
                    <a:pt x="2112" y="635"/>
                  </a:lnTo>
                  <a:lnTo>
                    <a:pt x="2266" y="599"/>
                  </a:lnTo>
                  <a:lnTo>
                    <a:pt x="2465" y="706"/>
                  </a:lnTo>
                  <a:lnTo>
                    <a:pt x="2614" y="706"/>
                  </a:lnTo>
                  <a:lnTo>
                    <a:pt x="2769" y="671"/>
                  </a:lnTo>
                  <a:lnTo>
                    <a:pt x="2919" y="635"/>
                  </a:lnTo>
                  <a:lnTo>
                    <a:pt x="3069" y="564"/>
                  </a:lnTo>
                  <a:lnTo>
                    <a:pt x="3219" y="564"/>
                  </a:lnTo>
                  <a:lnTo>
                    <a:pt x="3373" y="529"/>
                  </a:lnTo>
                  <a:lnTo>
                    <a:pt x="3624" y="493"/>
                  </a:lnTo>
                  <a:lnTo>
                    <a:pt x="3774" y="493"/>
                  </a:lnTo>
                  <a:lnTo>
                    <a:pt x="3924" y="493"/>
                  </a:lnTo>
                  <a:lnTo>
                    <a:pt x="4074" y="493"/>
                  </a:lnTo>
                  <a:lnTo>
                    <a:pt x="4277" y="635"/>
                  </a:lnTo>
                  <a:lnTo>
                    <a:pt x="4427" y="671"/>
                  </a:lnTo>
                  <a:lnTo>
                    <a:pt x="4577" y="671"/>
                  </a:lnTo>
                  <a:lnTo>
                    <a:pt x="4780" y="635"/>
                  </a:lnTo>
                  <a:lnTo>
                    <a:pt x="4982" y="564"/>
                  </a:lnTo>
                  <a:lnTo>
                    <a:pt x="5282" y="493"/>
                  </a:lnTo>
                  <a:lnTo>
                    <a:pt x="5485" y="423"/>
                  </a:lnTo>
                  <a:lnTo>
                    <a:pt x="5485" y="529"/>
                  </a:lnTo>
                  <a:lnTo>
                    <a:pt x="5684" y="564"/>
                  </a:lnTo>
                  <a:lnTo>
                    <a:pt x="5886" y="564"/>
                  </a:lnTo>
                  <a:lnTo>
                    <a:pt x="6089" y="564"/>
                  </a:lnTo>
                  <a:lnTo>
                    <a:pt x="6288" y="564"/>
                  </a:lnTo>
                  <a:lnTo>
                    <a:pt x="6491" y="635"/>
                  </a:lnTo>
                  <a:lnTo>
                    <a:pt x="6641" y="671"/>
                  </a:lnTo>
                  <a:lnTo>
                    <a:pt x="6843" y="635"/>
                  </a:lnTo>
                  <a:lnTo>
                    <a:pt x="6993" y="635"/>
                  </a:lnTo>
                  <a:lnTo>
                    <a:pt x="7196" y="564"/>
                  </a:lnTo>
                  <a:lnTo>
                    <a:pt x="7448" y="529"/>
                  </a:lnTo>
                  <a:lnTo>
                    <a:pt x="7597" y="493"/>
                  </a:lnTo>
                  <a:lnTo>
                    <a:pt x="7747" y="564"/>
                  </a:lnTo>
                  <a:lnTo>
                    <a:pt x="7902" y="635"/>
                  </a:lnTo>
                  <a:lnTo>
                    <a:pt x="8052" y="635"/>
                  </a:lnTo>
                  <a:lnTo>
                    <a:pt x="8303" y="599"/>
                  </a:lnTo>
                  <a:lnTo>
                    <a:pt x="8506" y="564"/>
                  </a:lnTo>
                  <a:lnTo>
                    <a:pt x="8656" y="493"/>
                  </a:lnTo>
                  <a:lnTo>
                    <a:pt x="8806" y="458"/>
                  </a:lnTo>
                  <a:lnTo>
                    <a:pt x="8956" y="423"/>
                  </a:lnTo>
                  <a:lnTo>
                    <a:pt x="9106" y="423"/>
                  </a:lnTo>
                  <a:lnTo>
                    <a:pt x="9308" y="388"/>
                  </a:lnTo>
                  <a:lnTo>
                    <a:pt x="9511" y="352"/>
                  </a:lnTo>
                  <a:lnTo>
                    <a:pt x="9661" y="388"/>
                  </a:lnTo>
                  <a:lnTo>
                    <a:pt x="9811" y="423"/>
                  </a:lnTo>
                  <a:lnTo>
                    <a:pt x="9961" y="493"/>
                  </a:lnTo>
                  <a:lnTo>
                    <a:pt x="10115" y="493"/>
                  </a:lnTo>
                  <a:lnTo>
                    <a:pt x="10415" y="529"/>
                  </a:lnTo>
                  <a:lnTo>
                    <a:pt x="10618" y="529"/>
                  </a:lnTo>
                  <a:lnTo>
                    <a:pt x="10768" y="564"/>
                  </a:lnTo>
                  <a:lnTo>
                    <a:pt x="10918" y="564"/>
                  </a:lnTo>
                  <a:lnTo>
                    <a:pt x="11673" y="599"/>
                  </a:lnTo>
                  <a:lnTo>
                    <a:pt x="12379" y="635"/>
                  </a:lnTo>
                  <a:lnTo>
                    <a:pt x="12529" y="635"/>
                  </a:lnTo>
                  <a:lnTo>
                    <a:pt x="12780" y="564"/>
                  </a:lnTo>
                  <a:lnTo>
                    <a:pt x="12934" y="564"/>
                  </a:lnTo>
                  <a:lnTo>
                    <a:pt x="13084" y="564"/>
                  </a:lnTo>
                  <a:lnTo>
                    <a:pt x="13234" y="671"/>
                  </a:lnTo>
                  <a:lnTo>
                    <a:pt x="13437" y="671"/>
                  </a:lnTo>
                  <a:lnTo>
                    <a:pt x="13587" y="635"/>
                  </a:lnTo>
                  <a:lnTo>
                    <a:pt x="13838" y="635"/>
                  </a:lnTo>
                  <a:lnTo>
                    <a:pt x="14041" y="599"/>
                  </a:lnTo>
                  <a:lnTo>
                    <a:pt x="14239" y="564"/>
                  </a:lnTo>
                  <a:lnTo>
                    <a:pt x="14394" y="564"/>
                  </a:lnTo>
                  <a:lnTo>
                    <a:pt x="14694" y="564"/>
                  </a:lnTo>
                  <a:lnTo>
                    <a:pt x="14844" y="564"/>
                  </a:lnTo>
                  <a:lnTo>
                    <a:pt x="15046" y="529"/>
                  </a:lnTo>
                  <a:lnTo>
                    <a:pt x="15249" y="529"/>
                  </a:lnTo>
                  <a:lnTo>
                    <a:pt x="15399" y="493"/>
                  </a:lnTo>
                  <a:lnTo>
                    <a:pt x="15752" y="564"/>
                  </a:lnTo>
                  <a:lnTo>
                    <a:pt x="15902" y="599"/>
                  </a:lnTo>
                  <a:lnTo>
                    <a:pt x="16052" y="564"/>
                  </a:lnTo>
                  <a:lnTo>
                    <a:pt x="16202" y="599"/>
                  </a:lnTo>
                  <a:lnTo>
                    <a:pt x="16453" y="635"/>
                  </a:lnTo>
                  <a:lnTo>
                    <a:pt x="16656" y="635"/>
                  </a:lnTo>
                  <a:lnTo>
                    <a:pt x="16859" y="564"/>
                  </a:lnTo>
                  <a:lnTo>
                    <a:pt x="17057" y="671"/>
                  </a:lnTo>
                  <a:lnTo>
                    <a:pt x="17212" y="671"/>
                  </a:lnTo>
                  <a:lnTo>
                    <a:pt x="17410" y="635"/>
                  </a:lnTo>
                  <a:lnTo>
                    <a:pt x="17564" y="635"/>
                  </a:lnTo>
                  <a:lnTo>
                    <a:pt x="17763" y="635"/>
                  </a:lnTo>
                  <a:lnTo>
                    <a:pt x="17966" y="671"/>
                  </a:lnTo>
                  <a:lnTo>
                    <a:pt x="18164" y="635"/>
                  </a:lnTo>
                  <a:lnTo>
                    <a:pt x="18367" y="564"/>
                  </a:lnTo>
                  <a:lnTo>
                    <a:pt x="18517" y="564"/>
                  </a:lnTo>
                  <a:lnTo>
                    <a:pt x="18671" y="564"/>
                  </a:lnTo>
                  <a:lnTo>
                    <a:pt x="18870" y="706"/>
                  </a:lnTo>
                  <a:lnTo>
                    <a:pt x="19073" y="812"/>
                  </a:lnTo>
                  <a:lnTo>
                    <a:pt x="19222" y="777"/>
                  </a:lnTo>
                  <a:lnTo>
                    <a:pt x="19275" y="671"/>
                  </a:lnTo>
                  <a:lnTo>
                    <a:pt x="19474" y="564"/>
                  </a:lnTo>
                  <a:lnTo>
                    <a:pt x="19624" y="493"/>
                  </a:lnTo>
                  <a:lnTo>
                    <a:pt x="19778" y="635"/>
                  </a:lnTo>
                  <a:lnTo>
                    <a:pt x="19928" y="635"/>
                  </a:lnTo>
                  <a:lnTo>
                    <a:pt x="20228" y="777"/>
                  </a:lnTo>
                  <a:lnTo>
                    <a:pt x="20382" y="847"/>
                  </a:lnTo>
                  <a:lnTo>
                    <a:pt x="20532" y="812"/>
                  </a:lnTo>
                  <a:lnTo>
                    <a:pt x="20682" y="882"/>
                  </a:lnTo>
                  <a:lnTo>
                    <a:pt x="20982" y="918"/>
                  </a:lnTo>
                  <a:lnTo>
                    <a:pt x="21136" y="918"/>
                  </a:lnTo>
                  <a:lnTo>
                    <a:pt x="21286" y="847"/>
                  </a:lnTo>
                  <a:lnTo>
                    <a:pt x="21489" y="777"/>
                  </a:lnTo>
                  <a:lnTo>
                    <a:pt x="21639" y="918"/>
                  </a:lnTo>
                  <a:lnTo>
                    <a:pt x="21837" y="953"/>
                  </a:lnTo>
                  <a:lnTo>
                    <a:pt x="21992" y="988"/>
                  </a:lnTo>
                  <a:lnTo>
                    <a:pt x="22292" y="1059"/>
                  </a:lnTo>
                  <a:lnTo>
                    <a:pt x="22442" y="1059"/>
                  </a:lnTo>
                  <a:lnTo>
                    <a:pt x="22596" y="1094"/>
                  </a:lnTo>
                  <a:lnTo>
                    <a:pt x="22746" y="1165"/>
                  </a:lnTo>
                  <a:lnTo>
                    <a:pt x="22896" y="1165"/>
                  </a:lnTo>
                  <a:lnTo>
                    <a:pt x="23099" y="1235"/>
                  </a:lnTo>
                  <a:lnTo>
                    <a:pt x="23249" y="1306"/>
                  </a:lnTo>
                  <a:lnTo>
                    <a:pt x="23200" y="0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114FFB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0" name=""/>
          <p:cNvSpPr/>
          <p:nvPr/>
        </p:nvSpPr>
        <p:spPr>
          <a:xfrm>
            <a:off x="8289360" y="1434960"/>
            <a:ext cx="790920" cy="3251160"/>
          </a:xfrm>
          <a:custGeom>
            <a:avLst/>
            <a:gdLst/>
            <a:ahLst/>
            <a:rect l="0" t="0" r="r" b="b"/>
            <a:pathLst>
              <a:path fill="none" w="2197" h="9031">
                <a:moveTo>
                  <a:pt x="0" y="9014"/>
                </a:moveTo>
                <a:lnTo>
                  <a:pt x="0" y="9014"/>
                </a:lnTo>
                <a:cubicBezTo>
                  <a:pt x="58" y="9025"/>
                  <a:pt x="117" y="9031"/>
                  <a:pt x="175" y="9031"/>
                </a:cubicBezTo>
                <a:cubicBezTo>
                  <a:pt x="530" y="9031"/>
                  <a:pt x="879" y="8822"/>
                  <a:pt x="1186" y="8426"/>
                </a:cubicBezTo>
                <a:cubicBezTo>
                  <a:pt x="1494" y="8030"/>
                  <a:pt x="1749" y="7460"/>
                  <a:pt x="1926" y="6773"/>
                </a:cubicBezTo>
                <a:cubicBezTo>
                  <a:pt x="2104" y="6087"/>
                  <a:pt x="2197" y="5308"/>
                  <a:pt x="2197" y="4515"/>
                </a:cubicBezTo>
                <a:cubicBezTo>
                  <a:pt x="2197" y="3723"/>
                  <a:pt x="2104" y="2944"/>
                  <a:pt x="1926" y="2258"/>
                </a:cubicBezTo>
                <a:cubicBezTo>
                  <a:pt x="1749" y="1571"/>
                  <a:pt x="1494" y="1001"/>
                  <a:pt x="1186" y="605"/>
                </a:cubicBezTo>
                <a:cubicBezTo>
                  <a:pt x="879" y="209"/>
                  <a:pt x="531" y="0"/>
                  <a:pt x="176" y="0"/>
                </a:cubicBezTo>
              </a:path>
            </a:pathLst>
          </a:custGeom>
          <a:ln w="25560">
            <a:solidFill>
              <a:srgbClr val="FC0128"/>
            </a:solidFill>
            <a:round/>
            <a:tail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"/>
          <p:cNvSpPr txBox="1"/>
          <p:nvPr/>
        </p:nvSpPr>
        <p:spPr>
          <a:xfrm>
            <a:off x="3424320" y="5207040"/>
            <a:ext cx="15937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Students.Dat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"/>
          <p:cNvSpPr/>
          <p:nvPr/>
        </p:nvSpPr>
        <p:spPr>
          <a:xfrm>
            <a:off x="938160" y="4159080"/>
            <a:ext cx="7392960" cy="7747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"/>
          <p:cNvSpPr txBox="1"/>
          <p:nvPr/>
        </p:nvSpPr>
        <p:spPr>
          <a:xfrm>
            <a:off x="2917800" y="45640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"/>
          <p:cNvSpPr txBox="1"/>
          <p:nvPr/>
        </p:nvSpPr>
        <p:spPr>
          <a:xfrm>
            <a:off x="3181320" y="45640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"/>
          <p:cNvSpPr txBox="1"/>
          <p:nvPr/>
        </p:nvSpPr>
        <p:spPr>
          <a:xfrm>
            <a:off x="3444840" y="45640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"/>
          <p:cNvSpPr txBox="1"/>
          <p:nvPr/>
        </p:nvSpPr>
        <p:spPr>
          <a:xfrm>
            <a:off x="3708360" y="45640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7" name=""/>
          <p:cNvSpPr txBox="1"/>
          <p:nvPr/>
        </p:nvSpPr>
        <p:spPr>
          <a:xfrm>
            <a:off x="3968640" y="45640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"/>
          <p:cNvSpPr txBox="1"/>
          <p:nvPr/>
        </p:nvSpPr>
        <p:spPr>
          <a:xfrm>
            <a:off x="4232160" y="45640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"/>
          <p:cNvSpPr txBox="1"/>
          <p:nvPr/>
        </p:nvSpPr>
        <p:spPr>
          <a:xfrm>
            <a:off x="4495680" y="4564080"/>
            <a:ext cx="268200" cy="33732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4759200" y="45640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"/>
          <p:cNvSpPr txBox="1"/>
          <p:nvPr/>
        </p:nvSpPr>
        <p:spPr>
          <a:xfrm>
            <a:off x="5021280" y="45640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5284800" y="45640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"/>
          <p:cNvSpPr txBox="1"/>
          <p:nvPr/>
        </p:nvSpPr>
        <p:spPr>
          <a:xfrm>
            <a:off x="5548320" y="45640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"/>
          <p:cNvSpPr txBox="1"/>
          <p:nvPr/>
        </p:nvSpPr>
        <p:spPr>
          <a:xfrm>
            <a:off x="5811840" y="45640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"/>
          <p:cNvSpPr txBox="1"/>
          <p:nvPr/>
        </p:nvSpPr>
        <p:spPr>
          <a:xfrm>
            <a:off x="6073920" y="4564080"/>
            <a:ext cx="268200" cy="33732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"/>
          <p:cNvSpPr/>
          <p:nvPr/>
        </p:nvSpPr>
        <p:spPr>
          <a:xfrm>
            <a:off x="6337440" y="45640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"/>
          <p:cNvSpPr/>
          <p:nvPr/>
        </p:nvSpPr>
        <p:spPr>
          <a:xfrm>
            <a:off x="6600960" y="45640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"/>
          <p:cNvSpPr txBox="1"/>
          <p:nvPr/>
        </p:nvSpPr>
        <p:spPr>
          <a:xfrm>
            <a:off x="1008000" y="45640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"/>
          <p:cNvSpPr txBox="1"/>
          <p:nvPr/>
        </p:nvSpPr>
        <p:spPr>
          <a:xfrm>
            <a:off x="1271520" y="4564080"/>
            <a:ext cx="26676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"/>
          <p:cNvSpPr txBox="1"/>
          <p:nvPr/>
        </p:nvSpPr>
        <p:spPr>
          <a:xfrm>
            <a:off x="1531800" y="45640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1795320" y="45640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"/>
          <p:cNvSpPr txBox="1"/>
          <p:nvPr/>
        </p:nvSpPr>
        <p:spPr>
          <a:xfrm>
            <a:off x="2058840" y="45640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2322360" y="45640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"/>
          <p:cNvSpPr txBox="1"/>
          <p:nvPr/>
        </p:nvSpPr>
        <p:spPr>
          <a:xfrm>
            <a:off x="2584440" y="4564080"/>
            <a:ext cx="2700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"/>
          <p:cNvSpPr txBox="1"/>
          <p:nvPr/>
        </p:nvSpPr>
        <p:spPr>
          <a:xfrm>
            <a:off x="6932520" y="45640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"/>
          <p:cNvSpPr txBox="1"/>
          <p:nvPr/>
        </p:nvSpPr>
        <p:spPr>
          <a:xfrm>
            <a:off x="7196040" y="45640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"/>
          <p:cNvSpPr txBox="1"/>
          <p:nvPr/>
        </p:nvSpPr>
        <p:spPr>
          <a:xfrm>
            <a:off x="7458120" y="45640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"/>
          <p:cNvSpPr txBox="1"/>
          <p:nvPr/>
        </p:nvSpPr>
        <p:spPr>
          <a:xfrm>
            <a:off x="7721640" y="45640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"/>
          <p:cNvSpPr txBox="1"/>
          <p:nvPr/>
        </p:nvSpPr>
        <p:spPr>
          <a:xfrm>
            <a:off x="7985160" y="4564080"/>
            <a:ext cx="268200" cy="272880"/>
          </a:xfrm>
          <a:prstGeom prst="rect">
            <a:avLst/>
          </a:prstGeom>
          <a:noFill/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"/>
          <p:cNvSpPr txBox="1"/>
          <p:nvPr/>
        </p:nvSpPr>
        <p:spPr>
          <a:xfrm>
            <a:off x="1090440" y="4213080"/>
            <a:ext cx="12636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StudentID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"/>
          <p:cNvSpPr txBox="1"/>
          <p:nvPr/>
        </p:nvSpPr>
        <p:spPr>
          <a:xfrm>
            <a:off x="3670200" y="4213080"/>
            <a:ext cx="165744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StudentName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7048440" y="4176720"/>
            <a:ext cx="103500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Course.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"/>
          <p:cNvSpPr/>
          <p:nvPr/>
        </p:nvSpPr>
        <p:spPr>
          <a:xfrm>
            <a:off x="2889360" y="4172040"/>
            <a:ext cx="0" cy="77292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"/>
          <p:cNvSpPr/>
          <p:nvPr/>
        </p:nvSpPr>
        <p:spPr>
          <a:xfrm>
            <a:off x="6905520" y="4159080"/>
            <a:ext cx="0" cy="774720"/>
          </a:xfrm>
          <a:prstGeom prst="line">
            <a:avLst/>
          </a:prstGeom>
          <a:ln w="12600">
            <a:solidFill>
              <a:srgbClr val="67676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942840" y="3771720"/>
            <a:ext cx="18223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StudentRecord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"/>
          <p:cNvSpPr txBox="1"/>
          <p:nvPr/>
        </p:nvSpPr>
        <p:spPr>
          <a:xfrm>
            <a:off x="280980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"/>
          <p:cNvSpPr txBox="1"/>
          <p:nvPr/>
        </p:nvSpPr>
        <p:spPr>
          <a:xfrm>
            <a:off x="307332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333684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"/>
          <p:cNvSpPr txBox="1"/>
          <p:nvPr/>
        </p:nvSpPr>
        <p:spPr>
          <a:xfrm>
            <a:off x="360036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"/>
          <p:cNvSpPr txBox="1"/>
          <p:nvPr/>
        </p:nvSpPr>
        <p:spPr>
          <a:xfrm>
            <a:off x="3862440" y="54910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k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"/>
          <p:cNvSpPr/>
          <p:nvPr/>
        </p:nvSpPr>
        <p:spPr>
          <a:xfrm>
            <a:off x="412596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"/>
          <p:cNvSpPr txBox="1"/>
          <p:nvPr/>
        </p:nvSpPr>
        <p:spPr>
          <a:xfrm>
            <a:off x="438948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465300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u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4915080" y="54910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517860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"/>
          <p:cNvSpPr txBox="1"/>
          <p:nvPr/>
        </p:nvSpPr>
        <p:spPr>
          <a:xfrm>
            <a:off x="544212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570564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"/>
          <p:cNvSpPr txBox="1"/>
          <p:nvPr/>
        </p:nvSpPr>
        <p:spPr>
          <a:xfrm>
            <a:off x="5965920" y="54910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"/>
          <p:cNvSpPr/>
          <p:nvPr/>
        </p:nvSpPr>
        <p:spPr>
          <a:xfrm>
            <a:off x="6229440" y="54910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"/>
          <p:cNvSpPr/>
          <p:nvPr/>
        </p:nvSpPr>
        <p:spPr>
          <a:xfrm>
            <a:off x="6492960" y="54910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"/>
          <p:cNvSpPr txBox="1"/>
          <p:nvPr/>
        </p:nvSpPr>
        <p:spPr>
          <a:xfrm>
            <a:off x="96984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"/>
          <p:cNvSpPr txBox="1"/>
          <p:nvPr/>
        </p:nvSpPr>
        <p:spPr>
          <a:xfrm>
            <a:off x="123336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1494000" y="54910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1757520" y="54910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"/>
          <p:cNvSpPr txBox="1"/>
          <p:nvPr/>
        </p:nvSpPr>
        <p:spPr>
          <a:xfrm>
            <a:off x="2021040" y="54910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2284560" y="54910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"/>
          <p:cNvSpPr txBox="1"/>
          <p:nvPr/>
        </p:nvSpPr>
        <p:spPr>
          <a:xfrm>
            <a:off x="2546280" y="54910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"/>
          <p:cNvSpPr txBox="1"/>
          <p:nvPr/>
        </p:nvSpPr>
        <p:spPr>
          <a:xfrm>
            <a:off x="6756480" y="549108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7018200" y="549108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"/>
          <p:cNvSpPr txBox="1"/>
          <p:nvPr/>
        </p:nvSpPr>
        <p:spPr>
          <a:xfrm>
            <a:off x="728172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"/>
          <p:cNvSpPr txBox="1"/>
          <p:nvPr/>
        </p:nvSpPr>
        <p:spPr>
          <a:xfrm>
            <a:off x="754524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7808760" y="549108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"/>
          <p:cNvSpPr txBox="1"/>
          <p:nvPr/>
        </p:nvSpPr>
        <p:spPr>
          <a:xfrm>
            <a:off x="2809800" y="57657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"/>
          <p:cNvSpPr txBox="1"/>
          <p:nvPr/>
        </p:nvSpPr>
        <p:spPr>
          <a:xfrm>
            <a:off x="3073320" y="57657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3336840" y="57657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3600360" y="57657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3862440" y="57657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4138560" y="57657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"/>
          <p:cNvSpPr/>
          <p:nvPr/>
        </p:nvSpPr>
        <p:spPr>
          <a:xfrm>
            <a:off x="4389480" y="57657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4653000" y="57657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H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"/>
          <p:cNvSpPr txBox="1"/>
          <p:nvPr/>
        </p:nvSpPr>
        <p:spPr>
          <a:xfrm>
            <a:off x="4915080" y="57657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5178600" y="57657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"/>
          <p:cNvSpPr txBox="1"/>
          <p:nvPr/>
        </p:nvSpPr>
        <p:spPr>
          <a:xfrm>
            <a:off x="5442120" y="57657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5705640" y="57657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y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"/>
          <p:cNvSpPr/>
          <p:nvPr/>
        </p:nvSpPr>
        <p:spPr>
          <a:xfrm>
            <a:off x="5965920" y="57657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"/>
          <p:cNvSpPr/>
          <p:nvPr/>
        </p:nvSpPr>
        <p:spPr>
          <a:xfrm>
            <a:off x="6229440" y="57657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"/>
          <p:cNvSpPr/>
          <p:nvPr/>
        </p:nvSpPr>
        <p:spPr>
          <a:xfrm>
            <a:off x="6492960" y="57657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8" name=""/>
          <p:cNvSpPr txBox="1"/>
          <p:nvPr/>
        </p:nvSpPr>
        <p:spPr>
          <a:xfrm>
            <a:off x="969840" y="57657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"/>
          <p:cNvSpPr txBox="1"/>
          <p:nvPr/>
        </p:nvSpPr>
        <p:spPr>
          <a:xfrm>
            <a:off x="1233360" y="57657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"/>
          <p:cNvSpPr txBox="1"/>
          <p:nvPr/>
        </p:nvSpPr>
        <p:spPr>
          <a:xfrm>
            <a:off x="1494000" y="57657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"/>
          <p:cNvSpPr txBox="1"/>
          <p:nvPr/>
        </p:nvSpPr>
        <p:spPr>
          <a:xfrm>
            <a:off x="1757520" y="57657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"/>
          <p:cNvSpPr txBox="1"/>
          <p:nvPr/>
        </p:nvSpPr>
        <p:spPr>
          <a:xfrm>
            <a:off x="2021040" y="57657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"/>
          <p:cNvSpPr txBox="1"/>
          <p:nvPr/>
        </p:nvSpPr>
        <p:spPr>
          <a:xfrm>
            <a:off x="2284560" y="57657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4" name=""/>
          <p:cNvSpPr txBox="1"/>
          <p:nvPr/>
        </p:nvSpPr>
        <p:spPr>
          <a:xfrm>
            <a:off x="2546280" y="57657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"/>
          <p:cNvSpPr txBox="1"/>
          <p:nvPr/>
        </p:nvSpPr>
        <p:spPr>
          <a:xfrm>
            <a:off x="6756480" y="5765760"/>
            <a:ext cx="2682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7018200" y="57657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"/>
          <p:cNvSpPr txBox="1"/>
          <p:nvPr/>
        </p:nvSpPr>
        <p:spPr>
          <a:xfrm>
            <a:off x="7281720" y="57657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"/>
          <p:cNvSpPr txBox="1"/>
          <p:nvPr/>
        </p:nvSpPr>
        <p:spPr>
          <a:xfrm>
            <a:off x="7558200" y="5765760"/>
            <a:ext cx="27000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7808760" y="5765760"/>
            <a:ext cx="266760" cy="271440"/>
          </a:xfrm>
          <a:prstGeom prst="rect">
            <a:avLst/>
          </a:prstGeom>
          <a:solidFill>
            <a:srgbClr val="DADADA"/>
          </a:solidFill>
          <a:ln w="12600">
            <a:solidFill>
              <a:srgbClr val="676767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6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20" name=""/>
          <p:cNvGrpSpPr/>
          <p:nvPr/>
        </p:nvGrpSpPr>
        <p:grpSpPr>
          <a:xfrm>
            <a:off x="216000" y="4653000"/>
            <a:ext cx="776520" cy="1328760"/>
            <a:chOff x="216000" y="4653000"/>
            <a:chExt cx="776520" cy="1328760"/>
          </a:xfrm>
        </p:grpSpPr>
        <p:sp>
          <p:nvSpPr>
            <p:cNvPr id="1021" name=""/>
            <p:cNvSpPr/>
            <p:nvPr/>
          </p:nvSpPr>
          <p:spPr>
            <a:xfrm>
              <a:off x="282600" y="5321160"/>
              <a:ext cx="709920" cy="660600"/>
            </a:xfrm>
            <a:custGeom>
              <a:avLst/>
              <a:gdLst/>
              <a:ahLst/>
              <a:rect l="0" t="0" r="r" b="b"/>
              <a:pathLst>
                <a:path w="1972" h="1835">
                  <a:moveTo>
                    <a:pt x="1478" y="1835"/>
                  </a:moveTo>
                  <a:lnTo>
                    <a:pt x="1972" y="1531"/>
                  </a:lnTo>
                  <a:lnTo>
                    <a:pt x="1478" y="1222"/>
                  </a:lnTo>
                  <a:lnTo>
                    <a:pt x="1478" y="1376"/>
                  </a:lnTo>
                  <a:lnTo>
                    <a:pt x="489" y="1376"/>
                  </a:lnTo>
                  <a:lnTo>
                    <a:pt x="418" y="1354"/>
                  </a:lnTo>
                  <a:lnTo>
                    <a:pt x="366" y="1315"/>
                  </a:lnTo>
                  <a:lnTo>
                    <a:pt x="339" y="1253"/>
                  </a:lnTo>
                  <a:lnTo>
                    <a:pt x="330" y="1165"/>
                  </a:lnTo>
                  <a:lnTo>
                    <a:pt x="330" y="1072"/>
                  </a:lnTo>
                  <a:lnTo>
                    <a:pt x="330" y="0"/>
                  </a:lnTo>
                  <a:lnTo>
                    <a:pt x="0" y="0"/>
                  </a:lnTo>
                  <a:lnTo>
                    <a:pt x="0" y="1072"/>
                  </a:lnTo>
                  <a:lnTo>
                    <a:pt x="0" y="1218"/>
                  </a:lnTo>
                  <a:lnTo>
                    <a:pt x="13" y="1284"/>
                  </a:lnTo>
                  <a:lnTo>
                    <a:pt x="26" y="1354"/>
                  </a:lnTo>
                  <a:lnTo>
                    <a:pt x="44" y="1407"/>
                  </a:lnTo>
                  <a:lnTo>
                    <a:pt x="74" y="1460"/>
                  </a:lnTo>
                  <a:lnTo>
                    <a:pt x="105" y="1504"/>
                  </a:lnTo>
                  <a:lnTo>
                    <a:pt x="154" y="1557"/>
                  </a:lnTo>
                  <a:lnTo>
                    <a:pt x="211" y="1601"/>
                  </a:lnTo>
                  <a:lnTo>
                    <a:pt x="268" y="1632"/>
                  </a:lnTo>
                  <a:lnTo>
                    <a:pt x="335" y="1663"/>
                  </a:lnTo>
                  <a:lnTo>
                    <a:pt x="414" y="1681"/>
                  </a:lnTo>
                  <a:lnTo>
                    <a:pt x="489" y="1681"/>
                  </a:lnTo>
                  <a:lnTo>
                    <a:pt x="1478" y="1681"/>
                  </a:lnTo>
                  <a:lnTo>
                    <a:pt x="1478" y="1835"/>
                  </a:lnTo>
                  <a:close/>
                </a:path>
              </a:pathLst>
            </a:custGeom>
            <a:solidFill>
              <a:srgbClr val="FC0128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2" name=""/>
            <p:cNvSpPr/>
            <p:nvPr/>
          </p:nvSpPr>
          <p:spPr>
            <a:xfrm>
              <a:off x="216000" y="4653000"/>
              <a:ext cx="708480" cy="662400"/>
            </a:xfrm>
            <a:custGeom>
              <a:avLst/>
              <a:gdLst/>
              <a:ahLst/>
              <a:rect l="0" t="0" r="r" b="b"/>
              <a:pathLst>
                <a:path w="1968" h="1840">
                  <a:moveTo>
                    <a:pt x="0" y="1382"/>
                  </a:moveTo>
                  <a:lnTo>
                    <a:pt x="326" y="1840"/>
                  </a:lnTo>
                  <a:lnTo>
                    <a:pt x="658" y="1382"/>
                  </a:lnTo>
                  <a:lnTo>
                    <a:pt x="494" y="1382"/>
                  </a:lnTo>
                  <a:lnTo>
                    <a:pt x="494" y="458"/>
                  </a:lnTo>
                  <a:lnTo>
                    <a:pt x="516" y="392"/>
                  </a:lnTo>
                  <a:lnTo>
                    <a:pt x="561" y="343"/>
                  </a:lnTo>
                  <a:lnTo>
                    <a:pt x="622" y="313"/>
                  </a:lnTo>
                  <a:lnTo>
                    <a:pt x="715" y="304"/>
                  </a:lnTo>
                  <a:lnTo>
                    <a:pt x="821" y="304"/>
                  </a:lnTo>
                  <a:lnTo>
                    <a:pt x="1968" y="304"/>
                  </a:lnTo>
                  <a:lnTo>
                    <a:pt x="1968" y="0"/>
                  </a:lnTo>
                  <a:lnTo>
                    <a:pt x="821" y="0"/>
                  </a:lnTo>
                  <a:lnTo>
                    <a:pt x="662" y="0"/>
                  </a:lnTo>
                  <a:lnTo>
                    <a:pt x="591" y="13"/>
                  </a:lnTo>
                  <a:lnTo>
                    <a:pt x="516" y="26"/>
                  </a:lnTo>
                  <a:lnTo>
                    <a:pt x="463" y="44"/>
                  </a:lnTo>
                  <a:lnTo>
                    <a:pt x="401" y="70"/>
                  </a:lnTo>
                  <a:lnTo>
                    <a:pt x="357" y="97"/>
                  </a:lnTo>
                  <a:lnTo>
                    <a:pt x="299" y="145"/>
                  </a:lnTo>
                  <a:lnTo>
                    <a:pt x="251" y="198"/>
                  </a:lnTo>
                  <a:lnTo>
                    <a:pt x="220" y="251"/>
                  </a:lnTo>
                  <a:lnTo>
                    <a:pt x="185" y="313"/>
                  </a:lnTo>
                  <a:lnTo>
                    <a:pt x="167" y="388"/>
                  </a:lnTo>
                  <a:lnTo>
                    <a:pt x="163" y="458"/>
                  </a:lnTo>
                  <a:lnTo>
                    <a:pt x="163" y="1382"/>
                  </a:lnTo>
                  <a:lnTo>
                    <a:pt x="0" y="1382"/>
                  </a:lnTo>
                  <a:close/>
                </a:path>
              </a:pathLst>
            </a:custGeom>
            <a:solidFill>
              <a:srgbClr val="FC0128"/>
            </a:solidFill>
            <a:ln w="12600">
              <a:solidFill>
                <a:srgbClr val="000000"/>
              </a:solidFill>
              <a:round/>
            </a:ln>
          </p:spPr>
          <p:txBody>
            <a:bodyPr lIns="96120" tIns="51120" rIns="96120" bIns="5112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23" name=""/>
          <p:cNvSpPr txBox="1"/>
          <p:nvPr/>
        </p:nvSpPr>
        <p:spPr>
          <a:xfrm>
            <a:off x="998640" y="6095880"/>
            <a:ext cx="6541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EOF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"/>
          <p:cNvSpPr txBox="1"/>
          <p:nvPr/>
        </p:nvSpPr>
        <p:spPr>
          <a:xfrm>
            <a:off x="2400480" y="133200"/>
            <a:ext cx="39387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How the WRITE works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25" name=""/>
          <p:cNvGrpSpPr/>
          <p:nvPr/>
        </p:nvGrpSpPr>
        <p:grpSpPr>
          <a:xfrm>
            <a:off x="546120" y="736560"/>
            <a:ext cx="8369640" cy="2397240"/>
            <a:chOff x="546120" y="736560"/>
            <a:chExt cx="8369640" cy="2397240"/>
          </a:xfrm>
        </p:grpSpPr>
        <p:sp>
          <p:nvSpPr>
            <p:cNvPr id="1026" name=""/>
            <p:cNvSpPr txBox="1"/>
            <p:nvPr/>
          </p:nvSpPr>
          <p:spPr>
            <a:xfrm>
              <a:off x="744480" y="824040"/>
              <a:ext cx="7904160" cy="2309760"/>
            </a:xfrm>
            <a:prstGeom prst="rect">
              <a:avLst/>
            </a:prstGeom>
            <a:solidFill>
              <a:srgbClr val="DADADA"/>
            </a:solidFill>
            <a:ln w="0">
              <a:noFill/>
            </a:ln>
            <a:effectLst>
              <a:outerShdw dist="0" dir="0" rotWithShape="0">
                <a:srgbClr val="919191"/>
              </a:outerShdw>
            </a:effectLst>
          </p:spPr>
          <p:txBody>
            <a:bodyPr lIns="0" tIns="0" rIns="0" bIns="0" anchor="t">
              <a:spAutoFit/>
            </a:bodyPr>
            <a:p>
              <a:pPr>
                <a:lnSpc>
                  <a:spcPct val="80000"/>
                </a:lnSpc>
              </a:pPr>
              <a:r>
                <a:rPr lang="en-US" sz="16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  </a:t>
              </a:r>
              <a:endPara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OPEN OUTPUT StudentFile.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MOVE "9334567Frank Curtain  LM051" TO StudentDetails.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WRITE StudentDetails.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  <a:spcBef>
                  <a:spcPts val="601"/>
                </a:spcBef>
              </a:pPr>
              <a:r>
                <a:rPr lang="en-US" sz="1800" b="1" u="none" strike="noStrike">
                  <a:solidFill>
                    <a:srgbClr val="CF0E30"/>
                  </a:solidFill>
                  <a:effectLst/>
                  <a:uFillTx/>
                  <a:latin typeface="Courier New"/>
                  <a:ea typeface="Courier New"/>
                </a:rPr>
                <a:t>MOVE "9383715Thomas Healy   LM068" TO StudentDetails.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1800" b="1" u="none" strike="noStrike">
                  <a:solidFill>
                    <a:srgbClr val="CF0E30"/>
                  </a:solidFill>
                  <a:effectLst/>
                  <a:uFillTx/>
                  <a:latin typeface="Courier New"/>
                  <a:ea typeface="Courier New"/>
                </a:rPr>
                <a:t>WRITE StudentDetails.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CLOSE StudentFile.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1800" b="1" u="none" strike="noStrike">
                  <a:solidFill>
                    <a:srgbClr val="000000"/>
                  </a:solidFill>
                  <a:effectLst/>
                  <a:uFillTx/>
                  <a:latin typeface="Courier New"/>
                  <a:ea typeface="Courier New"/>
                </a:rPr>
                <a:t>STOP RUN.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7" name=""/>
            <p:cNvSpPr/>
            <p:nvPr/>
          </p:nvSpPr>
          <p:spPr>
            <a:xfrm>
              <a:off x="546120" y="736560"/>
              <a:ext cx="8369640" cy="470160"/>
            </a:xfrm>
            <a:custGeom>
              <a:avLst/>
              <a:gdLst/>
              <a:ahLst/>
              <a:rect l="0" t="0" r="r" b="b"/>
              <a:pathLst>
                <a:path w="23249" h="1306">
                  <a:moveTo>
                    <a:pt x="0" y="35"/>
                  </a:moveTo>
                  <a:lnTo>
                    <a:pt x="48" y="141"/>
                  </a:lnTo>
                  <a:lnTo>
                    <a:pt x="149" y="246"/>
                  </a:lnTo>
                  <a:lnTo>
                    <a:pt x="251" y="352"/>
                  </a:lnTo>
                  <a:lnTo>
                    <a:pt x="352" y="493"/>
                  </a:lnTo>
                  <a:lnTo>
                    <a:pt x="502" y="564"/>
                  </a:lnTo>
                  <a:lnTo>
                    <a:pt x="652" y="671"/>
                  </a:lnTo>
                  <a:lnTo>
                    <a:pt x="754" y="777"/>
                  </a:lnTo>
                  <a:lnTo>
                    <a:pt x="855" y="671"/>
                  </a:lnTo>
                  <a:lnTo>
                    <a:pt x="956" y="564"/>
                  </a:lnTo>
                  <a:lnTo>
                    <a:pt x="1106" y="564"/>
                  </a:lnTo>
                  <a:lnTo>
                    <a:pt x="1256" y="564"/>
                  </a:lnTo>
                  <a:lnTo>
                    <a:pt x="1459" y="564"/>
                  </a:lnTo>
                  <a:lnTo>
                    <a:pt x="1609" y="635"/>
                  </a:lnTo>
                  <a:lnTo>
                    <a:pt x="1759" y="671"/>
                  </a:lnTo>
                  <a:lnTo>
                    <a:pt x="1962" y="635"/>
                  </a:lnTo>
                  <a:lnTo>
                    <a:pt x="2112" y="635"/>
                  </a:lnTo>
                  <a:lnTo>
                    <a:pt x="2266" y="599"/>
                  </a:lnTo>
                  <a:lnTo>
                    <a:pt x="2465" y="706"/>
                  </a:lnTo>
                  <a:lnTo>
                    <a:pt x="2614" y="706"/>
                  </a:lnTo>
                  <a:lnTo>
                    <a:pt x="2769" y="671"/>
                  </a:lnTo>
                  <a:lnTo>
                    <a:pt x="2919" y="635"/>
                  </a:lnTo>
                  <a:lnTo>
                    <a:pt x="3069" y="564"/>
                  </a:lnTo>
                  <a:lnTo>
                    <a:pt x="3219" y="564"/>
                  </a:lnTo>
                  <a:lnTo>
                    <a:pt x="3373" y="529"/>
                  </a:lnTo>
                  <a:lnTo>
                    <a:pt x="3624" y="493"/>
                  </a:lnTo>
                  <a:lnTo>
                    <a:pt x="3774" y="493"/>
                  </a:lnTo>
                  <a:lnTo>
                    <a:pt x="3924" y="493"/>
                  </a:lnTo>
                  <a:lnTo>
                    <a:pt x="4074" y="493"/>
                  </a:lnTo>
                  <a:lnTo>
                    <a:pt x="4277" y="635"/>
                  </a:lnTo>
                  <a:lnTo>
                    <a:pt x="4427" y="671"/>
                  </a:lnTo>
                  <a:lnTo>
                    <a:pt x="4577" y="671"/>
                  </a:lnTo>
                  <a:lnTo>
                    <a:pt x="4780" y="635"/>
                  </a:lnTo>
                  <a:lnTo>
                    <a:pt x="4982" y="564"/>
                  </a:lnTo>
                  <a:lnTo>
                    <a:pt x="5282" y="493"/>
                  </a:lnTo>
                  <a:lnTo>
                    <a:pt x="5485" y="423"/>
                  </a:lnTo>
                  <a:lnTo>
                    <a:pt x="5485" y="529"/>
                  </a:lnTo>
                  <a:lnTo>
                    <a:pt x="5684" y="564"/>
                  </a:lnTo>
                  <a:lnTo>
                    <a:pt x="5886" y="564"/>
                  </a:lnTo>
                  <a:lnTo>
                    <a:pt x="6089" y="564"/>
                  </a:lnTo>
                  <a:lnTo>
                    <a:pt x="6288" y="564"/>
                  </a:lnTo>
                  <a:lnTo>
                    <a:pt x="6491" y="635"/>
                  </a:lnTo>
                  <a:lnTo>
                    <a:pt x="6641" y="671"/>
                  </a:lnTo>
                  <a:lnTo>
                    <a:pt x="6843" y="635"/>
                  </a:lnTo>
                  <a:lnTo>
                    <a:pt x="6993" y="635"/>
                  </a:lnTo>
                  <a:lnTo>
                    <a:pt x="7196" y="564"/>
                  </a:lnTo>
                  <a:lnTo>
                    <a:pt x="7448" y="529"/>
                  </a:lnTo>
                  <a:lnTo>
                    <a:pt x="7597" y="493"/>
                  </a:lnTo>
                  <a:lnTo>
                    <a:pt x="7747" y="564"/>
                  </a:lnTo>
                  <a:lnTo>
                    <a:pt x="7902" y="635"/>
                  </a:lnTo>
                  <a:lnTo>
                    <a:pt x="8052" y="635"/>
                  </a:lnTo>
                  <a:lnTo>
                    <a:pt x="8303" y="599"/>
                  </a:lnTo>
                  <a:lnTo>
                    <a:pt x="8506" y="564"/>
                  </a:lnTo>
                  <a:lnTo>
                    <a:pt x="8656" y="493"/>
                  </a:lnTo>
                  <a:lnTo>
                    <a:pt x="8806" y="458"/>
                  </a:lnTo>
                  <a:lnTo>
                    <a:pt x="8956" y="423"/>
                  </a:lnTo>
                  <a:lnTo>
                    <a:pt x="9106" y="423"/>
                  </a:lnTo>
                  <a:lnTo>
                    <a:pt x="9308" y="388"/>
                  </a:lnTo>
                  <a:lnTo>
                    <a:pt x="9511" y="352"/>
                  </a:lnTo>
                  <a:lnTo>
                    <a:pt x="9661" y="388"/>
                  </a:lnTo>
                  <a:lnTo>
                    <a:pt x="9811" y="423"/>
                  </a:lnTo>
                  <a:lnTo>
                    <a:pt x="9961" y="493"/>
                  </a:lnTo>
                  <a:lnTo>
                    <a:pt x="10115" y="493"/>
                  </a:lnTo>
                  <a:lnTo>
                    <a:pt x="10415" y="529"/>
                  </a:lnTo>
                  <a:lnTo>
                    <a:pt x="10618" y="529"/>
                  </a:lnTo>
                  <a:lnTo>
                    <a:pt x="10768" y="564"/>
                  </a:lnTo>
                  <a:lnTo>
                    <a:pt x="10918" y="564"/>
                  </a:lnTo>
                  <a:lnTo>
                    <a:pt x="11673" y="599"/>
                  </a:lnTo>
                  <a:lnTo>
                    <a:pt x="12379" y="635"/>
                  </a:lnTo>
                  <a:lnTo>
                    <a:pt x="12529" y="635"/>
                  </a:lnTo>
                  <a:lnTo>
                    <a:pt x="12780" y="564"/>
                  </a:lnTo>
                  <a:lnTo>
                    <a:pt x="12934" y="564"/>
                  </a:lnTo>
                  <a:lnTo>
                    <a:pt x="13084" y="564"/>
                  </a:lnTo>
                  <a:lnTo>
                    <a:pt x="13234" y="671"/>
                  </a:lnTo>
                  <a:lnTo>
                    <a:pt x="13437" y="671"/>
                  </a:lnTo>
                  <a:lnTo>
                    <a:pt x="13587" y="635"/>
                  </a:lnTo>
                  <a:lnTo>
                    <a:pt x="13838" y="635"/>
                  </a:lnTo>
                  <a:lnTo>
                    <a:pt x="14041" y="599"/>
                  </a:lnTo>
                  <a:lnTo>
                    <a:pt x="14239" y="564"/>
                  </a:lnTo>
                  <a:lnTo>
                    <a:pt x="14394" y="564"/>
                  </a:lnTo>
                  <a:lnTo>
                    <a:pt x="14694" y="564"/>
                  </a:lnTo>
                  <a:lnTo>
                    <a:pt x="14844" y="564"/>
                  </a:lnTo>
                  <a:lnTo>
                    <a:pt x="15046" y="529"/>
                  </a:lnTo>
                  <a:lnTo>
                    <a:pt x="15249" y="529"/>
                  </a:lnTo>
                  <a:lnTo>
                    <a:pt x="15399" y="493"/>
                  </a:lnTo>
                  <a:lnTo>
                    <a:pt x="15752" y="564"/>
                  </a:lnTo>
                  <a:lnTo>
                    <a:pt x="15902" y="599"/>
                  </a:lnTo>
                  <a:lnTo>
                    <a:pt x="16052" y="564"/>
                  </a:lnTo>
                  <a:lnTo>
                    <a:pt x="16202" y="599"/>
                  </a:lnTo>
                  <a:lnTo>
                    <a:pt x="16453" y="635"/>
                  </a:lnTo>
                  <a:lnTo>
                    <a:pt x="16656" y="635"/>
                  </a:lnTo>
                  <a:lnTo>
                    <a:pt x="16859" y="564"/>
                  </a:lnTo>
                  <a:lnTo>
                    <a:pt x="17057" y="671"/>
                  </a:lnTo>
                  <a:lnTo>
                    <a:pt x="17212" y="671"/>
                  </a:lnTo>
                  <a:lnTo>
                    <a:pt x="17410" y="635"/>
                  </a:lnTo>
                  <a:lnTo>
                    <a:pt x="17564" y="635"/>
                  </a:lnTo>
                  <a:lnTo>
                    <a:pt x="17763" y="635"/>
                  </a:lnTo>
                  <a:lnTo>
                    <a:pt x="17966" y="671"/>
                  </a:lnTo>
                  <a:lnTo>
                    <a:pt x="18164" y="635"/>
                  </a:lnTo>
                  <a:lnTo>
                    <a:pt x="18367" y="564"/>
                  </a:lnTo>
                  <a:lnTo>
                    <a:pt x="18517" y="564"/>
                  </a:lnTo>
                  <a:lnTo>
                    <a:pt x="18671" y="564"/>
                  </a:lnTo>
                  <a:lnTo>
                    <a:pt x="18870" y="706"/>
                  </a:lnTo>
                  <a:lnTo>
                    <a:pt x="19073" y="812"/>
                  </a:lnTo>
                  <a:lnTo>
                    <a:pt x="19222" y="777"/>
                  </a:lnTo>
                  <a:lnTo>
                    <a:pt x="19275" y="671"/>
                  </a:lnTo>
                  <a:lnTo>
                    <a:pt x="19474" y="564"/>
                  </a:lnTo>
                  <a:lnTo>
                    <a:pt x="19624" y="493"/>
                  </a:lnTo>
                  <a:lnTo>
                    <a:pt x="19778" y="635"/>
                  </a:lnTo>
                  <a:lnTo>
                    <a:pt x="19928" y="635"/>
                  </a:lnTo>
                  <a:lnTo>
                    <a:pt x="20228" y="777"/>
                  </a:lnTo>
                  <a:lnTo>
                    <a:pt x="20382" y="847"/>
                  </a:lnTo>
                  <a:lnTo>
                    <a:pt x="20532" y="812"/>
                  </a:lnTo>
                  <a:lnTo>
                    <a:pt x="20682" y="882"/>
                  </a:lnTo>
                  <a:lnTo>
                    <a:pt x="20982" y="918"/>
                  </a:lnTo>
                  <a:lnTo>
                    <a:pt x="21136" y="918"/>
                  </a:lnTo>
                  <a:lnTo>
                    <a:pt x="21286" y="847"/>
                  </a:lnTo>
                  <a:lnTo>
                    <a:pt x="21489" y="777"/>
                  </a:lnTo>
                  <a:lnTo>
                    <a:pt x="21639" y="918"/>
                  </a:lnTo>
                  <a:lnTo>
                    <a:pt x="21837" y="953"/>
                  </a:lnTo>
                  <a:lnTo>
                    <a:pt x="21992" y="988"/>
                  </a:lnTo>
                  <a:lnTo>
                    <a:pt x="22292" y="1059"/>
                  </a:lnTo>
                  <a:lnTo>
                    <a:pt x="22442" y="1059"/>
                  </a:lnTo>
                  <a:lnTo>
                    <a:pt x="22596" y="1094"/>
                  </a:lnTo>
                  <a:lnTo>
                    <a:pt x="22746" y="1165"/>
                  </a:lnTo>
                  <a:lnTo>
                    <a:pt x="22896" y="1165"/>
                  </a:lnTo>
                  <a:lnTo>
                    <a:pt x="23099" y="1235"/>
                  </a:lnTo>
                  <a:lnTo>
                    <a:pt x="23249" y="1306"/>
                  </a:lnTo>
                  <a:lnTo>
                    <a:pt x="23200" y="0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114FFB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28" name=""/>
          <p:cNvSpPr/>
          <p:nvPr/>
        </p:nvSpPr>
        <p:spPr>
          <a:xfrm>
            <a:off x="8327160" y="1981080"/>
            <a:ext cx="755280" cy="2705400"/>
          </a:xfrm>
          <a:custGeom>
            <a:avLst/>
            <a:gdLst/>
            <a:ahLst/>
            <a:rect l="0" t="0" r="r" b="b"/>
            <a:pathLst>
              <a:path fill="none" w="2098" h="7515">
                <a:moveTo>
                  <a:pt x="0" y="7500"/>
                </a:moveTo>
                <a:lnTo>
                  <a:pt x="0" y="7500"/>
                </a:lnTo>
                <a:cubicBezTo>
                  <a:pt x="57" y="7510"/>
                  <a:pt x="114" y="7515"/>
                  <a:pt x="172" y="7515"/>
                </a:cubicBezTo>
                <a:cubicBezTo>
                  <a:pt x="510" y="7515"/>
                  <a:pt x="842" y="7341"/>
                  <a:pt x="1135" y="7012"/>
                </a:cubicBezTo>
                <a:cubicBezTo>
                  <a:pt x="1428" y="6682"/>
                  <a:pt x="1671" y="6207"/>
                  <a:pt x="1840" y="5636"/>
                </a:cubicBezTo>
                <a:cubicBezTo>
                  <a:pt x="2009" y="5065"/>
                  <a:pt x="2098" y="4417"/>
                  <a:pt x="2098" y="3757"/>
                </a:cubicBezTo>
                <a:cubicBezTo>
                  <a:pt x="2098" y="3098"/>
                  <a:pt x="2009" y="2450"/>
                  <a:pt x="1840" y="1879"/>
                </a:cubicBezTo>
                <a:cubicBezTo>
                  <a:pt x="1671" y="1308"/>
                  <a:pt x="1428" y="833"/>
                  <a:pt x="1135" y="503"/>
                </a:cubicBezTo>
                <a:cubicBezTo>
                  <a:pt x="842" y="174"/>
                  <a:pt x="510" y="0"/>
                  <a:pt x="172" y="0"/>
                </a:cubicBezTo>
                <a:cubicBezTo>
                  <a:pt x="170" y="0"/>
                  <a:pt x="169" y="0"/>
                  <a:pt x="167" y="0"/>
                </a:cubicBezTo>
              </a:path>
            </a:pathLst>
          </a:custGeom>
          <a:ln w="25560">
            <a:solidFill>
              <a:srgbClr val="FC0128"/>
            </a:solidFill>
            <a:round/>
            <a:tailEnd len="med" type="triangle" w="med"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9" name=""/>
          <p:cNvSpPr txBox="1"/>
          <p:nvPr/>
        </p:nvSpPr>
        <p:spPr>
          <a:xfrm>
            <a:off x="3424320" y="5207040"/>
            <a:ext cx="15937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Students.Dat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"/>
          <p:cNvSpPr txBox="1"/>
          <p:nvPr/>
        </p:nvSpPr>
        <p:spPr>
          <a:xfrm>
            <a:off x="272880" y="195120"/>
            <a:ext cx="7769160" cy="63118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SeqWrite.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ENVIRONMENT DIVISION.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INPUT-OUTPUT SECTION.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FILE-CONTROL.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SELECT StudentFile ASSIGN TO "STUDENTS.DAT"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ORGANIZATION IS LINE SEQUENTIAL.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StudentFile.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StudentDetails.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StudentId       PIC 9(7).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StudentName.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Surname      PIC X(8).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Initials  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DateOfBirth.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YOBirth      PIC 9(2).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MOBirth      PIC 9(2).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DOBirth      PIC 9(2).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CourseCode      PIC X(4).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Grant           PIC 9(4).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Gender          PIC 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OPEN OUTPUT StudentFile.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DISPLAY "Enter student details using template below.  Enter no data to end.".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GetStudentDetails.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UNTIL StudentDetails = SPACES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WRITE StudentDetails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PERFORM GetStudentDetails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END-PERFORM.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CLOSE StudentFile.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STOP RUN.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GetStudentDetails.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DISPLAY "NNNNNNNSSSSSSSSIIYYMMDDCCCCGGGGS".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ACCEPT  StudentDetails.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"/>
          <p:cNvSpPr txBox="1"/>
          <p:nvPr/>
        </p:nvSpPr>
        <p:spPr>
          <a:xfrm>
            <a:off x="210960" y="271440"/>
            <a:ext cx="6675480" cy="61657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$ SET SOURCEFORMAT"FREE"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IDENTIFICATION DIVISION.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PROGRAM-ID.  SeqRead.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AUTHOR.  Michael Coughlan.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ENVIRONMENT DIVISION.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INPUT-OUTPUT SECTION.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FILE-CONTROL.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SELECT StudentFile ASSIGN TO “STUDENTS.DAT”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ORGANIZATION IS LINE SEQUENTIAL.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DATA DIVISION.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FILE SECTION.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StudentFile.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StudentDetails.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StudentId       PIC 9(7).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StudentName.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Surname      PIC X(8).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Initials     PIC XX.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DateOfBirth.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YOBirth      PIC 9(2).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MOBirth      PIC 9(2).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DOBirth      PIC 9(2).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CourseCode      PIC X(4).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Grant           PIC 9(4).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Gender          PIC X.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OPEN INPUT StudentFile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READ StudentFile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AT END MOVE HIGH-VALUES TO StudentDetails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END-READ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UNTIL StudentDetails = HIGH-VALUES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DISPLAY StudentId SPACE StudentName SPACE CourseCode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READ StudentFile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AT END MOVE HIGH-VALUES TO StudentDetails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END-READ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END-PERFORM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CLOSE StudentFile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STOP RUN.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>Michael Coughlan</cp:lastModifiedBy>
  <cp:revision>0</cp:revision>
  <dc:subject/>
  <dc:title>Introduction to  Sequential Files</dc:title>
</cp:coreProperties>
</file>