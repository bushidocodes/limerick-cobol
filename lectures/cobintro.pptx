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presProps.xml" ContentType="application/vnd.openxmlformats-officedocument.presentationml.presProps+xml"/>
  <Override PartName="/ppt/media/image1.wmf" ContentType="image/x-wmf"/>
  <Override PartName="/ppt/slides/slide18.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9144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0">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M1">
    <p:spTree>
      <p:nvGrpSpPr>
        <p:cNvPr id="1" name=""/>
        <p:cNvGrpSpPr/>
        <p:nvPr/>
      </p:nvGrpSpPr>
      <p:grpSpPr>
        <a:xfrm>
          <a:off x="0" y="0"/>
          <a:ext cx="0" cy="0"/>
          <a:chOff x="0" y="0"/>
          <a:chExt cx="0" cy="0"/>
        </a:xfrm>
      </p:grpSpPr>
      <p:sp>
        <p:nvSpPr>
          <p:cNvPr id="23" name="PlaceHolder 1"/>
          <p:cNvSpPr>
            <a:spLocks noGrp="1"/>
          </p:cNvSpPr>
          <p:nvPr>
            <p:ph type="title"/>
          </p:nvPr>
        </p:nvSpPr>
        <p:spPr>
          <a:xfrm>
            <a:off x="457200" y="273600"/>
            <a:ext cx="8229240" cy="114480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24" name="PlaceHolder 2"/>
          <p:cNvSpPr>
            <a:spLocks noGrp="1"/>
          </p:cNvSpPr>
          <p:nvPr>
            <p:ph type="subTitle"/>
          </p:nvPr>
        </p:nvSpPr>
        <p:spPr>
          <a:xfrm>
            <a:off x="457200" y="1604520"/>
            <a:ext cx="8229240" cy="39772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
          <p:cNvSpPr/>
          <p:nvPr/>
        </p:nvSpPr>
        <p:spPr>
          <a:xfrm>
            <a:off x="0" y="0"/>
            <a:ext cx="9144000" cy="6858000"/>
          </a:xfrm>
          <a:prstGeom prst="rect">
            <a:avLst/>
          </a:prstGeom>
          <a:gradFill rotWithShape="0">
            <a:gsLst>
              <a:gs pos="0">
                <a:srgbClr val="114FFB"/>
              </a:gs>
              <a:gs pos="100000">
                <a:srgbClr val="FFFFFF"/>
              </a:gs>
            </a:gsLst>
            <a:path path="rect">
              <a:fillToRect l="0" t="0" r="100000" b="100000"/>
            </a:path>
          </a:gradFill>
          <a:ln w="0">
            <a:noFill/>
          </a:ln>
        </p:spPr>
        <p:txBody>
          <a:bodyPr lIns="90000" tIns="45000" rIns="90000" bIns="45000" anchor="t">
            <a:noAutofit/>
          </a:bodyPr>
          <a:p>
            <a:endParaRPr lang="en-US" sz="1800" b="0" u="none" strike="noStrike">
              <a:solidFill>
                <a:srgbClr val="000000"/>
              </a:solidFill>
              <a:effectLst/>
              <a:uFillTx/>
              <a:latin typeface="Arial"/>
            </a:endParaRPr>
          </a:p>
        </p:txBody>
      </p:sp>
      <p:grpSp>
        <p:nvGrpSpPr>
          <p:cNvPr id="3" name=""/>
          <p:cNvGrpSpPr/>
          <p:nvPr/>
        </p:nvGrpSpPr>
        <p:grpSpPr>
          <a:xfrm>
            <a:off x="6629400" y="4343400"/>
            <a:ext cx="2286000" cy="2286000"/>
            <a:chOff x="6629400" y="4343400"/>
            <a:chExt cx="2286000" cy="2286000"/>
          </a:xfrm>
        </p:grpSpPr>
        <p:sp>
          <p:nvSpPr>
            <p:cNvPr id="4" name=""/>
            <p:cNvSpPr/>
            <p:nvPr/>
          </p:nvSpPr>
          <p:spPr>
            <a:xfrm>
              <a:off x="8763120" y="6477120"/>
              <a:ext cx="152280" cy="152280"/>
            </a:xfrm>
            <a:prstGeom prst="rect">
              <a:avLst/>
            </a:prstGeom>
            <a:solidFill>
              <a:srgbClr val="FF0000"/>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5" name=""/>
            <p:cNvSpPr/>
            <p:nvPr/>
          </p:nvSpPr>
          <p:spPr>
            <a:xfrm>
              <a:off x="8458200" y="6477120"/>
              <a:ext cx="152280" cy="152280"/>
            </a:xfrm>
            <a:prstGeom prst="rect">
              <a:avLst/>
            </a:prstGeom>
            <a:solidFill>
              <a:srgbClr val="FF8000"/>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6" name=""/>
            <p:cNvSpPr/>
            <p:nvPr/>
          </p:nvSpPr>
          <p:spPr>
            <a:xfrm>
              <a:off x="8153280" y="6477120"/>
              <a:ext cx="152280" cy="152280"/>
            </a:xfrm>
            <a:prstGeom prst="rect">
              <a:avLst/>
            </a:prstGeom>
            <a:solidFill>
              <a:srgbClr val="FFFF00"/>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7" name=""/>
            <p:cNvSpPr/>
            <p:nvPr/>
          </p:nvSpPr>
          <p:spPr>
            <a:xfrm>
              <a:off x="7848720" y="6477120"/>
              <a:ext cx="152280" cy="152280"/>
            </a:xfrm>
            <a:prstGeom prst="rect">
              <a:avLst/>
            </a:prstGeom>
            <a:solidFill>
              <a:srgbClr val="00FF00"/>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8" name=""/>
            <p:cNvSpPr/>
            <p:nvPr/>
          </p:nvSpPr>
          <p:spPr>
            <a:xfrm>
              <a:off x="7543800" y="6477120"/>
              <a:ext cx="152280" cy="152280"/>
            </a:xfrm>
            <a:prstGeom prst="rect">
              <a:avLst/>
            </a:prstGeom>
            <a:solidFill>
              <a:srgbClr val="00FFFF"/>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9" name=""/>
            <p:cNvSpPr/>
            <p:nvPr/>
          </p:nvSpPr>
          <p:spPr>
            <a:xfrm>
              <a:off x="7238880" y="6477120"/>
              <a:ext cx="152280" cy="152280"/>
            </a:xfrm>
            <a:prstGeom prst="rect">
              <a:avLst/>
            </a:prstGeom>
            <a:solidFill>
              <a:srgbClr val="0000F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10" name=""/>
            <p:cNvSpPr/>
            <p:nvPr/>
          </p:nvSpPr>
          <p:spPr>
            <a:xfrm>
              <a:off x="6934320" y="6477120"/>
              <a:ext cx="152280" cy="152280"/>
            </a:xfrm>
            <a:prstGeom prst="rect">
              <a:avLst/>
            </a:prstGeom>
            <a:solidFill>
              <a:srgbClr val="FF00F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11" name=""/>
            <p:cNvSpPr/>
            <p:nvPr/>
          </p:nvSpPr>
          <p:spPr>
            <a:xfrm>
              <a:off x="6629400" y="6477120"/>
              <a:ext cx="152280" cy="152280"/>
            </a:xfrm>
            <a:prstGeom prst="rect">
              <a:avLst/>
            </a:prstGeom>
            <a:solidFill>
              <a:srgbClr val="A000A0"/>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12" name=""/>
            <p:cNvSpPr/>
            <p:nvPr/>
          </p:nvSpPr>
          <p:spPr>
            <a:xfrm>
              <a:off x="8763120" y="6172200"/>
              <a:ext cx="152280" cy="152280"/>
            </a:xfrm>
            <a:prstGeom prst="rect">
              <a:avLst/>
            </a:prstGeom>
            <a:solidFill>
              <a:srgbClr val="FF8000"/>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13" name=""/>
            <p:cNvSpPr/>
            <p:nvPr/>
          </p:nvSpPr>
          <p:spPr>
            <a:xfrm>
              <a:off x="8763120" y="5867280"/>
              <a:ext cx="152280" cy="152280"/>
            </a:xfrm>
            <a:prstGeom prst="rect">
              <a:avLst/>
            </a:prstGeom>
            <a:solidFill>
              <a:srgbClr val="FFFF00"/>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14" name=""/>
            <p:cNvSpPr/>
            <p:nvPr/>
          </p:nvSpPr>
          <p:spPr>
            <a:xfrm>
              <a:off x="8763120" y="5562720"/>
              <a:ext cx="152280" cy="152280"/>
            </a:xfrm>
            <a:prstGeom prst="rect">
              <a:avLst/>
            </a:prstGeom>
            <a:solidFill>
              <a:srgbClr val="00FF00"/>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15" name=""/>
            <p:cNvSpPr/>
            <p:nvPr/>
          </p:nvSpPr>
          <p:spPr>
            <a:xfrm>
              <a:off x="8763120" y="5257800"/>
              <a:ext cx="152280" cy="152280"/>
            </a:xfrm>
            <a:prstGeom prst="rect">
              <a:avLst/>
            </a:prstGeom>
            <a:solidFill>
              <a:srgbClr val="00FFFF"/>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16" name=""/>
            <p:cNvSpPr/>
            <p:nvPr/>
          </p:nvSpPr>
          <p:spPr>
            <a:xfrm>
              <a:off x="8763120" y="4952880"/>
              <a:ext cx="152280" cy="152280"/>
            </a:xfrm>
            <a:prstGeom prst="rect">
              <a:avLst/>
            </a:prstGeom>
            <a:solidFill>
              <a:srgbClr val="0000F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17" name=""/>
            <p:cNvSpPr/>
            <p:nvPr/>
          </p:nvSpPr>
          <p:spPr>
            <a:xfrm>
              <a:off x="8763120" y="4648320"/>
              <a:ext cx="152280" cy="152280"/>
            </a:xfrm>
            <a:prstGeom prst="rect">
              <a:avLst/>
            </a:prstGeom>
            <a:solidFill>
              <a:srgbClr val="FF00F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18" name=""/>
            <p:cNvSpPr/>
            <p:nvPr/>
          </p:nvSpPr>
          <p:spPr>
            <a:xfrm>
              <a:off x="8763120" y="4343400"/>
              <a:ext cx="152280" cy="152280"/>
            </a:xfrm>
            <a:prstGeom prst="rect">
              <a:avLst/>
            </a:prstGeom>
            <a:solidFill>
              <a:srgbClr val="A000A0"/>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grpSp>
      <p:sp>
        <p:nvSpPr>
          <p:cNvPr id="1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20"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22"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1"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image" Target="../media/image1.wmf"/><Relationship Id="rId2"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 name=""/>
          <p:cNvSpPr/>
          <p:nvPr/>
        </p:nvSpPr>
        <p:spPr>
          <a:xfrm>
            <a:off x="0" y="0"/>
            <a:ext cx="9131400" cy="6845400"/>
          </a:xfrm>
          <a:prstGeom prst="rect">
            <a:avLst/>
          </a:prstGeom>
          <a:gradFill rotWithShape="0">
            <a:gsLst>
              <a:gs pos="0">
                <a:srgbClr val="063DE8"/>
              </a:gs>
              <a:gs pos="100000">
                <a:srgbClr val="FFFFFF"/>
              </a:gs>
            </a:gsLst>
            <a:path path="rect">
              <a:fillToRect l="50000" t="50000" r="50000" b="50000"/>
            </a:path>
          </a:gra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6" name=""/>
          <p:cNvSpPr txBox="1"/>
          <p:nvPr/>
        </p:nvSpPr>
        <p:spPr>
          <a:xfrm>
            <a:off x="2963880" y="2720880"/>
            <a:ext cx="3535200" cy="1079640"/>
          </a:xfrm>
          <a:prstGeom prst="rect">
            <a:avLst/>
          </a:prstGeom>
          <a:noFill/>
          <a:ln w="0">
            <a:noFill/>
          </a:ln>
        </p:spPr>
        <p:txBody>
          <a:bodyPr lIns="0" tIns="0" rIns="0" bIns="0" anchor="t">
            <a:spAutoFit/>
          </a:bodyPr>
          <a:p>
            <a:pPr algn="ctr">
              <a:lnSpc>
                <a:spcPct val="90000"/>
              </a:lnSpc>
            </a:pPr>
            <a:r>
              <a:rPr lang="en-US" sz="3600" b="1" u="none" strike="noStrike">
                <a:solidFill>
                  <a:srgbClr val="FAFD00"/>
                </a:solidFill>
                <a:effectLst/>
                <a:uFillTx/>
                <a:latin typeface="Arial"/>
                <a:ea typeface="Arial"/>
              </a:rPr>
              <a:t>Introduction to </a:t>
            </a:r>
            <a:br>
              <a:rPr sz="3600"/>
            </a:br>
            <a:r>
              <a:rPr lang="en-US" sz="3600" b="1" u="none" strike="noStrike">
                <a:solidFill>
                  <a:srgbClr val="FAFD00"/>
                </a:solidFill>
                <a:effectLst/>
                <a:uFillTx/>
                <a:latin typeface="Arial"/>
                <a:ea typeface="Arial"/>
              </a:rPr>
              <a:t>COBOL </a:t>
            </a:r>
            <a:endParaRPr lang="en-US" sz="3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 name=""/>
          <p:cNvSpPr txBox="1"/>
          <p:nvPr/>
        </p:nvSpPr>
        <p:spPr>
          <a:xfrm>
            <a:off x="3540240" y="227160"/>
            <a:ext cx="1468440" cy="476280"/>
          </a:xfrm>
          <a:prstGeom prst="rect">
            <a:avLst/>
          </a:prstGeom>
          <a:noFill/>
          <a:ln w="0">
            <a:noFill/>
          </a:ln>
        </p:spPr>
        <p:txBody>
          <a:bodyPr lIns="0" tIns="0" rIns="0" bIns="0" anchor="t">
            <a:spAutoFit/>
          </a:bodyPr>
          <a:p>
            <a:pPr>
              <a:lnSpc>
                <a:spcPct val="90000"/>
              </a:lnSpc>
            </a:pPr>
            <a:r>
              <a:rPr lang="en-US" sz="2800" b="1" u="none" strike="noStrike">
                <a:solidFill>
                  <a:srgbClr val="FAFD00"/>
                </a:solidFill>
                <a:effectLst/>
                <a:uFillTx/>
                <a:latin typeface="Arial"/>
                <a:ea typeface="Arial"/>
              </a:rPr>
              <a:t>COBOL</a:t>
            </a:r>
            <a:endParaRPr lang="en-US" sz="2800" b="0" u="none" strike="noStrike">
              <a:solidFill>
                <a:srgbClr val="000000"/>
              </a:solidFill>
              <a:effectLst/>
              <a:uFillTx/>
              <a:latin typeface="Arial"/>
            </a:endParaRPr>
          </a:p>
        </p:txBody>
      </p:sp>
      <p:sp>
        <p:nvSpPr>
          <p:cNvPr id="28" name=""/>
          <p:cNvSpPr txBox="1"/>
          <p:nvPr/>
        </p:nvSpPr>
        <p:spPr>
          <a:xfrm>
            <a:off x="452520" y="981000"/>
            <a:ext cx="8234280" cy="4649400"/>
          </a:xfrm>
          <a:prstGeom prst="rect">
            <a:avLst/>
          </a:prstGeom>
          <a:noFill/>
          <a:ln w="0">
            <a:noFill/>
          </a:ln>
        </p:spPr>
        <p:txBody>
          <a:bodyPr lIns="0" tIns="0" rIns="0" bIns="0" anchor="t">
            <a:spAutoFit/>
          </a:bodyPr>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COBOL is an acronym which stands for</a:t>
            </a:r>
            <a:br>
              <a:rPr sz="2400"/>
            </a:br>
            <a:r>
              <a:rPr lang="en-US" sz="2400" b="1" u="none" strike="noStrike">
                <a:solidFill>
                  <a:srgbClr val="FAFD00"/>
                </a:solidFill>
                <a:effectLst/>
                <a:uFillTx/>
                <a:latin typeface="Arial"/>
                <a:ea typeface="Arial"/>
              </a:rPr>
              <a:t>Co</a:t>
            </a:r>
            <a:r>
              <a:rPr lang="en-US" sz="2400" b="1" u="none" strike="noStrike">
                <a:solidFill>
                  <a:srgbClr val="FFFFFF"/>
                </a:solidFill>
                <a:effectLst/>
                <a:uFillTx/>
                <a:latin typeface="Arial"/>
                <a:ea typeface="Arial"/>
              </a:rPr>
              <a:t>mmon </a:t>
            </a:r>
            <a:r>
              <a:rPr lang="en-US" sz="2400" b="1" u="none" strike="noStrike">
                <a:solidFill>
                  <a:srgbClr val="FAFD00"/>
                </a:solidFill>
                <a:effectLst/>
                <a:uFillTx/>
                <a:latin typeface="Arial"/>
                <a:ea typeface="Arial"/>
              </a:rPr>
              <a:t>B</a:t>
            </a:r>
            <a:r>
              <a:rPr lang="en-US" sz="2400" b="1" u="none" strike="noStrike">
                <a:solidFill>
                  <a:srgbClr val="FFFFFF"/>
                </a:solidFill>
                <a:effectLst/>
                <a:uFillTx/>
                <a:latin typeface="Arial"/>
                <a:ea typeface="Arial"/>
              </a:rPr>
              <a:t>usiness </a:t>
            </a:r>
            <a:r>
              <a:rPr lang="en-US" sz="2400" b="1" u="none" strike="noStrike">
                <a:solidFill>
                  <a:srgbClr val="FAFD00"/>
                </a:solidFill>
                <a:effectLst/>
                <a:uFillTx/>
                <a:latin typeface="Arial"/>
                <a:ea typeface="Arial"/>
              </a:rPr>
              <a:t>O</a:t>
            </a:r>
            <a:r>
              <a:rPr lang="en-US" sz="2400" b="1" u="none" strike="noStrike">
                <a:solidFill>
                  <a:srgbClr val="FFFFFF"/>
                </a:solidFill>
                <a:effectLst/>
                <a:uFillTx/>
                <a:latin typeface="Arial"/>
                <a:ea typeface="Arial"/>
              </a:rPr>
              <a:t>riented </a:t>
            </a:r>
            <a:r>
              <a:rPr lang="en-US" sz="2400" b="1" u="none" strike="noStrike">
                <a:solidFill>
                  <a:srgbClr val="FAFD00"/>
                </a:solidFill>
                <a:effectLst/>
                <a:uFillTx/>
                <a:latin typeface="Arial"/>
                <a:ea typeface="Arial"/>
              </a:rPr>
              <a:t>L</a:t>
            </a:r>
            <a:r>
              <a:rPr lang="en-US" sz="2400" b="1" u="none" strike="noStrike">
                <a:solidFill>
                  <a:srgbClr val="FFFFFF"/>
                </a:solidFill>
                <a:effectLst/>
                <a:uFillTx/>
                <a:latin typeface="Arial"/>
                <a:ea typeface="Arial"/>
              </a:rPr>
              <a:t>anguage.</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The name indicates the target area of COBOL applications.</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COBOL is used for developing business, typically file-oriented, applications.</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It is not designed for writing systems programs.  You would not develop an operating system or a compiler using COBOL.</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COBOL is one of the oldest computer languages in use (it was developed around the end of the 1950s).  As a result it has some idiosyncracies which programmers may find irritating.</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 name=""/>
          <p:cNvSpPr txBox="1"/>
          <p:nvPr/>
        </p:nvSpPr>
        <p:spPr>
          <a:xfrm>
            <a:off x="2523960" y="239760"/>
            <a:ext cx="3782880" cy="476280"/>
          </a:xfrm>
          <a:prstGeom prst="rect">
            <a:avLst/>
          </a:prstGeom>
          <a:noFill/>
          <a:ln w="0">
            <a:noFill/>
          </a:ln>
        </p:spPr>
        <p:txBody>
          <a:bodyPr lIns="0" tIns="0" rIns="0" bIns="0" anchor="t">
            <a:spAutoFit/>
          </a:bodyPr>
          <a:p>
            <a:pPr>
              <a:lnSpc>
                <a:spcPct val="90000"/>
              </a:lnSpc>
            </a:pPr>
            <a:r>
              <a:rPr lang="en-US" sz="2800" b="1" u="none" strike="noStrike">
                <a:solidFill>
                  <a:srgbClr val="FAFD00"/>
                </a:solidFill>
                <a:effectLst/>
                <a:uFillTx/>
                <a:latin typeface="Arial"/>
                <a:ea typeface="Arial"/>
              </a:rPr>
              <a:t>COBOL </a:t>
            </a:r>
            <a:r>
              <a:rPr lang="en-US" sz="2400" b="1" u="none" strike="noStrike">
                <a:solidFill>
                  <a:srgbClr val="FAFD00"/>
                </a:solidFill>
                <a:effectLst/>
                <a:uFillTx/>
                <a:latin typeface="Arial"/>
                <a:ea typeface="Arial"/>
              </a:rPr>
              <a:t>idiosyncracies</a:t>
            </a:r>
            <a:r>
              <a:rPr lang="en-US" sz="2800" b="1" u="none" strike="noStrike">
                <a:solidFill>
                  <a:srgbClr val="FAFD00"/>
                </a:solidFill>
                <a:effectLst/>
                <a:uFillTx/>
                <a:latin typeface="Arial"/>
                <a:ea typeface="Arial"/>
              </a:rPr>
              <a:t> </a:t>
            </a:r>
            <a:endParaRPr lang="en-US" sz="2800" b="0" u="none" strike="noStrike">
              <a:solidFill>
                <a:srgbClr val="000000"/>
              </a:solidFill>
              <a:effectLst/>
              <a:uFillTx/>
              <a:latin typeface="Arial"/>
            </a:endParaRPr>
          </a:p>
        </p:txBody>
      </p:sp>
      <p:sp>
        <p:nvSpPr>
          <p:cNvPr id="30" name=""/>
          <p:cNvSpPr txBox="1"/>
          <p:nvPr/>
        </p:nvSpPr>
        <p:spPr>
          <a:xfrm>
            <a:off x="173160" y="816120"/>
            <a:ext cx="8691480" cy="4995720"/>
          </a:xfrm>
          <a:prstGeom prst="rect">
            <a:avLst/>
          </a:prstGeom>
          <a:noFill/>
          <a:ln w="0">
            <a:noFill/>
          </a:ln>
        </p:spPr>
        <p:txBody>
          <a:bodyPr lIns="0" tIns="0" rIns="0" bIns="0" anchor="t">
            <a:spAutoFit/>
          </a:bodyPr>
          <a:p>
            <a:pPr marL="380880" indent="-380880">
              <a:lnSpc>
                <a:spcPct val="85000"/>
              </a:lnSpc>
              <a:spcBef>
                <a:spcPts val="1199"/>
              </a:spcBef>
              <a:buClr>
                <a:srgbClr val="FC0128"/>
              </a:buClr>
              <a:buSzPct val="75000"/>
              <a:buFont typeface="Wingdings"/>
              <a:buChar char="_x0000_"/>
            </a:pPr>
            <a:r>
              <a:rPr lang="en-US" sz="2400" b="1" u="none" strike="noStrike">
                <a:solidFill>
                  <a:srgbClr val="FFFFFF"/>
                </a:solidFill>
                <a:effectLst/>
                <a:uFillTx/>
                <a:latin typeface="Arial"/>
                <a:ea typeface="Arial"/>
              </a:rPr>
              <a:t>One of the design goals was to make the language as English-like as possible. As a consequence</a:t>
            </a:r>
            <a:endParaRPr lang="en-US" sz="2400" b="0" u="none" strike="noStrike">
              <a:solidFill>
                <a:srgbClr val="000000"/>
              </a:solidFill>
              <a:effectLst/>
              <a:uFillTx/>
              <a:latin typeface="Arial"/>
            </a:endParaRPr>
          </a:p>
          <a:p>
            <a:pPr marL="952560" lvl="1" indent="-380880">
              <a:lnSpc>
                <a:spcPct val="85000"/>
              </a:lnSpc>
              <a:spcBef>
                <a:spcPts val="1199"/>
              </a:spcBef>
              <a:buClr>
                <a:srgbClr val="00FF00"/>
              </a:buClr>
              <a:buSzPct val="65000"/>
              <a:buFont typeface="Monotype Sorts"/>
              <a:buChar char="_x0000_"/>
            </a:pPr>
            <a:r>
              <a:rPr lang="en-US" sz="2400" b="1" u="none" strike="noStrike">
                <a:solidFill>
                  <a:srgbClr val="FFFFFF"/>
                </a:solidFill>
                <a:effectLst/>
                <a:uFillTx/>
                <a:latin typeface="Times New Roman"/>
                <a:ea typeface="Times New Roman"/>
              </a:rPr>
              <a:t>the COBOL reserved word list is quite extensive and contains hundreds of entries.</a:t>
            </a:r>
            <a:endParaRPr lang="en-US" sz="2400" b="0" u="none" strike="noStrike">
              <a:solidFill>
                <a:srgbClr val="000000"/>
              </a:solidFill>
              <a:effectLst/>
              <a:uFillTx/>
              <a:latin typeface="Arial"/>
            </a:endParaRPr>
          </a:p>
          <a:p>
            <a:pPr marL="952560" lvl="1" indent="-380880">
              <a:lnSpc>
                <a:spcPct val="85000"/>
              </a:lnSpc>
              <a:spcBef>
                <a:spcPts val="1199"/>
              </a:spcBef>
              <a:buClr>
                <a:srgbClr val="00FF00"/>
              </a:buClr>
              <a:buSzPct val="65000"/>
              <a:buFont typeface="Monotype Sorts"/>
              <a:buChar char="_x0000_"/>
            </a:pPr>
            <a:r>
              <a:rPr lang="en-US" sz="2400" b="1" u="none" strike="noStrike">
                <a:solidFill>
                  <a:srgbClr val="FFFFFF"/>
                </a:solidFill>
                <a:effectLst/>
                <a:uFillTx/>
                <a:latin typeface="Times New Roman"/>
                <a:ea typeface="Times New Roman"/>
              </a:rPr>
              <a:t>COBOL uses structural concepts normally associated with English prose such as section, paragraph, sentence and so on. </a:t>
            </a:r>
            <a:br>
              <a:rPr sz="2400"/>
            </a:br>
            <a:r>
              <a:rPr lang="en-US" sz="2400" b="1" u="none" strike="noStrike">
                <a:solidFill>
                  <a:srgbClr val="FFFFFF"/>
                </a:solidFill>
                <a:effectLst/>
                <a:uFillTx/>
                <a:latin typeface="Times New Roman"/>
                <a:ea typeface="Times New Roman"/>
              </a:rPr>
              <a:t>As a result COBOL programs tend to be verbose.</a:t>
            </a:r>
            <a:endParaRPr lang="en-US" sz="2400" b="0" u="none" strike="noStrike">
              <a:solidFill>
                <a:srgbClr val="000000"/>
              </a:solidFill>
              <a:effectLst/>
              <a:uFillTx/>
              <a:latin typeface="Arial"/>
            </a:endParaRPr>
          </a:p>
          <a:p>
            <a:pPr marL="380880" indent="-380880">
              <a:lnSpc>
                <a:spcPct val="85000"/>
              </a:lnSpc>
              <a:spcBef>
                <a:spcPts val="1199"/>
              </a:spcBef>
              <a:buClr>
                <a:srgbClr val="FC0128"/>
              </a:buClr>
              <a:buSzPct val="75000"/>
              <a:buFont typeface="Wingdings"/>
              <a:buChar char="_x0000_"/>
            </a:pPr>
            <a:r>
              <a:rPr lang="en-US" sz="2400" b="1" u="none" strike="noStrike">
                <a:solidFill>
                  <a:srgbClr val="FFFFFF"/>
                </a:solidFill>
                <a:effectLst/>
                <a:uFillTx/>
                <a:latin typeface="Arial"/>
                <a:ea typeface="Arial"/>
              </a:rPr>
              <a:t>Some implementations require the program text to adhere to certain, archaic, formatting restrictions.</a:t>
            </a:r>
            <a:endParaRPr lang="en-US" sz="2400" b="0" u="none" strike="noStrike">
              <a:solidFill>
                <a:srgbClr val="000000"/>
              </a:solidFill>
              <a:effectLst/>
              <a:uFillTx/>
              <a:latin typeface="Arial"/>
            </a:endParaRPr>
          </a:p>
          <a:p>
            <a:pPr marL="380880" indent="-380880">
              <a:lnSpc>
                <a:spcPct val="85000"/>
              </a:lnSpc>
              <a:spcBef>
                <a:spcPts val="1199"/>
              </a:spcBef>
              <a:buClr>
                <a:srgbClr val="FC0128"/>
              </a:buClr>
              <a:buSzPct val="75000"/>
              <a:buFont typeface="Wingdings"/>
              <a:buChar char="_x0000_"/>
            </a:pPr>
            <a:r>
              <a:rPr lang="en-US" sz="2400" b="1" u="none" strike="noStrike">
                <a:solidFill>
                  <a:srgbClr val="FFFFFF"/>
                </a:solidFill>
                <a:effectLst/>
                <a:uFillTx/>
                <a:latin typeface="Arial"/>
                <a:ea typeface="Arial"/>
              </a:rPr>
              <a:t>Although modern COBOL has introduced many of the constructs required to write well structured programs it also still retains elements which, if used, make it difficult, and in some cases impossible, to write good programs. </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 name=""/>
          <p:cNvSpPr txBox="1"/>
          <p:nvPr/>
        </p:nvSpPr>
        <p:spPr>
          <a:xfrm>
            <a:off x="717480" y="122400"/>
            <a:ext cx="7691400" cy="476280"/>
          </a:xfrm>
          <a:prstGeom prst="rect">
            <a:avLst/>
          </a:prstGeom>
          <a:noFill/>
          <a:ln w="0">
            <a:noFill/>
          </a:ln>
        </p:spPr>
        <p:txBody>
          <a:bodyPr lIns="0" tIns="0" rIns="0" bIns="0" anchor="t">
            <a:spAutoFit/>
          </a:bodyPr>
          <a:p>
            <a:pPr>
              <a:lnSpc>
                <a:spcPct val="90000"/>
              </a:lnSpc>
            </a:pPr>
            <a:r>
              <a:rPr lang="en-US" sz="2800" b="1" u="none" strike="noStrike">
                <a:solidFill>
                  <a:srgbClr val="FAFD00"/>
                </a:solidFill>
                <a:effectLst/>
                <a:uFillTx/>
                <a:latin typeface="Arial"/>
                <a:ea typeface="Arial"/>
              </a:rPr>
              <a:t>The COBOL Metalanguage - Syntax Notation</a:t>
            </a:r>
            <a:endParaRPr lang="en-US" sz="2800" b="0" u="none" strike="noStrike">
              <a:solidFill>
                <a:srgbClr val="000000"/>
              </a:solidFill>
              <a:effectLst/>
              <a:uFillTx/>
              <a:latin typeface="Arial"/>
            </a:endParaRPr>
          </a:p>
        </p:txBody>
      </p:sp>
      <p:sp>
        <p:nvSpPr>
          <p:cNvPr id="32" name=""/>
          <p:cNvSpPr txBox="1"/>
          <p:nvPr/>
        </p:nvSpPr>
        <p:spPr>
          <a:xfrm>
            <a:off x="168120" y="762120"/>
            <a:ext cx="8747280" cy="5432760"/>
          </a:xfrm>
          <a:prstGeom prst="rect">
            <a:avLst/>
          </a:prstGeom>
          <a:noFill/>
          <a:ln w="0">
            <a:noFill/>
          </a:ln>
        </p:spPr>
        <p:txBody>
          <a:bodyPr lIns="0" tIns="0" rIns="0" bIns="0" anchor="t">
            <a:spAutoFit/>
          </a:bodyPr>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Words in uppercase are reserved words.</a:t>
            </a:r>
            <a:endParaRPr lang="en-US" sz="2400" b="0" u="none" strike="noStrike">
              <a:solidFill>
                <a:srgbClr val="000000"/>
              </a:solidFill>
              <a:effectLst/>
              <a:uFillTx/>
              <a:latin typeface="Arial"/>
            </a:endParaRPr>
          </a:p>
          <a:p>
            <a:pPr marL="952560" lvl="1" indent="-380880">
              <a:lnSpc>
                <a:spcPct val="90000"/>
              </a:lnSpc>
              <a:spcBef>
                <a:spcPts val="720"/>
              </a:spcBef>
              <a:buClr>
                <a:srgbClr val="00FF00"/>
              </a:buClr>
              <a:buSzPct val="65000"/>
              <a:buFont typeface="Monotype Sorts"/>
              <a:buChar char="_x0000_"/>
            </a:pPr>
            <a:r>
              <a:rPr lang="en-US" sz="2400" b="1" u="none" strike="noStrike">
                <a:solidFill>
                  <a:srgbClr val="FFFFFF"/>
                </a:solidFill>
                <a:effectLst/>
                <a:uFillTx/>
                <a:latin typeface="Times New Roman"/>
                <a:ea typeface="Times New Roman"/>
              </a:rPr>
              <a:t>When underlined they must be present when the operation of which they are a part is used.</a:t>
            </a:r>
            <a:endParaRPr lang="en-US" sz="2400" b="0" u="none" strike="noStrike">
              <a:solidFill>
                <a:srgbClr val="000000"/>
              </a:solidFill>
              <a:effectLst/>
              <a:uFillTx/>
              <a:latin typeface="Arial"/>
            </a:endParaRPr>
          </a:p>
          <a:p>
            <a:pPr marL="952560" lvl="1" indent="-380880">
              <a:lnSpc>
                <a:spcPct val="90000"/>
              </a:lnSpc>
              <a:spcBef>
                <a:spcPts val="720"/>
              </a:spcBef>
              <a:buClr>
                <a:srgbClr val="00FF00"/>
              </a:buClr>
              <a:buSzPct val="65000"/>
              <a:buFont typeface="Monotype Sorts"/>
              <a:buChar char="_x0000_"/>
            </a:pPr>
            <a:r>
              <a:rPr lang="en-US" sz="2400" b="1" u="none" strike="noStrike">
                <a:solidFill>
                  <a:srgbClr val="FFFFFF"/>
                </a:solidFill>
                <a:effectLst/>
                <a:uFillTx/>
                <a:latin typeface="Times New Roman"/>
                <a:ea typeface="Times New Roman"/>
              </a:rPr>
              <a:t>When they are not underlined the used for readability only and are optional. If used they must be spelt correctly.</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Words in mixed case represent names which will be devised by the programmer.</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When material is enclosed in braces { } a choice must be made from the options within the braces.</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Material is enclosed in square brackets [ ] indicates that the material is an option which may be included or omitted as required.</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The ellipsis symbol ‘...’ indicates that the preceding syntax element may be repeated at the programmer’s discretion.</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 name=""/>
          <p:cNvSpPr txBox="1"/>
          <p:nvPr/>
        </p:nvSpPr>
        <p:spPr>
          <a:xfrm>
            <a:off x="2786040" y="1000080"/>
            <a:ext cx="2557440" cy="642960"/>
          </a:xfrm>
          <a:prstGeom prst="rect">
            <a:avLst/>
          </a:prstGeom>
          <a:solidFill>
            <a:srgbClr val="DADADA"/>
          </a:solidFill>
          <a:ln w="25560">
            <a:solidFill>
              <a:srgbClr val="676767"/>
            </a:solidFill>
            <a:round/>
          </a:ln>
          <a:effectLst>
            <a:outerShdw dist="0" dir="0" rotWithShape="0">
              <a:srgbClr val="919191"/>
            </a:outerShdw>
          </a:effectLst>
        </p:spPr>
        <p:txBody>
          <a:bodyPr lIns="0" tIns="0" rIns="0" bIns="0" anchor="t">
            <a:spAutoFit/>
          </a:bodyPr>
          <a:p>
            <a:pPr marL="190440" indent="-190440" algn="ctr">
              <a:lnSpc>
                <a:spcPct val="103000"/>
              </a:lnSpc>
              <a:spcAft>
                <a:spcPts val="1247"/>
              </a:spcAft>
            </a:pPr>
            <a:r>
              <a:rPr lang="en-US" sz="3200" b="1" u="none" strike="noStrike">
                <a:solidFill>
                  <a:srgbClr val="114FFB"/>
                </a:solidFill>
                <a:effectLst/>
                <a:uFillTx/>
                <a:latin typeface="Arial"/>
                <a:ea typeface="Arial"/>
              </a:rPr>
              <a:t>Program</a:t>
            </a:r>
            <a:endParaRPr lang="en-US" sz="3200" b="0" u="none" strike="noStrike">
              <a:solidFill>
                <a:srgbClr val="000000"/>
              </a:solidFill>
              <a:effectLst/>
              <a:uFillTx/>
              <a:latin typeface="Arial"/>
            </a:endParaRPr>
          </a:p>
        </p:txBody>
      </p:sp>
      <p:sp>
        <p:nvSpPr>
          <p:cNvPr id="34" name=""/>
          <p:cNvSpPr/>
          <p:nvPr/>
        </p:nvSpPr>
        <p:spPr>
          <a:xfrm>
            <a:off x="2786040" y="3581280"/>
            <a:ext cx="2557440" cy="642960"/>
          </a:xfrm>
          <a:prstGeom prst="rect">
            <a:avLst/>
          </a:prstGeom>
          <a:solidFill>
            <a:srgbClr val="DADADA"/>
          </a:solidFill>
          <a:ln w="25560">
            <a:solidFill>
              <a:srgbClr val="676767"/>
            </a:solidFill>
            <a:round/>
          </a:ln>
        </p:spPr>
        <p:txBody>
          <a:bodyPr lIns="102600" tIns="57600" rIns="102600" bIns="57600" anchor="t">
            <a:noAutofit/>
          </a:bodyPr>
          <a:p>
            <a:endParaRPr lang="en-US" sz="1800" b="0" u="none" strike="noStrike">
              <a:solidFill>
                <a:srgbClr val="000000"/>
              </a:solidFill>
              <a:effectLst/>
              <a:uFillTx/>
              <a:latin typeface="Arial"/>
            </a:endParaRPr>
          </a:p>
        </p:txBody>
      </p:sp>
      <p:sp>
        <p:nvSpPr>
          <p:cNvPr id="35" name=""/>
          <p:cNvSpPr/>
          <p:nvPr/>
        </p:nvSpPr>
        <p:spPr>
          <a:xfrm>
            <a:off x="2786040" y="4448160"/>
            <a:ext cx="2557440" cy="642960"/>
          </a:xfrm>
          <a:prstGeom prst="rect">
            <a:avLst/>
          </a:prstGeom>
          <a:solidFill>
            <a:srgbClr val="DADADA"/>
          </a:solidFill>
          <a:ln w="25560">
            <a:solidFill>
              <a:srgbClr val="676767"/>
            </a:solidFill>
            <a:round/>
          </a:ln>
        </p:spPr>
        <p:txBody>
          <a:bodyPr lIns="102600" tIns="57600" rIns="102600" bIns="57600" anchor="t">
            <a:noAutofit/>
          </a:bodyPr>
          <a:p>
            <a:endParaRPr lang="en-US" sz="1800" b="0" u="none" strike="noStrike">
              <a:solidFill>
                <a:srgbClr val="000000"/>
              </a:solidFill>
              <a:effectLst/>
              <a:uFillTx/>
              <a:latin typeface="Arial"/>
            </a:endParaRPr>
          </a:p>
        </p:txBody>
      </p:sp>
      <p:sp>
        <p:nvSpPr>
          <p:cNvPr id="36" name=""/>
          <p:cNvSpPr/>
          <p:nvPr/>
        </p:nvSpPr>
        <p:spPr>
          <a:xfrm>
            <a:off x="2786040" y="5315040"/>
            <a:ext cx="2557440" cy="642960"/>
          </a:xfrm>
          <a:prstGeom prst="rect">
            <a:avLst/>
          </a:prstGeom>
          <a:solidFill>
            <a:srgbClr val="DADADA"/>
          </a:solidFill>
          <a:ln w="25560">
            <a:solidFill>
              <a:srgbClr val="676767"/>
            </a:solidFill>
            <a:round/>
          </a:ln>
        </p:spPr>
        <p:txBody>
          <a:bodyPr lIns="102600" tIns="57600" rIns="102600" bIns="57600" anchor="t">
            <a:noAutofit/>
          </a:bodyPr>
          <a:p>
            <a:endParaRPr lang="en-US" sz="1800" b="0" u="none" strike="noStrike">
              <a:solidFill>
                <a:srgbClr val="000000"/>
              </a:solidFill>
              <a:effectLst/>
              <a:uFillTx/>
              <a:latin typeface="Arial"/>
            </a:endParaRPr>
          </a:p>
        </p:txBody>
      </p:sp>
      <p:sp>
        <p:nvSpPr>
          <p:cNvPr id="37" name=""/>
          <p:cNvSpPr/>
          <p:nvPr/>
        </p:nvSpPr>
        <p:spPr>
          <a:xfrm>
            <a:off x="2786040" y="1852560"/>
            <a:ext cx="2557440" cy="642960"/>
          </a:xfrm>
          <a:prstGeom prst="rect">
            <a:avLst/>
          </a:prstGeom>
          <a:solidFill>
            <a:srgbClr val="DADADA"/>
          </a:solidFill>
          <a:ln w="25560">
            <a:solidFill>
              <a:srgbClr val="676767"/>
            </a:solidFill>
            <a:round/>
          </a:ln>
        </p:spPr>
        <p:txBody>
          <a:bodyPr lIns="102600" tIns="57600" rIns="102600" bIns="57600" anchor="t">
            <a:noAutofit/>
          </a:bodyPr>
          <a:p>
            <a:endParaRPr lang="en-US" sz="1800" b="0" u="none" strike="noStrike">
              <a:solidFill>
                <a:srgbClr val="000000"/>
              </a:solidFill>
              <a:effectLst/>
              <a:uFillTx/>
              <a:latin typeface="Arial"/>
            </a:endParaRPr>
          </a:p>
        </p:txBody>
      </p:sp>
      <p:sp>
        <p:nvSpPr>
          <p:cNvPr id="38" name=""/>
          <p:cNvSpPr/>
          <p:nvPr/>
        </p:nvSpPr>
        <p:spPr>
          <a:xfrm>
            <a:off x="2786040" y="2722680"/>
            <a:ext cx="2557440" cy="642960"/>
          </a:xfrm>
          <a:prstGeom prst="rect">
            <a:avLst/>
          </a:prstGeom>
          <a:solidFill>
            <a:srgbClr val="DADADA"/>
          </a:solidFill>
          <a:ln w="25560">
            <a:solidFill>
              <a:srgbClr val="676767"/>
            </a:solidFill>
            <a:round/>
          </a:ln>
        </p:spPr>
        <p:txBody>
          <a:bodyPr lIns="102600" tIns="57600" rIns="102600" bIns="57600" anchor="t">
            <a:noAutofit/>
          </a:bodyPr>
          <a:p>
            <a:endParaRPr lang="en-US" sz="1800" b="0" u="none" strike="noStrike">
              <a:solidFill>
                <a:srgbClr val="000000"/>
              </a:solidFill>
              <a:effectLst/>
              <a:uFillTx/>
              <a:latin typeface="Arial"/>
            </a:endParaRPr>
          </a:p>
        </p:txBody>
      </p:sp>
      <p:sp>
        <p:nvSpPr>
          <p:cNvPr id="39" name=""/>
          <p:cNvSpPr/>
          <p:nvPr/>
        </p:nvSpPr>
        <p:spPr>
          <a:xfrm>
            <a:off x="4014720" y="1643040"/>
            <a:ext cx="0" cy="214200"/>
          </a:xfrm>
          <a:prstGeom prst="line">
            <a:avLst/>
          </a:prstGeom>
          <a:ln w="25560">
            <a:solidFill>
              <a:srgbClr val="676767"/>
            </a:solidFill>
            <a:round/>
          </a:ln>
        </p:spPr>
        <p:style>
          <a:lnRef idx="0"/>
          <a:fillRef idx="0"/>
          <a:effectRef idx="0"/>
          <a:fontRef idx="minor"/>
        </p:style>
        <p:txBody>
          <a:bodyPr lIns="102600" tIns="57600" rIns="102600" bIns="57600" anchor="t">
            <a:noAutofit/>
          </a:bodyPr>
          <a:p>
            <a:endParaRPr lang="en-US" sz="1800" b="0" u="none" strike="noStrike">
              <a:solidFill>
                <a:srgbClr val="000000"/>
              </a:solidFill>
              <a:effectLst/>
              <a:uFillTx/>
              <a:latin typeface="Arial"/>
            </a:endParaRPr>
          </a:p>
        </p:txBody>
      </p:sp>
      <p:sp>
        <p:nvSpPr>
          <p:cNvPr id="40" name=""/>
          <p:cNvSpPr/>
          <p:nvPr/>
        </p:nvSpPr>
        <p:spPr>
          <a:xfrm>
            <a:off x="4000680" y="2486160"/>
            <a:ext cx="0" cy="228600"/>
          </a:xfrm>
          <a:prstGeom prst="line">
            <a:avLst/>
          </a:prstGeom>
          <a:ln w="25560">
            <a:solidFill>
              <a:srgbClr val="676767"/>
            </a:solidFill>
            <a:round/>
          </a:ln>
        </p:spPr>
        <p:style>
          <a:lnRef idx="0"/>
          <a:fillRef idx="0"/>
          <a:effectRef idx="0"/>
          <a:fontRef idx="minor"/>
        </p:style>
        <p:txBody>
          <a:bodyPr lIns="102600" tIns="57600" rIns="102600" bIns="57600" anchor="t">
            <a:noAutofit/>
          </a:bodyPr>
          <a:p>
            <a:endParaRPr lang="en-US" sz="1800" b="0" u="none" strike="noStrike">
              <a:solidFill>
                <a:srgbClr val="000000"/>
              </a:solidFill>
              <a:effectLst/>
              <a:uFillTx/>
              <a:latin typeface="Arial"/>
            </a:endParaRPr>
          </a:p>
        </p:txBody>
      </p:sp>
      <p:sp>
        <p:nvSpPr>
          <p:cNvPr id="41" name=""/>
          <p:cNvSpPr/>
          <p:nvPr/>
        </p:nvSpPr>
        <p:spPr>
          <a:xfrm>
            <a:off x="4000680" y="3386160"/>
            <a:ext cx="0" cy="200160"/>
          </a:xfrm>
          <a:prstGeom prst="line">
            <a:avLst/>
          </a:prstGeom>
          <a:ln w="25560">
            <a:solidFill>
              <a:srgbClr val="676767"/>
            </a:solidFill>
            <a:round/>
          </a:ln>
        </p:spPr>
        <p:style>
          <a:lnRef idx="0"/>
          <a:fillRef idx="0"/>
          <a:effectRef idx="0"/>
          <a:fontRef idx="minor"/>
        </p:style>
        <p:txBody>
          <a:bodyPr lIns="102600" tIns="57600" rIns="102600" bIns="57600" anchor="t">
            <a:noAutofit/>
          </a:bodyPr>
          <a:p>
            <a:endParaRPr lang="en-US" sz="1800" b="0" u="none" strike="noStrike">
              <a:solidFill>
                <a:srgbClr val="000000"/>
              </a:solidFill>
              <a:effectLst/>
              <a:uFillTx/>
              <a:latin typeface="Arial"/>
            </a:endParaRPr>
          </a:p>
        </p:txBody>
      </p:sp>
      <p:sp>
        <p:nvSpPr>
          <p:cNvPr id="42" name=""/>
          <p:cNvSpPr/>
          <p:nvPr/>
        </p:nvSpPr>
        <p:spPr>
          <a:xfrm>
            <a:off x="4000680" y="4243320"/>
            <a:ext cx="0" cy="214560"/>
          </a:xfrm>
          <a:prstGeom prst="line">
            <a:avLst/>
          </a:prstGeom>
          <a:ln w="25560">
            <a:solidFill>
              <a:srgbClr val="676767"/>
            </a:solidFill>
            <a:round/>
          </a:ln>
        </p:spPr>
        <p:style>
          <a:lnRef idx="0"/>
          <a:fillRef idx="0"/>
          <a:effectRef idx="0"/>
          <a:fontRef idx="minor"/>
        </p:style>
        <p:txBody>
          <a:bodyPr lIns="102600" tIns="57600" rIns="102600" bIns="57600" anchor="t">
            <a:noAutofit/>
          </a:bodyPr>
          <a:p>
            <a:endParaRPr lang="en-US" sz="1800" b="0" u="none" strike="noStrike">
              <a:solidFill>
                <a:srgbClr val="000000"/>
              </a:solidFill>
              <a:effectLst/>
              <a:uFillTx/>
              <a:latin typeface="Arial"/>
            </a:endParaRPr>
          </a:p>
        </p:txBody>
      </p:sp>
      <p:sp>
        <p:nvSpPr>
          <p:cNvPr id="43" name=""/>
          <p:cNvSpPr/>
          <p:nvPr/>
        </p:nvSpPr>
        <p:spPr>
          <a:xfrm>
            <a:off x="4000680" y="5100480"/>
            <a:ext cx="0" cy="228600"/>
          </a:xfrm>
          <a:prstGeom prst="line">
            <a:avLst/>
          </a:prstGeom>
          <a:ln w="25560">
            <a:solidFill>
              <a:srgbClr val="676767"/>
            </a:solidFill>
            <a:round/>
          </a:ln>
        </p:spPr>
        <p:style>
          <a:lnRef idx="0"/>
          <a:fillRef idx="0"/>
          <a:effectRef idx="0"/>
          <a:fontRef idx="minor"/>
        </p:style>
        <p:txBody>
          <a:bodyPr lIns="102600" tIns="57600" rIns="102600" bIns="57600" anchor="t">
            <a:noAutofit/>
          </a:bodyPr>
          <a:p>
            <a:endParaRPr lang="en-US" sz="1800" b="0" u="none" strike="noStrike">
              <a:solidFill>
                <a:srgbClr val="000000"/>
              </a:solidFill>
              <a:effectLst/>
              <a:uFillTx/>
              <a:latin typeface="Arial"/>
            </a:endParaRPr>
          </a:p>
        </p:txBody>
      </p:sp>
      <p:sp>
        <p:nvSpPr>
          <p:cNvPr id="44" name=""/>
          <p:cNvSpPr txBox="1"/>
          <p:nvPr/>
        </p:nvSpPr>
        <p:spPr>
          <a:xfrm>
            <a:off x="2997360" y="1976400"/>
            <a:ext cx="2193840" cy="3929040"/>
          </a:xfrm>
          <a:prstGeom prst="rect">
            <a:avLst/>
          </a:prstGeom>
          <a:noFill/>
          <a:ln w="0">
            <a:noFill/>
          </a:ln>
        </p:spPr>
        <p:txBody>
          <a:bodyPr lIns="0" tIns="0" rIns="0" bIns="0" anchor="t">
            <a:spAutoFit/>
          </a:bodyPr>
          <a:p>
            <a:pPr marL="380880" indent="-380880" algn="ctr">
              <a:lnSpc>
                <a:spcPct val="100000"/>
              </a:lnSpc>
              <a:spcBef>
                <a:spcPts val="2401"/>
              </a:spcBef>
            </a:pPr>
            <a:r>
              <a:rPr lang="en-US" sz="2800" b="1" u="none" strike="noStrike">
                <a:solidFill>
                  <a:srgbClr val="FC0128"/>
                </a:solidFill>
                <a:effectLst/>
                <a:uFillTx/>
                <a:latin typeface="Arial"/>
                <a:ea typeface="Arial"/>
              </a:rPr>
              <a:t>Divisions</a:t>
            </a:r>
            <a:endParaRPr lang="en-US" sz="2800" b="0" u="none" strike="noStrike">
              <a:solidFill>
                <a:srgbClr val="000000"/>
              </a:solidFill>
              <a:effectLst/>
              <a:uFillTx/>
              <a:latin typeface="Arial"/>
            </a:endParaRPr>
          </a:p>
          <a:p>
            <a:pPr marL="380880" indent="-380880" algn="ctr">
              <a:lnSpc>
                <a:spcPct val="100000"/>
              </a:lnSpc>
              <a:spcBef>
                <a:spcPts val="2401"/>
              </a:spcBef>
            </a:pPr>
            <a:r>
              <a:rPr lang="en-US" sz="2800" b="1" u="none" strike="noStrike">
                <a:solidFill>
                  <a:srgbClr val="438E00"/>
                </a:solidFill>
                <a:effectLst/>
                <a:uFillTx/>
                <a:latin typeface="Arial"/>
                <a:ea typeface="Arial"/>
              </a:rPr>
              <a:t>Section(s)</a:t>
            </a:r>
            <a:endParaRPr lang="en-US" sz="2800" b="0" u="none" strike="noStrike">
              <a:solidFill>
                <a:srgbClr val="000000"/>
              </a:solidFill>
              <a:effectLst/>
              <a:uFillTx/>
              <a:latin typeface="Arial"/>
            </a:endParaRPr>
          </a:p>
          <a:p>
            <a:pPr marL="380880" indent="-380880" algn="ctr">
              <a:lnSpc>
                <a:spcPct val="100000"/>
              </a:lnSpc>
              <a:spcBef>
                <a:spcPts val="2401"/>
              </a:spcBef>
            </a:pPr>
            <a:r>
              <a:rPr lang="en-US" sz="2800" b="1" u="none" strike="noStrike">
                <a:solidFill>
                  <a:srgbClr val="CF0E30"/>
                </a:solidFill>
                <a:effectLst/>
                <a:uFillTx/>
                <a:latin typeface="Arial"/>
                <a:ea typeface="Arial"/>
              </a:rPr>
              <a:t>Paragraph(s)</a:t>
            </a:r>
            <a:endParaRPr lang="en-US" sz="2800" b="0" u="none" strike="noStrike">
              <a:solidFill>
                <a:srgbClr val="000000"/>
              </a:solidFill>
              <a:effectLst/>
              <a:uFillTx/>
              <a:latin typeface="Arial"/>
            </a:endParaRPr>
          </a:p>
          <a:p>
            <a:pPr marL="380880" indent="-380880" algn="ctr">
              <a:lnSpc>
                <a:spcPct val="100000"/>
              </a:lnSpc>
              <a:spcBef>
                <a:spcPts val="2401"/>
              </a:spcBef>
            </a:pPr>
            <a:r>
              <a:rPr lang="en-US" sz="2800" b="1" u="none" strike="noStrike">
                <a:solidFill>
                  <a:srgbClr val="00279F"/>
                </a:solidFill>
                <a:effectLst/>
                <a:uFillTx/>
                <a:latin typeface="Arial"/>
                <a:ea typeface="Arial"/>
              </a:rPr>
              <a:t>Sentence(s)</a:t>
            </a:r>
            <a:endParaRPr lang="en-US" sz="2800" b="0" u="none" strike="noStrike">
              <a:solidFill>
                <a:srgbClr val="000000"/>
              </a:solidFill>
              <a:effectLst/>
              <a:uFillTx/>
              <a:latin typeface="Arial"/>
            </a:endParaRPr>
          </a:p>
          <a:p>
            <a:pPr marL="380880" indent="-380880" algn="ctr">
              <a:lnSpc>
                <a:spcPct val="100000"/>
              </a:lnSpc>
              <a:spcBef>
                <a:spcPts val="2880"/>
              </a:spcBef>
            </a:pPr>
            <a:r>
              <a:rPr lang="en-US" sz="2800" b="1" u="none" strike="noStrike">
                <a:solidFill>
                  <a:srgbClr val="DC0081"/>
                </a:solidFill>
                <a:effectLst/>
                <a:uFillTx/>
                <a:latin typeface="Arial"/>
                <a:ea typeface="Arial"/>
              </a:rPr>
              <a:t>Statement(s)</a:t>
            </a:r>
            <a:endParaRPr lang="en-US" sz="2800" b="0" u="none" strike="noStrike">
              <a:solidFill>
                <a:srgbClr val="000000"/>
              </a:solidFill>
              <a:effectLst/>
              <a:uFillTx/>
              <a:latin typeface="Arial"/>
            </a:endParaRPr>
          </a:p>
        </p:txBody>
      </p:sp>
      <p:sp>
        <p:nvSpPr>
          <p:cNvPr id="45" name=""/>
          <p:cNvSpPr txBox="1"/>
          <p:nvPr/>
        </p:nvSpPr>
        <p:spPr>
          <a:xfrm>
            <a:off x="1852560" y="108000"/>
            <a:ext cx="5321160" cy="461880"/>
          </a:xfrm>
          <a:prstGeom prst="rect">
            <a:avLst/>
          </a:prstGeom>
          <a:noFill/>
          <a:ln w="0">
            <a:noFill/>
          </a:ln>
        </p:spPr>
        <p:txBody>
          <a:bodyPr lIns="0" tIns="0" rIns="0" bIns="0" anchor="t">
            <a:spAutoFit/>
          </a:bodyPr>
          <a:p>
            <a:pPr>
              <a:lnSpc>
                <a:spcPct val="100000"/>
              </a:lnSpc>
            </a:pPr>
            <a:r>
              <a:rPr lang="en-US" sz="2800" b="1" u="none" strike="noStrike">
                <a:solidFill>
                  <a:srgbClr val="FAFD00"/>
                </a:solidFill>
                <a:effectLst/>
                <a:uFillTx/>
                <a:latin typeface="Arial"/>
                <a:ea typeface="Arial"/>
              </a:rPr>
              <a:t>Structure of COBOL programs.</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 name=""/>
          <p:cNvSpPr txBox="1"/>
          <p:nvPr/>
        </p:nvSpPr>
        <p:spPr>
          <a:xfrm>
            <a:off x="2517840" y="79200"/>
            <a:ext cx="3483000" cy="476280"/>
          </a:xfrm>
          <a:prstGeom prst="rect">
            <a:avLst/>
          </a:prstGeom>
          <a:noFill/>
          <a:ln w="0">
            <a:noFill/>
          </a:ln>
        </p:spPr>
        <p:txBody>
          <a:bodyPr lIns="0" tIns="0" rIns="0" bIns="0" anchor="t">
            <a:spAutoFit/>
          </a:bodyPr>
          <a:p>
            <a:pPr>
              <a:lnSpc>
                <a:spcPct val="90000"/>
              </a:lnSpc>
            </a:pPr>
            <a:r>
              <a:rPr lang="en-US" sz="2800" b="1" u="none" strike="noStrike">
                <a:solidFill>
                  <a:srgbClr val="FAFD00"/>
                </a:solidFill>
                <a:effectLst/>
                <a:uFillTx/>
                <a:latin typeface="Arial"/>
                <a:ea typeface="Arial"/>
              </a:rPr>
              <a:t>The Four Divisions.</a:t>
            </a:r>
            <a:endParaRPr lang="en-US" sz="2800" b="0" u="none" strike="noStrike">
              <a:solidFill>
                <a:srgbClr val="000000"/>
              </a:solidFill>
              <a:effectLst/>
              <a:uFillTx/>
              <a:latin typeface="Arial"/>
            </a:endParaRPr>
          </a:p>
        </p:txBody>
      </p:sp>
      <p:sp>
        <p:nvSpPr>
          <p:cNvPr id="47" name=""/>
          <p:cNvSpPr txBox="1"/>
          <p:nvPr/>
        </p:nvSpPr>
        <p:spPr>
          <a:xfrm>
            <a:off x="203040" y="888840"/>
            <a:ext cx="8470800" cy="5410080"/>
          </a:xfrm>
          <a:prstGeom prst="rect">
            <a:avLst/>
          </a:prstGeom>
          <a:noFill/>
          <a:ln w="0">
            <a:noFill/>
          </a:ln>
        </p:spPr>
        <p:txBody>
          <a:bodyPr lIns="0" tIns="0" rIns="0" bIns="0" anchor="t">
            <a:spAutoFit/>
          </a:bodyPr>
          <a:p>
            <a:pPr>
              <a:lnSpc>
                <a:spcPct val="90000"/>
              </a:lnSpc>
              <a:spcBef>
                <a:spcPts val="1321"/>
              </a:spcBef>
              <a:tabLst>
                <a:tab pos="1244520" algn="l"/>
              </a:tabLst>
            </a:pPr>
            <a:r>
              <a:rPr lang="en-US" sz="2400" b="1" u="none" strike="noStrike">
                <a:solidFill>
                  <a:srgbClr val="FFFFFF"/>
                </a:solidFill>
                <a:effectLst/>
                <a:uFillTx/>
                <a:latin typeface="Arial"/>
                <a:ea typeface="Arial"/>
              </a:rPr>
              <a:t>DIVISIONS are used to identify the principal components of the program text. There are four DIVISIONS in all.</a:t>
            </a:r>
            <a:r>
              <a:rPr lang="en-US" sz="2400" b="1" u="none" strike="noStrike">
                <a:solidFill>
                  <a:srgbClr val="FAFD00"/>
                </a:solidFill>
                <a:effectLst/>
                <a:uFillTx/>
                <a:latin typeface="Arial"/>
                <a:ea typeface="Arial"/>
              </a:rPr>
              <a:t> </a:t>
            </a:r>
            <a:br>
              <a:rPr sz="2400"/>
            </a:br>
            <a:endParaRPr lang="en-US" sz="2400" b="0" u="none" strike="noStrike">
              <a:solidFill>
                <a:srgbClr val="000000"/>
              </a:solidFill>
              <a:effectLst/>
              <a:uFillTx/>
              <a:latin typeface="Arial"/>
            </a:endParaRPr>
          </a:p>
          <a:p>
            <a:pPr>
              <a:lnSpc>
                <a:spcPct val="90000"/>
              </a:lnSpc>
              <a:spcBef>
                <a:spcPts val="1321"/>
              </a:spcBef>
              <a:tabLst>
                <a:tab pos="1244520" algn="l"/>
              </a:tabLst>
            </a:pPr>
            <a:r>
              <a:rPr lang="en-US" sz="2400" b="1" u="none" strike="noStrike">
                <a:solidFill>
                  <a:srgbClr val="FAFD00"/>
                </a:solidFill>
                <a:effectLst/>
                <a:uFillTx/>
                <a:latin typeface="Arial"/>
                <a:ea typeface="Arial"/>
              </a:rPr>
              <a:t>	</a:t>
            </a:r>
            <a:r>
              <a:rPr lang="en-US" sz="1800" b="1" u="none" strike="noStrike">
                <a:solidFill>
                  <a:srgbClr val="FC0128"/>
                </a:solidFill>
                <a:effectLst/>
                <a:uFillTx/>
                <a:latin typeface="Wingdings"/>
                <a:ea typeface="Wingdings"/>
              </a:rPr>
              <a:t>◆</a:t>
            </a:r>
            <a:r>
              <a:rPr lang="en-US" sz="1800" b="1" u="none" strike="noStrike">
                <a:solidFill>
                  <a:srgbClr val="FC0128"/>
                </a:solidFill>
                <a:effectLst/>
                <a:uFillTx/>
                <a:latin typeface="Wingdings"/>
                <a:ea typeface="Wingdings"/>
              </a:rPr>
              <a:t>	</a:t>
            </a:r>
            <a:r>
              <a:rPr lang="en-US" sz="2400" b="1" u="none" strike="noStrike">
                <a:solidFill>
                  <a:srgbClr val="FAFD00"/>
                </a:solidFill>
                <a:effectLst/>
                <a:uFillTx/>
                <a:latin typeface="Arial"/>
                <a:ea typeface="Arial"/>
              </a:rPr>
              <a:t>IDENTIFICATION DIVISION.</a:t>
            </a:r>
            <a:endParaRPr lang="en-US" sz="2400" b="0" u="none" strike="noStrike">
              <a:solidFill>
                <a:srgbClr val="000000"/>
              </a:solidFill>
              <a:effectLst/>
              <a:uFillTx/>
              <a:latin typeface="Arial"/>
            </a:endParaRPr>
          </a:p>
          <a:p>
            <a:pPr>
              <a:lnSpc>
                <a:spcPct val="90000"/>
              </a:lnSpc>
              <a:spcBef>
                <a:spcPts val="1321"/>
              </a:spcBef>
              <a:tabLst>
                <a:tab pos="1244520" algn="l"/>
              </a:tabLst>
            </a:pPr>
            <a:r>
              <a:rPr lang="en-US" sz="1800" b="1" u="none" strike="noStrike">
                <a:solidFill>
                  <a:srgbClr val="FC0128"/>
                </a:solidFill>
                <a:effectLst/>
                <a:uFillTx/>
                <a:latin typeface="Wingdings"/>
                <a:ea typeface="Wingdings"/>
              </a:rPr>
              <a:t>	</a:t>
            </a:r>
            <a:r>
              <a:rPr lang="en-US" sz="1800" b="1" u="none" strike="noStrike">
                <a:solidFill>
                  <a:srgbClr val="FC0128"/>
                </a:solidFill>
                <a:effectLst/>
                <a:uFillTx/>
                <a:latin typeface="Wingdings"/>
                <a:ea typeface="Wingdings"/>
              </a:rPr>
              <a:t>◆</a:t>
            </a:r>
            <a:r>
              <a:rPr lang="en-US" sz="2400" b="1" u="none" strike="noStrike">
                <a:solidFill>
                  <a:srgbClr val="FFFFFF"/>
                </a:solidFill>
                <a:effectLst/>
                <a:uFillTx/>
                <a:latin typeface="Arial"/>
                <a:ea typeface="Arial"/>
              </a:rPr>
              <a:t> </a:t>
            </a:r>
            <a:r>
              <a:rPr lang="en-US" sz="2400" b="1" u="none" strike="noStrike">
                <a:solidFill>
                  <a:srgbClr val="FFFFFF"/>
                </a:solidFill>
                <a:effectLst/>
                <a:uFillTx/>
                <a:latin typeface="Arial"/>
                <a:ea typeface="Arial"/>
              </a:rPr>
              <a:t>	</a:t>
            </a:r>
            <a:r>
              <a:rPr lang="en-US" sz="2400" b="1" u="none" strike="noStrike">
                <a:solidFill>
                  <a:srgbClr val="FAFD00"/>
                </a:solidFill>
                <a:effectLst/>
                <a:uFillTx/>
                <a:latin typeface="Arial"/>
                <a:ea typeface="Arial"/>
              </a:rPr>
              <a:t>ENVIRONMENT DIVISION.</a:t>
            </a:r>
            <a:endParaRPr lang="en-US" sz="2400" b="0" u="none" strike="noStrike">
              <a:solidFill>
                <a:srgbClr val="000000"/>
              </a:solidFill>
              <a:effectLst/>
              <a:uFillTx/>
              <a:latin typeface="Arial"/>
            </a:endParaRPr>
          </a:p>
          <a:p>
            <a:pPr>
              <a:lnSpc>
                <a:spcPct val="90000"/>
              </a:lnSpc>
              <a:spcBef>
                <a:spcPts val="1321"/>
              </a:spcBef>
              <a:tabLst>
                <a:tab pos="1244520" algn="l"/>
              </a:tabLst>
            </a:pPr>
            <a:r>
              <a:rPr lang="en-US" sz="1800" b="1" u="none" strike="noStrike">
                <a:solidFill>
                  <a:srgbClr val="FC0128"/>
                </a:solidFill>
                <a:effectLst/>
                <a:uFillTx/>
                <a:latin typeface="Wingdings"/>
                <a:ea typeface="Wingdings"/>
              </a:rPr>
              <a:t>	</a:t>
            </a:r>
            <a:r>
              <a:rPr lang="en-US" sz="1800" b="1" u="none" strike="noStrike">
                <a:solidFill>
                  <a:srgbClr val="FC0128"/>
                </a:solidFill>
                <a:effectLst/>
                <a:uFillTx/>
                <a:latin typeface="Wingdings"/>
                <a:ea typeface="Wingdings"/>
              </a:rPr>
              <a:t>◆</a:t>
            </a:r>
            <a:r>
              <a:rPr lang="en-US" sz="2400" b="1" u="none" strike="noStrike">
                <a:solidFill>
                  <a:srgbClr val="FFFFFF"/>
                </a:solidFill>
                <a:effectLst/>
                <a:uFillTx/>
                <a:latin typeface="Arial"/>
                <a:ea typeface="Arial"/>
              </a:rPr>
              <a:t> </a:t>
            </a:r>
            <a:r>
              <a:rPr lang="en-US" sz="2400" b="1" u="none" strike="noStrike">
                <a:solidFill>
                  <a:srgbClr val="FFFFFF"/>
                </a:solidFill>
                <a:effectLst/>
                <a:uFillTx/>
                <a:latin typeface="Arial"/>
                <a:ea typeface="Arial"/>
              </a:rPr>
              <a:t>	</a:t>
            </a:r>
            <a:r>
              <a:rPr lang="en-US" sz="2400" b="1" u="none" strike="noStrike">
                <a:solidFill>
                  <a:srgbClr val="FAFD00"/>
                </a:solidFill>
                <a:effectLst/>
                <a:uFillTx/>
                <a:latin typeface="Arial"/>
                <a:ea typeface="Arial"/>
              </a:rPr>
              <a:t>DATA DIVISION.</a:t>
            </a:r>
            <a:endParaRPr lang="en-US" sz="2400" b="0" u="none" strike="noStrike">
              <a:solidFill>
                <a:srgbClr val="000000"/>
              </a:solidFill>
              <a:effectLst/>
              <a:uFillTx/>
              <a:latin typeface="Arial"/>
            </a:endParaRPr>
          </a:p>
          <a:p>
            <a:pPr>
              <a:lnSpc>
                <a:spcPct val="90000"/>
              </a:lnSpc>
              <a:spcBef>
                <a:spcPts val="1321"/>
              </a:spcBef>
              <a:tabLst>
                <a:tab pos="1244520" algn="l"/>
              </a:tabLst>
            </a:pPr>
            <a:r>
              <a:rPr lang="en-US" sz="1800" b="1" u="none" strike="noStrike">
                <a:solidFill>
                  <a:srgbClr val="FC0128"/>
                </a:solidFill>
                <a:effectLst/>
                <a:uFillTx/>
                <a:latin typeface="Wingdings"/>
                <a:ea typeface="Wingdings"/>
              </a:rPr>
              <a:t>	</a:t>
            </a:r>
            <a:r>
              <a:rPr lang="en-US" sz="1800" b="1" u="none" strike="noStrike">
                <a:solidFill>
                  <a:srgbClr val="FC0128"/>
                </a:solidFill>
                <a:effectLst/>
                <a:uFillTx/>
                <a:latin typeface="Wingdings"/>
                <a:ea typeface="Wingdings"/>
              </a:rPr>
              <a:t>◆</a:t>
            </a:r>
            <a:r>
              <a:rPr lang="en-US" sz="2400" b="1" u="none" strike="noStrike">
                <a:solidFill>
                  <a:srgbClr val="FFFFFF"/>
                </a:solidFill>
                <a:effectLst/>
                <a:uFillTx/>
                <a:latin typeface="Arial"/>
                <a:ea typeface="Arial"/>
              </a:rPr>
              <a:t> </a:t>
            </a:r>
            <a:r>
              <a:rPr lang="en-US" sz="2400" b="1" u="none" strike="noStrike">
                <a:solidFill>
                  <a:srgbClr val="FFFFFF"/>
                </a:solidFill>
                <a:effectLst/>
                <a:uFillTx/>
                <a:latin typeface="Arial"/>
                <a:ea typeface="Arial"/>
              </a:rPr>
              <a:t>	</a:t>
            </a:r>
            <a:r>
              <a:rPr lang="en-US" sz="2400" b="1" u="none" strike="noStrike">
                <a:solidFill>
                  <a:srgbClr val="FAFD00"/>
                </a:solidFill>
                <a:effectLst/>
                <a:uFillTx/>
                <a:latin typeface="Arial"/>
                <a:ea typeface="Arial"/>
              </a:rPr>
              <a:t>PROCEDURE DIVISION.</a:t>
            </a:r>
            <a:br>
              <a:rPr sz="2400"/>
            </a:br>
            <a:endParaRPr lang="en-US" sz="2400" b="0" u="none" strike="noStrike">
              <a:solidFill>
                <a:srgbClr val="000000"/>
              </a:solidFill>
              <a:effectLst/>
              <a:uFillTx/>
              <a:latin typeface="Arial"/>
            </a:endParaRPr>
          </a:p>
          <a:p>
            <a:pPr>
              <a:lnSpc>
                <a:spcPct val="90000"/>
              </a:lnSpc>
              <a:spcBef>
                <a:spcPts val="1321"/>
              </a:spcBef>
              <a:tabLst>
                <a:tab pos="1244520" algn="l"/>
              </a:tabLst>
            </a:pPr>
            <a:r>
              <a:rPr lang="en-US" sz="2400" b="1" u="none" strike="noStrike">
                <a:solidFill>
                  <a:srgbClr val="FFFFFF"/>
                </a:solidFill>
                <a:effectLst/>
                <a:uFillTx/>
                <a:latin typeface="Arial"/>
                <a:ea typeface="Arial"/>
              </a:rPr>
              <a:t>Although some of the divisions may be omitted the sequence in which the DIVISIONS are specified is fixed and </a:t>
            </a:r>
            <a:r>
              <a:rPr lang="en-US" sz="2400" b="1" u="none" strike="noStrike">
                <a:solidFill>
                  <a:srgbClr val="FC0128"/>
                </a:solidFill>
                <a:effectLst/>
                <a:uFillTx/>
                <a:latin typeface="Arial"/>
                <a:ea typeface="Arial"/>
              </a:rPr>
              <a:t>must</a:t>
            </a:r>
            <a:r>
              <a:rPr lang="en-US" sz="2400" b="1" u="none" strike="noStrike">
                <a:solidFill>
                  <a:srgbClr val="FFFFFF"/>
                </a:solidFill>
                <a:effectLst/>
                <a:uFillTx/>
                <a:latin typeface="Arial"/>
                <a:ea typeface="Arial"/>
              </a:rPr>
              <a:t> follow the pattern shown above.</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
          <p:cNvSpPr txBox="1"/>
          <p:nvPr/>
        </p:nvSpPr>
        <p:spPr>
          <a:xfrm>
            <a:off x="1717560" y="93600"/>
            <a:ext cx="5478480" cy="476280"/>
          </a:xfrm>
          <a:prstGeom prst="rect">
            <a:avLst/>
          </a:prstGeom>
          <a:noFill/>
          <a:ln w="0">
            <a:noFill/>
          </a:ln>
        </p:spPr>
        <p:txBody>
          <a:bodyPr lIns="0" tIns="0" rIns="0" bIns="0" anchor="t">
            <a:spAutoFit/>
          </a:bodyPr>
          <a:p>
            <a:pPr>
              <a:lnSpc>
                <a:spcPct val="90000"/>
              </a:lnSpc>
            </a:pPr>
            <a:r>
              <a:rPr lang="en-US" sz="2800" b="1" u="none" strike="noStrike">
                <a:solidFill>
                  <a:srgbClr val="FAFD00"/>
                </a:solidFill>
                <a:effectLst/>
                <a:uFillTx/>
                <a:latin typeface="Arial"/>
                <a:ea typeface="Arial"/>
              </a:rPr>
              <a:t>Functions of the four divisions.</a:t>
            </a:r>
            <a:endParaRPr lang="en-US" sz="2800" b="0" u="none" strike="noStrike">
              <a:solidFill>
                <a:srgbClr val="000000"/>
              </a:solidFill>
              <a:effectLst/>
              <a:uFillTx/>
              <a:latin typeface="Arial"/>
            </a:endParaRPr>
          </a:p>
        </p:txBody>
      </p:sp>
      <p:sp>
        <p:nvSpPr>
          <p:cNvPr id="49" name=""/>
          <p:cNvSpPr txBox="1"/>
          <p:nvPr/>
        </p:nvSpPr>
        <p:spPr>
          <a:xfrm>
            <a:off x="176040" y="825480"/>
            <a:ext cx="8180280" cy="5281560"/>
          </a:xfrm>
          <a:prstGeom prst="rect">
            <a:avLst/>
          </a:prstGeom>
          <a:noFill/>
          <a:ln w="0">
            <a:noFill/>
          </a:ln>
        </p:spPr>
        <p:txBody>
          <a:bodyPr lIns="0" tIns="0" rIns="0" bIns="0" anchor="t">
            <a:spAutoFit/>
          </a:bodyPr>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The </a:t>
            </a:r>
            <a:r>
              <a:rPr lang="en-US" sz="2400" b="1" u="none" strike="noStrike">
                <a:solidFill>
                  <a:srgbClr val="FAFD00"/>
                </a:solidFill>
                <a:effectLst/>
                <a:uFillTx/>
                <a:latin typeface="Arial"/>
                <a:ea typeface="Arial"/>
              </a:rPr>
              <a:t>IDENTIFICATION DIVISION</a:t>
            </a:r>
            <a:r>
              <a:rPr lang="en-US" sz="2400" b="1" u="none" strike="noStrike">
                <a:solidFill>
                  <a:srgbClr val="FFFFFF"/>
                </a:solidFill>
                <a:effectLst/>
                <a:uFillTx/>
                <a:latin typeface="Arial"/>
                <a:ea typeface="Arial"/>
              </a:rPr>
              <a:t> is used to supply information about the program to the programmer and to the compiler.  </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The </a:t>
            </a:r>
            <a:r>
              <a:rPr lang="en-US" sz="2400" b="1" u="none" strike="noStrike">
                <a:solidFill>
                  <a:srgbClr val="FAFD00"/>
                </a:solidFill>
                <a:effectLst/>
                <a:uFillTx/>
                <a:latin typeface="Arial"/>
                <a:ea typeface="Arial"/>
              </a:rPr>
              <a:t>ENVIRONMENT DIVISION</a:t>
            </a:r>
            <a:r>
              <a:rPr lang="en-US" sz="2400" b="1" u="none" strike="noStrike">
                <a:solidFill>
                  <a:srgbClr val="00AE00"/>
                </a:solidFill>
                <a:effectLst/>
                <a:uFillTx/>
                <a:latin typeface="Arial"/>
                <a:ea typeface="Arial"/>
              </a:rPr>
              <a:t> </a:t>
            </a:r>
            <a:r>
              <a:rPr lang="en-US" sz="2400" b="1" u="none" strike="noStrike">
                <a:solidFill>
                  <a:srgbClr val="FFFFFF"/>
                </a:solidFill>
                <a:effectLst/>
                <a:uFillTx/>
                <a:latin typeface="Arial"/>
                <a:ea typeface="Arial"/>
              </a:rPr>
              <a:t>describes to the compiler the environment in which the program will run. </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As the name suggests, the</a:t>
            </a:r>
            <a:r>
              <a:rPr lang="en-US" sz="2400" b="1" u="none" strike="noStrike">
                <a:solidFill>
                  <a:srgbClr val="00AE00"/>
                </a:solidFill>
                <a:effectLst/>
                <a:uFillTx/>
                <a:latin typeface="Arial"/>
                <a:ea typeface="Arial"/>
              </a:rPr>
              <a:t> </a:t>
            </a:r>
            <a:r>
              <a:rPr lang="en-US" sz="2400" b="1" u="none" strike="noStrike">
                <a:solidFill>
                  <a:srgbClr val="FAFD00"/>
                </a:solidFill>
                <a:effectLst/>
                <a:uFillTx/>
                <a:latin typeface="Arial"/>
                <a:ea typeface="Arial"/>
              </a:rPr>
              <a:t>DATA DIVISION</a:t>
            </a:r>
            <a:r>
              <a:rPr lang="en-US" sz="2400" b="1" u="none" strike="noStrike">
                <a:solidFill>
                  <a:srgbClr val="FFFFFF"/>
                </a:solidFill>
                <a:effectLst/>
                <a:uFillTx/>
                <a:latin typeface="Arial"/>
                <a:ea typeface="Arial"/>
              </a:rPr>
              <a:t> is used to provide the descriptions of most of the data to be processed by the program. </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The </a:t>
            </a:r>
            <a:r>
              <a:rPr lang="en-US" sz="2400" b="1" u="none" strike="noStrike">
                <a:solidFill>
                  <a:srgbClr val="FAFD00"/>
                </a:solidFill>
                <a:effectLst/>
                <a:uFillTx/>
                <a:latin typeface="Arial"/>
                <a:ea typeface="Arial"/>
              </a:rPr>
              <a:t>PROCEDURE DIVISION</a:t>
            </a:r>
            <a:r>
              <a:rPr lang="en-US" sz="2400" b="1" u="none" strike="noStrike">
                <a:solidFill>
                  <a:srgbClr val="FFFFFF"/>
                </a:solidFill>
                <a:effectLst/>
                <a:uFillTx/>
                <a:latin typeface="Arial"/>
                <a:ea typeface="Arial"/>
              </a:rPr>
              <a:t> contains the description of the algorithm which will manipulate the data previously described. Like other languages COBOL provides a means for specifying sequence, selection and iteration constructs.</a:t>
            </a:r>
            <a:endParaRPr lang="en-US" sz="2400" b="0" u="none" strike="noStrike">
              <a:solidFill>
                <a:srgbClr val="000000"/>
              </a:solidFill>
              <a:effectLst/>
              <a:uFillTx/>
              <a:latin typeface="Arial"/>
            </a:endParaRPr>
          </a:p>
        </p:txBody>
      </p:sp>
      <p:sp>
        <p:nvSpPr>
          <p:cNvPr id="50" name=""/>
          <p:cNvSpPr/>
          <p:nvPr/>
        </p:nvSpPr>
        <p:spPr>
          <a:xfrm>
            <a:off x="428760" y="5229360"/>
            <a:ext cx="7215120" cy="1008000"/>
          </a:xfrm>
          <a:prstGeom prst="rect">
            <a:avLst/>
          </a:prstGeom>
          <a:no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 name=""/>
          <p:cNvSpPr txBox="1"/>
          <p:nvPr/>
        </p:nvSpPr>
        <p:spPr>
          <a:xfrm>
            <a:off x="1574640" y="122400"/>
            <a:ext cx="5637240" cy="476280"/>
          </a:xfrm>
          <a:prstGeom prst="rect">
            <a:avLst/>
          </a:prstGeom>
          <a:noFill/>
          <a:ln w="0">
            <a:noFill/>
          </a:ln>
        </p:spPr>
        <p:txBody>
          <a:bodyPr lIns="0" tIns="0" rIns="0" bIns="0" anchor="t">
            <a:spAutoFit/>
          </a:bodyPr>
          <a:p>
            <a:pPr>
              <a:lnSpc>
                <a:spcPct val="90000"/>
              </a:lnSpc>
            </a:pPr>
            <a:r>
              <a:rPr lang="en-US" sz="2800" b="1" u="none" strike="noStrike">
                <a:solidFill>
                  <a:srgbClr val="FAFD00"/>
                </a:solidFill>
                <a:effectLst/>
                <a:uFillTx/>
                <a:latin typeface="Arial"/>
                <a:ea typeface="Arial"/>
              </a:rPr>
              <a:t>COBOL Program Text Structure </a:t>
            </a:r>
            <a:endParaRPr lang="en-US" sz="2800" b="0" u="none" strike="noStrike">
              <a:solidFill>
                <a:srgbClr val="000000"/>
              </a:solidFill>
              <a:effectLst/>
              <a:uFillTx/>
              <a:latin typeface="Arial"/>
            </a:endParaRPr>
          </a:p>
        </p:txBody>
      </p:sp>
      <p:grpSp>
        <p:nvGrpSpPr>
          <p:cNvPr id="52" name=""/>
          <p:cNvGrpSpPr/>
          <p:nvPr/>
        </p:nvGrpSpPr>
        <p:grpSpPr>
          <a:xfrm>
            <a:off x="749160" y="927000"/>
            <a:ext cx="5300640" cy="5005440"/>
            <a:chOff x="749160" y="927000"/>
            <a:chExt cx="5300640" cy="5005440"/>
          </a:xfrm>
        </p:grpSpPr>
        <p:sp>
          <p:nvSpPr>
            <p:cNvPr id="53" name=""/>
            <p:cNvSpPr/>
            <p:nvPr/>
          </p:nvSpPr>
          <p:spPr>
            <a:xfrm>
              <a:off x="749160" y="927000"/>
              <a:ext cx="5300640" cy="5005440"/>
            </a:xfrm>
            <a:prstGeom prst="rect">
              <a:avLst/>
            </a:prstGeom>
            <a:solidFill>
              <a:srgbClr val="DADADA"/>
            </a:solidFill>
            <a:ln w="12600">
              <a:solidFill>
                <a:srgbClr val="000000"/>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54" name=""/>
            <p:cNvSpPr txBox="1"/>
            <p:nvPr/>
          </p:nvSpPr>
          <p:spPr>
            <a:xfrm>
              <a:off x="1701720" y="3209760"/>
              <a:ext cx="2806560" cy="384120"/>
            </a:xfrm>
            <a:prstGeom prst="rect">
              <a:avLst/>
            </a:prstGeom>
            <a:solidFill>
              <a:srgbClr val="DADADA"/>
            </a:solidFill>
            <a:ln w="0">
              <a:noFill/>
            </a:ln>
          </p:spPr>
          <p:txBody>
            <a:bodyPr lIns="0" tIns="0" rIns="0" bIns="0" anchor="t">
              <a:spAutoFit/>
            </a:bodyPr>
            <a:p>
              <a:pPr algn="ctr">
                <a:lnSpc>
                  <a:spcPct val="90000"/>
                </a:lnSpc>
              </a:pPr>
              <a:r>
                <a:rPr lang="en-US" sz="2800" b="0" u="none" strike="noStrike">
                  <a:solidFill>
                    <a:srgbClr val="00279F"/>
                  </a:solidFill>
                  <a:effectLst/>
                  <a:uFillTx/>
                  <a:latin typeface="Arial"/>
                  <a:ea typeface="Arial"/>
                </a:rPr>
                <a:t>Data Descriptions</a:t>
              </a:r>
              <a:endParaRPr lang="en-US" sz="2800" b="0" u="none" strike="noStrike">
                <a:solidFill>
                  <a:srgbClr val="000000"/>
                </a:solidFill>
                <a:effectLst/>
                <a:uFillTx/>
                <a:latin typeface="Arial"/>
              </a:endParaRPr>
            </a:p>
          </p:txBody>
        </p:sp>
        <p:sp>
          <p:nvSpPr>
            <p:cNvPr id="55" name=""/>
            <p:cNvSpPr txBox="1"/>
            <p:nvPr/>
          </p:nvSpPr>
          <p:spPr>
            <a:xfrm>
              <a:off x="1689120" y="4765680"/>
              <a:ext cx="3379680" cy="384120"/>
            </a:xfrm>
            <a:prstGeom prst="rect">
              <a:avLst/>
            </a:prstGeom>
            <a:solidFill>
              <a:srgbClr val="DADADA"/>
            </a:solidFill>
            <a:ln w="0">
              <a:noFill/>
            </a:ln>
          </p:spPr>
          <p:txBody>
            <a:bodyPr lIns="0" tIns="0" rIns="0" bIns="0" anchor="t">
              <a:spAutoFit/>
            </a:bodyPr>
            <a:p>
              <a:pPr algn="ctr">
                <a:lnSpc>
                  <a:spcPct val="90000"/>
                </a:lnSpc>
              </a:pPr>
              <a:r>
                <a:rPr lang="en-US" sz="2800" b="0" u="none" strike="noStrike">
                  <a:solidFill>
                    <a:srgbClr val="00279F"/>
                  </a:solidFill>
                  <a:effectLst/>
                  <a:uFillTx/>
                  <a:latin typeface="Arial"/>
                  <a:ea typeface="Arial"/>
                </a:rPr>
                <a:t>Algorithm Description</a:t>
              </a:r>
              <a:endParaRPr lang="en-US" sz="2800" b="0" u="none" strike="noStrike">
                <a:solidFill>
                  <a:srgbClr val="000000"/>
                </a:solidFill>
                <a:effectLst/>
                <a:uFillTx/>
                <a:latin typeface="Arial"/>
              </a:endParaRPr>
            </a:p>
          </p:txBody>
        </p:sp>
        <p:sp>
          <p:nvSpPr>
            <p:cNvPr id="56" name=""/>
            <p:cNvSpPr txBox="1"/>
            <p:nvPr/>
          </p:nvSpPr>
          <p:spPr>
            <a:xfrm>
              <a:off x="847800" y="1041480"/>
              <a:ext cx="4788000" cy="519120"/>
            </a:xfrm>
            <a:prstGeom prst="rect">
              <a:avLst/>
            </a:prstGeom>
            <a:solidFill>
              <a:srgbClr val="DADADA"/>
            </a:solidFill>
            <a:ln w="0">
              <a:noFill/>
            </a:ln>
          </p:spPr>
          <p:txBody>
            <a:bodyPr lIns="0" tIns="0" rIns="0" bIns="0" anchor="t">
              <a:spAutoFit/>
            </a:bodyPr>
            <a:p>
              <a:pPr>
                <a:lnSpc>
                  <a:spcPct val="100000"/>
                </a:lnSpc>
              </a:pPr>
              <a:r>
                <a:rPr lang="en-US" sz="2800" b="1" u="none" strike="noStrike">
                  <a:solidFill>
                    <a:srgbClr val="CF0E30"/>
                  </a:solidFill>
                  <a:effectLst/>
                  <a:uFillTx/>
                  <a:latin typeface="Arial"/>
                  <a:ea typeface="Arial"/>
                </a:rPr>
                <a:t>IDENTIFICATION DIVISION.</a:t>
              </a:r>
              <a:endParaRPr lang="en-US" sz="2800" b="0" u="none" strike="noStrike">
                <a:solidFill>
                  <a:srgbClr val="000000"/>
                </a:solidFill>
                <a:effectLst/>
                <a:uFillTx/>
                <a:latin typeface="Arial"/>
              </a:endParaRPr>
            </a:p>
          </p:txBody>
        </p:sp>
        <p:sp>
          <p:nvSpPr>
            <p:cNvPr id="57" name=""/>
            <p:cNvSpPr txBox="1"/>
            <p:nvPr/>
          </p:nvSpPr>
          <p:spPr>
            <a:xfrm>
              <a:off x="843120" y="2460600"/>
              <a:ext cx="2930400" cy="519120"/>
            </a:xfrm>
            <a:prstGeom prst="rect">
              <a:avLst/>
            </a:prstGeom>
            <a:solidFill>
              <a:srgbClr val="DADADA"/>
            </a:solidFill>
            <a:ln w="0">
              <a:noFill/>
            </a:ln>
          </p:spPr>
          <p:txBody>
            <a:bodyPr lIns="0" tIns="0" rIns="0" bIns="0" anchor="t">
              <a:spAutoFit/>
            </a:bodyPr>
            <a:p>
              <a:pPr>
                <a:lnSpc>
                  <a:spcPct val="100000"/>
                </a:lnSpc>
              </a:pPr>
              <a:r>
                <a:rPr lang="en-US" sz="2800" b="1" u="none" strike="noStrike">
                  <a:solidFill>
                    <a:srgbClr val="CF0E30"/>
                  </a:solidFill>
                  <a:effectLst/>
                  <a:uFillTx/>
                  <a:latin typeface="Arial"/>
                  <a:ea typeface="Arial"/>
                </a:rPr>
                <a:t>DATA DIVISION.</a:t>
              </a:r>
              <a:endParaRPr lang="en-US" sz="2800" b="0" u="none" strike="noStrike">
                <a:solidFill>
                  <a:srgbClr val="000000"/>
                </a:solidFill>
                <a:effectLst/>
                <a:uFillTx/>
                <a:latin typeface="Arial"/>
              </a:endParaRPr>
            </a:p>
          </p:txBody>
        </p:sp>
        <p:sp>
          <p:nvSpPr>
            <p:cNvPr id="58" name=""/>
            <p:cNvSpPr txBox="1"/>
            <p:nvPr/>
          </p:nvSpPr>
          <p:spPr>
            <a:xfrm>
              <a:off x="871560" y="4013280"/>
              <a:ext cx="4214880" cy="519120"/>
            </a:xfrm>
            <a:prstGeom prst="rect">
              <a:avLst/>
            </a:prstGeom>
            <a:solidFill>
              <a:srgbClr val="DADADA"/>
            </a:solidFill>
            <a:ln w="0">
              <a:noFill/>
            </a:ln>
          </p:spPr>
          <p:txBody>
            <a:bodyPr lIns="0" tIns="0" rIns="0" bIns="0" anchor="t">
              <a:spAutoFit/>
            </a:bodyPr>
            <a:p>
              <a:pPr>
                <a:lnSpc>
                  <a:spcPct val="100000"/>
                </a:lnSpc>
              </a:pPr>
              <a:r>
                <a:rPr lang="en-US" sz="2800" b="1" u="none" strike="noStrike">
                  <a:solidFill>
                    <a:srgbClr val="CF0E30"/>
                  </a:solidFill>
                  <a:effectLst/>
                  <a:uFillTx/>
                  <a:latin typeface="Arial"/>
                  <a:ea typeface="Arial"/>
                </a:rPr>
                <a:t>PROCEDURE DIVISION.</a:t>
              </a:r>
              <a:endParaRPr lang="en-US" sz="2800" b="0" u="none" strike="noStrike">
                <a:solidFill>
                  <a:srgbClr val="000000"/>
                </a:solidFill>
                <a:effectLst/>
                <a:uFillTx/>
                <a:latin typeface="Arial"/>
              </a:endParaRPr>
            </a:p>
          </p:txBody>
        </p:sp>
        <p:sp>
          <p:nvSpPr>
            <p:cNvPr id="59" name=""/>
            <p:cNvSpPr txBox="1"/>
            <p:nvPr/>
          </p:nvSpPr>
          <p:spPr>
            <a:xfrm>
              <a:off x="1701720" y="1719360"/>
              <a:ext cx="2549520" cy="384120"/>
            </a:xfrm>
            <a:prstGeom prst="rect">
              <a:avLst/>
            </a:prstGeom>
            <a:solidFill>
              <a:srgbClr val="DADADA"/>
            </a:solidFill>
            <a:ln w="0">
              <a:noFill/>
            </a:ln>
          </p:spPr>
          <p:txBody>
            <a:bodyPr lIns="0" tIns="0" rIns="0" bIns="0" anchor="t">
              <a:spAutoFit/>
            </a:bodyPr>
            <a:p>
              <a:pPr algn="ctr">
                <a:lnSpc>
                  <a:spcPct val="90000"/>
                </a:lnSpc>
              </a:pPr>
              <a:r>
                <a:rPr lang="en-US" sz="2800" b="0" u="none" strike="noStrike">
                  <a:solidFill>
                    <a:srgbClr val="00279F"/>
                  </a:solidFill>
                  <a:effectLst/>
                  <a:uFillTx/>
                  <a:latin typeface="Arial"/>
                  <a:ea typeface="Arial"/>
                </a:rPr>
                <a:t>Program Details</a:t>
              </a:r>
              <a:endParaRPr lang="en-US" sz="2800" b="0" u="none" strike="noStrike">
                <a:solidFill>
                  <a:srgbClr val="000000"/>
                </a:solidFill>
                <a:effectLst/>
                <a:uFillTx/>
                <a:latin typeface="Arial"/>
              </a:endParaRPr>
            </a:p>
          </p:txBody>
        </p:sp>
      </p:grpSp>
      <p:sp>
        <p:nvSpPr>
          <p:cNvPr id="60" name=""/>
          <p:cNvSpPr txBox="1"/>
          <p:nvPr/>
        </p:nvSpPr>
        <p:spPr>
          <a:xfrm>
            <a:off x="6562800" y="2154240"/>
            <a:ext cx="2139840" cy="1521000"/>
          </a:xfrm>
          <a:prstGeom prst="rect">
            <a:avLst/>
          </a:prstGeom>
          <a:solidFill>
            <a:srgbClr val="DADADA"/>
          </a:solidFill>
          <a:ln w="12600">
            <a:solidFill>
              <a:srgbClr val="000000"/>
            </a:solidFill>
            <a:round/>
          </a:ln>
          <a:effectLst>
            <a:outerShdw dist="0" dir="0" rotWithShape="0">
              <a:srgbClr val="919191"/>
            </a:outerShdw>
          </a:effectLst>
        </p:spPr>
        <p:txBody>
          <a:bodyPr lIns="0" tIns="0" rIns="0" bIns="0" anchor="t">
            <a:spAutoFit/>
          </a:bodyPr>
          <a:p>
            <a:pPr algn="ctr">
              <a:lnSpc>
                <a:spcPct val="100000"/>
              </a:lnSpc>
            </a:pPr>
            <a:r>
              <a:rPr lang="en-US" sz="2000" b="1" u="none" strike="noStrike">
                <a:solidFill>
                  <a:srgbClr val="CF0E30"/>
                </a:solidFill>
                <a:effectLst/>
                <a:uFillTx/>
                <a:latin typeface="Arial"/>
                <a:ea typeface="Arial"/>
              </a:rPr>
              <a:t>N</a:t>
            </a:r>
            <a:r>
              <a:rPr lang="en-US" sz="1800" b="1" u="none" strike="noStrike">
                <a:solidFill>
                  <a:srgbClr val="CF0E30"/>
                </a:solidFill>
                <a:effectLst/>
                <a:uFillTx/>
                <a:latin typeface="Arial"/>
                <a:ea typeface="Arial"/>
              </a:rPr>
              <a:t>OTE</a:t>
            </a:r>
            <a:endParaRPr lang="en-US" sz="1800" b="0" u="none" strike="noStrike">
              <a:solidFill>
                <a:srgbClr val="000000"/>
              </a:solidFill>
              <a:effectLst/>
              <a:uFillTx/>
              <a:latin typeface="Arial"/>
            </a:endParaRPr>
          </a:p>
          <a:p>
            <a:pPr>
              <a:lnSpc>
                <a:spcPct val="100000"/>
              </a:lnSpc>
            </a:pPr>
            <a:r>
              <a:rPr lang="en-US" sz="1800" b="0" u="none" strike="noStrike">
                <a:solidFill>
                  <a:srgbClr val="000000"/>
                </a:solidFill>
                <a:effectLst/>
                <a:uFillTx/>
                <a:latin typeface="Arial"/>
                <a:ea typeface="Arial"/>
              </a:rPr>
              <a:t>The keyword DIVISION and a ‘full-stop’ is used in every case.</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
          <p:cNvSpPr txBox="1"/>
          <p:nvPr/>
        </p:nvSpPr>
        <p:spPr>
          <a:xfrm>
            <a:off x="1860480" y="108000"/>
            <a:ext cx="4788000" cy="476280"/>
          </a:xfrm>
          <a:prstGeom prst="rect">
            <a:avLst/>
          </a:prstGeom>
          <a:noFill/>
          <a:ln w="0">
            <a:noFill/>
          </a:ln>
        </p:spPr>
        <p:txBody>
          <a:bodyPr lIns="0" tIns="0" rIns="0" bIns="0" anchor="t">
            <a:spAutoFit/>
          </a:bodyPr>
          <a:p>
            <a:pPr>
              <a:lnSpc>
                <a:spcPct val="90000"/>
              </a:lnSpc>
            </a:pPr>
            <a:r>
              <a:rPr lang="en-US" sz="2800" b="1" u="none" strike="noStrike">
                <a:solidFill>
                  <a:srgbClr val="FAFD00"/>
                </a:solidFill>
                <a:effectLst/>
                <a:uFillTx/>
                <a:latin typeface="Arial"/>
                <a:ea typeface="Arial"/>
              </a:rPr>
              <a:t>IDENTIFICATION DIVISION.</a:t>
            </a:r>
            <a:endParaRPr lang="en-US" sz="2800" b="0" u="none" strike="noStrike">
              <a:solidFill>
                <a:srgbClr val="000000"/>
              </a:solidFill>
              <a:effectLst/>
              <a:uFillTx/>
              <a:latin typeface="Arial"/>
            </a:endParaRPr>
          </a:p>
        </p:txBody>
      </p:sp>
      <p:sp>
        <p:nvSpPr>
          <p:cNvPr id="62" name=""/>
          <p:cNvSpPr txBox="1"/>
          <p:nvPr/>
        </p:nvSpPr>
        <p:spPr>
          <a:xfrm>
            <a:off x="366840" y="973080"/>
            <a:ext cx="8028000" cy="4911840"/>
          </a:xfrm>
          <a:prstGeom prst="rect">
            <a:avLst/>
          </a:prstGeom>
          <a:noFill/>
          <a:ln w="0">
            <a:noFill/>
          </a:ln>
        </p:spPr>
        <p:txBody>
          <a:bodyPr lIns="0" tIns="0" rIns="0" bIns="0" anchor="t">
            <a:spAutoFit/>
          </a:bodyPr>
          <a:p>
            <a:pPr marL="380880" indent="-380880">
              <a:lnSpc>
                <a:spcPct val="90000"/>
              </a:lnSpc>
              <a:spcBef>
                <a:spcPts val="1199"/>
              </a:spcBef>
              <a:buClr>
                <a:srgbClr val="FC0128"/>
              </a:buClr>
              <a:buSzPct val="75000"/>
              <a:buFont typeface="Wingdings"/>
              <a:buChar char="_x0000_"/>
            </a:pPr>
            <a:r>
              <a:rPr lang="en-US" sz="2400" b="1" u="none" strike="noStrike">
                <a:solidFill>
                  <a:srgbClr val="FFFFFF"/>
                </a:solidFill>
                <a:effectLst/>
                <a:uFillTx/>
                <a:latin typeface="Arial"/>
                <a:ea typeface="Arial"/>
              </a:rPr>
              <a:t>The purpose of the</a:t>
            </a:r>
            <a:r>
              <a:rPr lang="en-US" sz="2400" b="1" u="none" strike="noStrike">
                <a:solidFill>
                  <a:srgbClr val="FAFD00"/>
                </a:solidFill>
                <a:effectLst/>
                <a:uFillTx/>
                <a:latin typeface="Arial"/>
                <a:ea typeface="Arial"/>
              </a:rPr>
              <a:t> </a:t>
            </a:r>
            <a:r>
              <a:rPr lang="en-US" sz="2400" b="1" u="none" strike="noStrike">
                <a:solidFill>
                  <a:srgbClr val="FFFFFF"/>
                </a:solidFill>
                <a:effectLst/>
                <a:uFillTx/>
                <a:latin typeface="Arial"/>
                <a:ea typeface="Arial"/>
              </a:rPr>
              <a:t>IDENTIFICATION DIVISION is to provide information about the program to the </a:t>
            </a:r>
            <a:r>
              <a:rPr lang="en-US" sz="2400" b="1" u="none" strike="noStrike">
                <a:solidFill>
                  <a:srgbClr val="00FF00"/>
                </a:solidFill>
                <a:effectLst/>
                <a:uFillTx/>
                <a:latin typeface="Arial"/>
                <a:ea typeface="Arial"/>
              </a:rPr>
              <a:t>programmer</a:t>
            </a:r>
            <a:r>
              <a:rPr lang="en-US" sz="2400" b="1" u="none" strike="noStrike">
                <a:solidFill>
                  <a:srgbClr val="FFFFFF"/>
                </a:solidFill>
                <a:effectLst/>
                <a:uFillTx/>
                <a:latin typeface="Arial"/>
                <a:ea typeface="Arial"/>
              </a:rPr>
              <a:t> and to the </a:t>
            </a:r>
            <a:r>
              <a:rPr lang="en-US" sz="2400" b="1" u="none" strike="noStrike">
                <a:solidFill>
                  <a:srgbClr val="00FF00"/>
                </a:solidFill>
                <a:effectLst/>
                <a:uFillTx/>
                <a:latin typeface="Arial"/>
                <a:ea typeface="Arial"/>
              </a:rPr>
              <a:t>compiler</a:t>
            </a:r>
            <a:r>
              <a:rPr lang="en-US" sz="2400" b="1" u="none" strike="noStrike">
                <a:solidFill>
                  <a:srgbClr val="FFFFFF"/>
                </a:solidFill>
                <a:effectLst/>
                <a:uFillTx/>
                <a:latin typeface="Arial"/>
                <a:ea typeface="Arial"/>
              </a:rPr>
              <a:t>.  </a:t>
            </a:r>
            <a:endParaRPr lang="en-US" sz="2400" b="0" u="none" strike="noStrike">
              <a:solidFill>
                <a:srgbClr val="000000"/>
              </a:solidFill>
              <a:effectLst/>
              <a:uFillTx/>
              <a:latin typeface="Arial"/>
            </a:endParaRPr>
          </a:p>
          <a:p>
            <a:pPr marL="380880" indent="-380880">
              <a:lnSpc>
                <a:spcPct val="90000"/>
              </a:lnSpc>
              <a:spcBef>
                <a:spcPts val="1199"/>
              </a:spcBef>
              <a:buClr>
                <a:srgbClr val="FC0128"/>
              </a:buClr>
              <a:buSzPct val="75000"/>
              <a:buFont typeface="Wingdings"/>
              <a:buChar char="_x0000_"/>
            </a:pPr>
            <a:r>
              <a:rPr lang="en-US" sz="2400" b="1" u="none" strike="noStrike">
                <a:solidFill>
                  <a:srgbClr val="FFFFFF"/>
                </a:solidFill>
                <a:effectLst/>
                <a:uFillTx/>
                <a:latin typeface="Arial"/>
                <a:ea typeface="Arial"/>
              </a:rPr>
              <a:t>Most of the entries in the IDENTIFICATION DIVISION are directed at the</a:t>
            </a:r>
            <a:r>
              <a:rPr lang="en-US" sz="2400" b="1" u="none" strike="noStrike">
                <a:solidFill>
                  <a:srgbClr val="FAFD00"/>
                </a:solidFill>
                <a:effectLst/>
                <a:uFillTx/>
                <a:latin typeface="Arial"/>
                <a:ea typeface="Arial"/>
              </a:rPr>
              <a:t> </a:t>
            </a:r>
            <a:r>
              <a:rPr lang="en-US" sz="2400" b="1" u="none" strike="noStrike">
                <a:solidFill>
                  <a:srgbClr val="00FF00"/>
                </a:solidFill>
                <a:effectLst/>
                <a:uFillTx/>
                <a:latin typeface="Arial"/>
                <a:ea typeface="Arial"/>
              </a:rPr>
              <a:t>programmer</a:t>
            </a:r>
            <a:r>
              <a:rPr lang="en-US" sz="2400" b="1" u="none" strike="noStrike">
                <a:solidFill>
                  <a:srgbClr val="FAFD00"/>
                </a:solidFill>
                <a:effectLst/>
                <a:uFillTx/>
                <a:latin typeface="Arial"/>
                <a:ea typeface="Arial"/>
              </a:rPr>
              <a:t> </a:t>
            </a:r>
            <a:r>
              <a:rPr lang="en-US" sz="2400" b="1" u="none" strike="noStrike">
                <a:solidFill>
                  <a:srgbClr val="FFFFFF"/>
                </a:solidFill>
                <a:effectLst/>
                <a:uFillTx/>
                <a:latin typeface="Arial"/>
                <a:ea typeface="Arial"/>
              </a:rPr>
              <a:t>and are treated by the compiler as </a:t>
            </a:r>
            <a:r>
              <a:rPr lang="en-US" sz="2400" b="1" u="none" strike="noStrike">
                <a:solidFill>
                  <a:srgbClr val="00FF00"/>
                </a:solidFill>
                <a:effectLst/>
                <a:uFillTx/>
                <a:latin typeface="Arial"/>
                <a:ea typeface="Arial"/>
              </a:rPr>
              <a:t>comments</a:t>
            </a:r>
            <a:r>
              <a:rPr lang="en-US" sz="2400" b="1" u="none" strike="noStrike">
                <a:solidFill>
                  <a:srgbClr val="FFFFFF"/>
                </a:solidFill>
                <a:effectLst/>
                <a:uFillTx/>
                <a:latin typeface="Arial"/>
                <a:ea typeface="Arial"/>
              </a:rPr>
              <a:t>.</a:t>
            </a:r>
            <a:endParaRPr lang="en-US" sz="2400" b="0" u="none" strike="noStrike">
              <a:solidFill>
                <a:srgbClr val="000000"/>
              </a:solidFill>
              <a:effectLst/>
              <a:uFillTx/>
              <a:latin typeface="Arial"/>
            </a:endParaRPr>
          </a:p>
          <a:p>
            <a:pPr marL="380880" indent="-380880">
              <a:lnSpc>
                <a:spcPct val="90000"/>
              </a:lnSpc>
              <a:spcBef>
                <a:spcPts val="1199"/>
              </a:spcBef>
              <a:buClr>
                <a:srgbClr val="FC0128"/>
              </a:buClr>
              <a:buSzPct val="75000"/>
              <a:buFont typeface="Wingdings"/>
              <a:buChar char="_x0000_"/>
            </a:pPr>
            <a:r>
              <a:rPr lang="en-US" sz="2400" b="1" u="none" strike="noStrike">
                <a:solidFill>
                  <a:srgbClr val="FFFFFF"/>
                </a:solidFill>
                <a:effectLst/>
                <a:uFillTx/>
                <a:latin typeface="Arial"/>
                <a:ea typeface="Arial"/>
              </a:rPr>
              <a:t>An exception to this is the</a:t>
            </a:r>
            <a:r>
              <a:rPr lang="en-US" sz="2400" b="1" u="none" strike="noStrike">
                <a:solidFill>
                  <a:srgbClr val="00FF00"/>
                </a:solidFill>
                <a:effectLst/>
                <a:uFillTx/>
                <a:latin typeface="Arial"/>
                <a:ea typeface="Arial"/>
              </a:rPr>
              <a:t> PROGRAM-ID</a:t>
            </a:r>
            <a:r>
              <a:rPr lang="en-US" sz="2400" b="1" u="none" strike="noStrike">
                <a:solidFill>
                  <a:srgbClr val="FFFFFF"/>
                </a:solidFill>
                <a:effectLst/>
                <a:uFillTx/>
                <a:latin typeface="Arial"/>
                <a:ea typeface="Arial"/>
              </a:rPr>
              <a:t> clause.  Every COBOL program must have a PROGRAM-ID.   It is used to enable the compiler to identify the program.</a:t>
            </a:r>
            <a:endParaRPr lang="en-US" sz="2400" b="0" u="none" strike="noStrike">
              <a:solidFill>
                <a:srgbClr val="000000"/>
              </a:solidFill>
              <a:effectLst/>
              <a:uFillTx/>
              <a:latin typeface="Arial"/>
            </a:endParaRPr>
          </a:p>
          <a:p>
            <a:pPr marL="380880" indent="-380880">
              <a:lnSpc>
                <a:spcPct val="90000"/>
              </a:lnSpc>
              <a:spcBef>
                <a:spcPts val="1199"/>
              </a:spcBef>
              <a:buClr>
                <a:srgbClr val="FC0128"/>
              </a:buClr>
              <a:buSzPct val="75000"/>
              <a:buFont typeface="Wingdings"/>
              <a:buChar char="_x0000_"/>
            </a:pPr>
            <a:r>
              <a:rPr lang="en-US" sz="2400" b="1" u="none" strike="noStrike">
                <a:solidFill>
                  <a:srgbClr val="FFFFFF"/>
                </a:solidFill>
                <a:effectLst/>
                <a:uFillTx/>
                <a:latin typeface="Arial"/>
                <a:ea typeface="Arial"/>
              </a:rPr>
              <a:t>There are several other informational paragraphs in the IDENTIFICATION DIVISION but we will ignore them for the moment.</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 name=""/>
          <p:cNvSpPr txBox="1"/>
          <p:nvPr/>
        </p:nvSpPr>
        <p:spPr>
          <a:xfrm>
            <a:off x="1246320" y="93600"/>
            <a:ext cx="6783480" cy="476280"/>
          </a:xfrm>
          <a:prstGeom prst="rect">
            <a:avLst/>
          </a:prstGeom>
          <a:noFill/>
          <a:ln w="0">
            <a:noFill/>
          </a:ln>
        </p:spPr>
        <p:txBody>
          <a:bodyPr lIns="0" tIns="0" rIns="0" bIns="0" anchor="t">
            <a:spAutoFit/>
          </a:bodyPr>
          <a:p>
            <a:pPr>
              <a:lnSpc>
                <a:spcPct val="90000"/>
              </a:lnSpc>
            </a:pPr>
            <a:r>
              <a:rPr lang="en-US" sz="2800" b="1" u="none" strike="noStrike">
                <a:solidFill>
                  <a:srgbClr val="FAFD00"/>
                </a:solidFill>
                <a:effectLst/>
                <a:uFillTx/>
                <a:latin typeface="Arial"/>
                <a:ea typeface="Arial"/>
              </a:rPr>
              <a:t>The IDENTIFICATION DIVISION Syntax.</a:t>
            </a:r>
            <a:endParaRPr lang="en-US" sz="2800" b="0" u="none" strike="noStrike">
              <a:solidFill>
                <a:srgbClr val="000000"/>
              </a:solidFill>
              <a:effectLst/>
              <a:uFillTx/>
              <a:latin typeface="Arial"/>
            </a:endParaRPr>
          </a:p>
        </p:txBody>
      </p:sp>
      <p:sp>
        <p:nvSpPr>
          <p:cNvPr id="64" name=""/>
          <p:cNvSpPr txBox="1"/>
          <p:nvPr/>
        </p:nvSpPr>
        <p:spPr>
          <a:xfrm>
            <a:off x="214200" y="716040"/>
            <a:ext cx="8218440" cy="5344920"/>
          </a:xfrm>
          <a:prstGeom prst="rect">
            <a:avLst/>
          </a:prstGeom>
          <a:noFill/>
          <a:ln w="0">
            <a:noFill/>
          </a:ln>
        </p:spPr>
        <p:txBody>
          <a:bodyPr lIns="0" tIns="0" rIns="0" bIns="0" anchor="t">
            <a:spAutoFit/>
          </a:bodyPr>
          <a:p>
            <a:pPr marL="380880" indent="-380880">
              <a:lnSpc>
                <a:spcPct val="90000"/>
              </a:lnSpc>
              <a:spcBef>
                <a:spcPts val="601"/>
              </a:spcBef>
              <a:buClr>
                <a:srgbClr val="FC0128"/>
              </a:buClr>
              <a:buSzPct val="75000"/>
              <a:buFont typeface="Wingdings"/>
              <a:buChar char="_x0000_"/>
              <a:tabLst>
                <a:tab pos="2387520" algn="l"/>
              </a:tabLst>
            </a:pPr>
            <a:r>
              <a:rPr lang="en-US" sz="2400" b="1" u="none" strike="noStrike">
                <a:solidFill>
                  <a:srgbClr val="FFFFFF"/>
                </a:solidFill>
                <a:effectLst/>
                <a:uFillTx/>
                <a:latin typeface="Arial"/>
                <a:ea typeface="Arial"/>
              </a:rPr>
              <a:t>The IDENTIFICATION DIVISION has the following structure</a:t>
            </a:r>
            <a:r>
              <a:rPr lang="en-US" sz="2400" b="1" u="none" strike="noStrike">
                <a:solidFill>
                  <a:srgbClr val="FFFFFF"/>
                </a:solidFill>
                <a:effectLst/>
                <a:uFillTx/>
                <a:latin typeface="Arial"/>
                <a:ea typeface="Arial"/>
              </a:rPr>
              <a:t>	</a:t>
            </a:r>
            <a:br>
              <a:rPr sz="2400"/>
            </a:br>
            <a:r>
              <a:rPr lang="en-US" sz="2000" b="1" u="sng" strike="noStrike">
                <a:solidFill>
                  <a:srgbClr val="FFFFFF"/>
                </a:solidFill>
                <a:effectLst/>
                <a:uFillTx/>
                <a:latin typeface="Courier New"/>
                <a:ea typeface="Courier New"/>
              </a:rPr>
              <a:t>IDENTIFICATION</a:t>
            </a:r>
            <a:r>
              <a:rPr lang="en-US" sz="2000" b="1" u="none" strike="noStrike">
                <a:solidFill>
                  <a:srgbClr val="FFFFFF"/>
                </a:solidFill>
                <a:effectLst/>
                <a:uFillTx/>
                <a:latin typeface="Courier New"/>
                <a:ea typeface="Courier New"/>
              </a:rPr>
              <a:t> </a:t>
            </a:r>
            <a:r>
              <a:rPr lang="en-US" sz="2000" b="1" u="sng" strike="noStrike">
                <a:solidFill>
                  <a:srgbClr val="FFFFFF"/>
                </a:solidFill>
                <a:effectLst/>
                <a:uFillTx/>
                <a:latin typeface="Courier New"/>
                <a:ea typeface="Courier New"/>
              </a:rPr>
              <a:t>DIVISION</a:t>
            </a:r>
            <a:r>
              <a:rPr lang="en-US" sz="2000" b="1" u="none" strike="noStrike">
                <a:solidFill>
                  <a:srgbClr val="FFFFFF"/>
                </a:solidFill>
                <a:effectLst/>
                <a:uFillTx/>
                <a:latin typeface="Courier New"/>
                <a:ea typeface="Courier New"/>
              </a:rPr>
              <a:t>.</a:t>
            </a:r>
            <a:br>
              <a:rPr sz="2000"/>
            </a:br>
            <a:r>
              <a:rPr lang="en-US" sz="2000" b="1" u="sng" strike="noStrike">
                <a:solidFill>
                  <a:srgbClr val="FFFFFF"/>
                </a:solidFill>
                <a:effectLst/>
                <a:uFillTx/>
                <a:latin typeface="Courier New"/>
                <a:ea typeface="Courier New"/>
              </a:rPr>
              <a:t>PROGRAM-ID</a:t>
            </a:r>
            <a:r>
              <a:rPr lang="en-US" sz="2000" b="1" u="none" strike="noStrike">
                <a:solidFill>
                  <a:srgbClr val="FFFFFF"/>
                </a:solidFill>
                <a:effectLst/>
                <a:uFillTx/>
                <a:latin typeface="Courier New"/>
                <a:ea typeface="Courier New"/>
              </a:rPr>
              <a:t>. NameOfProgram.</a:t>
            </a:r>
            <a:br>
              <a:rPr sz="2000"/>
            </a:br>
            <a:r>
              <a:rPr lang="en-US" sz="2000" b="1" u="none" strike="noStrike">
                <a:solidFill>
                  <a:srgbClr val="FFFFFF"/>
                </a:solidFill>
                <a:effectLst/>
                <a:uFillTx/>
                <a:latin typeface="Courier New"/>
                <a:ea typeface="Courier New"/>
              </a:rPr>
              <a:t>[</a:t>
            </a:r>
            <a:r>
              <a:rPr lang="en-US" sz="2000" b="1" u="sng" strike="noStrike">
                <a:solidFill>
                  <a:srgbClr val="FFFFFF"/>
                </a:solidFill>
                <a:effectLst/>
                <a:uFillTx/>
                <a:latin typeface="Courier New"/>
                <a:ea typeface="Courier New"/>
              </a:rPr>
              <a:t>AUTHOR</a:t>
            </a:r>
            <a:r>
              <a:rPr lang="en-US" sz="2000" b="1" u="none" strike="noStrike">
                <a:solidFill>
                  <a:srgbClr val="FFFFFF"/>
                </a:solidFill>
                <a:effectLst/>
                <a:uFillTx/>
                <a:latin typeface="Courier New"/>
                <a:ea typeface="Courier New"/>
              </a:rPr>
              <a:t>. YourName.]</a:t>
            </a:r>
            <a:br>
              <a:rPr sz="2000"/>
            </a:br>
            <a:br>
              <a:rPr sz="2000"/>
            </a:br>
            <a:br>
              <a:rPr sz="2000"/>
            </a:br>
            <a:br>
              <a:rPr sz="2000"/>
            </a:br>
            <a:br>
              <a:rPr sz="2000"/>
            </a:br>
            <a:br>
              <a:rPr sz="2000"/>
            </a:br>
            <a:r>
              <a:rPr lang="en-US" sz="2000" b="1" u="none" strike="noStrike">
                <a:solidFill>
                  <a:srgbClr val="FFFFFF"/>
                </a:solidFill>
                <a:effectLst/>
                <a:uFillTx/>
                <a:latin typeface="Courier New"/>
              </a:rPr>
              <a:t> </a:t>
            </a:r>
            <a:endParaRPr lang="en-US" sz="2000" b="0" u="none" strike="noStrike">
              <a:solidFill>
                <a:srgbClr val="000000"/>
              </a:solidFill>
              <a:effectLst/>
              <a:uFillTx/>
              <a:latin typeface="Arial"/>
            </a:endParaRPr>
          </a:p>
          <a:p>
            <a:pPr marL="380880" indent="-380880">
              <a:lnSpc>
                <a:spcPct val="90000"/>
              </a:lnSpc>
              <a:spcBef>
                <a:spcPts val="601"/>
              </a:spcBef>
              <a:buClr>
                <a:srgbClr val="FC0128"/>
              </a:buClr>
              <a:buSzPct val="75000"/>
              <a:buFont typeface="Wingdings"/>
              <a:buChar char="_x0000_"/>
              <a:tabLst>
                <a:tab pos="2387520" algn="l"/>
              </a:tabLst>
            </a:pPr>
            <a:r>
              <a:rPr lang="en-US" sz="2400" b="1" u="none" strike="noStrike">
                <a:solidFill>
                  <a:srgbClr val="FFFFFF"/>
                </a:solidFill>
                <a:effectLst/>
                <a:uFillTx/>
                <a:latin typeface="Arial"/>
                <a:ea typeface="Arial"/>
              </a:rPr>
              <a:t>The keywords </a:t>
            </a:r>
            <a:r>
              <a:rPr lang="en-US" sz="2400" b="1" u="none" strike="noStrike">
                <a:solidFill>
                  <a:srgbClr val="00FF00"/>
                </a:solidFill>
                <a:effectLst/>
                <a:uFillTx/>
                <a:latin typeface="Arial"/>
                <a:ea typeface="Arial"/>
              </a:rPr>
              <a:t>IDENTIFICATION DIVISION</a:t>
            </a:r>
            <a:r>
              <a:rPr lang="en-US" sz="2400" b="1" u="none" strike="noStrike">
                <a:solidFill>
                  <a:srgbClr val="FFFFFF"/>
                </a:solidFill>
                <a:effectLst/>
                <a:uFillTx/>
                <a:latin typeface="Arial"/>
                <a:ea typeface="Arial"/>
              </a:rPr>
              <a:t> represent the division header and signal the commencement of the program text.</a:t>
            </a:r>
            <a:endParaRPr lang="en-US" sz="2400" b="0" u="none" strike="noStrike">
              <a:solidFill>
                <a:srgbClr val="000000"/>
              </a:solidFill>
              <a:effectLst/>
              <a:uFillTx/>
              <a:latin typeface="Arial"/>
            </a:endParaRPr>
          </a:p>
          <a:p>
            <a:pPr marL="380880" indent="-380880">
              <a:lnSpc>
                <a:spcPct val="90000"/>
              </a:lnSpc>
              <a:spcBef>
                <a:spcPts val="601"/>
              </a:spcBef>
              <a:buClr>
                <a:srgbClr val="FC0128"/>
              </a:buClr>
              <a:buSzPct val="75000"/>
              <a:buFont typeface="Wingdings"/>
              <a:buChar char="_x0000_"/>
              <a:tabLst>
                <a:tab pos="2387520" algn="l"/>
              </a:tabLst>
            </a:pPr>
            <a:r>
              <a:rPr lang="en-US" sz="2400" b="1" u="none" strike="noStrike">
                <a:solidFill>
                  <a:srgbClr val="FFFFFF"/>
                </a:solidFill>
                <a:effectLst/>
                <a:uFillTx/>
                <a:latin typeface="Arial"/>
                <a:ea typeface="Arial"/>
              </a:rPr>
              <a:t>The paragraph name </a:t>
            </a:r>
            <a:r>
              <a:rPr lang="en-US" sz="2400" b="1" u="none" strike="noStrike">
                <a:solidFill>
                  <a:srgbClr val="00FF00"/>
                </a:solidFill>
                <a:effectLst/>
                <a:uFillTx/>
                <a:latin typeface="Arial"/>
                <a:ea typeface="Arial"/>
              </a:rPr>
              <a:t>PROGRAM-ID</a:t>
            </a:r>
            <a:r>
              <a:rPr lang="en-US" sz="2400" b="1" u="none" strike="noStrike">
                <a:solidFill>
                  <a:srgbClr val="FFFFFF"/>
                </a:solidFill>
                <a:effectLst/>
                <a:uFillTx/>
                <a:latin typeface="Arial"/>
                <a:ea typeface="Arial"/>
              </a:rPr>
              <a:t> is a keyword. It must be specified immediately after the division header.</a:t>
            </a:r>
            <a:endParaRPr lang="en-US" sz="2400" b="0" u="none" strike="noStrike">
              <a:solidFill>
                <a:srgbClr val="000000"/>
              </a:solidFill>
              <a:effectLst/>
              <a:uFillTx/>
              <a:latin typeface="Arial"/>
            </a:endParaRPr>
          </a:p>
          <a:p>
            <a:pPr marL="380880" indent="-380880">
              <a:lnSpc>
                <a:spcPct val="90000"/>
              </a:lnSpc>
              <a:spcBef>
                <a:spcPts val="601"/>
              </a:spcBef>
              <a:buClr>
                <a:srgbClr val="FC0128"/>
              </a:buClr>
              <a:buSzPct val="75000"/>
              <a:buFont typeface="Wingdings"/>
              <a:buChar char="_x0000_"/>
              <a:tabLst>
                <a:tab pos="2387520" algn="l"/>
              </a:tabLst>
            </a:pPr>
            <a:r>
              <a:rPr lang="en-US" sz="2400" b="1" u="none" strike="noStrike">
                <a:solidFill>
                  <a:srgbClr val="FFFFFF"/>
                </a:solidFill>
                <a:effectLst/>
                <a:uFillTx/>
                <a:latin typeface="Arial"/>
                <a:ea typeface="Arial"/>
              </a:rPr>
              <a:t>The program name can be up to 30 characters long.</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 name=""/>
          <p:cNvSpPr txBox="1"/>
          <p:nvPr/>
        </p:nvSpPr>
        <p:spPr>
          <a:xfrm>
            <a:off x="1246320" y="93600"/>
            <a:ext cx="6783480" cy="476280"/>
          </a:xfrm>
          <a:prstGeom prst="rect">
            <a:avLst/>
          </a:prstGeom>
          <a:noFill/>
          <a:ln w="0">
            <a:noFill/>
          </a:ln>
        </p:spPr>
        <p:txBody>
          <a:bodyPr lIns="0" tIns="0" rIns="0" bIns="0" anchor="t">
            <a:spAutoFit/>
          </a:bodyPr>
          <a:p>
            <a:pPr>
              <a:lnSpc>
                <a:spcPct val="90000"/>
              </a:lnSpc>
            </a:pPr>
            <a:r>
              <a:rPr lang="en-US" sz="2800" b="1" u="none" strike="noStrike">
                <a:solidFill>
                  <a:srgbClr val="FAFD00"/>
                </a:solidFill>
                <a:effectLst/>
                <a:uFillTx/>
                <a:latin typeface="Arial"/>
                <a:ea typeface="Arial"/>
              </a:rPr>
              <a:t>The IDENTIFICATION DIVISION Syntax.</a:t>
            </a:r>
            <a:endParaRPr lang="en-US" sz="2800" b="0" u="none" strike="noStrike">
              <a:solidFill>
                <a:srgbClr val="000000"/>
              </a:solidFill>
              <a:effectLst/>
              <a:uFillTx/>
              <a:latin typeface="Arial"/>
            </a:endParaRPr>
          </a:p>
        </p:txBody>
      </p:sp>
      <p:sp>
        <p:nvSpPr>
          <p:cNvPr id="66" name=""/>
          <p:cNvSpPr txBox="1"/>
          <p:nvPr/>
        </p:nvSpPr>
        <p:spPr>
          <a:xfrm>
            <a:off x="214200" y="716040"/>
            <a:ext cx="8218440" cy="5344920"/>
          </a:xfrm>
          <a:prstGeom prst="rect">
            <a:avLst/>
          </a:prstGeom>
          <a:noFill/>
          <a:ln w="0">
            <a:noFill/>
          </a:ln>
        </p:spPr>
        <p:txBody>
          <a:bodyPr lIns="0" tIns="0" rIns="0" bIns="0" anchor="t">
            <a:spAutoFit/>
          </a:bodyPr>
          <a:p>
            <a:pPr marL="380880" indent="-380880">
              <a:lnSpc>
                <a:spcPct val="90000"/>
              </a:lnSpc>
              <a:spcBef>
                <a:spcPts val="601"/>
              </a:spcBef>
              <a:buClr>
                <a:srgbClr val="FC0128"/>
              </a:buClr>
              <a:buSzPct val="75000"/>
              <a:buFont typeface="Wingdings"/>
              <a:buChar char="_x0000_"/>
              <a:tabLst>
                <a:tab pos="2387520" algn="l"/>
              </a:tabLst>
            </a:pPr>
            <a:r>
              <a:rPr lang="en-US" sz="2400" b="1" u="none" strike="noStrike">
                <a:solidFill>
                  <a:srgbClr val="DADADA"/>
                </a:solidFill>
                <a:effectLst/>
                <a:uFillTx/>
                <a:latin typeface="Arial"/>
                <a:ea typeface="Arial"/>
              </a:rPr>
              <a:t>The IDENTIFICATION DIVISION has the following structure</a:t>
            </a:r>
            <a:r>
              <a:rPr lang="en-US" sz="2400" b="1" u="none" strike="noStrike">
                <a:solidFill>
                  <a:srgbClr val="DADADA"/>
                </a:solidFill>
                <a:effectLst/>
                <a:uFillTx/>
                <a:latin typeface="Arial"/>
                <a:ea typeface="Arial"/>
              </a:rPr>
              <a:t>	</a:t>
            </a:r>
            <a:br>
              <a:rPr sz="2400"/>
            </a:br>
            <a:r>
              <a:rPr lang="en-US" sz="2000" b="1" u="sng" strike="noStrike">
                <a:solidFill>
                  <a:srgbClr val="DADADA"/>
                </a:solidFill>
                <a:effectLst/>
                <a:uFillTx/>
                <a:latin typeface="Courier New"/>
                <a:ea typeface="Courier New"/>
              </a:rPr>
              <a:t>IDENTIFICATION</a:t>
            </a:r>
            <a:r>
              <a:rPr lang="en-US" sz="2000" b="1" u="none" strike="noStrike">
                <a:solidFill>
                  <a:srgbClr val="DADADA"/>
                </a:solidFill>
                <a:effectLst/>
                <a:uFillTx/>
                <a:latin typeface="Courier New"/>
                <a:ea typeface="Courier New"/>
              </a:rPr>
              <a:t> </a:t>
            </a:r>
            <a:r>
              <a:rPr lang="en-US" sz="2000" b="1" u="sng" strike="noStrike">
                <a:solidFill>
                  <a:srgbClr val="DADADA"/>
                </a:solidFill>
                <a:effectLst/>
                <a:uFillTx/>
                <a:latin typeface="Courier New"/>
                <a:ea typeface="Courier New"/>
              </a:rPr>
              <a:t>DIVISION</a:t>
            </a:r>
            <a:r>
              <a:rPr lang="en-US" sz="2000" b="1" u="none" strike="noStrike">
                <a:solidFill>
                  <a:srgbClr val="DADADA"/>
                </a:solidFill>
                <a:effectLst/>
                <a:uFillTx/>
                <a:latin typeface="Courier New"/>
                <a:ea typeface="Courier New"/>
              </a:rPr>
              <a:t>.</a:t>
            </a:r>
            <a:br>
              <a:rPr sz="2000"/>
            </a:br>
            <a:r>
              <a:rPr lang="en-US" sz="2000" b="1" u="sng" strike="noStrike">
                <a:solidFill>
                  <a:srgbClr val="DADADA"/>
                </a:solidFill>
                <a:effectLst/>
                <a:uFillTx/>
                <a:latin typeface="Courier New"/>
                <a:ea typeface="Courier New"/>
              </a:rPr>
              <a:t>PROGRAM-ID</a:t>
            </a:r>
            <a:r>
              <a:rPr lang="en-US" sz="2000" b="1" u="none" strike="noStrike">
                <a:solidFill>
                  <a:srgbClr val="DADADA"/>
                </a:solidFill>
                <a:effectLst/>
                <a:uFillTx/>
                <a:latin typeface="Courier New"/>
                <a:ea typeface="Courier New"/>
              </a:rPr>
              <a:t>. NameOfProgram.</a:t>
            </a:r>
            <a:br>
              <a:rPr sz="2000"/>
            </a:br>
            <a:r>
              <a:rPr lang="en-US" sz="2000" b="1" u="none" strike="noStrike">
                <a:solidFill>
                  <a:srgbClr val="DADADA"/>
                </a:solidFill>
                <a:effectLst/>
                <a:uFillTx/>
                <a:latin typeface="Courier New"/>
                <a:ea typeface="Courier New"/>
              </a:rPr>
              <a:t>[</a:t>
            </a:r>
            <a:r>
              <a:rPr lang="en-US" sz="2000" b="1" u="sng" strike="noStrike">
                <a:solidFill>
                  <a:srgbClr val="DADADA"/>
                </a:solidFill>
                <a:effectLst/>
                <a:uFillTx/>
                <a:latin typeface="Courier New"/>
                <a:ea typeface="Courier New"/>
              </a:rPr>
              <a:t>AUTHOR</a:t>
            </a:r>
            <a:r>
              <a:rPr lang="en-US" sz="2000" b="1" u="none" strike="noStrike">
                <a:solidFill>
                  <a:srgbClr val="DADADA"/>
                </a:solidFill>
                <a:effectLst/>
                <a:uFillTx/>
                <a:latin typeface="Courier New"/>
                <a:ea typeface="Courier New"/>
              </a:rPr>
              <a:t>. YourName.]</a:t>
            </a:r>
            <a:br>
              <a:rPr sz="2000"/>
            </a:br>
            <a:br>
              <a:rPr sz="2000"/>
            </a:br>
            <a:br>
              <a:rPr sz="2000"/>
            </a:br>
            <a:br>
              <a:rPr sz="2000"/>
            </a:br>
            <a:br>
              <a:rPr sz="2000"/>
            </a:br>
            <a:br>
              <a:rPr sz="2000"/>
            </a:br>
            <a:r>
              <a:rPr lang="en-US" sz="2000" b="1" u="none" strike="noStrike">
                <a:solidFill>
                  <a:srgbClr val="DADADA"/>
                </a:solidFill>
                <a:effectLst/>
                <a:uFillTx/>
                <a:latin typeface="Courier New"/>
              </a:rPr>
              <a:t> </a:t>
            </a:r>
            <a:endParaRPr lang="en-US" sz="2000" b="0" u="none" strike="noStrike">
              <a:solidFill>
                <a:srgbClr val="000000"/>
              </a:solidFill>
              <a:effectLst/>
              <a:uFillTx/>
              <a:latin typeface="Arial"/>
            </a:endParaRPr>
          </a:p>
          <a:p>
            <a:pPr marL="380880" indent="-380880">
              <a:lnSpc>
                <a:spcPct val="90000"/>
              </a:lnSpc>
              <a:spcBef>
                <a:spcPts val="601"/>
              </a:spcBef>
              <a:buClr>
                <a:srgbClr val="FC0128"/>
              </a:buClr>
              <a:buSzPct val="75000"/>
              <a:buFont typeface="Wingdings"/>
              <a:buChar char="_x0000_"/>
              <a:tabLst>
                <a:tab pos="2387520" algn="l"/>
              </a:tabLst>
            </a:pPr>
            <a:r>
              <a:rPr lang="en-US" sz="2400" b="1" u="none" strike="noStrike">
                <a:solidFill>
                  <a:srgbClr val="DADADA"/>
                </a:solidFill>
                <a:effectLst/>
                <a:uFillTx/>
                <a:latin typeface="Arial"/>
                <a:ea typeface="Arial"/>
              </a:rPr>
              <a:t>The keywords IDENTIFICATION DIVISION represent the division header and signal the commencement of the program text.</a:t>
            </a:r>
            <a:endParaRPr lang="en-US" sz="2400" b="0" u="none" strike="noStrike">
              <a:solidFill>
                <a:srgbClr val="000000"/>
              </a:solidFill>
              <a:effectLst/>
              <a:uFillTx/>
              <a:latin typeface="Arial"/>
            </a:endParaRPr>
          </a:p>
          <a:p>
            <a:pPr marL="380880" indent="-380880">
              <a:lnSpc>
                <a:spcPct val="90000"/>
              </a:lnSpc>
              <a:spcBef>
                <a:spcPts val="601"/>
              </a:spcBef>
              <a:buClr>
                <a:srgbClr val="FC0128"/>
              </a:buClr>
              <a:buSzPct val="75000"/>
              <a:buFont typeface="Wingdings"/>
              <a:buChar char="_x0000_"/>
              <a:tabLst>
                <a:tab pos="2387520" algn="l"/>
              </a:tabLst>
            </a:pPr>
            <a:r>
              <a:rPr lang="en-US" sz="2400" b="1" u="none" strike="noStrike">
                <a:solidFill>
                  <a:srgbClr val="DADADA"/>
                </a:solidFill>
                <a:effectLst/>
                <a:uFillTx/>
                <a:latin typeface="Arial"/>
                <a:ea typeface="Arial"/>
              </a:rPr>
              <a:t>The paragraph name PROGRAM-ID is a keyword. It must be specified immediately after the division header.</a:t>
            </a:r>
            <a:endParaRPr lang="en-US" sz="2400" b="0" u="none" strike="noStrike">
              <a:solidFill>
                <a:srgbClr val="000000"/>
              </a:solidFill>
              <a:effectLst/>
              <a:uFillTx/>
              <a:latin typeface="Arial"/>
            </a:endParaRPr>
          </a:p>
          <a:p>
            <a:pPr marL="380880" indent="-380880">
              <a:lnSpc>
                <a:spcPct val="90000"/>
              </a:lnSpc>
              <a:spcBef>
                <a:spcPts val="601"/>
              </a:spcBef>
              <a:buClr>
                <a:srgbClr val="FC0128"/>
              </a:buClr>
              <a:buSzPct val="75000"/>
              <a:buFont typeface="Wingdings"/>
              <a:buChar char="_x0000_"/>
              <a:tabLst>
                <a:tab pos="2387520" algn="l"/>
              </a:tabLst>
            </a:pPr>
            <a:r>
              <a:rPr lang="en-US" sz="2400" b="1" u="none" strike="noStrike">
                <a:solidFill>
                  <a:srgbClr val="DADADA"/>
                </a:solidFill>
                <a:effectLst/>
                <a:uFillTx/>
                <a:latin typeface="Arial"/>
                <a:ea typeface="Arial"/>
              </a:rPr>
              <a:t>The program name can be up to 30 characters long.</a:t>
            </a:r>
            <a:endParaRPr lang="en-US" sz="2400" b="0" u="none" strike="noStrike">
              <a:solidFill>
                <a:srgbClr val="000000"/>
              </a:solidFill>
              <a:effectLst/>
              <a:uFillTx/>
              <a:latin typeface="Arial"/>
            </a:endParaRPr>
          </a:p>
        </p:txBody>
      </p:sp>
      <p:sp>
        <p:nvSpPr>
          <p:cNvPr id="67" name=""/>
          <p:cNvSpPr txBox="1"/>
          <p:nvPr/>
        </p:nvSpPr>
        <p:spPr>
          <a:xfrm>
            <a:off x="3855960" y="2298600"/>
            <a:ext cx="4894200" cy="1336680"/>
          </a:xfrm>
          <a:prstGeom prst="rect">
            <a:avLst/>
          </a:prstGeom>
          <a:solidFill>
            <a:srgbClr val="DADADA"/>
          </a:solidFill>
          <a:ln w="12600">
            <a:solidFill>
              <a:srgbClr val="000000"/>
            </a:solidFill>
            <a:round/>
          </a:ln>
          <a:effectLst>
            <a:outerShdw dist="0" dir="0" rotWithShape="0">
              <a:srgbClr val="919191"/>
            </a:outerShdw>
          </a:effectLst>
        </p:spPr>
        <p:txBody>
          <a:bodyPr lIns="0" tIns="0" rIns="0" bIns="0" anchor="t">
            <a:spAutoFit/>
          </a:bodyPr>
          <a:p>
            <a:pPr marL="190440" indent="-190440">
              <a:lnSpc>
                <a:spcPct val="100000"/>
              </a:lnSpc>
            </a:pPr>
            <a:r>
              <a:rPr lang="en-US" sz="2000" b="1" u="none" strike="noStrike">
                <a:solidFill>
                  <a:srgbClr val="000000"/>
                </a:solidFill>
                <a:effectLst/>
                <a:uFillTx/>
                <a:latin typeface="Courier New"/>
                <a:ea typeface="Courier New"/>
              </a:rPr>
              <a:t>     $ SET SOURCEFORMAT"FREE"</a:t>
            </a:r>
            <a:endParaRPr lang="en-US" sz="2000" b="0" u="none" strike="noStrike">
              <a:solidFill>
                <a:srgbClr val="000000"/>
              </a:solidFill>
              <a:effectLst/>
              <a:uFillTx/>
              <a:latin typeface="Arial"/>
            </a:endParaRPr>
          </a:p>
          <a:p>
            <a:pPr marL="190440" indent="-190440">
              <a:lnSpc>
                <a:spcPct val="100000"/>
              </a:lnSpc>
            </a:pPr>
            <a:r>
              <a:rPr lang="en-US" sz="2000" b="1" u="none" strike="noStrike">
                <a:solidFill>
                  <a:srgbClr val="000000"/>
                </a:solidFill>
                <a:effectLst/>
                <a:uFillTx/>
                <a:latin typeface="Courier New"/>
                <a:ea typeface="Courier New"/>
              </a:rPr>
              <a:t>IDENTIFICATION DIVISION.</a:t>
            </a:r>
            <a:endParaRPr lang="en-US" sz="2000" b="0" u="none" strike="noStrike">
              <a:solidFill>
                <a:srgbClr val="000000"/>
              </a:solidFill>
              <a:effectLst/>
              <a:uFillTx/>
              <a:latin typeface="Arial"/>
            </a:endParaRPr>
          </a:p>
          <a:p>
            <a:pPr marL="190440" indent="-190440">
              <a:lnSpc>
                <a:spcPct val="100000"/>
              </a:lnSpc>
            </a:pPr>
            <a:r>
              <a:rPr lang="en-US" sz="2000" b="1" u="none" strike="noStrike">
                <a:solidFill>
                  <a:srgbClr val="000000"/>
                </a:solidFill>
                <a:effectLst/>
                <a:uFillTx/>
                <a:latin typeface="Courier New"/>
                <a:ea typeface="Courier New"/>
              </a:rPr>
              <a:t>PROGRAM-ID. </a:t>
            </a:r>
            <a:r>
              <a:rPr lang="en-US" sz="2000" b="0" u="none" strike="noStrike">
                <a:solidFill>
                  <a:srgbClr val="000000"/>
                </a:solidFill>
                <a:effectLst/>
                <a:uFillTx/>
                <a:latin typeface="Courier New"/>
                <a:ea typeface="Courier New"/>
              </a:rPr>
              <a:t>SequenceProgram.</a:t>
            </a:r>
            <a:endParaRPr lang="en-US" sz="2000" b="0" u="none" strike="noStrike">
              <a:solidFill>
                <a:srgbClr val="000000"/>
              </a:solidFill>
              <a:effectLst/>
              <a:uFillTx/>
              <a:latin typeface="Arial"/>
            </a:endParaRPr>
          </a:p>
          <a:p>
            <a:pPr marL="190440" indent="-190440">
              <a:lnSpc>
                <a:spcPct val="100000"/>
              </a:lnSpc>
            </a:pPr>
            <a:r>
              <a:rPr lang="en-US" sz="2000" b="1" u="none" strike="noStrike">
                <a:solidFill>
                  <a:srgbClr val="000000"/>
                </a:solidFill>
                <a:effectLst/>
                <a:uFillTx/>
                <a:latin typeface="Courier New"/>
                <a:ea typeface="Courier New"/>
              </a:rPr>
              <a:t>AUTHOR. </a:t>
            </a:r>
            <a:r>
              <a:rPr lang="en-US" sz="2000" b="0" u="none" strike="noStrike">
                <a:solidFill>
                  <a:srgbClr val="000000"/>
                </a:solidFill>
                <a:effectLst/>
                <a:uFillTx/>
                <a:latin typeface="Courier New"/>
                <a:ea typeface="Courier New"/>
              </a:rPr>
              <a:t>Michael Coughlan.</a:t>
            </a: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
          <p:cNvSpPr txBox="1"/>
          <p:nvPr/>
        </p:nvSpPr>
        <p:spPr>
          <a:xfrm>
            <a:off x="2546280" y="108000"/>
            <a:ext cx="3660840" cy="476280"/>
          </a:xfrm>
          <a:prstGeom prst="rect">
            <a:avLst/>
          </a:prstGeom>
          <a:noFill/>
          <a:ln w="0">
            <a:noFill/>
          </a:ln>
        </p:spPr>
        <p:txBody>
          <a:bodyPr lIns="0" tIns="0" rIns="0" bIns="0" anchor="t">
            <a:spAutoFit/>
          </a:bodyPr>
          <a:p>
            <a:pPr>
              <a:lnSpc>
                <a:spcPct val="90000"/>
              </a:lnSpc>
            </a:pPr>
            <a:r>
              <a:rPr lang="en-US" sz="2800" b="1" u="none" strike="noStrike">
                <a:solidFill>
                  <a:srgbClr val="FAFD00"/>
                </a:solidFill>
                <a:effectLst/>
                <a:uFillTx/>
                <a:latin typeface="Arial"/>
                <a:ea typeface="Arial"/>
              </a:rPr>
              <a:t>The DATA DIVISION.</a:t>
            </a:r>
            <a:endParaRPr lang="en-US" sz="2800" b="0" u="none" strike="noStrike">
              <a:solidFill>
                <a:srgbClr val="000000"/>
              </a:solidFill>
              <a:effectLst/>
              <a:uFillTx/>
              <a:latin typeface="Arial"/>
            </a:endParaRPr>
          </a:p>
        </p:txBody>
      </p:sp>
      <p:sp>
        <p:nvSpPr>
          <p:cNvPr id="69" name=""/>
          <p:cNvSpPr txBox="1"/>
          <p:nvPr/>
        </p:nvSpPr>
        <p:spPr>
          <a:xfrm>
            <a:off x="453960" y="919080"/>
            <a:ext cx="7711920" cy="4995720"/>
          </a:xfrm>
          <a:prstGeom prst="rect">
            <a:avLst/>
          </a:prstGeom>
          <a:noFill/>
          <a:ln w="0">
            <a:noFill/>
          </a:ln>
        </p:spPr>
        <p:txBody>
          <a:bodyPr lIns="0" tIns="0" rIns="0" bIns="0" anchor="t">
            <a:spAutoFit/>
          </a:bodyPr>
          <a:p>
            <a:pPr marL="380880" indent="-380880">
              <a:lnSpc>
                <a:spcPct val="90000"/>
              </a:lnSpc>
              <a:spcBef>
                <a:spcPts val="1681"/>
              </a:spcBef>
              <a:buClr>
                <a:srgbClr val="FC0128"/>
              </a:buClr>
              <a:buSzPct val="75000"/>
              <a:buFont typeface="Wingdings"/>
              <a:buChar char="_x0000_"/>
            </a:pPr>
            <a:r>
              <a:rPr lang="en-US" sz="2400" b="1" u="none" strike="noStrike">
                <a:solidFill>
                  <a:srgbClr val="FFFFFF"/>
                </a:solidFill>
                <a:effectLst/>
                <a:uFillTx/>
                <a:latin typeface="Arial"/>
                <a:ea typeface="Arial"/>
              </a:rPr>
              <a:t>The </a:t>
            </a:r>
            <a:r>
              <a:rPr lang="en-US" sz="2400" b="1" u="none" strike="noStrike">
                <a:solidFill>
                  <a:srgbClr val="00FF00"/>
                </a:solidFill>
                <a:effectLst/>
                <a:uFillTx/>
                <a:latin typeface="Arial"/>
                <a:ea typeface="Arial"/>
              </a:rPr>
              <a:t>DATA DIVISION</a:t>
            </a:r>
            <a:r>
              <a:rPr lang="en-US" sz="2400" b="1" u="none" strike="noStrike">
                <a:solidFill>
                  <a:srgbClr val="FAFD00"/>
                </a:solidFill>
                <a:effectLst/>
                <a:uFillTx/>
                <a:latin typeface="Arial"/>
                <a:ea typeface="Arial"/>
              </a:rPr>
              <a:t> </a:t>
            </a:r>
            <a:r>
              <a:rPr lang="en-US" sz="2400" b="1" u="none" strike="noStrike">
                <a:solidFill>
                  <a:srgbClr val="FFFFFF"/>
                </a:solidFill>
                <a:effectLst/>
                <a:uFillTx/>
                <a:latin typeface="Arial"/>
                <a:ea typeface="Arial"/>
              </a:rPr>
              <a:t>is used to describe most of the data that a program processes.</a:t>
            </a:r>
            <a:endParaRPr lang="en-US" sz="2400" b="0" u="none" strike="noStrike">
              <a:solidFill>
                <a:srgbClr val="000000"/>
              </a:solidFill>
              <a:effectLst/>
              <a:uFillTx/>
              <a:latin typeface="Arial"/>
            </a:endParaRPr>
          </a:p>
          <a:p>
            <a:pPr marL="380880" indent="-380880">
              <a:lnSpc>
                <a:spcPct val="90000"/>
              </a:lnSpc>
              <a:spcBef>
                <a:spcPts val="1681"/>
              </a:spcBef>
              <a:buClr>
                <a:srgbClr val="FC0128"/>
              </a:buClr>
              <a:buSzPct val="75000"/>
              <a:buFont typeface="Wingdings"/>
              <a:buChar char="_x0000_"/>
            </a:pPr>
            <a:r>
              <a:rPr lang="en-US" sz="2400" b="1" u="none" strike="noStrike">
                <a:solidFill>
                  <a:srgbClr val="FFFFFF"/>
                </a:solidFill>
                <a:effectLst/>
                <a:uFillTx/>
                <a:latin typeface="Arial"/>
                <a:ea typeface="Arial"/>
              </a:rPr>
              <a:t>The DATA DIVISION is divided into two main sections;</a:t>
            </a:r>
            <a:endParaRPr lang="en-US" sz="2400" b="0" u="none" strike="noStrike">
              <a:solidFill>
                <a:srgbClr val="000000"/>
              </a:solidFill>
              <a:effectLst/>
              <a:uFillTx/>
              <a:latin typeface="Arial"/>
            </a:endParaRPr>
          </a:p>
          <a:p>
            <a:pPr marL="952560" lvl="1" indent="-380880">
              <a:lnSpc>
                <a:spcPct val="90000"/>
              </a:lnSpc>
              <a:spcBef>
                <a:spcPts val="720"/>
              </a:spcBef>
              <a:buClr>
                <a:srgbClr val="00FF00"/>
              </a:buClr>
              <a:buSzPct val="65000"/>
              <a:buFont typeface="Monotype Sorts"/>
              <a:buChar char="_x0000_"/>
            </a:pPr>
            <a:r>
              <a:rPr lang="en-US" sz="2400" b="1" u="none" strike="noStrike">
                <a:solidFill>
                  <a:srgbClr val="FFFFFF"/>
                </a:solidFill>
                <a:effectLst/>
                <a:uFillTx/>
                <a:latin typeface="Times New Roman"/>
                <a:ea typeface="Times New Roman"/>
              </a:rPr>
              <a:t>FILE SECTION.</a:t>
            </a:r>
            <a:endParaRPr lang="en-US" sz="2400" b="0" u="none" strike="noStrike">
              <a:solidFill>
                <a:srgbClr val="000000"/>
              </a:solidFill>
              <a:effectLst/>
              <a:uFillTx/>
              <a:latin typeface="Arial"/>
            </a:endParaRPr>
          </a:p>
          <a:p>
            <a:pPr marL="952560" lvl="1" indent="-380880">
              <a:lnSpc>
                <a:spcPct val="90000"/>
              </a:lnSpc>
              <a:spcBef>
                <a:spcPts val="720"/>
              </a:spcBef>
              <a:buClr>
                <a:srgbClr val="00FF00"/>
              </a:buClr>
              <a:buSzPct val="65000"/>
              <a:buFont typeface="Monotype Sorts"/>
              <a:buChar char="_x0000_"/>
            </a:pPr>
            <a:r>
              <a:rPr lang="en-US" sz="2400" b="1" u="none" strike="noStrike">
                <a:solidFill>
                  <a:srgbClr val="FFFFFF"/>
                </a:solidFill>
                <a:effectLst/>
                <a:uFillTx/>
                <a:latin typeface="Times New Roman"/>
                <a:ea typeface="Times New Roman"/>
              </a:rPr>
              <a:t>WORKING-STORAGE SECTION.</a:t>
            </a:r>
            <a:endParaRPr lang="en-US" sz="2400" b="0" u="none" strike="noStrike">
              <a:solidFill>
                <a:srgbClr val="000000"/>
              </a:solidFill>
              <a:effectLst/>
              <a:uFillTx/>
              <a:latin typeface="Arial"/>
            </a:endParaRPr>
          </a:p>
          <a:p>
            <a:pPr marL="380880" indent="-380880">
              <a:lnSpc>
                <a:spcPct val="90000"/>
              </a:lnSpc>
              <a:spcBef>
                <a:spcPts val="1681"/>
              </a:spcBef>
              <a:buClr>
                <a:srgbClr val="FC0128"/>
              </a:buClr>
              <a:buSzPct val="75000"/>
              <a:buFont typeface="Wingdings"/>
              <a:buChar char="_x0000_"/>
            </a:pPr>
            <a:r>
              <a:rPr lang="en-US" sz="2400" b="1" u="none" strike="noStrike">
                <a:solidFill>
                  <a:srgbClr val="FFFFFF"/>
                </a:solidFill>
                <a:effectLst/>
                <a:uFillTx/>
                <a:latin typeface="Arial"/>
                <a:ea typeface="Arial"/>
              </a:rPr>
              <a:t>The </a:t>
            </a:r>
            <a:r>
              <a:rPr lang="en-US" sz="2400" b="1" u="none" strike="noStrike">
                <a:solidFill>
                  <a:srgbClr val="00FF00"/>
                </a:solidFill>
                <a:effectLst/>
                <a:uFillTx/>
                <a:latin typeface="Arial"/>
                <a:ea typeface="Arial"/>
              </a:rPr>
              <a:t>FILE SECTION</a:t>
            </a:r>
            <a:r>
              <a:rPr lang="en-US" sz="2400" b="1" u="none" strike="noStrike">
                <a:solidFill>
                  <a:srgbClr val="FFFFFF"/>
                </a:solidFill>
                <a:effectLst/>
                <a:uFillTx/>
                <a:latin typeface="Arial"/>
                <a:ea typeface="Arial"/>
              </a:rPr>
              <a:t> is used to describe most of the data that is sent to, or comes from, the computer’s peripherals. </a:t>
            </a:r>
            <a:endParaRPr lang="en-US" sz="2400" b="0" u="none" strike="noStrike">
              <a:solidFill>
                <a:srgbClr val="000000"/>
              </a:solidFill>
              <a:effectLst/>
              <a:uFillTx/>
              <a:latin typeface="Arial"/>
            </a:endParaRPr>
          </a:p>
          <a:p>
            <a:pPr marL="380880" indent="-380880">
              <a:lnSpc>
                <a:spcPct val="90000"/>
              </a:lnSpc>
              <a:spcBef>
                <a:spcPts val="1681"/>
              </a:spcBef>
              <a:buClr>
                <a:srgbClr val="FC0128"/>
              </a:buClr>
              <a:buSzPct val="75000"/>
              <a:buFont typeface="Wingdings"/>
              <a:buChar char="_x0000_"/>
            </a:pPr>
            <a:r>
              <a:rPr lang="en-US" sz="2400" b="1" u="none" strike="noStrike">
                <a:solidFill>
                  <a:srgbClr val="FFFFFF"/>
                </a:solidFill>
                <a:effectLst/>
                <a:uFillTx/>
                <a:latin typeface="Arial"/>
                <a:ea typeface="Arial"/>
              </a:rPr>
              <a:t>The </a:t>
            </a:r>
            <a:r>
              <a:rPr lang="en-US" sz="2400" b="1" u="none" strike="noStrike">
                <a:solidFill>
                  <a:srgbClr val="00FF00"/>
                </a:solidFill>
                <a:effectLst/>
                <a:uFillTx/>
                <a:latin typeface="Arial"/>
                <a:ea typeface="Arial"/>
              </a:rPr>
              <a:t>WORKING-STORAGE SECTION </a:t>
            </a:r>
            <a:r>
              <a:rPr lang="en-US" sz="2400" b="1" u="none" strike="noStrike">
                <a:solidFill>
                  <a:srgbClr val="FFFFFF"/>
                </a:solidFill>
                <a:effectLst/>
                <a:uFillTx/>
                <a:latin typeface="Arial"/>
                <a:ea typeface="Arial"/>
              </a:rPr>
              <a:t>is used to describe the general variables used in the program.</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 name=""/>
          <p:cNvSpPr txBox="1"/>
          <p:nvPr/>
        </p:nvSpPr>
        <p:spPr>
          <a:xfrm>
            <a:off x="154080" y="804960"/>
            <a:ext cx="8161200" cy="2338560"/>
          </a:xfrm>
          <a:prstGeom prst="rect">
            <a:avLst/>
          </a:prstGeom>
          <a:noFill/>
          <a:ln w="0">
            <a:noFill/>
          </a:ln>
        </p:spPr>
        <p:txBody>
          <a:bodyPr lIns="0" tIns="0" rIns="0" bIns="0" anchor="t">
            <a:spAutoFit/>
          </a:bodyPr>
          <a:p>
            <a:pPr marL="380880" indent="-380880">
              <a:lnSpc>
                <a:spcPct val="90000"/>
              </a:lnSpc>
              <a:spcBef>
                <a:spcPts val="601"/>
              </a:spcBef>
              <a:buClr>
                <a:srgbClr val="FC0128"/>
              </a:buClr>
              <a:buSzPct val="75000"/>
              <a:buFont typeface="Wingdings"/>
              <a:buChar char="_x0000_"/>
            </a:pPr>
            <a:r>
              <a:rPr lang="en-US" sz="2400" b="1" u="none" strike="noStrike">
                <a:solidFill>
                  <a:srgbClr val="FFFFFF"/>
                </a:solidFill>
                <a:effectLst/>
                <a:uFillTx/>
                <a:latin typeface="Arial"/>
                <a:ea typeface="Arial"/>
              </a:rPr>
              <a:t>The DATA DIVISION has the following structure</a:t>
            </a:r>
            <a:endParaRPr lang="en-US" sz="2400" b="0" u="none" strike="noStrike">
              <a:solidFill>
                <a:srgbClr val="000000"/>
              </a:solidFill>
              <a:effectLst/>
              <a:uFillTx/>
              <a:latin typeface="Arial"/>
            </a:endParaRPr>
          </a:p>
        </p:txBody>
      </p:sp>
      <p:sp>
        <p:nvSpPr>
          <p:cNvPr id="71" name=""/>
          <p:cNvSpPr txBox="1"/>
          <p:nvPr/>
        </p:nvSpPr>
        <p:spPr>
          <a:xfrm>
            <a:off x="2460600" y="79200"/>
            <a:ext cx="4095720" cy="476280"/>
          </a:xfrm>
          <a:prstGeom prst="rect">
            <a:avLst/>
          </a:prstGeom>
          <a:noFill/>
          <a:ln w="0">
            <a:noFill/>
          </a:ln>
        </p:spPr>
        <p:txBody>
          <a:bodyPr lIns="0" tIns="0" rIns="0" bIns="0" anchor="t">
            <a:spAutoFit/>
          </a:bodyPr>
          <a:p>
            <a:pPr>
              <a:lnSpc>
                <a:spcPct val="90000"/>
              </a:lnSpc>
            </a:pPr>
            <a:r>
              <a:rPr lang="en-US" sz="2800" b="1" u="none" strike="noStrike">
                <a:solidFill>
                  <a:srgbClr val="FAFD00"/>
                </a:solidFill>
                <a:effectLst/>
                <a:uFillTx/>
                <a:latin typeface="Arial"/>
                <a:ea typeface="Arial"/>
              </a:rPr>
              <a:t>DATA DIVISION Syntax</a:t>
            </a:r>
            <a:endParaRPr lang="en-US" sz="2800" b="0" u="none" strike="noStrike">
              <a:solidFill>
                <a:srgbClr val="000000"/>
              </a:solidFill>
              <a:effectLst/>
              <a:uFillTx/>
              <a:latin typeface="Arial"/>
            </a:endParaRPr>
          </a:p>
        </p:txBody>
      </p:sp>
      <p:pic>
        <p:nvPicPr>
          <p:cNvPr id="72" name=""/>
          <p:cNvPicPr/>
          <p:nvPr/>
        </p:nvPicPr>
        <p:blipFill>
          <a:blip r:embed="rId1"/>
          <a:stretch/>
        </p:blipFill>
        <p:spPr>
          <a:xfrm>
            <a:off x="990720" y="1523880"/>
            <a:ext cx="4425840" cy="1639800"/>
          </a:xfrm>
          <a:prstGeom prst="rect">
            <a:avLst/>
          </a:prstGeom>
          <a:noFill/>
          <a:ln w="0">
            <a:noFill/>
          </a:ln>
        </p:spPr>
      </p:pic>
      <p:sp>
        <p:nvSpPr>
          <p:cNvPr id="73" name=""/>
          <p:cNvSpPr txBox="1"/>
          <p:nvPr/>
        </p:nvSpPr>
        <p:spPr>
          <a:xfrm>
            <a:off x="3089160" y="3406680"/>
            <a:ext cx="5423040" cy="2863800"/>
          </a:xfrm>
          <a:prstGeom prst="rect">
            <a:avLst/>
          </a:prstGeom>
          <a:solidFill>
            <a:srgbClr val="DADADA"/>
          </a:solidFill>
          <a:ln w="12600">
            <a:solidFill>
              <a:srgbClr val="000000"/>
            </a:solidFill>
            <a:round/>
          </a:ln>
          <a:effectLst>
            <a:outerShdw dist="0" dir="0" rotWithShape="0">
              <a:srgbClr val="919191"/>
            </a:outerShdw>
          </a:effectLst>
        </p:spPr>
        <p:txBody>
          <a:bodyPr lIns="0" tIns="0" rIns="0" bIns="0" anchor="t">
            <a:spAutoFit/>
          </a:bodyPr>
          <a:p>
            <a:pPr>
              <a:lnSpc>
                <a:spcPct val="100000"/>
              </a:lnSpc>
            </a:pPr>
            <a:r>
              <a:rPr lang="en-US" sz="1600" b="1" u="none" strike="noStrike">
                <a:solidFill>
                  <a:srgbClr val="000000"/>
                </a:solidFill>
                <a:effectLst/>
                <a:uFillTx/>
                <a:latin typeface="Courier New"/>
                <a:ea typeface="Courier New"/>
              </a:rPr>
              <a:t>      </a:t>
            </a:r>
            <a:r>
              <a:rPr lang="en-US" sz="1800" b="1" u="none" strike="noStrike">
                <a:solidFill>
                  <a:srgbClr val="000000"/>
                </a:solidFill>
                <a:effectLst/>
                <a:uFillTx/>
                <a:latin typeface="Courier New"/>
                <a:ea typeface="Courier New"/>
              </a:rPr>
              <a:t>$ SET SOURCEFORMAT"FREE"</a:t>
            </a:r>
            <a:endParaRPr lang="en-US" sz="1800" b="0" u="none" strike="noStrike">
              <a:solidFill>
                <a:srgbClr val="000000"/>
              </a:solidFill>
              <a:effectLst/>
              <a:uFillTx/>
              <a:latin typeface="Arial"/>
            </a:endParaRPr>
          </a:p>
          <a:p>
            <a:pPr>
              <a:lnSpc>
                <a:spcPct val="100000"/>
              </a:lnSpc>
            </a:pPr>
            <a:r>
              <a:rPr lang="en-US" sz="1800" b="1" u="none" strike="noStrike">
                <a:solidFill>
                  <a:srgbClr val="000000"/>
                </a:solidFill>
                <a:effectLst/>
                <a:uFillTx/>
                <a:latin typeface="Courier New"/>
                <a:ea typeface="Courier New"/>
              </a:rPr>
              <a:t>IDENTIFICATION DIVISION.</a:t>
            </a:r>
            <a:endParaRPr lang="en-US" sz="1800" b="0" u="none" strike="noStrike">
              <a:solidFill>
                <a:srgbClr val="000000"/>
              </a:solidFill>
              <a:effectLst/>
              <a:uFillTx/>
              <a:latin typeface="Arial"/>
            </a:endParaRPr>
          </a:p>
          <a:p>
            <a:pPr>
              <a:lnSpc>
                <a:spcPct val="100000"/>
              </a:lnSpc>
            </a:pPr>
            <a:r>
              <a:rPr lang="en-US" sz="1800" b="1" u="none" strike="noStrike">
                <a:solidFill>
                  <a:srgbClr val="000000"/>
                </a:solidFill>
                <a:effectLst/>
                <a:uFillTx/>
                <a:latin typeface="Courier New"/>
                <a:ea typeface="Courier New"/>
              </a:rPr>
              <a:t>PROGRAM-ID.  Sequence-Program.</a:t>
            </a:r>
            <a:endParaRPr lang="en-US" sz="1800" b="0" u="none" strike="noStrike">
              <a:solidFill>
                <a:srgbClr val="000000"/>
              </a:solidFill>
              <a:effectLst/>
              <a:uFillTx/>
              <a:latin typeface="Arial"/>
            </a:endParaRPr>
          </a:p>
          <a:p>
            <a:pPr>
              <a:lnSpc>
                <a:spcPct val="100000"/>
              </a:lnSpc>
            </a:pPr>
            <a:r>
              <a:rPr lang="en-US" sz="1800" b="1" u="none" strike="noStrike">
                <a:solidFill>
                  <a:srgbClr val="000000"/>
                </a:solidFill>
                <a:effectLst/>
                <a:uFillTx/>
                <a:latin typeface="Courier New"/>
                <a:ea typeface="Courier New"/>
              </a:rPr>
              <a:t>AUTHOR.  Michael Coughlan.</a:t>
            </a: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a:lnSpc>
                <a:spcPct val="100000"/>
              </a:lnSpc>
            </a:pPr>
            <a:r>
              <a:rPr lang="en-US" sz="1800" b="1" u="none" strike="noStrike">
                <a:solidFill>
                  <a:srgbClr val="000000"/>
                </a:solidFill>
                <a:effectLst/>
                <a:uFillTx/>
                <a:latin typeface="Courier New"/>
                <a:ea typeface="Courier New"/>
              </a:rPr>
              <a:t>DATA DIVISION.</a:t>
            </a:r>
            <a:endParaRPr lang="en-US" sz="1800" b="0" u="none" strike="noStrike">
              <a:solidFill>
                <a:srgbClr val="000000"/>
              </a:solidFill>
              <a:effectLst/>
              <a:uFillTx/>
              <a:latin typeface="Arial"/>
            </a:endParaRPr>
          </a:p>
          <a:p>
            <a:pPr>
              <a:lnSpc>
                <a:spcPct val="100000"/>
              </a:lnSpc>
            </a:pPr>
            <a:r>
              <a:rPr lang="en-US" sz="1800" b="1" u="none" strike="noStrike">
                <a:solidFill>
                  <a:srgbClr val="000000"/>
                </a:solidFill>
                <a:effectLst/>
                <a:uFillTx/>
                <a:latin typeface="Courier New"/>
                <a:ea typeface="Courier New"/>
              </a:rPr>
              <a:t>WORKING-STORAGE SECTION.</a:t>
            </a:r>
            <a:endParaRPr lang="en-US" sz="1800" b="0" u="none" strike="noStrike">
              <a:solidFill>
                <a:srgbClr val="000000"/>
              </a:solidFill>
              <a:effectLst/>
              <a:uFillTx/>
              <a:latin typeface="Arial"/>
            </a:endParaRPr>
          </a:p>
          <a:p>
            <a:pPr>
              <a:lnSpc>
                <a:spcPct val="100000"/>
              </a:lnSpc>
            </a:pPr>
            <a:r>
              <a:rPr lang="en-US" sz="1800" b="1" u="none" strike="noStrike">
                <a:solidFill>
                  <a:srgbClr val="000000"/>
                </a:solidFill>
                <a:effectLst/>
                <a:uFillTx/>
                <a:latin typeface="Courier New"/>
                <a:ea typeface="Courier New"/>
              </a:rPr>
              <a:t>01  Num1           PIC 9  VALUE ZEROS.</a:t>
            </a:r>
            <a:endParaRPr lang="en-US" sz="1800" b="0" u="none" strike="noStrike">
              <a:solidFill>
                <a:srgbClr val="000000"/>
              </a:solidFill>
              <a:effectLst/>
              <a:uFillTx/>
              <a:latin typeface="Arial"/>
            </a:endParaRPr>
          </a:p>
          <a:p>
            <a:pPr>
              <a:lnSpc>
                <a:spcPct val="100000"/>
              </a:lnSpc>
            </a:pPr>
            <a:r>
              <a:rPr lang="en-US" sz="1800" b="1" u="none" strike="noStrike">
                <a:solidFill>
                  <a:srgbClr val="000000"/>
                </a:solidFill>
                <a:effectLst/>
                <a:uFillTx/>
                <a:latin typeface="Courier New"/>
                <a:ea typeface="Courier New"/>
              </a:rPr>
              <a:t>01  Num2           PIC 9  VALUE ZEROS.</a:t>
            </a:r>
            <a:endParaRPr lang="en-US" sz="1800" b="0" u="none" strike="noStrike">
              <a:solidFill>
                <a:srgbClr val="000000"/>
              </a:solidFill>
              <a:effectLst/>
              <a:uFillTx/>
              <a:latin typeface="Arial"/>
            </a:endParaRPr>
          </a:p>
          <a:p>
            <a:pPr>
              <a:lnSpc>
                <a:spcPct val="100000"/>
              </a:lnSpc>
            </a:pPr>
            <a:r>
              <a:rPr lang="en-US" sz="1800" b="1" u="none" strike="noStrike">
                <a:solidFill>
                  <a:srgbClr val="000000"/>
                </a:solidFill>
                <a:effectLst/>
                <a:uFillTx/>
                <a:latin typeface="Courier New"/>
                <a:ea typeface="Courier New"/>
              </a:rPr>
              <a:t>01  Result         PIC 99 VALUE ZEROS.</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
          <p:cNvSpPr txBox="1"/>
          <p:nvPr/>
        </p:nvSpPr>
        <p:spPr>
          <a:xfrm>
            <a:off x="2089080" y="108000"/>
            <a:ext cx="4946760" cy="476280"/>
          </a:xfrm>
          <a:prstGeom prst="rect">
            <a:avLst/>
          </a:prstGeom>
          <a:noFill/>
          <a:ln w="0">
            <a:noFill/>
          </a:ln>
        </p:spPr>
        <p:txBody>
          <a:bodyPr lIns="0" tIns="0" rIns="0" bIns="0" anchor="t">
            <a:spAutoFit/>
          </a:bodyPr>
          <a:p>
            <a:pPr>
              <a:lnSpc>
                <a:spcPct val="90000"/>
              </a:lnSpc>
            </a:pPr>
            <a:r>
              <a:rPr lang="en-US" sz="2800" b="1" u="none" strike="noStrike">
                <a:solidFill>
                  <a:srgbClr val="FAFD00"/>
                </a:solidFill>
                <a:effectLst/>
                <a:uFillTx/>
                <a:latin typeface="Arial"/>
                <a:ea typeface="Arial"/>
              </a:rPr>
              <a:t>The PROCEDURE DIVISION.</a:t>
            </a:r>
            <a:endParaRPr lang="en-US" sz="2800" b="0" u="none" strike="noStrike">
              <a:solidFill>
                <a:srgbClr val="000000"/>
              </a:solidFill>
              <a:effectLst/>
              <a:uFillTx/>
              <a:latin typeface="Arial"/>
            </a:endParaRPr>
          </a:p>
        </p:txBody>
      </p:sp>
      <p:sp>
        <p:nvSpPr>
          <p:cNvPr id="75" name=""/>
          <p:cNvSpPr txBox="1"/>
          <p:nvPr/>
        </p:nvSpPr>
        <p:spPr>
          <a:xfrm>
            <a:off x="453960" y="919080"/>
            <a:ext cx="8218440" cy="4995720"/>
          </a:xfrm>
          <a:prstGeom prst="rect">
            <a:avLst/>
          </a:prstGeom>
          <a:noFill/>
          <a:ln w="0">
            <a:noFill/>
          </a:ln>
        </p:spPr>
        <p:txBody>
          <a:bodyPr lIns="0" tIns="0" rIns="0" bIns="0" anchor="t">
            <a:spAutoFit/>
          </a:bodyPr>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The PROCEDURE DIVISION</a:t>
            </a:r>
            <a:r>
              <a:rPr lang="en-US" sz="2400" b="1" u="none" strike="noStrike">
                <a:solidFill>
                  <a:srgbClr val="00AE00"/>
                </a:solidFill>
                <a:effectLst/>
                <a:uFillTx/>
                <a:latin typeface="Arial"/>
                <a:ea typeface="Arial"/>
              </a:rPr>
              <a:t> </a:t>
            </a:r>
            <a:r>
              <a:rPr lang="en-US" sz="2400" b="1" u="none" strike="noStrike">
                <a:solidFill>
                  <a:srgbClr val="FFFFFF"/>
                </a:solidFill>
                <a:effectLst/>
                <a:uFillTx/>
                <a:latin typeface="Arial"/>
                <a:ea typeface="Arial"/>
              </a:rPr>
              <a:t>is where all the </a:t>
            </a:r>
            <a:r>
              <a:rPr lang="en-US" sz="2400" b="1" u="none" strike="noStrike">
                <a:solidFill>
                  <a:srgbClr val="00FF00"/>
                </a:solidFill>
                <a:effectLst/>
                <a:uFillTx/>
                <a:latin typeface="Arial"/>
                <a:ea typeface="Arial"/>
              </a:rPr>
              <a:t>data </a:t>
            </a:r>
            <a:r>
              <a:rPr lang="en-US" sz="2400" b="1" u="none" strike="noStrike">
                <a:solidFill>
                  <a:srgbClr val="FFFFFF"/>
                </a:solidFill>
                <a:effectLst/>
                <a:uFillTx/>
                <a:latin typeface="Arial"/>
                <a:ea typeface="Arial"/>
              </a:rPr>
              <a:t>described in the DATA DIVISION is processed and produced.  It is here that the programmer describes his algorithm.</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The PROCEDURE DIVISION is hierarchical in structure and consists of Sections, Paragraphs, Sentences and Statements.</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Only the Section is optional.  There must be </a:t>
            </a:r>
            <a:r>
              <a:rPr lang="en-US" sz="2400" b="1" u="none" strike="noStrike">
                <a:solidFill>
                  <a:srgbClr val="00FF00"/>
                </a:solidFill>
                <a:effectLst/>
                <a:uFillTx/>
                <a:latin typeface="Arial"/>
                <a:ea typeface="Arial"/>
              </a:rPr>
              <a:t>at least one</a:t>
            </a:r>
            <a:r>
              <a:rPr lang="en-US" sz="2400" b="1" u="none" strike="noStrike">
                <a:solidFill>
                  <a:srgbClr val="FFFFFF"/>
                </a:solidFill>
                <a:effectLst/>
                <a:uFillTx/>
                <a:latin typeface="Arial"/>
                <a:ea typeface="Arial"/>
              </a:rPr>
              <a:t> paragraph, sentence and statement in the PROCEDURE DIVISION.</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In the PROCEDURE DIVISION paragraph and section names are chosen by the programmer.  The names used should reflect the processing being done in the paragraph or section.</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
          <p:cNvSpPr txBox="1"/>
          <p:nvPr/>
        </p:nvSpPr>
        <p:spPr>
          <a:xfrm>
            <a:off x="3174840" y="130320"/>
            <a:ext cx="1666800" cy="476280"/>
          </a:xfrm>
          <a:prstGeom prst="rect">
            <a:avLst/>
          </a:prstGeom>
          <a:noFill/>
          <a:ln w="0">
            <a:noFill/>
          </a:ln>
        </p:spPr>
        <p:txBody>
          <a:bodyPr lIns="0" tIns="0" rIns="0" bIns="0" anchor="t">
            <a:spAutoFit/>
          </a:bodyPr>
          <a:p>
            <a:pPr>
              <a:lnSpc>
                <a:spcPct val="90000"/>
              </a:lnSpc>
            </a:pPr>
            <a:r>
              <a:rPr lang="en-US" sz="2800" b="1" u="none" strike="noStrike">
                <a:solidFill>
                  <a:srgbClr val="FAFD00"/>
                </a:solidFill>
                <a:effectLst/>
                <a:uFillTx/>
                <a:latin typeface="Arial"/>
                <a:ea typeface="Arial"/>
              </a:rPr>
              <a:t>Sections</a:t>
            </a:r>
            <a:endParaRPr lang="en-US" sz="2800" b="0" u="none" strike="noStrike">
              <a:solidFill>
                <a:srgbClr val="000000"/>
              </a:solidFill>
              <a:effectLst/>
              <a:uFillTx/>
              <a:latin typeface="Arial"/>
            </a:endParaRPr>
          </a:p>
        </p:txBody>
      </p:sp>
      <p:sp>
        <p:nvSpPr>
          <p:cNvPr id="77" name=""/>
          <p:cNvSpPr txBox="1"/>
          <p:nvPr/>
        </p:nvSpPr>
        <p:spPr>
          <a:xfrm>
            <a:off x="343080" y="1104840"/>
            <a:ext cx="8153280" cy="5410080"/>
          </a:xfrm>
          <a:prstGeom prst="rect">
            <a:avLst/>
          </a:prstGeom>
          <a:noFill/>
          <a:ln w="0">
            <a:noFill/>
          </a:ln>
        </p:spPr>
        <p:txBody>
          <a:bodyPr lIns="0" tIns="0" rIns="0" bIns="0" anchor="t">
            <a:spAutoFit/>
          </a:bodyPr>
          <a:p>
            <a:pPr marL="380880" indent="-380880">
              <a:lnSpc>
                <a:spcPct val="90000"/>
              </a:lnSpc>
              <a:spcBef>
                <a:spcPts val="1681"/>
              </a:spcBef>
              <a:buClr>
                <a:srgbClr val="FC0128"/>
              </a:buClr>
              <a:buSzPct val="75000"/>
              <a:buFont typeface="Wingdings"/>
              <a:buChar char="_x0000_"/>
            </a:pPr>
            <a:r>
              <a:rPr lang="en-US" sz="2400" b="1" u="none" strike="noStrike">
                <a:solidFill>
                  <a:srgbClr val="FFFFFF"/>
                </a:solidFill>
                <a:effectLst/>
                <a:uFillTx/>
                <a:latin typeface="Arial"/>
                <a:ea typeface="Arial"/>
              </a:rPr>
              <a:t>A </a:t>
            </a:r>
            <a:r>
              <a:rPr lang="en-US" sz="2400" b="1" u="none" strike="noStrike">
                <a:solidFill>
                  <a:srgbClr val="00FF00"/>
                </a:solidFill>
                <a:effectLst/>
                <a:uFillTx/>
                <a:latin typeface="Arial"/>
                <a:ea typeface="Arial"/>
              </a:rPr>
              <a:t>section</a:t>
            </a:r>
            <a:r>
              <a:rPr lang="en-US" sz="2400" b="1" u="none" strike="noStrike">
                <a:solidFill>
                  <a:srgbClr val="FFFFFF"/>
                </a:solidFill>
                <a:effectLst/>
                <a:uFillTx/>
                <a:latin typeface="Arial"/>
                <a:ea typeface="Arial"/>
              </a:rPr>
              <a:t> is a block of code made up of one or more </a:t>
            </a:r>
            <a:r>
              <a:rPr lang="en-US" sz="2400" b="1" u="none" strike="noStrike">
                <a:solidFill>
                  <a:srgbClr val="00FF00"/>
                </a:solidFill>
                <a:effectLst/>
                <a:uFillTx/>
                <a:latin typeface="Arial"/>
                <a:ea typeface="Arial"/>
              </a:rPr>
              <a:t>paragraphs</a:t>
            </a:r>
            <a:r>
              <a:rPr lang="en-US" sz="2400" b="1" u="none" strike="noStrike">
                <a:solidFill>
                  <a:srgbClr val="FFFFFF"/>
                </a:solidFill>
                <a:effectLst/>
                <a:uFillTx/>
                <a:latin typeface="Arial"/>
                <a:ea typeface="Arial"/>
              </a:rPr>
              <a:t>.  </a:t>
            </a:r>
            <a:endParaRPr lang="en-US" sz="2400" b="0" u="none" strike="noStrike">
              <a:solidFill>
                <a:srgbClr val="000000"/>
              </a:solidFill>
              <a:effectLst/>
              <a:uFillTx/>
              <a:latin typeface="Arial"/>
            </a:endParaRPr>
          </a:p>
          <a:p>
            <a:pPr marL="380880" indent="-380880">
              <a:lnSpc>
                <a:spcPct val="90000"/>
              </a:lnSpc>
              <a:spcBef>
                <a:spcPts val="1681"/>
              </a:spcBef>
              <a:buClr>
                <a:srgbClr val="FC0128"/>
              </a:buClr>
              <a:buSzPct val="75000"/>
              <a:buFont typeface="Wingdings"/>
              <a:buChar char="_x0000_"/>
            </a:pPr>
            <a:r>
              <a:rPr lang="en-US" sz="2400" b="1" u="none" strike="noStrike">
                <a:solidFill>
                  <a:srgbClr val="FFFFFF"/>
                </a:solidFill>
                <a:effectLst/>
                <a:uFillTx/>
                <a:latin typeface="Arial"/>
                <a:ea typeface="Arial"/>
              </a:rPr>
              <a:t>A section begins with the section name and ends where the next section name is encountered or where the program text ends.</a:t>
            </a:r>
            <a:endParaRPr lang="en-US" sz="2400" b="0" u="none" strike="noStrike">
              <a:solidFill>
                <a:srgbClr val="000000"/>
              </a:solidFill>
              <a:effectLst/>
              <a:uFillTx/>
              <a:latin typeface="Arial"/>
            </a:endParaRPr>
          </a:p>
          <a:p>
            <a:pPr marL="380880" indent="-380880">
              <a:lnSpc>
                <a:spcPct val="90000"/>
              </a:lnSpc>
              <a:spcBef>
                <a:spcPts val="1681"/>
              </a:spcBef>
              <a:buClr>
                <a:srgbClr val="FC0128"/>
              </a:buClr>
              <a:buSzPct val="75000"/>
              <a:buFont typeface="Wingdings"/>
              <a:buChar char="_x0000_"/>
            </a:pPr>
            <a:r>
              <a:rPr lang="en-US" sz="2400" b="1" u="none" strike="noStrike">
                <a:solidFill>
                  <a:srgbClr val="FFFFFF"/>
                </a:solidFill>
                <a:effectLst/>
                <a:uFillTx/>
                <a:latin typeface="Arial"/>
                <a:ea typeface="Arial"/>
              </a:rPr>
              <a:t>A section name consists of a name devised by the programmer or defined by the language followed by the word SECTION followed by a full stop.</a:t>
            </a:r>
            <a:endParaRPr lang="en-US" sz="2400" b="0" u="none" strike="noStrike">
              <a:solidFill>
                <a:srgbClr val="000000"/>
              </a:solidFill>
              <a:effectLst/>
              <a:uFillTx/>
              <a:latin typeface="Arial"/>
            </a:endParaRPr>
          </a:p>
          <a:p>
            <a:pPr marL="952560" lvl="1" indent="-380880">
              <a:lnSpc>
                <a:spcPct val="90000"/>
              </a:lnSpc>
              <a:spcBef>
                <a:spcPts val="720"/>
              </a:spcBef>
              <a:buClr>
                <a:srgbClr val="00FF00"/>
              </a:buClr>
              <a:buSzPct val="65000"/>
              <a:buFont typeface="Monotype Sorts"/>
              <a:buChar char="_x0000_"/>
            </a:pPr>
            <a:r>
              <a:rPr lang="en-US" sz="2400" b="1" u="none" strike="noStrike">
                <a:solidFill>
                  <a:srgbClr val="FFFFFF"/>
                </a:solidFill>
                <a:effectLst/>
                <a:uFillTx/>
                <a:latin typeface="Times New Roman"/>
                <a:ea typeface="Times New Roman"/>
              </a:rPr>
              <a:t>SelectUlsterRecords SECTION.</a:t>
            </a:r>
            <a:endParaRPr lang="en-US" sz="2400" b="0" u="none" strike="noStrike">
              <a:solidFill>
                <a:srgbClr val="000000"/>
              </a:solidFill>
              <a:effectLst/>
              <a:uFillTx/>
              <a:latin typeface="Arial"/>
            </a:endParaRPr>
          </a:p>
          <a:p>
            <a:pPr marL="952560" lvl="1" indent="-380880">
              <a:lnSpc>
                <a:spcPct val="90000"/>
              </a:lnSpc>
              <a:spcBef>
                <a:spcPts val="720"/>
              </a:spcBef>
              <a:buClr>
                <a:srgbClr val="00FF00"/>
              </a:buClr>
              <a:buSzPct val="65000"/>
              <a:buFont typeface="Monotype Sorts"/>
              <a:buChar char="_x0000_"/>
            </a:pPr>
            <a:r>
              <a:rPr lang="en-US" sz="2400" b="1" u="none" strike="noStrike">
                <a:solidFill>
                  <a:srgbClr val="FFFFFF"/>
                </a:solidFill>
                <a:effectLst/>
                <a:uFillTx/>
                <a:latin typeface="Times New Roman"/>
                <a:ea typeface="Times New Roman"/>
              </a:rPr>
              <a:t>FILE SECTION.</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
          <p:cNvSpPr txBox="1"/>
          <p:nvPr/>
        </p:nvSpPr>
        <p:spPr>
          <a:xfrm>
            <a:off x="3162240" y="104760"/>
            <a:ext cx="2141640" cy="476280"/>
          </a:xfrm>
          <a:prstGeom prst="rect">
            <a:avLst/>
          </a:prstGeom>
          <a:noFill/>
          <a:ln w="0">
            <a:noFill/>
          </a:ln>
        </p:spPr>
        <p:txBody>
          <a:bodyPr lIns="0" tIns="0" rIns="0" bIns="0" anchor="t">
            <a:spAutoFit/>
          </a:bodyPr>
          <a:p>
            <a:pPr>
              <a:lnSpc>
                <a:spcPct val="90000"/>
              </a:lnSpc>
            </a:pPr>
            <a:r>
              <a:rPr lang="en-US" sz="2800" b="1" u="none" strike="noStrike">
                <a:solidFill>
                  <a:srgbClr val="FAFD00"/>
                </a:solidFill>
                <a:effectLst/>
                <a:uFillTx/>
                <a:latin typeface="Arial"/>
                <a:ea typeface="Arial"/>
              </a:rPr>
              <a:t>Paragraphs</a:t>
            </a:r>
            <a:endParaRPr lang="en-US" sz="2800" b="0" u="none" strike="noStrike">
              <a:solidFill>
                <a:srgbClr val="000000"/>
              </a:solidFill>
              <a:effectLst/>
              <a:uFillTx/>
              <a:latin typeface="Arial"/>
            </a:endParaRPr>
          </a:p>
        </p:txBody>
      </p:sp>
      <p:sp>
        <p:nvSpPr>
          <p:cNvPr id="79" name=""/>
          <p:cNvSpPr txBox="1"/>
          <p:nvPr/>
        </p:nvSpPr>
        <p:spPr>
          <a:xfrm>
            <a:off x="368280" y="927000"/>
            <a:ext cx="8153280" cy="5410080"/>
          </a:xfrm>
          <a:prstGeom prst="rect">
            <a:avLst/>
          </a:prstGeom>
          <a:noFill/>
          <a:ln w="0">
            <a:noFill/>
          </a:ln>
        </p:spPr>
        <p:txBody>
          <a:bodyPr lIns="0" tIns="0" rIns="0" bIns="0" anchor="t">
            <a:spAutoFit/>
          </a:bodyPr>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Each section consists of one or more paragraphs.  </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A </a:t>
            </a:r>
            <a:r>
              <a:rPr lang="en-US" sz="2400" b="1" u="none" strike="noStrike">
                <a:solidFill>
                  <a:srgbClr val="00FF00"/>
                </a:solidFill>
                <a:effectLst/>
                <a:uFillTx/>
                <a:latin typeface="Arial"/>
                <a:ea typeface="Arial"/>
              </a:rPr>
              <a:t>paragraph</a:t>
            </a:r>
            <a:r>
              <a:rPr lang="en-US" sz="2400" b="1" u="none" strike="noStrike">
                <a:solidFill>
                  <a:srgbClr val="FFFFFF"/>
                </a:solidFill>
                <a:effectLst/>
                <a:uFillTx/>
                <a:latin typeface="Arial"/>
                <a:ea typeface="Arial"/>
              </a:rPr>
              <a:t> is a block of code made up of one or more </a:t>
            </a:r>
            <a:r>
              <a:rPr lang="en-US" sz="2400" b="1" u="none" strike="noStrike">
                <a:solidFill>
                  <a:srgbClr val="00FF00"/>
                </a:solidFill>
                <a:effectLst/>
                <a:uFillTx/>
                <a:latin typeface="Arial"/>
                <a:ea typeface="Arial"/>
              </a:rPr>
              <a:t>sentences</a:t>
            </a:r>
            <a:r>
              <a:rPr lang="en-US" sz="2400" b="1" u="none" strike="noStrike">
                <a:solidFill>
                  <a:srgbClr val="FFFFFF"/>
                </a:solidFill>
                <a:effectLst/>
                <a:uFillTx/>
                <a:latin typeface="Arial"/>
                <a:ea typeface="Arial"/>
              </a:rPr>
              <a:t>.</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A paragraph begins with the paragraph name and ends with the next paragraph or section name or the end of the program text.</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The paragraph name consists of a name devised by the programmer or defined by the language followed by a full stop.  </a:t>
            </a:r>
            <a:endParaRPr lang="en-US" sz="2400" b="0" u="none" strike="noStrike">
              <a:solidFill>
                <a:srgbClr val="000000"/>
              </a:solidFill>
              <a:effectLst/>
              <a:uFillTx/>
              <a:latin typeface="Arial"/>
            </a:endParaRPr>
          </a:p>
          <a:p>
            <a:pPr marL="952560" lvl="1" indent="-380880">
              <a:lnSpc>
                <a:spcPct val="90000"/>
              </a:lnSpc>
              <a:spcBef>
                <a:spcPts val="720"/>
              </a:spcBef>
              <a:buClr>
                <a:srgbClr val="00FF00"/>
              </a:buClr>
              <a:buSzPct val="65000"/>
              <a:buFont typeface="Monotype Sorts"/>
              <a:buChar char="_x0000_"/>
            </a:pPr>
            <a:r>
              <a:rPr lang="en-US" sz="2400" b="1" u="none" strike="noStrike">
                <a:solidFill>
                  <a:srgbClr val="FFFFFF"/>
                </a:solidFill>
                <a:effectLst/>
                <a:uFillTx/>
                <a:latin typeface="Times New Roman"/>
                <a:ea typeface="Times New Roman"/>
              </a:rPr>
              <a:t>PrintFinalTotals.</a:t>
            </a:r>
            <a:endParaRPr lang="en-US" sz="2400" b="0" u="none" strike="noStrike">
              <a:solidFill>
                <a:srgbClr val="000000"/>
              </a:solidFill>
              <a:effectLst/>
              <a:uFillTx/>
              <a:latin typeface="Arial"/>
            </a:endParaRPr>
          </a:p>
          <a:p>
            <a:pPr marL="952560" lvl="1" indent="-380880">
              <a:lnSpc>
                <a:spcPct val="90000"/>
              </a:lnSpc>
              <a:spcBef>
                <a:spcPts val="720"/>
              </a:spcBef>
              <a:buClr>
                <a:srgbClr val="00FF00"/>
              </a:buClr>
              <a:buSzPct val="65000"/>
              <a:buFont typeface="Monotype Sorts"/>
              <a:buChar char="_x0000_"/>
            </a:pPr>
            <a:r>
              <a:rPr lang="en-US" sz="2400" b="1" u="none" strike="noStrike">
                <a:solidFill>
                  <a:srgbClr val="FFFFFF"/>
                </a:solidFill>
                <a:effectLst/>
                <a:uFillTx/>
                <a:latin typeface="Times New Roman"/>
                <a:ea typeface="Times New Roman"/>
              </a:rPr>
              <a:t>PROGRAM-ID.</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
          <p:cNvSpPr txBox="1"/>
          <p:nvPr/>
        </p:nvSpPr>
        <p:spPr>
          <a:xfrm>
            <a:off x="2046240" y="108000"/>
            <a:ext cx="4808520" cy="476280"/>
          </a:xfrm>
          <a:prstGeom prst="rect">
            <a:avLst/>
          </a:prstGeom>
          <a:noFill/>
          <a:ln w="0">
            <a:noFill/>
          </a:ln>
        </p:spPr>
        <p:txBody>
          <a:bodyPr lIns="0" tIns="0" rIns="0" bIns="0" anchor="t">
            <a:spAutoFit/>
          </a:bodyPr>
          <a:p>
            <a:pPr>
              <a:lnSpc>
                <a:spcPct val="90000"/>
              </a:lnSpc>
            </a:pPr>
            <a:r>
              <a:rPr lang="en-US" sz="2800" b="1" u="none" strike="noStrike">
                <a:solidFill>
                  <a:srgbClr val="FAFD00"/>
                </a:solidFill>
                <a:effectLst/>
                <a:uFillTx/>
                <a:latin typeface="Arial"/>
                <a:ea typeface="Arial"/>
              </a:rPr>
              <a:t>Sentences and Statements.</a:t>
            </a:r>
            <a:endParaRPr lang="en-US" sz="2800" b="0" u="none" strike="noStrike">
              <a:solidFill>
                <a:srgbClr val="000000"/>
              </a:solidFill>
              <a:effectLst/>
              <a:uFillTx/>
              <a:latin typeface="Arial"/>
            </a:endParaRPr>
          </a:p>
        </p:txBody>
      </p:sp>
      <p:sp>
        <p:nvSpPr>
          <p:cNvPr id="81" name=""/>
          <p:cNvSpPr txBox="1"/>
          <p:nvPr/>
        </p:nvSpPr>
        <p:spPr>
          <a:xfrm>
            <a:off x="100080" y="781200"/>
            <a:ext cx="8832960" cy="5973840"/>
          </a:xfrm>
          <a:prstGeom prst="rect">
            <a:avLst/>
          </a:prstGeom>
          <a:noFill/>
          <a:ln w="0">
            <a:noFill/>
          </a:ln>
        </p:spPr>
        <p:txBody>
          <a:bodyPr lIns="0" tIns="0" rIns="0" bIns="0" anchor="t">
            <a:spAutoFit/>
          </a:bodyPr>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A paragraph consists of one or more sentences.</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A </a:t>
            </a:r>
            <a:r>
              <a:rPr lang="en-US" sz="2400" b="1" u="none" strike="noStrike">
                <a:solidFill>
                  <a:srgbClr val="00FF00"/>
                </a:solidFill>
                <a:effectLst/>
                <a:uFillTx/>
                <a:latin typeface="Arial"/>
                <a:ea typeface="Arial"/>
              </a:rPr>
              <a:t>sentence </a:t>
            </a:r>
            <a:r>
              <a:rPr lang="en-US" sz="2400" b="1" u="none" strike="noStrike">
                <a:solidFill>
                  <a:srgbClr val="FFFFFF"/>
                </a:solidFill>
                <a:effectLst/>
                <a:uFillTx/>
                <a:latin typeface="Arial"/>
                <a:ea typeface="Arial"/>
              </a:rPr>
              <a:t>consists of one or more </a:t>
            </a:r>
            <a:r>
              <a:rPr lang="en-US" sz="2400" b="1" u="none" strike="noStrike">
                <a:solidFill>
                  <a:srgbClr val="00FF00"/>
                </a:solidFill>
                <a:effectLst/>
                <a:uFillTx/>
                <a:latin typeface="Arial"/>
                <a:ea typeface="Arial"/>
              </a:rPr>
              <a:t>statements</a:t>
            </a:r>
            <a:r>
              <a:rPr lang="en-US" sz="2400" b="1" u="none" strike="noStrike">
                <a:solidFill>
                  <a:srgbClr val="FFFFFF"/>
                </a:solidFill>
                <a:effectLst/>
                <a:uFillTx/>
                <a:latin typeface="Arial"/>
                <a:ea typeface="Arial"/>
              </a:rPr>
              <a:t> and is terminated by a full stop.</a:t>
            </a:r>
            <a:endParaRPr lang="en-US" sz="2400" b="0" u="none" strike="noStrike">
              <a:solidFill>
                <a:srgbClr val="000000"/>
              </a:solidFill>
              <a:effectLst/>
              <a:uFillTx/>
              <a:latin typeface="Arial"/>
            </a:endParaRPr>
          </a:p>
          <a:p>
            <a:pPr marL="952560" lvl="1" indent="-380880">
              <a:lnSpc>
                <a:spcPct val="90000"/>
              </a:lnSpc>
              <a:spcBef>
                <a:spcPts val="720"/>
              </a:spcBef>
              <a:buClr>
                <a:srgbClr val="00FF00"/>
              </a:buClr>
              <a:buSzPct val="65000"/>
              <a:buFont typeface="Monotype Sorts"/>
              <a:buChar char="_x0000_"/>
            </a:pPr>
            <a:r>
              <a:rPr lang="en-US" sz="2400" b="1" u="none" strike="noStrike">
                <a:solidFill>
                  <a:srgbClr val="FFFFFF"/>
                </a:solidFill>
                <a:effectLst/>
                <a:uFillTx/>
                <a:latin typeface="Times New Roman"/>
                <a:ea typeface="Times New Roman"/>
              </a:rPr>
              <a:t>MOVE .21 TO VatRate</a:t>
            </a:r>
            <a:br>
              <a:rPr sz="2400"/>
            </a:br>
            <a:r>
              <a:rPr lang="en-US" sz="2400" b="1" u="none" strike="noStrike">
                <a:solidFill>
                  <a:srgbClr val="FFFFFF"/>
                </a:solidFill>
                <a:effectLst/>
                <a:uFillTx/>
                <a:latin typeface="Times New Roman"/>
                <a:ea typeface="Times New Roman"/>
              </a:rPr>
              <a:t>COMPUTE VatAmount = ProductCost * VatRate</a:t>
            </a:r>
            <a:r>
              <a:rPr lang="en-US" sz="2800" b="1" u="none" strike="noStrike">
                <a:solidFill>
                  <a:srgbClr val="FFFFFF"/>
                </a:solidFill>
                <a:effectLst/>
                <a:uFillTx/>
                <a:latin typeface="Times New Roman"/>
                <a:ea typeface="Times New Roman"/>
              </a:rPr>
              <a:t>.</a:t>
            </a:r>
            <a:endParaRPr lang="en-US" sz="2800" b="0" u="none" strike="noStrike">
              <a:solidFill>
                <a:srgbClr val="000000"/>
              </a:solidFill>
              <a:effectLst/>
              <a:uFillTx/>
              <a:latin typeface="Arial"/>
            </a:endParaRPr>
          </a:p>
          <a:p>
            <a:pPr marL="952560" lvl="1" indent="-380880">
              <a:lnSpc>
                <a:spcPct val="90000"/>
              </a:lnSpc>
              <a:spcBef>
                <a:spcPts val="720"/>
              </a:spcBef>
              <a:buClr>
                <a:srgbClr val="00FF00"/>
              </a:buClr>
              <a:buSzPct val="65000"/>
              <a:buFont typeface="Monotype Sorts"/>
              <a:buChar char="_x0000_"/>
            </a:pPr>
            <a:r>
              <a:rPr lang="en-US" sz="2400" b="1" u="none" strike="noStrike">
                <a:solidFill>
                  <a:srgbClr val="FFFFFF"/>
                </a:solidFill>
                <a:effectLst/>
                <a:uFillTx/>
                <a:latin typeface="Times New Roman"/>
                <a:ea typeface="Times New Roman"/>
              </a:rPr>
              <a:t>DISPLAY "Enter name " WITH NO ADVANCING</a:t>
            </a:r>
            <a:br>
              <a:rPr sz="2400"/>
            </a:br>
            <a:r>
              <a:rPr lang="en-US" sz="2400" b="1" u="none" strike="noStrike">
                <a:solidFill>
                  <a:srgbClr val="FFFFFF"/>
                </a:solidFill>
                <a:effectLst/>
                <a:uFillTx/>
                <a:latin typeface="Times New Roman"/>
                <a:ea typeface="Times New Roman"/>
              </a:rPr>
              <a:t>ACCEPT  StudentName</a:t>
            </a:r>
            <a:br>
              <a:rPr sz="2400"/>
            </a:br>
            <a:r>
              <a:rPr lang="en-US" sz="2400" b="1" u="none" strike="noStrike">
                <a:solidFill>
                  <a:srgbClr val="FFFFFF"/>
                </a:solidFill>
                <a:effectLst/>
                <a:uFillTx/>
                <a:latin typeface="Times New Roman"/>
                <a:ea typeface="Times New Roman"/>
              </a:rPr>
              <a:t>DISPLAY "Name entered was " StudentName</a:t>
            </a:r>
            <a:r>
              <a:rPr lang="en-US" sz="2800" b="1" u="none" strike="noStrike">
                <a:solidFill>
                  <a:srgbClr val="FFFFFF"/>
                </a:solidFill>
                <a:effectLst/>
                <a:uFillTx/>
                <a:latin typeface="Times New Roman"/>
                <a:ea typeface="Times New Roman"/>
              </a:rPr>
              <a:t>.</a:t>
            </a:r>
            <a:r>
              <a:rPr lang="en-US" sz="2400" b="1" u="none" strike="noStrike">
                <a:solidFill>
                  <a:srgbClr val="FFFFFF"/>
                </a:solidFill>
                <a:effectLst/>
                <a:uFillTx/>
                <a:latin typeface="Times New Roman"/>
                <a:ea typeface="Times New Roman"/>
              </a:rPr>
              <a:t>	</a:t>
            </a:r>
            <a:endParaRPr lang="en-US" sz="2400" b="0" u="none" strike="noStrike">
              <a:solidFill>
                <a:srgbClr val="000000"/>
              </a:solidFill>
              <a:effectLst/>
              <a:uFillTx/>
              <a:latin typeface="Arial"/>
            </a:endParaRPr>
          </a:p>
          <a:p>
            <a:pPr marL="380880" indent="-380880">
              <a:lnSpc>
                <a:spcPct val="90000"/>
              </a:lnSpc>
              <a:spcBef>
                <a:spcPts val="1321"/>
              </a:spcBef>
              <a:buClr>
                <a:srgbClr val="FC0128"/>
              </a:buClr>
              <a:buSzPct val="75000"/>
              <a:buFont typeface="Wingdings"/>
              <a:buChar char="_x0000_"/>
            </a:pPr>
            <a:r>
              <a:rPr lang="en-US" sz="2400" b="1" u="none" strike="noStrike">
                <a:solidFill>
                  <a:srgbClr val="FFFFFF"/>
                </a:solidFill>
                <a:effectLst/>
                <a:uFillTx/>
                <a:latin typeface="Arial"/>
                <a:ea typeface="Arial"/>
              </a:rPr>
              <a:t>A </a:t>
            </a:r>
            <a:r>
              <a:rPr lang="en-US" sz="2400" b="1" u="none" strike="noStrike">
                <a:solidFill>
                  <a:srgbClr val="00FF00"/>
                </a:solidFill>
                <a:effectLst/>
                <a:uFillTx/>
                <a:latin typeface="Arial"/>
                <a:ea typeface="Arial"/>
              </a:rPr>
              <a:t>statement</a:t>
            </a:r>
            <a:r>
              <a:rPr lang="en-US" sz="2400" b="1" u="none" strike="noStrike">
                <a:solidFill>
                  <a:srgbClr val="FFFFFF"/>
                </a:solidFill>
                <a:effectLst/>
                <a:uFillTx/>
                <a:latin typeface="Arial"/>
                <a:ea typeface="Arial"/>
              </a:rPr>
              <a:t> consists of a COBOL </a:t>
            </a:r>
            <a:r>
              <a:rPr lang="en-US" sz="2400" b="1" u="none" strike="noStrike">
                <a:solidFill>
                  <a:srgbClr val="00FF00"/>
                </a:solidFill>
                <a:effectLst/>
                <a:uFillTx/>
                <a:latin typeface="Arial"/>
                <a:ea typeface="Arial"/>
              </a:rPr>
              <a:t>verb</a:t>
            </a:r>
            <a:r>
              <a:rPr lang="en-US" sz="2400" b="1" u="none" strike="noStrike">
                <a:solidFill>
                  <a:srgbClr val="FFFFFF"/>
                </a:solidFill>
                <a:effectLst/>
                <a:uFillTx/>
                <a:latin typeface="Arial"/>
                <a:ea typeface="Arial"/>
              </a:rPr>
              <a:t> and an </a:t>
            </a:r>
            <a:r>
              <a:rPr lang="en-US" sz="2400" b="1" u="none" strike="noStrike">
                <a:solidFill>
                  <a:srgbClr val="00FF00"/>
                </a:solidFill>
                <a:effectLst/>
                <a:uFillTx/>
                <a:latin typeface="Arial"/>
                <a:ea typeface="Arial"/>
              </a:rPr>
              <a:t>operand</a:t>
            </a:r>
            <a:r>
              <a:rPr lang="en-US" sz="2400" b="1" u="none" strike="noStrike">
                <a:solidFill>
                  <a:srgbClr val="FFFFFF"/>
                </a:solidFill>
                <a:effectLst/>
                <a:uFillTx/>
                <a:latin typeface="Arial"/>
                <a:ea typeface="Arial"/>
              </a:rPr>
              <a:t> or operands.</a:t>
            </a:r>
            <a:endParaRPr lang="en-US" sz="2400" b="0" u="none" strike="noStrike">
              <a:solidFill>
                <a:srgbClr val="000000"/>
              </a:solidFill>
              <a:effectLst/>
              <a:uFillTx/>
              <a:latin typeface="Arial"/>
            </a:endParaRPr>
          </a:p>
          <a:p>
            <a:pPr marL="952560" lvl="1" indent="-380880">
              <a:lnSpc>
                <a:spcPct val="90000"/>
              </a:lnSpc>
              <a:spcBef>
                <a:spcPts val="720"/>
              </a:spcBef>
              <a:buClr>
                <a:srgbClr val="00FF00"/>
              </a:buClr>
              <a:buSzPct val="65000"/>
              <a:buFont typeface="Monotype Sorts"/>
              <a:buChar char="_x0000_"/>
            </a:pPr>
            <a:r>
              <a:rPr lang="en-US" sz="2400" b="1" u="none" strike="noStrike">
                <a:solidFill>
                  <a:srgbClr val="FFFFFF"/>
                </a:solidFill>
                <a:effectLst/>
                <a:uFillTx/>
                <a:latin typeface="Times New Roman"/>
                <a:ea typeface="Times New Roman"/>
              </a:rPr>
              <a:t>SUBTRACT Tax FROM GrossPay GIVING NetPay</a:t>
            </a:r>
            <a:endParaRPr lang="en-US" sz="2400" b="0" u="none" strike="noStrike">
              <a:solidFill>
                <a:srgbClr val="000000"/>
              </a:solidFill>
              <a:effectLst/>
              <a:uFillTx/>
              <a:latin typeface="Arial"/>
            </a:endParaRPr>
          </a:p>
          <a:p>
            <a:pPr marL="952560" lvl="1" indent="-380880">
              <a:lnSpc>
                <a:spcPct val="90000"/>
              </a:lnSpc>
              <a:spcBef>
                <a:spcPts val="720"/>
              </a:spcBef>
              <a:buClr>
                <a:srgbClr val="00FF00"/>
              </a:buClr>
              <a:buSzPct val="65000"/>
              <a:buFont typeface="Monotype Sorts"/>
              <a:buChar char="_x0000_"/>
            </a:pPr>
            <a:r>
              <a:rPr lang="en-US" sz="2400" b="1" u="none" strike="noStrike">
                <a:solidFill>
                  <a:srgbClr val="FFFFFF"/>
                </a:solidFill>
                <a:effectLst/>
                <a:uFillTx/>
                <a:latin typeface="Times New Roman"/>
                <a:ea typeface="Times New Roman"/>
              </a:rPr>
              <a:t>READ StudentFile</a:t>
            </a:r>
            <a:br>
              <a:rPr sz="2400"/>
            </a:br>
            <a:r>
              <a:rPr lang="en-US" sz="2400" b="1" u="none" strike="noStrike">
                <a:solidFill>
                  <a:srgbClr val="FFFFFF"/>
                </a:solidFill>
                <a:effectLst/>
                <a:uFillTx/>
                <a:latin typeface="Times New Roman"/>
                <a:ea typeface="Times New Roman"/>
              </a:rPr>
              <a:t>         AT END SET EndOfFile TO TRUE</a:t>
            </a:r>
            <a:br>
              <a:rPr sz="2400"/>
            </a:br>
            <a:r>
              <a:rPr lang="en-US" sz="2400" b="1" u="none" strike="noStrike">
                <a:solidFill>
                  <a:srgbClr val="FFFFFF"/>
                </a:solidFill>
                <a:effectLst/>
                <a:uFillTx/>
                <a:latin typeface="Times New Roman"/>
                <a:ea typeface="Times New Roman"/>
              </a:rPr>
              <a:t>END-READ</a:t>
            </a:r>
            <a:br>
              <a:rPr sz="2400"/>
            </a:br>
            <a:r>
              <a:rPr lang="en-US" sz="2400" b="1" u="none" strike="noStrike">
                <a:solidFill>
                  <a:srgbClr val="FFFFFF"/>
                </a:solidFill>
                <a:effectLst/>
                <a:uFillTx/>
                <a:latin typeface="Times New Roman"/>
                <a:ea typeface="Times New Roman"/>
              </a:rPr>
              <a:t>	</a:t>
            </a:r>
            <a:r>
              <a:rPr lang="en-US" sz="2400" b="1" u="none" strike="noStrike">
                <a:solidFill>
                  <a:srgbClr val="FFFFFF"/>
                </a:solidFill>
                <a:effectLst/>
                <a:uFillTx/>
                <a:latin typeface="Times New Roman"/>
                <a:ea typeface="Times New Roman"/>
              </a:rPr>
              <a:t>	</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
          <p:cNvSpPr txBox="1"/>
          <p:nvPr/>
        </p:nvSpPr>
        <p:spPr>
          <a:xfrm>
            <a:off x="2403360" y="93600"/>
            <a:ext cx="4194000" cy="476280"/>
          </a:xfrm>
          <a:prstGeom prst="rect">
            <a:avLst/>
          </a:prstGeom>
          <a:noFill/>
          <a:ln w="0">
            <a:noFill/>
          </a:ln>
        </p:spPr>
        <p:txBody>
          <a:bodyPr lIns="0" tIns="0" rIns="0" bIns="0" anchor="t">
            <a:spAutoFit/>
          </a:bodyPr>
          <a:p>
            <a:pPr>
              <a:lnSpc>
                <a:spcPct val="90000"/>
              </a:lnSpc>
            </a:pPr>
            <a:r>
              <a:rPr lang="en-US" sz="2800" b="1" u="none" strike="noStrike">
                <a:solidFill>
                  <a:srgbClr val="FAFD00"/>
                </a:solidFill>
                <a:effectLst/>
                <a:uFillTx/>
                <a:latin typeface="Arial"/>
                <a:ea typeface="Arial"/>
              </a:rPr>
              <a:t>A Full COBOL program.</a:t>
            </a:r>
            <a:endParaRPr lang="en-US" sz="2800" b="0" u="none" strike="noStrike">
              <a:solidFill>
                <a:srgbClr val="000000"/>
              </a:solidFill>
              <a:effectLst/>
              <a:uFillTx/>
              <a:latin typeface="Arial"/>
            </a:endParaRPr>
          </a:p>
        </p:txBody>
      </p:sp>
      <p:sp>
        <p:nvSpPr>
          <p:cNvPr id="83" name=""/>
          <p:cNvSpPr txBox="1"/>
          <p:nvPr/>
        </p:nvSpPr>
        <p:spPr>
          <a:xfrm>
            <a:off x="1468440" y="961920"/>
            <a:ext cx="6332400" cy="5010120"/>
          </a:xfrm>
          <a:prstGeom prst="rect">
            <a:avLst/>
          </a:prstGeom>
          <a:solidFill>
            <a:srgbClr val="DADADA"/>
          </a:solidFill>
          <a:ln w="12600">
            <a:solidFill>
              <a:srgbClr val="000000"/>
            </a:solidFill>
            <a:round/>
          </a:ln>
          <a:effectLst>
            <a:outerShdw dist="0" dir="0" rotWithShape="0">
              <a:srgbClr val="919191"/>
            </a:outerShdw>
          </a:effectLst>
        </p:spPr>
        <p:txBody>
          <a:bodyPr lIns="0" tIns="0" rIns="0" bIns="0" anchor="t">
            <a:spAutoFit/>
          </a:bodyPr>
          <a:p>
            <a:pPr marL="380880" indent="-380880">
              <a:lnSpc>
                <a:spcPct val="95000"/>
              </a:lnSpc>
            </a:pPr>
            <a:r>
              <a:rPr lang="en-US" sz="1800" b="1" u="none" strike="noStrike">
                <a:solidFill>
                  <a:srgbClr val="000000"/>
                </a:solidFill>
                <a:effectLst/>
                <a:uFillTx/>
                <a:latin typeface="Courier New"/>
                <a:ea typeface="Courier New"/>
              </a:rPr>
              <a:t>     $ SET SOURCEFORMAT"FREE"</a:t>
            </a: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IDENTIFICATION DIVISION.</a:t>
            </a: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PROGRAM-ID.  SequenceProgram.</a:t>
            </a: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AUTHOR.  Michael Coughlan.</a:t>
            </a:r>
            <a:endParaRPr lang="en-US" sz="1800" b="0" u="none" strike="noStrike">
              <a:solidFill>
                <a:srgbClr val="000000"/>
              </a:solidFill>
              <a:effectLst/>
              <a:uFillTx/>
              <a:latin typeface="Arial"/>
            </a:endParaRPr>
          </a:p>
          <a:p>
            <a:pPr marL="380880" indent="-380880">
              <a:lnSpc>
                <a:spcPct val="95000"/>
              </a:lnSpc>
            </a:pP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DATA DIVISION.</a:t>
            </a: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WORKING-STORAGE SECTION.</a:t>
            </a: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01  Num1           PIC 9  VALUE ZEROS.</a:t>
            </a: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01  Num2           PIC 9  VALUE ZEROS.</a:t>
            </a: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01  Result         PIC 99 VALUE ZEROS.</a:t>
            </a:r>
            <a:endParaRPr lang="en-US" sz="1800" b="0" u="none" strike="noStrike">
              <a:solidFill>
                <a:srgbClr val="000000"/>
              </a:solidFill>
              <a:effectLst/>
              <a:uFillTx/>
              <a:latin typeface="Arial"/>
            </a:endParaRPr>
          </a:p>
          <a:p>
            <a:pPr marL="380880" indent="-380880">
              <a:lnSpc>
                <a:spcPct val="95000"/>
              </a:lnSpc>
            </a:pP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PROCEDURE DIVISION.</a:t>
            </a: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CalculateResult.</a:t>
            </a: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   ACCEPT Num1.</a:t>
            </a: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   ACCEPT Num2.</a:t>
            </a: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   MULTIPLY Num1 BY Num2 GIVING Result.</a:t>
            </a: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   DISPLAY "Result is = ", Result.</a:t>
            </a: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   STOP RUN.</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
          <p:cNvSpPr txBox="1"/>
          <p:nvPr/>
        </p:nvSpPr>
        <p:spPr>
          <a:xfrm>
            <a:off x="1774800" y="79200"/>
            <a:ext cx="5518080" cy="476280"/>
          </a:xfrm>
          <a:prstGeom prst="rect">
            <a:avLst/>
          </a:prstGeom>
          <a:noFill/>
          <a:ln w="0">
            <a:noFill/>
          </a:ln>
        </p:spPr>
        <p:txBody>
          <a:bodyPr lIns="0" tIns="0" rIns="0" bIns="0" anchor="t">
            <a:spAutoFit/>
          </a:bodyPr>
          <a:p>
            <a:pPr>
              <a:lnSpc>
                <a:spcPct val="90000"/>
              </a:lnSpc>
            </a:pPr>
            <a:r>
              <a:rPr lang="en-US" sz="2800" b="1" u="none" strike="noStrike">
                <a:solidFill>
                  <a:srgbClr val="FAFD00"/>
                </a:solidFill>
                <a:effectLst/>
                <a:uFillTx/>
                <a:latin typeface="Arial"/>
                <a:ea typeface="Arial"/>
              </a:rPr>
              <a:t>The minimum COBOL program.</a:t>
            </a:r>
            <a:endParaRPr lang="en-US" sz="2800" b="0" u="none" strike="noStrike">
              <a:solidFill>
                <a:srgbClr val="000000"/>
              </a:solidFill>
              <a:effectLst/>
              <a:uFillTx/>
              <a:latin typeface="Arial"/>
            </a:endParaRPr>
          </a:p>
        </p:txBody>
      </p:sp>
      <p:sp>
        <p:nvSpPr>
          <p:cNvPr id="85" name=""/>
          <p:cNvSpPr txBox="1"/>
          <p:nvPr/>
        </p:nvSpPr>
        <p:spPr>
          <a:xfrm>
            <a:off x="1413000" y="1670040"/>
            <a:ext cx="6119640" cy="2225520"/>
          </a:xfrm>
          <a:prstGeom prst="rect">
            <a:avLst/>
          </a:prstGeom>
          <a:solidFill>
            <a:srgbClr val="DADADA"/>
          </a:solidFill>
          <a:ln w="25560">
            <a:solidFill>
              <a:srgbClr val="FFFFFF"/>
            </a:solidFill>
            <a:round/>
          </a:ln>
          <a:effectLst>
            <a:outerShdw dist="0" dir="0" rotWithShape="0">
              <a:srgbClr val="919191"/>
            </a:outerShdw>
          </a:effectLst>
        </p:spPr>
        <p:txBody>
          <a:bodyPr lIns="0" tIns="0" rIns="0" bIns="0" anchor="t">
            <a:spAutoFit/>
          </a:bodyPr>
          <a:p>
            <a:pPr marL="380880" indent="-380880">
              <a:lnSpc>
                <a:spcPct val="95000"/>
              </a:lnSpc>
            </a:pPr>
            <a:r>
              <a:rPr lang="en-US" sz="1800" b="1" u="none" strike="noStrike">
                <a:solidFill>
                  <a:srgbClr val="000000"/>
                </a:solidFill>
                <a:effectLst/>
                <a:uFillTx/>
                <a:latin typeface="Courier New"/>
                <a:ea typeface="Courier New"/>
              </a:rPr>
              <a:t>     $ SET SOURCEFORMAT"FREE"</a:t>
            </a: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IDENTIFICATION DIVISION.</a:t>
            </a: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PROGRAM-ID.  SmallestProgram.</a:t>
            </a:r>
            <a:endParaRPr lang="en-US" sz="1800" b="0" u="none" strike="noStrike">
              <a:solidFill>
                <a:srgbClr val="000000"/>
              </a:solidFill>
              <a:effectLst/>
              <a:uFillTx/>
              <a:latin typeface="Arial"/>
            </a:endParaRPr>
          </a:p>
          <a:p>
            <a:pPr marL="380880" indent="-380880">
              <a:lnSpc>
                <a:spcPct val="95000"/>
              </a:lnSpc>
            </a:pP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PROCEDURE DIVISION.</a:t>
            </a: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DisplayPrompt.</a:t>
            </a: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   DISPLAY "I did it".</a:t>
            </a:r>
            <a:endParaRPr lang="en-US" sz="1800" b="0" u="none" strike="noStrike">
              <a:solidFill>
                <a:srgbClr val="000000"/>
              </a:solidFill>
              <a:effectLst/>
              <a:uFillTx/>
              <a:latin typeface="Arial"/>
            </a:endParaRPr>
          </a:p>
          <a:p>
            <a:pPr marL="380880" indent="-380880">
              <a:lnSpc>
                <a:spcPct val="95000"/>
              </a:lnSpc>
            </a:pPr>
            <a:r>
              <a:rPr lang="en-US" sz="1800" b="1" u="none" strike="noStrike">
                <a:solidFill>
                  <a:srgbClr val="000000"/>
                </a:solidFill>
                <a:effectLst/>
                <a:uFillTx/>
                <a:latin typeface="Courier New"/>
                <a:ea typeface="Courier New"/>
              </a:rPr>
              <a:t>   STOP RUN.</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LibreOffice/26.2.2.2$Windows_X86_64 LibreOffice_project/1f77d10d6938fd34972958f64b2bcfa54f8b1ba5</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Michael Coughlan</dc:creator>
  <dc:description/>
  <dc:language>en-US</dc:language>
  <cp:lastModifiedBy>Michael Coughlan</cp:lastModifiedBy>
  <cp:revision>0</cp:revision>
  <dc:subject/>
  <dc:title>COmmon Business Oriented Language</dc:title>
</cp:coreProperties>
</file>