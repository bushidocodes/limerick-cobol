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presProps.xml" ContentType="application/vnd.openxmlformats-officedocument.presentationml.presProps+xml"/>
  <Override PartName="/ppt/media/image1.wmf" ContentType="image/x-wmf"/>
  <Override PartName="/ppt/media/image2.wmf" ContentType="image/x-wmf"/>
  <Override PartName="/ppt/media/image3.wmf" ContentType="image/x-wmf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M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0">
            <a:gsLst>
              <a:gs pos="0">
                <a:srgbClr val="114FFB"/>
              </a:gs>
              <a:gs pos="100000">
                <a:srgbClr val="FFFFFF"/>
              </a:gs>
            </a:gsLst>
            <a:path path="rect">
              <a:fillToRect l="0" t="0" r="100000" b="100000"/>
            </a:path>
          </a:gra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" name=""/>
          <p:cNvGrpSpPr/>
          <p:nvPr/>
        </p:nvGrpSpPr>
        <p:grpSpPr>
          <a:xfrm>
            <a:off x="6629400" y="4343400"/>
            <a:ext cx="2286000" cy="2286000"/>
            <a:chOff x="6629400" y="4343400"/>
            <a:chExt cx="2286000" cy="2286000"/>
          </a:xfrm>
        </p:grpSpPr>
        <p:sp>
          <p:nvSpPr>
            <p:cNvPr id="4" name=""/>
            <p:cNvSpPr/>
            <p:nvPr/>
          </p:nvSpPr>
          <p:spPr>
            <a:xfrm>
              <a:off x="8763120" y="6477120"/>
              <a:ext cx="152280" cy="152280"/>
            </a:xfrm>
            <a:prstGeom prst="rect">
              <a:avLst/>
            </a:prstGeom>
            <a:solidFill>
              <a:srgbClr val="FF0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"/>
            <p:cNvSpPr/>
            <p:nvPr/>
          </p:nvSpPr>
          <p:spPr>
            <a:xfrm>
              <a:off x="8458200" y="6477120"/>
              <a:ext cx="152280" cy="152280"/>
            </a:xfrm>
            <a:prstGeom prst="rect">
              <a:avLst/>
            </a:prstGeom>
            <a:solidFill>
              <a:srgbClr val="FF8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" name=""/>
            <p:cNvSpPr/>
            <p:nvPr/>
          </p:nvSpPr>
          <p:spPr>
            <a:xfrm>
              <a:off x="8153280" y="6477120"/>
              <a:ext cx="152280" cy="152280"/>
            </a:xfrm>
            <a:prstGeom prst="rect">
              <a:avLst/>
            </a:prstGeom>
            <a:solidFill>
              <a:srgbClr val="FF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" name=""/>
            <p:cNvSpPr/>
            <p:nvPr/>
          </p:nvSpPr>
          <p:spPr>
            <a:xfrm>
              <a:off x="7848720" y="6477120"/>
              <a:ext cx="152280" cy="152280"/>
            </a:xfrm>
            <a:prstGeom prst="rect">
              <a:avLst/>
            </a:prstGeom>
            <a:solidFill>
              <a:srgbClr val="00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" name=""/>
            <p:cNvSpPr/>
            <p:nvPr/>
          </p:nvSpPr>
          <p:spPr>
            <a:xfrm>
              <a:off x="7543800" y="6477120"/>
              <a:ext cx="152280" cy="152280"/>
            </a:xfrm>
            <a:prstGeom prst="rect">
              <a:avLst/>
            </a:prstGeom>
            <a:solidFill>
              <a:srgbClr val="00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" name=""/>
            <p:cNvSpPr/>
            <p:nvPr/>
          </p:nvSpPr>
          <p:spPr>
            <a:xfrm>
              <a:off x="7238880" y="6477120"/>
              <a:ext cx="152280" cy="152280"/>
            </a:xfrm>
            <a:prstGeom prst="rect">
              <a:avLst/>
            </a:prstGeom>
            <a:solidFill>
              <a:srgbClr val="00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" name=""/>
            <p:cNvSpPr/>
            <p:nvPr/>
          </p:nvSpPr>
          <p:spPr>
            <a:xfrm>
              <a:off x="6934320" y="6477120"/>
              <a:ext cx="152280" cy="152280"/>
            </a:xfrm>
            <a:prstGeom prst="rect">
              <a:avLst/>
            </a:prstGeom>
            <a:solidFill>
              <a:srgbClr val="FF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" name=""/>
            <p:cNvSpPr/>
            <p:nvPr/>
          </p:nvSpPr>
          <p:spPr>
            <a:xfrm>
              <a:off x="6629400" y="6477120"/>
              <a:ext cx="152280" cy="152280"/>
            </a:xfrm>
            <a:prstGeom prst="rect">
              <a:avLst/>
            </a:prstGeom>
            <a:solidFill>
              <a:srgbClr val="A000A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"/>
            <p:cNvSpPr/>
            <p:nvPr/>
          </p:nvSpPr>
          <p:spPr>
            <a:xfrm>
              <a:off x="8763120" y="6172200"/>
              <a:ext cx="152280" cy="152280"/>
            </a:xfrm>
            <a:prstGeom prst="rect">
              <a:avLst/>
            </a:prstGeom>
            <a:solidFill>
              <a:srgbClr val="FF8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" name=""/>
            <p:cNvSpPr/>
            <p:nvPr/>
          </p:nvSpPr>
          <p:spPr>
            <a:xfrm>
              <a:off x="8763120" y="5867280"/>
              <a:ext cx="152280" cy="152280"/>
            </a:xfrm>
            <a:prstGeom prst="rect">
              <a:avLst/>
            </a:prstGeom>
            <a:solidFill>
              <a:srgbClr val="FF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" name=""/>
            <p:cNvSpPr/>
            <p:nvPr/>
          </p:nvSpPr>
          <p:spPr>
            <a:xfrm>
              <a:off x="8763120" y="5562720"/>
              <a:ext cx="152280" cy="152280"/>
            </a:xfrm>
            <a:prstGeom prst="rect">
              <a:avLst/>
            </a:prstGeom>
            <a:solidFill>
              <a:srgbClr val="00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" name=""/>
            <p:cNvSpPr/>
            <p:nvPr/>
          </p:nvSpPr>
          <p:spPr>
            <a:xfrm>
              <a:off x="8763120" y="5257800"/>
              <a:ext cx="152280" cy="152280"/>
            </a:xfrm>
            <a:prstGeom prst="rect">
              <a:avLst/>
            </a:prstGeom>
            <a:solidFill>
              <a:srgbClr val="00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"/>
            <p:cNvSpPr/>
            <p:nvPr/>
          </p:nvSpPr>
          <p:spPr>
            <a:xfrm>
              <a:off x="8763120" y="4952880"/>
              <a:ext cx="152280" cy="152280"/>
            </a:xfrm>
            <a:prstGeom prst="rect">
              <a:avLst/>
            </a:prstGeom>
            <a:solidFill>
              <a:srgbClr val="00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"/>
            <p:cNvSpPr/>
            <p:nvPr/>
          </p:nvSpPr>
          <p:spPr>
            <a:xfrm>
              <a:off x="8763120" y="4648320"/>
              <a:ext cx="152280" cy="152280"/>
            </a:xfrm>
            <a:prstGeom prst="rect">
              <a:avLst/>
            </a:prstGeom>
            <a:solidFill>
              <a:srgbClr val="FF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"/>
            <p:cNvSpPr/>
            <p:nvPr/>
          </p:nvSpPr>
          <p:spPr>
            <a:xfrm>
              <a:off x="8763120" y="4343400"/>
              <a:ext cx="152280" cy="152280"/>
            </a:xfrm>
            <a:prstGeom prst="rect">
              <a:avLst/>
            </a:prstGeom>
            <a:solidFill>
              <a:srgbClr val="A000A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wmf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wmf"/><Relationship Id="rId2" Type="http://schemas.openxmlformats.org/officeDocument/2006/relationships/slideLayout" Target="../slideLayouts/slideLayout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wmf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131400" cy="6845400"/>
          </a:xfrm>
          <a:prstGeom prst="rect">
            <a:avLst/>
          </a:prstGeom>
          <a:gradFill rotWithShape="0">
            <a:gsLst>
              <a:gs pos="0">
                <a:srgbClr val="063DE8"/>
              </a:gs>
              <a:gs pos="100000">
                <a:srgbClr val="FFFFFF"/>
              </a:gs>
            </a:gsLst>
            <a:path path="rect">
              <a:fillToRect l="50000" t="50000" r="50000" b="50000"/>
            </a:path>
          </a:gra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2766960" y="2646360"/>
            <a:ext cx="3513240" cy="1573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3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Arithmetic </a:t>
            </a:r>
            <a:br>
              <a:rPr sz="3600"/>
            </a:br>
            <a:r>
              <a:rPr lang="en-US" sz="3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and </a:t>
            </a:r>
            <a:br>
              <a:rPr sz="3600"/>
            </a:br>
            <a:r>
              <a:rPr lang="en-US" sz="3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Edited Pictures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"/>
          <p:cNvSpPr txBox="1"/>
          <p:nvPr/>
        </p:nvSpPr>
        <p:spPr>
          <a:xfrm>
            <a:off x="2276640" y="133200"/>
            <a:ext cx="4492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Arithmetic Verb Template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419040" y="2505240"/>
            <a:ext cx="8196120" cy="3765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38088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Most COBOL arithmetic verbs conform to the template above.   For example;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479"/>
              </a:spcBef>
              <a:tabLst>
                <a:tab pos="38088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ADD Takings TO CashTotal.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ADD Males TO Females GIVING TotalStudents.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479"/>
              </a:spcBef>
              <a:tabLst>
                <a:tab pos="38088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SUBTRACT Tax FROM GrossPay.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SUBTRACT Tax FROM GrossPay GIVING NetPay.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479"/>
              </a:spcBef>
              <a:tabLst>
                <a:tab pos="38088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DIVIDE Total BY Members GIVING MemberAverage.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DIVIDE Members INTO Total GIVING MemberAverage.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479"/>
              </a:spcBef>
              <a:tabLst>
                <a:tab pos="38088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MULTIPLY 10 BY Magnitude.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MULTIPLY Members BY Subs GIVING TotalSubs.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38088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exceptions are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COMPUTE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and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DIVIDE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with REMAINDER.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"/>
          <p:cNvPicPr/>
          <p:nvPr/>
        </p:nvPicPr>
        <p:blipFill>
          <a:blip r:embed="rId1"/>
          <a:stretch/>
        </p:blipFill>
        <p:spPr>
          <a:xfrm>
            <a:off x="865080" y="741240"/>
            <a:ext cx="7245360" cy="1405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 txBox="1"/>
          <p:nvPr/>
        </p:nvSpPr>
        <p:spPr>
          <a:xfrm>
            <a:off x="2378160" y="263520"/>
            <a:ext cx="4083120" cy="5014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The ROUNDED option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266760" y="758880"/>
            <a:ext cx="8459640" cy="15462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Aft>
                <a:spcPts val="1919"/>
              </a:spcAft>
              <a:tabLst>
                <a:tab pos="2095560" algn="l"/>
                <a:tab pos="3905280" algn="l"/>
                <a:tab pos="619128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Receiving Field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Actual Result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Truncated Result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Rounded Result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919"/>
              </a:spcAft>
              <a:tabLst>
                <a:tab pos="2095560" algn="l"/>
                <a:tab pos="3905280" algn="l"/>
                <a:tab pos="619128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PIC 9(3)V9.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123.2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919"/>
              </a:spcAft>
              <a:tabLst>
                <a:tab pos="2095560" algn="l"/>
                <a:tab pos="3905280" algn="l"/>
                <a:tab pos="619128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PIC 9(3).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123.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301680" y="1212840"/>
            <a:ext cx="8377200" cy="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2397240" y="755640"/>
            <a:ext cx="0" cy="151920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4183200" y="755640"/>
            <a:ext cx="0" cy="153360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6464160" y="755640"/>
            <a:ext cx="0" cy="153360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4749840" y="1303200"/>
            <a:ext cx="3438360" cy="92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5000"/>
              </a:lnSpc>
              <a:spcBef>
                <a:spcPts val="1199"/>
              </a:spcBef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123.2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    123.3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5000"/>
              </a:lnSpc>
              <a:spcBef>
                <a:spcPts val="1199"/>
              </a:spcBef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123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     123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542880" y="2922480"/>
            <a:ext cx="7815240" cy="2538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100000"/>
              </a:lnSpc>
              <a:spcBef>
                <a:spcPts val="1681"/>
              </a:spcBef>
              <a:buClr>
                <a:srgbClr val="FC0128"/>
              </a:buClr>
              <a:buSzPct val="80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ROUNDED option takes effect when, after decimal point alignment, the result calculated must be truncated on the right hand side.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1681"/>
              </a:spcBef>
              <a:buClr>
                <a:srgbClr val="FC0128"/>
              </a:buClr>
              <a:buSzPct val="80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option adds 1 to the receiving item when the leftmost truncated digit has an absolute value of 5 or greater.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"/>
          <p:cNvSpPr txBox="1"/>
          <p:nvPr/>
        </p:nvSpPr>
        <p:spPr>
          <a:xfrm>
            <a:off x="509760" y="4308480"/>
            <a:ext cx="7815240" cy="212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85000"/>
              </a:lnSpc>
              <a:spcBef>
                <a:spcPts val="1080"/>
              </a:spcBef>
              <a:buClr>
                <a:srgbClr val="FC0128"/>
              </a:buClr>
              <a:buSzPct val="80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 size error condition exists when, after decimal point alignment, the result is truncated on either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left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or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right</a:t>
            </a:r>
            <a:r>
              <a:rPr lang="en-US" sz="24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hand side.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5000"/>
              </a:lnSpc>
              <a:spcBef>
                <a:spcPts val="1080"/>
              </a:spcBef>
              <a:buClr>
                <a:srgbClr val="FC0128"/>
              </a:buClr>
              <a:buSzPct val="80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If an arithmetic statement has a rounded phrase then a size error only occurs if there is truncation on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left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hand side (most significant digits).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546120" y="646200"/>
            <a:ext cx="7816680" cy="3421080"/>
          </a:xfrm>
          <a:prstGeom prst="rect">
            <a:avLst/>
          </a:prstGeom>
          <a:solidFill>
            <a:srgbClr val="DADADA"/>
          </a:solidFill>
          <a:ln w="2556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Aft>
                <a:spcPts val="839"/>
              </a:spcAft>
              <a:tabLst>
                <a:tab pos="3619440" algn="l"/>
                <a:tab pos="4381560" algn="dec"/>
                <a:tab pos="5715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   Receiving Field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Actual Result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SIZE ERROR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961"/>
              </a:spcAft>
              <a:tabLst>
                <a:tab pos="3619440" algn="l"/>
                <a:tab pos="4381560" algn="dec"/>
                <a:tab pos="5715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PIC 9(3)V9.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245.9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961"/>
              </a:spcAft>
              <a:tabLst>
                <a:tab pos="3619440" algn="l"/>
                <a:tab pos="4381560" algn="dec"/>
                <a:tab pos="5715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PIC 9(3)V9.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245.9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961"/>
              </a:spcAft>
              <a:tabLst>
                <a:tab pos="3619440" algn="l"/>
                <a:tab pos="4381560" algn="dec"/>
                <a:tab pos="5715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PIC 9(3).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961"/>
              </a:spcAft>
              <a:tabLst>
                <a:tab pos="3619440" algn="l"/>
                <a:tab pos="4381560" algn="dec"/>
                <a:tab pos="5715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PIC 9(3).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246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961"/>
              </a:spcAft>
              <a:tabLst>
                <a:tab pos="3619440" algn="l"/>
                <a:tab pos="4381560" algn="dec"/>
                <a:tab pos="5715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PIC 9(3)V9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Not Rounded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124.4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5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961"/>
              </a:spcAft>
              <a:tabLst>
                <a:tab pos="3619440" algn="l"/>
                <a:tab pos="4381560" algn="dec"/>
                <a:tab pos="5715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PIC 9(3)V9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Rounded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124.4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961"/>
              </a:spcAft>
              <a:tabLst>
                <a:tab pos="3619440" algn="l"/>
                <a:tab pos="4381560" algn="dec"/>
                <a:tab pos="5715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PIC 9(3)V9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Rounded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3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124.4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5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4062240" y="671400"/>
            <a:ext cx="0" cy="338796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6186600" y="657360"/>
            <a:ext cx="0" cy="339084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917720" y="149400"/>
            <a:ext cx="4930920" cy="5014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The ON SIZE ERROR option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588000" y="1076400"/>
            <a:ext cx="1081080" cy="279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spcAft>
                <a:spcPts val="601"/>
              </a:spcAft>
            </a:pP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Yes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Aft>
                <a:spcPts val="601"/>
              </a:spcAft>
            </a:pP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Yes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Aft>
                <a:spcPts val="601"/>
              </a:spcAft>
            </a:pP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No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Aft>
                <a:spcPts val="601"/>
              </a:spcAft>
            </a:pP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Yes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Aft>
                <a:spcPts val="601"/>
              </a:spcAft>
            </a:pP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Yes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Aft>
                <a:spcPts val="601"/>
              </a:spcAft>
            </a:pP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No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Aft>
                <a:spcPts val="601"/>
              </a:spcAft>
            </a:pP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Yes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552600" y="1033560"/>
            <a:ext cx="7804080" cy="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 txBox="1"/>
          <p:nvPr/>
        </p:nvSpPr>
        <p:spPr>
          <a:xfrm>
            <a:off x="2733840" y="176040"/>
            <a:ext cx="27129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ADD Examples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57160" y="1085760"/>
            <a:ext cx="7257960" cy="4700520"/>
          </a:xfrm>
          <a:prstGeom prst="rect">
            <a:avLst/>
          </a:prstGeom>
          <a:solidFill>
            <a:srgbClr val="DADADA"/>
          </a:solidFill>
          <a:ln w="2556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ADD   Cash  TO  Total.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Before</a:t>
            </a: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              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3             1000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After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114300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ADD   Cash,  20  TO   Total,   Wage.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Before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             3                     1000      100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After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114300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ADD   Cash,  Total GIVING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Before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         3       1000                0015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After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114300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ADD Males TO Females GIVING  TotalStudents.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Before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         1500          0625                           1234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After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795760" y="1724040"/>
            <a:ext cx="4781520" cy="400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  <a:spcBef>
                <a:spcPts val="720"/>
              </a:spcBef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3            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1003</a:t>
            </a:r>
            <a:br>
              <a:rPr sz="2000"/>
            </a:br>
            <a:br>
              <a:rPr sz="2000"/>
            </a:br>
            <a:br>
              <a:rPr sz="2000"/>
            </a:b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 3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                     1023      123</a:t>
            </a:r>
            <a:br>
              <a:rPr sz="2000"/>
            </a:br>
            <a:br>
              <a:rPr sz="2000"/>
            </a:br>
            <a:br>
              <a:rPr sz="2000"/>
            </a:b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</a:pP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  3       1000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              1003</a:t>
            </a:r>
            <a:br>
              <a:rPr sz="2000"/>
            </a:br>
            <a:br>
              <a:rPr sz="2000"/>
            </a:br>
            <a:br>
              <a:rPr sz="2000"/>
            </a:b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</a:pP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1500          0625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                           2125                       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4067280" y="1424160"/>
            <a:ext cx="743040" cy="61452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"/>
          <p:cNvGrpSpPr/>
          <p:nvPr/>
        </p:nvGrpSpPr>
        <p:grpSpPr>
          <a:xfrm>
            <a:off x="2828880" y="1428840"/>
            <a:ext cx="743040" cy="614520"/>
            <a:chOff x="2828880" y="1428840"/>
            <a:chExt cx="743040" cy="614520"/>
          </a:xfrm>
        </p:grpSpPr>
        <p:sp>
          <p:nvSpPr>
            <p:cNvPr id="74" name=""/>
            <p:cNvSpPr/>
            <p:nvPr/>
          </p:nvSpPr>
          <p:spPr>
            <a:xfrm>
              <a:off x="2828880" y="1428840"/>
              <a:ext cx="743040" cy="61452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"/>
            <p:cNvSpPr/>
            <p:nvPr/>
          </p:nvSpPr>
          <p:spPr>
            <a:xfrm>
              <a:off x="2843280" y="1728720"/>
              <a:ext cx="72864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6" name=""/>
          <p:cNvSpPr/>
          <p:nvPr/>
        </p:nvSpPr>
        <p:spPr>
          <a:xfrm>
            <a:off x="4081320" y="1738440"/>
            <a:ext cx="728640" cy="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7" name=""/>
          <p:cNvGrpSpPr/>
          <p:nvPr/>
        </p:nvGrpSpPr>
        <p:grpSpPr>
          <a:xfrm>
            <a:off x="2795760" y="2610000"/>
            <a:ext cx="743040" cy="614520"/>
            <a:chOff x="2795760" y="2610000"/>
            <a:chExt cx="743040" cy="614520"/>
          </a:xfrm>
        </p:grpSpPr>
        <p:sp>
          <p:nvSpPr>
            <p:cNvPr id="78" name=""/>
            <p:cNvSpPr/>
            <p:nvPr/>
          </p:nvSpPr>
          <p:spPr>
            <a:xfrm>
              <a:off x="2795760" y="2610000"/>
              <a:ext cx="743040" cy="61452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"/>
            <p:cNvSpPr/>
            <p:nvPr/>
          </p:nvSpPr>
          <p:spPr>
            <a:xfrm>
              <a:off x="2809800" y="2909880"/>
              <a:ext cx="72864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0" name=""/>
          <p:cNvGrpSpPr/>
          <p:nvPr/>
        </p:nvGrpSpPr>
        <p:grpSpPr>
          <a:xfrm>
            <a:off x="4610160" y="2610000"/>
            <a:ext cx="743040" cy="614520"/>
            <a:chOff x="4610160" y="2610000"/>
            <a:chExt cx="743040" cy="614520"/>
          </a:xfrm>
        </p:grpSpPr>
        <p:sp>
          <p:nvSpPr>
            <p:cNvPr id="81" name=""/>
            <p:cNvSpPr/>
            <p:nvPr/>
          </p:nvSpPr>
          <p:spPr>
            <a:xfrm>
              <a:off x="4610160" y="2610000"/>
              <a:ext cx="743040" cy="61452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"/>
            <p:cNvSpPr/>
            <p:nvPr/>
          </p:nvSpPr>
          <p:spPr>
            <a:xfrm>
              <a:off x="4624560" y="2909880"/>
              <a:ext cx="72864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3" name=""/>
          <p:cNvGrpSpPr/>
          <p:nvPr/>
        </p:nvGrpSpPr>
        <p:grpSpPr>
          <a:xfrm>
            <a:off x="5553000" y="2610000"/>
            <a:ext cx="743040" cy="614520"/>
            <a:chOff x="5553000" y="2610000"/>
            <a:chExt cx="743040" cy="614520"/>
          </a:xfrm>
        </p:grpSpPr>
        <p:sp>
          <p:nvSpPr>
            <p:cNvPr id="84" name=""/>
            <p:cNvSpPr/>
            <p:nvPr/>
          </p:nvSpPr>
          <p:spPr>
            <a:xfrm>
              <a:off x="5553000" y="2610000"/>
              <a:ext cx="743040" cy="61452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" name=""/>
            <p:cNvSpPr/>
            <p:nvPr/>
          </p:nvSpPr>
          <p:spPr>
            <a:xfrm>
              <a:off x="5567400" y="2909880"/>
              <a:ext cx="72864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6" name=""/>
          <p:cNvGrpSpPr/>
          <p:nvPr/>
        </p:nvGrpSpPr>
        <p:grpSpPr>
          <a:xfrm>
            <a:off x="2809800" y="3786120"/>
            <a:ext cx="733680" cy="652320"/>
            <a:chOff x="2809800" y="3786120"/>
            <a:chExt cx="733680" cy="652320"/>
          </a:xfrm>
        </p:grpSpPr>
        <p:sp>
          <p:nvSpPr>
            <p:cNvPr id="87" name=""/>
            <p:cNvSpPr/>
            <p:nvPr/>
          </p:nvSpPr>
          <p:spPr>
            <a:xfrm>
              <a:off x="2809800" y="3786120"/>
              <a:ext cx="733320" cy="65232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"/>
            <p:cNvSpPr/>
            <p:nvPr/>
          </p:nvSpPr>
          <p:spPr>
            <a:xfrm>
              <a:off x="2824200" y="4105440"/>
              <a:ext cx="71928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9" name=""/>
          <p:cNvGrpSpPr/>
          <p:nvPr/>
        </p:nvGrpSpPr>
        <p:grpSpPr>
          <a:xfrm>
            <a:off x="3662280" y="3781440"/>
            <a:ext cx="743040" cy="642960"/>
            <a:chOff x="3662280" y="3781440"/>
            <a:chExt cx="743040" cy="642960"/>
          </a:xfrm>
        </p:grpSpPr>
        <p:sp>
          <p:nvSpPr>
            <p:cNvPr id="90" name=""/>
            <p:cNvSpPr/>
            <p:nvPr/>
          </p:nvSpPr>
          <p:spPr>
            <a:xfrm>
              <a:off x="3662280" y="3781440"/>
              <a:ext cx="743040" cy="64296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"/>
            <p:cNvSpPr/>
            <p:nvPr/>
          </p:nvSpPr>
          <p:spPr>
            <a:xfrm>
              <a:off x="3676680" y="4095720"/>
              <a:ext cx="72864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92" name=""/>
          <p:cNvGrpSpPr/>
          <p:nvPr/>
        </p:nvGrpSpPr>
        <p:grpSpPr>
          <a:xfrm>
            <a:off x="5334120" y="3781440"/>
            <a:ext cx="743040" cy="642960"/>
            <a:chOff x="5334120" y="3781440"/>
            <a:chExt cx="743040" cy="642960"/>
          </a:xfrm>
        </p:grpSpPr>
        <p:sp>
          <p:nvSpPr>
            <p:cNvPr id="93" name=""/>
            <p:cNvSpPr/>
            <p:nvPr/>
          </p:nvSpPr>
          <p:spPr>
            <a:xfrm>
              <a:off x="5334120" y="3781440"/>
              <a:ext cx="743040" cy="64296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"/>
            <p:cNvSpPr/>
            <p:nvPr/>
          </p:nvSpPr>
          <p:spPr>
            <a:xfrm>
              <a:off x="5348160" y="4095720"/>
              <a:ext cx="72864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95" name=""/>
          <p:cNvGrpSpPr/>
          <p:nvPr/>
        </p:nvGrpSpPr>
        <p:grpSpPr>
          <a:xfrm>
            <a:off x="2695680" y="4971960"/>
            <a:ext cx="914400" cy="642960"/>
            <a:chOff x="2695680" y="4971960"/>
            <a:chExt cx="914400" cy="642960"/>
          </a:xfrm>
        </p:grpSpPr>
        <p:sp>
          <p:nvSpPr>
            <p:cNvPr id="96" name=""/>
            <p:cNvSpPr/>
            <p:nvPr/>
          </p:nvSpPr>
          <p:spPr>
            <a:xfrm>
              <a:off x="2695680" y="4971960"/>
              <a:ext cx="914400" cy="64296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"/>
            <p:cNvSpPr/>
            <p:nvPr/>
          </p:nvSpPr>
          <p:spPr>
            <a:xfrm>
              <a:off x="2712960" y="5286240"/>
              <a:ext cx="89712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98" name=""/>
          <p:cNvGrpSpPr/>
          <p:nvPr/>
        </p:nvGrpSpPr>
        <p:grpSpPr>
          <a:xfrm>
            <a:off x="3962520" y="4971960"/>
            <a:ext cx="914400" cy="642960"/>
            <a:chOff x="3962520" y="4971960"/>
            <a:chExt cx="914400" cy="642960"/>
          </a:xfrm>
        </p:grpSpPr>
        <p:sp>
          <p:nvSpPr>
            <p:cNvPr id="99" name=""/>
            <p:cNvSpPr/>
            <p:nvPr/>
          </p:nvSpPr>
          <p:spPr>
            <a:xfrm>
              <a:off x="3962520" y="4971960"/>
              <a:ext cx="914400" cy="64296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" name=""/>
            <p:cNvSpPr/>
            <p:nvPr/>
          </p:nvSpPr>
          <p:spPr>
            <a:xfrm>
              <a:off x="3979800" y="5286240"/>
              <a:ext cx="89712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01" name=""/>
          <p:cNvGrpSpPr/>
          <p:nvPr/>
        </p:nvGrpSpPr>
        <p:grpSpPr>
          <a:xfrm>
            <a:off x="6462720" y="4971960"/>
            <a:ext cx="914400" cy="642960"/>
            <a:chOff x="6462720" y="4971960"/>
            <a:chExt cx="914400" cy="642960"/>
          </a:xfrm>
        </p:grpSpPr>
        <p:sp>
          <p:nvSpPr>
            <p:cNvPr id="102" name=""/>
            <p:cNvSpPr/>
            <p:nvPr/>
          </p:nvSpPr>
          <p:spPr>
            <a:xfrm>
              <a:off x="6462720" y="4971960"/>
              <a:ext cx="914400" cy="64296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" name=""/>
            <p:cNvSpPr/>
            <p:nvPr/>
          </p:nvSpPr>
          <p:spPr>
            <a:xfrm>
              <a:off x="6480000" y="5286240"/>
              <a:ext cx="89712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"/>
          <p:cNvSpPr txBox="1"/>
          <p:nvPr/>
        </p:nvSpPr>
        <p:spPr>
          <a:xfrm>
            <a:off x="2433600" y="14760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SUBTRACT Examples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671400" y="1085760"/>
            <a:ext cx="7615080" cy="4029120"/>
          </a:xfrm>
          <a:prstGeom prst="rect">
            <a:avLst/>
          </a:prstGeom>
          <a:solidFill>
            <a:srgbClr val="DADADA"/>
          </a:solidFill>
          <a:ln w="2556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SUBTRACT  Tax  FROM GrossPay, Total.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Before  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         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       120                 4000        9120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After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SUBTRACT  Tax, 80 FROM Total.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Before </a:t>
            </a:r>
            <a:r>
              <a:rPr lang="en-US" sz="1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                     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100                   480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After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SUBTRACT  Tax   FROM GrossPay GIVING NetPay.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Before</a:t>
            </a:r>
            <a:r>
              <a:rPr lang="en-US" sz="1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             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 750                 1000                      0012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After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3319560" y="1812960"/>
            <a:ext cx="4753080" cy="3139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5000"/>
              </a:lnSpc>
              <a:spcBef>
                <a:spcPts val="961"/>
              </a:spcBef>
            </a:pP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120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      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      3880        9000</a:t>
            </a:r>
            <a:br>
              <a:rPr sz="1800"/>
            </a:br>
            <a:br>
              <a:rPr sz="1800"/>
            </a:br>
            <a:br>
              <a:rPr sz="1800"/>
            </a:b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5000"/>
              </a:lnSpc>
              <a:spcBef>
                <a:spcPts val="961"/>
              </a:spcBef>
            </a:pP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100</a:t>
            </a:r>
            <a:r>
              <a:rPr lang="en-US" sz="20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   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           300</a:t>
            </a:r>
            <a:br>
              <a:rPr sz="1800"/>
            </a:br>
            <a:br>
              <a:rPr sz="1800"/>
            </a:br>
            <a:br>
              <a:rPr sz="1800"/>
            </a:b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5000"/>
              </a:lnSpc>
              <a:spcBef>
                <a:spcPts val="961"/>
              </a:spcBef>
            </a:pP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750                 1000  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                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   0250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7" name=""/>
          <p:cNvGrpSpPr/>
          <p:nvPr/>
        </p:nvGrpSpPr>
        <p:grpSpPr>
          <a:xfrm>
            <a:off x="3300480" y="1442880"/>
            <a:ext cx="757080" cy="714240"/>
            <a:chOff x="3300480" y="1442880"/>
            <a:chExt cx="757080" cy="714240"/>
          </a:xfrm>
        </p:grpSpPr>
        <p:sp>
          <p:nvSpPr>
            <p:cNvPr id="108" name=""/>
            <p:cNvSpPr/>
            <p:nvPr/>
          </p:nvSpPr>
          <p:spPr>
            <a:xfrm>
              <a:off x="3300480" y="1442880"/>
              <a:ext cx="757080" cy="71424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"/>
            <p:cNvSpPr/>
            <p:nvPr/>
          </p:nvSpPr>
          <p:spPr>
            <a:xfrm>
              <a:off x="3314880" y="1792440"/>
              <a:ext cx="74268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0" name=""/>
          <p:cNvGrpSpPr/>
          <p:nvPr/>
        </p:nvGrpSpPr>
        <p:grpSpPr>
          <a:xfrm>
            <a:off x="4938840" y="1438200"/>
            <a:ext cx="900000" cy="728640"/>
            <a:chOff x="4938840" y="1438200"/>
            <a:chExt cx="900000" cy="728640"/>
          </a:xfrm>
        </p:grpSpPr>
        <p:sp>
          <p:nvSpPr>
            <p:cNvPr id="111" name=""/>
            <p:cNvSpPr/>
            <p:nvPr/>
          </p:nvSpPr>
          <p:spPr>
            <a:xfrm>
              <a:off x="4938840" y="1438200"/>
              <a:ext cx="900000" cy="72864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" name=""/>
            <p:cNvSpPr/>
            <p:nvPr/>
          </p:nvSpPr>
          <p:spPr>
            <a:xfrm>
              <a:off x="4956120" y="1793880"/>
              <a:ext cx="88272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3" name=""/>
          <p:cNvGrpSpPr/>
          <p:nvPr/>
        </p:nvGrpSpPr>
        <p:grpSpPr>
          <a:xfrm>
            <a:off x="6105600" y="1461960"/>
            <a:ext cx="900000" cy="728640"/>
            <a:chOff x="6105600" y="1461960"/>
            <a:chExt cx="900000" cy="728640"/>
          </a:xfrm>
        </p:grpSpPr>
        <p:sp>
          <p:nvSpPr>
            <p:cNvPr id="114" name=""/>
            <p:cNvSpPr/>
            <p:nvPr/>
          </p:nvSpPr>
          <p:spPr>
            <a:xfrm>
              <a:off x="6105600" y="1461960"/>
              <a:ext cx="900000" cy="72864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"/>
            <p:cNvSpPr/>
            <p:nvPr/>
          </p:nvSpPr>
          <p:spPr>
            <a:xfrm>
              <a:off x="6122880" y="1817640"/>
              <a:ext cx="88272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6" name=""/>
          <p:cNvGrpSpPr/>
          <p:nvPr/>
        </p:nvGrpSpPr>
        <p:grpSpPr>
          <a:xfrm>
            <a:off x="3295800" y="2681280"/>
            <a:ext cx="757080" cy="743040"/>
            <a:chOff x="3295800" y="2681280"/>
            <a:chExt cx="757080" cy="743040"/>
          </a:xfrm>
        </p:grpSpPr>
        <p:sp>
          <p:nvSpPr>
            <p:cNvPr id="117" name=""/>
            <p:cNvSpPr/>
            <p:nvPr/>
          </p:nvSpPr>
          <p:spPr>
            <a:xfrm>
              <a:off x="3295800" y="2681280"/>
              <a:ext cx="757080" cy="74304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"/>
            <p:cNvSpPr/>
            <p:nvPr/>
          </p:nvSpPr>
          <p:spPr>
            <a:xfrm>
              <a:off x="3309840" y="3044880"/>
              <a:ext cx="74304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9" name=""/>
          <p:cNvGrpSpPr/>
          <p:nvPr/>
        </p:nvGrpSpPr>
        <p:grpSpPr>
          <a:xfrm>
            <a:off x="5076720" y="2705040"/>
            <a:ext cx="757440" cy="733320"/>
            <a:chOff x="5076720" y="2705040"/>
            <a:chExt cx="757440" cy="733320"/>
          </a:xfrm>
        </p:grpSpPr>
        <p:sp>
          <p:nvSpPr>
            <p:cNvPr id="120" name=""/>
            <p:cNvSpPr/>
            <p:nvPr/>
          </p:nvSpPr>
          <p:spPr>
            <a:xfrm>
              <a:off x="5076720" y="2705040"/>
              <a:ext cx="757080" cy="73332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"/>
            <p:cNvSpPr/>
            <p:nvPr/>
          </p:nvSpPr>
          <p:spPr>
            <a:xfrm>
              <a:off x="5091120" y="3063960"/>
              <a:ext cx="74304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22" name=""/>
          <p:cNvGrpSpPr/>
          <p:nvPr/>
        </p:nvGrpSpPr>
        <p:grpSpPr>
          <a:xfrm>
            <a:off x="3276720" y="4005360"/>
            <a:ext cx="757080" cy="714240"/>
            <a:chOff x="3276720" y="4005360"/>
            <a:chExt cx="757080" cy="714240"/>
          </a:xfrm>
        </p:grpSpPr>
        <p:sp>
          <p:nvSpPr>
            <p:cNvPr id="123" name=""/>
            <p:cNvSpPr/>
            <p:nvPr/>
          </p:nvSpPr>
          <p:spPr>
            <a:xfrm>
              <a:off x="3276720" y="4005360"/>
              <a:ext cx="757080" cy="71424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" name=""/>
            <p:cNvSpPr/>
            <p:nvPr/>
          </p:nvSpPr>
          <p:spPr>
            <a:xfrm>
              <a:off x="3290760" y="4354560"/>
              <a:ext cx="74304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25" name=""/>
          <p:cNvGrpSpPr/>
          <p:nvPr/>
        </p:nvGrpSpPr>
        <p:grpSpPr>
          <a:xfrm>
            <a:off x="4971960" y="4000680"/>
            <a:ext cx="757440" cy="714240"/>
            <a:chOff x="4971960" y="4000680"/>
            <a:chExt cx="757440" cy="714240"/>
          </a:xfrm>
        </p:grpSpPr>
        <p:sp>
          <p:nvSpPr>
            <p:cNvPr id="126" name=""/>
            <p:cNvSpPr/>
            <p:nvPr/>
          </p:nvSpPr>
          <p:spPr>
            <a:xfrm>
              <a:off x="4971960" y="4000680"/>
              <a:ext cx="757080" cy="71424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" name=""/>
            <p:cNvSpPr/>
            <p:nvPr/>
          </p:nvSpPr>
          <p:spPr>
            <a:xfrm>
              <a:off x="4986360" y="4349880"/>
              <a:ext cx="74304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28" name=""/>
          <p:cNvGrpSpPr/>
          <p:nvPr/>
        </p:nvGrpSpPr>
        <p:grpSpPr>
          <a:xfrm>
            <a:off x="7072200" y="4014720"/>
            <a:ext cx="757440" cy="714240"/>
            <a:chOff x="7072200" y="4014720"/>
            <a:chExt cx="757440" cy="714240"/>
          </a:xfrm>
        </p:grpSpPr>
        <p:sp>
          <p:nvSpPr>
            <p:cNvPr id="129" name=""/>
            <p:cNvSpPr/>
            <p:nvPr/>
          </p:nvSpPr>
          <p:spPr>
            <a:xfrm>
              <a:off x="7072200" y="4014720"/>
              <a:ext cx="757080" cy="71424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" name=""/>
            <p:cNvSpPr/>
            <p:nvPr/>
          </p:nvSpPr>
          <p:spPr>
            <a:xfrm>
              <a:off x="7086600" y="4363920"/>
              <a:ext cx="74304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 txBox="1"/>
          <p:nvPr/>
        </p:nvSpPr>
        <p:spPr>
          <a:xfrm>
            <a:off x="1733400" y="104760"/>
            <a:ext cx="57373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MULTIPLY and DIVIDE Examples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285840" y="781200"/>
            <a:ext cx="8344080" cy="55008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MULTIPLY   Subs BY Members GIVING TotalSubs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                  ON SIZE ERROR DISPLAY "TotalSubs too small"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           END-MULTIPLY.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                               </a:t>
            </a:r>
            <a:r>
              <a:rPr lang="en-US" sz="1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 Subs      Members     TotalSubs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Before</a:t>
            </a:r>
            <a:r>
              <a:rPr lang="en-US" sz="1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                     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15.50         100          0123.45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After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Aft>
                <a:spcPts val="360"/>
              </a:spcAft>
              <a:tabLst>
                <a:tab pos="114300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MULTIPLY 10 BY Magnitude,  Size.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Before</a:t>
            </a:r>
            <a:r>
              <a:rPr lang="en-US" sz="1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                                               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355          125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After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DIVIDE  Total   BY  Members GIVING Average  ROUNDED.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Before</a:t>
            </a:r>
            <a:r>
              <a:rPr lang="en-US" sz="18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            9234.55          100                     1234.56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1"/>
              </a:spcAft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After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2295360" y="2541600"/>
            <a:ext cx="5281560" cy="34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5000"/>
              </a:lnSpc>
              <a:spcBef>
                <a:spcPts val="961"/>
              </a:spcBef>
            </a:pP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        15.50         100   </a:t>
            </a:r>
            <a:r>
              <a:rPr lang="en-US" sz="20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    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1550.00</a:t>
            </a:r>
            <a:br>
              <a:rPr sz="2000"/>
            </a:br>
            <a:br>
              <a:rPr sz="2000"/>
            </a:br>
            <a:br>
              <a:rPr sz="2000"/>
            </a:br>
            <a:br>
              <a:rPr sz="2000"/>
            </a:b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5000"/>
              </a:lnSpc>
              <a:spcBef>
                <a:spcPts val="961"/>
              </a:spcBef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                      3550        1250</a:t>
            </a:r>
            <a:br>
              <a:rPr sz="2000"/>
            </a:br>
            <a:br>
              <a:rPr sz="2000"/>
            </a:br>
            <a:br>
              <a:rPr sz="2000"/>
            </a:br>
            <a:br>
              <a:rPr sz="2000"/>
            </a:b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5000"/>
              </a:lnSpc>
              <a:spcBef>
                <a:spcPts val="961"/>
              </a:spcBef>
            </a:pP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9234.55          100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                       92.35               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4" name=""/>
          <p:cNvGrpSpPr/>
          <p:nvPr/>
        </p:nvGrpSpPr>
        <p:grpSpPr>
          <a:xfrm>
            <a:off x="2957400" y="2138400"/>
            <a:ext cx="757440" cy="757080"/>
            <a:chOff x="2957400" y="2138400"/>
            <a:chExt cx="757440" cy="757080"/>
          </a:xfrm>
        </p:grpSpPr>
        <p:sp>
          <p:nvSpPr>
            <p:cNvPr id="135" name=""/>
            <p:cNvSpPr/>
            <p:nvPr/>
          </p:nvSpPr>
          <p:spPr>
            <a:xfrm>
              <a:off x="2957400" y="2138400"/>
              <a:ext cx="757080" cy="75708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"/>
            <p:cNvSpPr/>
            <p:nvPr/>
          </p:nvSpPr>
          <p:spPr>
            <a:xfrm>
              <a:off x="2971800" y="2508120"/>
              <a:ext cx="74304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37" name=""/>
          <p:cNvGrpSpPr/>
          <p:nvPr/>
        </p:nvGrpSpPr>
        <p:grpSpPr>
          <a:xfrm>
            <a:off x="4114800" y="2138400"/>
            <a:ext cx="771480" cy="757080"/>
            <a:chOff x="4114800" y="2138400"/>
            <a:chExt cx="771480" cy="757080"/>
          </a:xfrm>
        </p:grpSpPr>
        <p:sp>
          <p:nvSpPr>
            <p:cNvPr id="138" name=""/>
            <p:cNvSpPr/>
            <p:nvPr/>
          </p:nvSpPr>
          <p:spPr>
            <a:xfrm>
              <a:off x="4114800" y="2138400"/>
              <a:ext cx="771480" cy="75708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"/>
            <p:cNvSpPr/>
            <p:nvPr/>
          </p:nvSpPr>
          <p:spPr>
            <a:xfrm>
              <a:off x="4129200" y="2508120"/>
              <a:ext cx="75708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40" name=""/>
          <p:cNvGrpSpPr/>
          <p:nvPr/>
        </p:nvGrpSpPr>
        <p:grpSpPr>
          <a:xfrm>
            <a:off x="5300640" y="2138400"/>
            <a:ext cx="1157400" cy="757080"/>
            <a:chOff x="5300640" y="2138400"/>
            <a:chExt cx="1157400" cy="757080"/>
          </a:xfrm>
        </p:grpSpPr>
        <p:sp>
          <p:nvSpPr>
            <p:cNvPr id="141" name=""/>
            <p:cNvSpPr/>
            <p:nvPr/>
          </p:nvSpPr>
          <p:spPr>
            <a:xfrm>
              <a:off x="5300640" y="2138400"/>
              <a:ext cx="1157400" cy="75708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2" name=""/>
            <p:cNvSpPr/>
            <p:nvPr/>
          </p:nvSpPr>
          <p:spPr>
            <a:xfrm>
              <a:off x="5321160" y="2508120"/>
              <a:ext cx="113688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43" name=""/>
          <p:cNvGrpSpPr/>
          <p:nvPr/>
        </p:nvGrpSpPr>
        <p:grpSpPr>
          <a:xfrm>
            <a:off x="3924360" y="3691080"/>
            <a:ext cx="757080" cy="757080"/>
            <a:chOff x="3924360" y="3691080"/>
            <a:chExt cx="757080" cy="757080"/>
          </a:xfrm>
        </p:grpSpPr>
        <p:sp>
          <p:nvSpPr>
            <p:cNvPr id="144" name=""/>
            <p:cNvSpPr/>
            <p:nvPr/>
          </p:nvSpPr>
          <p:spPr>
            <a:xfrm>
              <a:off x="3924360" y="3691080"/>
              <a:ext cx="757080" cy="75708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" name=""/>
            <p:cNvSpPr/>
            <p:nvPr/>
          </p:nvSpPr>
          <p:spPr>
            <a:xfrm>
              <a:off x="3938760" y="4060800"/>
              <a:ext cx="74268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46" name=""/>
          <p:cNvGrpSpPr/>
          <p:nvPr/>
        </p:nvGrpSpPr>
        <p:grpSpPr>
          <a:xfrm>
            <a:off x="5052960" y="3676680"/>
            <a:ext cx="757440" cy="757080"/>
            <a:chOff x="5052960" y="3676680"/>
            <a:chExt cx="757440" cy="757080"/>
          </a:xfrm>
        </p:grpSpPr>
        <p:sp>
          <p:nvSpPr>
            <p:cNvPr id="147" name=""/>
            <p:cNvSpPr/>
            <p:nvPr/>
          </p:nvSpPr>
          <p:spPr>
            <a:xfrm>
              <a:off x="5052960" y="3676680"/>
              <a:ext cx="757080" cy="75708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" name=""/>
            <p:cNvSpPr/>
            <p:nvPr/>
          </p:nvSpPr>
          <p:spPr>
            <a:xfrm>
              <a:off x="5067360" y="4046400"/>
              <a:ext cx="74304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49" name=""/>
          <p:cNvGrpSpPr/>
          <p:nvPr/>
        </p:nvGrpSpPr>
        <p:grpSpPr>
          <a:xfrm>
            <a:off x="2324160" y="5281560"/>
            <a:ext cx="1157400" cy="757080"/>
            <a:chOff x="2324160" y="5281560"/>
            <a:chExt cx="1157400" cy="757080"/>
          </a:xfrm>
        </p:grpSpPr>
        <p:sp>
          <p:nvSpPr>
            <p:cNvPr id="150" name=""/>
            <p:cNvSpPr/>
            <p:nvPr/>
          </p:nvSpPr>
          <p:spPr>
            <a:xfrm>
              <a:off x="2324160" y="5281560"/>
              <a:ext cx="1157400" cy="75708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"/>
            <p:cNvSpPr/>
            <p:nvPr/>
          </p:nvSpPr>
          <p:spPr>
            <a:xfrm>
              <a:off x="2344680" y="5651640"/>
              <a:ext cx="113688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52" name=""/>
          <p:cNvGrpSpPr/>
          <p:nvPr/>
        </p:nvGrpSpPr>
        <p:grpSpPr>
          <a:xfrm>
            <a:off x="3895560" y="5281560"/>
            <a:ext cx="700200" cy="757080"/>
            <a:chOff x="3895560" y="5281560"/>
            <a:chExt cx="700200" cy="757080"/>
          </a:xfrm>
        </p:grpSpPr>
        <p:sp>
          <p:nvSpPr>
            <p:cNvPr id="153" name=""/>
            <p:cNvSpPr/>
            <p:nvPr/>
          </p:nvSpPr>
          <p:spPr>
            <a:xfrm>
              <a:off x="3895560" y="5281560"/>
              <a:ext cx="700200" cy="75708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" name=""/>
            <p:cNvSpPr/>
            <p:nvPr/>
          </p:nvSpPr>
          <p:spPr>
            <a:xfrm>
              <a:off x="3908520" y="5651640"/>
              <a:ext cx="68724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55" name=""/>
          <p:cNvGrpSpPr/>
          <p:nvPr/>
        </p:nvGrpSpPr>
        <p:grpSpPr>
          <a:xfrm>
            <a:off x="5881680" y="5295960"/>
            <a:ext cx="1085760" cy="743040"/>
            <a:chOff x="5881680" y="5295960"/>
            <a:chExt cx="1085760" cy="743040"/>
          </a:xfrm>
        </p:grpSpPr>
        <p:sp>
          <p:nvSpPr>
            <p:cNvPr id="156" name=""/>
            <p:cNvSpPr/>
            <p:nvPr/>
          </p:nvSpPr>
          <p:spPr>
            <a:xfrm>
              <a:off x="5881680" y="5295960"/>
              <a:ext cx="1085760" cy="74304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"/>
            <p:cNvSpPr/>
            <p:nvPr/>
          </p:nvSpPr>
          <p:spPr>
            <a:xfrm>
              <a:off x="5900760" y="5659560"/>
              <a:ext cx="106668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"/>
          <p:cNvSpPr txBox="1"/>
          <p:nvPr/>
        </p:nvSpPr>
        <p:spPr>
          <a:xfrm>
            <a:off x="2590920" y="162000"/>
            <a:ext cx="37800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The Divide Exception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"/>
          <p:cNvPicPr/>
          <p:nvPr/>
        </p:nvPicPr>
        <p:blipFill>
          <a:blip r:embed="rId1"/>
          <a:stretch/>
        </p:blipFill>
        <p:spPr>
          <a:xfrm>
            <a:off x="290520" y="1044720"/>
            <a:ext cx="8526600" cy="273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"/>
          <p:cNvSpPr txBox="1"/>
          <p:nvPr/>
        </p:nvSpPr>
        <p:spPr>
          <a:xfrm>
            <a:off x="309600" y="4619520"/>
            <a:ext cx="8400960" cy="1171440"/>
          </a:xfrm>
          <a:prstGeom prst="rect">
            <a:avLst/>
          </a:prstGeom>
          <a:solidFill>
            <a:srgbClr val="DADADA"/>
          </a:solidFill>
          <a:ln w="2556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DIVIDE 201 BY 10 GIVING Quotient  REMAINDER Remain.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Before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                                                209                                424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After</a:t>
            </a:r>
            <a:r>
              <a:rPr lang="en-US" sz="1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>
              <a:lnSpc>
                <a:spcPct val="100000"/>
              </a:lnSpc>
              <a:tabLst>
                <a:tab pos="76212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933800" y="5286240"/>
            <a:ext cx="3438360" cy="38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  <a:spcBef>
                <a:spcPts val="720"/>
              </a:spcBef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020                                001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2" name=""/>
          <p:cNvGrpSpPr/>
          <p:nvPr/>
        </p:nvGrpSpPr>
        <p:grpSpPr>
          <a:xfrm>
            <a:off x="7581960" y="4976640"/>
            <a:ext cx="700200" cy="628560"/>
            <a:chOff x="7581960" y="4976640"/>
            <a:chExt cx="700200" cy="628560"/>
          </a:xfrm>
        </p:grpSpPr>
        <p:sp>
          <p:nvSpPr>
            <p:cNvPr id="163" name=""/>
            <p:cNvSpPr/>
            <p:nvPr/>
          </p:nvSpPr>
          <p:spPr>
            <a:xfrm>
              <a:off x="7581960" y="4976640"/>
              <a:ext cx="700200" cy="62856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4" name=""/>
            <p:cNvSpPr/>
            <p:nvPr/>
          </p:nvSpPr>
          <p:spPr>
            <a:xfrm>
              <a:off x="7594560" y="5283360"/>
              <a:ext cx="68760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5" name=""/>
          <p:cNvGrpSpPr/>
          <p:nvPr/>
        </p:nvGrpSpPr>
        <p:grpSpPr>
          <a:xfrm>
            <a:off x="4862520" y="4971960"/>
            <a:ext cx="728640" cy="628560"/>
            <a:chOff x="4862520" y="4971960"/>
            <a:chExt cx="728640" cy="628560"/>
          </a:xfrm>
        </p:grpSpPr>
        <p:sp>
          <p:nvSpPr>
            <p:cNvPr id="166" name=""/>
            <p:cNvSpPr/>
            <p:nvPr/>
          </p:nvSpPr>
          <p:spPr>
            <a:xfrm>
              <a:off x="4862520" y="4971960"/>
              <a:ext cx="728640" cy="62856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7" name=""/>
            <p:cNvSpPr/>
            <p:nvPr/>
          </p:nvSpPr>
          <p:spPr>
            <a:xfrm>
              <a:off x="4876920" y="5280120"/>
              <a:ext cx="71424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"/>
          <p:cNvSpPr txBox="1"/>
          <p:nvPr/>
        </p:nvSpPr>
        <p:spPr>
          <a:xfrm>
            <a:off x="890640" y="5148360"/>
            <a:ext cx="7229520" cy="1143000"/>
          </a:xfrm>
          <a:prstGeom prst="rect">
            <a:avLst/>
          </a:prstGeom>
          <a:solidFill>
            <a:srgbClr val="DADADA"/>
          </a:solidFill>
          <a:ln w="2556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Compute IrishPrice = SterlingPrice / Rate  *  100.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Before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                 1000.50            156.25          87      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After</a:t>
            </a:r>
            <a:r>
              <a:rPr lang="en-US" sz="1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 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>
              <a:lnSpc>
                <a:spcPct val="100000"/>
              </a:lnSpc>
              <a:tabLst>
                <a:tab pos="76212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3390840" y="5824440"/>
            <a:ext cx="3909960" cy="366840"/>
          </a:xfrm>
          <a:prstGeom prst="rect">
            <a:avLst/>
          </a:prstGeom>
          <a:solidFill>
            <a:srgbClr val="DADADA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  <a:spcBef>
                <a:spcPts val="720"/>
              </a:spcBef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179.59 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        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156.25          87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0" name=""/>
          <p:cNvGrpSpPr/>
          <p:nvPr/>
        </p:nvGrpSpPr>
        <p:grpSpPr>
          <a:xfrm>
            <a:off x="3362400" y="5505480"/>
            <a:ext cx="1128600" cy="642960"/>
            <a:chOff x="3362400" y="5505480"/>
            <a:chExt cx="1128600" cy="642960"/>
          </a:xfrm>
        </p:grpSpPr>
        <p:sp>
          <p:nvSpPr>
            <p:cNvPr id="171" name=""/>
            <p:cNvSpPr/>
            <p:nvPr/>
          </p:nvSpPr>
          <p:spPr>
            <a:xfrm>
              <a:off x="3362400" y="5505480"/>
              <a:ext cx="1128600" cy="64296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" name=""/>
            <p:cNvSpPr/>
            <p:nvPr/>
          </p:nvSpPr>
          <p:spPr>
            <a:xfrm>
              <a:off x="3384720" y="5819760"/>
              <a:ext cx="110628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73" name=""/>
          <p:cNvGrpSpPr/>
          <p:nvPr/>
        </p:nvGrpSpPr>
        <p:grpSpPr>
          <a:xfrm>
            <a:off x="5043600" y="5500800"/>
            <a:ext cx="1042920" cy="628560"/>
            <a:chOff x="5043600" y="5500800"/>
            <a:chExt cx="1042920" cy="628560"/>
          </a:xfrm>
        </p:grpSpPr>
        <p:sp>
          <p:nvSpPr>
            <p:cNvPr id="174" name=""/>
            <p:cNvSpPr/>
            <p:nvPr/>
          </p:nvSpPr>
          <p:spPr>
            <a:xfrm>
              <a:off x="5043600" y="5500800"/>
              <a:ext cx="1042920" cy="62856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"/>
            <p:cNvSpPr/>
            <p:nvPr/>
          </p:nvSpPr>
          <p:spPr>
            <a:xfrm>
              <a:off x="5064120" y="5807160"/>
              <a:ext cx="102240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76" name=""/>
          <p:cNvGrpSpPr/>
          <p:nvPr/>
        </p:nvGrpSpPr>
        <p:grpSpPr>
          <a:xfrm>
            <a:off x="6410160" y="5524560"/>
            <a:ext cx="814680" cy="614520"/>
            <a:chOff x="6410160" y="5524560"/>
            <a:chExt cx="814680" cy="614520"/>
          </a:xfrm>
        </p:grpSpPr>
        <p:sp>
          <p:nvSpPr>
            <p:cNvPr id="177" name=""/>
            <p:cNvSpPr/>
            <p:nvPr/>
          </p:nvSpPr>
          <p:spPr>
            <a:xfrm>
              <a:off x="6410160" y="5524560"/>
              <a:ext cx="814320" cy="61452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8" name=""/>
            <p:cNvSpPr/>
            <p:nvPr/>
          </p:nvSpPr>
          <p:spPr>
            <a:xfrm>
              <a:off x="6426360" y="5824440"/>
              <a:ext cx="798480" cy="0"/>
            </a:xfrm>
            <a:prstGeom prst="line">
              <a:avLst/>
            </a:prstGeom>
            <a:ln w="255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9" name=""/>
          <p:cNvSpPr txBox="1"/>
          <p:nvPr/>
        </p:nvSpPr>
        <p:spPr>
          <a:xfrm>
            <a:off x="2590920" y="162000"/>
            <a:ext cx="26924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The COMPUTE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0" name=""/>
          <p:cNvPicPr/>
          <p:nvPr/>
        </p:nvPicPr>
        <p:blipFill>
          <a:blip r:embed="rId1"/>
          <a:stretch/>
        </p:blipFill>
        <p:spPr>
          <a:xfrm>
            <a:off x="687240" y="825480"/>
            <a:ext cx="7580160" cy="110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"/>
          <p:cNvSpPr txBox="1"/>
          <p:nvPr/>
        </p:nvSpPr>
        <p:spPr>
          <a:xfrm>
            <a:off x="2384280" y="2238480"/>
            <a:ext cx="4206960" cy="2455920"/>
          </a:xfrm>
          <a:prstGeom prst="rect">
            <a:avLst/>
          </a:prstGeom>
          <a:solidFill>
            <a:srgbClr val="DADADA"/>
          </a:solidFill>
          <a:ln w="2556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Aft>
                <a:spcPts val="839"/>
              </a:spcAft>
              <a:tabLst>
                <a:tab pos="571680" algn="l"/>
                <a:tab pos="1047600" algn="l"/>
                <a:tab pos="1523880" algn="l"/>
                <a:tab pos="3429000" algn="l"/>
              </a:tabLst>
            </a:pPr>
            <a:r>
              <a:rPr lang="en-US" sz="28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   Precedence Rules.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839"/>
              </a:spcAft>
              <a:tabLst>
                <a:tab pos="571680" algn="l"/>
                <a:tab pos="1047600" algn="l"/>
                <a:tab pos="1523880" algn="l"/>
                <a:tab pos="3429000" algn="l"/>
              </a:tabLst>
            </a:pP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**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=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POWER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</a:t>
            </a:r>
            <a:r>
              <a:rPr lang="en-US" sz="2000" b="1" u="none" strike="noStrike" baseline="3000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839"/>
              </a:spcAft>
              <a:tabLst>
                <a:tab pos="571680" algn="l"/>
                <a:tab pos="1047600" algn="l"/>
                <a:tab pos="1523880" algn="l"/>
                <a:tab pos="3429000" algn="l"/>
              </a:tabLst>
            </a:pP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*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=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MULTIPLY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x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/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=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DIVIDE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÷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839"/>
              </a:spcAft>
              <a:tabLst>
                <a:tab pos="571680" algn="l"/>
                <a:tab pos="1047600" algn="l"/>
                <a:tab pos="1523880" algn="l"/>
                <a:tab pos="3429000" algn="l"/>
              </a:tabLst>
            </a:pPr>
            <a:r>
              <a:rPr lang="en-US" sz="2000" b="1" u="none" strike="noStrike">
                <a:solidFill>
                  <a:srgbClr val="919191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+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=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ADD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+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-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=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SUBTRACT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 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 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"/>
          <p:cNvSpPr txBox="1"/>
          <p:nvPr/>
        </p:nvSpPr>
        <p:spPr>
          <a:xfrm>
            <a:off x="2819520" y="133200"/>
            <a:ext cx="28717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Edited Pictures.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209520" y="781200"/>
            <a:ext cx="8572680" cy="541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  <a:spcBef>
                <a:spcPts val="1199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Edited Pictures are PICTURE clauses which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format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data intended for output to screen or printer.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199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To enable the data items to be formatted in a particular style COBOL provides additional picture symbols supplementing the basic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9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X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A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V</a:t>
            </a:r>
            <a:r>
              <a:rPr lang="en-US" sz="24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and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S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symbols.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199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additional symbols are referred to as “Edit Symbols” and PICTURE clauses which include edit symbols are called “Edited Pictures”.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199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term edit is used because the edit symbols have the effect of changing, or editing, the data inserted into the edited item.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199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Edited items can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not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be used as operands in a computation but they may be used as the result or destination of a computation (i.e. to the right of the word GIVING).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"/>
          <p:cNvSpPr txBox="1"/>
          <p:nvPr/>
        </p:nvSpPr>
        <p:spPr>
          <a:xfrm>
            <a:off x="2819520" y="133200"/>
            <a:ext cx="25160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Editing Types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380880" y="838080"/>
            <a:ext cx="8153280" cy="541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  <a:spcBef>
                <a:spcPts val="720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380880" algn="l"/>
                <a:tab pos="762120" algn="l"/>
                <a:tab pos="1143000" algn="l"/>
                <a:tab pos="152388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COBOL provides two basic types of editing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  <a:tabLst>
                <a:tab pos="380880" algn="l"/>
                <a:tab pos="762120" algn="l"/>
                <a:tab pos="1143000" algn="l"/>
                <a:tab pos="152388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Wingdings"/>
                <a:ea typeface="Wingdings"/>
              </a:rPr>
              <a:t>❶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Insertion Editing -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which modifies a value by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including additional items.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  <a:tabLst>
                <a:tab pos="380880" algn="l"/>
                <a:tab pos="762120" algn="l"/>
                <a:tab pos="1143000" algn="l"/>
                <a:tab pos="152388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Wingdings"/>
                <a:ea typeface="Wingdings"/>
              </a:rPr>
              <a:t>❷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Suppression and Replacement Editing -</a:t>
            </a:r>
            <a:br>
              <a:rPr sz="24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which suppresses and replaces leading zeros.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380880" algn="l"/>
                <a:tab pos="762120" algn="l"/>
                <a:tab pos="1143000" algn="l"/>
                <a:tab pos="152388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Each type has sub-categories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  <a:tabLst>
                <a:tab pos="380880" algn="l"/>
                <a:tab pos="762120" algn="l"/>
                <a:tab pos="1143000" algn="l"/>
                <a:tab pos="152388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Wingdings"/>
                <a:ea typeface="Wingdings"/>
              </a:rPr>
              <a:t>●</a:t>
            </a: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Wingdings"/>
                <a:ea typeface="Wingdings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Insertion editing</a:t>
            </a:r>
            <a:br>
              <a:rPr sz="18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Wingdings"/>
                <a:ea typeface="Wingdings"/>
              </a:rPr>
              <a:t>✹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Wingdings"/>
                <a:ea typeface="Wingdings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Simple Insertion</a:t>
            </a:r>
            <a:br>
              <a:rPr sz="2000"/>
            </a:b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Wingdings"/>
                <a:ea typeface="Wingdings"/>
              </a:rPr>
              <a:t>✹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Wingdings"/>
                <a:ea typeface="Wingdings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Special Insertion</a:t>
            </a:r>
            <a:br>
              <a:rPr sz="18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Wingdings"/>
                <a:ea typeface="Wingdings"/>
              </a:rPr>
              <a:t>✹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Wingdings"/>
                <a:ea typeface="Wingdings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Fixed Insertion</a:t>
            </a:r>
            <a:br>
              <a:rPr sz="18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Wingdings"/>
                <a:ea typeface="Wingdings"/>
              </a:rPr>
              <a:t>✹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Wingdings"/>
                <a:ea typeface="Wingdings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Floating Insertion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720"/>
              </a:spcBef>
              <a:tabLst>
                <a:tab pos="380880" algn="l"/>
                <a:tab pos="762120" algn="l"/>
                <a:tab pos="1143000" algn="l"/>
                <a:tab pos="152388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800" b="1" u="none" strike="noStrike">
                <a:solidFill>
                  <a:srgbClr val="00FF00"/>
                </a:solidFill>
                <a:effectLst/>
                <a:uFillTx/>
                <a:latin typeface="Wingdings"/>
                <a:ea typeface="Wingdings"/>
              </a:rPr>
              <a:t>●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Suppression and Replacement</a:t>
            </a:r>
            <a:br>
              <a:rPr sz="24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Wingdings"/>
                <a:ea typeface="Wingdings"/>
              </a:rPr>
              <a:t>✹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Wingdings"/>
                <a:ea typeface="Wingdings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Zero suppression and replacement with spaces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Wingdings"/>
                <a:ea typeface="Wingdings"/>
              </a:rPr>
              <a:t>✹</a:t>
            </a:r>
            <a:r>
              <a:rPr lang="en-US" sz="1600" b="1" u="none" strike="noStrike">
                <a:solidFill>
                  <a:srgbClr val="FAFD00"/>
                </a:solidFill>
                <a:effectLst/>
                <a:uFillTx/>
                <a:latin typeface="Wingdings"/>
                <a:ea typeface="Wingdings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Zero suppression and replacement with asterisks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"/>
          <p:cNvSpPr txBox="1"/>
          <p:nvPr/>
        </p:nvSpPr>
        <p:spPr>
          <a:xfrm>
            <a:off x="2819520" y="133200"/>
            <a:ext cx="29703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Editing Symbols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46000" y="2389320"/>
            <a:ext cx="7059600" cy="2338560"/>
          </a:xfrm>
          <a:prstGeom prst="rect">
            <a:avLst/>
          </a:prstGeom>
          <a:solidFill>
            <a:srgbClr val="DADADA"/>
          </a:solidFill>
          <a:ln w="2556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2286000" algn="l"/>
              </a:tabLst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,  B  0   /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 Insertion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228600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Special Insertion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2286000" algn="l"/>
              </a:tabLst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+ - CR DB $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Fixed Insertion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2286000" algn="l"/>
              </a:tabLst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+ - S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Floating Insertion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2286000" algn="l"/>
              </a:tabLst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Z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*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Suppression and Replacement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839880" y="1876320"/>
            <a:ext cx="4735440" cy="507960"/>
          </a:xfrm>
          <a:prstGeom prst="rect">
            <a:avLst/>
          </a:prstGeom>
          <a:solidFill>
            <a:srgbClr val="DADADA"/>
          </a:solidFill>
          <a:ln w="2556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Edit Symbol        Editing Type</a:t>
            </a:r>
            <a:r>
              <a:rPr lang="en-US" sz="2400" b="1" u="none" strike="noStrike">
                <a:solidFill>
                  <a:srgbClr val="676767"/>
                </a:solidFill>
                <a:effectLst/>
                <a:uFillTx/>
                <a:latin typeface="Arial"/>
                <a:ea typeface="Arial"/>
              </a:rPr>
              <a:t>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3057480" y="1905120"/>
            <a:ext cx="0" cy="280980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 txBox="1"/>
          <p:nvPr/>
        </p:nvSpPr>
        <p:spPr>
          <a:xfrm>
            <a:off x="2819520" y="133200"/>
            <a:ext cx="30495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Simple Insertion.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476280" y="1004760"/>
            <a:ext cx="7743960" cy="494820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            Sending 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           Receiving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   Picture        Data           Picture                Result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999999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123456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999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,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999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9(6)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000078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9(3)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,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9(3)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9(6)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000078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ZZZ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,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ZZZ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9(6)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000178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***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,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***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9(6)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002178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***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,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***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9(6)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120183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99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B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99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B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9(6)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120183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99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/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99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/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9(6)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001245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99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00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6267600" y="1836720"/>
            <a:ext cx="1990800" cy="396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123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,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456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000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,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078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78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****178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**2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,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178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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01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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83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/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01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/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83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00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45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504720" y="1476360"/>
            <a:ext cx="7715520" cy="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/>
          <p:nvPr/>
        </p:nvSpPr>
        <p:spPr>
          <a:xfrm>
            <a:off x="2324160" y="1467000"/>
            <a:ext cx="0" cy="445752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495360" y="1886040"/>
            <a:ext cx="7705800" cy="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3724200" y="1009800"/>
            <a:ext cx="0" cy="492444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6224760" y="1481040"/>
            <a:ext cx="0" cy="445788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"/>
          <p:cNvSpPr txBox="1"/>
          <p:nvPr/>
        </p:nvSpPr>
        <p:spPr>
          <a:xfrm>
            <a:off x="2819520" y="133200"/>
            <a:ext cx="31291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Special Insertion.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566640" y="1609560"/>
            <a:ext cx="7763040" cy="38336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            Sending 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           Receiving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   Picture        Data           Picture                Result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160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999V99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12345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999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160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999V99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0234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5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999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160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999V99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5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99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160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999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456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999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>
            <a:off x="2414520" y="2071800"/>
            <a:ext cx="0" cy="335268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3814920" y="1614600"/>
            <a:ext cx="0" cy="380988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>
            <a:off x="6315120" y="2085840"/>
            <a:ext cx="0" cy="334332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6357960" y="2441520"/>
            <a:ext cx="1876320" cy="262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5000"/>
              </a:lnSpc>
              <a:spcAft>
                <a:spcPts val="1681"/>
              </a:spcAf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123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.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45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5000"/>
              </a:lnSpc>
              <a:spcAft>
                <a:spcPts val="1681"/>
              </a:spcAf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023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.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4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5000"/>
              </a:lnSpc>
              <a:spcAft>
                <a:spcPts val="1681"/>
              </a:spcAf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.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34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5000"/>
              </a:lnSpc>
              <a:spcAft>
                <a:spcPts val="1681"/>
              </a:spcAf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456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.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00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/>
          <p:nvPr/>
        </p:nvSpPr>
        <p:spPr>
          <a:xfrm>
            <a:off x="595440" y="2081160"/>
            <a:ext cx="7715160" cy="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585720" y="2490840"/>
            <a:ext cx="7724880" cy="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6" name=""/>
          <p:cNvGrpSpPr/>
          <p:nvPr/>
        </p:nvGrpSpPr>
        <p:grpSpPr>
          <a:xfrm>
            <a:off x="3009960" y="2847960"/>
            <a:ext cx="200520" cy="306360"/>
            <a:chOff x="3009960" y="2847960"/>
            <a:chExt cx="200520" cy="306360"/>
          </a:xfrm>
        </p:grpSpPr>
        <p:sp>
          <p:nvSpPr>
            <p:cNvPr id="207" name=""/>
            <p:cNvSpPr/>
            <p:nvPr/>
          </p:nvSpPr>
          <p:spPr>
            <a:xfrm>
              <a:off x="3071880" y="3079800"/>
              <a:ext cx="76320" cy="74520"/>
            </a:xfrm>
            <a:prstGeom prst="ellipse">
              <a:avLst/>
            </a:prstGeom>
            <a:solidFill>
              <a:srgbClr val="FC0128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23400" rIns="96120" bIns="234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8" name=""/>
            <p:cNvSpPr/>
            <p:nvPr/>
          </p:nvSpPr>
          <p:spPr>
            <a:xfrm>
              <a:off x="3009960" y="2847960"/>
              <a:ext cx="200520" cy="200520"/>
            </a:xfrm>
            <a:custGeom>
              <a:avLst/>
              <a:gdLst/>
              <a:ahLst/>
              <a:rect l="0" t="0" r="r" b="b"/>
              <a:pathLst>
                <a:path w="557" h="557">
                  <a:moveTo>
                    <a:pt x="0" y="186"/>
                  </a:moveTo>
                  <a:lnTo>
                    <a:pt x="0" y="371"/>
                  </a:lnTo>
                  <a:lnTo>
                    <a:pt x="389" y="371"/>
                  </a:lnTo>
                  <a:lnTo>
                    <a:pt x="389" y="557"/>
                  </a:lnTo>
                  <a:lnTo>
                    <a:pt x="557" y="278"/>
                  </a:lnTo>
                  <a:lnTo>
                    <a:pt x="389" y="0"/>
                  </a:lnTo>
                  <a:lnTo>
                    <a:pt x="389" y="186"/>
                  </a:lnTo>
                  <a:lnTo>
                    <a:pt x="0" y="186"/>
                  </a:lnTo>
                  <a:close/>
                </a:path>
              </a:pathLst>
            </a:custGeom>
            <a:solidFill>
              <a:srgbClr val="919191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09" name=""/>
          <p:cNvGrpSpPr/>
          <p:nvPr/>
        </p:nvGrpSpPr>
        <p:grpSpPr>
          <a:xfrm>
            <a:off x="3009960" y="3533760"/>
            <a:ext cx="200520" cy="306360"/>
            <a:chOff x="3009960" y="3533760"/>
            <a:chExt cx="200520" cy="306360"/>
          </a:xfrm>
        </p:grpSpPr>
        <p:sp>
          <p:nvSpPr>
            <p:cNvPr id="210" name=""/>
            <p:cNvSpPr/>
            <p:nvPr/>
          </p:nvSpPr>
          <p:spPr>
            <a:xfrm>
              <a:off x="3071880" y="3765600"/>
              <a:ext cx="76320" cy="74520"/>
            </a:xfrm>
            <a:prstGeom prst="ellipse">
              <a:avLst/>
            </a:prstGeom>
            <a:solidFill>
              <a:srgbClr val="FC0128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23400" rIns="96120" bIns="234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1" name=""/>
            <p:cNvSpPr/>
            <p:nvPr/>
          </p:nvSpPr>
          <p:spPr>
            <a:xfrm>
              <a:off x="3009960" y="3533760"/>
              <a:ext cx="200520" cy="200160"/>
            </a:xfrm>
            <a:custGeom>
              <a:avLst/>
              <a:gdLst/>
              <a:ahLst/>
              <a:rect l="0" t="0" r="r" b="b"/>
              <a:pathLst>
                <a:path w="557" h="556">
                  <a:moveTo>
                    <a:pt x="0" y="185"/>
                  </a:moveTo>
                  <a:lnTo>
                    <a:pt x="0" y="371"/>
                  </a:lnTo>
                  <a:lnTo>
                    <a:pt x="389" y="371"/>
                  </a:lnTo>
                  <a:lnTo>
                    <a:pt x="389" y="556"/>
                  </a:lnTo>
                  <a:lnTo>
                    <a:pt x="557" y="277"/>
                  </a:lnTo>
                  <a:lnTo>
                    <a:pt x="389" y="0"/>
                  </a:lnTo>
                  <a:lnTo>
                    <a:pt x="389" y="185"/>
                  </a:lnTo>
                  <a:lnTo>
                    <a:pt x="0" y="185"/>
                  </a:lnTo>
                  <a:close/>
                </a:path>
              </a:pathLst>
            </a:custGeom>
            <a:solidFill>
              <a:srgbClr val="919191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12" name=""/>
          <p:cNvGrpSpPr/>
          <p:nvPr/>
        </p:nvGrpSpPr>
        <p:grpSpPr>
          <a:xfrm>
            <a:off x="3009960" y="4233960"/>
            <a:ext cx="200520" cy="306360"/>
            <a:chOff x="3009960" y="4233960"/>
            <a:chExt cx="200520" cy="306360"/>
          </a:xfrm>
        </p:grpSpPr>
        <p:sp>
          <p:nvSpPr>
            <p:cNvPr id="213" name=""/>
            <p:cNvSpPr/>
            <p:nvPr/>
          </p:nvSpPr>
          <p:spPr>
            <a:xfrm>
              <a:off x="3071880" y="4465800"/>
              <a:ext cx="76320" cy="74520"/>
            </a:xfrm>
            <a:prstGeom prst="ellipse">
              <a:avLst/>
            </a:prstGeom>
            <a:solidFill>
              <a:srgbClr val="FC0128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23400" rIns="96120" bIns="234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4" name=""/>
            <p:cNvSpPr/>
            <p:nvPr/>
          </p:nvSpPr>
          <p:spPr>
            <a:xfrm>
              <a:off x="3009960" y="4233960"/>
              <a:ext cx="200520" cy="200520"/>
            </a:xfrm>
            <a:custGeom>
              <a:avLst/>
              <a:gdLst/>
              <a:ahLst/>
              <a:rect l="0" t="0" r="r" b="b"/>
              <a:pathLst>
                <a:path w="557" h="557">
                  <a:moveTo>
                    <a:pt x="0" y="186"/>
                  </a:moveTo>
                  <a:lnTo>
                    <a:pt x="0" y="371"/>
                  </a:lnTo>
                  <a:lnTo>
                    <a:pt x="389" y="371"/>
                  </a:lnTo>
                  <a:lnTo>
                    <a:pt x="389" y="557"/>
                  </a:lnTo>
                  <a:lnTo>
                    <a:pt x="557" y="278"/>
                  </a:lnTo>
                  <a:lnTo>
                    <a:pt x="389" y="0"/>
                  </a:lnTo>
                  <a:lnTo>
                    <a:pt x="389" y="186"/>
                  </a:lnTo>
                  <a:lnTo>
                    <a:pt x="0" y="186"/>
                  </a:lnTo>
                  <a:close/>
                </a:path>
              </a:pathLst>
            </a:custGeom>
            <a:solidFill>
              <a:srgbClr val="919191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15" name=""/>
          <p:cNvGrpSpPr/>
          <p:nvPr/>
        </p:nvGrpSpPr>
        <p:grpSpPr>
          <a:xfrm>
            <a:off x="3009960" y="4933800"/>
            <a:ext cx="200520" cy="306360"/>
            <a:chOff x="3009960" y="4933800"/>
            <a:chExt cx="200520" cy="306360"/>
          </a:xfrm>
        </p:grpSpPr>
        <p:sp>
          <p:nvSpPr>
            <p:cNvPr id="216" name=""/>
            <p:cNvSpPr/>
            <p:nvPr/>
          </p:nvSpPr>
          <p:spPr>
            <a:xfrm>
              <a:off x="3071880" y="5165640"/>
              <a:ext cx="76320" cy="74520"/>
            </a:xfrm>
            <a:prstGeom prst="ellipse">
              <a:avLst/>
            </a:prstGeom>
            <a:solidFill>
              <a:srgbClr val="FC0128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23400" rIns="96120" bIns="234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7" name=""/>
            <p:cNvSpPr/>
            <p:nvPr/>
          </p:nvSpPr>
          <p:spPr>
            <a:xfrm>
              <a:off x="3009960" y="4933800"/>
              <a:ext cx="200520" cy="200520"/>
            </a:xfrm>
            <a:custGeom>
              <a:avLst/>
              <a:gdLst/>
              <a:ahLst/>
              <a:rect l="0" t="0" r="r" b="b"/>
              <a:pathLst>
                <a:path w="557" h="557">
                  <a:moveTo>
                    <a:pt x="0" y="186"/>
                  </a:moveTo>
                  <a:lnTo>
                    <a:pt x="0" y="371"/>
                  </a:lnTo>
                  <a:lnTo>
                    <a:pt x="389" y="371"/>
                  </a:lnTo>
                  <a:lnTo>
                    <a:pt x="389" y="557"/>
                  </a:lnTo>
                  <a:lnTo>
                    <a:pt x="557" y="278"/>
                  </a:lnTo>
                  <a:lnTo>
                    <a:pt x="389" y="0"/>
                  </a:lnTo>
                  <a:lnTo>
                    <a:pt x="389" y="186"/>
                  </a:lnTo>
                  <a:lnTo>
                    <a:pt x="0" y="186"/>
                  </a:lnTo>
                  <a:close/>
                </a:path>
              </a:pathLst>
            </a:custGeom>
            <a:solidFill>
              <a:srgbClr val="919191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"/>
          <p:cNvSpPr txBox="1"/>
          <p:nvPr/>
        </p:nvSpPr>
        <p:spPr>
          <a:xfrm>
            <a:off x="1366920" y="181080"/>
            <a:ext cx="57355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Fixed Insertion - Plus and Minus.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666720" y="1281240"/>
            <a:ext cx="7477200" cy="41101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            Sending 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           Receiving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   Picture        Data           Picture                Result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S999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-123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-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999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S999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-123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 999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-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S999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+123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-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999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S9(5)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+12345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+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9(5)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S9(3)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-123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+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9(3)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S9(3)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-123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999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+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6458040" y="2112840"/>
            <a:ext cx="1647720" cy="3224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-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123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123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-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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123</a:t>
            </a:r>
            <a:br>
              <a:rPr sz="1800"/>
            </a:b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+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12345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-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123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123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-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695160" y="1752480"/>
            <a:ext cx="7439040" cy="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2514600" y="1743120"/>
            <a:ext cx="0" cy="361944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685800" y="2162160"/>
            <a:ext cx="7448400" cy="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/>
          <p:nvPr/>
        </p:nvSpPr>
        <p:spPr>
          <a:xfrm>
            <a:off x="3914640" y="1285920"/>
            <a:ext cx="0" cy="410508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6205680" y="1738440"/>
            <a:ext cx="0" cy="362880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"/>
          <p:cNvSpPr txBox="1"/>
          <p:nvPr/>
        </p:nvSpPr>
        <p:spPr>
          <a:xfrm>
            <a:off x="1628640" y="190440"/>
            <a:ext cx="55389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Fixed Insertion - Credit, Debit, $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95440" y="1328760"/>
            <a:ext cx="7743960" cy="40910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676767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          Sending 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           Receiving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   Picture        Data           Picture                Result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S9(4)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+1234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9(4)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CR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S9(4)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-1234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9(4)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CR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S9(4)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+1234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9(4)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DB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S9(4)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-1234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9(4)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DB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9(4)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$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99999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9(4)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0000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$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ZZZZZ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6386400" y="2160720"/>
            <a:ext cx="1847880" cy="3195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1234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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1234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CR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1223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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1234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DB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$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01234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$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623880" y="1800360"/>
            <a:ext cx="7715160" cy="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"/>
          <p:cNvSpPr/>
          <p:nvPr/>
        </p:nvSpPr>
        <p:spPr>
          <a:xfrm>
            <a:off x="2443320" y="1790640"/>
            <a:ext cx="0" cy="361476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614520" y="2209680"/>
            <a:ext cx="7705440" cy="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3843360" y="1333440"/>
            <a:ext cx="0" cy="409572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6172200" y="1790640"/>
            <a:ext cx="0" cy="362916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"/>
          <p:cNvSpPr txBox="1"/>
          <p:nvPr/>
        </p:nvSpPr>
        <p:spPr>
          <a:xfrm>
            <a:off x="2647800" y="133200"/>
            <a:ext cx="32655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Floating Insertion.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38120" y="1257480"/>
            <a:ext cx="8010360" cy="49579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676767"/>
                </a:solidFill>
                <a:effectLst/>
                <a:uFillTx/>
                <a:latin typeface="Arial"/>
                <a:ea typeface="Arial"/>
              </a:rPr>
              <a:t>    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        Sending 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           Receiving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   Picture        Data           Picture                   Result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9(4)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0000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$$,$$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9(4)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0080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$$,$$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.00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9(4)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0128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$$,$$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9(5)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5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7397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$$,$$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S9(4)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- 0005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++++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S9(4)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+0080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++++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S9(4)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- 0080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- - - - 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S9(5)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+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7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1234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- - - - 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6172200" y="2075040"/>
            <a:ext cx="2200320" cy="399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 $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0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.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00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$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80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.00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$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128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.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00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$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7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,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397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 -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5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+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80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-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80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ž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1234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>
            <a:off x="438120" y="1714680"/>
            <a:ext cx="7991640" cy="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"/>
          <p:cNvSpPr/>
          <p:nvPr/>
        </p:nvSpPr>
        <p:spPr>
          <a:xfrm>
            <a:off x="2228760" y="1704960"/>
            <a:ext cx="0" cy="448632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"/>
          <p:cNvSpPr/>
          <p:nvPr/>
        </p:nvSpPr>
        <p:spPr>
          <a:xfrm>
            <a:off x="447840" y="2124000"/>
            <a:ext cx="7981920" cy="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>
            <a:off x="3619440" y="1266840"/>
            <a:ext cx="0" cy="492444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>
            <a:off x="6129360" y="1719360"/>
            <a:ext cx="0" cy="445752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 txBox="1"/>
          <p:nvPr/>
        </p:nvSpPr>
        <p:spPr>
          <a:xfrm>
            <a:off x="1857240" y="247680"/>
            <a:ext cx="53816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Suppression and Replacement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843120" y="1538280"/>
            <a:ext cx="7372440" cy="405288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            Sending 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           Receiving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AE00"/>
                </a:solidFill>
                <a:effectLst/>
                <a:uFillTx/>
                <a:latin typeface="Arial"/>
                <a:ea typeface="Arial"/>
              </a:rPr>
              <a:t>   Picture        Data           Picture              Result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9(5)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12345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ZZ,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999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9(5)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01234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ZZ,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999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9(5)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00123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ZZ,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999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9(5)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00012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ZZ,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999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9(5)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05678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**,**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9(5)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00567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**,**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479"/>
              </a:spcAft>
              <a:tabLst>
                <a:tab pos="1905120" algn="l"/>
                <a:tab pos="323856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9(5)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00000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PIC 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**,***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6491160" y="2360520"/>
            <a:ext cx="1638360" cy="318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,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345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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,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234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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123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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012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*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5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,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678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***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567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Aft>
                <a:spcPts val="119"/>
              </a:spcAft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******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>
            <a:off x="824040" y="2000160"/>
            <a:ext cx="7381800" cy="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2652840" y="2000160"/>
            <a:ext cx="0" cy="357192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"/>
          <p:cNvSpPr/>
          <p:nvPr/>
        </p:nvSpPr>
        <p:spPr>
          <a:xfrm>
            <a:off x="814320" y="2409840"/>
            <a:ext cx="7391520" cy="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>
            <a:off x="4043520" y="1533600"/>
            <a:ext cx="0" cy="404820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6286680" y="2014560"/>
            <a:ext cx="0" cy="357192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Arithmetic  and  Edited Pictures</dc:title>
</cp:coreProperties>
</file>