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274920" y="2494080"/>
            <a:ext cx="2495520" cy="157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Advanced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Files 1.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2247840" y="133200"/>
            <a:ext cx="44132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Single Record Type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19040" y="10159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a file which contains only one record type (the kind we have examined so far) the record structure is described as part of the file FD using an 01 level number.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record description creates a ‘buffer’ capable of storing one record instance at a time.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Each time a record is read from the file it overwrites the previous contents of the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record buffer is the only connection between the file and the  program.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1752480" y="158760"/>
            <a:ext cx="46893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Multiple Record Type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91960" y="10033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Quite often a single file will contain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more than one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type of record.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For instance, some of the terminal exercises required that your program apply a file of transaction records to the StudentsFile.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For simplicity, the Transaction file in these exercises contained one record type only; either Insertion or Update or Deletion.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a real environment, transactions of this sort would normally be collected together into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single transaction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406440" y="95400"/>
            <a:ext cx="8383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Implications of a multiple record transaction file.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91960" y="87624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08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Gathering all the transactions into a single file implies that the file will contain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different record types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(i.e. records with different structures).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08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different record structures may give rise to records which are also of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different lengths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08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For example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108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an insertion transaction will contain all the fields that appear in the StudentFile record  (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32 characters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108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 deletion transaction will contain only the StudentId (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7 characters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108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an update transaction used to record course changes might contain the StudentId, the OldCourseCode and the NewCourseCode (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15 characters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1714680" y="120600"/>
            <a:ext cx="5499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Describing multiple record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31640" y="1422360"/>
            <a:ext cx="7848720" cy="24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describe these different record types we have to use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more than one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record description in the file's FD.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Because record descriptions always begin with level 01 we provide a 01 level for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each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record type in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5435640" y="1549440"/>
            <a:ext cx="3441600" cy="520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is not obvious from this description is that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continues to create just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single ‘record buffer’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for the file!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And this ‘record buffer’ is only able to store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single record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 a time!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93680" y="925560"/>
            <a:ext cx="5164200" cy="53593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TransactionFile.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InsertionRec.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StudentName.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Surname      PIC X(8).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Initials     PIC XX.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DateOfBirth.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YOBirth      PIC 9(2).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MOBirth      PIC 9(2).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DOBirth      PIC 9(2).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CourseCode      PIC X(4).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Grant           PIC 9(4).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Gender          PIC 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UpdateRec.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OldCourseCode   PIC X(4).</a:t>
            </a:r>
            <a:br>
              <a:rPr sz="20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NewCourseCode   PIC X(4).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52600" y="133200"/>
            <a:ext cx="82659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Multiple record descriptions - One record buffer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431640" y="498600"/>
            <a:ext cx="828036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Multiple record descriptions in a file are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IMPLICITLY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redefinitions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single record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52280" y="2225520"/>
            <a:ext cx="8801280" cy="42926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41440" y="3619440"/>
            <a:ext cx="828828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474747"/>
                </a:solidFill>
                <a:effectLst/>
                <a:uFillTx/>
                <a:latin typeface="Times New Roman"/>
                <a:ea typeface="Times New Roman"/>
              </a:rPr>
              <a:t>9 2 3 0 1 6 5 H E N N E S S Y 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25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065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81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522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738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967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1938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4987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7781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083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386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659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90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160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4449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745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1116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3452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5548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7895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031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24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486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765840" y="36291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1262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3566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5643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8120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047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8263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489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781360" y="176364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 txBox="1"/>
          <p:nvPr/>
        </p:nvSpPr>
        <p:spPr>
          <a:xfrm>
            <a:off x="431640" y="498600"/>
            <a:ext cx="828036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Multiple record descriptions in a file are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IMPLICITLY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redefinitions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single record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52280" y="2225520"/>
            <a:ext cx="8801280" cy="42926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23960" y="2473200"/>
            <a:ext cx="8021520" cy="67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114FFB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        InsertionRec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StudentId   StudentName    DateOfBirth   CourseCode    Grant   Gender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36560" y="2759040"/>
            <a:ext cx="8013600" cy="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 flipH="1">
            <a:off x="558720" y="3143160"/>
            <a:ext cx="171360" cy="4669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41440" y="3619440"/>
            <a:ext cx="828828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474747"/>
                </a:solidFill>
                <a:effectLst/>
                <a:uFillTx/>
                <a:latin typeface="Times New Roman"/>
                <a:ea typeface="Times New Roman"/>
              </a:rPr>
              <a:t>9 2 3 0 1 6 5 H E N N E S S Y 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25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065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281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522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738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967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1938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4987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7781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083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386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659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90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160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4449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4745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1116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3452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5548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7895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031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24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486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765840" y="36291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1262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3566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5643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8120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047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263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489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99404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994040" y="3139920"/>
            <a:ext cx="203040" cy="47016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657600" y="2755800"/>
            <a:ext cx="0" cy="3841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645000" y="3147840"/>
            <a:ext cx="1466640" cy="4842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19444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192640" y="3147840"/>
            <a:ext cx="129564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76908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764400" y="3143160"/>
            <a:ext cx="804960" cy="4860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632720" y="2759040"/>
            <a:ext cx="0" cy="3938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635960" y="3147840"/>
            <a:ext cx="85248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781360" y="176364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 txBox="1"/>
          <p:nvPr/>
        </p:nvSpPr>
        <p:spPr>
          <a:xfrm>
            <a:off x="431640" y="498600"/>
            <a:ext cx="828036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Multiple record descriptions in a file are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IMPLICITLY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redefinitions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single record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52280" y="2225520"/>
            <a:ext cx="8801280" cy="42926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23960" y="2473200"/>
            <a:ext cx="8021520" cy="67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114FFB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        InsertionRec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StudentId   StudentName    DateOfBirth   CourseCode    Grant   Gender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36560" y="2759040"/>
            <a:ext cx="8013600" cy="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07960" y="4545000"/>
            <a:ext cx="170352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AE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DeletionRec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 flipH="1">
            <a:off x="558720" y="3143160"/>
            <a:ext cx="171360" cy="4669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 flipH="1">
            <a:off x="514440" y="4111560"/>
            <a:ext cx="31680" cy="45108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20560" y="4848120"/>
            <a:ext cx="1670040" cy="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2184480" y="4111560"/>
            <a:ext cx="25200" cy="45720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41440" y="3619440"/>
            <a:ext cx="828828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474747"/>
                </a:solidFill>
                <a:effectLst/>
                <a:uFillTx/>
                <a:latin typeface="Times New Roman"/>
                <a:ea typeface="Times New Roman"/>
              </a:rPr>
              <a:t>9 2 3 0 1 6 5 H E N N E S S Y 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825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065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281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522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1738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967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21938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24987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27781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083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386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659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90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4160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4449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745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1116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3452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5548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7895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031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24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486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765840" y="36291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1262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3566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75643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8120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8047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263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8489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99404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994040" y="3139920"/>
            <a:ext cx="203040" cy="47016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3657600" y="2755800"/>
            <a:ext cx="0" cy="3841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645000" y="3147840"/>
            <a:ext cx="1466640" cy="4842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19444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192640" y="3147840"/>
            <a:ext cx="129564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676908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764400" y="3143160"/>
            <a:ext cx="804960" cy="4860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632720" y="2759040"/>
            <a:ext cx="0" cy="3938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635960" y="3147840"/>
            <a:ext cx="85248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781360" y="176364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 txBox="1"/>
          <p:nvPr/>
        </p:nvSpPr>
        <p:spPr>
          <a:xfrm>
            <a:off x="431640" y="498600"/>
            <a:ext cx="828036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Multiple record descriptions in a file are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IMPLICITLY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redefinitions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single record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52280" y="2225520"/>
            <a:ext cx="8801280" cy="42926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23960" y="2473200"/>
            <a:ext cx="8021520" cy="67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114FFB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        InsertionRec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StudentId   StudentName    DateOfBirth   CourseCode    Grant   Gender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36560" y="2759040"/>
            <a:ext cx="8013600" cy="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07960" y="4545000"/>
            <a:ext cx="170352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AE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DeletionRec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 flipH="1">
            <a:off x="558720" y="3143160"/>
            <a:ext cx="171360" cy="4669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 flipH="1">
            <a:off x="514440" y="4111560"/>
            <a:ext cx="31680" cy="45108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520560" y="4848120"/>
            <a:ext cx="1670040" cy="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184480" y="4111560"/>
            <a:ext cx="25200" cy="45720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76120" y="5437080"/>
            <a:ext cx="606420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FC0128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   StudentId           OldCourseCode  NewCourseCode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                         UpdateRec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97000" y="5767560"/>
            <a:ext cx="6027480" cy="1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49680" rIns="96120" bIns="-49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 flipH="1">
            <a:off x="282600" y="4114800"/>
            <a:ext cx="266760" cy="1333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2184480" y="4118040"/>
            <a:ext cx="228600" cy="1333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387600" y="4127400"/>
            <a:ext cx="943200" cy="13176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4451400" y="4108320"/>
            <a:ext cx="1884240" cy="13352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41440" y="3619440"/>
            <a:ext cx="828828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474747"/>
                </a:solidFill>
                <a:effectLst/>
                <a:uFillTx/>
                <a:latin typeface="Times New Roman"/>
                <a:ea typeface="Times New Roman"/>
              </a:rPr>
              <a:t>9 2 3 0 1 6 5 H E N N E S S Y 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825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065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2812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522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7384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967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21938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24987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27781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083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3386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6590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90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160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44449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74516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511164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53452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55548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57895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031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2467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4864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765840" y="36291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1262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3566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56432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81200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8047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82630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8489880" y="363384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99404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994040" y="3139920"/>
            <a:ext cx="203040" cy="47016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657600" y="2755800"/>
            <a:ext cx="0" cy="3841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3645000" y="3147840"/>
            <a:ext cx="1466640" cy="4842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519444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5192640" y="3147840"/>
            <a:ext cx="129564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769080" y="275904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764400" y="3143160"/>
            <a:ext cx="804960" cy="4860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632720" y="2759040"/>
            <a:ext cx="0" cy="3938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635960" y="3147840"/>
            <a:ext cx="85248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2406600" y="5445000"/>
            <a:ext cx="0" cy="3114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4330800" y="5445000"/>
            <a:ext cx="0" cy="3114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781360" y="176364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 txBox="1"/>
          <p:nvPr/>
        </p:nvSpPr>
        <p:spPr>
          <a:xfrm>
            <a:off x="469800" y="92160"/>
            <a:ext cx="8280360" cy="191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All these record descriptions are valid at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same time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But only one description makes sense for the values in the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How can we tell which description to use?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52280" y="2530440"/>
            <a:ext cx="8801280" cy="42926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23960" y="2778120"/>
            <a:ext cx="8021520" cy="67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114FFB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        InsertionRec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StudentId   StudentName    DateOfBirth   CourseCode    Grant   Gender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36560" y="3063960"/>
            <a:ext cx="8013600" cy="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07960" y="4849920"/>
            <a:ext cx="170352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AE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DeletionRec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 flipH="1">
            <a:off x="558720" y="3448080"/>
            <a:ext cx="171360" cy="46656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 flipH="1">
            <a:off x="514440" y="4416480"/>
            <a:ext cx="31680" cy="45072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520560" y="5153040"/>
            <a:ext cx="1670040" cy="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2184480" y="4416480"/>
            <a:ext cx="25200" cy="45720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76120" y="5742000"/>
            <a:ext cx="606420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FC0128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   StudentId           OldCourseCode  NewCourseCode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                         UpdateRec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297000" y="6072120"/>
            <a:ext cx="6027480" cy="18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49320" rIns="961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 flipH="1">
            <a:off x="282600" y="4419720"/>
            <a:ext cx="266760" cy="1333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184480" y="4422600"/>
            <a:ext cx="228600" cy="13338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387600" y="4432320"/>
            <a:ext cx="943200" cy="13176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451400" y="4413240"/>
            <a:ext cx="1884240" cy="13352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41440" y="3924360"/>
            <a:ext cx="828828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474747"/>
                </a:solidFill>
                <a:effectLst/>
                <a:uFillTx/>
                <a:latin typeface="Times New Roman"/>
                <a:ea typeface="Times New Roman"/>
              </a:rPr>
              <a:t>9 2 3 0 1 6 5 H E N N E S S Y 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8254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10652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12812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15224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17384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19670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1938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249876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27781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0830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38616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36590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39067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1608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4449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474516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511164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53452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555480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57895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0310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2467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4864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765840" y="393372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712620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35660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75643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81200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80470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82630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848988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994040" y="306396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1994040" y="3444840"/>
            <a:ext cx="203040" cy="4698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3657600" y="3060720"/>
            <a:ext cx="0" cy="3841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3645000" y="3452760"/>
            <a:ext cx="1466640" cy="4842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5194440" y="306396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5192640" y="3452760"/>
            <a:ext cx="129564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769080" y="306396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764400" y="3448080"/>
            <a:ext cx="804960" cy="4856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7632720" y="3063960"/>
            <a:ext cx="0" cy="3934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7635960" y="3452760"/>
            <a:ext cx="852480" cy="4716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2406600" y="5749920"/>
            <a:ext cx="0" cy="3110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4330800" y="5749920"/>
            <a:ext cx="0" cy="3110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2781360" y="206856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 txBox="1"/>
          <p:nvPr/>
        </p:nvSpPr>
        <p:spPr>
          <a:xfrm>
            <a:off x="1841400" y="158760"/>
            <a:ext cx="4846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Transaction Type 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91960" y="838080"/>
            <a:ext cx="8001000" cy="56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Generally we cannot reliably establish the type of record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READ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into the buffer by examining its contents.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allow us to distinguish between the record types, a special data item is inserted into each transaction which identifies the transaction type.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This data item is usually the first data item in the transaction record and one character in size, but it does not have to be.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Transaction types can be identified using a number, a letter or other character.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 txBox="1"/>
          <p:nvPr/>
        </p:nvSpPr>
        <p:spPr>
          <a:xfrm>
            <a:off x="2819520" y="95400"/>
            <a:ext cx="29512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Revised FD.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4902120" y="622440"/>
            <a:ext cx="4229280" cy="589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5000"/>
              </a:lnSpc>
              <a:spcBef>
                <a:spcPts val="83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TransCode occurs in all the record descriptions.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83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How can we refer to the one in DeleteRec?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83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MOVE TransCode OF DeleteRec TO TCode.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83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But TransCode really only needs to be defined in one record.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83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Since all the records map on to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same area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of storage the TransCode defined for the InsertionRec can be used no matter which record type is actually in the buffer 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98280" y="606600"/>
            <a:ext cx="4813200" cy="57880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TransactionFile.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InsertionRec.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TransCode       PIC 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StudentName.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Surname      PIC X(8).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Initials     PIC XX.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DateOfBirth.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YOBirth      PIC 9(2).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MOBirth      PIC 9(2).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DOBirth      PIC 9(2).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CourseCode      PIC X(4).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Grant           PIC 9(4).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Gender          PIC 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TransCode       PIC 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UpdateRec.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TransCode       PIC 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OldCourseCode   PIC X(4).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NewCourseCode   PIC X(4).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 txBox="1"/>
          <p:nvPr/>
        </p:nvSpPr>
        <p:spPr>
          <a:xfrm>
            <a:off x="2819520" y="95400"/>
            <a:ext cx="24163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Final FD.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92160" y="557280"/>
            <a:ext cx="6016680" cy="62262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TransactionFile.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InsertionRec.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 EndOfTransFile  VALUE HIGH-VALUES.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br>
              <a:rPr sz="14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TransCode       PIC 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88 Insertion    VALUE "I".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88 Deletion     VALUE "D".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88 Update       VALUE "U".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StudentId       PIC 9(7).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StudentName.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Surname      PIC X(8).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Initials     PIC XX.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DateOfBirth.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YOBirth      PIC 9(2).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MOBirth      PIC 9(2).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03 DOBirth      PIC 9(2).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CourseCode      PIC X(4).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Grant           PIC 9(4).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Gender          PIC 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DeleteRec.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FILLER          PIC X(8).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UpdateRec.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FILLER          PIC X(8).     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OldCourseCode   PIC X(4).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NewCourseCode   PIC X(4).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006960" y="863640"/>
            <a:ext cx="3073320" cy="534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5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TransCode and StudentId have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same description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and are in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same location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all three records.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 they are defined only in the InsertionRec.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the other records the area occupied by these two items is defined using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FILLER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 txBox="1"/>
          <p:nvPr/>
        </p:nvSpPr>
        <p:spPr>
          <a:xfrm>
            <a:off x="457200" y="219240"/>
            <a:ext cx="828036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happens when we display the OldCourseCode?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happens if we now read an Update record into the buffer?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52280" y="2489040"/>
            <a:ext cx="8978760" cy="43340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61800" y="2778120"/>
            <a:ext cx="8453520" cy="67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114FFB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        InsertionRec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TransCode StudentId StudentName DateOfBirth CourseCode Grant  Gender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361800" y="3054240"/>
            <a:ext cx="8458200" cy="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84280" y="4869000"/>
            <a:ext cx="170352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AE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   FILLER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DeletionRec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368280" y="3454560"/>
            <a:ext cx="190440" cy="4600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546120" y="4416480"/>
            <a:ext cx="34920" cy="46980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587520" y="5153040"/>
            <a:ext cx="1670040" cy="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 flipH="1">
            <a:off x="2276640" y="4419720"/>
            <a:ext cx="133200" cy="46656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76120" y="5742000"/>
            <a:ext cx="606420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FC0128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FILLER                     OldCourseCode  NewCourseCode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                         UpdateRec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297000" y="6072120"/>
            <a:ext cx="6027480" cy="18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49320" rIns="96120" bIns="-49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 flipH="1">
            <a:off x="282600" y="4419720"/>
            <a:ext cx="266760" cy="1333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 flipH="1">
            <a:off x="2409840" y="4419720"/>
            <a:ext cx="3240" cy="165708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3591000" y="4429080"/>
            <a:ext cx="739800" cy="13208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667400" y="4429080"/>
            <a:ext cx="1668240" cy="131940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41440" y="3924360"/>
            <a:ext cx="848376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Times New Roman"/>
                <a:ea typeface="Times New Roman"/>
              </a:rPr>
              <a:t>I 9 2 3 0 1 6 5 H E N N E S S Y 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7938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10270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12492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14652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17128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19414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217476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24098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27338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29876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32846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35892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38624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41101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43560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6562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49338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3262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555480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5764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0120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2341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4612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6960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961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73310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7564320" y="3938760"/>
            <a:ext cx="0" cy="46008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7780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80215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82501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84772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689120" y="3057480"/>
            <a:ext cx="0" cy="39996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 flipH="1">
            <a:off x="787320" y="3454560"/>
            <a:ext cx="895320" cy="4824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375080" y="3048120"/>
            <a:ext cx="0" cy="3967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4356000" y="3448080"/>
            <a:ext cx="971640" cy="488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5727600" y="305748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5727600" y="3454560"/>
            <a:ext cx="965160" cy="4824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7162920" y="3057480"/>
            <a:ext cx="0" cy="4096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7162920" y="3467160"/>
            <a:ext cx="615960" cy="4698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7873920" y="3057480"/>
            <a:ext cx="0" cy="4096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7873920" y="3460680"/>
            <a:ext cx="844560" cy="4762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4330800" y="5769000"/>
            <a:ext cx="0" cy="3110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2781360" y="206856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871236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2825640" y="3054240"/>
            <a:ext cx="0" cy="3938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 flipH="1">
            <a:off x="2400480" y="3454560"/>
            <a:ext cx="412560" cy="4824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 txBox="1"/>
          <p:nvPr/>
        </p:nvSpPr>
        <p:spPr>
          <a:xfrm>
            <a:off x="438120" y="114480"/>
            <a:ext cx="8280360" cy="182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a record smaller than the size of the largest record is read into the buffer any data that is not explicitly overwritten is left intact.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6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happens when we display StudentName and DateOfBirth?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152280" y="2489040"/>
            <a:ext cx="8978760" cy="433404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361800" y="2778120"/>
            <a:ext cx="8453520" cy="67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114FFB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                                      InsertionRec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TransCode StudentId StudentName DateOfBirth CourseCode Grant  Gender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61800" y="3054240"/>
            <a:ext cx="8458200" cy="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84280" y="4869000"/>
            <a:ext cx="170352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AE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   FILLER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DeletionRec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368280" y="3441600"/>
            <a:ext cx="190440" cy="4730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546120" y="4416480"/>
            <a:ext cx="34920" cy="46980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587520" y="5153040"/>
            <a:ext cx="1670040" cy="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 flipH="1">
            <a:off x="2276640" y="4429080"/>
            <a:ext cx="228600" cy="457200"/>
          </a:xfrm>
          <a:prstGeom prst="line">
            <a:avLst/>
          </a:prstGeom>
          <a:ln w="12600">
            <a:solidFill>
              <a:srgbClr val="00A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276120" y="5742000"/>
            <a:ext cx="6127920" cy="684360"/>
          </a:xfrm>
          <a:prstGeom prst="rect">
            <a:avLst/>
          </a:prstGeom>
          <a:solidFill>
            <a:srgbClr val="FFFFFF"/>
          </a:solidFill>
          <a:ln w="25560">
            <a:solidFill>
              <a:srgbClr val="FC0128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1800" b="1" u="none" strike="noStrike">
                <a:solidFill>
                  <a:srgbClr val="474747"/>
                </a:solidFill>
                <a:effectLst/>
                <a:uFillTx/>
                <a:latin typeface="Arial"/>
                <a:ea typeface="Arial"/>
              </a:rPr>
              <a:t>        FILLER             OldCourseCode  NewCourseCode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839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                         UpdateRec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 flipV="1">
            <a:off x="297000" y="6070680"/>
            <a:ext cx="6116400" cy="1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49680" rIns="96120" bIns="-49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 flipH="1">
            <a:off x="282600" y="4419720"/>
            <a:ext cx="266760" cy="1333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2498760" y="4410000"/>
            <a:ext cx="3240" cy="166068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3591000" y="4429080"/>
            <a:ext cx="739800" cy="13208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4705200" y="4429080"/>
            <a:ext cx="1704960" cy="13334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41440" y="3924360"/>
            <a:ext cx="8532720" cy="503280"/>
          </a:xfrm>
          <a:prstGeom prst="rect">
            <a:avLst/>
          </a:prstGeom>
          <a:noFill/>
          <a:ln w="2556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Times New Roman"/>
                <a:ea typeface="Times New Roman"/>
              </a:rPr>
              <a:t>U 9 3 1 5 6 8 2 L M 6 1 L M 5 1 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R M 7 1 0 9 1 5 L M 5 1 0 5 5 0 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895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1286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13510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15541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8018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20430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22636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249876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27716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313056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3370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35892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38718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4243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44798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46944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500076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53640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55832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579276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0310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2722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4897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7248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69991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73692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75931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781848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80503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827892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851544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1689120" y="3057480"/>
            <a:ext cx="0" cy="39996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 flipH="1">
            <a:off x="895320" y="3454560"/>
            <a:ext cx="787320" cy="4824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4375080" y="3048120"/>
            <a:ext cx="0" cy="39672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4356000" y="3448080"/>
            <a:ext cx="971640" cy="488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5727600" y="3057480"/>
            <a:ext cx="0" cy="3808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5727600" y="3454560"/>
            <a:ext cx="965160" cy="4824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7162920" y="3057480"/>
            <a:ext cx="0" cy="4096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7162920" y="3467160"/>
            <a:ext cx="615960" cy="4698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7873920" y="3057480"/>
            <a:ext cx="0" cy="4096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7902720" y="3460680"/>
            <a:ext cx="844560" cy="47628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4330800" y="5756400"/>
            <a:ext cx="0" cy="311040"/>
          </a:xfrm>
          <a:prstGeom prst="line">
            <a:avLst/>
          </a:prstGeom>
          <a:ln w="12600">
            <a:solidFill>
              <a:srgbClr val="FC0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2781360" y="2068560"/>
            <a:ext cx="3529080" cy="46656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DC0081"/>
                </a:solidFill>
                <a:effectLst/>
                <a:uFillTx/>
                <a:latin typeface="Arial"/>
                <a:ea typeface="Arial"/>
              </a:rPr>
              <a:t>TransactionFile  Buffer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8740800" y="3936960"/>
            <a:ext cx="0" cy="46044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2825640" y="3054240"/>
            <a:ext cx="0" cy="39384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 flipH="1">
            <a:off x="2495520" y="3467160"/>
            <a:ext cx="333360" cy="469800"/>
          </a:xfrm>
          <a:prstGeom prst="line">
            <a:avLst/>
          </a:prstGeom>
          <a:ln w="12600">
            <a:solidFill>
              <a:srgbClr val="114F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 txBox="1"/>
          <p:nvPr/>
        </p:nvSpPr>
        <p:spPr>
          <a:xfrm>
            <a:off x="2819520" y="133200"/>
            <a:ext cx="31669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Printing a Report.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355680" y="3656160"/>
            <a:ext cx="8153280" cy="151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report is made up of groups of printed lines of different types.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types of line are required  for the Student Details Report?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55680" y="812880"/>
            <a:ext cx="7975440" cy="21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program is required which will print a report.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report, called the Student Details Report, will be based on the file Students.Dat.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report will show the Name, StudentId, Gender and CourseCode of each student in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"/>
          <p:cNvSpPr txBox="1"/>
          <p:nvPr/>
        </p:nvSpPr>
        <p:spPr>
          <a:xfrm>
            <a:off x="2273400" y="146160"/>
            <a:ext cx="33656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Report Print Lines.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635040" y="787320"/>
            <a:ext cx="7759800" cy="534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Page Heading.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291960">
              <a:lnSpc>
                <a:spcPct val="90000"/>
              </a:lnSpc>
              <a:spcBef>
                <a:spcPts val="1440"/>
              </a:spcBef>
              <a:buClr>
                <a:srgbClr val="00FF00"/>
              </a:buClr>
              <a:buSzPct val="70000"/>
              <a:buFont typeface="Wingding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UL Student Details Report         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Page Footing.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291960">
              <a:lnSpc>
                <a:spcPct val="90000"/>
              </a:lnSpc>
              <a:spcBef>
                <a:spcPts val="1440"/>
              </a:spcBef>
              <a:buClr>
                <a:srgbClr val="00FF00"/>
              </a:buClr>
              <a:buSzPct val="70000"/>
              <a:buFont typeface="Wingding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Page : </a:t>
            </a:r>
            <a:r>
              <a:rPr lang="en-US" sz="2400" b="1" i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PageNum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Column Headings.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291960">
              <a:lnSpc>
                <a:spcPct val="90000"/>
              </a:lnSpc>
              <a:spcBef>
                <a:spcPts val="1440"/>
              </a:spcBef>
              <a:buClr>
                <a:srgbClr val="00FF00"/>
              </a:buClr>
              <a:buSzPct val="70000"/>
              <a:buFont typeface="Wingding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Student Id.   Student Name  Gender  Course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 Detail Line.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291960">
              <a:lnSpc>
                <a:spcPct val="90000"/>
              </a:lnSpc>
              <a:spcBef>
                <a:spcPts val="1440"/>
              </a:spcBef>
              <a:buClr>
                <a:srgbClr val="00FF00"/>
              </a:buClr>
              <a:buSzPct val="70000"/>
              <a:buFont typeface="Wingding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StudentId. StudentName  Gender  CourseCode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Report Footing.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291960">
              <a:lnSpc>
                <a:spcPct val="90000"/>
              </a:lnSpc>
              <a:spcBef>
                <a:spcPts val="1440"/>
              </a:spcBef>
              <a:buClr>
                <a:srgbClr val="00FF00"/>
              </a:buClr>
              <a:buSzPct val="70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** End of Student Details Report ***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 txBox="1"/>
          <p:nvPr/>
        </p:nvSpPr>
        <p:spPr>
          <a:xfrm>
            <a:off x="2006640" y="79200"/>
            <a:ext cx="4057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Describing Print Lines.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368280" y="711360"/>
            <a:ext cx="8263080" cy="58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PageHeading.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FILLER       PIC X(7) VALUE SPACES.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FILLER       PIC X(25)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VALUE "UL Student Details Report".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PageFooting.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FILLER       PIC X(19) VALUE SPACES.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FILLER       PIC X(7)  VALUE "Page : ".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FILLER       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ColumnHeadings  PIC X(36)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VALUE " StudentId StudentName Gender Course".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StudentDetailLine.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PrnStudId   PIC BB9(7).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PrnStudName PIC BBX(10).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PrnGender   PIC BBBBX.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02 PrnCourse   PIC BBBBX(4).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Bef>
                <a:spcPts val="108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ReportFooting   PIC X(38)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VALUE "*** End of Student Details Report ***".</a:t>
            </a:r>
            <a:br>
              <a:rPr sz="18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The Print Lines are all different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record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types!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 txBox="1"/>
          <p:nvPr/>
        </p:nvSpPr>
        <p:spPr>
          <a:xfrm>
            <a:off x="2819520" y="133200"/>
            <a:ext cx="26733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File Buffer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444600" y="68580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All data coming from, or going to, the peripherals must pass through a file buffer declared in the File Section.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file buffer is associated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with the physical device by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means of a Select and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Assign clause.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previous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lectures we saw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that the file buffer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is represented by a record description (01 level).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But the different types of line that must appear on our report are declared as different record types.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How can we declare these different record types in the File Section?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8" name=""/>
          <p:cNvGrpSpPr/>
          <p:nvPr/>
        </p:nvGrpSpPr>
        <p:grpSpPr>
          <a:xfrm>
            <a:off x="3386160" y="1627200"/>
            <a:ext cx="5583240" cy="2468520"/>
            <a:chOff x="3386160" y="1627200"/>
            <a:chExt cx="5583240" cy="2468520"/>
          </a:xfrm>
        </p:grpSpPr>
        <p:pic>
          <p:nvPicPr>
            <p:cNvPr id="459" name=""/>
            <p:cNvPicPr/>
            <p:nvPr/>
          </p:nvPicPr>
          <p:blipFill>
            <a:blip r:embed="rId1"/>
            <a:stretch/>
          </p:blipFill>
          <p:spPr>
            <a:xfrm>
              <a:off x="3386160" y="2836800"/>
              <a:ext cx="1655640" cy="1258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0" name=""/>
            <p:cNvSpPr txBox="1"/>
            <p:nvPr/>
          </p:nvSpPr>
          <p:spPr>
            <a:xfrm>
              <a:off x="5254560" y="1627200"/>
              <a:ext cx="3714840" cy="2463840"/>
            </a:xfrm>
            <a:prstGeom prst="rect">
              <a:avLst/>
            </a:prstGeom>
            <a:solidFill>
              <a:srgbClr val="DADADA"/>
            </a:solidFill>
            <a:ln w="381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ENVIRONMENT DIVISION.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INPUT-OUTPUT SECTION.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FILE-CONTROL.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SELECT Printer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 ASSIGN TO “LPT1”.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DATA DIVISION.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FILE SECTION.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FD  Printer.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 PrintLine.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7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????????????????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"/>
            <p:cNvSpPr/>
            <p:nvPr/>
          </p:nvSpPr>
          <p:spPr>
            <a:xfrm>
              <a:off x="6985080" y="2717640"/>
              <a:ext cx="1155960" cy="762480"/>
            </a:xfrm>
            <a:custGeom>
              <a:avLst/>
              <a:gdLst/>
              <a:ahLst/>
              <a:rect l="0" t="0" r="r" b="b"/>
              <a:pathLst>
                <a:path fill="none" w="3211" h="2118">
                  <a:moveTo>
                    <a:pt x="0" y="2118"/>
                  </a:moveTo>
                  <a:lnTo>
                    <a:pt x="0" y="2118"/>
                  </a:lnTo>
                  <a:cubicBezTo>
                    <a:pt x="564" y="2118"/>
                    <a:pt x="1117" y="2020"/>
                    <a:pt x="1606" y="1834"/>
                  </a:cubicBezTo>
                  <a:cubicBezTo>
                    <a:pt x="2094" y="1648"/>
                    <a:pt x="2499" y="1381"/>
                    <a:pt x="2781" y="1059"/>
                  </a:cubicBezTo>
                  <a:cubicBezTo>
                    <a:pt x="3063" y="737"/>
                    <a:pt x="3211" y="372"/>
                    <a:pt x="3211" y="0"/>
                  </a:cubicBezTo>
                </a:path>
              </a:pathLst>
            </a:custGeom>
            <a:ln w="12600">
              <a:solidFill>
                <a:srgbClr val="FC0128"/>
              </a:solidFill>
              <a:round/>
              <a:head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4508640" y="2438280"/>
              <a:ext cx="1321200" cy="762480"/>
            </a:xfrm>
            <a:custGeom>
              <a:avLst/>
              <a:gdLst/>
              <a:ahLst/>
              <a:rect l="0" t="0" r="r" b="b"/>
              <a:pathLst>
                <a:path fill="none" w="3670" h="2118">
                  <a:moveTo>
                    <a:pt x="3670" y="0"/>
                  </a:moveTo>
                  <a:lnTo>
                    <a:pt x="3670" y="0"/>
                  </a:lnTo>
                  <a:cubicBezTo>
                    <a:pt x="3026" y="0"/>
                    <a:pt x="2393" y="98"/>
                    <a:pt x="1835" y="284"/>
                  </a:cubicBezTo>
                  <a:cubicBezTo>
                    <a:pt x="1277" y="470"/>
                    <a:pt x="814" y="737"/>
                    <a:pt x="492" y="1059"/>
                  </a:cubicBezTo>
                  <a:cubicBezTo>
                    <a:pt x="170" y="1381"/>
                    <a:pt x="0" y="1746"/>
                    <a:pt x="0" y="2118"/>
                  </a:cubicBezTo>
                </a:path>
              </a:pathLst>
            </a:custGeom>
            <a:ln w="12600">
              <a:solidFill>
                <a:srgbClr val="FC0128"/>
              </a:solidFill>
              <a:round/>
              <a:headEnd len="med" type="triangle" w="med"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 txBox="1"/>
          <p:nvPr/>
        </p:nvSpPr>
        <p:spPr>
          <a:xfrm>
            <a:off x="1193760" y="171360"/>
            <a:ext cx="63403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No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VALUE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 clause in the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 SECTION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368280" y="88884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5000"/>
              </a:lnSpc>
              <a:spcBef>
                <a:spcPts val="96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Defining a file buffer which is used by different record types is easy (as we have seen).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 algn="ctr">
              <a:lnSpc>
                <a:spcPct val="85000"/>
              </a:lnSpc>
              <a:spcBef>
                <a:spcPts val="961"/>
              </a:spcBef>
            </a:pPr>
            <a:r>
              <a:rPr lang="en-US" sz="2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But !!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96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These record types all map on to the same area of storage and print line records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cannot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share the same area of storage.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96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Why?   Because most of the print line record values are assigned using the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VALUE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clause and these values are assigned as soon as the program starts.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96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prevent us trying to use the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VALUE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clause to assign values to a File buffer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has a rule which states that;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In the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FILE SECTION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, the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VALUE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clause must be used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in condition-name entries only (i.e. it cannot be used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 give an initial value to an item).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 txBox="1"/>
          <p:nvPr/>
        </p:nvSpPr>
        <p:spPr>
          <a:xfrm>
            <a:off x="3022560" y="158760"/>
            <a:ext cx="1962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 Solution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393840" y="1955880"/>
            <a:ext cx="7873920" cy="261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We define the print records in the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WORKING-STORAGE SECTION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We create a file buffer in the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FILE SECTION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which is the size of the largest print record.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We print a line by moving the appropriate print record to the file buffer and then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WRITE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ing the contents of the file buffer to the device.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901800" y="1054080"/>
            <a:ext cx="7061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get round the problem as follows;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"/>
          <p:cNvSpPr txBox="1"/>
          <p:nvPr/>
        </p:nvSpPr>
        <p:spPr>
          <a:xfrm>
            <a:off x="1054080" y="108000"/>
            <a:ext cx="7145280" cy="654696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ReportFile ASSIGN TO “STUDENTS.RPT”.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ReportFile.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PrintLine       PIC X(38).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PageHeading.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PIC X(7) VALUE SPACES.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PIC X(25)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VALUE "UL Student Details Report".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PageFooting.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PIC X(19) VALUE SPACES.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PIC X(7)  VALUE "Page : ".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PIC 99.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ColumnHeadings  PIC X(36)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VALUE " StudentId StudentName Gender Course".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StudentDetailLine.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PrnStudId   PIC BB9(7).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PrnStudName PIC BBX(10).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PrnGender   PIC BBBBX.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PrnCourse   PIC BBBBX(4).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ReportFooting   PIC X(38)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VALUE "*** End of Student Details Report ***".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3019320" y="1030320"/>
            <a:ext cx="400320" cy="889200"/>
          </a:xfrm>
          <a:custGeom>
            <a:avLst/>
            <a:gdLst/>
            <a:ahLst/>
            <a:rect l="0" t="0" r="r" b="b"/>
            <a:pathLst>
              <a:path fill="none" w="1112" h="2470">
                <a:moveTo>
                  <a:pt x="0" y="2470"/>
                </a:moveTo>
                <a:lnTo>
                  <a:pt x="0" y="2470"/>
                </a:lnTo>
                <a:cubicBezTo>
                  <a:pt x="195" y="2470"/>
                  <a:pt x="387" y="2356"/>
                  <a:pt x="556" y="2139"/>
                </a:cubicBezTo>
                <a:cubicBezTo>
                  <a:pt x="725" y="1922"/>
                  <a:pt x="865" y="1610"/>
                  <a:pt x="963" y="1235"/>
                </a:cubicBezTo>
                <a:cubicBezTo>
                  <a:pt x="1061" y="860"/>
                  <a:pt x="1112" y="434"/>
                  <a:pt x="1112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19160" y="1928880"/>
            <a:ext cx="1120680" cy="4302360"/>
          </a:xfrm>
          <a:custGeom>
            <a:avLst/>
            <a:gdLst/>
            <a:ahLst/>
            <a:rect l="0" t="0" r="r" b="b"/>
            <a:pathLst>
              <a:path fill="none" w="3113" h="11951">
                <a:moveTo>
                  <a:pt x="3113" y="8"/>
                </a:moveTo>
                <a:lnTo>
                  <a:pt x="3113" y="8"/>
                </a:lnTo>
                <a:cubicBezTo>
                  <a:pt x="3062" y="3"/>
                  <a:pt x="3011" y="0"/>
                  <a:pt x="2960" y="0"/>
                </a:cubicBezTo>
                <a:cubicBezTo>
                  <a:pt x="2440" y="0"/>
                  <a:pt x="1930" y="276"/>
                  <a:pt x="1480" y="801"/>
                </a:cubicBezTo>
                <a:cubicBezTo>
                  <a:pt x="1030" y="1325"/>
                  <a:pt x="656" y="2079"/>
                  <a:pt x="397" y="2988"/>
                </a:cubicBezTo>
                <a:cubicBezTo>
                  <a:pt x="137" y="3896"/>
                  <a:pt x="0" y="4927"/>
                  <a:pt x="0" y="5976"/>
                </a:cubicBezTo>
                <a:cubicBezTo>
                  <a:pt x="0" y="7024"/>
                  <a:pt x="137" y="8055"/>
                  <a:pt x="397" y="8963"/>
                </a:cubicBezTo>
                <a:cubicBezTo>
                  <a:pt x="656" y="9872"/>
                  <a:pt x="1030" y="10626"/>
                  <a:pt x="1480" y="11150"/>
                </a:cubicBezTo>
                <a:cubicBezTo>
                  <a:pt x="1929" y="11674"/>
                  <a:pt x="2439" y="11950"/>
                  <a:pt x="2958" y="11951"/>
                </a:cubicBezTo>
              </a:path>
            </a:pathLst>
          </a:custGeom>
          <a:ln w="12600">
            <a:solidFill>
              <a:srgbClr val="FC0128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317520" y="1981080"/>
            <a:ext cx="839880" cy="2464560"/>
          </a:xfrm>
          <a:custGeom>
            <a:avLst/>
            <a:gdLst/>
            <a:ahLst/>
            <a:rect l="0" t="0" r="r" b="b"/>
            <a:pathLst>
              <a:path fill="none" w="2333" h="6846">
                <a:moveTo>
                  <a:pt x="1928" y="0"/>
                </a:moveTo>
                <a:lnTo>
                  <a:pt x="1928" y="0"/>
                </a:lnTo>
                <a:cubicBezTo>
                  <a:pt x="1660" y="70"/>
                  <a:pt x="1402" y="209"/>
                  <a:pt x="1166" y="410"/>
                </a:cubicBezTo>
                <a:cubicBezTo>
                  <a:pt x="811" y="713"/>
                  <a:pt x="517" y="1148"/>
                  <a:pt x="312" y="1672"/>
                </a:cubicBezTo>
                <a:cubicBezTo>
                  <a:pt x="108" y="2197"/>
                  <a:pt x="0" y="2792"/>
                  <a:pt x="0" y="3397"/>
                </a:cubicBezTo>
                <a:cubicBezTo>
                  <a:pt x="0" y="4002"/>
                  <a:pt x="108" y="4597"/>
                  <a:pt x="312" y="5121"/>
                </a:cubicBezTo>
                <a:cubicBezTo>
                  <a:pt x="517" y="5646"/>
                  <a:pt x="811" y="6081"/>
                  <a:pt x="1166" y="6384"/>
                </a:cubicBezTo>
                <a:cubicBezTo>
                  <a:pt x="1520" y="6687"/>
                  <a:pt x="1922" y="6846"/>
                  <a:pt x="2331" y="6846"/>
                </a:cubicBezTo>
                <a:cubicBezTo>
                  <a:pt x="2332" y="6846"/>
                  <a:pt x="2332" y="6846"/>
                  <a:pt x="2333" y="6846"/>
                </a:cubicBez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247680" y="1970280"/>
            <a:ext cx="950040" cy="3027600"/>
          </a:xfrm>
          <a:custGeom>
            <a:avLst/>
            <a:gdLst/>
            <a:ahLst/>
            <a:rect l="0" t="0" r="r" b="b"/>
            <a:pathLst>
              <a:path fill="none" w="2639" h="8410">
                <a:moveTo>
                  <a:pt x="2092" y="0"/>
                </a:moveTo>
                <a:lnTo>
                  <a:pt x="2092" y="0"/>
                </a:lnTo>
                <a:cubicBezTo>
                  <a:pt x="1819" y="92"/>
                  <a:pt x="1558" y="254"/>
                  <a:pt x="1317" y="478"/>
                </a:cubicBezTo>
                <a:cubicBezTo>
                  <a:pt x="916" y="852"/>
                  <a:pt x="584" y="1388"/>
                  <a:pt x="353" y="2034"/>
                </a:cubicBezTo>
                <a:cubicBezTo>
                  <a:pt x="121" y="2680"/>
                  <a:pt x="0" y="3413"/>
                  <a:pt x="0" y="4160"/>
                </a:cubicBezTo>
                <a:cubicBezTo>
                  <a:pt x="0" y="4906"/>
                  <a:pt x="121" y="5639"/>
                  <a:pt x="353" y="6285"/>
                </a:cubicBezTo>
                <a:cubicBezTo>
                  <a:pt x="584" y="6931"/>
                  <a:pt x="916" y="7467"/>
                  <a:pt x="1317" y="7841"/>
                </a:cubicBezTo>
                <a:cubicBezTo>
                  <a:pt x="1717" y="8214"/>
                  <a:pt x="2171" y="8410"/>
                  <a:pt x="2634" y="8410"/>
                </a:cubicBezTo>
                <a:cubicBezTo>
                  <a:pt x="2635" y="8410"/>
                  <a:pt x="2637" y="8410"/>
                  <a:pt x="2639" y="8410"/>
                </a:cubicBez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723960" y="1973880"/>
            <a:ext cx="464400" cy="536040"/>
          </a:xfrm>
          <a:custGeom>
            <a:avLst/>
            <a:gdLst/>
            <a:ahLst/>
            <a:rect l="0" t="0" r="r" b="b"/>
            <a:pathLst>
              <a:path fill="none" w="1290" h="1489">
                <a:moveTo>
                  <a:pt x="869" y="0"/>
                </a:moveTo>
                <a:lnTo>
                  <a:pt x="869" y="0"/>
                </a:lnTo>
                <a:cubicBezTo>
                  <a:pt x="792" y="16"/>
                  <a:pt x="717" y="36"/>
                  <a:pt x="646" y="61"/>
                </a:cubicBezTo>
                <a:cubicBezTo>
                  <a:pt x="449" y="128"/>
                  <a:pt x="286" y="224"/>
                  <a:pt x="173" y="341"/>
                </a:cubicBezTo>
                <a:cubicBezTo>
                  <a:pt x="60" y="457"/>
                  <a:pt x="0" y="589"/>
                  <a:pt x="0" y="723"/>
                </a:cubicBezTo>
                <a:cubicBezTo>
                  <a:pt x="0" y="858"/>
                  <a:pt x="60" y="990"/>
                  <a:pt x="173" y="1106"/>
                </a:cubicBezTo>
                <a:cubicBezTo>
                  <a:pt x="286" y="1223"/>
                  <a:pt x="449" y="1319"/>
                  <a:pt x="646" y="1386"/>
                </a:cubicBezTo>
                <a:cubicBezTo>
                  <a:pt x="842" y="1454"/>
                  <a:pt x="1064" y="1489"/>
                  <a:pt x="1290" y="1489"/>
                </a:cubicBez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469800" y="1966320"/>
            <a:ext cx="732240" cy="1539360"/>
          </a:xfrm>
          <a:custGeom>
            <a:avLst/>
            <a:gdLst/>
            <a:ahLst/>
            <a:rect l="0" t="0" r="r" b="b"/>
            <a:pathLst>
              <a:path fill="none" w="2034" h="4276">
                <a:moveTo>
                  <a:pt x="1543" y="0"/>
                </a:moveTo>
                <a:lnTo>
                  <a:pt x="1543" y="0"/>
                </a:lnTo>
                <a:cubicBezTo>
                  <a:pt x="1358" y="49"/>
                  <a:pt x="1181" y="125"/>
                  <a:pt x="1016" y="227"/>
                </a:cubicBezTo>
                <a:cubicBezTo>
                  <a:pt x="708" y="417"/>
                  <a:pt x="451" y="691"/>
                  <a:pt x="273" y="1021"/>
                </a:cubicBezTo>
                <a:cubicBezTo>
                  <a:pt x="94" y="1351"/>
                  <a:pt x="0" y="1725"/>
                  <a:pt x="0" y="2106"/>
                </a:cubicBezTo>
                <a:cubicBezTo>
                  <a:pt x="0" y="2487"/>
                  <a:pt x="94" y="2861"/>
                  <a:pt x="273" y="3191"/>
                </a:cubicBezTo>
                <a:cubicBezTo>
                  <a:pt x="451" y="3521"/>
                  <a:pt x="708" y="3795"/>
                  <a:pt x="1016" y="3985"/>
                </a:cubicBezTo>
                <a:cubicBezTo>
                  <a:pt x="1325" y="4176"/>
                  <a:pt x="1676" y="4276"/>
                  <a:pt x="2032" y="4276"/>
                </a:cubicBezTo>
                <a:cubicBezTo>
                  <a:pt x="2033" y="4276"/>
                  <a:pt x="2033" y="4276"/>
                  <a:pt x="2034" y="4276"/>
                </a:cubicBez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5" name=""/>
          <p:cNvGrpSpPr/>
          <p:nvPr/>
        </p:nvGrpSpPr>
        <p:grpSpPr>
          <a:xfrm>
            <a:off x="7694640" y="1943280"/>
            <a:ext cx="1343160" cy="1626840"/>
            <a:chOff x="7694640" y="1943280"/>
            <a:chExt cx="1343160" cy="1626840"/>
          </a:xfrm>
        </p:grpSpPr>
        <p:sp>
          <p:nvSpPr>
            <p:cNvPr id="476" name=""/>
            <p:cNvSpPr txBox="1"/>
            <p:nvPr/>
          </p:nvSpPr>
          <p:spPr>
            <a:xfrm>
              <a:off x="7694640" y="2162160"/>
              <a:ext cx="1343160" cy="1231920"/>
            </a:xfrm>
            <a:prstGeom prst="rect">
              <a:avLst/>
            </a:prstGeom>
            <a:solidFill>
              <a:srgbClr val="919191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 marL="190440" indent="-190440"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STUDENTS.RPT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"/>
            <p:cNvSpPr/>
            <p:nvPr/>
          </p:nvSpPr>
          <p:spPr>
            <a:xfrm>
              <a:off x="7718400" y="3146400"/>
              <a:ext cx="1314360" cy="423720"/>
            </a:xfrm>
            <a:prstGeom prst="ellipse">
              <a:avLst/>
            </a:prstGeom>
            <a:solidFill>
              <a:srgbClr val="919191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"/>
            <p:cNvSpPr txBox="1"/>
            <p:nvPr/>
          </p:nvSpPr>
          <p:spPr>
            <a:xfrm>
              <a:off x="7709040" y="1943280"/>
              <a:ext cx="1314360" cy="423720"/>
            </a:xfrm>
            <a:prstGeom prst="rect">
              <a:avLst/>
            </a:prstGeom>
            <a:solidFill>
              <a:srgbClr val="919191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marL="190440" indent="-190440"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DISK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9" name=""/>
          <p:cNvSpPr/>
          <p:nvPr/>
        </p:nvSpPr>
        <p:spPr>
          <a:xfrm>
            <a:off x="7213680" y="939960"/>
            <a:ext cx="851400" cy="1663920"/>
          </a:xfrm>
          <a:custGeom>
            <a:avLst/>
            <a:gdLst/>
            <a:ahLst/>
            <a:rect l="0" t="0" r="r" b="b"/>
            <a:pathLst>
              <a:path fill="none" w="2365" h="4622">
                <a:moveTo>
                  <a:pt x="2365" y="4622"/>
                </a:moveTo>
                <a:lnTo>
                  <a:pt x="2365" y="4622"/>
                </a:lnTo>
                <a:lnTo>
                  <a:pt x="2365" y="4622"/>
                </a:lnTo>
                <a:cubicBezTo>
                  <a:pt x="2365" y="3811"/>
                  <a:pt x="2256" y="3014"/>
                  <a:pt x="2048" y="2311"/>
                </a:cubicBezTo>
                <a:cubicBezTo>
                  <a:pt x="1841" y="1608"/>
                  <a:pt x="1542" y="1025"/>
                  <a:pt x="1182" y="619"/>
                </a:cubicBezTo>
                <a:cubicBezTo>
                  <a:pt x="823" y="214"/>
                  <a:pt x="415" y="0"/>
                  <a:pt x="0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 txBox="1"/>
          <p:nvPr/>
        </p:nvSpPr>
        <p:spPr>
          <a:xfrm>
            <a:off x="2120760" y="158760"/>
            <a:ext cx="42544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WRITE Syntax revisited.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55680" y="876240"/>
            <a:ext cx="8153280" cy="10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we are writing to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printer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print file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use a form of the WRITE command different from that we use when writing to a sequential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"/>
          <p:cNvPicPr/>
          <p:nvPr/>
        </p:nvPicPr>
        <p:blipFill>
          <a:blip r:embed="rId1"/>
          <a:stretch/>
        </p:blipFill>
        <p:spPr>
          <a:xfrm>
            <a:off x="812880" y="1108080"/>
            <a:ext cx="10748880" cy="574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 txBox="1"/>
          <p:nvPr/>
        </p:nvSpPr>
        <p:spPr>
          <a:xfrm>
            <a:off x="444600" y="318960"/>
            <a:ext cx="7007400" cy="40194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SELECT ReportFile ASSIGN TO "STUDENTS.RPT"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ORGANIZATION IS LINE SEQUENTIAL.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 ReportFile.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PrintLine          PIC X(40).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HeadingLine        PIC X(21) VALUE "  Record Count Report".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StudentTotalLine.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   PIC X(17) VALUE "Total Students = ".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PrnStudentCount PIC Z,ZZ9.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MaleTotalLine.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   PIC X(17) VALUE "Total Males    = ".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PrnMaleCount    PIC Z,ZZ9.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FemaleTotalLine.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FILLER          PIC X(17) VALUE "Total Females  = ".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02 PrnFemaleCount  PIC Z,ZZ9.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98280" y="4608360"/>
            <a:ext cx="8791560" cy="180972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  <a:spcBef>
                <a:spcPts val="72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StudentCount TO PrnStudentCount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MaleCount    TO PrnMaleCount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FemaleCount  TO PrnFemaleCount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72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WRITE PrintLine FROM HeadingLine      AFTER ADVANCING PAGE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WRITE PrintLine FROM StudentTotalLine AFTER ADVANCING 2 LINES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WRITE PrintLine FROM MaleTotalLine    AFTER ADVANCING 2 LINES</a:t>
            </a:r>
            <a:br>
              <a:rPr sz="1800"/>
            </a:b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WRITE PrintLine FROM FemaleTotalLine  AFTER ADVANCING 2 LINES.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5" name=""/>
          <p:cNvGrpSpPr/>
          <p:nvPr/>
        </p:nvGrpSpPr>
        <p:grpSpPr>
          <a:xfrm>
            <a:off x="7656480" y="1206360"/>
            <a:ext cx="1343160" cy="1627200"/>
            <a:chOff x="7656480" y="1206360"/>
            <a:chExt cx="1343160" cy="1627200"/>
          </a:xfrm>
        </p:grpSpPr>
        <p:sp>
          <p:nvSpPr>
            <p:cNvPr id="486" name=""/>
            <p:cNvSpPr txBox="1"/>
            <p:nvPr/>
          </p:nvSpPr>
          <p:spPr>
            <a:xfrm>
              <a:off x="7656480" y="1425600"/>
              <a:ext cx="1343160" cy="1231920"/>
            </a:xfrm>
            <a:prstGeom prst="rect">
              <a:avLst/>
            </a:prstGeom>
            <a:solidFill>
              <a:srgbClr val="919191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 marL="190440" indent="-190440"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STUDENTS.RPT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7680240" y="2409840"/>
              <a:ext cx="1314360" cy="423720"/>
            </a:xfrm>
            <a:prstGeom prst="ellipse">
              <a:avLst/>
            </a:prstGeom>
            <a:solidFill>
              <a:srgbClr val="919191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"/>
            <p:cNvSpPr txBox="1"/>
            <p:nvPr/>
          </p:nvSpPr>
          <p:spPr>
            <a:xfrm>
              <a:off x="7670880" y="1206360"/>
              <a:ext cx="1314360" cy="423720"/>
            </a:xfrm>
            <a:prstGeom prst="rect">
              <a:avLst/>
            </a:prstGeom>
            <a:solidFill>
              <a:srgbClr val="919191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marL="190440" indent="-190440"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DISK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9" name=""/>
          <p:cNvSpPr/>
          <p:nvPr/>
        </p:nvSpPr>
        <p:spPr>
          <a:xfrm>
            <a:off x="76320" y="1003320"/>
            <a:ext cx="864000" cy="892440"/>
          </a:xfrm>
          <a:custGeom>
            <a:avLst/>
            <a:gdLst/>
            <a:ahLst/>
            <a:rect l="0" t="0" r="r" b="b"/>
            <a:pathLst>
              <a:path fill="none" w="2400" h="2479">
                <a:moveTo>
                  <a:pt x="2400" y="37"/>
                </a:moveTo>
                <a:lnTo>
                  <a:pt x="2400" y="37"/>
                </a:lnTo>
                <a:cubicBezTo>
                  <a:pt x="2248" y="12"/>
                  <a:pt x="2091" y="0"/>
                  <a:pt x="1934" y="0"/>
                </a:cubicBezTo>
                <a:cubicBezTo>
                  <a:pt x="1595" y="0"/>
                  <a:pt x="1261" y="58"/>
                  <a:pt x="967" y="170"/>
                </a:cubicBezTo>
                <a:cubicBezTo>
                  <a:pt x="673" y="281"/>
                  <a:pt x="429" y="442"/>
                  <a:pt x="259" y="635"/>
                </a:cubicBezTo>
                <a:cubicBezTo>
                  <a:pt x="89" y="828"/>
                  <a:pt x="0" y="1048"/>
                  <a:pt x="0" y="1271"/>
                </a:cubicBezTo>
                <a:cubicBezTo>
                  <a:pt x="0" y="1494"/>
                  <a:pt x="89" y="1713"/>
                  <a:pt x="259" y="1906"/>
                </a:cubicBezTo>
                <a:cubicBezTo>
                  <a:pt x="429" y="2099"/>
                  <a:pt x="673" y="2260"/>
                  <a:pt x="967" y="2371"/>
                </a:cubicBezTo>
                <a:cubicBezTo>
                  <a:pt x="1083" y="2416"/>
                  <a:pt x="1206" y="2452"/>
                  <a:pt x="1334" y="2479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2207520" y="1892160"/>
            <a:ext cx="331200" cy="495360"/>
          </a:xfrm>
          <a:custGeom>
            <a:avLst/>
            <a:gdLst/>
            <a:ahLst/>
            <a:rect l="0" t="0" r="r" b="b"/>
            <a:pathLst>
              <a:path fill="none" w="920" h="1376">
                <a:moveTo>
                  <a:pt x="218" y="1376"/>
                </a:moveTo>
                <a:lnTo>
                  <a:pt x="218" y="1376"/>
                </a:lnTo>
                <a:cubicBezTo>
                  <a:pt x="341" y="1375"/>
                  <a:pt x="461" y="1343"/>
                  <a:pt x="566" y="1284"/>
                </a:cubicBezTo>
                <a:cubicBezTo>
                  <a:pt x="674" y="1223"/>
                  <a:pt x="763" y="1137"/>
                  <a:pt x="825" y="1032"/>
                </a:cubicBezTo>
                <a:cubicBezTo>
                  <a:pt x="887" y="927"/>
                  <a:pt x="920" y="809"/>
                  <a:pt x="920" y="688"/>
                </a:cubicBezTo>
                <a:cubicBezTo>
                  <a:pt x="920" y="567"/>
                  <a:pt x="887" y="449"/>
                  <a:pt x="825" y="344"/>
                </a:cubicBezTo>
                <a:cubicBezTo>
                  <a:pt x="763" y="239"/>
                  <a:pt x="674" y="153"/>
                  <a:pt x="566" y="92"/>
                </a:cubicBezTo>
                <a:cubicBezTo>
                  <a:pt x="459" y="32"/>
                  <a:pt x="337" y="0"/>
                  <a:pt x="213" y="0"/>
                </a:cubicBezTo>
                <a:cubicBezTo>
                  <a:pt x="141" y="0"/>
                  <a:pt x="69" y="11"/>
                  <a:pt x="0" y="32"/>
                </a:cubicBezTo>
              </a:path>
            </a:pathLst>
          </a:custGeom>
          <a:ln w="12600">
            <a:solidFill>
              <a:srgbClr val="FC0128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2381400" y="1917720"/>
            <a:ext cx="477000" cy="645480"/>
          </a:xfrm>
          <a:custGeom>
            <a:avLst/>
            <a:gdLst/>
            <a:ahLst/>
            <a:rect l="0" t="0" r="r" b="b"/>
            <a:pathLst>
              <a:path fill="none" w="1325" h="1793">
                <a:moveTo>
                  <a:pt x="797" y="1793"/>
                </a:moveTo>
                <a:lnTo>
                  <a:pt x="797" y="1793"/>
                </a:lnTo>
                <a:cubicBezTo>
                  <a:pt x="940" y="1712"/>
                  <a:pt x="1059" y="1611"/>
                  <a:pt x="1148" y="1495"/>
                </a:cubicBezTo>
                <a:cubicBezTo>
                  <a:pt x="1264" y="1343"/>
                  <a:pt x="1325" y="1171"/>
                  <a:pt x="1325" y="997"/>
                </a:cubicBezTo>
                <a:cubicBezTo>
                  <a:pt x="1325" y="822"/>
                  <a:pt x="1264" y="650"/>
                  <a:pt x="1148" y="498"/>
                </a:cubicBezTo>
                <a:cubicBezTo>
                  <a:pt x="1032" y="347"/>
                  <a:pt x="865" y="221"/>
                  <a:pt x="663" y="134"/>
                </a:cubicBezTo>
                <a:cubicBezTo>
                  <a:pt x="462" y="46"/>
                  <a:pt x="234" y="0"/>
                  <a:pt x="1" y="0"/>
                </a:cubicBezTo>
                <a:lnTo>
                  <a:pt x="0" y="0"/>
                </a:ln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2394000" y="1924200"/>
            <a:ext cx="753120" cy="1290960"/>
          </a:xfrm>
          <a:custGeom>
            <a:avLst/>
            <a:gdLst/>
            <a:ahLst/>
            <a:rect l="0" t="0" r="r" b="b"/>
            <a:pathLst>
              <a:path fill="none" w="2092" h="3586">
                <a:moveTo>
                  <a:pt x="143" y="3586"/>
                </a:moveTo>
                <a:lnTo>
                  <a:pt x="143" y="3586"/>
                </a:lnTo>
                <a:cubicBezTo>
                  <a:pt x="466" y="3570"/>
                  <a:pt x="780" y="3489"/>
                  <a:pt x="1059" y="3348"/>
                </a:cubicBezTo>
                <a:cubicBezTo>
                  <a:pt x="1373" y="3191"/>
                  <a:pt x="1634" y="2964"/>
                  <a:pt x="1815" y="2692"/>
                </a:cubicBezTo>
                <a:cubicBezTo>
                  <a:pt x="1996" y="2419"/>
                  <a:pt x="2092" y="2109"/>
                  <a:pt x="2092" y="1794"/>
                </a:cubicBezTo>
                <a:cubicBezTo>
                  <a:pt x="2092" y="1479"/>
                  <a:pt x="1996" y="1170"/>
                  <a:pt x="1815" y="897"/>
                </a:cubicBezTo>
                <a:cubicBezTo>
                  <a:pt x="1634" y="624"/>
                  <a:pt x="1373" y="398"/>
                  <a:pt x="1059" y="240"/>
                </a:cubicBezTo>
                <a:cubicBezTo>
                  <a:pt x="745" y="83"/>
                  <a:pt x="389" y="0"/>
                  <a:pt x="27" y="0"/>
                </a:cubicBezTo>
                <a:cubicBezTo>
                  <a:pt x="18" y="0"/>
                  <a:pt x="9" y="0"/>
                  <a:pt x="0" y="0"/>
                </a:cubicBez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2387520" y="1930320"/>
            <a:ext cx="1117800" cy="1841040"/>
          </a:xfrm>
          <a:custGeom>
            <a:avLst/>
            <a:gdLst/>
            <a:ahLst/>
            <a:rect l="0" t="0" r="r" b="b"/>
            <a:pathLst>
              <a:path fill="none" w="3105" h="5114">
                <a:moveTo>
                  <a:pt x="751" y="5114"/>
                </a:moveTo>
                <a:lnTo>
                  <a:pt x="751" y="5114"/>
                </a:lnTo>
                <a:cubicBezTo>
                  <a:pt x="1032" y="5055"/>
                  <a:pt x="1302" y="4964"/>
                  <a:pt x="1553" y="4843"/>
                </a:cubicBezTo>
                <a:cubicBezTo>
                  <a:pt x="2025" y="4615"/>
                  <a:pt x="2417" y="4288"/>
                  <a:pt x="2689" y="3893"/>
                </a:cubicBezTo>
                <a:cubicBezTo>
                  <a:pt x="2962" y="3499"/>
                  <a:pt x="3105" y="3051"/>
                  <a:pt x="3105" y="2596"/>
                </a:cubicBezTo>
                <a:cubicBezTo>
                  <a:pt x="3105" y="2140"/>
                  <a:pt x="2962" y="1692"/>
                  <a:pt x="2689" y="1298"/>
                </a:cubicBezTo>
                <a:cubicBezTo>
                  <a:pt x="2417" y="903"/>
                  <a:pt x="2025" y="576"/>
                  <a:pt x="1553" y="348"/>
                </a:cubicBezTo>
                <a:cubicBezTo>
                  <a:pt x="1081" y="120"/>
                  <a:pt x="546" y="0"/>
                  <a:pt x="0" y="0"/>
                </a:cubicBezTo>
                <a:lnTo>
                  <a:pt x="0" y="0"/>
                </a:lnTo>
              </a:path>
            </a:pathLst>
          </a:custGeom>
          <a:ln w="12600">
            <a:solidFill>
              <a:srgbClr val="FC012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5524560" y="990720"/>
            <a:ext cx="2502360" cy="876600"/>
          </a:xfrm>
          <a:custGeom>
            <a:avLst/>
            <a:gdLst/>
            <a:ahLst/>
            <a:rect l="0" t="0" r="r" b="b"/>
            <a:pathLst>
              <a:path fill="none" w="6951" h="2435">
                <a:moveTo>
                  <a:pt x="6951" y="2435"/>
                </a:moveTo>
                <a:lnTo>
                  <a:pt x="6951" y="2435"/>
                </a:lnTo>
                <a:lnTo>
                  <a:pt x="6951" y="2435"/>
                </a:lnTo>
                <a:cubicBezTo>
                  <a:pt x="6951" y="2008"/>
                  <a:pt x="6630" y="1588"/>
                  <a:pt x="6020" y="1217"/>
                </a:cubicBezTo>
                <a:cubicBezTo>
                  <a:pt x="5410" y="847"/>
                  <a:pt x="4532" y="540"/>
                  <a:pt x="3475" y="326"/>
                </a:cubicBezTo>
                <a:cubicBezTo>
                  <a:pt x="2419" y="113"/>
                  <a:pt x="1220" y="0"/>
                  <a:pt x="0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Arithmetic  and  Edited Pictures</dc:title>
</cp:coreProperties>
</file>