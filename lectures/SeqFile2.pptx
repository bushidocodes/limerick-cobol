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PM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M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gradFill rotWithShape="0">
            <a:gsLst>
              <a:gs pos="0">
                <a:srgbClr val="114FFB"/>
              </a:gs>
              <a:gs pos="100000">
                <a:srgbClr val="FFFFFF"/>
              </a:gs>
            </a:gsLst>
            <a:path path="rect">
              <a:fillToRect l="0" t="0" r="100000" b="10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"/>
          <p:cNvGrpSpPr/>
          <p:nvPr/>
        </p:nvGrpSpPr>
        <p:grpSpPr>
          <a:xfrm>
            <a:off x="6629400" y="4343400"/>
            <a:ext cx="2286000" cy="2286000"/>
            <a:chOff x="6629400" y="4343400"/>
            <a:chExt cx="2286000" cy="2286000"/>
          </a:xfrm>
        </p:grpSpPr>
        <p:sp>
          <p:nvSpPr>
            <p:cNvPr id="4" name=""/>
            <p:cNvSpPr/>
            <p:nvPr/>
          </p:nvSpPr>
          <p:spPr>
            <a:xfrm>
              <a:off x="8763120" y="6477120"/>
              <a:ext cx="152280" cy="152280"/>
            </a:xfrm>
            <a:prstGeom prst="rect">
              <a:avLst/>
            </a:prstGeom>
            <a:solidFill>
              <a:srgbClr val="FF0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"/>
            <p:cNvSpPr/>
            <p:nvPr/>
          </p:nvSpPr>
          <p:spPr>
            <a:xfrm>
              <a:off x="8458200" y="647712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" name=""/>
            <p:cNvSpPr/>
            <p:nvPr/>
          </p:nvSpPr>
          <p:spPr>
            <a:xfrm>
              <a:off x="8153280" y="647712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" name=""/>
            <p:cNvSpPr/>
            <p:nvPr/>
          </p:nvSpPr>
          <p:spPr>
            <a:xfrm>
              <a:off x="7848720" y="64771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" name=""/>
            <p:cNvSpPr/>
            <p:nvPr/>
          </p:nvSpPr>
          <p:spPr>
            <a:xfrm>
              <a:off x="7543800" y="647712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"/>
            <p:cNvSpPr/>
            <p:nvPr/>
          </p:nvSpPr>
          <p:spPr>
            <a:xfrm>
              <a:off x="7238880" y="647712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" name=""/>
            <p:cNvSpPr/>
            <p:nvPr/>
          </p:nvSpPr>
          <p:spPr>
            <a:xfrm>
              <a:off x="6934320" y="64771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" name=""/>
            <p:cNvSpPr/>
            <p:nvPr/>
          </p:nvSpPr>
          <p:spPr>
            <a:xfrm>
              <a:off x="6629400" y="647712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" name=""/>
            <p:cNvSpPr/>
            <p:nvPr/>
          </p:nvSpPr>
          <p:spPr>
            <a:xfrm>
              <a:off x="8763120" y="6172200"/>
              <a:ext cx="152280" cy="152280"/>
            </a:xfrm>
            <a:prstGeom prst="rect">
              <a:avLst/>
            </a:prstGeom>
            <a:solidFill>
              <a:srgbClr val="FF80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"/>
            <p:cNvSpPr/>
            <p:nvPr/>
          </p:nvSpPr>
          <p:spPr>
            <a:xfrm>
              <a:off x="8763120" y="5867280"/>
              <a:ext cx="152280" cy="152280"/>
            </a:xfrm>
            <a:prstGeom prst="rect">
              <a:avLst/>
            </a:prstGeom>
            <a:solidFill>
              <a:srgbClr val="FF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" name=""/>
            <p:cNvSpPr/>
            <p:nvPr/>
          </p:nvSpPr>
          <p:spPr>
            <a:xfrm>
              <a:off x="8763120" y="5562720"/>
              <a:ext cx="152280" cy="152280"/>
            </a:xfrm>
            <a:prstGeom prst="rect">
              <a:avLst/>
            </a:prstGeom>
            <a:solidFill>
              <a:srgbClr val="00FF0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" name=""/>
            <p:cNvSpPr/>
            <p:nvPr/>
          </p:nvSpPr>
          <p:spPr>
            <a:xfrm>
              <a:off x="8763120" y="5257800"/>
              <a:ext cx="152280" cy="152280"/>
            </a:xfrm>
            <a:prstGeom prst="rect">
              <a:avLst/>
            </a:prstGeom>
            <a:solidFill>
              <a:srgbClr val="00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"/>
            <p:cNvSpPr/>
            <p:nvPr/>
          </p:nvSpPr>
          <p:spPr>
            <a:xfrm>
              <a:off x="8763120" y="4952880"/>
              <a:ext cx="152280" cy="152280"/>
            </a:xfrm>
            <a:prstGeom prst="rect">
              <a:avLst/>
            </a:prstGeom>
            <a:solidFill>
              <a:srgbClr val="00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7" name=""/>
            <p:cNvSpPr/>
            <p:nvPr/>
          </p:nvSpPr>
          <p:spPr>
            <a:xfrm>
              <a:off x="8763120" y="4648320"/>
              <a:ext cx="152280" cy="152280"/>
            </a:xfrm>
            <a:prstGeom prst="rect">
              <a:avLst/>
            </a:prstGeom>
            <a:solidFill>
              <a:srgbClr val="FF00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" name=""/>
            <p:cNvSpPr/>
            <p:nvPr/>
          </p:nvSpPr>
          <p:spPr>
            <a:xfrm>
              <a:off x="8763120" y="4343400"/>
              <a:ext cx="152280" cy="152280"/>
            </a:xfrm>
            <a:prstGeom prst="rect">
              <a:avLst/>
            </a:prstGeom>
            <a:solidFill>
              <a:srgbClr val="A000A0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  <p:sldLayoutId id="2147483662" r:id="rId13"/>
    <p:sldLayoutId id="2147483663" r:id="rId14"/>
    <p:sldLayoutId id="2147483664" r:id="rId15"/>
    <p:sldLayoutId id="2147483665" r:id="rId16"/>
    <p:sldLayoutId id="2147483666" r:id="rId17"/>
    <p:sldLayoutId id="2147483667" r:id="rId18"/>
    <p:sldLayoutId id="2147483668" r:id="rId19"/>
    <p:sldLayoutId id="2147483669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"/>
          <p:cNvSpPr/>
          <p:nvPr/>
        </p:nvSpPr>
        <p:spPr>
          <a:xfrm>
            <a:off x="0" y="0"/>
            <a:ext cx="9131400" cy="6845400"/>
          </a:xfrm>
          <a:prstGeom prst="rect">
            <a:avLst/>
          </a:prstGeom>
          <a:gradFill rotWithShape="0">
            <a:gsLst>
              <a:gs pos="0">
                <a:srgbClr val="063DE8"/>
              </a:gs>
              <a:gs pos="100000">
                <a:srgbClr val="FFFFFF"/>
              </a:gs>
            </a:gsLst>
            <a:path path="rect">
              <a:fillToRect l="50000" t="50000" r="50000" b="50000"/>
            </a:path>
          </a:gra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3336840" y="2583000"/>
            <a:ext cx="2649600" cy="1573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</a:pP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Processing</a:t>
            </a:r>
            <a:br>
              <a:rPr sz="3600"/>
            </a:b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Sequential</a:t>
            </a:r>
            <a:br>
              <a:rPr sz="3600"/>
            </a:br>
            <a:r>
              <a:rPr lang="en-US" sz="36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Files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 txBox="1"/>
          <p:nvPr/>
        </p:nvSpPr>
        <p:spPr>
          <a:xfrm>
            <a:off x="198360" y="3517920"/>
            <a:ext cx="8290080" cy="28954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380880" indent="-380880">
              <a:lnSpc>
                <a:spcPct val="8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Begin.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StudentFile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"Enter student details using template below.  Press CR to end.". PERFORM GetStudentDetails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UNTIL StudentDetails = SPACES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StudentDetails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PERFORM GetStudentDetails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END-PERFORM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CLOSE StudentFile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STOP RUN.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GetStudentDetails.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DISPLAY "NNNNNNNSSSSSSSSIIYYMMDDCCCCGGGGS".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8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ACCEPT  StudentDetails. 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"/>
          <p:cNvGrpSpPr/>
          <p:nvPr/>
        </p:nvGrpSpPr>
        <p:grpSpPr>
          <a:xfrm>
            <a:off x="274680" y="317520"/>
            <a:ext cx="5788080" cy="1933560"/>
            <a:chOff x="274680" y="317520"/>
            <a:chExt cx="5788080" cy="1933560"/>
          </a:xfrm>
        </p:grpSpPr>
        <p:sp>
          <p:nvSpPr>
            <p:cNvPr id="75" name=""/>
            <p:cNvSpPr txBox="1"/>
            <p:nvPr/>
          </p:nvSpPr>
          <p:spPr>
            <a:xfrm>
              <a:off x="274680" y="647640"/>
              <a:ext cx="5788080" cy="16034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Enter student details using template below.  Press CR to end.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NNNNNNNSSSSSSSSIIYYMMDDCCCCGGGGS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9456789COUGHLANMS580812LM510598M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NNNNNNNSSSSSSSSIIYYMMDDCCCCGGGGS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9367892RYAN    TG521210LM601222F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NNNNNNNSSSSSSSSIIYYMMDDCCCCGGGGS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9368934WILSON  HR520323LM610786M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NNNNNNNSSSSSSSSIIYYMMDDCCCCGGGGS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90000"/>
                </a:lnSpc>
              </a:pPr>
              <a:r>
                <a:rPr lang="en-US" sz="1200" b="1" i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CarriageReturn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" name=""/>
            <p:cNvSpPr txBox="1"/>
            <p:nvPr/>
          </p:nvSpPr>
          <p:spPr>
            <a:xfrm>
              <a:off x="1660680" y="317520"/>
              <a:ext cx="1494000" cy="33660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Run of SeqWrite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"/>
          <p:cNvSpPr txBox="1"/>
          <p:nvPr/>
        </p:nvSpPr>
        <p:spPr>
          <a:xfrm>
            <a:off x="4245120" y="212760"/>
            <a:ext cx="4589640" cy="372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$ SET SOURCEFORMAT"FREE"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IDENTIFICATION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PROGRAM-ID.  SeqWrite.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AUTHOR.  Michael Coughlan.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ENVIRONMENT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INPUT-OUTPUT SECTION.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FILE-CONTROL.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SELECT StudentFile ASSIGN TO "STUDENTS.DAT"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ORGANIZATION IS LINE SEQUENTIAL.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DATA DIVISION.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FD StudentFile.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01 StudentDetails.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 StudentId       PIC 9(7).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 StudentName.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Surname      PIC X(8).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Initials     PIC XX.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 DateOfBirth.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YOBirth      PIC 9(2).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MOBirth      PIC 9(2).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   03 DOBirth      PIC 9(2).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 CourseCode      PIC X(4).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 Grant           PIC 9(4).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75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02  Gender          PIC 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" name=""/>
          <p:cNvGrpSpPr/>
          <p:nvPr/>
        </p:nvGrpSpPr>
        <p:grpSpPr>
          <a:xfrm>
            <a:off x="420840" y="225360"/>
            <a:ext cx="8197560" cy="5889960"/>
            <a:chOff x="420840" y="225360"/>
            <a:chExt cx="8197560" cy="5889960"/>
          </a:xfrm>
        </p:grpSpPr>
        <p:sp>
          <p:nvSpPr>
            <p:cNvPr id="79" name=""/>
            <p:cNvSpPr txBox="1"/>
            <p:nvPr/>
          </p:nvSpPr>
          <p:spPr>
            <a:xfrm>
              <a:off x="420840" y="3559320"/>
              <a:ext cx="6661080" cy="255600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PROCEDURE DIVISION.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Begin.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OPEN INPUT StudentFile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READ StudentFile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AT END MOVE HIGH-VALUES TO StudentDetails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END-READ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PERFORM UNTIL StudentDetails = HIGH-VALUES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DISPLAY StudentId SPACE StudentName SPACE CourseCode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READ StudentFile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   AT END MOVE HIGH-VALUES TO StudentDetails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END-READ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END-PERFORM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CLOSE StudentFile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80000"/>
                </a:lnSpc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STOP RUN.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"/>
            <p:cNvSpPr txBox="1"/>
            <p:nvPr/>
          </p:nvSpPr>
          <p:spPr>
            <a:xfrm>
              <a:off x="4014720" y="225360"/>
              <a:ext cx="4603680" cy="37274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$ SET SOURCEFORMAT"FREE"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IDENTIFICATION DIVISION.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PROGRAM-ID.  SeqRead.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AUTHOR.  Michael Coughlan.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ENVIRONMENT DIVISION.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INPUT-OUTPUT SECTION.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FILE-CONTROL.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SELECT StudentFile ASSIGN TO "STUDENTS.DAT"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	</a:t>
              </a: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ORGANIZATION IS LINE SEQUENTIAL.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DATA DIVISION.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FILE SECTION.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FD StudentFile.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01 StudentDetails.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 StudentId       PIC 9(7).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 StudentName.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 03 Surname      PIC X(8).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 03 Initials     PIC XX.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 DateOfBirth.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 03 YOBirth      PIC 9(2).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 03 MOBirth      PIC 9(2).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    03 DOBirth      PIC 9(2).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 CourseCode      PIC X(4).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 Grant           PIC 9(4).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>
                <a:lnSpc>
                  <a:spcPct val="75000"/>
                </a:lnSpc>
              </a:pPr>
              <a:r>
                <a:rPr lang="en-US" sz="12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  02  Gender          PIC X.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" name=""/>
            <p:cNvSpPr txBox="1"/>
            <p:nvPr/>
          </p:nvSpPr>
          <p:spPr>
            <a:xfrm>
              <a:off x="639720" y="922320"/>
              <a:ext cx="2664000" cy="99684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  <a:effectLst>
              <a:outerShdw dist="0" dir="0" rotWithShape="0">
                <a:srgbClr val="919191"/>
              </a:outerShdw>
            </a:effectLst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9456789 COUGHLANMS LM51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9367892 RYAN    TG LM60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Courier New"/>
                  <a:ea typeface="Courier New"/>
                </a:rPr>
                <a:t>9368934 WILSON  HR LM61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"/>
            <p:cNvSpPr txBox="1"/>
            <p:nvPr/>
          </p:nvSpPr>
          <p:spPr>
            <a:xfrm>
              <a:off x="1130400" y="592200"/>
              <a:ext cx="1601640" cy="336600"/>
            </a:xfrm>
            <a:prstGeom prst="rect">
              <a:avLst/>
            </a:prstGeom>
            <a:solidFill>
              <a:srgbClr val="DADADA"/>
            </a:solidFill>
            <a:ln w="12600">
              <a:solidFill>
                <a:srgbClr val="000000"/>
              </a:solidFill>
              <a:round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400" b="1" u="none" strike="noStrike">
                  <a:solidFill>
                    <a:srgbClr val="000000"/>
                  </a:solidFill>
                  <a:effectLst/>
                  <a:uFillTx/>
                  <a:latin typeface="Times New Roman"/>
                  <a:ea typeface="Times New Roman"/>
                </a:rPr>
                <a:t>RUN OF SeqRead</a:t>
              </a:r>
              <a:endParaRPr lang="en-US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"/>
          <p:cNvSpPr txBox="1"/>
          <p:nvPr/>
        </p:nvSpPr>
        <p:spPr>
          <a:xfrm>
            <a:off x="2274840" y="93600"/>
            <a:ext cx="44323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Organization and Access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254160" y="723960"/>
            <a:ext cx="8470800" cy="569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17520" indent="-317520">
              <a:lnSpc>
                <a:spcPct val="90000"/>
              </a:lnSpc>
              <a:spcBef>
                <a:spcPts val="132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234936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Two important characteristics of files are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38400" lvl="1" indent="-4762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1428840" algn="l"/>
              </a:tabLst>
            </a:pPr>
            <a:r>
              <a:rPr lang="en-US" sz="20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DATA ORGANIZATION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38400" lvl="1" indent="-4762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1428840" algn="l"/>
              </a:tabLst>
            </a:pPr>
            <a:r>
              <a:rPr lang="en-US" sz="20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METHOD OF ACCESS</a:t>
            </a: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17520" indent="-31752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234936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Data organization refers to the way the records of the file are organized on the backing storage device.</a:t>
            </a:r>
            <a:br>
              <a:rPr sz="2400"/>
            </a:b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COBOL recognizes three main file organizations;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38400" lvl="1" indent="-4762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142884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Sequential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- Records organized serially.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38400" lvl="1" indent="-4762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142884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Relative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- Relative record number based organization.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38400" lvl="1" indent="-4762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142884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Indexed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- Index based organization.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17520" indent="-31752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234936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method of access refers to the way in which records are accessed.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38400" lvl="1" indent="-4762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142884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 file with an organization of Indexed or Relative may </a:t>
            </a:r>
            <a:br>
              <a:rPr sz="20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still have its records accessed sequentially. 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38400" lvl="1" indent="-476280">
              <a:lnSpc>
                <a:spcPct val="90000"/>
              </a:lnSpc>
              <a:spcBef>
                <a:spcPts val="720"/>
              </a:spcBef>
              <a:buClr>
                <a:srgbClr val="00FF00"/>
              </a:buClr>
              <a:buSzPct val="65000"/>
              <a:buFont typeface="Monotype Sorts"/>
              <a:buChar char="_x0000_"/>
              <a:tabLst>
                <a:tab pos="142884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But records in a file with an organization of Sequential can not be accessed directly.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"/>
          <p:cNvSpPr txBox="1"/>
          <p:nvPr/>
        </p:nvSpPr>
        <p:spPr>
          <a:xfrm>
            <a:off x="2403360" y="179280"/>
            <a:ext cx="425448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Sequential Organization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380880" y="838080"/>
            <a:ext cx="8153280" cy="541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17520" indent="-31752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19684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simplest COBOL file organization is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Sequential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17520" indent="-31752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19684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 a Sequential file the records are arranged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serially,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one after another, like cards in a dealing shoe.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17520" indent="-31752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19684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 a Sequential file the only way to access any particular record is to;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93800" indent="-316080">
              <a:lnSpc>
                <a:spcPct val="90000"/>
              </a:lnSpc>
              <a:spcBef>
                <a:spcPts val="720"/>
              </a:spcBef>
              <a:tabLst>
                <a:tab pos="149220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	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Start at the first record and read all the succeeding records until you find the one you want or reach the end of the file.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17520" indent="-31752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19684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Sequential files may be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indent="-458640">
              <a:lnSpc>
                <a:spcPct val="9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Ordered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indent="-458640">
              <a:lnSpc>
                <a:spcPct val="9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	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0" indent="-458640">
              <a:lnSpc>
                <a:spcPct val="9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Unordered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 </a:t>
            </a: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(these should be called Serial files)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17520" indent="-31752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  <a:tabLst>
                <a:tab pos="196848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ordering of the records in a file has a significant impact on the way in which it is processed and the processing that can be done on it.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"/>
          <p:cNvSpPr txBox="1"/>
          <p:nvPr/>
        </p:nvSpPr>
        <p:spPr>
          <a:xfrm>
            <a:off x="2017800" y="136440"/>
            <a:ext cx="510372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Ordered and Unordered Files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1558800" y="158256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512720" y="1182600"/>
            <a:ext cx="1447920" cy="3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5640480" y="158256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479920" y="1182600"/>
            <a:ext cx="1676520" cy="374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09760" y="5253120"/>
            <a:ext cx="7986600" cy="844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Bef>
                <a:spcPts val="1199"/>
              </a:spcBef>
              <a:spcAft>
                <a:spcPts val="1247"/>
              </a:spcAf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In an ordered file the records are sequenced on some field in the record.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 txBox="1"/>
          <p:nvPr/>
        </p:nvSpPr>
        <p:spPr>
          <a:xfrm>
            <a:off x="549360" y="157968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557280" y="1119240"/>
            <a:ext cx="1365120" cy="49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6918480" y="157968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6942240" y="1119240"/>
            <a:ext cx="1308240" cy="49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3881520" y="1328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3881520" y="175104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3249720" y="1595520"/>
            <a:ext cx="2646360" cy="30780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5000"/>
              </a:lnSpc>
              <a:spcBef>
                <a:spcPts val="479"/>
              </a:spcBef>
            </a:pPr>
            <a:r>
              <a:rPr lang="en-US" sz="14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OPEN EXTEND UF.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5000"/>
              </a:lnSpc>
              <a:spcBef>
                <a:spcPts val="479"/>
              </a:spcBef>
            </a:pPr>
            <a:r>
              <a:rPr lang="en-US" sz="1400" b="1" u="none" strike="noStrike">
                <a:solidFill>
                  <a:srgbClr val="CF0E3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5000"/>
              </a:lnSpc>
              <a:spcBef>
                <a:spcPts val="479"/>
              </a:spcBef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5000"/>
              </a:lnSpc>
              <a:spcBef>
                <a:spcPts val="479"/>
              </a:spcBef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TFRec TO UFRec.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5000"/>
              </a:lnSpc>
              <a:spcBef>
                <a:spcPts val="479"/>
              </a:spcBef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UFRec.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3435480" y="19162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3435480" y="2344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UFRec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674720" y="187200"/>
            <a:ext cx="59133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Adding records to unordered files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"/>
          <p:cNvSpPr txBox="1"/>
          <p:nvPr/>
        </p:nvSpPr>
        <p:spPr>
          <a:xfrm>
            <a:off x="549360" y="157968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557280" y="1119240"/>
            <a:ext cx="1365120" cy="49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6918480" y="1579680"/>
            <a:ext cx="1366920" cy="35146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6942240" y="1119240"/>
            <a:ext cx="1308240" cy="49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7" name=""/>
          <p:cNvGrpSpPr/>
          <p:nvPr/>
        </p:nvGrpSpPr>
        <p:grpSpPr>
          <a:xfrm>
            <a:off x="3249720" y="1328760"/>
            <a:ext cx="2646360" cy="3344760"/>
            <a:chOff x="3249720" y="1328760"/>
            <a:chExt cx="2646360" cy="3344760"/>
          </a:xfrm>
        </p:grpSpPr>
        <p:sp>
          <p:nvSpPr>
            <p:cNvPr id="108" name=""/>
            <p:cNvSpPr txBox="1"/>
            <p:nvPr/>
          </p:nvSpPr>
          <p:spPr>
            <a:xfrm>
              <a:off x="3881520" y="1328760"/>
              <a:ext cx="1390680" cy="282600"/>
            </a:xfrm>
            <a:prstGeom prst="rect">
              <a:avLst/>
            </a:prstGeom>
            <a:noFill/>
            <a:ln w="0">
              <a:noFill/>
            </a:ln>
          </p:spPr>
          <p:txBody>
            <a:bodyPr lIns="0" tIns="0" rIns="0" bIns="0" anchor="t">
              <a:spAutoFit/>
            </a:bodyPr>
            <a:p>
              <a:pPr marL="190440" indent="-190440" algn="ctr">
                <a:lnSpc>
                  <a:spcPct val="103000"/>
                </a:lnSpc>
                <a:spcAft>
                  <a:spcPts val="1247"/>
                </a:spcAft>
              </a:pPr>
              <a:r>
                <a:rPr lang="en-US" sz="1800" b="1" u="none" strike="noStrike">
                  <a:solidFill>
                    <a:srgbClr val="FFFFFF"/>
                  </a:solidFill>
                  <a:effectLst/>
                  <a:uFillTx/>
                  <a:latin typeface="Times New Roman"/>
                  <a:ea typeface="Times New Roman"/>
                </a:rPr>
                <a:t>PROGRAM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109" name=""/>
            <p:cNvGrpSpPr/>
            <p:nvPr/>
          </p:nvGrpSpPr>
          <p:grpSpPr>
            <a:xfrm>
              <a:off x="3249720" y="1595520"/>
              <a:ext cx="2646360" cy="3078000"/>
              <a:chOff x="3249720" y="1595520"/>
              <a:chExt cx="2646360" cy="3078000"/>
            </a:xfrm>
          </p:grpSpPr>
          <p:sp>
            <p:nvSpPr>
              <p:cNvPr id="110" name=""/>
              <p:cNvSpPr txBox="1"/>
              <p:nvPr/>
            </p:nvSpPr>
            <p:spPr>
              <a:xfrm>
                <a:off x="3881520" y="1751040"/>
                <a:ext cx="1390680" cy="282600"/>
              </a:xfrm>
              <a:prstGeom prst="rect">
                <a:avLst/>
              </a:prstGeom>
              <a:noFill/>
              <a:ln w="0">
                <a:noFill/>
              </a:ln>
            </p:spPr>
            <p:txBody>
              <a:bodyPr lIns="0" tIns="0" rIns="0" bIns="0" anchor="t">
                <a:spAutoFit/>
              </a:bodyPr>
              <a:p>
                <a:pPr marL="190440" indent="-190440" algn="ctr">
                  <a:lnSpc>
                    <a:spcPct val="103000"/>
                  </a:lnSpc>
                  <a:spcAft>
                    <a:spcPts val="1247"/>
                  </a:spcAft>
                </a:pPr>
                <a:r>
                  <a:rPr lang="en-US" sz="1800" b="1" u="none" strike="noStrike">
                    <a:solidFill>
                      <a:srgbClr val="FFFFFF"/>
                    </a:solidFill>
                    <a:effectLst/>
                    <a:uFillTx/>
                    <a:latin typeface="Times New Roman"/>
                    <a:ea typeface="Times New Roman"/>
                  </a:rPr>
                  <a:t>PROGRAM</a:t>
                </a: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1" name=""/>
              <p:cNvSpPr txBox="1"/>
              <p:nvPr/>
            </p:nvSpPr>
            <p:spPr>
              <a:xfrm>
                <a:off x="3249720" y="1595520"/>
                <a:ext cx="2646360" cy="3078000"/>
              </a:xfrm>
              <a:prstGeom prst="rect">
                <a:avLst/>
              </a:prstGeom>
              <a:solidFill>
                <a:srgbClr val="DADADA"/>
              </a:solidFill>
              <a:ln w="12600">
                <a:solidFill>
                  <a:srgbClr val="000000"/>
                </a:solidFill>
                <a:round/>
              </a:ln>
              <a:effectLst>
                <a:outerShdw dist="0" dir="0" rotWithShape="0">
                  <a:srgbClr val="919191"/>
                </a:outerShdw>
              </a:effectLst>
            </p:spPr>
            <p:txBody>
              <a:bodyPr lIns="0" tIns="0" rIns="0" bIns="0" anchor="t">
                <a:spAutoFit/>
              </a:bodyPr>
              <a:p>
                <a:pPr marL="190440" indent="-190440">
                  <a:lnSpc>
                    <a:spcPct val="103000"/>
                  </a:lnSpc>
                </a:pPr>
                <a:r>
                  <a:rPr lang="en-US" sz="1400" b="1" u="none" strike="noStrike">
                    <a:solidFill>
                      <a:srgbClr val="000000"/>
                    </a:solidFill>
                    <a:effectLst/>
                    <a:uFillTx/>
                    <a:latin typeface="Courier New"/>
                    <a:ea typeface="Courier New"/>
                  </a:rPr>
                  <a:t>FILE SECTION.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3000"/>
                  </a:lnSpc>
                </a:pP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3000"/>
                  </a:lnSpc>
                </a:pP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3000"/>
                  </a:lnSpc>
                </a:pP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3000"/>
                  </a:lnSpc>
                </a:pP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3000"/>
                  </a:lnSpc>
                </a:pP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3000"/>
                  </a:lnSpc>
                </a:pPr>
                <a:r>
                  <a:rPr lang="en-US" sz="1400" b="1" u="none" strike="noStrike">
                    <a:solidFill>
                      <a:srgbClr val="000000"/>
                    </a:solidFill>
                    <a:effectLst/>
                    <a:uFillTx/>
                    <a:latin typeface="Courier New"/>
                    <a:ea typeface="Courier New"/>
                  </a:rPr>
                  <a:t>PROCEDURE DIVISION.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5000"/>
                  </a:lnSpc>
                  <a:spcBef>
                    <a:spcPts val="479"/>
                  </a:spcBef>
                </a:pPr>
                <a:r>
                  <a:rPr lang="en-US" sz="1400" b="1" u="none" strike="noStrike">
                    <a:solidFill>
                      <a:srgbClr val="000000"/>
                    </a:solidFill>
                    <a:effectLst/>
                    <a:uFillTx/>
                    <a:latin typeface="Courier New"/>
                    <a:ea typeface="Courier New"/>
                  </a:rPr>
                  <a:t>OPEN EXTEND UF.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5000"/>
                  </a:lnSpc>
                  <a:spcBef>
                    <a:spcPts val="479"/>
                  </a:spcBef>
                </a:pPr>
                <a:r>
                  <a:rPr lang="en-US" sz="1400" b="1" u="none" strike="noStrike">
                    <a:solidFill>
                      <a:srgbClr val="000000"/>
                    </a:solidFill>
                    <a:effectLst/>
                    <a:uFillTx/>
                    <a:latin typeface="Courier New"/>
                    <a:ea typeface="Courier New"/>
                  </a:rPr>
                  <a:t>OPEN INPUT TF.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5000"/>
                  </a:lnSpc>
                  <a:spcBef>
                    <a:spcPts val="479"/>
                  </a:spcBef>
                </a:pPr>
                <a:r>
                  <a:rPr lang="en-US" sz="1400" b="1" u="none" strike="noStrike">
                    <a:solidFill>
                      <a:srgbClr val="CF0E30"/>
                    </a:solidFill>
                    <a:effectLst/>
                    <a:uFillTx/>
                    <a:latin typeface="Courier New"/>
                    <a:ea typeface="Courier New"/>
                  </a:rPr>
                  <a:t>READ TF.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5000"/>
                  </a:lnSpc>
                  <a:spcBef>
                    <a:spcPts val="479"/>
                  </a:spcBef>
                </a:pPr>
                <a:r>
                  <a:rPr lang="en-US" sz="1400" b="1" u="none" strike="noStrike">
                    <a:solidFill>
                      <a:srgbClr val="CF0E30"/>
                    </a:solidFill>
                    <a:effectLst/>
                    <a:uFillTx/>
                    <a:latin typeface="Courier New"/>
                    <a:ea typeface="Courier New"/>
                  </a:rPr>
                  <a:t>MOVE TFRec TO UFRec.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marL="190440" indent="-190440">
                  <a:lnSpc>
                    <a:spcPct val="105000"/>
                  </a:lnSpc>
                  <a:spcBef>
                    <a:spcPts val="479"/>
                  </a:spcBef>
                </a:pPr>
                <a:r>
                  <a:rPr lang="en-US" sz="1400" b="1" u="none" strike="noStrike">
                    <a:solidFill>
                      <a:srgbClr val="CF0E30"/>
                    </a:solidFill>
                    <a:effectLst/>
                    <a:uFillTx/>
                    <a:latin typeface="Courier New"/>
                    <a:ea typeface="Courier New"/>
                  </a:rPr>
                  <a:t>WRITE UFRec.</a:t>
                </a:r>
                <a:endParaRPr lang="en-US" sz="14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2" name=""/>
              <p:cNvSpPr txBox="1"/>
              <p:nvPr/>
            </p:nvSpPr>
            <p:spPr>
              <a:xfrm>
                <a:off x="3435480" y="1916280"/>
                <a:ext cx="2228760" cy="371520"/>
              </a:xfrm>
              <a:prstGeom prst="rect">
                <a:avLst/>
              </a:prstGeom>
              <a:solidFill>
                <a:srgbClr val="DADAD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0" tIns="0" rIns="0" bIns="0" anchor="t">
                <a:spAutoFit/>
              </a:bodyPr>
              <a:p>
                <a:pPr>
                  <a:lnSpc>
                    <a:spcPct val="103000"/>
                  </a:lnSpc>
                  <a:spcAft>
                    <a:spcPts val="1247"/>
                  </a:spcAft>
                </a:pPr>
                <a:r>
                  <a:rPr lang="en-US" sz="1800" b="1" u="none" strike="noStrike">
                    <a:solidFill>
                      <a:srgbClr val="FC0128"/>
                    </a:solidFill>
                    <a:effectLst/>
                    <a:uFillTx/>
                    <a:latin typeface="Courier New"/>
                    <a:ea typeface="Courier New"/>
                  </a:rPr>
                  <a:t>RecordF</a:t>
                </a: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3" name=""/>
              <p:cNvSpPr txBox="1"/>
              <p:nvPr/>
            </p:nvSpPr>
            <p:spPr>
              <a:xfrm>
                <a:off x="3435480" y="2344680"/>
                <a:ext cx="2228760" cy="371520"/>
              </a:xfrm>
              <a:prstGeom prst="rect">
                <a:avLst/>
              </a:prstGeom>
              <a:solidFill>
                <a:srgbClr val="DADADA"/>
              </a:solidFill>
              <a:ln w="12600">
                <a:solidFill>
                  <a:srgbClr val="000000"/>
                </a:solidFill>
                <a:round/>
              </a:ln>
            </p:spPr>
            <p:txBody>
              <a:bodyPr lIns="0" tIns="0" rIns="0" bIns="0" anchor="t">
                <a:spAutoFit/>
              </a:bodyPr>
              <a:p>
                <a:pPr>
                  <a:lnSpc>
                    <a:spcPct val="103000"/>
                  </a:lnSpc>
                  <a:spcAft>
                    <a:spcPts val="1247"/>
                  </a:spcAft>
                </a:pPr>
                <a:r>
                  <a:rPr lang="en-US" sz="1800" b="1" u="none" strike="noStrike">
                    <a:solidFill>
                      <a:srgbClr val="FC0128"/>
                    </a:solidFill>
                    <a:effectLst/>
                    <a:uFillTx/>
                    <a:latin typeface="Courier New"/>
                    <a:ea typeface="Courier New"/>
                  </a:rPr>
                  <a:t>RecordF</a:t>
                </a:r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114" name=""/>
              <p:cNvSpPr/>
              <p:nvPr/>
            </p:nvSpPr>
            <p:spPr>
              <a:xfrm>
                <a:off x="4784760" y="2108160"/>
                <a:ext cx="470160" cy="457560"/>
              </a:xfrm>
              <a:custGeom>
                <a:avLst/>
                <a:gdLst/>
                <a:ahLst/>
                <a:rect l="0" t="0" r="r" b="b"/>
                <a:pathLst>
                  <a:path fill="none" w="1306" h="1271">
                    <a:moveTo>
                      <a:pt x="0" y="1271"/>
                    </a:moveTo>
                    <a:lnTo>
                      <a:pt x="0" y="1271"/>
                    </a:lnTo>
                    <a:cubicBezTo>
                      <a:pt x="229" y="1271"/>
                      <a:pt x="454" y="1242"/>
                      <a:pt x="653" y="1186"/>
                    </a:cubicBezTo>
                    <a:cubicBezTo>
                      <a:pt x="852" y="1130"/>
                      <a:pt x="1016" y="1050"/>
                      <a:pt x="1131" y="953"/>
                    </a:cubicBezTo>
                    <a:cubicBezTo>
                      <a:pt x="1246" y="857"/>
                      <a:pt x="1306" y="747"/>
                      <a:pt x="1306" y="635"/>
                    </a:cubicBezTo>
                    <a:cubicBezTo>
                      <a:pt x="1306" y="524"/>
                      <a:pt x="1246" y="414"/>
                      <a:pt x="1131" y="318"/>
                    </a:cubicBezTo>
                    <a:cubicBezTo>
                      <a:pt x="1016" y="221"/>
                      <a:pt x="852" y="141"/>
                      <a:pt x="653" y="85"/>
                    </a:cubicBezTo>
                    <a:cubicBezTo>
                      <a:pt x="454" y="29"/>
                      <a:pt x="229" y="0"/>
                      <a:pt x="0" y="0"/>
                    </a:cubicBezTo>
                  </a:path>
                </a:pathLst>
              </a:custGeom>
              <a:ln w="12600">
                <a:solidFill>
                  <a:srgbClr val="FC0128"/>
                </a:solidFill>
                <a:round/>
                <a:tailEnd len="med" type="triangle" w="med"/>
              </a:ln>
            </p:spPr>
            <p:txBody>
              <a:bodyPr lIns="96120" tIns="51120" rIns="96120" bIns="51120" anchor="t">
                <a:noAutofit/>
              </a:bodyPr>
              <a:p>
                <a:endParaRPr lang="en-US" sz="1800" b="0" u="none" strike="noStrike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</p:grpSp>
      <p:sp>
        <p:nvSpPr>
          <p:cNvPr id="115" name=""/>
          <p:cNvSpPr/>
          <p:nvPr/>
        </p:nvSpPr>
        <p:spPr>
          <a:xfrm>
            <a:off x="5156280" y="2565360"/>
            <a:ext cx="1918080" cy="2121120"/>
          </a:xfrm>
          <a:custGeom>
            <a:avLst/>
            <a:gdLst/>
            <a:ahLst/>
            <a:rect l="0" t="0" r="r" b="b"/>
            <a:pathLst>
              <a:path fill="none" w="5328" h="5892">
                <a:moveTo>
                  <a:pt x="5328" y="5892"/>
                </a:moveTo>
                <a:lnTo>
                  <a:pt x="5328" y="5892"/>
                </a:lnTo>
                <a:lnTo>
                  <a:pt x="5328" y="5892"/>
                </a:lnTo>
                <a:cubicBezTo>
                  <a:pt x="5328" y="4858"/>
                  <a:pt x="5082" y="3842"/>
                  <a:pt x="4614" y="2946"/>
                </a:cubicBezTo>
                <a:cubicBezTo>
                  <a:pt x="4147" y="2050"/>
                  <a:pt x="3474" y="1307"/>
                  <a:pt x="2664" y="789"/>
                </a:cubicBezTo>
                <a:cubicBezTo>
                  <a:pt x="1854" y="272"/>
                  <a:pt x="935" y="0"/>
                  <a:pt x="0" y="0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1687320" y="1434960"/>
            <a:ext cx="2004120" cy="564840"/>
          </a:xfrm>
          <a:custGeom>
            <a:avLst/>
            <a:gdLst/>
            <a:ahLst/>
            <a:rect l="0" t="0" r="r" b="b"/>
            <a:pathLst>
              <a:path fill="none" w="5567" h="1569">
                <a:moveTo>
                  <a:pt x="5567" y="1569"/>
                </a:moveTo>
                <a:lnTo>
                  <a:pt x="5567" y="1569"/>
                </a:lnTo>
                <a:cubicBezTo>
                  <a:pt x="5525" y="1497"/>
                  <a:pt x="5479" y="1427"/>
                  <a:pt x="5429" y="1359"/>
                </a:cubicBezTo>
                <a:cubicBezTo>
                  <a:pt x="5128" y="946"/>
                  <a:pt x="4696" y="602"/>
                  <a:pt x="4176" y="364"/>
                </a:cubicBezTo>
                <a:cubicBezTo>
                  <a:pt x="3655" y="125"/>
                  <a:pt x="3064" y="0"/>
                  <a:pt x="2463" y="0"/>
                </a:cubicBezTo>
                <a:cubicBezTo>
                  <a:pt x="1862" y="0"/>
                  <a:pt x="1272" y="125"/>
                  <a:pt x="751" y="364"/>
                </a:cubicBezTo>
                <a:cubicBezTo>
                  <a:pt x="475" y="491"/>
                  <a:pt x="222" y="647"/>
                  <a:pt x="0" y="830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674720" y="187200"/>
            <a:ext cx="59133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Adding records to unordered files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 txBox="1"/>
          <p:nvPr/>
        </p:nvSpPr>
        <p:spPr>
          <a:xfrm>
            <a:off x="549360" y="157968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557280" y="1119240"/>
            <a:ext cx="1365120" cy="49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918480" y="1579680"/>
            <a:ext cx="1366920" cy="43657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RecordW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942240" y="1119240"/>
            <a:ext cx="1308240" cy="495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Unordered 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2844720" y="3492360"/>
            <a:ext cx="2374920" cy="579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  <a:spcBef>
                <a:spcPts val="1199"/>
              </a:spcBef>
            </a:pPr>
            <a:r>
              <a:rPr lang="en-US" sz="32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RESULT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2082960" y="2222640"/>
            <a:ext cx="1867680" cy="1263600"/>
          </a:xfrm>
          <a:custGeom>
            <a:avLst/>
            <a:gdLst/>
            <a:ahLst/>
            <a:rect l="0" t="0" r="r" b="b"/>
            <a:pathLst>
              <a:path fill="none" w="5188" h="3510">
                <a:moveTo>
                  <a:pt x="5168" y="3510"/>
                </a:moveTo>
                <a:lnTo>
                  <a:pt x="5168" y="3510"/>
                </a:lnTo>
                <a:cubicBezTo>
                  <a:pt x="5181" y="3416"/>
                  <a:pt x="5188" y="3322"/>
                  <a:pt x="5188" y="3228"/>
                </a:cubicBezTo>
                <a:cubicBezTo>
                  <a:pt x="5188" y="2661"/>
                  <a:pt x="4948" y="2105"/>
                  <a:pt x="4493" y="1614"/>
                </a:cubicBezTo>
                <a:cubicBezTo>
                  <a:pt x="4038" y="1123"/>
                  <a:pt x="3383" y="716"/>
                  <a:pt x="2594" y="432"/>
                </a:cubicBezTo>
                <a:cubicBezTo>
                  <a:pt x="1806" y="149"/>
                  <a:pt x="911" y="0"/>
                  <a:pt x="1" y="0"/>
                </a:cubicBezTo>
                <a:lnTo>
                  <a:pt x="0" y="0"/>
                </a:ln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3949560" y="4038480"/>
            <a:ext cx="2895840" cy="1283040"/>
          </a:xfrm>
          <a:custGeom>
            <a:avLst/>
            <a:gdLst/>
            <a:ahLst/>
            <a:rect l="0" t="0" r="r" b="b"/>
            <a:pathLst>
              <a:path fill="none" w="8044" h="3564">
                <a:moveTo>
                  <a:pt x="0" y="0"/>
                </a:moveTo>
                <a:lnTo>
                  <a:pt x="0" y="0"/>
                </a:lnTo>
                <a:cubicBezTo>
                  <a:pt x="0" y="626"/>
                  <a:pt x="372" y="1240"/>
                  <a:pt x="1078" y="1782"/>
                </a:cubicBezTo>
                <a:cubicBezTo>
                  <a:pt x="1784" y="2324"/>
                  <a:pt x="2799" y="2774"/>
                  <a:pt x="4022" y="3087"/>
                </a:cubicBezTo>
                <a:cubicBezTo>
                  <a:pt x="5245" y="3399"/>
                  <a:pt x="6632" y="3564"/>
                  <a:pt x="8044" y="3564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674720" y="187200"/>
            <a:ext cx="591336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Adding records to unordered files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"/>
          <p:cNvSpPr txBox="1"/>
          <p:nvPr/>
        </p:nvSpPr>
        <p:spPr>
          <a:xfrm>
            <a:off x="988920" y="198360"/>
            <a:ext cx="73166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Problems with Unordered Sequential Files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14360" y="1454040"/>
            <a:ext cx="8196120" cy="29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5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 is easy to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add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records to an unordered Sequential file.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But it is not really possible to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delete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records from an unordered Sequential file.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5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And it is not feasible to </a:t>
            </a:r>
            <a:r>
              <a:rPr lang="en-US" sz="24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update</a:t>
            </a: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records in an unordered Sequential file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"/>
          <p:cNvSpPr txBox="1"/>
          <p:nvPr/>
        </p:nvSpPr>
        <p:spPr>
          <a:xfrm>
            <a:off x="622440" y="1041480"/>
            <a:ext cx="7823160" cy="5410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Records in a Sequential file can not be deleted or updated “in situ”. 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only way to delete Sequential file records is to create a new file which does not contain them.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only way to update records in a Sequential File is to create a new file which contains the updated records.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Because both these operations rely on record matching they do not work for unordered Sequential files.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80880" indent="-380880">
              <a:lnSpc>
                <a:spcPct val="90000"/>
              </a:lnSpc>
              <a:spcBef>
                <a:spcPts val="1681"/>
              </a:spcBef>
              <a:buClr>
                <a:srgbClr val="FC0128"/>
              </a:buClr>
              <a:buSzPct val="75000"/>
              <a:buFont typeface="Wingdings"/>
              <a:buChar char="_x0000_"/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Why?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822240" y="160200"/>
            <a:ext cx="731664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Problems with Unordered Sequential Files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 txBox="1"/>
          <p:nvPr/>
        </p:nvSpPr>
        <p:spPr>
          <a:xfrm>
            <a:off x="1206360" y="95400"/>
            <a:ext cx="67644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unordered files?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1014480" y="957240"/>
            <a:ext cx="15541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839880" y="7063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001880" y="3863880"/>
            <a:ext cx="1554120" cy="26640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903240" y="3538440"/>
            <a:ext cx="16765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7470720" y="203976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3784680" y="2438280"/>
            <a:ext cx="1816200" cy="1130400"/>
          </a:xfrm>
          <a:prstGeom prst="rect">
            <a:avLst/>
          </a:prstGeom>
          <a:solidFill>
            <a:srgbClr val="DADADA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Delete UF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Record?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5626080" y="2997360"/>
            <a:ext cx="81288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7186680" y="2303640"/>
            <a:ext cx="1554120" cy="5364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4699080" y="1206360"/>
            <a:ext cx="0" cy="120672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 flipV="1">
            <a:off x="4699080" y="3594240"/>
            <a:ext cx="0" cy="55872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2438280" y="4152960"/>
            <a:ext cx="226692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 flipH="1">
            <a:off x="2476440" y="1206360"/>
            <a:ext cx="222264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857920" y="2878200"/>
            <a:ext cx="380880" cy="5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NO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 flipV="1">
            <a:off x="6438960" y="2562120"/>
            <a:ext cx="0" cy="43812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6429240" y="2552760"/>
            <a:ext cx="1028880" cy="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"/>
          <p:cNvSpPr txBox="1"/>
          <p:nvPr/>
        </p:nvSpPr>
        <p:spPr>
          <a:xfrm>
            <a:off x="1014480" y="957240"/>
            <a:ext cx="15541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839880" y="7063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1001880" y="3863880"/>
            <a:ext cx="1554120" cy="26640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903240" y="3538440"/>
            <a:ext cx="16765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7470720" y="203976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784680" y="2438280"/>
            <a:ext cx="1816200" cy="1130400"/>
          </a:xfrm>
          <a:prstGeom prst="rect">
            <a:avLst/>
          </a:prstGeom>
          <a:solidFill>
            <a:srgbClr val="DADADA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Delete UF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Record?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7186680" y="2303640"/>
            <a:ext cx="1554120" cy="961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4699080" y="1206360"/>
            <a:ext cx="0" cy="120672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 flipV="1">
            <a:off x="4689360" y="3591000"/>
            <a:ext cx="0" cy="93672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2438280" y="4527720"/>
            <a:ext cx="225756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 flipH="1">
            <a:off x="2476440" y="1206360"/>
            <a:ext cx="222264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5626080" y="2997360"/>
            <a:ext cx="1860480" cy="288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-54720" rIns="102600" bIns="-547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5857920" y="2878200"/>
            <a:ext cx="380880" cy="5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NO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206360" y="95400"/>
            <a:ext cx="67644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unordered files?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 txBox="1"/>
          <p:nvPr/>
        </p:nvSpPr>
        <p:spPr>
          <a:xfrm>
            <a:off x="1014480" y="957240"/>
            <a:ext cx="15541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839880" y="7063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001880" y="3863880"/>
            <a:ext cx="1554120" cy="26640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903240" y="3538440"/>
            <a:ext cx="16765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7470720" y="203976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3784680" y="2438280"/>
            <a:ext cx="1816200" cy="1130400"/>
          </a:xfrm>
          <a:prstGeom prst="rect">
            <a:avLst/>
          </a:prstGeom>
          <a:solidFill>
            <a:srgbClr val="DADADA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Delete UF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Record?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5626080" y="2997360"/>
            <a:ext cx="81288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7186680" y="2303640"/>
            <a:ext cx="1554120" cy="961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4699080" y="1206360"/>
            <a:ext cx="0" cy="120672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 flipV="1">
            <a:off x="4699080" y="3581280"/>
            <a:ext cx="0" cy="139068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2438280" y="4971960"/>
            <a:ext cx="226692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 flipH="1">
            <a:off x="2476440" y="1206360"/>
            <a:ext cx="222264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5857920" y="2878200"/>
            <a:ext cx="507960" cy="5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YES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1206360" y="95400"/>
            <a:ext cx="67644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unordered files?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"/>
          <p:cNvSpPr txBox="1"/>
          <p:nvPr/>
        </p:nvSpPr>
        <p:spPr>
          <a:xfrm>
            <a:off x="1014480" y="957240"/>
            <a:ext cx="15541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839880" y="7063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001880" y="3863880"/>
            <a:ext cx="1554120" cy="26640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903240" y="3538440"/>
            <a:ext cx="16765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Unordered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7470720" y="203976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3784680" y="2438280"/>
            <a:ext cx="1816200" cy="1130400"/>
          </a:xfrm>
          <a:prstGeom prst="rect">
            <a:avLst/>
          </a:prstGeom>
          <a:solidFill>
            <a:srgbClr val="DADADA"/>
          </a:solidFill>
          <a:ln w="12600">
            <a:solidFill>
              <a:srgbClr val="FFFFFF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Delete UF</a:t>
            </a:r>
            <a:br>
              <a:rPr sz="1800"/>
            </a:b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Record?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7186680" y="2303640"/>
            <a:ext cx="15541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/>
          <p:nvPr/>
        </p:nvSpPr>
        <p:spPr>
          <a:xfrm>
            <a:off x="4708440" y="1644480"/>
            <a:ext cx="0" cy="74628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/>
          <p:nvPr/>
        </p:nvSpPr>
        <p:spPr>
          <a:xfrm flipV="1">
            <a:off x="4699080" y="3638520"/>
            <a:ext cx="0" cy="1781280"/>
          </a:xfrm>
          <a:prstGeom prst="line">
            <a:avLst/>
          </a:prstGeom>
          <a:ln w="25560">
            <a:solidFill>
              <a:srgbClr val="FC0128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2438280" y="5419800"/>
            <a:ext cx="226692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 flipH="1">
            <a:off x="2486160" y="1644480"/>
            <a:ext cx="2222280" cy="0"/>
          </a:xfrm>
          <a:prstGeom prst="line">
            <a:avLst/>
          </a:prstGeom>
          <a:ln w="25560">
            <a:solidFill>
              <a:srgbClr val="FC012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2600" tIns="-57600" rIns="102600" bIns="-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85" name=""/>
          <p:cNvGrpSpPr/>
          <p:nvPr/>
        </p:nvGrpSpPr>
        <p:grpSpPr>
          <a:xfrm>
            <a:off x="5626080" y="3000240"/>
            <a:ext cx="1832040" cy="447840"/>
            <a:chOff x="5626080" y="3000240"/>
            <a:chExt cx="1832040" cy="447840"/>
          </a:xfrm>
        </p:grpSpPr>
        <p:sp>
          <p:nvSpPr>
            <p:cNvPr id="186" name=""/>
            <p:cNvSpPr/>
            <p:nvPr/>
          </p:nvSpPr>
          <p:spPr>
            <a:xfrm>
              <a:off x="5626080" y="3003480"/>
              <a:ext cx="812880" cy="0"/>
            </a:xfrm>
            <a:prstGeom prst="line">
              <a:avLst/>
            </a:prstGeom>
            <a:ln w="25560">
              <a:solidFill>
                <a:srgbClr val="FC012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"/>
            <p:cNvSpPr/>
            <p:nvPr/>
          </p:nvSpPr>
          <p:spPr>
            <a:xfrm flipV="1">
              <a:off x="6438960" y="3000240"/>
              <a:ext cx="0" cy="438120"/>
            </a:xfrm>
            <a:prstGeom prst="line">
              <a:avLst/>
            </a:prstGeom>
            <a:ln w="25560">
              <a:solidFill>
                <a:srgbClr val="FC0128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57600" rIns="102600" bIns="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8" name=""/>
            <p:cNvSpPr/>
            <p:nvPr/>
          </p:nvSpPr>
          <p:spPr>
            <a:xfrm>
              <a:off x="6429240" y="3448080"/>
              <a:ext cx="1028880" cy="0"/>
            </a:xfrm>
            <a:prstGeom prst="line">
              <a:avLst/>
            </a:prstGeom>
            <a:ln w="25560">
              <a:solidFill>
                <a:srgbClr val="FC0128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  <p:txBody>
            <a:bodyPr lIns="102600" tIns="-57600" rIns="102600" bIns="-576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89" name=""/>
          <p:cNvSpPr txBox="1"/>
          <p:nvPr/>
        </p:nvSpPr>
        <p:spPr>
          <a:xfrm>
            <a:off x="5810400" y="2849400"/>
            <a:ext cx="380880" cy="56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NO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4908600" y="4130640"/>
            <a:ext cx="4095720" cy="181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But wait...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90000"/>
              </a:lnSpc>
              <a:spcBef>
                <a:spcPts val="720"/>
              </a:spcBef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We should have deleted RecordM.  Too late.  It’s already been written to the new file.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1206360" y="95400"/>
            <a:ext cx="67644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unordered files?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21692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7024680" y="1163520"/>
            <a:ext cx="1573200" cy="614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2997360" y="1163520"/>
            <a:ext cx="3225960" cy="48182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NOT =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3247920" y="1471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3247920" y="19000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OFRec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3247920" y="23385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NFRec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1546200" y="198360"/>
            <a:ext cx="6427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21692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024680" y="1163520"/>
            <a:ext cx="1573200" cy="614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5000"/>
              </a:lnSpc>
              <a:spcAft>
                <a:spcPts val="1321"/>
              </a:spcAft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2997360" y="1163520"/>
            <a:ext cx="3225960" cy="48182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</a:t>
            </a: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TFRec NOT = OFRec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3247920" y="1471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3247920" y="19000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3247920" y="23385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546200" y="198360"/>
            <a:ext cx="6427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"/>
          <p:cNvSpPr/>
          <p:nvPr/>
        </p:nvSpPr>
        <p:spPr>
          <a:xfrm>
            <a:off x="4647960" y="2082960"/>
            <a:ext cx="470160" cy="457560"/>
          </a:xfrm>
          <a:custGeom>
            <a:avLst/>
            <a:gdLst/>
            <a:ahLst/>
            <a:rect l="0" t="0" r="r" b="b"/>
            <a:pathLst>
              <a:path fill="none" w="1306" h="1271">
                <a:moveTo>
                  <a:pt x="0" y="1271"/>
                </a:moveTo>
                <a:lnTo>
                  <a:pt x="0" y="1271"/>
                </a:lnTo>
                <a:cubicBezTo>
                  <a:pt x="229" y="1271"/>
                  <a:pt x="454" y="1242"/>
                  <a:pt x="653" y="1186"/>
                </a:cubicBezTo>
                <a:cubicBezTo>
                  <a:pt x="852" y="1130"/>
                  <a:pt x="1016" y="1050"/>
                  <a:pt x="1131" y="953"/>
                </a:cubicBezTo>
                <a:cubicBezTo>
                  <a:pt x="1246" y="857"/>
                  <a:pt x="1306" y="747"/>
                  <a:pt x="1306" y="635"/>
                </a:cubicBezTo>
                <a:cubicBezTo>
                  <a:pt x="1306" y="524"/>
                  <a:pt x="1246" y="414"/>
                  <a:pt x="1131" y="318"/>
                </a:cubicBezTo>
                <a:cubicBezTo>
                  <a:pt x="1016" y="221"/>
                  <a:pt x="852" y="141"/>
                  <a:pt x="653" y="85"/>
                </a:cubicBezTo>
                <a:cubicBezTo>
                  <a:pt x="454" y="29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"/>
          <p:cNvSpPr/>
          <p:nvPr/>
        </p:nvSpPr>
        <p:spPr>
          <a:xfrm>
            <a:off x="1671120" y="1130400"/>
            <a:ext cx="1733760" cy="385920"/>
          </a:xfrm>
          <a:custGeom>
            <a:avLst/>
            <a:gdLst/>
            <a:ahLst/>
            <a:rect l="0" t="0" r="r" b="b"/>
            <a:pathLst>
              <a:path fill="none" w="4816" h="1072">
                <a:moveTo>
                  <a:pt x="4816" y="1072"/>
                </a:moveTo>
                <a:lnTo>
                  <a:pt x="4816" y="1072"/>
                </a:lnTo>
                <a:cubicBezTo>
                  <a:pt x="4754" y="944"/>
                  <a:pt x="4658" y="821"/>
                  <a:pt x="4530" y="707"/>
                </a:cubicBezTo>
                <a:cubicBezTo>
                  <a:pt x="4290" y="492"/>
                  <a:pt x="3944" y="314"/>
                  <a:pt x="3528" y="190"/>
                </a:cubicBezTo>
                <a:cubicBezTo>
                  <a:pt x="3112" y="66"/>
                  <a:pt x="2639" y="0"/>
                  <a:pt x="2159" y="0"/>
                </a:cubicBezTo>
                <a:cubicBezTo>
                  <a:pt x="1678" y="0"/>
                  <a:pt x="1206" y="66"/>
                  <a:pt x="789" y="190"/>
                </a:cubicBezTo>
                <a:cubicBezTo>
                  <a:pt x="485" y="280"/>
                  <a:pt x="217" y="401"/>
                  <a:pt x="0" y="544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"/>
          <p:cNvSpPr/>
          <p:nvPr/>
        </p:nvSpPr>
        <p:spPr>
          <a:xfrm>
            <a:off x="1600200" y="2108160"/>
            <a:ext cx="1752840" cy="1257840"/>
          </a:xfrm>
          <a:custGeom>
            <a:avLst/>
            <a:gdLst/>
            <a:ahLst/>
            <a:rect l="0" t="0" r="r" b="b"/>
            <a:pathLst>
              <a:path fill="none" w="4869" h="3494">
                <a:moveTo>
                  <a:pt x="4869" y="0"/>
                </a:moveTo>
                <a:lnTo>
                  <a:pt x="4869" y="0"/>
                </a:lnTo>
                <a:cubicBezTo>
                  <a:pt x="4014" y="0"/>
                  <a:pt x="3175" y="161"/>
                  <a:pt x="2434" y="468"/>
                </a:cubicBezTo>
                <a:cubicBezTo>
                  <a:pt x="1694" y="775"/>
                  <a:pt x="1080" y="1216"/>
                  <a:pt x="652" y="1747"/>
                </a:cubicBezTo>
                <a:cubicBezTo>
                  <a:pt x="225" y="2278"/>
                  <a:pt x="0" y="2881"/>
                  <a:pt x="0" y="3494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5245200" y="1460520"/>
            <a:ext cx="1956240" cy="1054440"/>
          </a:xfrm>
          <a:custGeom>
            <a:avLst/>
            <a:gdLst/>
            <a:ahLst/>
            <a:rect l="0" t="0" r="r" b="b"/>
            <a:pathLst>
              <a:path fill="none" w="5434" h="2929">
                <a:moveTo>
                  <a:pt x="5434" y="0"/>
                </a:moveTo>
                <a:lnTo>
                  <a:pt x="5434" y="0"/>
                </a:lnTo>
                <a:cubicBezTo>
                  <a:pt x="4480" y="0"/>
                  <a:pt x="3543" y="135"/>
                  <a:pt x="2717" y="392"/>
                </a:cubicBezTo>
                <a:cubicBezTo>
                  <a:pt x="1891" y="649"/>
                  <a:pt x="1205" y="1019"/>
                  <a:pt x="728" y="1465"/>
                </a:cubicBezTo>
                <a:cubicBezTo>
                  <a:pt x="251" y="1910"/>
                  <a:pt x="0" y="2415"/>
                  <a:pt x="0" y="2929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6450120" y="3060720"/>
            <a:ext cx="2567160" cy="1941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2800" b="1" u="none" strike="noStrike">
                <a:solidFill>
                  <a:srgbClr val="FC0128"/>
                </a:solidFill>
                <a:effectLst/>
                <a:uFillTx/>
                <a:latin typeface="Arial"/>
                <a:ea typeface="Arial"/>
              </a:rPr>
              <a:t>Problem !!</a:t>
            </a:r>
            <a:br>
              <a:rPr sz="1800"/>
            </a:b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How can we recognize which record we want to delete?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90000"/>
              </a:lnSpc>
              <a:spcBef>
                <a:spcPts val="720"/>
              </a:spcBef>
            </a:pPr>
            <a:r>
              <a:rPr lang="en-US" sz="2000" b="1" u="none" strike="noStrike">
                <a:solidFill>
                  <a:srgbClr val="00FF00"/>
                </a:solidFill>
                <a:effectLst/>
                <a:uFillTx/>
                <a:latin typeface="Arial"/>
                <a:ea typeface="Arial"/>
              </a:rPr>
              <a:t>By its Key Field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721692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2997360" y="1163520"/>
            <a:ext cx="3225960" cy="48182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NOT =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3247920" y="1471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3247920" y="19000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3247920" y="23385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919191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1546200" y="198360"/>
            <a:ext cx="6427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1600200" y="2108160"/>
            <a:ext cx="1752840" cy="1676880"/>
          </a:xfrm>
          <a:custGeom>
            <a:avLst/>
            <a:gdLst/>
            <a:ahLst/>
            <a:rect l="0" t="0" r="r" b="b"/>
            <a:pathLst>
              <a:path fill="none" w="4869" h="4658">
                <a:moveTo>
                  <a:pt x="4869" y="0"/>
                </a:moveTo>
                <a:lnTo>
                  <a:pt x="4869" y="0"/>
                </a:lnTo>
                <a:cubicBezTo>
                  <a:pt x="4014" y="0"/>
                  <a:pt x="3175" y="215"/>
                  <a:pt x="2434" y="624"/>
                </a:cubicBezTo>
                <a:cubicBezTo>
                  <a:pt x="1694" y="1033"/>
                  <a:pt x="1080" y="1621"/>
                  <a:pt x="652" y="2329"/>
                </a:cubicBezTo>
                <a:cubicBezTo>
                  <a:pt x="225" y="3037"/>
                  <a:pt x="0" y="3840"/>
                  <a:pt x="0" y="4658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7024680" y="1163520"/>
            <a:ext cx="1573200" cy="614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5000"/>
              </a:lnSpc>
              <a:spcAft>
                <a:spcPts val="1321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"/>
          <p:cNvSpPr/>
          <p:nvPr/>
        </p:nvSpPr>
        <p:spPr>
          <a:xfrm>
            <a:off x="3378240" y="1511280"/>
            <a:ext cx="1320840" cy="723960"/>
          </a:xfrm>
          <a:prstGeom prst="rect">
            <a:avLst/>
          </a:prstGeom>
          <a:noFill/>
          <a:ln w="25560">
            <a:solidFill>
              <a:srgbClr val="114FFB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"/>
          <p:cNvSpPr txBox="1"/>
          <p:nvPr/>
        </p:nvSpPr>
        <p:spPr>
          <a:xfrm>
            <a:off x="721692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024680" y="1163520"/>
            <a:ext cx="1573200" cy="10587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5000"/>
              </a:lnSpc>
              <a:spcAft>
                <a:spcPts val="1321"/>
              </a:spcAft>
            </a:pPr>
            <a:r>
              <a:rPr lang="en-US" sz="20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1321"/>
              </a:spcAft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2997360" y="1163520"/>
            <a:ext cx="3225960" cy="48182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NOT =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3247920" y="1471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3247920" y="19000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3247920" y="23385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546200" y="198360"/>
            <a:ext cx="6427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1600200" y="2108160"/>
            <a:ext cx="1752840" cy="2070360"/>
          </a:xfrm>
          <a:custGeom>
            <a:avLst/>
            <a:gdLst/>
            <a:ahLst/>
            <a:rect l="0" t="0" r="r" b="b"/>
            <a:pathLst>
              <a:path fill="none" w="4869" h="5751">
                <a:moveTo>
                  <a:pt x="4869" y="0"/>
                </a:moveTo>
                <a:lnTo>
                  <a:pt x="4869" y="0"/>
                </a:lnTo>
                <a:cubicBezTo>
                  <a:pt x="4014" y="0"/>
                  <a:pt x="3175" y="266"/>
                  <a:pt x="2434" y="770"/>
                </a:cubicBezTo>
                <a:cubicBezTo>
                  <a:pt x="1694" y="1275"/>
                  <a:pt x="1080" y="2001"/>
                  <a:pt x="652" y="2876"/>
                </a:cubicBezTo>
                <a:cubicBezTo>
                  <a:pt x="225" y="3750"/>
                  <a:pt x="0" y="4741"/>
                  <a:pt x="0" y="5751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"/>
          <p:cNvSpPr/>
          <p:nvPr/>
        </p:nvSpPr>
        <p:spPr>
          <a:xfrm>
            <a:off x="1571040" y="1320840"/>
            <a:ext cx="1886040" cy="357480"/>
          </a:xfrm>
          <a:custGeom>
            <a:avLst/>
            <a:gdLst/>
            <a:ahLst/>
            <a:rect l="0" t="0" r="r" b="b"/>
            <a:pathLst>
              <a:path fill="none" w="5239" h="993">
                <a:moveTo>
                  <a:pt x="5239" y="694"/>
                </a:moveTo>
                <a:lnTo>
                  <a:pt x="5239" y="694"/>
                </a:lnTo>
                <a:cubicBezTo>
                  <a:pt x="4996" y="516"/>
                  <a:pt x="4699" y="366"/>
                  <a:pt x="4364" y="251"/>
                </a:cubicBezTo>
                <a:cubicBezTo>
                  <a:pt x="3884" y="87"/>
                  <a:pt x="3340" y="0"/>
                  <a:pt x="2786" y="0"/>
                </a:cubicBezTo>
                <a:cubicBezTo>
                  <a:pt x="2232" y="0"/>
                  <a:pt x="1688" y="87"/>
                  <a:pt x="1208" y="251"/>
                </a:cubicBezTo>
                <a:cubicBezTo>
                  <a:pt x="728" y="415"/>
                  <a:pt x="330" y="652"/>
                  <a:pt x="53" y="937"/>
                </a:cubicBezTo>
                <a:cubicBezTo>
                  <a:pt x="35" y="955"/>
                  <a:pt x="17" y="974"/>
                  <a:pt x="0" y="993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4647960" y="2082960"/>
            <a:ext cx="470160" cy="457560"/>
          </a:xfrm>
          <a:custGeom>
            <a:avLst/>
            <a:gdLst/>
            <a:ahLst/>
            <a:rect l="0" t="0" r="r" b="b"/>
            <a:pathLst>
              <a:path fill="none" w="1306" h="1271">
                <a:moveTo>
                  <a:pt x="0" y="1271"/>
                </a:moveTo>
                <a:lnTo>
                  <a:pt x="0" y="1271"/>
                </a:lnTo>
                <a:cubicBezTo>
                  <a:pt x="229" y="1271"/>
                  <a:pt x="454" y="1242"/>
                  <a:pt x="653" y="1186"/>
                </a:cubicBezTo>
                <a:cubicBezTo>
                  <a:pt x="852" y="1130"/>
                  <a:pt x="1016" y="1050"/>
                  <a:pt x="1131" y="953"/>
                </a:cubicBezTo>
                <a:cubicBezTo>
                  <a:pt x="1246" y="857"/>
                  <a:pt x="1306" y="747"/>
                  <a:pt x="1306" y="635"/>
                </a:cubicBezTo>
                <a:cubicBezTo>
                  <a:pt x="1306" y="524"/>
                  <a:pt x="1246" y="414"/>
                  <a:pt x="1131" y="318"/>
                </a:cubicBezTo>
                <a:cubicBezTo>
                  <a:pt x="1016" y="221"/>
                  <a:pt x="852" y="141"/>
                  <a:pt x="653" y="85"/>
                </a:cubicBezTo>
                <a:cubicBezTo>
                  <a:pt x="454" y="29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"/>
          <p:cNvSpPr/>
          <p:nvPr/>
        </p:nvSpPr>
        <p:spPr>
          <a:xfrm>
            <a:off x="5245200" y="1955880"/>
            <a:ext cx="1956240" cy="559080"/>
          </a:xfrm>
          <a:custGeom>
            <a:avLst/>
            <a:gdLst/>
            <a:ahLst/>
            <a:rect l="0" t="0" r="r" b="b"/>
            <a:pathLst>
              <a:path fill="none" w="5434" h="1553">
                <a:moveTo>
                  <a:pt x="5434" y="0"/>
                </a:moveTo>
                <a:lnTo>
                  <a:pt x="5434" y="0"/>
                </a:lnTo>
                <a:cubicBezTo>
                  <a:pt x="4480" y="0"/>
                  <a:pt x="3543" y="72"/>
                  <a:pt x="2717" y="208"/>
                </a:cubicBezTo>
                <a:cubicBezTo>
                  <a:pt x="1891" y="344"/>
                  <a:pt x="1205" y="540"/>
                  <a:pt x="728" y="777"/>
                </a:cubicBezTo>
                <a:cubicBezTo>
                  <a:pt x="251" y="1013"/>
                  <a:pt x="0" y="1280"/>
                  <a:pt x="0" y="1553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721692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3598920" y="2849400"/>
            <a:ext cx="2013120" cy="565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3600" b="1" u="none" strike="noStrike">
                <a:solidFill>
                  <a:srgbClr val="00FF00"/>
                </a:solidFill>
                <a:effectLst/>
                <a:uFillTx/>
                <a:latin typeface="Times New Roman"/>
                <a:ea typeface="Times New Roman"/>
              </a:rPr>
              <a:t>RESULT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7024680" y="1163520"/>
            <a:ext cx="1573200" cy="20876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5000"/>
              </a:lnSpc>
              <a:spcAft>
                <a:spcPts val="1321"/>
              </a:spcAft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1321"/>
              </a:spcAft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1321"/>
              </a:spcAft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5000"/>
              </a:lnSpc>
              <a:spcAft>
                <a:spcPts val="1321"/>
              </a:spcAft>
            </a:pPr>
            <a:r>
              <a:rPr lang="en-US" sz="20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1546200" y="198360"/>
            <a:ext cx="64278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Deleting records from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2019240" y="3319200"/>
            <a:ext cx="2438640" cy="1380240"/>
          </a:xfrm>
          <a:custGeom>
            <a:avLst/>
            <a:gdLst/>
            <a:ahLst/>
            <a:rect l="0" t="0" r="r" b="b"/>
            <a:pathLst>
              <a:path fill="none" w="6774" h="3834">
                <a:moveTo>
                  <a:pt x="0" y="3834"/>
                </a:moveTo>
                <a:lnTo>
                  <a:pt x="0" y="3834"/>
                </a:lnTo>
                <a:lnTo>
                  <a:pt x="0" y="3834"/>
                </a:lnTo>
                <a:cubicBezTo>
                  <a:pt x="1189" y="3834"/>
                  <a:pt x="2358" y="3666"/>
                  <a:pt x="3387" y="3346"/>
                </a:cubicBezTo>
                <a:cubicBezTo>
                  <a:pt x="4417" y="3026"/>
                  <a:pt x="5272" y="2566"/>
                  <a:pt x="5867" y="2013"/>
                </a:cubicBezTo>
                <a:cubicBezTo>
                  <a:pt x="6461" y="1459"/>
                  <a:pt x="6774" y="831"/>
                  <a:pt x="6774" y="191"/>
                </a:cubicBezTo>
                <a:cubicBezTo>
                  <a:pt x="6774" y="127"/>
                  <a:pt x="6771" y="64"/>
                  <a:pt x="6765" y="0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"/>
          <p:cNvSpPr/>
          <p:nvPr/>
        </p:nvSpPr>
        <p:spPr>
          <a:xfrm>
            <a:off x="4470480" y="2044800"/>
            <a:ext cx="2476800" cy="838440"/>
          </a:xfrm>
          <a:custGeom>
            <a:avLst/>
            <a:gdLst/>
            <a:ahLst/>
            <a:rect l="0" t="0" r="r" b="b"/>
            <a:pathLst>
              <a:path fill="none" w="6880" h="2329">
                <a:moveTo>
                  <a:pt x="6880" y="0"/>
                </a:moveTo>
                <a:lnTo>
                  <a:pt x="6880" y="0"/>
                </a:lnTo>
                <a:cubicBezTo>
                  <a:pt x="5672" y="0"/>
                  <a:pt x="4486" y="108"/>
                  <a:pt x="3440" y="312"/>
                </a:cubicBezTo>
                <a:cubicBezTo>
                  <a:pt x="2394" y="516"/>
                  <a:pt x="1526" y="810"/>
                  <a:pt x="922" y="1165"/>
                </a:cubicBezTo>
                <a:cubicBezTo>
                  <a:pt x="318" y="1519"/>
                  <a:pt x="0" y="1920"/>
                  <a:pt x="0" y="2329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"/>
          <p:cNvSpPr txBox="1"/>
          <p:nvPr/>
        </p:nvSpPr>
        <p:spPr>
          <a:xfrm>
            <a:off x="2997360" y="1163520"/>
            <a:ext cx="3225960" cy="5402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=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Update OFRec with TFRec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OFRec+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br>
              <a:rPr sz="1400"/>
            </a:b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3247920" y="1471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"/>
          <p:cNvSpPr txBox="1"/>
          <p:nvPr/>
        </p:nvSpPr>
        <p:spPr>
          <a:xfrm>
            <a:off x="3247920" y="19000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OFRec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"/>
          <p:cNvSpPr txBox="1"/>
          <p:nvPr/>
        </p:nvSpPr>
        <p:spPr>
          <a:xfrm>
            <a:off x="3247920" y="23385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NFRec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"/>
          <p:cNvSpPr txBox="1"/>
          <p:nvPr/>
        </p:nvSpPr>
        <p:spPr>
          <a:xfrm>
            <a:off x="1546200" y="198360"/>
            <a:ext cx="6091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Updating records in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"/>
          <p:cNvSpPr txBox="1"/>
          <p:nvPr/>
        </p:nvSpPr>
        <p:spPr>
          <a:xfrm>
            <a:off x="7024680" y="1163520"/>
            <a:ext cx="1573200" cy="5302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7024680" y="1163520"/>
            <a:ext cx="1573200" cy="5302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2997360" y="1163520"/>
            <a:ext cx="3225960" cy="5402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=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Update OFRec with TFRec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OFRec+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br>
              <a:rPr sz="1400"/>
            </a:b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"/>
          <p:cNvSpPr txBox="1"/>
          <p:nvPr/>
        </p:nvSpPr>
        <p:spPr>
          <a:xfrm>
            <a:off x="3247920" y="1471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3247920" y="19000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"/>
          <p:cNvSpPr txBox="1"/>
          <p:nvPr/>
        </p:nvSpPr>
        <p:spPr>
          <a:xfrm>
            <a:off x="3247920" y="23385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"/>
          <p:cNvSpPr/>
          <p:nvPr/>
        </p:nvSpPr>
        <p:spPr>
          <a:xfrm>
            <a:off x="4647960" y="2082960"/>
            <a:ext cx="470160" cy="457560"/>
          </a:xfrm>
          <a:custGeom>
            <a:avLst/>
            <a:gdLst/>
            <a:ahLst/>
            <a:rect l="0" t="0" r="r" b="b"/>
            <a:pathLst>
              <a:path fill="none" w="1306" h="1271">
                <a:moveTo>
                  <a:pt x="0" y="1271"/>
                </a:moveTo>
                <a:lnTo>
                  <a:pt x="0" y="1271"/>
                </a:lnTo>
                <a:cubicBezTo>
                  <a:pt x="229" y="1271"/>
                  <a:pt x="454" y="1242"/>
                  <a:pt x="653" y="1186"/>
                </a:cubicBezTo>
                <a:cubicBezTo>
                  <a:pt x="852" y="1130"/>
                  <a:pt x="1016" y="1050"/>
                  <a:pt x="1131" y="953"/>
                </a:cubicBezTo>
                <a:cubicBezTo>
                  <a:pt x="1246" y="857"/>
                  <a:pt x="1306" y="747"/>
                  <a:pt x="1306" y="635"/>
                </a:cubicBezTo>
                <a:cubicBezTo>
                  <a:pt x="1306" y="524"/>
                  <a:pt x="1246" y="414"/>
                  <a:pt x="1131" y="318"/>
                </a:cubicBezTo>
                <a:cubicBezTo>
                  <a:pt x="1016" y="221"/>
                  <a:pt x="852" y="141"/>
                  <a:pt x="653" y="85"/>
                </a:cubicBezTo>
                <a:cubicBezTo>
                  <a:pt x="454" y="29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1670040" y="1117440"/>
            <a:ext cx="1798560" cy="420480"/>
          </a:xfrm>
          <a:custGeom>
            <a:avLst/>
            <a:gdLst/>
            <a:ahLst/>
            <a:rect l="0" t="0" r="r" b="b"/>
            <a:pathLst>
              <a:path fill="none" w="4996" h="1168">
                <a:moveTo>
                  <a:pt x="4996" y="1168"/>
                </a:moveTo>
                <a:lnTo>
                  <a:pt x="4996" y="1168"/>
                </a:lnTo>
                <a:cubicBezTo>
                  <a:pt x="4942" y="1005"/>
                  <a:pt x="4834" y="849"/>
                  <a:pt x="4678" y="706"/>
                </a:cubicBezTo>
                <a:cubicBezTo>
                  <a:pt x="4443" y="492"/>
                  <a:pt x="4106" y="313"/>
                  <a:pt x="3699" y="189"/>
                </a:cubicBezTo>
                <a:cubicBezTo>
                  <a:pt x="3292" y="65"/>
                  <a:pt x="2831" y="0"/>
                  <a:pt x="2362" y="0"/>
                </a:cubicBezTo>
                <a:cubicBezTo>
                  <a:pt x="1892" y="0"/>
                  <a:pt x="1431" y="65"/>
                  <a:pt x="1025" y="189"/>
                </a:cubicBezTo>
                <a:cubicBezTo>
                  <a:pt x="618" y="313"/>
                  <a:pt x="280" y="492"/>
                  <a:pt x="46" y="706"/>
                </a:cubicBezTo>
                <a:cubicBezTo>
                  <a:pt x="30" y="721"/>
                  <a:pt x="15" y="735"/>
                  <a:pt x="0" y="750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1600200" y="2108160"/>
            <a:ext cx="1752840" cy="1219680"/>
          </a:xfrm>
          <a:custGeom>
            <a:avLst/>
            <a:gdLst/>
            <a:ahLst/>
            <a:rect l="0" t="0" r="r" b="b"/>
            <a:pathLst>
              <a:path fill="none" w="4869" h="3388">
                <a:moveTo>
                  <a:pt x="4869" y="0"/>
                </a:moveTo>
                <a:lnTo>
                  <a:pt x="4869" y="0"/>
                </a:lnTo>
                <a:cubicBezTo>
                  <a:pt x="4014" y="0"/>
                  <a:pt x="3175" y="157"/>
                  <a:pt x="2434" y="454"/>
                </a:cubicBezTo>
                <a:cubicBezTo>
                  <a:pt x="1694" y="751"/>
                  <a:pt x="1080" y="1179"/>
                  <a:pt x="652" y="1694"/>
                </a:cubicBezTo>
                <a:cubicBezTo>
                  <a:pt x="225" y="2209"/>
                  <a:pt x="0" y="2793"/>
                  <a:pt x="0" y="3388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5245200" y="1460520"/>
            <a:ext cx="1956240" cy="1054440"/>
          </a:xfrm>
          <a:custGeom>
            <a:avLst/>
            <a:gdLst/>
            <a:ahLst/>
            <a:rect l="0" t="0" r="r" b="b"/>
            <a:pathLst>
              <a:path fill="none" w="5434" h="2929">
                <a:moveTo>
                  <a:pt x="5434" y="0"/>
                </a:moveTo>
                <a:lnTo>
                  <a:pt x="5434" y="0"/>
                </a:lnTo>
                <a:cubicBezTo>
                  <a:pt x="4480" y="0"/>
                  <a:pt x="3543" y="135"/>
                  <a:pt x="2717" y="392"/>
                </a:cubicBezTo>
                <a:cubicBezTo>
                  <a:pt x="1891" y="649"/>
                  <a:pt x="1205" y="1019"/>
                  <a:pt x="728" y="1465"/>
                </a:cubicBezTo>
                <a:cubicBezTo>
                  <a:pt x="251" y="1910"/>
                  <a:pt x="0" y="2415"/>
                  <a:pt x="0" y="2929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"/>
          <p:cNvSpPr txBox="1"/>
          <p:nvPr/>
        </p:nvSpPr>
        <p:spPr>
          <a:xfrm>
            <a:off x="1546200" y="198360"/>
            <a:ext cx="6091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Updating records in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024680" y="1163520"/>
            <a:ext cx="1573200" cy="9572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2997360" y="1163520"/>
            <a:ext cx="3225960" cy="5402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</a:t>
            </a: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TFKey =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Update OFRec with TFRec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OFRec+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br>
              <a:rPr sz="1400"/>
            </a:b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3247920" y="1471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3247920" y="19000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3247920" y="23385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4647960" y="2082960"/>
            <a:ext cx="470160" cy="457560"/>
          </a:xfrm>
          <a:custGeom>
            <a:avLst/>
            <a:gdLst/>
            <a:ahLst/>
            <a:rect l="0" t="0" r="r" b="b"/>
            <a:pathLst>
              <a:path fill="none" w="1306" h="1271">
                <a:moveTo>
                  <a:pt x="0" y="1271"/>
                </a:moveTo>
                <a:lnTo>
                  <a:pt x="0" y="1271"/>
                </a:lnTo>
                <a:cubicBezTo>
                  <a:pt x="229" y="1271"/>
                  <a:pt x="454" y="1242"/>
                  <a:pt x="653" y="1186"/>
                </a:cubicBezTo>
                <a:cubicBezTo>
                  <a:pt x="852" y="1130"/>
                  <a:pt x="1016" y="1050"/>
                  <a:pt x="1131" y="953"/>
                </a:cubicBezTo>
                <a:cubicBezTo>
                  <a:pt x="1246" y="857"/>
                  <a:pt x="1306" y="747"/>
                  <a:pt x="1306" y="635"/>
                </a:cubicBezTo>
                <a:cubicBezTo>
                  <a:pt x="1306" y="524"/>
                  <a:pt x="1246" y="414"/>
                  <a:pt x="1131" y="318"/>
                </a:cubicBezTo>
                <a:cubicBezTo>
                  <a:pt x="1016" y="221"/>
                  <a:pt x="852" y="141"/>
                  <a:pt x="653" y="85"/>
                </a:cubicBezTo>
                <a:cubicBezTo>
                  <a:pt x="454" y="29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1600200" y="2108160"/>
            <a:ext cx="1752840" cy="1651320"/>
          </a:xfrm>
          <a:custGeom>
            <a:avLst/>
            <a:gdLst/>
            <a:ahLst/>
            <a:rect l="0" t="0" r="r" b="b"/>
            <a:pathLst>
              <a:path fill="none" w="4869" h="4587">
                <a:moveTo>
                  <a:pt x="4869" y="0"/>
                </a:moveTo>
                <a:lnTo>
                  <a:pt x="4869" y="0"/>
                </a:lnTo>
                <a:cubicBezTo>
                  <a:pt x="4014" y="0"/>
                  <a:pt x="3175" y="212"/>
                  <a:pt x="2434" y="615"/>
                </a:cubicBezTo>
                <a:cubicBezTo>
                  <a:pt x="1694" y="1017"/>
                  <a:pt x="1080" y="1596"/>
                  <a:pt x="652" y="2294"/>
                </a:cubicBezTo>
                <a:cubicBezTo>
                  <a:pt x="225" y="2991"/>
                  <a:pt x="0" y="3782"/>
                  <a:pt x="0" y="4587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"/>
          <p:cNvSpPr/>
          <p:nvPr/>
        </p:nvSpPr>
        <p:spPr>
          <a:xfrm>
            <a:off x="5245200" y="1866960"/>
            <a:ext cx="1918080" cy="648000"/>
          </a:xfrm>
          <a:custGeom>
            <a:avLst/>
            <a:gdLst/>
            <a:ahLst/>
            <a:rect l="0" t="0" r="r" b="b"/>
            <a:pathLst>
              <a:path fill="none" w="5328" h="1800">
                <a:moveTo>
                  <a:pt x="5328" y="0"/>
                </a:moveTo>
                <a:lnTo>
                  <a:pt x="5328" y="0"/>
                </a:lnTo>
                <a:cubicBezTo>
                  <a:pt x="4393" y="0"/>
                  <a:pt x="3474" y="83"/>
                  <a:pt x="2664" y="241"/>
                </a:cubicBezTo>
                <a:cubicBezTo>
                  <a:pt x="1854" y="399"/>
                  <a:pt x="1181" y="626"/>
                  <a:pt x="714" y="900"/>
                </a:cubicBezTo>
                <a:cubicBezTo>
                  <a:pt x="246" y="1174"/>
                  <a:pt x="0" y="1484"/>
                  <a:pt x="0" y="1800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4647960" y="1663560"/>
            <a:ext cx="470520" cy="889200"/>
          </a:xfrm>
          <a:custGeom>
            <a:avLst/>
            <a:gdLst/>
            <a:ahLst/>
            <a:rect l="0" t="0" r="r" b="b"/>
            <a:pathLst>
              <a:path fill="none" w="1307" h="2470">
                <a:moveTo>
                  <a:pt x="0" y="2470"/>
                </a:moveTo>
                <a:lnTo>
                  <a:pt x="0" y="2470"/>
                </a:lnTo>
                <a:cubicBezTo>
                  <a:pt x="229" y="2470"/>
                  <a:pt x="455" y="2413"/>
                  <a:pt x="653" y="2305"/>
                </a:cubicBezTo>
                <a:cubicBezTo>
                  <a:pt x="852" y="2196"/>
                  <a:pt x="1017" y="2040"/>
                  <a:pt x="1131" y="1853"/>
                </a:cubicBezTo>
                <a:cubicBezTo>
                  <a:pt x="1246" y="1665"/>
                  <a:pt x="1307" y="1452"/>
                  <a:pt x="1307" y="1235"/>
                </a:cubicBezTo>
                <a:cubicBezTo>
                  <a:pt x="1307" y="1018"/>
                  <a:pt x="1246" y="805"/>
                  <a:pt x="1131" y="617"/>
                </a:cubicBezTo>
                <a:cubicBezTo>
                  <a:pt x="1017" y="430"/>
                  <a:pt x="852" y="274"/>
                  <a:pt x="653" y="165"/>
                </a:cubicBezTo>
                <a:cubicBezTo>
                  <a:pt x="455" y="57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"/>
          <p:cNvSpPr/>
          <p:nvPr/>
        </p:nvSpPr>
        <p:spPr>
          <a:xfrm>
            <a:off x="3378240" y="1498680"/>
            <a:ext cx="1117440" cy="736560"/>
          </a:xfrm>
          <a:prstGeom prst="rect">
            <a:avLst/>
          </a:prstGeom>
          <a:noFill/>
          <a:ln w="25560">
            <a:solidFill>
              <a:srgbClr val="114FFB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"/>
          <p:cNvSpPr txBox="1"/>
          <p:nvPr/>
        </p:nvSpPr>
        <p:spPr>
          <a:xfrm>
            <a:off x="1546200" y="198360"/>
            <a:ext cx="6091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Updating records in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"/>
          <p:cNvSpPr txBox="1"/>
          <p:nvPr/>
        </p:nvSpPr>
        <p:spPr>
          <a:xfrm>
            <a:off x="7024680" y="1163520"/>
            <a:ext cx="1573200" cy="13129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RecordB+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"/>
          <p:cNvSpPr txBox="1"/>
          <p:nvPr/>
        </p:nvSpPr>
        <p:spPr>
          <a:xfrm>
            <a:off x="2997360" y="1163520"/>
            <a:ext cx="3225960" cy="5402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=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i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Update OFRec with TFRec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OFRec+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br>
              <a:rPr sz="1400"/>
            </a:b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"/>
          <p:cNvSpPr txBox="1"/>
          <p:nvPr/>
        </p:nvSpPr>
        <p:spPr>
          <a:xfrm>
            <a:off x="3247920" y="14716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3247920" y="19000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3247920" y="23385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4647960" y="2082960"/>
            <a:ext cx="470160" cy="457560"/>
          </a:xfrm>
          <a:custGeom>
            <a:avLst/>
            <a:gdLst/>
            <a:ahLst/>
            <a:rect l="0" t="0" r="r" b="b"/>
            <a:pathLst>
              <a:path fill="none" w="1306" h="1271">
                <a:moveTo>
                  <a:pt x="0" y="1271"/>
                </a:moveTo>
                <a:lnTo>
                  <a:pt x="0" y="1271"/>
                </a:lnTo>
                <a:cubicBezTo>
                  <a:pt x="229" y="1271"/>
                  <a:pt x="454" y="1242"/>
                  <a:pt x="653" y="1186"/>
                </a:cubicBezTo>
                <a:cubicBezTo>
                  <a:pt x="852" y="1130"/>
                  <a:pt x="1016" y="1050"/>
                  <a:pt x="1131" y="953"/>
                </a:cubicBezTo>
                <a:cubicBezTo>
                  <a:pt x="1246" y="857"/>
                  <a:pt x="1306" y="747"/>
                  <a:pt x="1306" y="635"/>
                </a:cubicBezTo>
                <a:cubicBezTo>
                  <a:pt x="1306" y="524"/>
                  <a:pt x="1246" y="414"/>
                  <a:pt x="1131" y="318"/>
                </a:cubicBezTo>
                <a:cubicBezTo>
                  <a:pt x="1016" y="221"/>
                  <a:pt x="852" y="141"/>
                  <a:pt x="653" y="85"/>
                </a:cubicBezTo>
                <a:cubicBezTo>
                  <a:pt x="454" y="29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"/>
          <p:cNvSpPr/>
          <p:nvPr/>
        </p:nvSpPr>
        <p:spPr>
          <a:xfrm>
            <a:off x="1675080" y="1447920"/>
            <a:ext cx="1692720" cy="301680"/>
          </a:xfrm>
          <a:custGeom>
            <a:avLst/>
            <a:gdLst/>
            <a:ahLst/>
            <a:rect l="0" t="0" r="r" b="b"/>
            <a:pathLst>
              <a:path fill="none" w="4702" h="838">
                <a:moveTo>
                  <a:pt x="4702" y="543"/>
                </a:moveTo>
                <a:lnTo>
                  <a:pt x="4702" y="543"/>
                </a:lnTo>
                <a:cubicBezTo>
                  <a:pt x="4484" y="400"/>
                  <a:pt x="4213" y="280"/>
                  <a:pt x="3906" y="189"/>
                </a:cubicBezTo>
                <a:cubicBezTo>
                  <a:pt x="3486" y="65"/>
                  <a:pt x="3010" y="0"/>
                  <a:pt x="2525" y="0"/>
                </a:cubicBezTo>
                <a:cubicBezTo>
                  <a:pt x="2039" y="0"/>
                  <a:pt x="1563" y="65"/>
                  <a:pt x="1143" y="189"/>
                </a:cubicBezTo>
                <a:cubicBezTo>
                  <a:pt x="723" y="313"/>
                  <a:pt x="374" y="491"/>
                  <a:pt x="132" y="706"/>
                </a:cubicBezTo>
                <a:cubicBezTo>
                  <a:pt x="83" y="749"/>
                  <a:pt x="39" y="793"/>
                  <a:pt x="0" y="838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1600200" y="2108160"/>
            <a:ext cx="1752840" cy="2095920"/>
          </a:xfrm>
          <a:custGeom>
            <a:avLst/>
            <a:gdLst/>
            <a:ahLst/>
            <a:rect l="0" t="0" r="r" b="b"/>
            <a:pathLst>
              <a:path fill="none" w="4869" h="5822">
                <a:moveTo>
                  <a:pt x="4869" y="0"/>
                </a:moveTo>
                <a:lnTo>
                  <a:pt x="4869" y="0"/>
                </a:lnTo>
                <a:cubicBezTo>
                  <a:pt x="4014" y="0"/>
                  <a:pt x="3175" y="269"/>
                  <a:pt x="2434" y="780"/>
                </a:cubicBezTo>
                <a:cubicBezTo>
                  <a:pt x="1694" y="1291"/>
                  <a:pt x="1080" y="2026"/>
                  <a:pt x="652" y="2911"/>
                </a:cubicBezTo>
                <a:cubicBezTo>
                  <a:pt x="225" y="3796"/>
                  <a:pt x="0" y="4800"/>
                  <a:pt x="0" y="5822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"/>
          <p:cNvSpPr/>
          <p:nvPr/>
        </p:nvSpPr>
        <p:spPr>
          <a:xfrm>
            <a:off x="5143320" y="2273400"/>
            <a:ext cx="2007000" cy="228960"/>
          </a:xfrm>
          <a:custGeom>
            <a:avLst/>
            <a:gdLst/>
            <a:ahLst/>
            <a:rect l="0" t="0" r="r" b="b"/>
            <a:pathLst>
              <a:path fill="none" w="5575" h="636">
                <a:moveTo>
                  <a:pt x="5575" y="0"/>
                </a:moveTo>
                <a:lnTo>
                  <a:pt x="5575" y="0"/>
                </a:lnTo>
                <a:cubicBezTo>
                  <a:pt x="4596" y="0"/>
                  <a:pt x="3635" y="29"/>
                  <a:pt x="2787" y="85"/>
                </a:cubicBezTo>
                <a:cubicBezTo>
                  <a:pt x="1940" y="141"/>
                  <a:pt x="1236" y="221"/>
                  <a:pt x="747" y="318"/>
                </a:cubicBezTo>
                <a:cubicBezTo>
                  <a:pt x="258" y="415"/>
                  <a:pt x="0" y="524"/>
                  <a:pt x="0" y="636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1546200" y="198360"/>
            <a:ext cx="6091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Updating records in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"/>
          <p:cNvSpPr/>
          <p:nvPr/>
        </p:nvSpPr>
        <p:spPr>
          <a:xfrm>
            <a:off x="7024680" y="1163520"/>
            <a:ext cx="1360440" cy="5302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3164040" y="1163520"/>
            <a:ext cx="2646360" cy="50976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&lt;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TFRec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349800" y="14842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TFRec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3349800" y="191304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OFRec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349800" y="23511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103000"/>
              </a:lnSpc>
              <a:spcAft>
                <a:spcPts val="1247"/>
              </a:spcAft>
            </a:pPr>
            <a:r>
              <a:rPr lang="en-US" sz="2000" b="1" u="none" strike="noStrike">
                <a:solidFill>
                  <a:srgbClr val="114FFB"/>
                </a:solidFill>
                <a:effectLst/>
                <a:uFillTx/>
                <a:latin typeface="Courier New"/>
                <a:ea typeface="Courier New"/>
              </a:rPr>
              <a:t>NFRec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1266840" y="147600"/>
            <a:ext cx="6388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Inserting records into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"/>
          <p:cNvSpPr txBox="1"/>
          <p:nvPr/>
        </p:nvSpPr>
        <p:spPr>
          <a:xfrm>
            <a:off x="7024680" y="1163520"/>
            <a:ext cx="1360440" cy="5302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"/>
          <p:cNvSpPr txBox="1"/>
          <p:nvPr/>
        </p:nvSpPr>
        <p:spPr>
          <a:xfrm>
            <a:off x="3164040" y="1163520"/>
            <a:ext cx="2646360" cy="50976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&lt;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TFRec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"/>
          <p:cNvSpPr txBox="1"/>
          <p:nvPr/>
        </p:nvSpPr>
        <p:spPr>
          <a:xfrm>
            <a:off x="3349800" y="14842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"/>
          <p:cNvSpPr txBox="1"/>
          <p:nvPr/>
        </p:nvSpPr>
        <p:spPr>
          <a:xfrm>
            <a:off x="3349800" y="191304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3349800" y="23511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1727280" y="1409760"/>
            <a:ext cx="1892520" cy="241560"/>
          </a:xfrm>
          <a:custGeom>
            <a:avLst/>
            <a:gdLst/>
            <a:ahLst/>
            <a:rect l="0" t="0" r="r" b="b"/>
            <a:pathLst>
              <a:path fill="none" w="5257" h="671">
                <a:moveTo>
                  <a:pt x="5257" y="671"/>
                </a:moveTo>
                <a:lnTo>
                  <a:pt x="5257" y="671"/>
                </a:lnTo>
                <a:lnTo>
                  <a:pt x="5257" y="671"/>
                </a:lnTo>
                <a:cubicBezTo>
                  <a:pt x="5257" y="553"/>
                  <a:pt x="5014" y="438"/>
                  <a:pt x="4553" y="335"/>
                </a:cubicBezTo>
                <a:cubicBezTo>
                  <a:pt x="4091" y="233"/>
                  <a:pt x="3428" y="149"/>
                  <a:pt x="2628" y="90"/>
                </a:cubicBezTo>
                <a:cubicBezTo>
                  <a:pt x="1829" y="31"/>
                  <a:pt x="923" y="0"/>
                  <a:pt x="0" y="0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"/>
          <p:cNvSpPr/>
          <p:nvPr/>
        </p:nvSpPr>
        <p:spPr>
          <a:xfrm>
            <a:off x="1650960" y="2120760"/>
            <a:ext cx="1854720" cy="1257840"/>
          </a:xfrm>
          <a:custGeom>
            <a:avLst/>
            <a:gdLst/>
            <a:ahLst/>
            <a:rect l="0" t="0" r="r" b="b"/>
            <a:pathLst>
              <a:path fill="none" w="5152" h="3494">
                <a:moveTo>
                  <a:pt x="5152" y="0"/>
                </a:moveTo>
                <a:lnTo>
                  <a:pt x="5152" y="0"/>
                </a:lnTo>
                <a:cubicBezTo>
                  <a:pt x="4248" y="0"/>
                  <a:pt x="3359" y="161"/>
                  <a:pt x="2576" y="468"/>
                </a:cubicBezTo>
                <a:cubicBezTo>
                  <a:pt x="1793" y="775"/>
                  <a:pt x="1142" y="1216"/>
                  <a:pt x="690" y="1747"/>
                </a:cubicBezTo>
                <a:cubicBezTo>
                  <a:pt x="238" y="2278"/>
                  <a:pt x="0" y="2881"/>
                  <a:pt x="0" y="3494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4711680" y="2095560"/>
            <a:ext cx="470160" cy="457560"/>
          </a:xfrm>
          <a:custGeom>
            <a:avLst/>
            <a:gdLst/>
            <a:ahLst/>
            <a:rect l="0" t="0" r="r" b="b"/>
            <a:pathLst>
              <a:path fill="none" w="1306" h="1271">
                <a:moveTo>
                  <a:pt x="0" y="1271"/>
                </a:moveTo>
                <a:lnTo>
                  <a:pt x="0" y="1271"/>
                </a:lnTo>
                <a:cubicBezTo>
                  <a:pt x="229" y="1271"/>
                  <a:pt x="454" y="1242"/>
                  <a:pt x="653" y="1186"/>
                </a:cubicBezTo>
                <a:cubicBezTo>
                  <a:pt x="852" y="1130"/>
                  <a:pt x="1016" y="1050"/>
                  <a:pt x="1131" y="953"/>
                </a:cubicBezTo>
                <a:cubicBezTo>
                  <a:pt x="1246" y="857"/>
                  <a:pt x="1306" y="747"/>
                  <a:pt x="1306" y="635"/>
                </a:cubicBezTo>
                <a:cubicBezTo>
                  <a:pt x="1306" y="524"/>
                  <a:pt x="1246" y="414"/>
                  <a:pt x="1131" y="318"/>
                </a:cubicBezTo>
                <a:cubicBezTo>
                  <a:pt x="1016" y="221"/>
                  <a:pt x="852" y="141"/>
                  <a:pt x="653" y="85"/>
                </a:cubicBezTo>
                <a:cubicBezTo>
                  <a:pt x="454" y="29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5334120" y="1422360"/>
            <a:ext cx="1841760" cy="1092600"/>
          </a:xfrm>
          <a:custGeom>
            <a:avLst/>
            <a:gdLst/>
            <a:ahLst/>
            <a:rect l="0" t="0" r="r" b="b"/>
            <a:pathLst>
              <a:path fill="none" w="5116" h="3035">
                <a:moveTo>
                  <a:pt x="5116" y="0"/>
                </a:moveTo>
                <a:lnTo>
                  <a:pt x="5116" y="0"/>
                </a:lnTo>
                <a:cubicBezTo>
                  <a:pt x="4218" y="0"/>
                  <a:pt x="3336" y="140"/>
                  <a:pt x="2558" y="407"/>
                </a:cubicBezTo>
                <a:cubicBezTo>
                  <a:pt x="1780" y="673"/>
                  <a:pt x="1134" y="1056"/>
                  <a:pt x="685" y="1518"/>
                </a:cubicBezTo>
                <a:cubicBezTo>
                  <a:pt x="236" y="1979"/>
                  <a:pt x="0" y="2502"/>
                  <a:pt x="0" y="3035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1266840" y="147600"/>
            <a:ext cx="6388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Inserting records into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7024680" y="1163520"/>
            <a:ext cx="1360440" cy="9064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3164040" y="1163520"/>
            <a:ext cx="2646360" cy="50976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&lt;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TFRec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3349800" y="14842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676767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349800" y="191304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3349800" y="23511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1612800" y="2120760"/>
            <a:ext cx="1892520" cy="1626120"/>
          </a:xfrm>
          <a:custGeom>
            <a:avLst/>
            <a:gdLst/>
            <a:ahLst/>
            <a:rect l="0" t="0" r="r" b="b"/>
            <a:pathLst>
              <a:path fill="none" w="5257" h="4517">
                <a:moveTo>
                  <a:pt x="5257" y="0"/>
                </a:moveTo>
                <a:lnTo>
                  <a:pt x="5257" y="0"/>
                </a:lnTo>
                <a:cubicBezTo>
                  <a:pt x="4334" y="0"/>
                  <a:pt x="3428" y="209"/>
                  <a:pt x="2628" y="605"/>
                </a:cubicBezTo>
                <a:cubicBezTo>
                  <a:pt x="1829" y="1002"/>
                  <a:pt x="1166" y="1572"/>
                  <a:pt x="704" y="2259"/>
                </a:cubicBezTo>
                <a:cubicBezTo>
                  <a:pt x="243" y="2945"/>
                  <a:pt x="0" y="3724"/>
                  <a:pt x="0" y="4517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4711680" y="2095560"/>
            <a:ext cx="470160" cy="457560"/>
          </a:xfrm>
          <a:custGeom>
            <a:avLst/>
            <a:gdLst/>
            <a:ahLst/>
            <a:rect l="0" t="0" r="r" b="b"/>
            <a:pathLst>
              <a:path fill="none" w="1306" h="1271">
                <a:moveTo>
                  <a:pt x="0" y="1271"/>
                </a:moveTo>
                <a:lnTo>
                  <a:pt x="0" y="1271"/>
                </a:lnTo>
                <a:cubicBezTo>
                  <a:pt x="229" y="1271"/>
                  <a:pt x="454" y="1242"/>
                  <a:pt x="653" y="1186"/>
                </a:cubicBezTo>
                <a:cubicBezTo>
                  <a:pt x="852" y="1130"/>
                  <a:pt x="1016" y="1050"/>
                  <a:pt x="1131" y="953"/>
                </a:cubicBezTo>
                <a:cubicBezTo>
                  <a:pt x="1246" y="857"/>
                  <a:pt x="1306" y="747"/>
                  <a:pt x="1306" y="635"/>
                </a:cubicBezTo>
                <a:cubicBezTo>
                  <a:pt x="1306" y="524"/>
                  <a:pt x="1246" y="414"/>
                  <a:pt x="1131" y="318"/>
                </a:cubicBezTo>
                <a:cubicBezTo>
                  <a:pt x="1016" y="221"/>
                  <a:pt x="852" y="141"/>
                  <a:pt x="653" y="85"/>
                </a:cubicBezTo>
                <a:cubicBezTo>
                  <a:pt x="454" y="29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"/>
          <p:cNvSpPr/>
          <p:nvPr/>
        </p:nvSpPr>
        <p:spPr>
          <a:xfrm>
            <a:off x="5334120" y="1841400"/>
            <a:ext cx="1841760" cy="673560"/>
          </a:xfrm>
          <a:custGeom>
            <a:avLst/>
            <a:gdLst/>
            <a:ahLst/>
            <a:rect l="0" t="0" r="r" b="b"/>
            <a:pathLst>
              <a:path fill="none" w="5116" h="1871">
                <a:moveTo>
                  <a:pt x="5116" y="0"/>
                </a:moveTo>
                <a:lnTo>
                  <a:pt x="5116" y="0"/>
                </a:lnTo>
                <a:cubicBezTo>
                  <a:pt x="4218" y="0"/>
                  <a:pt x="3336" y="86"/>
                  <a:pt x="2558" y="251"/>
                </a:cubicBezTo>
                <a:cubicBezTo>
                  <a:pt x="1780" y="415"/>
                  <a:pt x="1134" y="651"/>
                  <a:pt x="685" y="936"/>
                </a:cubicBezTo>
                <a:cubicBezTo>
                  <a:pt x="236" y="1220"/>
                  <a:pt x="0" y="1543"/>
                  <a:pt x="0" y="1871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"/>
          <p:cNvSpPr txBox="1"/>
          <p:nvPr/>
        </p:nvSpPr>
        <p:spPr>
          <a:xfrm>
            <a:off x="1266840" y="147600"/>
            <a:ext cx="6388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Inserting records into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702144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3164040" y="1163520"/>
            <a:ext cx="2646360" cy="50976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</a:t>
            </a: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TFKey &lt;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TFRec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3349800" y="14842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3349800" y="191304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3349800" y="23511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"/>
          <p:cNvSpPr/>
          <p:nvPr/>
        </p:nvSpPr>
        <p:spPr>
          <a:xfrm>
            <a:off x="1650960" y="2120760"/>
            <a:ext cx="1854720" cy="2171880"/>
          </a:xfrm>
          <a:custGeom>
            <a:avLst/>
            <a:gdLst/>
            <a:ahLst/>
            <a:rect l="0" t="0" r="r" b="b"/>
            <a:pathLst>
              <a:path fill="none" w="5152" h="6033">
                <a:moveTo>
                  <a:pt x="5152" y="0"/>
                </a:moveTo>
                <a:lnTo>
                  <a:pt x="5152" y="0"/>
                </a:lnTo>
                <a:cubicBezTo>
                  <a:pt x="4248" y="0"/>
                  <a:pt x="3359" y="279"/>
                  <a:pt x="2576" y="808"/>
                </a:cubicBezTo>
                <a:cubicBezTo>
                  <a:pt x="1793" y="1338"/>
                  <a:pt x="1142" y="2099"/>
                  <a:pt x="690" y="3017"/>
                </a:cubicBezTo>
                <a:cubicBezTo>
                  <a:pt x="238" y="3934"/>
                  <a:pt x="0" y="4974"/>
                  <a:pt x="0" y="6033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4711680" y="1676520"/>
            <a:ext cx="470160" cy="876600"/>
          </a:xfrm>
          <a:custGeom>
            <a:avLst/>
            <a:gdLst/>
            <a:ahLst/>
            <a:rect l="0" t="0" r="r" b="b"/>
            <a:pathLst>
              <a:path fill="none" w="1306" h="2435">
                <a:moveTo>
                  <a:pt x="0" y="2435"/>
                </a:moveTo>
                <a:lnTo>
                  <a:pt x="0" y="2435"/>
                </a:lnTo>
                <a:cubicBezTo>
                  <a:pt x="229" y="2435"/>
                  <a:pt x="454" y="2379"/>
                  <a:pt x="653" y="2272"/>
                </a:cubicBezTo>
                <a:cubicBezTo>
                  <a:pt x="852" y="2165"/>
                  <a:pt x="1016" y="2011"/>
                  <a:pt x="1131" y="1826"/>
                </a:cubicBezTo>
                <a:cubicBezTo>
                  <a:pt x="1246" y="1641"/>
                  <a:pt x="1306" y="1431"/>
                  <a:pt x="1306" y="1217"/>
                </a:cubicBezTo>
                <a:cubicBezTo>
                  <a:pt x="1306" y="1004"/>
                  <a:pt x="1246" y="794"/>
                  <a:pt x="1131" y="609"/>
                </a:cubicBezTo>
                <a:cubicBezTo>
                  <a:pt x="1016" y="424"/>
                  <a:pt x="852" y="270"/>
                  <a:pt x="653" y="163"/>
                </a:cubicBezTo>
                <a:cubicBezTo>
                  <a:pt x="454" y="56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"/>
          <p:cNvSpPr/>
          <p:nvPr/>
        </p:nvSpPr>
        <p:spPr>
          <a:xfrm>
            <a:off x="5334120" y="2273400"/>
            <a:ext cx="1841760" cy="241560"/>
          </a:xfrm>
          <a:custGeom>
            <a:avLst/>
            <a:gdLst/>
            <a:ahLst/>
            <a:rect l="0" t="0" r="r" b="b"/>
            <a:pathLst>
              <a:path fill="none" w="5116" h="671">
                <a:moveTo>
                  <a:pt x="5116" y="0"/>
                </a:moveTo>
                <a:lnTo>
                  <a:pt x="5116" y="0"/>
                </a:lnTo>
                <a:cubicBezTo>
                  <a:pt x="4218" y="0"/>
                  <a:pt x="3336" y="31"/>
                  <a:pt x="2558" y="90"/>
                </a:cubicBezTo>
                <a:cubicBezTo>
                  <a:pt x="1780" y="149"/>
                  <a:pt x="1134" y="233"/>
                  <a:pt x="685" y="336"/>
                </a:cubicBezTo>
                <a:cubicBezTo>
                  <a:pt x="236" y="438"/>
                  <a:pt x="0" y="553"/>
                  <a:pt x="0" y="671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"/>
          <p:cNvSpPr txBox="1"/>
          <p:nvPr/>
        </p:nvSpPr>
        <p:spPr>
          <a:xfrm>
            <a:off x="1266840" y="147600"/>
            <a:ext cx="6388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Inserting records into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1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"/>
          <p:cNvSpPr txBox="1"/>
          <p:nvPr/>
        </p:nvSpPr>
        <p:spPr>
          <a:xfrm>
            <a:off x="7021440" y="1160640"/>
            <a:ext cx="1366920" cy="18129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"/>
          <p:cNvSpPr txBox="1"/>
          <p:nvPr/>
        </p:nvSpPr>
        <p:spPr>
          <a:xfrm>
            <a:off x="3164040" y="1163520"/>
            <a:ext cx="2646360" cy="50976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</a:t>
            </a: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TFKey &lt;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TFRec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"/>
          <p:cNvSpPr txBox="1"/>
          <p:nvPr/>
        </p:nvSpPr>
        <p:spPr>
          <a:xfrm>
            <a:off x="3349800" y="14842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3349800" y="191304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3349800" y="23511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"/>
          <p:cNvSpPr/>
          <p:nvPr/>
        </p:nvSpPr>
        <p:spPr>
          <a:xfrm>
            <a:off x="4711680" y="1663560"/>
            <a:ext cx="470520" cy="889200"/>
          </a:xfrm>
          <a:custGeom>
            <a:avLst/>
            <a:gdLst/>
            <a:ahLst/>
            <a:rect l="0" t="0" r="r" b="b"/>
            <a:pathLst>
              <a:path fill="none" w="1307" h="2470">
                <a:moveTo>
                  <a:pt x="0" y="2470"/>
                </a:moveTo>
                <a:lnTo>
                  <a:pt x="0" y="2470"/>
                </a:lnTo>
                <a:cubicBezTo>
                  <a:pt x="229" y="2470"/>
                  <a:pt x="455" y="2413"/>
                  <a:pt x="653" y="2305"/>
                </a:cubicBezTo>
                <a:cubicBezTo>
                  <a:pt x="852" y="2196"/>
                  <a:pt x="1017" y="2040"/>
                  <a:pt x="1131" y="1853"/>
                </a:cubicBezTo>
                <a:cubicBezTo>
                  <a:pt x="1246" y="1665"/>
                  <a:pt x="1307" y="1452"/>
                  <a:pt x="1307" y="1235"/>
                </a:cubicBezTo>
                <a:cubicBezTo>
                  <a:pt x="1307" y="1018"/>
                  <a:pt x="1246" y="805"/>
                  <a:pt x="1131" y="617"/>
                </a:cubicBezTo>
                <a:cubicBezTo>
                  <a:pt x="1017" y="430"/>
                  <a:pt x="852" y="274"/>
                  <a:pt x="653" y="165"/>
                </a:cubicBezTo>
                <a:cubicBezTo>
                  <a:pt x="455" y="57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5303160" y="2120760"/>
            <a:ext cx="1926720" cy="457200"/>
          </a:xfrm>
          <a:custGeom>
            <a:avLst/>
            <a:gdLst/>
            <a:ahLst/>
            <a:rect l="0" t="0" r="r" b="b"/>
            <a:pathLst>
              <a:path fill="none" w="5352" h="1270">
                <a:moveTo>
                  <a:pt x="5352" y="1270"/>
                </a:moveTo>
                <a:lnTo>
                  <a:pt x="5352" y="1270"/>
                </a:lnTo>
                <a:cubicBezTo>
                  <a:pt x="5305" y="1192"/>
                  <a:pt x="5251" y="1115"/>
                  <a:pt x="5191" y="1042"/>
                </a:cubicBezTo>
                <a:cubicBezTo>
                  <a:pt x="4933" y="725"/>
                  <a:pt x="4562" y="462"/>
                  <a:pt x="4115" y="279"/>
                </a:cubicBezTo>
                <a:cubicBezTo>
                  <a:pt x="3667" y="97"/>
                  <a:pt x="3160" y="0"/>
                  <a:pt x="2644" y="0"/>
                </a:cubicBezTo>
                <a:cubicBezTo>
                  <a:pt x="2127" y="0"/>
                  <a:pt x="1620" y="97"/>
                  <a:pt x="1173" y="279"/>
                </a:cubicBezTo>
                <a:cubicBezTo>
                  <a:pt x="726" y="462"/>
                  <a:pt x="355" y="725"/>
                  <a:pt x="96" y="1042"/>
                </a:cubicBezTo>
                <a:cubicBezTo>
                  <a:pt x="62" y="1084"/>
                  <a:pt x="30" y="1126"/>
                  <a:pt x="0" y="1170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1661400" y="1206360"/>
            <a:ext cx="1944720" cy="500040"/>
          </a:xfrm>
          <a:custGeom>
            <a:avLst/>
            <a:gdLst/>
            <a:ahLst/>
            <a:rect l="0" t="0" r="r" b="b"/>
            <a:pathLst>
              <a:path fill="none" w="5402" h="1389">
                <a:moveTo>
                  <a:pt x="5402" y="1122"/>
                </a:moveTo>
                <a:lnTo>
                  <a:pt x="5402" y="1122"/>
                </a:lnTo>
                <a:cubicBezTo>
                  <a:pt x="5135" y="801"/>
                  <a:pt x="4782" y="534"/>
                  <a:pt x="4368" y="341"/>
                </a:cubicBezTo>
                <a:cubicBezTo>
                  <a:pt x="3891" y="117"/>
                  <a:pt x="3349" y="0"/>
                  <a:pt x="2798" y="0"/>
                </a:cubicBezTo>
                <a:cubicBezTo>
                  <a:pt x="2247" y="0"/>
                  <a:pt x="1705" y="117"/>
                  <a:pt x="1228" y="341"/>
                </a:cubicBezTo>
                <a:cubicBezTo>
                  <a:pt x="751" y="564"/>
                  <a:pt x="354" y="885"/>
                  <a:pt x="79" y="1272"/>
                </a:cubicBezTo>
                <a:cubicBezTo>
                  <a:pt x="51" y="1310"/>
                  <a:pt x="25" y="1349"/>
                  <a:pt x="0" y="1389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"/>
          <p:cNvSpPr txBox="1"/>
          <p:nvPr/>
        </p:nvSpPr>
        <p:spPr>
          <a:xfrm>
            <a:off x="1266840" y="147600"/>
            <a:ext cx="6388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Inserting records into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"/>
          <p:cNvSpPr txBox="1"/>
          <p:nvPr/>
        </p:nvSpPr>
        <p:spPr>
          <a:xfrm>
            <a:off x="493560" y="1160640"/>
            <a:ext cx="1366920" cy="138744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"/>
          <p:cNvSpPr txBox="1"/>
          <p:nvPr/>
        </p:nvSpPr>
        <p:spPr>
          <a:xfrm>
            <a:off x="318960" y="909720"/>
            <a:ext cx="179064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Transaction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480960" y="3203640"/>
            <a:ext cx="1366920" cy="308916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"/>
          <p:cNvSpPr txBox="1"/>
          <p:nvPr/>
        </p:nvSpPr>
        <p:spPr>
          <a:xfrm>
            <a:off x="496800" y="2878200"/>
            <a:ext cx="144792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Ordered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7051680" y="909720"/>
            <a:ext cx="10414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New File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3795840" y="896760"/>
            <a:ext cx="1390680" cy="28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 marL="190440" indent="-190440" algn="ctr"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  <a:ea typeface="Times New Roman"/>
              </a:rPr>
              <a:t>PROGRAM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"/>
          <p:cNvSpPr txBox="1"/>
          <p:nvPr/>
        </p:nvSpPr>
        <p:spPr>
          <a:xfrm>
            <a:off x="7021440" y="1160640"/>
            <a:ext cx="1366920" cy="223848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RecordB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RecordF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3164040" y="1163520"/>
            <a:ext cx="2646360" cy="509760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  <a:effectLst>
            <a:outerShdw dist="0" dir="0" rotWithShape="0">
              <a:srgbClr val="919191"/>
            </a:outerShdw>
          </a:effectLst>
        </p:spPr>
        <p:txBody>
          <a:bodyPr lIns="0" tIns="0" rIns="0" bIns="0" anchor="t">
            <a:spAutoFit/>
          </a:bodyPr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FILE SECTION.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PROCEDURE DIVISION.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INPUT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OPEN OUTPUT NF.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IF TFKey &lt; OFKey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TFRec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TF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279F"/>
                </a:solidFill>
                <a:effectLst/>
                <a:uFillTx/>
                <a:latin typeface="Courier New"/>
                <a:ea typeface="Courier New"/>
              </a:rPr>
              <a:t>ELSE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OFRec TO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WRITE NFRec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	</a:t>
            </a: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READ OF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90440" indent="-190440">
              <a:lnSpc>
                <a:spcPct val="103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END-IF.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349800" y="148428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"/>
          <p:cNvSpPr txBox="1"/>
          <p:nvPr/>
        </p:nvSpPr>
        <p:spPr>
          <a:xfrm>
            <a:off x="3349800" y="191304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3349800" y="2351160"/>
            <a:ext cx="2228760" cy="371520"/>
          </a:xfrm>
          <a:prstGeom prst="rect">
            <a:avLst/>
          </a:prstGeom>
          <a:solidFill>
            <a:srgbClr val="DADADA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>
              <a:lnSpc>
                <a:spcPct val="103000"/>
              </a:lnSpc>
              <a:spcAft>
                <a:spcPts val="1247"/>
              </a:spcAft>
            </a:pPr>
            <a:r>
              <a:rPr lang="en-US" sz="1800" b="1" u="none" strike="noStrike">
                <a:solidFill>
                  <a:srgbClr val="FC0128"/>
                </a:solidFill>
                <a:effectLst/>
                <a:uFillTx/>
                <a:latin typeface="Courier New"/>
                <a:ea typeface="Courier New"/>
              </a:rPr>
              <a:t>RecordG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4711680" y="2095560"/>
            <a:ext cx="470160" cy="457560"/>
          </a:xfrm>
          <a:custGeom>
            <a:avLst/>
            <a:gdLst/>
            <a:ahLst/>
            <a:rect l="0" t="0" r="r" b="b"/>
            <a:pathLst>
              <a:path fill="none" w="1306" h="1271">
                <a:moveTo>
                  <a:pt x="0" y="1271"/>
                </a:moveTo>
                <a:lnTo>
                  <a:pt x="0" y="1271"/>
                </a:lnTo>
                <a:cubicBezTo>
                  <a:pt x="229" y="1271"/>
                  <a:pt x="454" y="1242"/>
                  <a:pt x="653" y="1186"/>
                </a:cubicBezTo>
                <a:cubicBezTo>
                  <a:pt x="852" y="1130"/>
                  <a:pt x="1016" y="1050"/>
                  <a:pt x="1131" y="953"/>
                </a:cubicBezTo>
                <a:cubicBezTo>
                  <a:pt x="1246" y="857"/>
                  <a:pt x="1306" y="747"/>
                  <a:pt x="1306" y="635"/>
                </a:cubicBezTo>
                <a:cubicBezTo>
                  <a:pt x="1306" y="524"/>
                  <a:pt x="1246" y="414"/>
                  <a:pt x="1131" y="318"/>
                </a:cubicBezTo>
                <a:cubicBezTo>
                  <a:pt x="1016" y="221"/>
                  <a:pt x="852" y="141"/>
                  <a:pt x="653" y="85"/>
                </a:cubicBezTo>
                <a:cubicBezTo>
                  <a:pt x="454" y="29"/>
                  <a:pt x="229" y="0"/>
                  <a:pt x="0" y="0"/>
                </a:cubicBezTo>
              </a:path>
            </a:pathLst>
          </a:custGeom>
          <a:ln w="12600">
            <a:solidFill>
              <a:srgbClr val="FC0128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1661400" y="1206360"/>
            <a:ext cx="1911600" cy="916200"/>
          </a:xfrm>
          <a:custGeom>
            <a:avLst/>
            <a:gdLst/>
            <a:ahLst/>
            <a:rect l="0" t="0" r="r" b="b"/>
            <a:pathLst>
              <a:path fill="none" w="5310" h="2545">
                <a:moveTo>
                  <a:pt x="5310" y="1091"/>
                </a:moveTo>
                <a:lnTo>
                  <a:pt x="5310" y="1091"/>
                </a:lnTo>
                <a:cubicBezTo>
                  <a:pt x="5156" y="916"/>
                  <a:pt x="4990" y="760"/>
                  <a:pt x="4815" y="625"/>
                </a:cubicBezTo>
                <a:cubicBezTo>
                  <a:pt x="4289" y="216"/>
                  <a:pt x="3692" y="0"/>
                  <a:pt x="3085" y="0"/>
                </a:cubicBezTo>
                <a:cubicBezTo>
                  <a:pt x="2477" y="0"/>
                  <a:pt x="1880" y="216"/>
                  <a:pt x="1354" y="625"/>
                </a:cubicBezTo>
                <a:cubicBezTo>
                  <a:pt x="827" y="1034"/>
                  <a:pt x="390" y="1622"/>
                  <a:pt x="87" y="2330"/>
                </a:cubicBezTo>
                <a:cubicBezTo>
                  <a:pt x="56" y="2401"/>
                  <a:pt x="27" y="2472"/>
                  <a:pt x="0" y="2545"/>
                </a:cubicBezTo>
              </a:path>
            </a:pathLst>
          </a:custGeom>
          <a:ln w="25560">
            <a:solidFill>
              <a:srgbClr val="FC0128"/>
            </a:solidFill>
            <a:round/>
            <a:tail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5181480" y="2540160"/>
            <a:ext cx="2019600" cy="495720"/>
          </a:xfrm>
          <a:custGeom>
            <a:avLst/>
            <a:gdLst/>
            <a:ahLst/>
            <a:rect l="0" t="0" r="r" b="b"/>
            <a:pathLst>
              <a:path fill="none" w="5610" h="1377">
                <a:moveTo>
                  <a:pt x="5610" y="1377"/>
                </a:moveTo>
                <a:lnTo>
                  <a:pt x="5610" y="1377"/>
                </a:lnTo>
                <a:lnTo>
                  <a:pt x="5610" y="1377"/>
                </a:lnTo>
                <a:cubicBezTo>
                  <a:pt x="5610" y="1135"/>
                  <a:pt x="5351" y="898"/>
                  <a:pt x="4858" y="688"/>
                </a:cubicBezTo>
                <a:cubicBezTo>
                  <a:pt x="4366" y="479"/>
                  <a:pt x="3658" y="305"/>
                  <a:pt x="2805" y="184"/>
                </a:cubicBezTo>
                <a:cubicBezTo>
                  <a:pt x="1952" y="64"/>
                  <a:pt x="985" y="0"/>
                  <a:pt x="0" y="0"/>
                </a:cubicBezTo>
              </a:path>
            </a:pathLst>
          </a:custGeom>
          <a:ln w="25560">
            <a:solidFill>
              <a:srgbClr val="FC0128"/>
            </a:solidFill>
            <a:round/>
            <a:headEnd len="med" type="triangle" w="med"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"/>
          <p:cNvSpPr txBox="1"/>
          <p:nvPr/>
        </p:nvSpPr>
        <p:spPr>
          <a:xfrm>
            <a:off x="1266840" y="147600"/>
            <a:ext cx="6388200" cy="476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90000"/>
              </a:lnSpc>
            </a:pPr>
            <a:r>
              <a:rPr lang="en-US" sz="2800" b="1" u="none" strike="noStrike">
                <a:solidFill>
                  <a:srgbClr val="FAFD00"/>
                </a:solidFill>
                <a:effectLst/>
                <a:uFillTx/>
                <a:latin typeface="Arial"/>
                <a:ea typeface="Arial"/>
              </a:rPr>
              <a:t>Inserting records into an ordered file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Processing Sequential Files </dc:title>
</cp:coreProperties>
</file>