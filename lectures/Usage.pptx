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media/image1.wmf" ContentType="image/x-wmf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M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path path="rect">
              <a:fillToRect l="0" t="0" r="100000" b="10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"/>
          <p:cNvGrpSpPr/>
          <p:nvPr/>
        </p:nvGrpSpPr>
        <p:grpSpPr>
          <a:xfrm>
            <a:off x="6629400" y="4343400"/>
            <a:ext cx="2286000" cy="2286000"/>
            <a:chOff x="6629400" y="4343400"/>
            <a:chExt cx="2286000" cy="2286000"/>
          </a:xfrm>
        </p:grpSpPr>
        <p:sp>
          <p:nvSpPr>
            <p:cNvPr id="4" name=""/>
            <p:cNvSpPr/>
            <p:nvPr/>
          </p:nvSpPr>
          <p:spPr>
            <a:xfrm>
              <a:off x="8763120" y="6477120"/>
              <a:ext cx="152280" cy="152280"/>
            </a:xfrm>
            <a:prstGeom prst="rect">
              <a:avLst/>
            </a:prstGeom>
            <a:solidFill>
              <a:srgbClr val="FF0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8458200" y="647712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8153280" y="647712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7848720" y="64771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7543800" y="647712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7238880" y="647712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934320" y="64771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6629400" y="647712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8763120" y="617220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8763120" y="586728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8763120" y="55627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763120" y="525780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763120" y="495288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8763120" y="46483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8763120" y="434340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0" y="0"/>
            <a:ext cx="9131400" cy="6845400"/>
          </a:xfrm>
          <a:prstGeom prst="rect">
            <a:avLst/>
          </a:prstGeom>
          <a:gradFill rotWithShape="0">
            <a:gsLst>
              <a:gs pos="0">
                <a:srgbClr val="063DE8"/>
              </a:gs>
              <a:gs pos="100000">
                <a:srgbClr val="FFFFFF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3719520" y="2633760"/>
            <a:ext cx="1936800" cy="157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The </a:t>
            </a:r>
            <a:br>
              <a:rPr sz="3600"/>
            </a:b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USAGE </a:t>
            </a:r>
            <a:br>
              <a:rPr sz="3600"/>
            </a:b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clause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2819520" y="133200"/>
            <a:ext cx="35244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USAGE IS DISPLAY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279360" y="3454560"/>
            <a:ext cx="8292960" cy="21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08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U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SAGE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clause specifies the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format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of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numeric data items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in the computer storage.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08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When no U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SAGE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clause is explicitly declared, 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U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SAGE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 I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 D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ISPLAY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is assumed.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08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When numeric items have a U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SAGE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of D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ISPLAY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they are held as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SCII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characters !!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660240" y="942840"/>
            <a:ext cx="7632720" cy="19018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434960" algn="l"/>
                <a:tab pos="2476440" algn="l"/>
                <a:tab pos="3238560" algn="l"/>
                <a:tab pos="4191120" algn="l"/>
                <a:tab pos="4572000" algn="l"/>
                <a:tab pos="4952880" algn="l"/>
                <a:tab pos="5334120" algn="l"/>
                <a:tab pos="5715000" algn="l"/>
                <a:tab pos="6095880" algn="l"/>
                <a:tab pos="6477120" algn="l"/>
                <a:tab pos="6858000" algn="l"/>
              </a:tabLst>
            </a:pP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SYSTEM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CHAR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HEX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DEC 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8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4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2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8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4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2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tabLst>
                <a:tab pos="1434960" algn="l"/>
                <a:tab pos="2476440" algn="l"/>
                <a:tab pos="3238560" algn="l"/>
                <a:tab pos="4191120" algn="l"/>
                <a:tab pos="4572000" algn="l"/>
                <a:tab pos="4952880" algn="l"/>
                <a:tab pos="5334120" algn="l"/>
                <a:tab pos="5715000" algn="l"/>
                <a:tab pos="6095880" algn="l"/>
                <a:tab pos="6477120" algn="l"/>
                <a:tab pos="6858000" algn="l"/>
              </a:tabLst>
            </a:pP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ASCII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"A"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41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65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0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0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0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0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0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0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681"/>
              </a:spcBef>
              <a:tabLst>
                <a:tab pos="1434960" algn="l"/>
                <a:tab pos="2476440" algn="l"/>
                <a:tab pos="3238560" algn="l"/>
                <a:tab pos="4191120" algn="l"/>
                <a:tab pos="4572000" algn="l"/>
                <a:tab pos="4952880" algn="l"/>
                <a:tab pos="5334120" algn="l"/>
                <a:tab pos="5715000" algn="l"/>
                <a:tab pos="6095880" algn="l"/>
                <a:tab pos="6477120" algn="l"/>
                <a:tab pos="6858000" algn="l"/>
              </a:tabLst>
            </a:pP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EBCDIC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"A"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C1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193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0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0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0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0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0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4" name=""/>
          <p:cNvGrpSpPr/>
          <p:nvPr/>
        </p:nvGrpSpPr>
        <p:grpSpPr>
          <a:xfrm>
            <a:off x="4826160" y="1409760"/>
            <a:ext cx="3073320" cy="520560"/>
            <a:chOff x="4826160" y="1409760"/>
            <a:chExt cx="3073320" cy="520560"/>
          </a:xfrm>
        </p:grpSpPr>
        <p:sp>
          <p:nvSpPr>
            <p:cNvPr id="45" name=""/>
            <p:cNvSpPr/>
            <p:nvPr/>
          </p:nvSpPr>
          <p:spPr>
            <a:xfrm>
              <a:off x="4826160" y="1409760"/>
              <a:ext cx="3073320" cy="520560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5257800" y="1409760"/>
              <a:ext cx="0" cy="52056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5626080" y="1409760"/>
              <a:ext cx="0" cy="52056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6019920" y="1409760"/>
              <a:ext cx="0" cy="52056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6400800" y="1409760"/>
              <a:ext cx="0" cy="52056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6756480" y="1409760"/>
              <a:ext cx="0" cy="52056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7149960" y="1409760"/>
              <a:ext cx="0" cy="52056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7531200" y="1409760"/>
              <a:ext cx="0" cy="52056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3" name=""/>
          <p:cNvGrpSpPr/>
          <p:nvPr/>
        </p:nvGrpSpPr>
        <p:grpSpPr>
          <a:xfrm>
            <a:off x="4838760" y="2031840"/>
            <a:ext cx="3073320" cy="520920"/>
            <a:chOff x="4838760" y="2031840"/>
            <a:chExt cx="3073320" cy="520920"/>
          </a:xfrm>
        </p:grpSpPr>
        <p:sp>
          <p:nvSpPr>
            <p:cNvPr id="54" name=""/>
            <p:cNvSpPr/>
            <p:nvPr/>
          </p:nvSpPr>
          <p:spPr>
            <a:xfrm>
              <a:off x="4838760" y="2031840"/>
              <a:ext cx="3073320" cy="520560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5270400" y="2031840"/>
              <a:ext cx="0" cy="52092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5638680" y="2031840"/>
              <a:ext cx="0" cy="52092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6032520" y="2031840"/>
              <a:ext cx="0" cy="52092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6413400" y="2031840"/>
              <a:ext cx="0" cy="52092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6769080" y="2031840"/>
              <a:ext cx="0" cy="52092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7162920" y="2031840"/>
              <a:ext cx="0" cy="52092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7543800" y="2031840"/>
              <a:ext cx="0" cy="52092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1320840" y="158760"/>
            <a:ext cx="63882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Arithmetic when USAGE IS DISPLAY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3" name=""/>
          <p:cNvGrpSpPr/>
          <p:nvPr/>
        </p:nvGrpSpPr>
        <p:grpSpPr>
          <a:xfrm>
            <a:off x="343080" y="1387440"/>
            <a:ext cx="8470800" cy="3857760"/>
            <a:chOff x="343080" y="1387440"/>
            <a:chExt cx="8470800" cy="3857760"/>
          </a:xfrm>
        </p:grpSpPr>
        <p:sp>
          <p:nvSpPr>
            <p:cNvPr id="64" name=""/>
            <p:cNvSpPr txBox="1"/>
            <p:nvPr/>
          </p:nvSpPr>
          <p:spPr>
            <a:xfrm>
              <a:off x="343080" y="1387440"/>
              <a:ext cx="8470800" cy="3857760"/>
            </a:xfrm>
            <a:prstGeom prst="rect">
              <a:avLst/>
            </a:prstGeom>
            <a:solidFill>
              <a:srgbClr val="DADADA"/>
            </a:solidFill>
            <a:ln w="25560">
              <a:solidFill>
                <a:srgbClr val="676767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  <a:tabLst>
                  <a:tab pos="482760" algn="l"/>
                  <a:tab pos="1434960" algn="l"/>
                  <a:tab pos="2476440" algn="l"/>
                  <a:tab pos="3238560" algn="l"/>
                  <a:tab pos="3619440" algn="l"/>
                  <a:tab pos="4000680" algn="l"/>
                  <a:tab pos="4381560" algn="l"/>
                  <a:tab pos="4762440" algn="l"/>
                  <a:tab pos="5143320" algn="l"/>
                  <a:tab pos="5524560" algn="l"/>
                  <a:tab pos="5905440" algn="l"/>
                  <a:tab pos="6286680" algn="l"/>
                  <a:tab pos="6667560" algn="l"/>
                  <a:tab pos="6959520" algn="l"/>
                  <a:tab pos="7620120" algn="l"/>
                </a:tabLst>
              </a:pP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8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4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2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8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4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2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HEX CHAR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20"/>
                </a:spcBef>
                <a:tabLst>
                  <a:tab pos="482760" algn="l"/>
                  <a:tab pos="1434960" algn="l"/>
                  <a:tab pos="2476440" algn="l"/>
                  <a:tab pos="3238560" algn="l"/>
                  <a:tab pos="3619440" algn="l"/>
                  <a:tab pos="4000680" algn="l"/>
                  <a:tab pos="4381560" algn="l"/>
                  <a:tab pos="4762440" algn="l"/>
                  <a:tab pos="5143320" algn="l"/>
                  <a:tab pos="5524560" algn="l"/>
                  <a:tab pos="5905440" algn="l"/>
                  <a:tab pos="6286680" algn="l"/>
                  <a:tab pos="6667560" algn="l"/>
                  <a:tab pos="6959520" algn="l"/>
                  <a:tab pos="7620120" algn="l"/>
                </a:tabLst>
              </a:pP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Num1   PIC 9 VALUE 4.</a:t>
              </a: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 41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"4"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2041"/>
                </a:spcBef>
                <a:tabLst>
                  <a:tab pos="482760" algn="l"/>
                  <a:tab pos="1434960" algn="l"/>
                  <a:tab pos="2476440" algn="l"/>
                  <a:tab pos="3238560" algn="l"/>
                  <a:tab pos="3619440" algn="l"/>
                  <a:tab pos="4000680" algn="l"/>
                  <a:tab pos="4381560" algn="l"/>
                  <a:tab pos="4762440" algn="l"/>
                  <a:tab pos="5143320" algn="l"/>
                  <a:tab pos="5524560" algn="l"/>
                  <a:tab pos="5905440" algn="l"/>
                  <a:tab pos="6286680" algn="l"/>
                  <a:tab pos="6667560" algn="l"/>
                  <a:tab pos="6959520" algn="l"/>
                  <a:tab pos="7620120" algn="l"/>
                </a:tabLst>
              </a:pP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Num2   PIC 9 VALUE 1.</a:t>
              </a: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 31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"1"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2041"/>
                </a:spcBef>
                <a:tabLst>
                  <a:tab pos="482760" algn="l"/>
                  <a:tab pos="1434960" algn="l"/>
                  <a:tab pos="2476440" algn="l"/>
                  <a:tab pos="3238560" algn="l"/>
                  <a:tab pos="3619440" algn="l"/>
                  <a:tab pos="4000680" algn="l"/>
                  <a:tab pos="4381560" algn="l"/>
                  <a:tab pos="4762440" algn="l"/>
                  <a:tab pos="5143320" algn="l"/>
                  <a:tab pos="5524560" algn="l"/>
                  <a:tab pos="5905440" algn="l"/>
                  <a:tab pos="6286680" algn="l"/>
                  <a:tab pos="6667560" algn="l"/>
                  <a:tab pos="6959520" algn="l"/>
                  <a:tab pos="7620120" algn="l"/>
                </a:tabLst>
              </a:pP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Num3   PIC 9.</a:t>
              </a: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 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nul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1199"/>
                </a:spcBef>
                <a:tabLst>
                  <a:tab pos="482760" algn="l"/>
                  <a:tab pos="1434960" algn="l"/>
                  <a:tab pos="2476440" algn="l"/>
                  <a:tab pos="3238560" algn="l"/>
                  <a:tab pos="3619440" algn="l"/>
                  <a:tab pos="4000680" algn="l"/>
                  <a:tab pos="4381560" algn="l"/>
                  <a:tab pos="4762440" algn="l"/>
                  <a:tab pos="5143320" algn="l"/>
                  <a:tab pos="5524560" algn="l"/>
                  <a:tab pos="5905440" algn="l"/>
                  <a:tab pos="6286680" algn="l"/>
                  <a:tab pos="6667560" algn="l"/>
                  <a:tab pos="6959520" algn="l"/>
                  <a:tab pos="762012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pos="482760" algn="l"/>
                  <a:tab pos="1434960" algn="l"/>
                  <a:tab pos="2476440" algn="l"/>
                  <a:tab pos="3238560" algn="l"/>
                  <a:tab pos="3619440" algn="l"/>
                  <a:tab pos="4000680" algn="l"/>
                  <a:tab pos="4381560" algn="l"/>
                  <a:tab pos="4762440" algn="l"/>
                  <a:tab pos="5143320" algn="l"/>
                  <a:tab pos="5524560" algn="l"/>
                  <a:tab pos="5905440" algn="l"/>
                  <a:tab pos="6286680" algn="l"/>
                  <a:tab pos="6667560" algn="l"/>
                  <a:tab pos="6959520" algn="l"/>
                  <a:tab pos="7620120" algn="l"/>
                </a:tabLst>
              </a:pP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ADD Num1,Num2 GIVING Num3.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5" name=""/>
            <p:cNvGrpSpPr/>
            <p:nvPr/>
          </p:nvGrpSpPr>
          <p:grpSpPr>
            <a:xfrm>
              <a:off x="3975120" y="1854360"/>
              <a:ext cx="3073320" cy="520560"/>
              <a:chOff x="3975120" y="1854360"/>
              <a:chExt cx="3073320" cy="520560"/>
            </a:xfrm>
          </p:grpSpPr>
          <p:sp>
            <p:nvSpPr>
              <p:cNvPr id="66" name=""/>
              <p:cNvSpPr/>
              <p:nvPr/>
            </p:nvSpPr>
            <p:spPr>
              <a:xfrm>
                <a:off x="3975120" y="1854360"/>
                <a:ext cx="3073320" cy="520560"/>
              </a:xfrm>
              <a:prstGeom prst="rect">
                <a:avLst/>
              </a:prstGeom>
              <a:noFill/>
              <a:ln w="12600">
                <a:solidFill>
                  <a:srgbClr val="676767"/>
                </a:solidFill>
                <a:round/>
              </a:ln>
            </p:spPr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" name=""/>
              <p:cNvSpPr/>
              <p:nvPr/>
            </p:nvSpPr>
            <p:spPr>
              <a:xfrm>
                <a:off x="4406760" y="185436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" name=""/>
              <p:cNvSpPr/>
              <p:nvPr/>
            </p:nvSpPr>
            <p:spPr>
              <a:xfrm>
                <a:off x="4775040" y="185436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"/>
              <p:cNvSpPr/>
              <p:nvPr/>
            </p:nvSpPr>
            <p:spPr>
              <a:xfrm>
                <a:off x="5168880" y="185436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" name=""/>
              <p:cNvSpPr/>
              <p:nvPr/>
            </p:nvSpPr>
            <p:spPr>
              <a:xfrm>
                <a:off x="5549760" y="185436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" name=""/>
              <p:cNvSpPr/>
              <p:nvPr/>
            </p:nvSpPr>
            <p:spPr>
              <a:xfrm>
                <a:off x="5905440" y="185436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" name=""/>
              <p:cNvSpPr/>
              <p:nvPr/>
            </p:nvSpPr>
            <p:spPr>
              <a:xfrm>
                <a:off x="6299280" y="185436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"/>
              <p:cNvSpPr/>
              <p:nvPr/>
            </p:nvSpPr>
            <p:spPr>
              <a:xfrm>
                <a:off x="6680160" y="185436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4" name=""/>
            <p:cNvGrpSpPr/>
            <p:nvPr/>
          </p:nvGrpSpPr>
          <p:grpSpPr>
            <a:xfrm>
              <a:off x="3975120" y="2502000"/>
              <a:ext cx="3073320" cy="520560"/>
              <a:chOff x="3975120" y="2502000"/>
              <a:chExt cx="3073320" cy="520560"/>
            </a:xfrm>
          </p:grpSpPr>
          <p:sp>
            <p:nvSpPr>
              <p:cNvPr id="75" name=""/>
              <p:cNvSpPr/>
              <p:nvPr/>
            </p:nvSpPr>
            <p:spPr>
              <a:xfrm>
                <a:off x="3975120" y="2502000"/>
                <a:ext cx="3073320" cy="520560"/>
              </a:xfrm>
              <a:prstGeom prst="rect">
                <a:avLst/>
              </a:prstGeom>
              <a:noFill/>
              <a:ln w="12600">
                <a:solidFill>
                  <a:srgbClr val="676767"/>
                </a:solidFill>
                <a:round/>
              </a:ln>
            </p:spPr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"/>
              <p:cNvSpPr/>
              <p:nvPr/>
            </p:nvSpPr>
            <p:spPr>
              <a:xfrm>
                <a:off x="4406760" y="25020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"/>
              <p:cNvSpPr/>
              <p:nvPr/>
            </p:nvSpPr>
            <p:spPr>
              <a:xfrm>
                <a:off x="4775040" y="25020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" name=""/>
              <p:cNvSpPr/>
              <p:nvPr/>
            </p:nvSpPr>
            <p:spPr>
              <a:xfrm>
                <a:off x="5168880" y="25020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" name=""/>
              <p:cNvSpPr/>
              <p:nvPr/>
            </p:nvSpPr>
            <p:spPr>
              <a:xfrm>
                <a:off x="5549760" y="25020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" name=""/>
              <p:cNvSpPr/>
              <p:nvPr/>
            </p:nvSpPr>
            <p:spPr>
              <a:xfrm>
                <a:off x="5905440" y="25020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" name=""/>
              <p:cNvSpPr/>
              <p:nvPr/>
            </p:nvSpPr>
            <p:spPr>
              <a:xfrm>
                <a:off x="6299280" y="25020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"/>
              <p:cNvSpPr/>
              <p:nvPr/>
            </p:nvSpPr>
            <p:spPr>
              <a:xfrm>
                <a:off x="6680160" y="25020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3" name=""/>
            <p:cNvGrpSpPr/>
            <p:nvPr/>
          </p:nvGrpSpPr>
          <p:grpSpPr>
            <a:xfrm>
              <a:off x="3975120" y="3200400"/>
              <a:ext cx="3073320" cy="520560"/>
              <a:chOff x="3975120" y="3200400"/>
              <a:chExt cx="3073320" cy="520560"/>
            </a:xfrm>
          </p:grpSpPr>
          <p:sp>
            <p:nvSpPr>
              <p:cNvPr id="84" name=""/>
              <p:cNvSpPr/>
              <p:nvPr/>
            </p:nvSpPr>
            <p:spPr>
              <a:xfrm>
                <a:off x="3975120" y="3200400"/>
                <a:ext cx="3073320" cy="520560"/>
              </a:xfrm>
              <a:prstGeom prst="rect">
                <a:avLst/>
              </a:prstGeom>
              <a:noFill/>
              <a:ln w="12600">
                <a:solidFill>
                  <a:srgbClr val="676767"/>
                </a:solidFill>
                <a:round/>
              </a:ln>
            </p:spPr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" name=""/>
              <p:cNvSpPr/>
              <p:nvPr/>
            </p:nvSpPr>
            <p:spPr>
              <a:xfrm>
                <a:off x="4406760" y="32004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" name=""/>
              <p:cNvSpPr/>
              <p:nvPr/>
            </p:nvSpPr>
            <p:spPr>
              <a:xfrm>
                <a:off x="4775040" y="32004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" name=""/>
              <p:cNvSpPr/>
              <p:nvPr/>
            </p:nvSpPr>
            <p:spPr>
              <a:xfrm>
                <a:off x="5168880" y="32004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" name=""/>
              <p:cNvSpPr/>
              <p:nvPr/>
            </p:nvSpPr>
            <p:spPr>
              <a:xfrm>
                <a:off x="5549760" y="32004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" name=""/>
              <p:cNvSpPr/>
              <p:nvPr/>
            </p:nvSpPr>
            <p:spPr>
              <a:xfrm>
                <a:off x="5905440" y="32004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" name=""/>
              <p:cNvSpPr/>
              <p:nvPr/>
            </p:nvSpPr>
            <p:spPr>
              <a:xfrm>
                <a:off x="6299280" y="32004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" name=""/>
              <p:cNvSpPr/>
              <p:nvPr/>
            </p:nvSpPr>
            <p:spPr>
              <a:xfrm>
                <a:off x="6680160" y="32004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 txBox="1"/>
          <p:nvPr/>
        </p:nvSpPr>
        <p:spPr>
          <a:xfrm>
            <a:off x="1320840" y="158760"/>
            <a:ext cx="63882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Arithmetic when USAGE IS DISPLAY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3" name=""/>
          <p:cNvGrpSpPr/>
          <p:nvPr/>
        </p:nvGrpSpPr>
        <p:grpSpPr>
          <a:xfrm>
            <a:off x="343080" y="1387440"/>
            <a:ext cx="8470800" cy="3857760"/>
            <a:chOff x="343080" y="1387440"/>
            <a:chExt cx="8470800" cy="3857760"/>
          </a:xfrm>
        </p:grpSpPr>
        <p:sp>
          <p:nvSpPr>
            <p:cNvPr id="94" name=""/>
            <p:cNvSpPr txBox="1"/>
            <p:nvPr/>
          </p:nvSpPr>
          <p:spPr>
            <a:xfrm>
              <a:off x="343080" y="1387440"/>
              <a:ext cx="8470800" cy="3857760"/>
            </a:xfrm>
            <a:prstGeom prst="rect">
              <a:avLst/>
            </a:prstGeom>
            <a:solidFill>
              <a:srgbClr val="DADADA"/>
            </a:solidFill>
            <a:ln w="25560">
              <a:solidFill>
                <a:srgbClr val="676767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  <a:tabLst>
                  <a:tab pos="482760" algn="l"/>
                  <a:tab pos="1434960" algn="l"/>
                  <a:tab pos="2476440" algn="l"/>
                  <a:tab pos="3238560" algn="l"/>
                  <a:tab pos="3619440" algn="l"/>
                  <a:tab pos="4000680" algn="l"/>
                  <a:tab pos="4381560" algn="l"/>
                  <a:tab pos="4762440" algn="l"/>
                  <a:tab pos="5143320" algn="l"/>
                  <a:tab pos="5524560" algn="l"/>
                  <a:tab pos="5905440" algn="l"/>
                  <a:tab pos="6286680" algn="l"/>
                  <a:tab pos="6667560" algn="l"/>
                  <a:tab pos="6959520" algn="l"/>
                  <a:tab pos="7620120" algn="l"/>
                </a:tabLst>
              </a:pP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8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4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2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8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4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2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HEX CHAR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20"/>
                </a:spcBef>
                <a:tabLst>
                  <a:tab pos="482760" algn="l"/>
                  <a:tab pos="1434960" algn="l"/>
                  <a:tab pos="2476440" algn="l"/>
                  <a:tab pos="3238560" algn="l"/>
                  <a:tab pos="3619440" algn="l"/>
                  <a:tab pos="4000680" algn="l"/>
                  <a:tab pos="4381560" algn="l"/>
                  <a:tab pos="4762440" algn="l"/>
                  <a:tab pos="5143320" algn="l"/>
                  <a:tab pos="5524560" algn="l"/>
                  <a:tab pos="5905440" algn="l"/>
                  <a:tab pos="6286680" algn="l"/>
                  <a:tab pos="6667560" algn="l"/>
                  <a:tab pos="6959520" algn="l"/>
                  <a:tab pos="7620120" algn="l"/>
                </a:tabLst>
              </a:pP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Num1   PIC 9 VALUE 4.</a:t>
              </a: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 41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"4"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2041"/>
                </a:spcBef>
                <a:tabLst>
                  <a:tab pos="482760" algn="l"/>
                  <a:tab pos="1434960" algn="l"/>
                  <a:tab pos="2476440" algn="l"/>
                  <a:tab pos="3238560" algn="l"/>
                  <a:tab pos="3619440" algn="l"/>
                  <a:tab pos="4000680" algn="l"/>
                  <a:tab pos="4381560" algn="l"/>
                  <a:tab pos="4762440" algn="l"/>
                  <a:tab pos="5143320" algn="l"/>
                  <a:tab pos="5524560" algn="l"/>
                  <a:tab pos="5905440" algn="l"/>
                  <a:tab pos="6286680" algn="l"/>
                  <a:tab pos="6667560" algn="l"/>
                  <a:tab pos="6959520" algn="l"/>
                  <a:tab pos="7620120" algn="l"/>
                </a:tabLst>
              </a:pP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Num2   PIC 9 VALUE 1.</a:t>
              </a: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 31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"1"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2041"/>
                </a:spcBef>
                <a:tabLst>
                  <a:tab pos="482760" algn="l"/>
                  <a:tab pos="1434960" algn="l"/>
                  <a:tab pos="2476440" algn="l"/>
                  <a:tab pos="3238560" algn="l"/>
                  <a:tab pos="3619440" algn="l"/>
                  <a:tab pos="4000680" algn="l"/>
                  <a:tab pos="4381560" algn="l"/>
                  <a:tab pos="4762440" algn="l"/>
                  <a:tab pos="5143320" algn="l"/>
                  <a:tab pos="5524560" algn="l"/>
                  <a:tab pos="5905440" algn="l"/>
                  <a:tab pos="6286680" algn="l"/>
                  <a:tab pos="6667560" algn="l"/>
                  <a:tab pos="6959520" algn="l"/>
                  <a:tab pos="7620120" algn="l"/>
                </a:tabLst>
              </a:pP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Num3   PIC 9.</a:t>
              </a: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r>
                <a:rPr lang="en-US" sz="24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r>
                <a:rPr lang="en-US" sz="24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r>
                <a:rPr lang="en-US" sz="24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r>
                <a:rPr lang="en-US" sz="24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r>
                <a:rPr lang="en-US" sz="24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 65</a:t>
              </a:r>
              <a:r>
                <a:rPr lang="en-US" sz="24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4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"e"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1199"/>
                </a:spcBef>
                <a:tabLst>
                  <a:tab pos="482760" algn="l"/>
                  <a:tab pos="1434960" algn="l"/>
                  <a:tab pos="2476440" algn="l"/>
                  <a:tab pos="3238560" algn="l"/>
                  <a:tab pos="3619440" algn="l"/>
                  <a:tab pos="4000680" algn="l"/>
                  <a:tab pos="4381560" algn="l"/>
                  <a:tab pos="4762440" algn="l"/>
                  <a:tab pos="5143320" algn="l"/>
                  <a:tab pos="5524560" algn="l"/>
                  <a:tab pos="5905440" algn="l"/>
                  <a:tab pos="6286680" algn="l"/>
                  <a:tab pos="6667560" algn="l"/>
                  <a:tab pos="6959520" algn="l"/>
                  <a:tab pos="762012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pos="482760" algn="l"/>
                  <a:tab pos="1434960" algn="l"/>
                  <a:tab pos="2476440" algn="l"/>
                  <a:tab pos="3238560" algn="l"/>
                  <a:tab pos="3619440" algn="l"/>
                  <a:tab pos="4000680" algn="l"/>
                  <a:tab pos="4381560" algn="l"/>
                  <a:tab pos="4762440" algn="l"/>
                  <a:tab pos="5143320" algn="l"/>
                  <a:tab pos="5524560" algn="l"/>
                  <a:tab pos="5905440" algn="l"/>
                  <a:tab pos="6286680" algn="l"/>
                  <a:tab pos="6667560" algn="l"/>
                  <a:tab pos="6959520" algn="l"/>
                  <a:tab pos="7620120" algn="l"/>
                </a:tabLst>
              </a:pPr>
              <a:r>
                <a:rPr lang="en-US" sz="24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ADD Num1,Num2 GIVING Num3.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5" name=""/>
            <p:cNvGrpSpPr/>
            <p:nvPr/>
          </p:nvGrpSpPr>
          <p:grpSpPr>
            <a:xfrm>
              <a:off x="3975120" y="1854360"/>
              <a:ext cx="3073320" cy="520560"/>
              <a:chOff x="3975120" y="1854360"/>
              <a:chExt cx="3073320" cy="520560"/>
            </a:xfrm>
          </p:grpSpPr>
          <p:sp>
            <p:nvSpPr>
              <p:cNvPr id="96" name=""/>
              <p:cNvSpPr/>
              <p:nvPr/>
            </p:nvSpPr>
            <p:spPr>
              <a:xfrm>
                <a:off x="3975120" y="1854360"/>
                <a:ext cx="3073320" cy="520560"/>
              </a:xfrm>
              <a:prstGeom prst="rect">
                <a:avLst/>
              </a:prstGeom>
              <a:noFill/>
              <a:ln w="12600">
                <a:solidFill>
                  <a:srgbClr val="676767"/>
                </a:solidFill>
                <a:round/>
              </a:ln>
            </p:spPr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" name=""/>
              <p:cNvSpPr/>
              <p:nvPr/>
            </p:nvSpPr>
            <p:spPr>
              <a:xfrm>
                <a:off x="4406760" y="185436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" name=""/>
              <p:cNvSpPr/>
              <p:nvPr/>
            </p:nvSpPr>
            <p:spPr>
              <a:xfrm>
                <a:off x="4775040" y="185436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"/>
              <p:cNvSpPr/>
              <p:nvPr/>
            </p:nvSpPr>
            <p:spPr>
              <a:xfrm>
                <a:off x="5168880" y="185436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"/>
              <p:cNvSpPr/>
              <p:nvPr/>
            </p:nvSpPr>
            <p:spPr>
              <a:xfrm>
                <a:off x="5549760" y="185436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"/>
              <p:cNvSpPr/>
              <p:nvPr/>
            </p:nvSpPr>
            <p:spPr>
              <a:xfrm>
                <a:off x="5905440" y="185436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"/>
              <p:cNvSpPr/>
              <p:nvPr/>
            </p:nvSpPr>
            <p:spPr>
              <a:xfrm>
                <a:off x="6299280" y="185436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"/>
              <p:cNvSpPr/>
              <p:nvPr/>
            </p:nvSpPr>
            <p:spPr>
              <a:xfrm>
                <a:off x="6680160" y="185436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4" name=""/>
            <p:cNvGrpSpPr/>
            <p:nvPr/>
          </p:nvGrpSpPr>
          <p:grpSpPr>
            <a:xfrm>
              <a:off x="3975120" y="2502000"/>
              <a:ext cx="3073320" cy="520560"/>
              <a:chOff x="3975120" y="2502000"/>
              <a:chExt cx="3073320" cy="520560"/>
            </a:xfrm>
          </p:grpSpPr>
          <p:sp>
            <p:nvSpPr>
              <p:cNvPr id="105" name=""/>
              <p:cNvSpPr/>
              <p:nvPr/>
            </p:nvSpPr>
            <p:spPr>
              <a:xfrm>
                <a:off x="3975120" y="2502000"/>
                <a:ext cx="3073320" cy="520560"/>
              </a:xfrm>
              <a:prstGeom prst="rect">
                <a:avLst/>
              </a:prstGeom>
              <a:noFill/>
              <a:ln w="12600">
                <a:solidFill>
                  <a:srgbClr val="676767"/>
                </a:solidFill>
                <a:round/>
              </a:ln>
            </p:spPr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" name=""/>
              <p:cNvSpPr/>
              <p:nvPr/>
            </p:nvSpPr>
            <p:spPr>
              <a:xfrm>
                <a:off x="4406760" y="25020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" name=""/>
              <p:cNvSpPr/>
              <p:nvPr/>
            </p:nvSpPr>
            <p:spPr>
              <a:xfrm>
                <a:off x="4775040" y="25020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" name=""/>
              <p:cNvSpPr/>
              <p:nvPr/>
            </p:nvSpPr>
            <p:spPr>
              <a:xfrm>
                <a:off x="5168880" y="25020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"/>
              <p:cNvSpPr/>
              <p:nvPr/>
            </p:nvSpPr>
            <p:spPr>
              <a:xfrm>
                <a:off x="5549760" y="25020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" name=""/>
              <p:cNvSpPr/>
              <p:nvPr/>
            </p:nvSpPr>
            <p:spPr>
              <a:xfrm>
                <a:off x="5905440" y="25020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" name=""/>
              <p:cNvSpPr/>
              <p:nvPr/>
            </p:nvSpPr>
            <p:spPr>
              <a:xfrm>
                <a:off x="6299280" y="25020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"/>
              <p:cNvSpPr/>
              <p:nvPr/>
            </p:nvSpPr>
            <p:spPr>
              <a:xfrm>
                <a:off x="6680160" y="25020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3" name=""/>
            <p:cNvGrpSpPr/>
            <p:nvPr/>
          </p:nvGrpSpPr>
          <p:grpSpPr>
            <a:xfrm>
              <a:off x="3975120" y="3200400"/>
              <a:ext cx="3073320" cy="520560"/>
              <a:chOff x="3975120" y="3200400"/>
              <a:chExt cx="3073320" cy="520560"/>
            </a:xfrm>
          </p:grpSpPr>
          <p:sp>
            <p:nvSpPr>
              <p:cNvPr id="114" name=""/>
              <p:cNvSpPr/>
              <p:nvPr/>
            </p:nvSpPr>
            <p:spPr>
              <a:xfrm>
                <a:off x="3975120" y="3200400"/>
                <a:ext cx="3073320" cy="520560"/>
              </a:xfrm>
              <a:prstGeom prst="rect">
                <a:avLst/>
              </a:prstGeom>
              <a:noFill/>
              <a:ln w="12600">
                <a:solidFill>
                  <a:srgbClr val="676767"/>
                </a:solidFill>
                <a:round/>
              </a:ln>
            </p:spPr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>
                <a:off x="4406760" y="32004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" name=""/>
              <p:cNvSpPr/>
              <p:nvPr/>
            </p:nvSpPr>
            <p:spPr>
              <a:xfrm>
                <a:off x="4775040" y="32004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" name=""/>
              <p:cNvSpPr/>
              <p:nvPr/>
            </p:nvSpPr>
            <p:spPr>
              <a:xfrm>
                <a:off x="5168880" y="32004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" name=""/>
              <p:cNvSpPr/>
              <p:nvPr/>
            </p:nvSpPr>
            <p:spPr>
              <a:xfrm>
                <a:off x="5549760" y="32004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"/>
              <p:cNvSpPr/>
              <p:nvPr/>
            </p:nvSpPr>
            <p:spPr>
              <a:xfrm>
                <a:off x="5905440" y="32004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"/>
              <p:cNvSpPr/>
              <p:nvPr/>
            </p:nvSpPr>
            <p:spPr>
              <a:xfrm>
                <a:off x="6299280" y="32004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"/>
              <p:cNvSpPr/>
              <p:nvPr/>
            </p:nvSpPr>
            <p:spPr>
              <a:xfrm>
                <a:off x="6680160" y="3200400"/>
                <a:ext cx="0" cy="52056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 txBox="1"/>
          <p:nvPr/>
        </p:nvSpPr>
        <p:spPr>
          <a:xfrm>
            <a:off x="1892160" y="120600"/>
            <a:ext cx="50655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Why use the USAGE clause?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520560" y="1359000"/>
            <a:ext cx="8040600" cy="166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USAGE clause is used for purposes of optimisation - both speed and storage.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USAGE clause controls the way data items (normally numeric) are stored in memory.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 txBox="1"/>
          <p:nvPr/>
        </p:nvSpPr>
        <p:spPr>
          <a:xfrm>
            <a:off x="2819520" y="133200"/>
            <a:ext cx="28130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USAGE  Syntax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"/>
          <p:cNvPicPr/>
          <p:nvPr/>
        </p:nvPicPr>
        <p:blipFill>
          <a:blip r:embed="rId1"/>
          <a:stretch/>
        </p:blipFill>
        <p:spPr>
          <a:xfrm>
            <a:off x="1617840" y="890640"/>
            <a:ext cx="4923000" cy="251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"/>
          <p:cNvSpPr txBox="1"/>
          <p:nvPr/>
        </p:nvSpPr>
        <p:spPr>
          <a:xfrm>
            <a:off x="343080" y="3695760"/>
            <a:ext cx="8242200" cy="277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839"/>
              </a:spcBef>
              <a:tabLst>
                <a:tab pos="152388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01 Num1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PIC 9(5)V99  USAGE IS COMP.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839"/>
              </a:spcBef>
              <a:tabLst>
                <a:tab pos="152388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01 Num2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PIC 99    USAGE IS PACKED-DECIMAL.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839"/>
              </a:spcBef>
              <a:tabLst>
                <a:tab pos="152388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01 IdxItem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USAGE IS INDEX.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839"/>
              </a:spcBef>
              <a:tabLst>
                <a:tab pos="152388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01 GroupItems  COMP.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02 Item1   PIC 999.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02 Item2   PIC 9(4)V99.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02 New1   PIC S9(5)  COMP SYNC.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 txBox="1"/>
          <p:nvPr/>
        </p:nvSpPr>
        <p:spPr>
          <a:xfrm>
            <a:off x="2819520" y="133200"/>
            <a:ext cx="30495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USAGE IS COMP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1054080" y="2073240"/>
            <a:ext cx="6870600" cy="3857760"/>
          </a:xfrm>
          <a:prstGeom prst="rect">
            <a:avLst/>
          </a:prstGeom>
          <a:solidFill>
            <a:srgbClr val="DADADA"/>
          </a:solidFill>
          <a:ln w="2556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380880" algn="l"/>
                <a:tab pos="863640" algn="l"/>
                <a:tab pos="1523880" algn="l"/>
                <a:tab pos="3048120" algn="l"/>
                <a:tab pos="4381560" algn="l"/>
                <a:tab pos="4762440" algn="l"/>
                <a:tab pos="5143320" algn="l"/>
                <a:tab pos="5524560" algn="l"/>
                <a:tab pos="5905440" algn="l"/>
                <a:tab pos="6286680" algn="l"/>
                <a:tab pos="6667560" algn="l"/>
                <a:tab pos="6959520" algn="l"/>
                <a:tab pos="7620120" algn="l"/>
              </a:tabLst>
            </a:pP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Number of Digits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Storage Required.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tabLst>
                <a:tab pos="380880" algn="l"/>
                <a:tab pos="863640" algn="l"/>
                <a:tab pos="1523880" algn="l"/>
                <a:tab pos="3048120" algn="l"/>
                <a:tab pos="4381560" algn="l"/>
                <a:tab pos="4762440" algn="l"/>
                <a:tab pos="5143320" algn="l"/>
                <a:tab pos="5524560" algn="l"/>
                <a:tab pos="5905440" algn="l"/>
                <a:tab pos="6286680" algn="l"/>
                <a:tab pos="6667560" algn="l"/>
                <a:tab pos="6959520" algn="l"/>
                <a:tab pos="762012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TO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4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1 WORD (2 Bytes)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tabLst>
                <a:tab pos="380880" algn="l"/>
                <a:tab pos="863640" algn="l"/>
                <a:tab pos="1523880" algn="l"/>
                <a:tab pos="3048120" algn="l"/>
                <a:tab pos="4381560" algn="l"/>
                <a:tab pos="4762440" algn="l"/>
                <a:tab pos="5143320" algn="l"/>
                <a:tab pos="5524560" algn="l"/>
                <a:tab pos="5905440" algn="l"/>
                <a:tab pos="6286680" algn="l"/>
                <a:tab pos="6667560" algn="l"/>
                <a:tab pos="6959520" algn="l"/>
                <a:tab pos="7620120" algn="l"/>
              </a:tabLst>
            </a:pP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5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TO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9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1 LONGWORD (4 Bytes)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tabLst>
                <a:tab pos="380880" algn="l"/>
                <a:tab pos="863640" algn="l"/>
                <a:tab pos="1523880" algn="l"/>
                <a:tab pos="3048120" algn="l"/>
                <a:tab pos="4381560" algn="l"/>
                <a:tab pos="4762440" algn="l"/>
                <a:tab pos="5143320" algn="l"/>
                <a:tab pos="5524560" algn="l"/>
                <a:tab pos="5905440" algn="l"/>
                <a:tab pos="6286680" algn="l"/>
                <a:tab pos="6667560" algn="l"/>
                <a:tab pos="6959520" algn="l"/>
                <a:tab pos="7620120" algn="l"/>
              </a:tabLst>
            </a:pP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10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TO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18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1 QUADWORD (8 Bytes)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380880" algn="l"/>
                <a:tab pos="863640" algn="l"/>
                <a:tab pos="1523880" algn="l"/>
                <a:tab pos="3048120" algn="l"/>
                <a:tab pos="4381560" algn="l"/>
                <a:tab pos="4762440" algn="l"/>
                <a:tab pos="5143320" algn="l"/>
                <a:tab pos="5524560" algn="l"/>
                <a:tab pos="5905440" algn="l"/>
                <a:tab pos="6286680" algn="l"/>
                <a:tab pos="6667560" algn="l"/>
                <a:tab pos="6959520" algn="l"/>
                <a:tab pos="762012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380880" algn="l"/>
                <a:tab pos="863640" algn="l"/>
                <a:tab pos="1523880" algn="l"/>
                <a:tab pos="3048120" algn="l"/>
                <a:tab pos="4381560" algn="l"/>
                <a:tab pos="4762440" algn="l"/>
                <a:tab pos="5143320" algn="l"/>
                <a:tab pos="5524560" algn="l"/>
                <a:tab pos="5905440" algn="l"/>
                <a:tab pos="6286680" algn="l"/>
                <a:tab pos="6667560" algn="l"/>
                <a:tab pos="6959520" algn="l"/>
                <a:tab pos="762012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380880" algn="l"/>
                <a:tab pos="863640" algn="l"/>
                <a:tab pos="1523880" algn="l"/>
                <a:tab pos="3048120" algn="l"/>
                <a:tab pos="4381560" algn="l"/>
                <a:tab pos="4762440" algn="l"/>
                <a:tab pos="5143320" algn="l"/>
                <a:tab pos="5524560" algn="l"/>
                <a:tab pos="5905440" algn="l"/>
                <a:tab pos="6286680" algn="l"/>
                <a:tab pos="6667560" algn="l"/>
                <a:tab pos="6959520" algn="l"/>
                <a:tab pos="762012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380880" algn="l"/>
                <a:tab pos="863640" algn="l"/>
                <a:tab pos="1523880" algn="l"/>
                <a:tab pos="3048120" algn="l"/>
                <a:tab pos="4381560" algn="l"/>
                <a:tab pos="4762440" algn="l"/>
                <a:tab pos="5143320" algn="l"/>
                <a:tab pos="5524560" algn="l"/>
                <a:tab pos="5905440" algn="l"/>
                <a:tab pos="6286680" algn="l"/>
                <a:tab pos="6667560" algn="l"/>
                <a:tab pos="6959520" algn="l"/>
                <a:tab pos="7620120" algn="l"/>
              </a:tabLst>
            </a:pP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01 TotalCount   PIC 9(7) USAGE IS COMP.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1003320" y="3911760"/>
            <a:ext cx="6985440" cy="1105200"/>
          </a:xfrm>
          <a:custGeom>
            <a:avLst/>
            <a:gdLst/>
            <a:ahLst/>
            <a:rect l="0" t="0" r="r" b="b"/>
            <a:pathLst>
              <a:path w="19404" h="3070">
                <a:moveTo>
                  <a:pt x="0" y="423"/>
                </a:moveTo>
                <a:lnTo>
                  <a:pt x="105" y="529"/>
                </a:lnTo>
                <a:lnTo>
                  <a:pt x="141" y="635"/>
                </a:lnTo>
                <a:lnTo>
                  <a:pt x="246" y="705"/>
                </a:lnTo>
                <a:lnTo>
                  <a:pt x="282" y="811"/>
                </a:lnTo>
                <a:lnTo>
                  <a:pt x="388" y="881"/>
                </a:lnTo>
                <a:lnTo>
                  <a:pt x="458" y="987"/>
                </a:lnTo>
                <a:lnTo>
                  <a:pt x="564" y="1093"/>
                </a:lnTo>
                <a:lnTo>
                  <a:pt x="670" y="1128"/>
                </a:lnTo>
                <a:lnTo>
                  <a:pt x="776" y="1128"/>
                </a:lnTo>
                <a:lnTo>
                  <a:pt x="881" y="1093"/>
                </a:lnTo>
                <a:lnTo>
                  <a:pt x="987" y="1058"/>
                </a:lnTo>
                <a:lnTo>
                  <a:pt x="1093" y="1023"/>
                </a:lnTo>
                <a:lnTo>
                  <a:pt x="1199" y="987"/>
                </a:lnTo>
                <a:lnTo>
                  <a:pt x="1305" y="917"/>
                </a:lnTo>
                <a:lnTo>
                  <a:pt x="1411" y="811"/>
                </a:lnTo>
                <a:lnTo>
                  <a:pt x="1516" y="776"/>
                </a:lnTo>
                <a:lnTo>
                  <a:pt x="1622" y="705"/>
                </a:lnTo>
                <a:lnTo>
                  <a:pt x="1799" y="670"/>
                </a:lnTo>
                <a:lnTo>
                  <a:pt x="1905" y="705"/>
                </a:lnTo>
                <a:lnTo>
                  <a:pt x="1940" y="811"/>
                </a:lnTo>
                <a:lnTo>
                  <a:pt x="2046" y="811"/>
                </a:lnTo>
                <a:lnTo>
                  <a:pt x="2187" y="811"/>
                </a:lnTo>
                <a:lnTo>
                  <a:pt x="2293" y="846"/>
                </a:lnTo>
                <a:lnTo>
                  <a:pt x="2469" y="846"/>
                </a:lnTo>
                <a:lnTo>
                  <a:pt x="2610" y="846"/>
                </a:lnTo>
                <a:lnTo>
                  <a:pt x="2751" y="846"/>
                </a:lnTo>
                <a:lnTo>
                  <a:pt x="2857" y="811"/>
                </a:lnTo>
                <a:lnTo>
                  <a:pt x="3033" y="740"/>
                </a:lnTo>
                <a:lnTo>
                  <a:pt x="3210" y="670"/>
                </a:lnTo>
                <a:lnTo>
                  <a:pt x="3316" y="635"/>
                </a:lnTo>
                <a:lnTo>
                  <a:pt x="3421" y="599"/>
                </a:lnTo>
                <a:lnTo>
                  <a:pt x="3598" y="529"/>
                </a:lnTo>
                <a:lnTo>
                  <a:pt x="3704" y="458"/>
                </a:lnTo>
                <a:lnTo>
                  <a:pt x="3845" y="388"/>
                </a:lnTo>
                <a:lnTo>
                  <a:pt x="4021" y="317"/>
                </a:lnTo>
                <a:lnTo>
                  <a:pt x="4162" y="246"/>
                </a:lnTo>
                <a:lnTo>
                  <a:pt x="4198" y="388"/>
                </a:lnTo>
                <a:lnTo>
                  <a:pt x="4303" y="458"/>
                </a:lnTo>
                <a:lnTo>
                  <a:pt x="4409" y="458"/>
                </a:lnTo>
                <a:lnTo>
                  <a:pt x="4550" y="529"/>
                </a:lnTo>
                <a:lnTo>
                  <a:pt x="4656" y="564"/>
                </a:lnTo>
                <a:lnTo>
                  <a:pt x="4797" y="599"/>
                </a:lnTo>
                <a:lnTo>
                  <a:pt x="4904" y="670"/>
                </a:lnTo>
                <a:lnTo>
                  <a:pt x="5010" y="705"/>
                </a:lnTo>
                <a:lnTo>
                  <a:pt x="5116" y="740"/>
                </a:lnTo>
                <a:lnTo>
                  <a:pt x="5257" y="811"/>
                </a:lnTo>
                <a:lnTo>
                  <a:pt x="5327" y="917"/>
                </a:lnTo>
                <a:lnTo>
                  <a:pt x="5469" y="987"/>
                </a:lnTo>
                <a:lnTo>
                  <a:pt x="5574" y="1023"/>
                </a:lnTo>
                <a:lnTo>
                  <a:pt x="5610" y="1128"/>
                </a:lnTo>
                <a:lnTo>
                  <a:pt x="5610" y="1234"/>
                </a:lnTo>
                <a:lnTo>
                  <a:pt x="5716" y="1305"/>
                </a:lnTo>
                <a:lnTo>
                  <a:pt x="5751" y="1411"/>
                </a:lnTo>
                <a:lnTo>
                  <a:pt x="5857" y="1481"/>
                </a:lnTo>
                <a:lnTo>
                  <a:pt x="5962" y="1588"/>
                </a:lnTo>
                <a:lnTo>
                  <a:pt x="6068" y="1659"/>
                </a:lnTo>
                <a:lnTo>
                  <a:pt x="6104" y="1516"/>
                </a:lnTo>
                <a:lnTo>
                  <a:pt x="5892" y="0"/>
                </a:lnTo>
                <a:lnTo>
                  <a:pt x="6245" y="1800"/>
                </a:lnTo>
                <a:lnTo>
                  <a:pt x="6386" y="1694"/>
                </a:lnTo>
                <a:lnTo>
                  <a:pt x="6492" y="1588"/>
                </a:lnTo>
                <a:lnTo>
                  <a:pt x="6597" y="1516"/>
                </a:lnTo>
                <a:lnTo>
                  <a:pt x="6739" y="1446"/>
                </a:lnTo>
                <a:lnTo>
                  <a:pt x="6880" y="1375"/>
                </a:lnTo>
                <a:lnTo>
                  <a:pt x="7021" y="1375"/>
                </a:lnTo>
                <a:lnTo>
                  <a:pt x="7162" y="1411"/>
                </a:lnTo>
                <a:lnTo>
                  <a:pt x="7303" y="1411"/>
                </a:lnTo>
                <a:lnTo>
                  <a:pt x="7409" y="1375"/>
                </a:lnTo>
                <a:lnTo>
                  <a:pt x="7515" y="1340"/>
                </a:lnTo>
                <a:lnTo>
                  <a:pt x="7656" y="1270"/>
                </a:lnTo>
                <a:lnTo>
                  <a:pt x="7762" y="1234"/>
                </a:lnTo>
                <a:lnTo>
                  <a:pt x="7973" y="1164"/>
                </a:lnTo>
                <a:lnTo>
                  <a:pt x="8079" y="1093"/>
                </a:lnTo>
                <a:lnTo>
                  <a:pt x="8185" y="1023"/>
                </a:lnTo>
                <a:lnTo>
                  <a:pt x="8291" y="987"/>
                </a:lnTo>
                <a:lnTo>
                  <a:pt x="8432" y="952"/>
                </a:lnTo>
                <a:lnTo>
                  <a:pt x="8538" y="881"/>
                </a:lnTo>
                <a:lnTo>
                  <a:pt x="8679" y="811"/>
                </a:lnTo>
                <a:lnTo>
                  <a:pt x="8855" y="705"/>
                </a:lnTo>
                <a:lnTo>
                  <a:pt x="9208" y="670"/>
                </a:lnTo>
                <a:lnTo>
                  <a:pt x="9314" y="599"/>
                </a:lnTo>
                <a:lnTo>
                  <a:pt x="9455" y="564"/>
                </a:lnTo>
                <a:lnTo>
                  <a:pt x="9561" y="529"/>
                </a:lnTo>
                <a:lnTo>
                  <a:pt x="9737" y="599"/>
                </a:lnTo>
                <a:lnTo>
                  <a:pt x="9878" y="670"/>
                </a:lnTo>
                <a:lnTo>
                  <a:pt x="10019" y="705"/>
                </a:lnTo>
                <a:lnTo>
                  <a:pt x="10196" y="740"/>
                </a:lnTo>
                <a:lnTo>
                  <a:pt x="10302" y="776"/>
                </a:lnTo>
                <a:lnTo>
                  <a:pt x="10443" y="740"/>
                </a:lnTo>
                <a:lnTo>
                  <a:pt x="10584" y="705"/>
                </a:lnTo>
                <a:lnTo>
                  <a:pt x="10690" y="670"/>
                </a:lnTo>
                <a:lnTo>
                  <a:pt x="10831" y="670"/>
                </a:lnTo>
                <a:lnTo>
                  <a:pt x="10937" y="670"/>
                </a:lnTo>
                <a:lnTo>
                  <a:pt x="11148" y="635"/>
                </a:lnTo>
                <a:lnTo>
                  <a:pt x="11325" y="599"/>
                </a:lnTo>
                <a:lnTo>
                  <a:pt x="11431" y="599"/>
                </a:lnTo>
                <a:lnTo>
                  <a:pt x="11572" y="564"/>
                </a:lnTo>
                <a:lnTo>
                  <a:pt x="11713" y="529"/>
                </a:lnTo>
                <a:lnTo>
                  <a:pt x="11854" y="529"/>
                </a:lnTo>
                <a:lnTo>
                  <a:pt x="11995" y="458"/>
                </a:lnTo>
                <a:lnTo>
                  <a:pt x="12101" y="423"/>
                </a:lnTo>
                <a:lnTo>
                  <a:pt x="12277" y="529"/>
                </a:lnTo>
                <a:lnTo>
                  <a:pt x="12418" y="635"/>
                </a:lnTo>
                <a:lnTo>
                  <a:pt x="12489" y="740"/>
                </a:lnTo>
                <a:lnTo>
                  <a:pt x="12630" y="846"/>
                </a:lnTo>
                <a:lnTo>
                  <a:pt x="12736" y="881"/>
                </a:lnTo>
                <a:lnTo>
                  <a:pt x="12842" y="952"/>
                </a:lnTo>
                <a:lnTo>
                  <a:pt x="12983" y="1023"/>
                </a:lnTo>
                <a:lnTo>
                  <a:pt x="13089" y="1093"/>
                </a:lnTo>
                <a:lnTo>
                  <a:pt x="13230" y="1164"/>
                </a:lnTo>
                <a:lnTo>
                  <a:pt x="13406" y="1234"/>
                </a:lnTo>
                <a:lnTo>
                  <a:pt x="13547" y="1305"/>
                </a:lnTo>
                <a:lnTo>
                  <a:pt x="13653" y="1375"/>
                </a:lnTo>
                <a:lnTo>
                  <a:pt x="13759" y="1375"/>
                </a:lnTo>
                <a:lnTo>
                  <a:pt x="13865" y="1305"/>
                </a:lnTo>
                <a:lnTo>
                  <a:pt x="14076" y="1234"/>
                </a:lnTo>
                <a:lnTo>
                  <a:pt x="14182" y="1164"/>
                </a:lnTo>
                <a:lnTo>
                  <a:pt x="14288" y="1128"/>
                </a:lnTo>
                <a:lnTo>
                  <a:pt x="14394" y="1093"/>
                </a:lnTo>
                <a:lnTo>
                  <a:pt x="14535" y="1023"/>
                </a:lnTo>
                <a:lnTo>
                  <a:pt x="14677" y="952"/>
                </a:lnTo>
                <a:lnTo>
                  <a:pt x="14783" y="881"/>
                </a:lnTo>
                <a:lnTo>
                  <a:pt x="14889" y="846"/>
                </a:lnTo>
                <a:lnTo>
                  <a:pt x="14995" y="811"/>
                </a:lnTo>
                <a:lnTo>
                  <a:pt x="15100" y="776"/>
                </a:lnTo>
                <a:lnTo>
                  <a:pt x="15206" y="740"/>
                </a:lnTo>
                <a:lnTo>
                  <a:pt x="15312" y="705"/>
                </a:lnTo>
                <a:lnTo>
                  <a:pt x="15453" y="670"/>
                </a:lnTo>
                <a:lnTo>
                  <a:pt x="15594" y="670"/>
                </a:lnTo>
                <a:lnTo>
                  <a:pt x="15700" y="599"/>
                </a:lnTo>
                <a:lnTo>
                  <a:pt x="15806" y="599"/>
                </a:lnTo>
                <a:lnTo>
                  <a:pt x="15912" y="564"/>
                </a:lnTo>
                <a:lnTo>
                  <a:pt x="16018" y="564"/>
                </a:lnTo>
                <a:lnTo>
                  <a:pt x="16194" y="564"/>
                </a:lnTo>
                <a:lnTo>
                  <a:pt x="16300" y="529"/>
                </a:lnTo>
                <a:lnTo>
                  <a:pt x="16406" y="529"/>
                </a:lnTo>
                <a:lnTo>
                  <a:pt x="16512" y="458"/>
                </a:lnTo>
                <a:lnTo>
                  <a:pt x="16653" y="423"/>
                </a:lnTo>
                <a:lnTo>
                  <a:pt x="16794" y="423"/>
                </a:lnTo>
                <a:lnTo>
                  <a:pt x="17147" y="388"/>
                </a:lnTo>
                <a:lnTo>
                  <a:pt x="17499" y="388"/>
                </a:lnTo>
                <a:lnTo>
                  <a:pt x="17640" y="352"/>
                </a:lnTo>
                <a:lnTo>
                  <a:pt x="17781" y="317"/>
                </a:lnTo>
                <a:lnTo>
                  <a:pt x="17887" y="317"/>
                </a:lnTo>
                <a:lnTo>
                  <a:pt x="18028" y="282"/>
                </a:lnTo>
                <a:lnTo>
                  <a:pt x="18134" y="282"/>
                </a:lnTo>
                <a:lnTo>
                  <a:pt x="18240" y="282"/>
                </a:lnTo>
                <a:lnTo>
                  <a:pt x="18381" y="317"/>
                </a:lnTo>
                <a:lnTo>
                  <a:pt x="18522" y="317"/>
                </a:lnTo>
                <a:lnTo>
                  <a:pt x="18628" y="352"/>
                </a:lnTo>
                <a:lnTo>
                  <a:pt x="18734" y="388"/>
                </a:lnTo>
                <a:lnTo>
                  <a:pt x="18840" y="423"/>
                </a:lnTo>
                <a:lnTo>
                  <a:pt x="18946" y="493"/>
                </a:lnTo>
                <a:lnTo>
                  <a:pt x="19051" y="564"/>
                </a:lnTo>
                <a:lnTo>
                  <a:pt x="19157" y="599"/>
                </a:lnTo>
                <a:lnTo>
                  <a:pt x="19263" y="635"/>
                </a:lnTo>
                <a:lnTo>
                  <a:pt x="19404" y="670"/>
                </a:lnTo>
                <a:lnTo>
                  <a:pt x="19369" y="3070"/>
                </a:lnTo>
                <a:lnTo>
                  <a:pt x="18522" y="1446"/>
                </a:lnTo>
                <a:lnTo>
                  <a:pt x="18346" y="1516"/>
                </a:lnTo>
                <a:lnTo>
                  <a:pt x="18240" y="1553"/>
                </a:lnTo>
                <a:lnTo>
                  <a:pt x="18134" y="1588"/>
                </a:lnTo>
                <a:lnTo>
                  <a:pt x="18028" y="1694"/>
                </a:lnTo>
                <a:lnTo>
                  <a:pt x="17993" y="1800"/>
                </a:lnTo>
                <a:lnTo>
                  <a:pt x="17887" y="1694"/>
                </a:lnTo>
                <a:lnTo>
                  <a:pt x="17781" y="1623"/>
                </a:lnTo>
                <a:lnTo>
                  <a:pt x="17676" y="1659"/>
                </a:lnTo>
                <a:lnTo>
                  <a:pt x="17570" y="1729"/>
                </a:lnTo>
                <a:lnTo>
                  <a:pt x="17464" y="1729"/>
                </a:lnTo>
                <a:lnTo>
                  <a:pt x="17323" y="1694"/>
                </a:lnTo>
                <a:lnTo>
                  <a:pt x="17182" y="1659"/>
                </a:lnTo>
                <a:lnTo>
                  <a:pt x="17005" y="1588"/>
                </a:lnTo>
                <a:lnTo>
                  <a:pt x="16864" y="1588"/>
                </a:lnTo>
                <a:lnTo>
                  <a:pt x="16723" y="1588"/>
                </a:lnTo>
                <a:lnTo>
                  <a:pt x="16582" y="1659"/>
                </a:lnTo>
                <a:lnTo>
                  <a:pt x="16441" y="1659"/>
                </a:lnTo>
                <a:lnTo>
                  <a:pt x="16335" y="1694"/>
                </a:lnTo>
                <a:lnTo>
                  <a:pt x="16229" y="1764"/>
                </a:lnTo>
                <a:lnTo>
                  <a:pt x="16123" y="1800"/>
                </a:lnTo>
                <a:lnTo>
                  <a:pt x="16018" y="1800"/>
                </a:lnTo>
                <a:lnTo>
                  <a:pt x="15877" y="1800"/>
                </a:lnTo>
                <a:lnTo>
                  <a:pt x="15735" y="1800"/>
                </a:lnTo>
                <a:lnTo>
                  <a:pt x="15594" y="1800"/>
                </a:lnTo>
                <a:lnTo>
                  <a:pt x="15488" y="1800"/>
                </a:lnTo>
                <a:lnTo>
                  <a:pt x="15383" y="1800"/>
                </a:lnTo>
                <a:lnTo>
                  <a:pt x="15242" y="1800"/>
                </a:lnTo>
                <a:lnTo>
                  <a:pt x="15030" y="1800"/>
                </a:lnTo>
                <a:lnTo>
                  <a:pt x="14889" y="1835"/>
                </a:lnTo>
                <a:lnTo>
                  <a:pt x="14748" y="1870"/>
                </a:lnTo>
                <a:lnTo>
                  <a:pt x="14642" y="1870"/>
                </a:lnTo>
                <a:lnTo>
                  <a:pt x="14535" y="1906"/>
                </a:lnTo>
                <a:lnTo>
                  <a:pt x="14429" y="1941"/>
                </a:lnTo>
                <a:lnTo>
                  <a:pt x="14323" y="1941"/>
                </a:lnTo>
                <a:lnTo>
                  <a:pt x="14182" y="1941"/>
                </a:lnTo>
                <a:lnTo>
                  <a:pt x="14076" y="1906"/>
                </a:lnTo>
                <a:lnTo>
                  <a:pt x="13971" y="1800"/>
                </a:lnTo>
                <a:lnTo>
                  <a:pt x="13865" y="1729"/>
                </a:lnTo>
                <a:lnTo>
                  <a:pt x="13759" y="1729"/>
                </a:lnTo>
                <a:lnTo>
                  <a:pt x="13653" y="1694"/>
                </a:lnTo>
                <a:lnTo>
                  <a:pt x="13512" y="1694"/>
                </a:lnTo>
                <a:lnTo>
                  <a:pt x="13371" y="1623"/>
                </a:lnTo>
                <a:lnTo>
                  <a:pt x="13265" y="1553"/>
                </a:lnTo>
                <a:lnTo>
                  <a:pt x="13159" y="1516"/>
                </a:lnTo>
                <a:lnTo>
                  <a:pt x="13053" y="1411"/>
                </a:lnTo>
                <a:lnTo>
                  <a:pt x="12912" y="1305"/>
                </a:lnTo>
                <a:lnTo>
                  <a:pt x="12806" y="1234"/>
                </a:lnTo>
                <a:lnTo>
                  <a:pt x="12630" y="1128"/>
                </a:lnTo>
                <a:lnTo>
                  <a:pt x="12524" y="1093"/>
                </a:lnTo>
                <a:lnTo>
                  <a:pt x="12383" y="1023"/>
                </a:lnTo>
                <a:lnTo>
                  <a:pt x="12277" y="987"/>
                </a:lnTo>
                <a:lnTo>
                  <a:pt x="12171" y="952"/>
                </a:lnTo>
                <a:lnTo>
                  <a:pt x="12066" y="881"/>
                </a:lnTo>
                <a:lnTo>
                  <a:pt x="11960" y="881"/>
                </a:lnTo>
                <a:lnTo>
                  <a:pt x="11854" y="987"/>
                </a:lnTo>
                <a:lnTo>
                  <a:pt x="11783" y="1093"/>
                </a:lnTo>
                <a:lnTo>
                  <a:pt x="11713" y="1199"/>
                </a:lnTo>
                <a:lnTo>
                  <a:pt x="11677" y="1305"/>
                </a:lnTo>
                <a:lnTo>
                  <a:pt x="11677" y="1411"/>
                </a:lnTo>
                <a:lnTo>
                  <a:pt x="11677" y="1516"/>
                </a:lnTo>
                <a:lnTo>
                  <a:pt x="11713" y="1623"/>
                </a:lnTo>
                <a:lnTo>
                  <a:pt x="11642" y="1729"/>
                </a:lnTo>
                <a:lnTo>
                  <a:pt x="11536" y="1800"/>
                </a:lnTo>
                <a:lnTo>
                  <a:pt x="11431" y="1835"/>
                </a:lnTo>
                <a:lnTo>
                  <a:pt x="11219" y="1800"/>
                </a:lnTo>
                <a:lnTo>
                  <a:pt x="11113" y="1764"/>
                </a:lnTo>
                <a:lnTo>
                  <a:pt x="11007" y="1659"/>
                </a:lnTo>
                <a:lnTo>
                  <a:pt x="10901" y="1588"/>
                </a:lnTo>
                <a:lnTo>
                  <a:pt x="10796" y="1553"/>
                </a:lnTo>
                <a:lnTo>
                  <a:pt x="10690" y="1516"/>
                </a:lnTo>
                <a:lnTo>
                  <a:pt x="10549" y="1516"/>
                </a:lnTo>
                <a:lnTo>
                  <a:pt x="10443" y="1516"/>
                </a:lnTo>
                <a:lnTo>
                  <a:pt x="10337" y="1588"/>
                </a:lnTo>
                <a:lnTo>
                  <a:pt x="10231" y="1623"/>
                </a:lnTo>
                <a:lnTo>
                  <a:pt x="10090" y="1659"/>
                </a:lnTo>
                <a:lnTo>
                  <a:pt x="9949" y="1694"/>
                </a:lnTo>
                <a:lnTo>
                  <a:pt x="9843" y="1694"/>
                </a:lnTo>
                <a:lnTo>
                  <a:pt x="9702" y="1694"/>
                </a:lnTo>
                <a:lnTo>
                  <a:pt x="9596" y="1659"/>
                </a:lnTo>
                <a:lnTo>
                  <a:pt x="9490" y="1588"/>
                </a:lnTo>
                <a:lnTo>
                  <a:pt x="9384" y="1588"/>
                </a:lnTo>
                <a:lnTo>
                  <a:pt x="9349" y="1694"/>
                </a:lnTo>
                <a:lnTo>
                  <a:pt x="9314" y="1800"/>
                </a:lnTo>
                <a:lnTo>
                  <a:pt x="9208" y="1835"/>
                </a:lnTo>
                <a:lnTo>
                  <a:pt x="9102" y="1870"/>
                </a:lnTo>
                <a:lnTo>
                  <a:pt x="8961" y="1870"/>
                </a:lnTo>
                <a:lnTo>
                  <a:pt x="8820" y="1941"/>
                </a:lnTo>
                <a:lnTo>
                  <a:pt x="8714" y="2011"/>
                </a:lnTo>
                <a:lnTo>
                  <a:pt x="8538" y="2047"/>
                </a:lnTo>
                <a:lnTo>
                  <a:pt x="8432" y="2011"/>
                </a:lnTo>
                <a:lnTo>
                  <a:pt x="8256" y="2011"/>
                </a:lnTo>
                <a:lnTo>
                  <a:pt x="8114" y="1976"/>
                </a:lnTo>
                <a:lnTo>
                  <a:pt x="8009" y="1976"/>
                </a:lnTo>
                <a:lnTo>
                  <a:pt x="7867" y="1976"/>
                </a:lnTo>
                <a:lnTo>
                  <a:pt x="7762" y="1976"/>
                </a:lnTo>
                <a:lnTo>
                  <a:pt x="7656" y="1976"/>
                </a:lnTo>
                <a:lnTo>
                  <a:pt x="7550" y="1976"/>
                </a:lnTo>
                <a:lnTo>
                  <a:pt x="7409" y="1941"/>
                </a:lnTo>
                <a:lnTo>
                  <a:pt x="7268" y="1941"/>
                </a:lnTo>
                <a:lnTo>
                  <a:pt x="7127" y="1941"/>
                </a:lnTo>
                <a:lnTo>
                  <a:pt x="6986" y="1976"/>
                </a:lnTo>
                <a:lnTo>
                  <a:pt x="6844" y="2011"/>
                </a:lnTo>
                <a:lnTo>
                  <a:pt x="6703" y="2047"/>
                </a:lnTo>
                <a:lnTo>
                  <a:pt x="6562" y="2082"/>
                </a:lnTo>
                <a:lnTo>
                  <a:pt x="6456" y="2082"/>
                </a:lnTo>
                <a:lnTo>
                  <a:pt x="6351" y="2082"/>
                </a:lnTo>
                <a:lnTo>
                  <a:pt x="6245" y="2082"/>
                </a:lnTo>
                <a:lnTo>
                  <a:pt x="6139" y="2082"/>
                </a:lnTo>
                <a:lnTo>
                  <a:pt x="5998" y="2047"/>
                </a:lnTo>
                <a:lnTo>
                  <a:pt x="5892" y="2011"/>
                </a:lnTo>
                <a:lnTo>
                  <a:pt x="5716" y="1941"/>
                </a:lnTo>
                <a:lnTo>
                  <a:pt x="5610" y="1835"/>
                </a:lnTo>
                <a:lnTo>
                  <a:pt x="5469" y="1800"/>
                </a:lnTo>
                <a:lnTo>
                  <a:pt x="5363" y="1729"/>
                </a:lnTo>
                <a:lnTo>
                  <a:pt x="5292" y="1588"/>
                </a:lnTo>
                <a:lnTo>
                  <a:pt x="5257" y="1481"/>
                </a:lnTo>
                <a:lnTo>
                  <a:pt x="5186" y="1375"/>
                </a:lnTo>
                <a:lnTo>
                  <a:pt x="5010" y="1234"/>
                </a:lnTo>
                <a:lnTo>
                  <a:pt x="4975" y="1375"/>
                </a:lnTo>
                <a:lnTo>
                  <a:pt x="4869" y="1446"/>
                </a:lnTo>
                <a:lnTo>
                  <a:pt x="4833" y="1553"/>
                </a:lnTo>
                <a:lnTo>
                  <a:pt x="4762" y="1659"/>
                </a:lnTo>
                <a:lnTo>
                  <a:pt x="4727" y="1764"/>
                </a:lnTo>
                <a:lnTo>
                  <a:pt x="4656" y="1870"/>
                </a:lnTo>
                <a:lnTo>
                  <a:pt x="4550" y="1941"/>
                </a:lnTo>
                <a:lnTo>
                  <a:pt x="4445" y="1906"/>
                </a:lnTo>
                <a:lnTo>
                  <a:pt x="4339" y="1941"/>
                </a:lnTo>
                <a:lnTo>
                  <a:pt x="4233" y="1941"/>
                </a:lnTo>
                <a:lnTo>
                  <a:pt x="4127" y="1941"/>
                </a:lnTo>
                <a:lnTo>
                  <a:pt x="4021" y="1941"/>
                </a:lnTo>
                <a:lnTo>
                  <a:pt x="3880" y="1870"/>
                </a:lnTo>
                <a:lnTo>
                  <a:pt x="3774" y="1764"/>
                </a:lnTo>
                <a:lnTo>
                  <a:pt x="3668" y="1659"/>
                </a:lnTo>
                <a:lnTo>
                  <a:pt x="3633" y="1553"/>
                </a:lnTo>
                <a:lnTo>
                  <a:pt x="3598" y="1446"/>
                </a:lnTo>
                <a:lnTo>
                  <a:pt x="3563" y="1553"/>
                </a:lnTo>
                <a:lnTo>
                  <a:pt x="3457" y="1588"/>
                </a:lnTo>
                <a:lnTo>
                  <a:pt x="3316" y="1659"/>
                </a:lnTo>
                <a:lnTo>
                  <a:pt x="3210" y="1729"/>
                </a:lnTo>
                <a:lnTo>
                  <a:pt x="3104" y="1800"/>
                </a:lnTo>
                <a:lnTo>
                  <a:pt x="3033" y="1906"/>
                </a:lnTo>
                <a:lnTo>
                  <a:pt x="2892" y="1800"/>
                </a:lnTo>
                <a:lnTo>
                  <a:pt x="2822" y="1694"/>
                </a:lnTo>
                <a:lnTo>
                  <a:pt x="2751" y="1800"/>
                </a:lnTo>
                <a:lnTo>
                  <a:pt x="2645" y="1835"/>
                </a:lnTo>
                <a:lnTo>
                  <a:pt x="2540" y="1835"/>
                </a:lnTo>
                <a:lnTo>
                  <a:pt x="2434" y="1835"/>
                </a:lnTo>
                <a:lnTo>
                  <a:pt x="2328" y="1835"/>
                </a:lnTo>
                <a:lnTo>
                  <a:pt x="2187" y="1906"/>
                </a:lnTo>
                <a:lnTo>
                  <a:pt x="2081" y="1941"/>
                </a:lnTo>
                <a:lnTo>
                  <a:pt x="1905" y="1941"/>
                </a:lnTo>
                <a:lnTo>
                  <a:pt x="1763" y="1340"/>
                </a:lnTo>
                <a:lnTo>
                  <a:pt x="1763" y="1941"/>
                </a:lnTo>
                <a:lnTo>
                  <a:pt x="1728" y="1835"/>
                </a:lnTo>
                <a:lnTo>
                  <a:pt x="1622" y="1835"/>
                </a:lnTo>
                <a:lnTo>
                  <a:pt x="1516" y="1870"/>
                </a:lnTo>
                <a:lnTo>
                  <a:pt x="1375" y="1976"/>
                </a:lnTo>
                <a:lnTo>
                  <a:pt x="1270" y="1941"/>
                </a:lnTo>
                <a:lnTo>
                  <a:pt x="1164" y="1941"/>
                </a:lnTo>
                <a:lnTo>
                  <a:pt x="1058" y="1906"/>
                </a:lnTo>
                <a:lnTo>
                  <a:pt x="952" y="1870"/>
                </a:lnTo>
                <a:lnTo>
                  <a:pt x="846" y="1870"/>
                </a:lnTo>
                <a:lnTo>
                  <a:pt x="740" y="1941"/>
                </a:lnTo>
                <a:lnTo>
                  <a:pt x="635" y="1976"/>
                </a:lnTo>
                <a:lnTo>
                  <a:pt x="529" y="2047"/>
                </a:lnTo>
                <a:lnTo>
                  <a:pt x="423" y="2082"/>
                </a:lnTo>
                <a:lnTo>
                  <a:pt x="352" y="2188"/>
                </a:lnTo>
                <a:lnTo>
                  <a:pt x="246" y="2223"/>
                </a:lnTo>
                <a:lnTo>
                  <a:pt x="141" y="2294"/>
                </a:lnTo>
                <a:lnTo>
                  <a:pt x="35" y="2364"/>
                </a:lnTo>
                <a:lnTo>
                  <a:pt x="0" y="423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952560" y="5423040"/>
            <a:ext cx="6972480" cy="597240"/>
          </a:xfrm>
          <a:custGeom>
            <a:avLst/>
            <a:gdLst/>
            <a:ahLst/>
            <a:rect l="0" t="0" r="r" b="b"/>
            <a:pathLst>
              <a:path w="19368" h="1659">
                <a:moveTo>
                  <a:pt x="141" y="317"/>
                </a:moveTo>
                <a:lnTo>
                  <a:pt x="564" y="176"/>
                </a:lnTo>
                <a:lnTo>
                  <a:pt x="670" y="246"/>
                </a:lnTo>
                <a:lnTo>
                  <a:pt x="670" y="352"/>
                </a:lnTo>
                <a:lnTo>
                  <a:pt x="705" y="458"/>
                </a:lnTo>
                <a:lnTo>
                  <a:pt x="811" y="529"/>
                </a:lnTo>
                <a:lnTo>
                  <a:pt x="881" y="635"/>
                </a:lnTo>
                <a:lnTo>
                  <a:pt x="987" y="599"/>
                </a:lnTo>
                <a:lnTo>
                  <a:pt x="1128" y="599"/>
                </a:lnTo>
                <a:lnTo>
                  <a:pt x="1234" y="599"/>
                </a:lnTo>
                <a:lnTo>
                  <a:pt x="1305" y="493"/>
                </a:lnTo>
                <a:lnTo>
                  <a:pt x="1411" y="388"/>
                </a:lnTo>
                <a:lnTo>
                  <a:pt x="1516" y="317"/>
                </a:lnTo>
                <a:lnTo>
                  <a:pt x="1622" y="282"/>
                </a:lnTo>
                <a:lnTo>
                  <a:pt x="1728" y="317"/>
                </a:lnTo>
                <a:lnTo>
                  <a:pt x="1834" y="317"/>
                </a:lnTo>
                <a:lnTo>
                  <a:pt x="1975" y="317"/>
                </a:lnTo>
                <a:lnTo>
                  <a:pt x="2081" y="246"/>
                </a:lnTo>
                <a:lnTo>
                  <a:pt x="2187" y="246"/>
                </a:lnTo>
                <a:lnTo>
                  <a:pt x="2293" y="246"/>
                </a:lnTo>
                <a:lnTo>
                  <a:pt x="2434" y="246"/>
                </a:lnTo>
                <a:lnTo>
                  <a:pt x="2539" y="246"/>
                </a:lnTo>
                <a:lnTo>
                  <a:pt x="2645" y="246"/>
                </a:lnTo>
                <a:lnTo>
                  <a:pt x="2751" y="246"/>
                </a:lnTo>
                <a:lnTo>
                  <a:pt x="2892" y="282"/>
                </a:lnTo>
                <a:lnTo>
                  <a:pt x="2998" y="282"/>
                </a:lnTo>
                <a:lnTo>
                  <a:pt x="3104" y="282"/>
                </a:lnTo>
                <a:lnTo>
                  <a:pt x="3210" y="317"/>
                </a:lnTo>
                <a:lnTo>
                  <a:pt x="3316" y="317"/>
                </a:lnTo>
                <a:lnTo>
                  <a:pt x="3457" y="317"/>
                </a:lnTo>
                <a:lnTo>
                  <a:pt x="3563" y="317"/>
                </a:lnTo>
                <a:lnTo>
                  <a:pt x="3668" y="317"/>
                </a:lnTo>
                <a:lnTo>
                  <a:pt x="3809" y="317"/>
                </a:lnTo>
                <a:lnTo>
                  <a:pt x="3915" y="317"/>
                </a:lnTo>
                <a:lnTo>
                  <a:pt x="4021" y="317"/>
                </a:lnTo>
                <a:lnTo>
                  <a:pt x="4127" y="317"/>
                </a:lnTo>
                <a:lnTo>
                  <a:pt x="4233" y="317"/>
                </a:lnTo>
                <a:lnTo>
                  <a:pt x="4515" y="282"/>
                </a:lnTo>
                <a:lnTo>
                  <a:pt x="4656" y="282"/>
                </a:lnTo>
                <a:lnTo>
                  <a:pt x="4762" y="282"/>
                </a:lnTo>
                <a:lnTo>
                  <a:pt x="4938" y="246"/>
                </a:lnTo>
                <a:lnTo>
                  <a:pt x="5115" y="211"/>
                </a:lnTo>
                <a:lnTo>
                  <a:pt x="5256" y="211"/>
                </a:lnTo>
                <a:lnTo>
                  <a:pt x="5362" y="176"/>
                </a:lnTo>
                <a:lnTo>
                  <a:pt x="5468" y="176"/>
                </a:lnTo>
                <a:lnTo>
                  <a:pt x="5573" y="176"/>
                </a:lnTo>
                <a:lnTo>
                  <a:pt x="5644" y="317"/>
                </a:lnTo>
                <a:lnTo>
                  <a:pt x="5750" y="317"/>
                </a:lnTo>
                <a:lnTo>
                  <a:pt x="5856" y="317"/>
                </a:lnTo>
                <a:lnTo>
                  <a:pt x="5961" y="317"/>
                </a:lnTo>
                <a:lnTo>
                  <a:pt x="6103" y="282"/>
                </a:lnTo>
                <a:lnTo>
                  <a:pt x="6208" y="317"/>
                </a:lnTo>
                <a:lnTo>
                  <a:pt x="6314" y="352"/>
                </a:lnTo>
                <a:lnTo>
                  <a:pt x="6420" y="352"/>
                </a:lnTo>
                <a:lnTo>
                  <a:pt x="6526" y="352"/>
                </a:lnTo>
                <a:lnTo>
                  <a:pt x="6632" y="352"/>
                </a:lnTo>
                <a:lnTo>
                  <a:pt x="6738" y="388"/>
                </a:lnTo>
                <a:lnTo>
                  <a:pt x="6843" y="458"/>
                </a:lnTo>
                <a:lnTo>
                  <a:pt x="6949" y="458"/>
                </a:lnTo>
                <a:lnTo>
                  <a:pt x="7090" y="458"/>
                </a:lnTo>
                <a:lnTo>
                  <a:pt x="7196" y="493"/>
                </a:lnTo>
                <a:lnTo>
                  <a:pt x="7373" y="493"/>
                </a:lnTo>
                <a:lnTo>
                  <a:pt x="7514" y="529"/>
                </a:lnTo>
                <a:lnTo>
                  <a:pt x="7620" y="599"/>
                </a:lnTo>
                <a:lnTo>
                  <a:pt x="7725" y="599"/>
                </a:lnTo>
                <a:lnTo>
                  <a:pt x="7831" y="529"/>
                </a:lnTo>
                <a:lnTo>
                  <a:pt x="7937" y="493"/>
                </a:lnTo>
                <a:lnTo>
                  <a:pt x="8008" y="388"/>
                </a:lnTo>
                <a:lnTo>
                  <a:pt x="8149" y="317"/>
                </a:lnTo>
                <a:lnTo>
                  <a:pt x="8360" y="176"/>
                </a:lnTo>
                <a:lnTo>
                  <a:pt x="8466" y="141"/>
                </a:lnTo>
                <a:lnTo>
                  <a:pt x="8501" y="246"/>
                </a:lnTo>
                <a:lnTo>
                  <a:pt x="8572" y="352"/>
                </a:lnTo>
                <a:lnTo>
                  <a:pt x="8713" y="388"/>
                </a:lnTo>
                <a:lnTo>
                  <a:pt x="8854" y="388"/>
                </a:lnTo>
                <a:lnTo>
                  <a:pt x="8960" y="352"/>
                </a:lnTo>
                <a:lnTo>
                  <a:pt x="9066" y="317"/>
                </a:lnTo>
                <a:lnTo>
                  <a:pt x="9207" y="388"/>
                </a:lnTo>
                <a:lnTo>
                  <a:pt x="9348" y="352"/>
                </a:lnTo>
                <a:lnTo>
                  <a:pt x="9454" y="317"/>
                </a:lnTo>
                <a:lnTo>
                  <a:pt x="9595" y="246"/>
                </a:lnTo>
                <a:lnTo>
                  <a:pt x="9702" y="246"/>
                </a:lnTo>
                <a:lnTo>
                  <a:pt x="9808" y="246"/>
                </a:lnTo>
                <a:lnTo>
                  <a:pt x="9914" y="211"/>
                </a:lnTo>
                <a:lnTo>
                  <a:pt x="10055" y="176"/>
                </a:lnTo>
                <a:lnTo>
                  <a:pt x="10161" y="176"/>
                </a:lnTo>
                <a:lnTo>
                  <a:pt x="10266" y="246"/>
                </a:lnTo>
                <a:lnTo>
                  <a:pt x="10407" y="211"/>
                </a:lnTo>
                <a:lnTo>
                  <a:pt x="10513" y="176"/>
                </a:lnTo>
                <a:lnTo>
                  <a:pt x="10619" y="176"/>
                </a:lnTo>
                <a:lnTo>
                  <a:pt x="10760" y="141"/>
                </a:lnTo>
                <a:lnTo>
                  <a:pt x="10901" y="70"/>
                </a:lnTo>
                <a:lnTo>
                  <a:pt x="11042" y="35"/>
                </a:lnTo>
                <a:lnTo>
                  <a:pt x="11148" y="176"/>
                </a:lnTo>
                <a:lnTo>
                  <a:pt x="11254" y="246"/>
                </a:lnTo>
                <a:lnTo>
                  <a:pt x="11360" y="211"/>
                </a:lnTo>
                <a:lnTo>
                  <a:pt x="11466" y="317"/>
                </a:lnTo>
                <a:lnTo>
                  <a:pt x="11572" y="388"/>
                </a:lnTo>
                <a:lnTo>
                  <a:pt x="11677" y="352"/>
                </a:lnTo>
                <a:lnTo>
                  <a:pt x="11783" y="317"/>
                </a:lnTo>
                <a:lnTo>
                  <a:pt x="11889" y="282"/>
                </a:lnTo>
                <a:lnTo>
                  <a:pt x="11995" y="246"/>
                </a:lnTo>
                <a:lnTo>
                  <a:pt x="12171" y="246"/>
                </a:lnTo>
                <a:lnTo>
                  <a:pt x="12277" y="211"/>
                </a:lnTo>
                <a:lnTo>
                  <a:pt x="12383" y="176"/>
                </a:lnTo>
                <a:lnTo>
                  <a:pt x="12524" y="105"/>
                </a:lnTo>
                <a:lnTo>
                  <a:pt x="12736" y="35"/>
                </a:lnTo>
                <a:lnTo>
                  <a:pt x="12877" y="0"/>
                </a:lnTo>
                <a:lnTo>
                  <a:pt x="13018" y="35"/>
                </a:lnTo>
                <a:lnTo>
                  <a:pt x="13124" y="70"/>
                </a:lnTo>
                <a:lnTo>
                  <a:pt x="13230" y="105"/>
                </a:lnTo>
                <a:lnTo>
                  <a:pt x="13300" y="211"/>
                </a:lnTo>
                <a:lnTo>
                  <a:pt x="13336" y="317"/>
                </a:lnTo>
                <a:lnTo>
                  <a:pt x="13441" y="317"/>
                </a:lnTo>
                <a:lnTo>
                  <a:pt x="13547" y="317"/>
                </a:lnTo>
                <a:lnTo>
                  <a:pt x="13653" y="317"/>
                </a:lnTo>
                <a:lnTo>
                  <a:pt x="13759" y="317"/>
                </a:lnTo>
                <a:lnTo>
                  <a:pt x="13865" y="317"/>
                </a:lnTo>
                <a:lnTo>
                  <a:pt x="13971" y="282"/>
                </a:lnTo>
                <a:lnTo>
                  <a:pt x="14147" y="246"/>
                </a:lnTo>
                <a:lnTo>
                  <a:pt x="14288" y="211"/>
                </a:lnTo>
                <a:lnTo>
                  <a:pt x="14429" y="211"/>
                </a:lnTo>
                <a:lnTo>
                  <a:pt x="14570" y="176"/>
                </a:lnTo>
                <a:lnTo>
                  <a:pt x="14711" y="176"/>
                </a:lnTo>
                <a:lnTo>
                  <a:pt x="14817" y="176"/>
                </a:lnTo>
                <a:lnTo>
                  <a:pt x="14923" y="105"/>
                </a:lnTo>
                <a:lnTo>
                  <a:pt x="15064" y="105"/>
                </a:lnTo>
                <a:lnTo>
                  <a:pt x="15170" y="105"/>
                </a:lnTo>
                <a:lnTo>
                  <a:pt x="15276" y="70"/>
                </a:lnTo>
                <a:lnTo>
                  <a:pt x="15417" y="35"/>
                </a:lnTo>
                <a:lnTo>
                  <a:pt x="15558" y="35"/>
                </a:lnTo>
                <a:lnTo>
                  <a:pt x="15664" y="70"/>
                </a:lnTo>
                <a:lnTo>
                  <a:pt x="15770" y="105"/>
                </a:lnTo>
                <a:lnTo>
                  <a:pt x="15911" y="105"/>
                </a:lnTo>
                <a:lnTo>
                  <a:pt x="16017" y="141"/>
                </a:lnTo>
                <a:lnTo>
                  <a:pt x="16122" y="141"/>
                </a:lnTo>
                <a:lnTo>
                  <a:pt x="16228" y="176"/>
                </a:lnTo>
                <a:lnTo>
                  <a:pt x="16334" y="176"/>
                </a:lnTo>
                <a:lnTo>
                  <a:pt x="16440" y="176"/>
                </a:lnTo>
                <a:lnTo>
                  <a:pt x="16546" y="176"/>
                </a:lnTo>
                <a:lnTo>
                  <a:pt x="16687" y="176"/>
                </a:lnTo>
                <a:lnTo>
                  <a:pt x="16828" y="211"/>
                </a:lnTo>
                <a:lnTo>
                  <a:pt x="16969" y="282"/>
                </a:lnTo>
                <a:lnTo>
                  <a:pt x="17075" y="317"/>
                </a:lnTo>
                <a:lnTo>
                  <a:pt x="17181" y="352"/>
                </a:lnTo>
                <a:lnTo>
                  <a:pt x="17287" y="352"/>
                </a:lnTo>
                <a:lnTo>
                  <a:pt x="17392" y="388"/>
                </a:lnTo>
                <a:lnTo>
                  <a:pt x="17534" y="423"/>
                </a:lnTo>
                <a:lnTo>
                  <a:pt x="17675" y="458"/>
                </a:lnTo>
                <a:lnTo>
                  <a:pt x="17816" y="458"/>
                </a:lnTo>
                <a:lnTo>
                  <a:pt x="17957" y="458"/>
                </a:lnTo>
                <a:lnTo>
                  <a:pt x="18063" y="458"/>
                </a:lnTo>
                <a:lnTo>
                  <a:pt x="18169" y="458"/>
                </a:lnTo>
                <a:lnTo>
                  <a:pt x="18310" y="493"/>
                </a:lnTo>
                <a:lnTo>
                  <a:pt x="18451" y="529"/>
                </a:lnTo>
                <a:lnTo>
                  <a:pt x="18557" y="529"/>
                </a:lnTo>
                <a:lnTo>
                  <a:pt x="18662" y="529"/>
                </a:lnTo>
                <a:lnTo>
                  <a:pt x="18804" y="529"/>
                </a:lnTo>
                <a:lnTo>
                  <a:pt x="18945" y="529"/>
                </a:lnTo>
                <a:lnTo>
                  <a:pt x="19050" y="458"/>
                </a:lnTo>
                <a:lnTo>
                  <a:pt x="19121" y="564"/>
                </a:lnTo>
                <a:lnTo>
                  <a:pt x="19227" y="599"/>
                </a:lnTo>
                <a:lnTo>
                  <a:pt x="19333" y="599"/>
                </a:lnTo>
                <a:lnTo>
                  <a:pt x="19368" y="1306"/>
                </a:lnTo>
                <a:lnTo>
                  <a:pt x="19368" y="1659"/>
                </a:lnTo>
                <a:lnTo>
                  <a:pt x="0" y="1517"/>
                </a:lnTo>
                <a:lnTo>
                  <a:pt x="141" y="317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2981160" y="5791320"/>
            <a:ext cx="47070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Takes 4 bytes (1 LONGWORD) of storage.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609480" y="914400"/>
            <a:ext cx="8153280" cy="74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COMP items are held in memory as pure binary two's complement numbers.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"/>
          <p:cNvSpPr txBox="1"/>
          <p:nvPr/>
        </p:nvSpPr>
        <p:spPr>
          <a:xfrm>
            <a:off x="1943280" y="222120"/>
            <a:ext cx="53611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COMP - Storage Requirements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1295280" y="1162080"/>
            <a:ext cx="6730920" cy="4842000"/>
          </a:xfrm>
          <a:prstGeom prst="rect">
            <a:avLst/>
          </a:prstGeom>
          <a:solidFill>
            <a:srgbClr val="DADADA"/>
          </a:solidFill>
          <a:ln w="2556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  <a:tabLst>
                <a:tab pos="482760" algn="l"/>
                <a:tab pos="952560" algn="l"/>
                <a:tab pos="1333440" algn="l"/>
                <a:tab pos="1714680" algn="l"/>
                <a:tab pos="2095560" algn="l"/>
                <a:tab pos="2476440" algn="l"/>
                <a:tab pos="2857680" algn="l"/>
                <a:tab pos="3238560" algn="l"/>
                <a:tab pos="3619440" algn="l"/>
                <a:tab pos="4000680" algn="l"/>
                <a:tab pos="4381560" algn="l"/>
                <a:tab pos="4762440" algn="l"/>
                <a:tab pos="5143320" algn="l"/>
                <a:tab pos="5524560" algn="l"/>
                <a:tab pos="5905440" algn="l"/>
                <a:tab pos="6286680" algn="l"/>
              </a:tabLst>
            </a:pP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2 Bytes can represent any 4 digit number.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482760" algn="l"/>
                <a:tab pos="952560" algn="l"/>
                <a:tab pos="1333440" algn="l"/>
                <a:tab pos="1714680" algn="l"/>
                <a:tab pos="2095560" algn="l"/>
                <a:tab pos="2476440" algn="l"/>
                <a:tab pos="2857680" algn="l"/>
                <a:tab pos="3238560" algn="l"/>
                <a:tab pos="3619440" algn="l"/>
                <a:tab pos="4000680" algn="l"/>
                <a:tab pos="4381560" algn="l"/>
                <a:tab pos="4762440" algn="l"/>
                <a:tab pos="5143320" algn="l"/>
                <a:tab pos="5524560" algn="l"/>
                <a:tab pos="5905440" algn="l"/>
                <a:tab pos="628668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tabLst>
                <a:tab pos="482760" algn="l"/>
                <a:tab pos="952560" algn="l"/>
                <a:tab pos="1333440" algn="l"/>
                <a:tab pos="1714680" algn="l"/>
                <a:tab pos="2095560" algn="l"/>
                <a:tab pos="2476440" algn="l"/>
                <a:tab pos="2857680" algn="l"/>
                <a:tab pos="3238560" algn="l"/>
                <a:tab pos="3619440" algn="l"/>
                <a:tab pos="4000680" algn="l"/>
                <a:tab pos="4381560" algn="l"/>
                <a:tab pos="4762440" algn="l"/>
                <a:tab pos="5143320" algn="l"/>
                <a:tab pos="5524560" algn="l"/>
                <a:tab pos="5905440" algn="l"/>
                <a:tab pos="628668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32768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16384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8192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4096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2048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1024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512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256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128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64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41"/>
              </a:spcBef>
              <a:tabLst>
                <a:tab pos="482760" algn="l"/>
                <a:tab pos="952560" algn="l"/>
                <a:tab pos="1333440" algn="l"/>
                <a:tab pos="1714680" algn="l"/>
                <a:tab pos="2095560" algn="l"/>
                <a:tab pos="2476440" algn="l"/>
                <a:tab pos="2857680" algn="l"/>
                <a:tab pos="3238560" algn="l"/>
                <a:tab pos="3619440" algn="l"/>
                <a:tab pos="4000680" algn="l"/>
                <a:tab pos="4381560" algn="l"/>
                <a:tab pos="4762440" algn="l"/>
                <a:tab pos="5143320" algn="l"/>
                <a:tab pos="5524560" algn="l"/>
                <a:tab pos="5905440" algn="l"/>
                <a:tab pos="628668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41"/>
              </a:spcBef>
              <a:tabLst>
                <a:tab pos="482760" algn="l"/>
                <a:tab pos="952560" algn="l"/>
                <a:tab pos="1333440" algn="l"/>
                <a:tab pos="1714680" algn="l"/>
                <a:tab pos="2095560" algn="l"/>
                <a:tab pos="2476440" algn="l"/>
                <a:tab pos="2857680" algn="l"/>
                <a:tab pos="3238560" algn="l"/>
                <a:tab pos="3619440" algn="l"/>
                <a:tab pos="4000680" algn="l"/>
                <a:tab pos="4381560" algn="l"/>
                <a:tab pos="4762440" algn="l"/>
                <a:tab pos="5143320" algn="l"/>
                <a:tab pos="5524560" algn="l"/>
                <a:tab pos="5905440" algn="l"/>
                <a:tab pos="6286680" algn="l"/>
              </a:tabLst>
            </a:pP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Max. number =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+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or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32767</a:t>
            </a:r>
            <a:br>
              <a:rPr sz="2400"/>
            </a:b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                             PIC      9999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41"/>
              </a:spcBef>
              <a:tabLst>
                <a:tab pos="482760" algn="l"/>
                <a:tab pos="952560" algn="l"/>
                <a:tab pos="1333440" algn="l"/>
                <a:tab pos="1714680" algn="l"/>
                <a:tab pos="2095560" algn="l"/>
                <a:tab pos="2476440" algn="l"/>
                <a:tab pos="2857680" algn="l"/>
                <a:tab pos="3238560" algn="l"/>
                <a:tab pos="3619440" algn="l"/>
                <a:tab pos="4000680" algn="l"/>
                <a:tab pos="4381560" algn="l"/>
                <a:tab pos="4762440" algn="l"/>
                <a:tab pos="5143320" algn="l"/>
                <a:tab pos="5524560" algn="l"/>
                <a:tab pos="5905440" algn="l"/>
                <a:tab pos="6286680" algn="l"/>
              </a:tabLst>
            </a:pP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4 Bytes can represent any 9 digit number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41"/>
              </a:spcBef>
              <a:tabLst>
                <a:tab pos="482760" algn="l"/>
                <a:tab pos="952560" algn="l"/>
                <a:tab pos="1333440" algn="l"/>
                <a:tab pos="1714680" algn="l"/>
                <a:tab pos="2095560" algn="l"/>
                <a:tab pos="2476440" algn="l"/>
                <a:tab pos="2857680" algn="l"/>
                <a:tab pos="3238560" algn="l"/>
                <a:tab pos="3619440" algn="l"/>
                <a:tab pos="4000680" algn="l"/>
                <a:tab pos="4381560" algn="l"/>
                <a:tab pos="4762440" algn="l"/>
                <a:tab pos="5143320" algn="l"/>
                <a:tab pos="5524560" algn="l"/>
                <a:tab pos="5905440" algn="l"/>
                <a:tab pos="6286680" algn="l"/>
              </a:tabLst>
            </a:pP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Max. number =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+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or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2, 147,483,647</a:t>
            </a:r>
            <a:br>
              <a:rPr sz="2400"/>
            </a:b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                            PIC      999 999 999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5" name=""/>
          <p:cNvGrpSpPr/>
          <p:nvPr/>
        </p:nvGrpSpPr>
        <p:grpSpPr>
          <a:xfrm>
            <a:off x="1486080" y="2352600"/>
            <a:ext cx="6210360" cy="444600"/>
            <a:chOff x="1486080" y="2352600"/>
            <a:chExt cx="6210360" cy="444600"/>
          </a:xfrm>
        </p:grpSpPr>
        <p:sp>
          <p:nvSpPr>
            <p:cNvPr id="136" name=""/>
            <p:cNvSpPr/>
            <p:nvPr/>
          </p:nvSpPr>
          <p:spPr>
            <a:xfrm>
              <a:off x="1486080" y="2352600"/>
              <a:ext cx="6210360" cy="444600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"/>
            <p:cNvSpPr/>
            <p:nvPr/>
          </p:nvSpPr>
          <p:spPr>
            <a:xfrm>
              <a:off x="1955880" y="2352600"/>
              <a:ext cx="0" cy="44460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"/>
            <p:cNvSpPr/>
            <p:nvPr/>
          </p:nvSpPr>
          <p:spPr>
            <a:xfrm>
              <a:off x="2400480" y="2352600"/>
              <a:ext cx="0" cy="44460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"/>
            <p:cNvSpPr/>
            <p:nvPr/>
          </p:nvSpPr>
          <p:spPr>
            <a:xfrm>
              <a:off x="2793960" y="2352600"/>
              <a:ext cx="0" cy="44460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"/>
            <p:cNvSpPr/>
            <p:nvPr/>
          </p:nvSpPr>
          <p:spPr>
            <a:xfrm>
              <a:off x="3187800" y="2352600"/>
              <a:ext cx="0" cy="44460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"/>
            <p:cNvSpPr/>
            <p:nvPr/>
          </p:nvSpPr>
          <p:spPr>
            <a:xfrm>
              <a:off x="3568680" y="2352600"/>
              <a:ext cx="0" cy="44460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"/>
            <p:cNvSpPr/>
            <p:nvPr/>
          </p:nvSpPr>
          <p:spPr>
            <a:xfrm>
              <a:off x="3924360" y="2352600"/>
              <a:ext cx="0" cy="44460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"/>
            <p:cNvSpPr/>
            <p:nvPr/>
          </p:nvSpPr>
          <p:spPr>
            <a:xfrm>
              <a:off x="4292640" y="2352600"/>
              <a:ext cx="0" cy="44460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4673520" y="2352600"/>
              <a:ext cx="0" cy="44460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"/>
            <p:cNvSpPr/>
            <p:nvPr/>
          </p:nvSpPr>
          <p:spPr>
            <a:xfrm>
              <a:off x="5041800" y="2352600"/>
              <a:ext cx="0" cy="44460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5410080" y="2352600"/>
              <a:ext cx="0" cy="44460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"/>
            <p:cNvSpPr/>
            <p:nvPr/>
          </p:nvSpPr>
          <p:spPr>
            <a:xfrm>
              <a:off x="5778360" y="2352600"/>
              <a:ext cx="0" cy="44460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"/>
            <p:cNvSpPr/>
            <p:nvPr/>
          </p:nvSpPr>
          <p:spPr>
            <a:xfrm>
              <a:off x="6134040" y="2352600"/>
              <a:ext cx="0" cy="44460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"/>
            <p:cNvSpPr/>
            <p:nvPr/>
          </p:nvSpPr>
          <p:spPr>
            <a:xfrm>
              <a:off x="6489720" y="2352600"/>
              <a:ext cx="0" cy="44460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"/>
            <p:cNvSpPr/>
            <p:nvPr/>
          </p:nvSpPr>
          <p:spPr>
            <a:xfrm>
              <a:off x="6883560" y="2352600"/>
              <a:ext cx="0" cy="44460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"/>
            <p:cNvSpPr/>
            <p:nvPr/>
          </p:nvSpPr>
          <p:spPr>
            <a:xfrm>
              <a:off x="7289640" y="2352600"/>
              <a:ext cx="0" cy="44460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2" name=""/>
          <p:cNvSpPr/>
          <p:nvPr/>
        </p:nvSpPr>
        <p:spPr>
          <a:xfrm>
            <a:off x="4940280" y="3327480"/>
            <a:ext cx="228600" cy="380880"/>
          </a:xfrm>
          <a:prstGeom prst="rect">
            <a:avLst/>
          </a:prstGeom>
          <a:noFill/>
          <a:ln w="12600">
            <a:solidFill>
              <a:srgbClr val="FC012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4686480" y="5041800"/>
            <a:ext cx="330120" cy="419040"/>
          </a:xfrm>
          <a:prstGeom prst="rect">
            <a:avLst/>
          </a:prstGeom>
          <a:noFill/>
          <a:ln w="12600">
            <a:solidFill>
              <a:srgbClr val="FC012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 txBox="1"/>
          <p:nvPr/>
        </p:nvSpPr>
        <p:spPr>
          <a:xfrm>
            <a:off x="1892160" y="324000"/>
            <a:ext cx="52228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USAGE IS PACKED-DECIMAL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558720" y="1257480"/>
            <a:ext cx="8153280" cy="202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91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Data items declared as PACKED-DECIMAL are held in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binary-coded-decimal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(BCD) form.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91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Instead of representing the value as one single binary number, each digit is held in binary form in a nibble (half a byte).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6" name=""/>
          <p:cNvGrpSpPr/>
          <p:nvPr/>
        </p:nvGrpSpPr>
        <p:grpSpPr>
          <a:xfrm>
            <a:off x="469800" y="3873600"/>
            <a:ext cx="7632720" cy="1701360"/>
            <a:chOff x="469800" y="3873600"/>
            <a:chExt cx="7632720" cy="1701360"/>
          </a:xfrm>
        </p:grpSpPr>
        <p:sp>
          <p:nvSpPr>
            <p:cNvPr id="157" name=""/>
            <p:cNvSpPr txBox="1"/>
            <p:nvPr/>
          </p:nvSpPr>
          <p:spPr>
            <a:xfrm>
              <a:off x="469800" y="3873600"/>
              <a:ext cx="7632720" cy="1701360"/>
            </a:xfrm>
            <a:prstGeom prst="rect">
              <a:avLst/>
            </a:prstGeom>
            <a:solidFill>
              <a:srgbClr val="DADADA"/>
            </a:solidFill>
            <a:ln w="25560">
              <a:solidFill>
                <a:srgbClr val="919191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  <a:tabLst>
                  <a:tab pos="380880" algn="l"/>
                  <a:tab pos="2095560" algn="l"/>
                  <a:tab pos="495288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    PIC S9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        PIC S9(2)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       PIC S9(3)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pos="380880" algn="l"/>
                  <a:tab pos="2095560" algn="l"/>
                  <a:tab pos="4952880" algn="l"/>
                </a:tabLst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  VALUE +5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       VALUE -32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    VALUE +262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pos="380880" algn="l"/>
                  <a:tab pos="2095560" algn="l"/>
                  <a:tab pos="4952880" algn="l"/>
                </a:tabLst>
              </a:pPr>
              <a:r>
                <a:rPr lang="en-US" sz="18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8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5    +</a:t>
              </a:r>
              <a:r>
                <a:rPr lang="en-US" sz="28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8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0    3    2    -</a:t>
              </a:r>
              <a:r>
                <a:rPr lang="en-US" sz="28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8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2    6    2    +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pos="380880" algn="l"/>
                  <a:tab pos="2095560" algn="l"/>
                  <a:tab pos="4952880" algn="l"/>
                </a:tabLst>
              </a:pP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pos="380880" algn="l"/>
                  <a:tab pos="2095560" algn="l"/>
                  <a:tab pos="4952880" algn="l"/>
                </a:tabLst>
              </a:pP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8" name=""/>
            <p:cNvGrpSpPr/>
            <p:nvPr/>
          </p:nvGrpSpPr>
          <p:grpSpPr>
            <a:xfrm>
              <a:off x="774720" y="4622760"/>
              <a:ext cx="7010280" cy="457200"/>
              <a:chOff x="774720" y="4622760"/>
              <a:chExt cx="7010280" cy="457200"/>
            </a:xfrm>
          </p:grpSpPr>
          <p:grpSp>
            <p:nvGrpSpPr>
              <p:cNvPr id="159" name=""/>
              <p:cNvGrpSpPr/>
              <p:nvPr/>
            </p:nvGrpSpPr>
            <p:grpSpPr>
              <a:xfrm>
                <a:off x="2514600" y="4622760"/>
                <a:ext cx="2425680" cy="457200"/>
                <a:chOff x="2514600" y="4622760"/>
                <a:chExt cx="2425680" cy="457200"/>
              </a:xfrm>
            </p:grpSpPr>
            <p:sp>
              <p:nvSpPr>
                <p:cNvPr id="160" name=""/>
                <p:cNvSpPr/>
                <p:nvPr/>
              </p:nvSpPr>
              <p:spPr>
                <a:xfrm>
                  <a:off x="2514600" y="4622760"/>
                  <a:ext cx="2425680" cy="457200"/>
                </a:xfrm>
                <a:prstGeom prst="rect">
                  <a:avLst/>
                </a:prstGeom>
                <a:noFill/>
                <a:ln w="12600">
                  <a:solidFill>
                    <a:srgbClr val="000000"/>
                  </a:solidFill>
                  <a:round/>
                </a:ln>
              </p:spPr>
              <p:txBody>
                <a:bodyPr lIns="96120" tIns="51120" rIns="96120" bIns="511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1" name=""/>
                <p:cNvSpPr/>
                <p:nvPr/>
              </p:nvSpPr>
              <p:spPr>
                <a:xfrm>
                  <a:off x="3086280" y="4635360"/>
                  <a:ext cx="0" cy="444600"/>
                </a:xfrm>
                <a:prstGeom prst="line">
                  <a:avLst/>
                </a:prstGeom>
                <a:ln w="126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6120" tIns="51120" rIns="96120" bIns="511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2" name=""/>
                <p:cNvSpPr/>
                <p:nvPr/>
              </p:nvSpPr>
              <p:spPr>
                <a:xfrm>
                  <a:off x="3683160" y="4635360"/>
                  <a:ext cx="0" cy="444600"/>
                </a:xfrm>
                <a:prstGeom prst="line">
                  <a:avLst/>
                </a:prstGeom>
                <a:ln w="126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6120" tIns="51120" rIns="96120" bIns="511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3" name=""/>
                <p:cNvSpPr/>
                <p:nvPr/>
              </p:nvSpPr>
              <p:spPr>
                <a:xfrm>
                  <a:off x="4267080" y="4622760"/>
                  <a:ext cx="0" cy="444600"/>
                </a:xfrm>
                <a:prstGeom prst="line">
                  <a:avLst/>
                </a:prstGeom>
                <a:ln w="126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6120" tIns="51120" rIns="96120" bIns="511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64" name=""/>
              <p:cNvGrpSpPr/>
              <p:nvPr/>
            </p:nvGrpSpPr>
            <p:grpSpPr>
              <a:xfrm>
                <a:off x="5359320" y="4622760"/>
                <a:ext cx="2425680" cy="457200"/>
                <a:chOff x="5359320" y="4622760"/>
                <a:chExt cx="2425680" cy="457200"/>
              </a:xfrm>
            </p:grpSpPr>
            <p:sp>
              <p:nvSpPr>
                <p:cNvPr id="165" name=""/>
                <p:cNvSpPr/>
                <p:nvPr/>
              </p:nvSpPr>
              <p:spPr>
                <a:xfrm>
                  <a:off x="5359320" y="4622760"/>
                  <a:ext cx="2425680" cy="457200"/>
                </a:xfrm>
                <a:prstGeom prst="rect">
                  <a:avLst/>
                </a:prstGeom>
                <a:noFill/>
                <a:ln w="12600">
                  <a:solidFill>
                    <a:srgbClr val="000000"/>
                  </a:solidFill>
                  <a:round/>
                </a:ln>
              </p:spPr>
              <p:txBody>
                <a:bodyPr lIns="96120" tIns="51120" rIns="96120" bIns="511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6" name=""/>
                <p:cNvSpPr/>
                <p:nvPr/>
              </p:nvSpPr>
              <p:spPr>
                <a:xfrm>
                  <a:off x="5931000" y="4635360"/>
                  <a:ext cx="0" cy="444600"/>
                </a:xfrm>
                <a:prstGeom prst="line">
                  <a:avLst/>
                </a:prstGeom>
                <a:ln w="126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6120" tIns="51120" rIns="96120" bIns="511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7" name=""/>
                <p:cNvSpPr/>
                <p:nvPr/>
              </p:nvSpPr>
              <p:spPr>
                <a:xfrm>
                  <a:off x="6527880" y="4635360"/>
                  <a:ext cx="0" cy="444600"/>
                </a:xfrm>
                <a:prstGeom prst="line">
                  <a:avLst/>
                </a:prstGeom>
                <a:ln w="126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6120" tIns="51120" rIns="96120" bIns="511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8" name=""/>
                <p:cNvSpPr/>
                <p:nvPr/>
              </p:nvSpPr>
              <p:spPr>
                <a:xfrm>
                  <a:off x="7112160" y="4622760"/>
                  <a:ext cx="0" cy="444600"/>
                </a:xfrm>
                <a:prstGeom prst="line">
                  <a:avLst/>
                </a:prstGeom>
                <a:ln w="126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6120" tIns="51120" rIns="96120" bIns="511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69" name=""/>
              <p:cNvGrpSpPr/>
              <p:nvPr/>
            </p:nvGrpSpPr>
            <p:grpSpPr>
              <a:xfrm>
                <a:off x="774720" y="4622760"/>
                <a:ext cx="1181160" cy="457200"/>
                <a:chOff x="774720" y="4622760"/>
                <a:chExt cx="1181160" cy="457200"/>
              </a:xfrm>
            </p:grpSpPr>
            <p:sp>
              <p:nvSpPr>
                <p:cNvPr id="170" name=""/>
                <p:cNvSpPr/>
                <p:nvPr/>
              </p:nvSpPr>
              <p:spPr>
                <a:xfrm>
                  <a:off x="774720" y="4622760"/>
                  <a:ext cx="1181160" cy="457200"/>
                </a:xfrm>
                <a:prstGeom prst="rect">
                  <a:avLst/>
                </a:prstGeom>
                <a:noFill/>
                <a:ln w="12600">
                  <a:solidFill>
                    <a:srgbClr val="000000"/>
                  </a:solidFill>
                  <a:round/>
                </a:ln>
              </p:spPr>
              <p:txBody>
                <a:bodyPr lIns="96120" tIns="51120" rIns="96120" bIns="511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1" name=""/>
                <p:cNvSpPr/>
                <p:nvPr/>
              </p:nvSpPr>
              <p:spPr>
                <a:xfrm>
                  <a:off x="1346040" y="4635360"/>
                  <a:ext cx="0" cy="444600"/>
                </a:xfrm>
                <a:prstGeom prst="line">
                  <a:avLst/>
                </a:prstGeom>
                <a:ln w="126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6120" tIns="51120" rIns="96120" bIns="511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 txBox="1"/>
          <p:nvPr/>
        </p:nvSpPr>
        <p:spPr>
          <a:xfrm>
            <a:off x="888840" y="3746520"/>
            <a:ext cx="7746840" cy="26161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2387520" algn="l"/>
              </a:tabLst>
            </a:pP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01 ThreeBytes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PIC XXX  VALUE "DOG".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2387520" algn="l"/>
              </a:tabLst>
            </a:pP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01 TwoBytes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PIC 9(4)   COMP.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238752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238752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2387520" algn="l"/>
              </a:tabLst>
            </a:pPr>
            <a:r>
              <a:rPr lang="en-US" sz="32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              D   O   G  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Number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4025880" y="5092560"/>
            <a:ext cx="1231920" cy="469800"/>
          </a:xfrm>
          <a:prstGeom prst="rect">
            <a:avLst/>
          </a:prstGeom>
          <a:noFill/>
          <a:ln w="25560">
            <a:solidFill>
              <a:srgbClr val="FC0128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1790640" y="146160"/>
            <a:ext cx="50245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The SYNCHRONIZED Clause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380880" y="838080"/>
            <a:ext cx="8153280" cy="261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S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YNCHRONIZED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clause explicitly aligns C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OMP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and I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NDEX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data items along their natural W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ORD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boundaries.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If there is no S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YNCHRONIZED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clause the data items are aligned on byte boundaries.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This clause is used to optimise speed of processing - but it does so at the expense of storage.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2666880" y="5041800"/>
            <a:ext cx="3924360" cy="571680"/>
          </a:xfrm>
          <a:prstGeom prst="rect">
            <a:avLst/>
          </a:prstGeom>
          <a:noFill/>
          <a:ln w="25560">
            <a:solidFill>
              <a:srgbClr val="00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3314880" y="5067360"/>
            <a:ext cx="0" cy="5335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3987720" y="505476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4635360" y="505476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5956200" y="5067360"/>
            <a:ext cx="0" cy="5335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5283360" y="5054760"/>
            <a:ext cx="0" cy="53316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2730600" y="5092560"/>
            <a:ext cx="1219320" cy="469800"/>
          </a:xfrm>
          <a:prstGeom prst="rect">
            <a:avLst/>
          </a:prstGeom>
          <a:noFill/>
          <a:ln w="25560">
            <a:solidFill>
              <a:srgbClr val="FC0128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5308560" y="5092560"/>
            <a:ext cx="1231920" cy="469800"/>
          </a:xfrm>
          <a:prstGeom prst="rect">
            <a:avLst/>
          </a:prstGeom>
          <a:noFill/>
          <a:ln w="25560">
            <a:solidFill>
              <a:srgbClr val="FC0128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2692440" y="5621400"/>
            <a:ext cx="36655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Word1          Word2          Word3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"/>
          <p:cNvSpPr txBox="1"/>
          <p:nvPr/>
        </p:nvSpPr>
        <p:spPr>
          <a:xfrm>
            <a:off x="888840" y="3746520"/>
            <a:ext cx="7746840" cy="26161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2387520" algn="l"/>
              </a:tabLst>
            </a:pP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01 ThreeBytes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PIC XXX  VALUE "DOG".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2387520" algn="l"/>
              </a:tabLst>
            </a:pP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01 TwoBytes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PIC 9(4)   COMP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SYNC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238752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238752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2387520" algn="l"/>
              </a:tabLst>
            </a:pPr>
            <a:r>
              <a:rPr lang="en-US" sz="32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              D   O   G 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32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Number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4025880" y="5092560"/>
            <a:ext cx="1231920" cy="469800"/>
          </a:xfrm>
          <a:prstGeom prst="rect">
            <a:avLst/>
          </a:prstGeom>
          <a:noFill/>
          <a:ln w="25560">
            <a:solidFill>
              <a:srgbClr val="FC0128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1790640" y="146160"/>
            <a:ext cx="50245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The SYNCHRONIZED Clause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914400" y="1155600"/>
            <a:ext cx="8153280" cy="140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720"/>
              </a:spcBef>
              <a:tabLst>
                <a:tab pos="457200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COMP SYNC (1 TO 4 Digits)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= 2 Byte boundary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COMP SYNC (5 TO 9 Digits)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= 4 Byte boundary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COMP SYNC (10 TO 18 Digits)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= 8 Byte boundary 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INDEX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= 4 Byte boundary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2666880" y="5041800"/>
            <a:ext cx="3924360" cy="571680"/>
          </a:xfrm>
          <a:prstGeom prst="rect">
            <a:avLst/>
          </a:prstGeom>
          <a:noFill/>
          <a:ln w="25560">
            <a:solidFill>
              <a:srgbClr val="00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3314880" y="5067360"/>
            <a:ext cx="0" cy="5335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3987720" y="505476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4635360" y="505476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5956200" y="5067360"/>
            <a:ext cx="0" cy="5335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5283360" y="5054760"/>
            <a:ext cx="0" cy="53316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2730600" y="5092560"/>
            <a:ext cx="1219320" cy="469800"/>
          </a:xfrm>
          <a:prstGeom prst="rect">
            <a:avLst/>
          </a:prstGeom>
          <a:noFill/>
          <a:ln w="25560">
            <a:solidFill>
              <a:srgbClr val="FC0128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5308560" y="5092560"/>
            <a:ext cx="1231920" cy="469800"/>
          </a:xfrm>
          <a:prstGeom prst="rect">
            <a:avLst/>
          </a:prstGeom>
          <a:noFill/>
          <a:ln w="25560">
            <a:solidFill>
              <a:srgbClr val="FC0128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2692440" y="5621400"/>
            <a:ext cx="36655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Word1          Word2          Word3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"/>
          <p:cNvSpPr txBox="1"/>
          <p:nvPr/>
        </p:nvSpPr>
        <p:spPr>
          <a:xfrm>
            <a:off x="190440" y="3479760"/>
            <a:ext cx="8801280" cy="26161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2387520" algn="l"/>
              </a:tabLst>
            </a:pP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01 FiveBytes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PIC XXX  VALUE "FROGS".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2387520" algn="l"/>
              </a:tabLst>
            </a:pP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01 FourBytes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PIC S9(5)   COMP.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238752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238752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2387520" algn="l"/>
              </a:tabLst>
            </a:pPr>
            <a:r>
              <a:rPr lang="en-US" sz="32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  F   R   O   G   S   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NumberNumber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1790640" y="146160"/>
            <a:ext cx="50245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The SYNCHRONIZED Clause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914400" y="1155600"/>
            <a:ext cx="8153280" cy="140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720"/>
              </a:spcBef>
              <a:tabLst>
                <a:tab pos="457200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COMP SYNC (1 TO 4 Digits)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= 2 Byte boundary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COMP SYNC (5 TO 9 Digits)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= 4 Byte boundary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COMP SYNC (10 TO 18 Digits)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= 8 Byte boundary 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INDEX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= 4 Byte boundary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546120" y="4991040"/>
            <a:ext cx="7785000" cy="571680"/>
          </a:xfrm>
          <a:prstGeom prst="rect">
            <a:avLst/>
          </a:prstGeom>
          <a:noFill/>
          <a:ln w="25560">
            <a:solidFill>
              <a:srgbClr val="00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1193760" y="501660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1866960" y="5003640"/>
            <a:ext cx="0" cy="53352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2514600" y="5003640"/>
            <a:ext cx="0" cy="5335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3835440" y="501660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3162240" y="5003640"/>
            <a:ext cx="0" cy="53352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571680" y="5570640"/>
            <a:ext cx="77169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Word1          Word2          Word3         Word4           Word5         Word6 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4444920" y="5003640"/>
            <a:ext cx="0" cy="53352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5067360" y="501660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5740560" y="5003640"/>
            <a:ext cx="0" cy="53352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6426360" y="501660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7035840" y="5003640"/>
            <a:ext cx="0" cy="53352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7683480" y="5003640"/>
            <a:ext cx="0" cy="5335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609480" y="5041800"/>
            <a:ext cx="2514600" cy="469800"/>
          </a:xfrm>
          <a:prstGeom prst="rect">
            <a:avLst/>
          </a:prstGeom>
          <a:noFill/>
          <a:ln w="25560">
            <a:solidFill>
              <a:srgbClr val="FC0128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3200400" y="5041800"/>
            <a:ext cx="2514600" cy="469800"/>
          </a:xfrm>
          <a:prstGeom prst="rect">
            <a:avLst/>
          </a:prstGeom>
          <a:noFill/>
          <a:ln w="25560">
            <a:solidFill>
              <a:srgbClr val="FC0128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5765760" y="5041800"/>
            <a:ext cx="2514600" cy="469800"/>
          </a:xfrm>
          <a:prstGeom prst="rect">
            <a:avLst/>
          </a:prstGeom>
          <a:noFill/>
          <a:ln w="25560">
            <a:solidFill>
              <a:srgbClr val="FC0128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"/>
          <p:cNvSpPr txBox="1"/>
          <p:nvPr/>
        </p:nvSpPr>
        <p:spPr>
          <a:xfrm>
            <a:off x="190440" y="3479760"/>
            <a:ext cx="8801280" cy="26161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2387520" algn="l"/>
              </a:tabLst>
            </a:pP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01 FiveBytes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PIC XXX  VALUE "FROGS".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2387520" algn="l"/>
              </a:tabLst>
            </a:pP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01 FourBytes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PIC S9(5)   COMP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SYNC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238752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238752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2387520" algn="l"/>
              </a:tabLst>
            </a:pPr>
            <a:r>
              <a:rPr lang="en-US" sz="32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  F   R   O   G   S                    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NumberNumber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1790640" y="146160"/>
            <a:ext cx="50245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The SYNCHRONIZED Clause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914400" y="1155600"/>
            <a:ext cx="8153280" cy="140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720"/>
              </a:spcBef>
              <a:tabLst>
                <a:tab pos="457200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COMP SYNC (1 TO 4 Digits)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= 2 Byte boundary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COMP SYNC (5 TO 9 Digits)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= 4 Byte boundary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COMP SYNC (10 TO 18 Digits)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= 8 Byte boundary 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INDEX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= 4 Byte boundary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546120" y="4991040"/>
            <a:ext cx="7785000" cy="571680"/>
          </a:xfrm>
          <a:prstGeom prst="rect">
            <a:avLst/>
          </a:prstGeom>
          <a:noFill/>
          <a:ln w="25560">
            <a:solidFill>
              <a:srgbClr val="00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1193760" y="501660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1866960" y="5003640"/>
            <a:ext cx="0" cy="53352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2514600" y="5003640"/>
            <a:ext cx="0" cy="5335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3835440" y="501660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3162240" y="5003640"/>
            <a:ext cx="0" cy="53352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571680" y="5570640"/>
            <a:ext cx="77169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Word1          Word2          Word3         Word4           Word5         Word6 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4444920" y="5003640"/>
            <a:ext cx="0" cy="53352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5067360" y="501660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5740560" y="5003640"/>
            <a:ext cx="0" cy="53352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6426360" y="501660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7035840" y="5003640"/>
            <a:ext cx="0" cy="53352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7683480" y="5003640"/>
            <a:ext cx="0" cy="5335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609480" y="5041800"/>
            <a:ext cx="2514600" cy="469800"/>
          </a:xfrm>
          <a:prstGeom prst="rect">
            <a:avLst/>
          </a:prstGeom>
          <a:noFill/>
          <a:ln w="25560">
            <a:solidFill>
              <a:srgbClr val="FC0128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3200400" y="5041800"/>
            <a:ext cx="2514600" cy="469800"/>
          </a:xfrm>
          <a:prstGeom prst="rect">
            <a:avLst/>
          </a:prstGeom>
          <a:noFill/>
          <a:ln w="25560">
            <a:solidFill>
              <a:srgbClr val="FC0128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5765760" y="5041800"/>
            <a:ext cx="2514600" cy="469800"/>
          </a:xfrm>
          <a:prstGeom prst="rect">
            <a:avLst/>
          </a:prstGeom>
          <a:noFill/>
          <a:ln w="25560">
            <a:solidFill>
              <a:srgbClr val="FC0128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7094520" y="3735360"/>
            <a:ext cx="1608120" cy="568440"/>
          </a:xfrm>
          <a:prstGeom prst="rect">
            <a:avLst/>
          </a:prstGeom>
          <a:solidFill>
            <a:srgbClr val="DADADA"/>
          </a:solidFill>
          <a:ln w="25560">
            <a:solidFill>
              <a:srgbClr val="676767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Aligns along a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 byte boundary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7454880" y="4241880"/>
            <a:ext cx="572040" cy="940320"/>
          </a:xfrm>
          <a:custGeom>
            <a:avLst/>
            <a:gdLst/>
            <a:ahLst/>
            <a:rect l="0" t="0" r="r" b="b"/>
            <a:pathLst>
              <a:path fill="none" w="1589" h="2612">
                <a:moveTo>
                  <a:pt x="0" y="2612"/>
                </a:moveTo>
                <a:lnTo>
                  <a:pt x="0" y="2612"/>
                </a:lnTo>
                <a:cubicBezTo>
                  <a:pt x="279" y="2612"/>
                  <a:pt x="553" y="2491"/>
                  <a:pt x="795" y="2262"/>
                </a:cubicBezTo>
                <a:cubicBezTo>
                  <a:pt x="1036" y="2033"/>
                  <a:pt x="1237" y="1703"/>
                  <a:pt x="1376" y="1306"/>
                </a:cubicBezTo>
                <a:cubicBezTo>
                  <a:pt x="1516" y="909"/>
                  <a:pt x="1589" y="459"/>
                  <a:pt x="1589" y="0"/>
                </a:cubicBezTo>
              </a:path>
            </a:pathLst>
          </a:custGeom>
          <a:ln w="12600">
            <a:solidFill>
              <a:srgbClr val="FC0128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USAGE clause</dc:title>
</cp:coreProperties>
</file>