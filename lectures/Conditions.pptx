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21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1.wmf" ContentType="image/x-wmf"/>
  <Override PartName="/ppt/media/image2.wmf" ContentType="image/x-wmf"/>
  <Override PartName="/ppt/media/image3.wmf" ContentType="image/x-wmf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media/image8.wmf" ContentType="image/x-wmf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4.xml" ContentType="application/vnd.openxmlformats-officedocument.presentationml.slide+xml"/>
  <Override PartName="/ppt/slides/slide7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6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notesSlides/notesSlide3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FB298E68-FAF9-4AD6-8B29-1EA2E10EAA0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sldImg"/>
          </p:nvPr>
        </p:nvSpPr>
        <p:spPr>
          <a:xfrm>
            <a:off x="1371600" y="768240"/>
            <a:ext cx="5029200" cy="3767400"/>
          </a:xfrm>
          <a:prstGeom prst="rect">
            <a:avLst/>
          </a:prstGeom>
          <a:ln w="0">
            <a:noFill/>
          </a:ln>
        </p:spPr>
      </p:sp>
      <p:sp>
        <p:nvSpPr>
          <p:cNvPr id="204" name="PlaceHolder 2"/>
          <p:cNvSpPr>
            <a:spLocks noGrp="1"/>
          </p:cNvSpPr>
          <p:nvPr>
            <p:ph type="body"/>
          </p:nvPr>
        </p:nvSpPr>
        <p:spPr>
          <a:xfrm>
            <a:off x="777240" y="4773240"/>
            <a:ext cx="6217920" cy="452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indent="0" algn="l">
              <a:lnSpc>
                <a:spcPct val="90000"/>
              </a:lnSpc>
              <a:spcBef>
                <a:spcPts val="961"/>
              </a:spcBef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NOTE :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90000"/>
              </a:lnSpc>
              <a:spcBef>
                <a:spcPts val="961"/>
              </a:spcBef>
              <a:buNone/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Notice that the Modula-2 type not equals &lt;&gt; is not permitted.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M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M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0">
            <a:gsLst>
              <a:gs pos="0">
                <a:srgbClr val="114FFB"/>
              </a:gs>
              <a:gs pos="100000">
                <a:srgbClr val="FFFFFF"/>
              </a:gs>
            </a:gsLst>
            <a:path path="rect">
              <a:fillToRect l="0" t="0" r="100000" b="10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3" name=""/>
          <p:cNvGrpSpPr/>
          <p:nvPr/>
        </p:nvGrpSpPr>
        <p:grpSpPr>
          <a:xfrm>
            <a:off x="6629400" y="4343400"/>
            <a:ext cx="2286000" cy="2286000"/>
            <a:chOff x="6629400" y="4343400"/>
            <a:chExt cx="2286000" cy="2286000"/>
          </a:xfrm>
        </p:grpSpPr>
        <p:sp>
          <p:nvSpPr>
            <p:cNvPr id="4" name=""/>
            <p:cNvSpPr/>
            <p:nvPr/>
          </p:nvSpPr>
          <p:spPr>
            <a:xfrm>
              <a:off x="8763120" y="6477120"/>
              <a:ext cx="152280" cy="152280"/>
            </a:xfrm>
            <a:prstGeom prst="rect">
              <a:avLst/>
            </a:prstGeom>
            <a:solidFill>
              <a:srgbClr val="FF0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8458200" y="647712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8153280" y="647712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7848720" y="64771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"/>
            <p:cNvSpPr/>
            <p:nvPr/>
          </p:nvSpPr>
          <p:spPr>
            <a:xfrm>
              <a:off x="7543800" y="647712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7238880" y="647712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"/>
            <p:cNvSpPr/>
            <p:nvPr/>
          </p:nvSpPr>
          <p:spPr>
            <a:xfrm>
              <a:off x="6934320" y="64771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"/>
            <p:cNvSpPr/>
            <p:nvPr/>
          </p:nvSpPr>
          <p:spPr>
            <a:xfrm>
              <a:off x="6629400" y="647712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"/>
            <p:cNvSpPr/>
            <p:nvPr/>
          </p:nvSpPr>
          <p:spPr>
            <a:xfrm>
              <a:off x="8763120" y="6172200"/>
              <a:ext cx="152280" cy="152280"/>
            </a:xfrm>
            <a:prstGeom prst="rect">
              <a:avLst/>
            </a:prstGeom>
            <a:solidFill>
              <a:srgbClr val="FF80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"/>
            <p:cNvSpPr/>
            <p:nvPr/>
          </p:nvSpPr>
          <p:spPr>
            <a:xfrm>
              <a:off x="8763120" y="5867280"/>
              <a:ext cx="152280" cy="152280"/>
            </a:xfrm>
            <a:prstGeom prst="rect">
              <a:avLst/>
            </a:prstGeom>
            <a:solidFill>
              <a:srgbClr val="FF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"/>
            <p:cNvSpPr/>
            <p:nvPr/>
          </p:nvSpPr>
          <p:spPr>
            <a:xfrm>
              <a:off x="8763120" y="5562720"/>
              <a:ext cx="152280" cy="152280"/>
            </a:xfrm>
            <a:prstGeom prst="rect">
              <a:avLst/>
            </a:prstGeom>
            <a:solidFill>
              <a:srgbClr val="00FF0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8763120" y="5257800"/>
              <a:ext cx="152280" cy="152280"/>
            </a:xfrm>
            <a:prstGeom prst="rect">
              <a:avLst/>
            </a:prstGeom>
            <a:solidFill>
              <a:srgbClr val="00FF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8763120" y="4952880"/>
              <a:ext cx="152280" cy="152280"/>
            </a:xfrm>
            <a:prstGeom prst="rect">
              <a:avLst/>
            </a:prstGeom>
            <a:solidFill>
              <a:srgbClr val="00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8763120" y="4648320"/>
              <a:ext cx="152280" cy="152280"/>
            </a:xfrm>
            <a:prstGeom prst="rect">
              <a:avLst/>
            </a:prstGeom>
            <a:solidFill>
              <a:srgbClr val="FF00FF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8763120" y="4343400"/>
              <a:ext cx="152280" cy="152280"/>
            </a:xfrm>
            <a:prstGeom prst="rect">
              <a:avLst/>
            </a:prstGeom>
            <a:solidFill>
              <a:srgbClr val="A000A0"/>
            </a:solidFill>
            <a:ln w="0">
              <a:noFill/>
            </a:ln>
          </p:spPr>
          <p:txBody>
            <a:bodyPr lIns="90000" tIns="45000" rIns="90000" bIns="45000" anchor="t">
              <a:noAutofit/>
            </a:bodyPr>
            <a:p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wmf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wmf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wmf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wmf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6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8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8.wmf"/><Relationship Id="rId2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"/>
          <p:cNvSpPr/>
          <p:nvPr/>
        </p:nvSpPr>
        <p:spPr>
          <a:xfrm>
            <a:off x="0" y="0"/>
            <a:ext cx="9131400" cy="6845400"/>
          </a:xfrm>
          <a:prstGeom prst="rect">
            <a:avLst/>
          </a:prstGeom>
          <a:gradFill rotWithShape="0">
            <a:gsLst>
              <a:gs pos="0">
                <a:srgbClr val="063DE8"/>
              </a:gs>
              <a:gs pos="100000">
                <a:srgbClr val="FFFFFF"/>
              </a:gs>
            </a:gsLst>
            <a:path path="rect">
              <a:fillToRect l="50000" t="50000" r="50000" b="50000"/>
            </a:path>
          </a:gradFill>
          <a:ln w="0">
            <a:noFill/>
          </a:ln>
        </p:spPr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3166920" y="3186000"/>
            <a:ext cx="2825640" cy="585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36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Conditions.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 txBox="1"/>
          <p:nvPr/>
        </p:nvSpPr>
        <p:spPr>
          <a:xfrm>
            <a:off x="3219480" y="219240"/>
            <a:ext cx="18637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IF Syntax.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"/>
          <p:cNvPicPr/>
          <p:nvPr/>
        </p:nvPicPr>
        <p:blipFill>
          <a:blip r:embed="rId1"/>
          <a:stretch/>
        </p:blipFill>
        <p:spPr>
          <a:xfrm>
            <a:off x="1521000" y="1084320"/>
            <a:ext cx="5408640" cy="1389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"/>
          <p:cNvSpPr txBox="1"/>
          <p:nvPr/>
        </p:nvSpPr>
        <p:spPr>
          <a:xfrm>
            <a:off x="2255760" y="3544920"/>
            <a:ext cx="3757680" cy="263520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Simple Conditions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560" lvl="1" indent="-380880">
              <a:lnSpc>
                <a:spcPct val="90000"/>
              </a:lnSpc>
              <a:spcBef>
                <a:spcPts val="720"/>
              </a:spcBef>
              <a:buClr>
                <a:srgbClr val="00AE00"/>
              </a:buClr>
              <a:buSzPct val="65000"/>
              <a:buFont typeface="Monotype Sorts"/>
              <a:buChar char="_x0000_"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Relation Conditions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560" lvl="1" indent="-380880">
              <a:lnSpc>
                <a:spcPct val="90000"/>
              </a:lnSpc>
              <a:spcBef>
                <a:spcPts val="720"/>
              </a:spcBef>
              <a:buClr>
                <a:srgbClr val="00AE00"/>
              </a:buClr>
              <a:buSzPct val="65000"/>
              <a:buFont typeface="Monotype Sorts"/>
              <a:buChar char="_x0000_"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Class Conditions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52560" lvl="1" indent="-380880">
              <a:lnSpc>
                <a:spcPct val="90000"/>
              </a:lnSpc>
              <a:spcBef>
                <a:spcPts val="720"/>
              </a:spcBef>
              <a:buClr>
                <a:srgbClr val="00AE00"/>
              </a:buClr>
              <a:buSzPct val="65000"/>
              <a:buFont typeface="Monotype Sorts"/>
              <a:buChar char="_x0000_"/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Sign Conditions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Complex Conditions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Condition Names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2665440" y="3032280"/>
            <a:ext cx="3071880" cy="5014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  <a:spcBef>
                <a:spcPts val="720"/>
              </a:spcBef>
            </a:pP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C</a:t>
            </a:r>
            <a:r>
              <a:rPr lang="en-US" sz="24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ONDITION </a:t>
            </a: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T</a:t>
            </a:r>
            <a:r>
              <a:rPr lang="en-US" sz="24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YPES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 txBox="1"/>
          <p:nvPr/>
        </p:nvSpPr>
        <p:spPr>
          <a:xfrm>
            <a:off x="2819520" y="133200"/>
            <a:ext cx="35416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Relation Conditions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" name=""/>
          <p:cNvPicPr/>
          <p:nvPr/>
        </p:nvPicPr>
        <p:blipFill>
          <a:blip r:embed="rId1"/>
          <a:stretch/>
        </p:blipFill>
        <p:spPr>
          <a:xfrm>
            <a:off x="316080" y="1406520"/>
            <a:ext cx="8461440" cy="3535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 txBox="1"/>
          <p:nvPr/>
        </p:nvSpPr>
        <p:spPr>
          <a:xfrm>
            <a:off x="2390760" y="190440"/>
            <a:ext cx="318780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Class Conditions.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409680" y="3549600"/>
            <a:ext cx="7891560" cy="195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Although COBOL data items are not ‘typed’ they do fall into some broad categories, or classes, such a numeric or alphanumeric, etc.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 Class Condition determines whether the value of data item is a member of one these classes.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" name=""/>
          <p:cNvPicPr/>
          <p:nvPr/>
        </p:nvPicPr>
        <p:blipFill>
          <a:blip r:embed="rId1"/>
          <a:stretch/>
        </p:blipFill>
        <p:spPr>
          <a:xfrm>
            <a:off x="1778040" y="1139760"/>
            <a:ext cx="4836960" cy="1731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"/>
          <p:cNvSpPr txBox="1"/>
          <p:nvPr/>
        </p:nvSpPr>
        <p:spPr>
          <a:xfrm>
            <a:off x="2819520" y="133200"/>
            <a:ext cx="29098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Sign Conditions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309600" y="3295800"/>
            <a:ext cx="8053560" cy="203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sign condition determines whether or not the value of an arithmetic expression is less than, greater than or equal to zero.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Sign conditions are just another way of writing some of the Relational conditions.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"/>
          <p:cNvPicPr/>
          <p:nvPr/>
        </p:nvPicPr>
        <p:blipFill>
          <a:blip r:embed="rId1"/>
          <a:stretch/>
        </p:blipFill>
        <p:spPr>
          <a:xfrm>
            <a:off x="2198520" y="1265400"/>
            <a:ext cx="3948120" cy="1165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"/>
          <p:cNvSpPr txBox="1"/>
          <p:nvPr/>
        </p:nvSpPr>
        <p:spPr>
          <a:xfrm>
            <a:off x="2219400" y="176040"/>
            <a:ext cx="36813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Complex conditions.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237960" y="1752480"/>
            <a:ext cx="8405640" cy="4791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Programs often require conditions which are more complex than single value testing or determining a data class.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Like all other programming languages COBOL allows simple conditions to be combined using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OR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and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AND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to form composite conditions.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Like other conditions, a complex condition evaluates to true or false.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 complex condition is an expression which is evaluated from left to right unless the order of evaluation is changed by the precedence rules or bracketing.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" name=""/>
          <p:cNvPicPr/>
          <p:nvPr/>
        </p:nvPicPr>
        <p:blipFill>
          <a:blip r:embed="rId1"/>
          <a:stretch/>
        </p:blipFill>
        <p:spPr>
          <a:xfrm>
            <a:off x="2208240" y="844560"/>
            <a:ext cx="3862440" cy="797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 txBox="1"/>
          <p:nvPr/>
        </p:nvSpPr>
        <p:spPr>
          <a:xfrm>
            <a:off x="290520" y="3009960"/>
            <a:ext cx="8429760" cy="3494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Just like arithmetic expressions, complex conditions are evaluated using precedence rules and the order of evaluation may be changed by bracketing.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Examples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>
              <a:lnSpc>
                <a:spcPct val="90000"/>
              </a:lnSpc>
              <a:spcBef>
                <a:spcPts val="720"/>
              </a:spcBef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IF   Row &gt; 0   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AND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Row &lt; 26   THEN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DISPLAY “On Screen”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END-IF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571680">
              <a:lnSpc>
                <a:spcPct val="90000"/>
              </a:lnSpc>
              <a:spcBef>
                <a:spcPts val="720"/>
              </a:spcBef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IF   VarA &gt; VarC   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OR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VarC = VarD   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OR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VarA 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NOT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= VarF  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DISPLAY “Done”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END-IF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1190520" y="4654440"/>
            <a:ext cx="7067520" cy="1300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</a:pP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(              )           (                ) </a:t>
            </a:r>
            <a:br>
              <a:rPr sz="1800"/>
            </a:br>
            <a:br>
              <a:rPr sz="1800"/>
            </a:b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</a:pP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(                      )       (                      )         (                              )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328680" y="228600"/>
            <a:ext cx="82659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Complex conditions have precedence rules too.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2405160" y="901800"/>
            <a:ext cx="3602160" cy="1852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Aft>
                <a:spcPts val="839"/>
              </a:spcAft>
              <a:tabLst>
                <a:tab pos="571680" algn="l"/>
                <a:tab pos="1333440" algn="l"/>
                <a:tab pos="1714680" algn="l"/>
                <a:tab pos="3429000" algn="l"/>
              </a:tabLst>
            </a:pP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Precedence Rules.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39"/>
              </a:spcAft>
              <a:tabLst>
                <a:tab pos="571680" algn="l"/>
                <a:tab pos="1333440" algn="l"/>
                <a:tab pos="1714680" algn="l"/>
                <a:tab pos="3429000" algn="l"/>
              </a:tabLst>
            </a:pPr>
            <a:r>
              <a:rPr lang="en-US" sz="20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1.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NOT</a:t>
            </a:r>
            <a:r>
              <a:rPr lang="en-US" sz="20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=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**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39"/>
              </a:spcAft>
              <a:tabLst>
                <a:tab pos="571680" algn="l"/>
                <a:tab pos="1333440" algn="l"/>
                <a:tab pos="1714680" algn="l"/>
                <a:tab pos="3429000" algn="l"/>
              </a:tabLst>
            </a:pPr>
            <a:r>
              <a:rPr lang="en-US" sz="20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2.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AND</a:t>
            </a:r>
            <a:r>
              <a:rPr lang="en-US" sz="20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=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* or /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839"/>
              </a:spcAft>
              <a:tabLst>
                <a:tab pos="571680" algn="l"/>
                <a:tab pos="1333440" algn="l"/>
                <a:tab pos="1714680" algn="l"/>
                <a:tab pos="3429000" algn="l"/>
              </a:tabLst>
            </a:pPr>
            <a:r>
              <a:rPr lang="en-US" sz="20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3.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37C03"/>
                </a:solidFill>
                <a:effectLst/>
                <a:uFillTx/>
                <a:latin typeface="Arial"/>
                <a:ea typeface="Arial"/>
              </a:rPr>
              <a:t>OR</a:t>
            </a: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=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+ or -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"/>
          <p:cNvSpPr txBox="1"/>
          <p:nvPr/>
        </p:nvSpPr>
        <p:spPr>
          <a:xfrm>
            <a:off x="2819520" y="133200"/>
            <a:ext cx="310824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Implied Subjects.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200160" y="752400"/>
            <a:ext cx="8458200" cy="582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  <a:tabLst>
                <a:tab pos="95256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When a data item is involved in a relation condition with each of a number of other items it can be tedious to have to repeat the data item for each condition.  For example,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>
              <a:lnSpc>
                <a:spcPct val="95000"/>
              </a:lnSpc>
              <a:tabLst>
                <a:tab pos="47628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IF TotalAmt &gt; 10000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 AND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TotalAmt &lt; 50000 THEN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>
              <a:lnSpc>
                <a:spcPct val="95000"/>
              </a:lnSpc>
              <a:tabLst>
                <a:tab pos="47628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IF Grade = “A” 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OR 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Grade = “B+” 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OR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GRADE = “B” THEN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>
              <a:lnSpc>
                <a:spcPct val="95000"/>
              </a:lnSpc>
              <a:tabLst>
                <a:tab pos="47628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IF VarA &gt; VarB 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AND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VarA &gt; VarC 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AND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VarA &gt; VarD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>
              <a:lnSpc>
                <a:spcPct val="95000"/>
              </a:lnSpc>
              <a:tabLst>
                <a:tab pos="47628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DISPLAY “VarA is the Greatest”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END-IF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  <a:tabLst>
                <a:tab pos="95256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In these situations COBOL provides an abbreviation mechanism called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implied subjects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.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  <a:tabLst>
                <a:tab pos="95256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statements above may be re-written using implied subjects as;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>
              <a:lnSpc>
                <a:spcPct val="95000"/>
              </a:lnSpc>
              <a:tabLst>
                <a:tab pos="47628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IF TotalAmt &gt; 10000 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AND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&lt; 50000 THEN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>
              <a:lnSpc>
                <a:spcPct val="95000"/>
              </a:lnSpc>
              <a:tabLst>
                <a:tab pos="47628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IF Grade=“A” 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OR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“B+” 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OR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“B” THEN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>
              <a:lnSpc>
                <a:spcPct val="95000"/>
              </a:lnSpc>
              <a:tabLst>
                <a:tab pos="47628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IF VarA &gt; VarB 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AND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VarC 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AND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VarD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57160">
              <a:lnSpc>
                <a:spcPct val="95000"/>
              </a:lnSpc>
              <a:tabLst>
                <a:tab pos="47628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DISPLAY “VarA is the Greatest”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END-IF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6581880" y="5072040"/>
            <a:ext cx="2154240" cy="12160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Implied Subjects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TotalAmt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Grade =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VarA &gt;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"/>
          <p:cNvSpPr txBox="1"/>
          <p:nvPr/>
        </p:nvSpPr>
        <p:spPr>
          <a:xfrm>
            <a:off x="3076560" y="219240"/>
            <a:ext cx="19828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Nested IFs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801720" y="981000"/>
            <a:ext cx="7068960" cy="258912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380880" algn="l"/>
                <a:tab pos="762120" algn="l"/>
                <a:tab pos="1143000" algn="l"/>
                <a:tab pos="15238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IF ( VarA &lt; 10 ) AND ( VarB NOT &gt; VarC ) THEN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80880" algn="l"/>
                <a:tab pos="762120" algn="l"/>
                <a:tab pos="1143000" algn="l"/>
                <a:tab pos="15238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IF VarG = 14 THEN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80880" algn="l"/>
                <a:tab pos="762120" algn="l"/>
                <a:tab pos="1143000" algn="l"/>
                <a:tab pos="15238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“First”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80880" algn="l"/>
                <a:tab pos="762120" algn="l"/>
                <a:tab pos="1143000" algn="l"/>
                <a:tab pos="15238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80880" algn="l"/>
                <a:tab pos="762120" algn="l"/>
                <a:tab pos="1143000" algn="l"/>
                <a:tab pos="15238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“Second”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80880" algn="l"/>
                <a:tab pos="762120" algn="l"/>
                <a:tab pos="1143000" algn="l"/>
                <a:tab pos="15238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80880" algn="l"/>
                <a:tab pos="762120" algn="l"/>
                <a:tab pos="1143000" algn="l"/>
                <a:tab pos="15238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ELSE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80880" algn="l"/>
                <a:tab pos="762120" algn="l"/>
                <a:tab pos="1143000" algn="l"/>
                <a:tab pos="15238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“Third”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380880" algn="l"/>
                <a:tab pos="762120" algn="l"/>
                <a:tab pos="1143000" algn="l"/>
                <a:tab pos="152388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1166760" y="4175280"/>
            <a:ext cx="6329520" cy="21938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spcAft>
                <a:spcPts val="720"/>
              </a:spcAft>
              <a:tabLst>
                <a:tab pos="952560" algn="l"/>
                <a:tab pos="2000160" algn="l"/>
                <a:tab pos="3048120" algn="l"/>
                <a:tab pos="4381560" algn="l"/>
              </a:tabLst>
            </a:pP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VarA</a:t>
            </a: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VarB</a:t>
            </a: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VarC</a:t>
            </a: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VarG</a:t>
            </a: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8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DISPLAY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952560" algn="l"/>
                <a:tab pos="2000160" algn="l"/>
                <a:tab pos="3048120" algn="l"/>
                <a:tab pos="438156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3         4         15        14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952560" algn="l"/>
                <a:tab pos="2000160" algn="l"/>
                <a:tab pos="3048120" algn="l"/>
                <a:tab pos="438156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3         4         15        15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952560" algn="l"/>
                <a:tab pos="2000160" algn="l"/>
                <a:tab pos="3048120" algn="l"/>
                <a:tab pos="438156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 3         4           3        14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952560" algn="l"/>
                <a:tab pos="2000160" algn="l"/>
                <a:tab pos="3048120" algn="l"/>
                <a:tab pos="438156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  13        4          15       14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281240" y="4721400"/>
            <a:ext cx="6010200" cy="1495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190440">
              <a:lnSpc>
                <a:spcPct val="100000"/>
              </a:lnSpc>
            </a:pPr>
            <a:r>
              <a:rPr lang="en-US" sz="16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   T       T                 T     </a:t>
            </a:r>
            <a:r>
              <a:rPr lang="en-US" sz="2400" b="1" u="none" strike="noStrike">
                <a:solidFill>
                  <a:srgbClr val="063DE8"/>
                </a:solidFill>
                <a:effectLst/>
                <a:uFillTx/>
                <a:latin typeface="Arial"/>
                <a:ea typeface="Arial"/>
              </a:rPr>
              <a:t>First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>
              <a:lnSpc>
                <a:spcPct val="100000"/>
              </a:lnSpc>
            </a:pPr>
            <a:r>
              <a:rPr lang="en-US" sz="16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   T       T                 F     </a:t>
            </a:r>
            <a:r>
              <a:rPr lang="en-US" sz="2400" b="1" u="none" strike="noStrike">
                <a:solidFill>
                  <a:srgbClr val="063DE8"/>
                </a:solidFill>
                <a:effectLst/>
                <a:uFillTx/>
                <a:latin typeface="Arial"/>
                <a:ea typeface="Arial"/>
              </a:rPr>
              <a:t>Second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>
              <a:lnSpc>
                <a:spcPct val="100000"/>
              </a:lnSpc>
            </a:pPr>
            <a:r>
              <a:rPr lang="en-US" sz="16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   T       F                       </a:t>
            </a:r>
            <a:r>
              <a:rPr lang="en-US" sz="2400" b="1" u="none" strike="noStrike">
                <a:solidFill>
                  <a:srgbClr val="063DE8"/>
                </a:solidFill>
                <a:effectLst/>
                <a:uFillTx/>
                <a:latin typeface="Arial"/>
                <a:ea typeface="Arial"/>
              </a:rPr>
              <a:t>Third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>
              <a:lnSpc>
                <a:spcPct val="100000"/>
              </a:lnSpc>
            </a:pPr>
            <a:r>
              <a:rPr lang="en-US" sz="1600" b="1" u="none" strike="noStrike">
                <a:solidFill>
                  <a:srgbClr val="037C03"/>
                </a:solidFill>
                <a:effectLst/>
                <a:uFillTx/>
                <a:latin typeface="Courier New"/>
                <a:ea typeface="Courier New"/>
              </a:rPr>
              <a:t>   F       T                       </a:t>
            </a:r>
            <a:r>
              <a:rPr lang="en-US" sz="2400" b="1" u="none" strike="noStrike">
                <a:solidFill>
                  <a:srgbClr val="063DE8"/>
                </a:solidFill>
                <a:effectLst/>
                <a:uFillTx/>
                <a:latin typeface="Arial"/>
                <a:ea typeface="Arial"/>
              </a:rPr>
              <a:t>Third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3252960" y="4178160"/>
            <a:ext cx="0" cy="221472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4300560" y="4164120"/>
            <a:ext cx="0" cy="222876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"/>
          <p:cNvSpPr/>
          <p:nvPr/>
        </p:nvSpPr>
        <p:spPr>
          <a:xfrm>
            <a:off x="1171440" y="4640400"/>
            <a:ext cx="6315120" cy="0"/>
          </a:xfrm>
          <a:prstGeom prst="line">
            <a:avLst/>
          </a:prstGeom>
          <a:ln w="2556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5438880" y="4154400"/>
            <a:ext cx="0" cy="224316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2266920" y="4173480"/>
            <a:ext cx="0" cy="2228760"/>
          </a:xfrm>
          <a:prstGeom prst="line">
            <a:avLst/>
          </a:prstGeom>
          <a:ln w="12600">
            <a:solidFill>
              <a:srgbClr val="91919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"/>
          <p:cNvSpPr txBox="1"/>
          <p:nvPr/>
        </p:nvSpPr>
        <p:spPr>
          <a:xfrm>
            <a:off x="2819520" y="133200"/>
            <a:ext cx="32068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Condition Names.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390600" y="2052720"/>
            <a:ext cx="7991640" cy="399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  <a:tabLst>
                <a:tab pos="380880" algn="l"/>
                <a:tab pos="95256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Wherever a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 condition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can occur, such as in an IF statement or an EVALUATE or a PERFORM..UNTIL,  a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CONDITION NAME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(Level 88) may be used.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  <a:tabLst>
                <a:tab pos="380880" algn="l"/>
                <a:tab pos="95256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 Condition Name is essentially a BOOLEAN variable which is either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TRUE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or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FALSE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  <a:tabLst>
                <a:tab pos="380880" algn="l"/>
                <a:tab pos="95256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Example.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tabLst>
                <a:tab pos="380880" algn="l"/>
                <a:tab pos="95256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IF StudentRecord = HIGH-VALUES THEN </a:t>
            </a:r>
            <a:r>
              <a:rPr lang="en-US" sz="2400" b="1" i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71400">
              <a:lnSpc>
                <a:spcPct val="90000"/>
              </a:lnSpc>
              <a:spcBef>
                <a:spcPts val="720"/>
              </a:spcBef>
              <a:tabLst>
                <a:tab pos="90360" algn="l"/>
                <a:tab pos="66204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statement above may be replaced by the one below. The condition name EndOfStudentFile may be used instead of the condition StudentRecord = HIGH-VALUES.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720"/>
              </a:spcBef>
              <a:tabLst>
                <a:tab pos="380880" algn="l"/>
                <a:tab pos="95256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IF EndOfStudentFile THEN </a:t>
            </a:r>
            <a:r>
              <a:rPr lang="en-US" sz="2400" b="1" i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Action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0" name=""/>
          <p:cNvPicPr/>
          <p:nvPr/>
        </p:nvPicPr>
        <p:blipFill>
          <a:blip r:embed="rId1"/>
          <a:stretch/>
        </p:blipFill>
        <p:spPr>
          <a:xfrm>
            <a:off x="1224000" y="914400"/>
            <a:ext cx="6346800" cy="961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"/>
          <p:cNvSpPr txBox="1"/>
          <p:nvPr/>
        </p:nvSpPr>
        <p:spPr>
          <a:xfrm>
            <a:off x="2233440" y="176040"/>
            <a:ext cx="472752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Defining Condition Names.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147600" y="2262240"/>
            <a:ext cx="8710560" cy="4010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Condition Names are defined in the DATA DIVISION using the special level number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88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They are always associated with a data item and are defined immediately after the definition of the data item.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 condition name takes the value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TRUE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or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FALSE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depending on the value in its associated data item.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 Condition Name may be associated with</a:t>
            </a: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ANY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data item whether it is a group or an elementary item.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-380880">
              <a:lnSpc>
                <a:spcPct val="90000"/>
              </a:lnSpc>
              <a:spcBef>
                <a:spcPts val="1681"/>
              </a:spcBef>
              <a:buClr>
                <a:srgbClr val="FC0128"/>
              </a:buClr>
              <a:buSzPct val="75000"/>
              <a:buFont typeface="Wingdings"/>
              <a:buChar char="_x0000_"/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VALUE clause is used to </a:t>
            </a: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identify 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the values which make the Condition Name TRUE.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"/>
          <p:cNvPicPr/>
          <p:nvPr/>
        </p:nvPicPr>
        <p:blipFill>
          <a:blip r:embed="rId1"/>
          <a:stretch/>
        </p:blipFill>
        <p:spPr>
          <a:xfrm>
            <a:off x="911160" y="835200"/>
            <a:ext cx="7485120" cy="10461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 txBox="1"/>
          <p:nvPr/>
        </p:nvSpPr>
        <p:spPr>
          <a:xfrm>
            <a:off x="225360" y="176040"/>
            <a:ext cx="7143840" cy="27464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571680" algn="l"/>
                <a:tab pos="1143000" algn="l"/>
                <a:tab pos="419112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CityCode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9 VALUE 5.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419112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Dublin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1.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419112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Limerick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2.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419112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Cork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3.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419112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Galway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4.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419112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Sligo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5.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419112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 Waterford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6.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419112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 UniversityCity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1 THRU 4.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249120" y="3287880"/>
            <a:ext cx="4629240" cy="19461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IF Limerick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DISPLAY "Hey, we're home."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IF UniversityCity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PERFORM CalcRentSurcharge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6" name=""/>
          <p:cNvGrpSpPr/>
          <p:nvPr/>
        </p:nvGrpSpPr>
        <p:grpSpPr>
          <a:xfrm>
            <a:off x="5415120" y="3244680"/>
            <a:ext cx="3382920" cy="3029040"/>
            <a:chOff x="5415120" y="3244680"/>
            <a:chExt cx="3382920" cy="3029040"/>
          </a:xfrm>
        </p:grpSpPr>
        <p:sp>
          <p:nvSpPr>
            <p:cNvPr id="107" name=""/>
            <p:cNvSpPr/>
            <p:nvPr/>
          </p:nvSpPr>
          <p:spPr>
            <a:xfrm>
              <a:off x="5415120" y="3670200"/>
              <a:ext cx="1700280" cy="557280"/>
            </a:xfrm>
            <a:prstGeom prst="rect">
              <a:avLst/>
            </a:prstGeom>
            <a:solidFill>
              <a:srgbClr val="DADADA"/>
            </a:solidFill>
            <a:ln w="38160">
              <a:solidFill>
                <a:srgbClr val="919191"/>
              </a:solidFill>
              <a:round/>
            </a:ln>
          </p:spPr>
          <p:txBody>
            <a:bodyPr lIns="109080" tIns="64080" rIns="109080" bIns="640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"/>
            <p:cNvSpPr txBox="1"/>
            <p:nvPr/>
          </p:nvSpPr>
          <p:spPr>
            <a:xfrm>
              <a:off x="5438880" y="4259160"/>
              <a:ext cx="3359160" cy="20145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Dublin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18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FALSE 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Limerick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18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FALSE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Cork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18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FALSE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Galway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18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FALSE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2000" b="1" u="none" strike="noStrike">
                  <a:solidFill>
                    <a:srgbClr val="00FF00"/>
                  </a:solidFill>
                  <a:effectLst/>
                  <a:uFillTx/>
                  <a:latin typeface="Arial"/>
                  <a:ea typeface="Arial"/>
                </a:rPr>
                <a:t>Sligo</a:t>
              </a:r>
              <a:r>
                <a:rPr lang="en-US" sz="2000" b="1" u="none" strike="noStrike">
                  <a:solidFill>
                    <a:srgbClr val="00FF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000" b="1" u="none" strike="noStrike">
                  <a:solidFill>
                    <a:srgbClr val="00FF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000" b="1" u="none" strike="noStrike">
                  <a:solidFill>
                    <a:srgbClr val="00FF00"/>
                  </a:solidFill>
                  <a:effectLst/>
                  <a:uFillTx/>
                  <a:latin typeface="Arial"/>
                  <a:ea typeface="Arial"/>
                </a:rPr>
                <a:t>TRUE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Waterford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18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FALSE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UniversityCity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18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FALSE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"/>
            <p:cNvSpPr txBox="1"/>
            <p:nvPr/>
          </p:nvSpPr>
          <p:spPr>
            <a:xfrm>
              <a:off x="5419800" y="3244680"/>
              <a:ext cx="1695600" cy="417600"/>
            </a:xfrm>
            <a:prstGeom prst="rect">
              <a:avLst/>
            </a:prstGeom>
            <a:solidFill>
              <a:srgbClr val="DADADA"/>
            </a:solidFill>
            <a:ln w="25560">
              <a:solidFill>
                <a:srgbClr val="919191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CF0E30"/>
                  </a:solidFill>
                  <a:effectLst/>
                  <a:uFillTx/>
                  <a:latin typeface="Arial"/>
                  <a:ea typeface="Arial"/>
                </a:rPr>
                <a:t>City Code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"/>
            <p:cNvSpPr txBox="1"/>
            <p:nvPr/>
          </p:nvSpPr>
          <p:spPr>
            <a:xfrm>
              <a:off x="5452920" y="3708360"/>
              <a:ext cx="1628640" cy="476280"/>
            </a:xfrm>
            <a:prstGeom prst="rect">
              <a:avLst/>
            </a:prstGeom>
            <a:solidFill>
              <a:srgbClr val="DADAD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28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5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 txBox="1"/>
          <p:nvPr/>
        </p:nvSpPr>
        <p:spPr>
          <a:xfrm>
            <a:off x="225360" y="176040"/>
            <a:ext cx="7143840" cy="27464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571680" algn="l"/>
                <a:tab pos="1143000" algn="l"/>
                <a:tab pos="419112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CityCode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9 VALUE 5.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419112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Dublin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1.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419112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Limerick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2.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419112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Cork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3.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419112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Galway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4.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419112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Sligo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5.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419112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 Waterford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6.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419112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 UniversityCity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1 THRU 4.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249120" y="3287880"/>
            <a:ext cx="4629240" cy="19461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IF Limerick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DISPLAY "Hey, we're home."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IF UniversityCity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PERFORM CalcRentSurcharge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13" name=""/>
          <p:cNvGrpSpPr/>
          <p:nvPr/>
        </p:nvGrpSpPr>
        <p:grpSpPr>
          <a:xfrm>
            <a:off x="5415120" y="3244680"/>
            <a:ext cx="3382920" cy="3029040"/>
            <a:chOff x="5415120" y="3244680"/>
            <a:chExt cx="3382920" cy="3029040"/>
          </a:xfrm>
        </p:grpSpPr>
        <p:sp>
          <p:nvSpPr>
            <p:cNvPr id="114" name=""/>
            <p:cNvSpPr/>
            <p:nvPr/>
          </p:nvSpPr>
          <p:spPr>
            <a:xfrm>
              <a:off x="5415120" y="3670200"/>
              <a:ext cx="1700280" cy="557280"/>
            </a:xfrm>
            <a:prstGeom prst="rect">
              <a:avLst/>
            </a:prstGeom>
            <a:solidFill>
              <a:srgbClr val="DADADA"/>
            </a:solidFill>
            <a:ln w="38160">
              <a:solidFill>
                <a:srgbClr val="919191"/>
              </a:solidFill>
              <a:round/>
            </a:ln>
          </p:spPr>
          <p:txBody>
            <a:bodyPr lIns="109080" tIns="64080" rIns="109080" bIns="640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5" name=""/>
            <p:cNvSpPr txBox="1"/>
            <p:nvPr/>
          </p:nvSpPr>
          <p:spPr>
            <a:xfrm>
              <a:off x="5438880" y="4259160"/>
              <a:ext cx="3359160" cy="20145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Dublin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18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FALSE 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2000" b="1" u="none" strike="noStrike">
                  <a:solidFill>
                    <a:srgbClr val="00FF00"/>
                  </a:solidFill>
                  <a:effectLst/>
                  <a:uFillTx/>
                  <a:latin typeface="Arial"/>
                  <a:ea typeface="Arial"/>
                </a:rPr>
                <a:t>Limerick</a:t>
              </a:r>
              <a:r>
                <a:rPr lang="en-US" sz="2000" b="1" u="none" strike="noStrike">
                  <a:solidFill>
                    <a:srgbClr val="00FF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000" b="1" u="none" strike="noStrike">
                  <a:solidFill>
                    <a:srgbClr val="00FF00"/>
                  </a:solidFill>
                  <a:effectLst/>
                  <a:uFillTx/>
                  <a:latin typeface="Arial"/>
                  <a:ea typeface="Arial"/>
                </a:rPr>
                <a:t>TRUE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Cork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18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FALSE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Galway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18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FALSE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Sligo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000" b="1" u="none" strike="noStrike">
                  <a:solidFill>
                    <a:srgbClr val="00FF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18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FALSE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Waterford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18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FALSE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2000" b="1" u="none" strike="noStrike">
                  <a:solidFill>
                    <a:srgbClr val="00FF00"/>
                  </a:solidFill>
                  <a:effectLst/>
                  <a:uFillTx/>
                  <a:latin typeface="Arial"/>
                  <a:ea typeface="Arial"/>
                </a:rPr>
                <a:t>UniversityCity</a:t>
              </a:r>
              <a:r>
                <a:rPr lang="en-US" sz="2000" b="1" u="none" strike="noStrike">
                  <a:solidFill>
                    <a:srgbClr val="00FF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000" b="1" u="none" strike="noStrike">
                  <a:solidFill>
                    <a:srgbClr val="00FF00"/>
                  </a:solidFill>
                  <a:effectLst/>
                  <a:uFillTx/>
                  <a:latin typeface="Arial"/>
                  <a:ea typeface="Arial"/>
                </a:rPr>
                <a:t>TRUE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6" name=""/>
            <p:cNvSpPr txBox="1"/>
            <p:nvPr/>
          </p:nvSpPr>
          <p:spPr>
            <a:xfrm>
              <a:off x="5419800" y="3244680"/>
              <a:ext cx="1695600" cy="417600"/>
            </a:xfrm>
            <a:prstGeom prst="rect">
              <a:avLst/>
            </a:prstGeom>
            <a:solidFill>
              <a:srgbClr val="DADADA"/>
            </a:solidFill>
            <a:ln w="25560">
              <a:solidFill>
                <a:srgbClr val="919191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CF0E30"/>
                  </a:solidFill>
                  <a:effectLst/>
                  <a:uFillTx/>
                  <a:latin typeface="Arial"/>
                  <a:ea typeface="Arial"/>
                </a:rPr>
                <a:t>City Code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"/>
            <p:cNvSpPr txBox="1"/>
            <p:nvPr/>
          </p:nvSpPr>
          <p:spPr>
            <a:xfrm>
              <a:off x="5452920" y="3708360"/>
              <a:ext cx="1628640" cy="476280"/>
            </a:xfrm>
            <a:prstGeom prst="rect">
              <a:avLst/>
            </a:prstGeom>
            <a:solidFill>
              <a:srgbClr val="DADAD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28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2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"/>
          <p:cNvSpPr txBox="1"/>
          <p:nvPr/>
        </p:nvSpPr>
        <p:spPr>
          <a:xfrm>
            <a:off x="225360" y="176040"/>
            <a:ext cx="7143840" cy="27464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571680" algn="l"/>
                <a:tab pos="1143000" algn="l"/>
                <a:tab pos="419112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CityCode 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9 VALUE 5.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419112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Dublin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1.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419112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Limerick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2.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419112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Cork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3.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419112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Galway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4.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419112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Sligo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5.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419112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 Waterford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6.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419112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 UniversityCity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1 THRU 4.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249120" y="3287880"/>
            <a:ext cx="4629240" cy="19461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IF Limerick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DISPLAY "Hey, we're home."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IF UniversityCity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PERFORM CalcRentSurcharge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20" name=""/>
          <p:cNvGrpSpPr/>
          <p:nvPr/>
        </p:nvGrpSpPr>
        <p:grpSpPr>
          <a:xfrm>
            <a:off x="5415120" y="3244680"/>
            <a:ext cx="3382920" cy="3029040"/>
            <a:chOff x="5415120" y="3244680"/>
            <a:chExt cx="3382920" cy="3029040"/>
          </a:xfrm>
        </p:grpSpPr>
        <p:sp>
          <p:nvSpPr>
            <p:cNvPr id="121" name=""/>
            <p:cNvSpPr/>
            <p:nvPr/>
          </p:nvSpPr>
          <p:spPr>
            <a:xfrm>
              <a:off x="5415120" y="3670200"/>
              <a:ext cx="1700280" cy="557280"/>
            </a:xfrm>
            <a:prstGeom prst="rect">
              <a:avLst/>
            </a:prstGeom>
            <a:solidFill>
              <a:srgbClr val="DADADA"/>
            </a:solidFill>
            <a:ln w="38160">
              <a:solidFill>
                <a:srgbClr val="919191"/>
              </a:solidFill>
              <a:round/>
            </a:ln>
          </p:spPr>
          <p:txBody>
            <a:bodyPr lIns="109080" tIns="64080" rIns="109080" bIns="6408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"/>
            <p:cNvSpPr txBox="1"/>
            <p:nvPr/>
          </p:nvSpPr>
          <p:spPr>
            <a:xfrm>
              <a:off x="5438880" y="4259160"/>
              <a:ext cx="3359160" cy="2014560"/>
            </a:xfrm>
            <a:prstGeom prst="rect">
              <a:avLst/>
            </a:prstGeom>
            <a:noFill/>
            <a:ln w="0">
              <a:noFill/>
            </a:ln>
          </p:spPr>
          <p:txBody>
            <a:bodyPr lIns="0" tIns="0" rIns="0" bIns="0" anchor="t">
              <a:spAutoFit/>
            </a:bodyPr>
            <a:p>
              <a:pPr>
                <a:lnSpc>
                  <a:spcPct val="90000"/>
                </a:lnSpc>
              </a:pP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Dublin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18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FALSE 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 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Limerick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18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FALSE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Cork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18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FALSE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Galway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18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FALSE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Sligo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18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FALSE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2000" b="1" u="none" strike="noStrike">
                  <a:solidFill>
                    <a:srgbClr val="00FF00"/>
                  </a:solidFill>
                  <a:effectLst/>
                  <a:uFillTx/>
                  <a:latin typeface="Arial"/>
                  <a:ea typeface="Arial"/>
                </a:rPr>
                <a:t>Waterford</a:t>
              </a:r>
              <a:r>
                <a:rPr lang="en-US" sz="2000" b="1" u="none" strike="noStrike">
                  <a:solidFill>
                    <a:srgbClr val="00FF00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2000" b="1" u="none" strike="noStrike">
                  <a:solidFill>
                    <a:srgbClr val="00FF00"/>
                  </a:solidFill>
                  <a:effectLst/>
                  <a:uFillTx/>
                  <a:latin typeface="Arial"/>
                  <a:ea typeface="Arial"/>
                </a:rPr>
                <a:t>TRUE</a:t>
              </a:r>
              <a:endPara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>
                <a:lnSpc>
                  <a:spcPct val="90000"/>
                </a:lnSpc>
              </a:pP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UniversityCity</a:t>
              </a:r>
              <a:r>
                <a:rPr lang="en-US" sz="20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	</a:t>
              </a:r>
              <a:r>
                <a:rPr lang="en-US" sz="1800" b="1" u="none" strike="noStrike">
                  <a:solidFill>
                    <a:srgbClr val="FC0128"/>
                  </a:solidFill>
                  <a:effectLst/>
                  <a:uFillTx/>
                  <a:latin typeface="Arial"/>
                  <a:ea typeface="Arial"/>
                </a:rPr>
                <a:t>FALSE</a:t>
              </a: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"/>
            <p:cNvSpPr txBox="1"/>
            <p:nvPr/>
          </p:nvSpPr>
          <p:spPr>
            <a:xfrm>
              <a:off x="5419800" y="3244680"/>
              <a:ext cx="1695600" cy="417600"/>
            </a:xfrm>
            <a:prstGeom prst="rect">
              <a:avLst/>
            </a:prstGeom>
            <a:solidFill>
              <a:srgbClr val="DADADA"/>
            </a:solidFill>
            <a:ln w="25560">
              <a:solidFill>
                <a:srgbClr val="919191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2400" b="1" u="none" strike="noStrike">
                  <a:solidFill>
                    <a:srgbClr val="CF0E30"/>
                  </a:solidFill>
                  <a:effectLst/>
                  <a:uFillTx/>
                  <a:latin typeface="Arial"/>
                  <a:ea typeface="Arial"/>
                </a:rPr>
                <a:t>City Code</a:t>
              </a: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"/>
            <p:cNvSpPr txBox="1"/>
            <p:nvPr/>
          </p:nvSpPr>
          <p:spPr>
            <a:xfrm>
              <a:off x="5452920" y="3708360"/>
              <a:ext cx="1628640" cy="476280"/>
            </a:xfrm>
            <a:prstGeom prst="rect">
              <a:avLst/>
            </a:prstGeom>
            <a:solidFill>
              <a:srgbClr val="DADADA"/>
            </a:solidFill>
            <a:ln w="12600">
              <a:solidFill>
                <a:srgbClr val="000000"/>
              </a:solidFill>
              <a:round/>
            </a:ln>
          </p:spPr>
          <p:txBody>
            <a:bodyPr lIns="0" tIns="0" rIns="0" bIns="0" anchor="t">
              <a:spAutoFit/>
            </a:bodyPr>
            <a:p>
              <a:pPr algn="ctr">
                <a:lnSpc>
                  <a:spcPct val="100000"/>
                </a:lnSpc>
              </a:pPr>
              <a:r>
                <a:rPr lang="en-US" sz="2800" b="1" u="none" strike="noStrike">
                  <a:solidFill>
                    <a:srgbClr val="114FFB"/>
                  </a:solidFill>
                  <a:effectLst/>
                  <a:uFillTx/>
                  <a:latin typeface="Arial"/>
                  <a:ea typeface="Arial"/>
                </a:rPr>
                <a:t>6</a:t>
              </a:r>
              <a:endPara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 txBox="1"/>
          <p:nvPr/>
        </p:nvSpPr>
        <p:spPr>
          <a:xfrm>
            <a:off x="182520" y="212760"/>
            <a:ext cx="8775720" cy="27464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476280" algn="l"/>
                <a:tab pos="952560" algn="l"/>
                <a:tab pos="2762280" algn="l"/>
                <a:tab pos="380988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InputChar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X.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476280" algn="l"/>
                <a:tab pos="952560" algn="l"/>
                <a:tab pos="2762280" algn="l"/>
                <a:tab pos="380988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Vowel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"A","E","I","O","U".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476280" algn="l"/>
                <a:tab pos="952560" algn="l"/>
                <a:tab pos="2762280" algn="l"/>
                <a:tab pos="380988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Consonant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"B" THRU "D", "F","G","H"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476280" algn="l"/>
                <a:tab pos="952560" algn="l"/>
                <a:tab pos="2762280" algn="l"/>
                <a:tab pos="380988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"J" THRU "N", "P" THRU "T"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476280" algn="l"/>
                <a:tab pos="952560" algn="l"/>
                <a:tab pos="2762280" algn="l"/>
                <a:tab pos="380988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"V" THRU "Z".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476280" algn="l"/>
                <a:tab pos="952560" algn="l"/>
                <a:tab pos="2762280" algn="l"/>
                <a:tab pos="380988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 Digit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"0" THRU "9".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476280" algn="l"/>
                <a:tab pos="952560" algn="l"/>
                <a:tab pos="2762280" algn="l"/>
                <a:tab pos="380988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 LowerCase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"a" THRU "z".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476280" algn="l"/>
                <a:tab pos="952560" algn="l"/>
                <a:tab pos="2762280" algn="l"/>
                <a:tab pos="380988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ValidChar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"A" THRU "Z","0" THRU "9".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249120" y="3287880"/>
            <a:ext cx="4438800" cy="2860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IF ValidChar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DISPLAY "Input OK."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IF LowerCase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"Not Upper Case"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IF Vowel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Display "Vowel entered."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5415120" y="3670200"/>
            <a:ext cx="1700280" cy="55728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5415120" y="4245120"/>
            <a:ext cx="3359160" cy="14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Vowel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TRUE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Consonant</a:t>
            </a: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FALSE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Digit</a:t>
            </a: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FALSE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LowerCase</a:t>
            </a: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FALSE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ValidChar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TRUE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5419800" y="3244680"/>
            <a:ext cx="1695600" cy="41760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Input Char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5452920" y="3708360"/>
            <a:ext cx="1628640" cy="4762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 txBox="1"/>
          <p:nvPr/>
        </p:nvSpPr>
        <p:spPr>
          <a:xfrm>
            <a:off x="182520" y="212760"/>
            <a:ext cx="8775720" cy="27464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476280" algn="l"/>
                <a:tab pos="952560" algn="l"/>
                <a:tab pos="2762280" algn="l"/>
                <a:tab pos="380988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InputChar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X.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476280" algn="l"/>
                <a:tab pos="952560" algn="l"/>
                <a:tab pos="2762280" algn="l"/>
                <a:tab pos="380988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Vowel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"A","E","I","O","U".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476280" algn="l"/>
                <a:tab pos="952560" algn="l"/>
                <a:tab pos="2762280" algn="l"/>
                <a:tab pos="380988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Consonant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"B" THRU "D", "F","G","H"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476280" algn="l"/>
                <a:tab pos="952560" algn="l"/>
                <a:tab pos="2762280" algn="l"/>
                <a:tab pos="380988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"J" THRU "N", "P" THRU "T"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476280" algn="l"/>
                <a:tab pos="952560" algn="l"/>
                <a:tab pos="2762280" algn="l"/>
                <a:tab pos="380988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"V" THRU "Z".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476280" algn="l"/>
                <a:tab pos="952560" algn="l"/>
                <a:tab pos="2762280" algn="l"/>
                <a:tab pos="380988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 Digit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"0" THRU "9".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476280" algn="l"/>
                <a:tab pos="952560" algn="l"/>
                <a:tab pos="2762280" algn="l"/>
                <a:tab pos="380988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 LowerCase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"a" THRU "z".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476280" algn="l"/>
                <a:tab pos="952560" algn="l"/>
                <a:tab pos="2762280" algn="l"/>
                <a:tab pos="380988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ValidChar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"A" THRU "Z","0" THRU "9".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249120" y="3287880"/>
            <a:ext cx="4438800" cy="2860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IF ValidChar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DISPLAY "Input OK."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IF LowerCase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"Not Upper Case"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IF Vowel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Display "Vowel entered."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5415120" y="3670200"/>
            <a:ext cx="1700280" cy="55728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5415120" y="4245120"/>
            <a:ext cx="3359160" cy="14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Vowel</a:t>
            </a: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FALSE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Consonant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FALSE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Digit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TRUE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LowerCase</a:t>
            </a: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FALSE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ValidChar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TRUE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5419800" y="3244680"/>
            <a:ext cx="1695600" cy="41760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Input Char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5452920" y="3708360"/>
            <a:ext cx="1628640" cy="4762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 txBox="1"/>
          <p:nvPr/>
        </p:nvSpPr>
        <p:spPr>
          <a:xfrm>
            <a:off x="182520" y="212760"/>
            <a:ext cx="8775720" cy="27464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476280" algn="l"/>
                <a:tab pos="952560" algn="l"/>
                <a:tab pos="2762280" algn="l"/>
                <a:tab pos="380988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InputChar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X.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476280" algn="l"/>
                <a:tab pos="952560" algn="l"/>
                <a:tab pos="2762280" algn="l"/>
                <a:tab pos="380988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Vowel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"A","E","I","O","U".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476280" algn="l"/>
                <a:tab pos="952560" algn="l"/>
                <a:tab pos="2762280" algn="l"/>
                <a:tab pos="380988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Consonant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"B" THRU "D", "F","G","H"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476280" algn="l"/>
                <a:tab pos="952560" algn="l"/>
                <a:tab pos="2762280" algn="l"/>
                <a:tab pos="380988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"J" THRU "N", "P" THRU "T"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476280" algn="l"/>
                <a:tab pos="952560" algn="l"/>
                <a:tab pos="2762280" algn="l"/>
                <a:tab pos="380988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"V" THRU "Z".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476280" algn="l"/>
                <a:tab pos="952560" algn="l"/>
                <a:tab pos="2762280" algn="l"/>
                <a:tab pos="380988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 Digit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"0" THRU "9".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476280" algn="l"/>
                <a:tab pos="952560" algn="l"/>
                <a:tab pos="2762280" algn="l"/>
                <a:tab pos="380988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 LowerCase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"a" THRU "z".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476280" algn="l"/>
                <a:tab pos="952560" algn="l"/>
                <a:tab pos="2762280" algn="l"/>
                <a:tab pos="380988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ValidChar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"A" THRU "Z","0" THRU "9".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249120" y="3287880"/>
            <a:ext cx="4438800" cy="286056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IF ValidChar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DISPLAY "Input OK."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IF LowerCase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DISPLAY "Not Upper Case"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IF Vowel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Display "Vowel entered."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END-IF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"/>
          <p:cNvSpPr/>
          <p:nvPr/>
        </p:nvSpPr>
        <p:spPr>
          <a:xfrm>
            <a:off x="5415120" y="3670200"/>
            <a:ext cx="1700280" cy="55728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5415120" y="4245120"/>
            <a:ext cx="3359160" cy="146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Vowel</a:t>
            </a: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FALSE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Consonant</a:t>
            </a: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FALSE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Digit</a:t>
            </a: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FALSE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LowerCase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TRUE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0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ValidChar</a:t>
            </a: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18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FALSE 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5419800" y="3244680"/>
            <a:ext cx="1695600" cy="41760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Input Char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5452920" y="3708360"/>
            <a:ext cx="1628640" cy="4762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g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 txBox="1"/>
          <p:nvPr/>
        </p:nvSpPr>
        <p:spPr>
          <a:xfrm>
            <a:off x="268200" y="447840"/>
            <a:ext cx="6199200" cy="110340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571680" algn="l"/>
                <a:tab pos="1143000" algn="l"/>
                <a:tab pos="2762280" algn="l"/>
                <a:tab pos="3429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EndOfFileFlag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9 VALUE 0.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2762280" algn="l"/>
                <a:tab pos="3429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EndOfFile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1.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463680" y="2614680"/>
            <a:ext cx="7883640" cy="34034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READ InFile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AT END MOVE 1 TO EndOfFileFlag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END-READ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EndOfFile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i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Statements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READ InFile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AT END MOVE 1 TO EndOfFileFlag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END-READ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"/>
          <p:cNvSpPr/>
          <p:nvPr/>
        </p:nvSpPr>
        <p:spPr>
          <a:xfrm>
            <a:off x="7072200" y="927000"/>
            <a:ext cx="1700280" cy="55728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7067520" y="1544760"/>
            <a:ext cx="1828800" cy="4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EndOfFile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6800760" y="500040"/>
            <a:ext cx="2192400" cy="41580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EndOfFileFlag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7116840" y="993600"/>
            <a:ext cx="1600200" cy="4334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"/>
          <p:cNvSpPr txBox="1"/>
          <p:nvPr/>
        </p:nvSpPr>
        <p:spPr>
          <a:xfrm>
            <a:off x="268200" y="447840"/>
            <a:ext cx="6199200" cy="110340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571680" algn="l"/>
                <a:tab pos="1143000" algn="l"/>
                <a:tab pos="2762280" algn="l"/>
                <a:tab pos="3429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EndOfFileFlag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9 VALUE 0.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2762280" algn="l"/>
                <a:tab pos="3429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EndOfFile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1.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463680" y="2614680"/>
            <a:ext cx="7883640" cy="34034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READ InFile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AT END MOVE 1 TO EndOfFileFlag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END-READ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EndOfFile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i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Statements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READ InFile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AE00"/>
                </a:solidFill>
                <a:effectLst/>
                <a:uFillTx/>
                <a:latin typeface="Courier New"/>
                <a:ea typeface="Courier New"/>
              </a:rPr>
              <a:t>AT END MOVE 1 TO EndOfFileFlag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END-READ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7072200" y="927000"/>
            <a:ext cx="1700280" cy="55728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6800760" y="500040"/>
            <a:ext cx="2192400" cy="41580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EndOfFileFlag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7116840" y="993600"/>
            <a:ext cx="1600200" cy="4334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114FFB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7067520" y="1544760"/>
            <a:ext cx="1828800" cy="420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algn="ctr">
              <a:lnSpc>
                <a:spcPct val="90000"/>
              </a:lnSpc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EndOfFile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"/>
          <p:cNvSpPr txBox="1"/>
          <p:nvPr/>
        </p:nvSpPr>
        <p:spPr>
          <a:xfrm>
            <a:off x="2381400" y="142920"/>
            <a:ext cx="35434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Using the SET verb.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382680" y="974880"/>
            <a:ext cx="5532480" cy="14320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571680" algn="l"/>
                <a:tab pos="1143000" algn="l"/>
                <a:tab pos="2762280" algn="l"/>
                <a:tab pos="3429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FILLER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9 VALUE 0.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2762280" algn="l"/>
                <a:tab pos="3429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EndOfFile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1.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2762280" algn="l"/>
                <a:tab pos="3429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 NotEndOfFile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0.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349200" y="2814480"/>
            <a:ext cx="7731000" cy="37688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READ InFile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AT END SET EndOfFile TO TRUE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END-READ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EndOfFile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i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Statements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READ InFile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AT END SET EndOfFile TO TRUE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END-READ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Set NotEndOfFile TO TRUE.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6848640" y="1071720"/>
            <a:ext cx="1700280" cy="55728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6434280" y="1674720"/>
            <a:ext cx="2470320" cy="74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EndOfFile        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NotEndOfFile  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7075440" y="644400"/>
            <a:ext cx="1193760" cy="41580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FILLER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6892920" y="1123920"/>
            <a:ext cx="1600200" cy="4478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63DE8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 txBox="1"/>
          <p:nvPr/>
        </p:nvSpPr>
        <p:spPr>
          <a:xfrm>
            <a:off x="2381400" y="142920"/>
            <a:ext cx="35434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Using the SET verb.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382680" y="974880"/>
            <a:ext cx="5532480" cy="14320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571680" algn="l"/>
                <a:tab pos="1143000" algn="l"/>
                <a:tab pos="2762280" algn="l"/>
                <a:tab pos="3429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FILLER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9 VALUE 0.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2762280" algn="l"/>
                <a:tab pos="3429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EndOfFile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1.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2762280" algn="l"/>
                <a:tab pos="3429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 NotEndOfFile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0.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349200" y="2814480"/>
            <a:ext cx="7731000" cy="37688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READ InFile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AT END SET EndOfFile TO TRUE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END-READ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EndOfFile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i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Statements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READ InFile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AE00"/>
                </a:solidFill>
                <a:effectLst/>
                <a:uFillTx/>
                <a:latin typeface="Courier New"/>
                <a:ea typeface="Courier New"/>
              </a:rPr>
              <a:t>AT END SET EndOfFile TO TRUE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END-READ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Set NotEndOfFile TO TRUE.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6848640" y="1071720"/>
            <a:ext cx="1700280" cy="55728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6434280" y="1674720"/>
            <a:ext cx="2470320" cy="74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EndOfFile        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NotEndOfFile  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7075440" y="644400"/>
            <a:ext cx="1193760" cy="41580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FILLER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6892920" y="1123920"/>
            <a:ext cx="1600200" cy="4478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0AE00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8007480" y="1190520"/>
            <a:ext cx="1124280" cy="648000"/>
          </a:xfrm>
          <a:custGeom>
            <a:avLst/>
            <a:gdLst/>
            <a:ahLst/>
            <a:rect l="0" t="0" r="r" b="b"/>
            <a:pathLst>
              <a:path fill="none" w="3123" h="1800">
                <a:moveTo>
                  <a:pt x="2276" y="1800"/>
                </a:moveTo>
                <a:lnTo>
                  <a:pt x="2382" y="1773"/>
                </a:lnTo>
                <a:lnTo>
                  <a:pt x="2461" y="1747"/>
                </a:lnTo>
                <a:lnTo>
                  <a:pt x="2541" y="1720"/>
                </a:lnTo>
                <a:lnTo>
                  <a:pt x="2646" y="1667"/>
                </a:lnTo>
                <a:lnTo>
                  <a:pt x="2726" y="1614"/>
                </a:lnTo>
                <a:lnTo>
                  <a:pt x="2805" y="1562"/>
                </a:lnTo>
                <a:lnTo>
                  <a:pt x="2884" y="1482"/>
                </a:lnTo>
                <a:lnTo>
                  <a:pt x="2937" y="1403"/>
                </a:lnTo>
                <a:lnTo>
                  <a:pt x="3017" y="1323"/>
                </a:lnTo>
                <a:lnTo>
                  <a:pt x="3017" y="1244"/>
                </a:lnTo>
                <a:lnTo>
                  <a:pt x="3070" y="1138"/>
                </a:lnTo>
                <a:lnTo>
                  <a:pt x="3096" y="1059"/>
                </a:lnTo>
                <a:lnTo>
                  <a:pt x="3123" y="979"/>
                </a:lnTo>
                <a:lnTo>
                  <a:pt x="3123" y="899"/>
                </a:lnTo>
                <a:lnTo>
                  <a:pt x="3123" y="820"/>
                </a:lnTo>
                <a:lnTo>
                  <a:pt x="3096" y="740"/>
                </a:lnTo>
                <a:lnTo>
                  <a:pt x="3070" y="661"/>
                </a:lnTo>
                <a:lnTo>
                  <a:pt x="3043" y="582"/>
                </a:lnTo>
                <a:lnTo>
                  <a:pt x="3017" y="502"/>
                </a:lnTo>
                <a:lnTo>
                  <a:pt x="2964" y="423"/>
                </a:lnTo>
                <a:lnTo>
                  <a:pt x="2911" y="343"/>
                </a:lnTo>
                <a:lnTo>
                  <a:pt x="2832" y="291"/>
                </a:lnTo>
                <a:lnTo>
                  <a:pt x="2752" y="238"/>
                </a:lnTo>
                <a:lnTo>
                  <a:pt x="2673" y="185"/>
                </a:lnTo>
                <a:lnTo>
                  <a:pt x="2593" y="158"/>
                </a:lnTo>
                <a:lnTo>
                  <a:pt x="2514" y="132"/>
                </a:lnTo>
                <a:lnTo>
                  <a:pt x="2408" y="105"/>
                </a:lnTo>
                <a:lnTo>
                  <a:pt x="2302" y="79"/>
                </a:lnTo>
                <a:lnTo>
                  <a:pt x="2197" y="52"/>
                </a:lnTo>
                <a:lnTo>
                  <a:pt x="2117" y="26"/>
                </a:lnTo>
                <a:lnTo>
                  <a:pt x="2038" y="26"/>
                </a:lnTo>
                <a:lnTo>
                  <a:pt x="1958" y="26"/>
                </a:lnTo>
                <a:lnTo>
                  <a:pt x="1853" y="26"/>
                </a:lnTo>
                <a:lnTo>
                  <a:pt x="1747" y="0"/>
                </a:lnTo>
                <a:lnTo>
                  <a:pt x="1667" y="0"/>
                </a:lnTo>
                <a:lnTo>
                  <a:pt x="1588" y="0"/>
                </a:lnTo>
                <a:lnTo>
                  <a:pt x="1508" y="0"/>
                </a:lnTo>
                <a:lnTo>
                  <a:pt x="1428" y="0"/>
                </a:lnTo>
                <a:lnTo>
                  <a:pt x="1322" y="26"/>
                </a:lnTo>
                <a:lnTo>
                  <a:pt x="1243" y="26"/>
                </a:lnTo>
                <a:lnTo>
                  <a:pt x="1164" y="26"/>
                </a:lnTo>
                <a:lnTo>
                  <a:pt x="1084" y="52"/>
                </a:lnTo>
                <a:lnTo>
                  <a:pt x="1005" y="52"/>
                </a:lnTo>
                <a:lnTo>
                  <a:pt x="899" y="79"/>
                </a:lnTo>
                <a:lnTo>
                  <a:pt x="820" y="105"/>
                </a:lnTo>
                <a:lnTo>
                  <a:pt x="740" y="132"/>
                </a:lnTo>
                <a:lnTo>
                  <a:pt x="661" y="132"/>
                </a:lnTo>
                <a:lnTo>
                  <a:pt x="582" y="158"/>
                </a:lnTo>
                <a:lnTo>
                  <a:pt x="476" y="185"/>
                </a:lnTo>
                <a:lnTo>
                  <a:pt x="396" y="185"/>
                </a:lnTo>
                <a:lnTo>
                  <a:pt x="317" y="211"/>
                </a:lnTo>
                <a:lnTo>
                  <a:pt x="238" y="238"/>
                </a:lnTo>
                <a:lnTo>
                  <a:pt x="158" y="264"/>
                </a:lnTo>
                <a:lnTo>
                  <a:pt x="79" y="264"/>
                </a:lnTo>
                <a:lnTo>
                  <a:pt x="0" y="291"/>
                </a:lnTo>
              </a:path>
            </a:pathLst>
          </a:custGeom>
          <a:ln w="12600">
            <a:solidFill>
              <a:srgbClr val="00FF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"/>
          <p:cNvSpPr txBox="1"/>
          <p:nvPr/>
        </p:nvSpPr>
        <p:spPr>
          <a:xfrm>
            <a:off x="2381400" y="142920"/>
            <a:ext cx="35434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Using the SET verb.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"/>
          <p:cNvSpPr txBox="1"/>
          <p:nvPr/>
        </p:nvSpPr>
        <p:spPr>
          <a:xfrm>
            <a:off x="382680" y="974880"/>
            <a:ext cx="5532480" cy="14320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tabLst>
                <a:tab pos="571680" algn="l"/>
                <a:tab pos="1143000" algn="l"/>
                <a:tab pos="2762280" algn="l"/>
                <a:tab pos="3429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FILLER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PIC 9 VALUE 0.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2762280" algn="l"/>
                <a:tab pos="3429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EndOfFile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1.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  <a:tabLst>
                <a:tab pos="571680" algn="l"/>
                <a:tab pos="1143000" algn="l"/>
                <a:tab pos="2762280" algn="l"/>
                <a:tab pos="3429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88 NotEndOfFile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VALUE 0.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349200" y="2814480"/>
            <a:ext cx="7731000" cy="37688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READ InFile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AT END SET EndOfFile TO TRUE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END-READ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PERFORM UNTIL EndOfFile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i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Statements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READ InFile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AT END SET EndOfFile TO TRUE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END-READ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END-PERFORM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pos="571680" algn="l"/>
                <a:tab pos="1143000" algn="l"/>
              </a:tabLst>
            </a:pPr>
            <a:r>
              <a:rPr lang="en-US" sz="2400" b="1" u="none" strike="noStrike">
                <a:solidFill>
                  <a:srgbClr val="00AE00"/>
                </a:solidFill>
                <a:effectLst/>
                <a:uFillTx/>
                <a:latin typeface="Courier New"/>
                <a:ea typeface="Courier New"/>
              </a:rPr>
              <a:t>Set NotEndOfFile TO TRUE.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6848640" y="1071720"/>
            <a:ext cx="1700280" cy="55728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109080" tIns="64080" rIns="109080" bIns="640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6434280" y="1674720"/>
            <a:ext cx="2470320" cy="749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FC0128"/>
                </a:solidFill>
                <a:effectLst/>
                <a:uFillTx/>
                <a:latin typeface="Arial"/>
                <a:ea typeface="Arial"/>
              </a:rPr>
              <a:t>EndOfFile        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90000"/>
              </a:lnSpc>
            </a:pPr>
            <a:r>
              <a:rPr lang="en-US" sz="2400" b="1" u="none" strike="noStrike">
                <a:solidFill>
                  <a:srgbClr val="00FF00"/>
                </a:solidFill>
                <a:effectLst/>
                <a:uFillTx/>
                <a:latin typeface="Arial"/>
                <a:ea typeface="Arial"/>
              </a:rPr>
              <a:t>NotEndOfFile  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7075440" y="644400"/>
            <a:ext cx="1193760" cy="415800"/>
          </a:xfrm>
          <a:prstGeom prst="rect">
            <a:avLst/>
          </a:prstGeom>
          <a:solidFill>
            <a:srgbClr val="DADADA"/>
          </a:solidFill>
          <a:ln w="255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400" b="1" u="none" strike="noStrike">
                <a:solidFill>
                  <a:srgbClr val="CF0E30"/>
                </a:solidFill>
                <a:effectLst/>
                <a:uFillTx/>
                <a:latin typeface="Arial"/>
                <a:ea typeface="Arial"/>
              </a:rPr>
              <a:t>FILLER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6892920" y="1123920"/>
            <a:ext cx="1600200" cy="44784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 algn="ctr">
              <a:lnSpc>
                <a:spcPct val="100000"/>
              </a:lnSpc>
            </a:pPr>
            <a:r>
              <a:rPr lang="en-US" sz="2800" b="1" u="none" strike="noStrike">
                <a:solidFill>
                  <a:srgbClr val="00AE00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"/>
          <p:cNvSpPr/>
          <p:nvPr/>
        </p:nvSpPr>
        <p:spPr>
          <a:xfrm>
            <a:off x="7978680" y="1247760"/>
            <a:ext cx="1152720" cy="848160"/>
          </a:xfrm>
          <a:custGeom>
            <a:avLst/>
            <a:gdLst/>
            <a:ahLst/>
            <a:rect l="0" t="0" r="r" b="b"/>
            <a:pathLst>
              <a:path fill="none" w="3202" h="2356">
                <a:moveTo>
                  <a:pt x="2382" y="2356"/>
                </a:moveTo>
                <a:lnTo>
                  <a:pt x="2461" y="2330"/>
                </a:lnTo>
                <a:lnTo>
                  <a:pt x="2541" y="2303"/>
                </a:lnTo>
                <a:lnTo>
                  <a:pt x="2620" y="2303"/>
                </a:lnTo>
                <a:lnTo>
                  <a:pt x="2699" y="2250"/>
                </a:lnTo>
                <a:lnTo>
                  <a:pt x="2779" y="2198"/>
                </a:lnTo>
                <a:lnTo>
                  <a:pt x="2858" y="2118"/>
                </a:lnTo>
                <a:lnTo>
                  <a:pt x="2937" y="2065"/>
                </a:lnTo>
                <a:lnTo>
                  <a:pt x="2990" y="1986"/>
                </a:lnTo>
                <a:lnTo>
                  <a:pt x="3043" y="1907"/>
                </a:lnTo>
                <a:lnTo>
                  <a:pt x="3096" y="1827"/>
                </a:lnTo>
                <a:lnTo>
                  <a:pt x="3149" y="1720"/>
                </a:lnTo>
                <a:lnTo>
                  <a:pt x="3149" y="1641"/>
                </a:lnTo>
                <a:lnTo>
                  <a:pt x="3176" y="1562"/>
                </a:lnTo>
                <a:lnTo>
                  <a:pt x="3202" y="1482"/>
                </a:lnTo>
                <a:lnTo>
                  <a:pt x="3202" y="1403"/>
                </a:lnTo>
                <a:lnTo>
                  <a:pt x="3202" y="1297"/>
                </a:lnTo>
                <a:lnTo>
                  <a:pt x="3202" y="1191"/>
                </a:lnTo>
                <a:lnTo>
                  <a:pt x="3176" y="1112"/>
                </a:lnTo>
                <a:lnTo>
                  <a:pt x="3176" y="1032"/>
                </a:lnTo>
                <a:lnTo>
                  <a:pt x="3149" y="953"/>
                </a:lnTo>
                <a:lnTo>
                  <a:pt x="3149" y="874"/>
                </a:lnTo>
                <a:lnTo>
                  <a:pt x="3096" y="768"/>
                </a:lnTo>
                <a:lnTo>
                  <a:pt x="3043" y="688"/>
                </a:lnTo>
                <a:lnTo>
                  <a:pt x="3017" y="609"/>
                </a:lnTo>
                <a:lnTo>
                  <a:pt x="2937" y="555"/>
                </a:lnTo>
                <a:lnTo>
                  <a:pt x="2858" y="502"/>
                </a:lnTo>
                <a:lnTo>
                  <a:pt x="2779" y="423"/>
                </a:lnTo>
                <a:lnTo>
                  <a:pt x="2699" y="396"/>
                </a:lnTo>
                <a:lnTo>
                  <a:pt x="2593" y="317"/>
                </a:lnTo>
                <a:lnTo>
                  <a:pt x="2514" y="291"/>
                </a:lnTo>
                <a:lnTo>
                  <a:pt x="2435" y="238"/>
                </a:lnTo>
                <a:lnTo>
                  <a:pt x="2329" y="238"/>
                </a:lnTo>
                <a:lnTo>
                  <a:pt x="2197" y="185"/>
                </a:lnTo>
                <a:lnTo>
                  <a:pt x="2117" y="185"/>
                </a:lnTo>
                <a:lnTo>
                  <a:pt x="2011" y="132"/>
                </a:lnTo>
                <a:lnTo>
                  <a:pt x="1932" y="132"/>
                </a:lnTo>
                <a:lnTo>
                  <a:pt x="1853" y="105"/>
                </a:lnTo>
                <a:lnTo>
                  <a:pt x="1773" y="105"/>
                </a:lnTo>
                <a:lnTo>
                  <a:pt x="1667" y="79"/>
                </a:lnTo>
                <a:lnTo>
                  <a:pt x="1561" y="79"/>
                </a:lnTo>
                <a:lnTo>
                  <a:pt x="1455" y="52"/>
                </a:lnTo>
                <a:lnTo>
                  <a:pt x="1349" y="26"/>
                </a:lnTo>
                <a:lnTo>
                  <a:pt x="1270" y="26"/>
                </a:lnTo>
                <a:lnTo>
                  <a:pt x="1137" y="26"/>
                </a:lnTo>
                <a:lnTo>
                  <a:pt x="1058" y="0"/>
                </a:lnTo>
                <a:lnTo>
                  <a:pt x="952" y="0"/>
                </a:lnTo>
                <a:lnTo>
                  <a:pt x="846" y="0"/>
                </a:lnTo>
                <a:lnTo>
                  <a:pt x="740" y="0"/>
                </a:lnTo>
                <a:lnTo>
                  <a:pt x="661" y="0"/>
                </a:lnTo>
                <a:lnTo>
                  <a:pt x="582" y="0"/>
                </a:lnTo>
                <a:lnTo>
                  <a:pt x="502" y="26"/>
                </a:lnTo>
                <a:lnTo>
                  <a:pt x="396" y="26"/>
                </a:lnTo>
                <a:lnTo>
                  <a:pt x="317" y="26"/>
                </a:lnTo>
                <a:lnTo>
                  <a:pt x="238" y="52"/>
                </a:lnTo>
                <a:lnTo>
                  <a:pt x="158" y="52"/>
                </a:lnTo>
                <a:lnTo>
                  <a:pt x="79" y="79"/>
                </a:lnTo>
                <a:lnTo>
                  <a:pt x="0" y="79"/>
                </a:lnTo>
              </a:path>
            </a:pathLst>
          </a:custGeom>
          <a:ln w="12600">
            <a:solidFill>
              <a:srgbClr val="00FF00"/>
            </a:solidFill>
            <a:round/>
            <a:tailEnd len="med" type="triangle" w="med"/>
          </a:ln>
        </p:spPr>
        <p:txBody>
          <a:bodyPr lIns="96120" tIns="51120" rIns="96120" bIns="5112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"/>
          <p:cNvSpPr txBox="1"/>
          <p:nvPr/>
        </p:nvSpPr>
        <p:spPr>
          <a:xfrm>
            <a:off x="244440" y="3449520"/>
            <a:ext cx="8475840" cy="324468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PROCEDURE DIVISION.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Begin.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OPEN INPUT StudentFile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READ StudentFile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AT END SET EndOfFile TO TRUE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END-READ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PERFORM UNTIL EndOfFile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DISPLAY StudentId SPACE StudentName SPACE CourseCode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READ StudentFile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  AT END SET EndOfFile TO TRUE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END-READ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END-PERFORM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CLOSE StudentFile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80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STOP RUN.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1387440" y="125280"/>
            <a:ext cx="6189840" cy="3067200"/>
          </a:xfrm>
          <a:prstGeom prst="rect">
            <a:avLst/>
          </a:prstGeom>
          <a:solidFill>
            <a:srgbClr val="DADADA"/>
          </a:solidFill>
          <a:ln w="12600">
            <a:solidFill>
              <a:srgbClr val="000000"/>
            </a:solidFill>
            <a:round/>
          </a:ln>
          <a:effectLst>
            <a:outerShdw dist="0" dir="0" rotWithShape="0">
              <a:srgbClr val="919191"/>
            </a:outerShdw>
          </a:effectLst>
        </p:spPr>
        <p:txBody>
          <a:bodyPr lIns="0" tIns="0" rIns="0" bIns="0" anchor="t">
            <a:spAutoFit/>
          </a:bodyPr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FD StudentFile.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01 StudentDetails.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88  EndOfFile  VALUE HIGH-VALUES.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StudentId       PIC 9(7).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StudentName.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Surname      PIC X(8).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Initials     PIC XX.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DateOfBirth.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YOBirth      PIC 9(2).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MOBirth      PIC 9(2).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   03 DOBirth      PIC 9(2).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CourseCode      PIC X(4).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Grant           PIC 9(4).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90440" indent="-190440">
              <a:lnSpc>
                <a:spcPct val="75000"/>
              </a:lnSpc>
            </a:pPr>
            <a:r>
              <a:rPr lang="en-US" sz="18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02  Gender          PIC X.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 txBox="1"/>
          <p:nvPr/>
        </p:nvSpPr>
        <p:spPr>
          <a:xfrm>
            <a:off x="2819520" y="133200"/>
            <a:ext cx="237816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The Evaluate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1" name=""/>
          <p:cNvPicPr/>
          <p:nvPr/>
        </p:nvPicPr>
        <p:blipFill>
          <a:blip r:embed="rId1"/>
          <a:stretch/>
        </p:blipFill>
        <p:spPr>
          <a:xfrm>
            <a:off x="407880" y="1023840"/>
            <a:ext cx="7977240" cy="4635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"/>
          <p:cNvSpPr/>
          <p:nvPr/>
        </p:nvSpPr>
        <p:spPr>
          <a:xfrm>
            <a:off x="343080" y="1438200"/>
            <a:ext cx="8153280" cy="828720"/>
          </a:xfrm>
          <a:prstGeom prst="roundRect">
            <a:avLst/>
          </a:prstGeom>
          <a:noFill/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152280" y="1133640"/>
            <a:ext cx="8553600" cy="1324080"/>
          </a:xfrm>
          <a:prstGeom prst="roundRect">
            <a:avLst/>
          </a:prstGeom>
          <a:noFill/>
          <a:ln w="25560">
            <a:solidFill>
              <a:srgbClr val="FFFFFF"/>
            </a:solidFill>
            <a:round/>
          </a:ln>
        </p:spPr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804960" y="1014480"/>
            <a:ext cx="7315200" cy="595440"/>
          </a:xfrm>
          <a:prstGeom prst="rect">
            <a:avLst/>
          </a:prstGeom>
          <a:solidFill>
            <a:srgbClr val="DADADA"/>
          </a:solidFill>
          <a:ln w="25560">
            <a:solidFill>
              <a:srgbClr val="000000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W   I   L   L   I   A   M   S  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138240" y="2978280"/>
            <a:ext cx="8724960" cy="3038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 marL="91440" indent="-91440">
              <a:lnSpc>
                <a:spcPct val="90000"/>
              </a:lnSpc>
              <a:spcBef>
                <a:spcPts val="720"/>
              </a:spcBef>
              <a:buClr>
                <a:srgbClr val="FC0128"/>
              </a:buClr>
              <a:buSzPct val="75000"/>
              <a:buFont typeface="Wingdings"/>
              <a:buChar char="_x0000_"/>
              <a:tabLst>
                <a:tab pos="476280" algn="l"/>
                <a:tab pos="1905120" algn="l"/>
                <a:tab pos="3429000" algn="l"/>
                <a:tab pos="5048280" algn="l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EVALUATE  TRUE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Position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WHEN L-Arrow   2 THRU 10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PERFORM MoveLeft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WHEN R-Arrow   1 THRU  9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PERFORM MoveRight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WHEN L-Arrow       1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MOVE 10 TO Position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WHEN R-Arrow      10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MOVE  1 TO Position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WHEN DeleteKey     1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PERFORM CantDelete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WHEN Character    ANY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PERFORM InsertChar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	</a:t>
            </a: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WHEN OTHER PERFORM DisplayErrorMessage</a:t>
            </a:r>
            <a:br>
              <a:rPr sz="2400"/>
            </a:b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END-EVALUATE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858960" y="573120"/>
            <a:ext cx="7210440" cy="44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1   2   3   4   5   6   7   8   9  10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1514520" y="1011240"/>
            <a:ext cx="0" cy="60012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2219400" y="1011240"/>
            <a:ext cx="0" cy="60012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3000240" y="1011240"/>
            <a:ext cx="0" cy="60012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3743280" y="1011240"/>
            <a:ext cx="0" cy="60012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4476600" y="1011240"/>
            <a:ext cx="0" cy="60012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5219640" y="1011240"/>
            <a:ext cx="0" cy="60012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"/>
          <p:cNvSpPr/>
          <p:nvPr/>
        </p:nvSpPr>
        <p:spPr>
          <a:xfrm>
            <a:off x="5952960" y="1011240"/>
            <a:ext cx="0" cy="60012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"/>
          <p:cNvSpPr/>
          <p:nvPr/>
        </p:nvSpPr>
        <p:spPr>
          <a:xfrm>
            <a:off x="6676920" y="1011240"/>
            <a:ext cx="0" cy="60012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"/>
          <p:cNvSpPr/>
          <p:nvPr/>
        </p:nvSpPr>
        <p:spPr>
          <a:xfrm>
            <a:off x="7391520" y="1011240"/>
            <a:ext cx="0" cy="600120"/>
          </a:xfrm>
          <a:prstGeom prst="line">
            <a:avLst/>
          </a:prstGeom>
          <a:ln w="2556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2600" tIns="57600" rIns="102600" bIns="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552600" y="1143000"/>
            <a:ext cx="16164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8286840" y="1152360"/>
            <a:ext cx="18072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 flipH="1">
            <a:off x="433440" y="1447920"/>
            <a:ext cx="18108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 flipH="1">
            <a:off x="8172360" y="1449360"/>
            <a:ext cx="181080" cy="0"/>
          </a:xfrm>
          <a:prstGeom prst="line">
            <a:avLst/>
          </a:prstGeom>
          <a:ln w="25560">
            <a:solidFill>
              <a:srgbClr val="FFFF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102600" tIns="-57600" rIns="102600" bIns="-576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 txBox="1"/>
          <p:nvPr/>
        </p:nvSpPr>
        <p:spPr>
          <a:xfrm>
            <a:off x="1771560" y="209520"/>
            <a:ext cx="5519880" cy="476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</a:pPr>
            <a:r>
              <a:rPr lang="en-US" sz="2800" b="1" u="none" strike="noStrike">
                <a:solidFill>
                  <a:srgbClr val="FAFD00"/>
                </a:solidFill>
                <a:effectLst/>
                <a:uFillTx/>
                <a:latin typeface="Arial"/>
                <a:ea typeface="Arial"/>
              </a:rPr>
              <a:t>Decision Table Implementation.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166680" y="2852640"/>
            <a:ext cx="8691480" cy="3281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p>
            <a:pPr>
              <a:lnSpc>
                <a:spcPct val="90000"/>
              </a:lnSpc>
              <a:spcBef>
                <a:spcPts val="720"/>
              </a:spcBef>
              <a:tabLst>
                <a:tab pos="380880" algn="l"/>
                <a:tab pos="1619280" algn="l"/>
                <a:tab pos="2381400" algn="l"/>
                <a:tab pos="4667400" algn="l"/>
                <a:tab pos="6191280" algn="l"/>
              </a:tabLst>
            </a:pP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EVALUATE Gender       TRUE                   TRUE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WHEN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"M"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Age&lt;20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 ANY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MOVE  5 TO Bonus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WHEN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"F"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Age&lt;20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 ANY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MOVE 10 TO Bonus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WHEN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"M"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Age&gt;19 AND &lt;41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Service&lt;10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MOVE 12 TO Bonus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WHEN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"F"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Age&gt;19 AND &lt;41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Service&lt;10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MOVE 13 TO Bonus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WHEN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"M"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Age&gt;40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Service&lt;10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MOVE 20 TO Bonus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WHEN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"F"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Age&gt;40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Service&lt;10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MOVE 15 TO Bonus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           :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:   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           :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: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: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WHEN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"F"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       ANY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Service&gt;20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	</a:t>
            </a: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MOVE 25 TO Bonus</a:t>
            </a:r>
            <a:br>
              <a:rPr sz="2000"/>
            </a:br>
            <a:r>
              <a:rPr lang="en-US" sz="20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END-EVALUATE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230040" y="1063800"/>
            <a:ext cx="8516880" cy="1413000"/>
          </a:xfrm>
          <a:prstGeom prst="rect">
            <a:avLst/>
          </a:prstGeom>
          <a:solidFill>
            <a:srgbClr val="DADADA"/>
          </a:solidFill>
          <a:ln w="38160">
            <a:solidFill>
              <a:srgbClr val="919191"/>
            </a:solidFill>
            <a:round/>
          </a:ln>
        </p:spPr>
        <p:txBody>
          <a:bodyPr lIns="0" tIns="0" rIns="0" bIns="0" anchor="t">
            <a:spAutoFit/>
          </a:bodyPr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Gender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M   F    M     F     M    F     M     F  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Age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 &lt;20 &lt;20 20-40 20-40  40&gt;  40&gt;  20-40 20-40 etc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Service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Any Any  &lt;10   &lt;10   &lt;10  &lt;10  10-20 10-20 etc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000" b="1" u="none" strike="noStrike">
                <a:solidFill>
                  <a:srgbClr val="CF0E30"/>
                </a:solidFill>
                <a:effectLst/>
                <a:uFillTx/>
                <a:latin typeface="Courier New"/>
                <a:ea typeface="Courier New"/>
              </a:rPr>
              <a:t>% Bonus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ourier New"/>
                <a:ea typeface="Courier New"/>
              </a:rPr>
              <a:t>  5   10   12    13    20   15    14    23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Michael Coughlan</dc:creator>
  <dc:description/>
  <dc:language>en-US</dc:language>
  <cp:lastModifiedBy>Michael Coughlan</cp:lastModifiedBy>
  <cp:revision>0</cp:revision>
  <dc:subject/>
  <dc:title>Conditions. </dc:title>
</cp:coreProperties>
</file>