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media/image1.wmf" ContentType="image/x-wmf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Slides/notesSlide22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</p:sldIdLst>
  <p:sldSz cx="10112375" cy="7094538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59DBC1A-BEEF-4ED5-8CC2-3873B2641D0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1371600" y="768240"/>
            <a:ext cx="5029200" cy="376740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777240" y="4773240"/>
            <a:ext cx="6217920" cy="452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indent="0" algn="ctr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Steps for editing, checking and compiling a program.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To set up the computer for COBOL type LOADS204 (LOADS119 in the S119 lab) at the DOS prompt.  Then type Win to load windows.  There should now be a CSIS group on the Windows desktop.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Run PROCO from the CSIS group.  At the bottom of the Proco window there will be a menu with the options shown in PROCO 1 above.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Select edit (F2) from the PROCO 1 menu.  The EDIT 1 menu should appear and an editing window should open.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Type your program in the window provided.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When finished you will need to save your program.  Hold down the Alt key.  Note that the Edit 1 menu now changes to the Edit 2 menu.  With the Alt key depressed press F4 to save the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Return to the Edit 1 menu by releasing the Alt key.  Now select COBOL from the Edit 1 menu by pressing the F2 key.  The menu should change to the COBOL menu.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Press the F2 key until the line above the menu says Check.  Press return to start syntax checking your program.  If a syntax error is detected your program will be automatically reloaded into the editor and the cursor will be positioned at the offending line.  Perform until no-syntax-errors.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When there are no syntax errors press ESC to go back to the Proco 1 menu and then press F5 to compile the program.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90000"/>
              </a:lnSpc>
              <a:spcBef>
                <a:spcPts val="961"/>
              </a:spcBef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Press F6 to run the program.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5440" y="282960"/>
            <a:ext cx="9100800" cy="11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505440" y="1659960"/>
            <a:ext cx="9100800" cy="411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5440" y="282960"/>
            <a:ext cx="9100800" cy="11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5440" y="1659960"/>
            <a:ext cx="9100800" cy="411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10112400" cy="709452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7331040" y="4491000"/>
            <a:ext cx="2528640" cy="2365560"/>
            <a:chOff x="7331040" y="4491000"/>
            <a:chExt cx="2528640" cy="2365560"/>
          </a:xfrm>
        </p:grpSpPr>
        <p:sp>
          <p:nvSpPr>
            <p:cNvPr id="4" name=""/>
            <p:cNvSpPr/>
            <p:nvPr/>
          </p:nvSpPr>
          <p:spPr>
            <a:xfrm>
              <a:off x="9691560" y="6699240"/>
              <a:ext cx="168120" cy="15732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9353520" y="6699240"/>
              <a:ext cx="168120" cy="15732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9016920" y="6699240"/>
              <a:ext cx="168120" cy="15732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8680320" y="6699240"/>
              <a:ext cx="168120" cy="15732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8342280" y="6699240"/>
              <a:ext cx="168120" cy="15732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8005680" y="6699240"/>
              <a:ext cx="168120" cy="15732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7669080" y="6699240"/>
              <a:ext cx="168120" cy="15732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7331040" y="6699240"/>
              <a:ext cx="168120" cy="15732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9691560" y="6383160"/>
              <a:ext cx="168120" cy="15732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9691560" y="6067440"/>
              <a:ext cx="168120" cy="15876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9691560" y="5753160"/>
              <a:ext cx="168120" cy="15732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9691560" y="5437080"/>
              <a:ext cx="168120" cy="15876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9691560" y="5122800"/>
              <a:ext cx="168120" cy="15732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9691560" y="4807080"/>
              <a:ext cx="168120" cy="15732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9691560" y="4491000"/>
              <a:ext cx="168120" cy="15876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5440" y="282960"/>
            <a:ext cx="9100800" cy="11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5440" y="1659960"/>
            <a:ext cx="9100800" cy="411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wmf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>
            <a:off x="0" y="-1440"/>
            <a:ext cx="10098000" cy="708192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3157560" y="3090960"/>
            <a:ext cx="4056120" cy="60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7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Basics 1 </a:t>
            </a:r>
            <a:endParaRPr lang="en-US" sz="3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3274920" y="77760"/>
            <a:ext cx="381168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coding rules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31760" y="654120"/>
            <a:ext cx="9496440" cy="516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Almost all COBOL compilers treat a  line of COBOL code as if it contained two distinct areas. These are known as;</a:t>
            </a:r>
            <a:br>
              <a:rPr sz="2500"/>
            </a:b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Area 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and </a:t>
            </a:r>
            <a:r>
              <a:rPr lang="en-US" sz="28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Area B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When a COBOL compiler recognizes these two areas, all division, section, paragraph names,  FD entries and 01 level numbers must start in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Area A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  All other sentences must start in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Area B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Area A is four characters wide and is followed by Area B.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Microfocus COBOL the compiler directive</a:t>
            </a:r>
            <a:br>
              <a:rPr sz="2500"/>
            </a:b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$ SET SOURCEFORMAT"FREE" 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frees us from all formatting </a:t>
            </a:r>
            <a:br>
              <a:rPr sz="2500"/>
            </a:b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restrictions.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 txBox="1"/>
          <p:nvPr/>
        </p:nvSpPr>
        <p:spPr>
          <a:xfrm>
            <a:off x="3274920" y="77760"/>
            <a:ext cx="381168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coding rules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795760" y="4906800"/>
            <a:ext cx="4346640" cy="1595520"/>
          </a:xfrm>
          <a:prstGeom prst="rect">
            <a:avLst/>
          </a:prstGeom>
          <a:gradFill rotWithShape="0">
            <a:gsLst>
              <a:gs pos="0">
                <a:srgbClr val="DADADA"/>
              </a:gs>
              <a:gs pos="100000">
                <a:srgbClr val="FFFFFF"/>
              </a:gs>
            </a:gsLst>
            <a:lin ang="2700000"/>
          </a:gra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343080" indent="-343080">
              <a:lnSpc>
                <a:spcPct val="9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9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9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ProgramFragment.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9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* This is a comment. It starts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95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* with an asterisk in column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31760" y="654120"/>
            <a:ext cx="9496440" cy="516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Almost all COBOL compilers treat a  line of COBOL code as if it contained two distinct areas. These are known as;</a:t>
            </a:r>
            <a:br>
              <a:rPr sz="2500"/>
            </a:b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8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Area A </a:t>
            </a: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and </a:t>
            </a:r>
            <a:r>
              <a:rPr lang="en-US" sz="28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Area B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When a COBOL compiler recognizes these two areas, all division, section, paragraph names,  FD entries and 01 level numbers must start in </a:t>
            </a:r>
            <a:r>
              <a:rPr lang="en-US" sz="24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Area A</a:t>
            </a: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.  All other sentences must start in </a:t>
            </a:r>
            <a:r>
              <a:rPr lang="en-US" sz="24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Area B</a:t>
            </a: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Area A is four characters wide and is followed by Area B.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199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In Microfocus COBOL the compiler directive</a:t>
            </a:r>
            <a:br>
              <a:rPr sz="2500"/>
            </a:b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Courier New"/>
                <a:ea typeface="Courier New"/>
              </a:rPr>
              <a:t>$ SET SOURCEFORMAT"FREE" </a:t>
            </a: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frees us from all formatting </a:t>
            </a:r>
            <a:br>
              <a:rPr sz="2500"/>
            </a:br>
            <a:r>
              <a:rPr lang="en-US" sz="2500" b="1" u="none" strike="noStrike">
                <a:solidFill>
                  <a:srgbClr val="DADADA"/>
                </a:solidFill>
                <a:effectLst/>
                <a:uFillTx/>
                <a:latin typeface="Arial"/>
                <a:ea typeface="Arial"/>
              </a:rPr>
              <a:t>restrictions.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 txBox="1"/>
          <p:nvPr/>
        </p:nvSpPr>
        <p:spPr>
          <a:xfrm>
            <a:off x="2917800" y="92160"/>
            <a:ext cx="368928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Name Construction.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420840" y="865080"/>
            <a:ext cx="9016920" cy="55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 user defined names, such as data names, paragraph names, section names and mnemonic names, must adhere to the following rules;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They must contain at least one character and not more than 30 characters.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They must contain at least one alphabetic character and they must not begin or end with a hyphen.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They must be contructed from the characters A to Z, the number 0 to 9 and the hyphen.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indent="-392040">
              <a:lnSpc>
                <a:spcPct val="90000"/>
              </a:lnSpc>
              <a:spcBef>
                <a:spcPts val="720"/>
              </a:spcBef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e.g.  TotalPay, Gross-Pay, PrintReportHeadings, Customer10-Rec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27360" indent="-176040">
              <a:lnSpc>
                <a:spcPct val="90000"/>
              </a:lnSpc>
              <a:spcBef>
                <a:spcPts val="720"/>
              </a:spcBef>
            </a:pP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 data-names should describe the data they contain.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 paragraph and section names should describe the function of the paragraph or section.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 txBox="1"/>
          <p:nvPr/>
        </p:nvSpPr>
        <p:spPr>
          <a:xfrm>
            <a:off x="3303720" y="77760"/>
            <a:ext cx="332100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Describing DATA.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88880" y="2039760"/>
            <a:ext cx="8904240" cy="259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720"/>
              </a:spcBef>
              <a:tabLst>
                <a:tab pos="2286000" algn="l"/>
                <a:tab pos="285768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400" b="0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❶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Variables.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720"/>
              </a:spcBef>
              <a:tabLst>
                <a:tab pos="2286000" algn="l"/>
                <a:tab pos="2857680" algn="l"/>
              </a:tabLst>
            </a:pPr>
            <a:r>
              <a:rPr lang="en-US" sz="2500" b="1" u="none" strike="noStrike">
                <a:solidFill>
                  <a:srgbClr val="00AE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0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❷</a:t>
            </a:r>
            <a:r>
              <a:rPr lang="en-US" sz="2500" b="1" u="none" strike="noStrike">
                <a:solidFill>
                  <a:srgbClr val="00AE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Literals.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720"/>
              </a:spcBef>
              <a:tabLst>
                <a:tab pos="2286000" algn="l"/>
                <a:tab pos="2857680" algn="l"/>
              </a:tabLst>
            </a:pPr>
            <a:r>
              <a:rPr lang="en-US" sz="2500" b="1" u="none" strike="noStrike">
                <a:solidFill>
                  <a:srgbClr val="00AE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0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❸</a:t>
            </a:r>
            <a:r>
              <a:rPr lang="en-US" sz="2500" b="1" u="none" strike="noStrike">
                <a:solidFill>
                  <a:srgbClr val="00AE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Figurative Constants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br>
              <a:rPr sz="2500"/>
            </a:b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720"/>
              </a:spcBef>
              <a:tabLst>
                <a:tab pos="2286000" algn="l"/>
                <a:tab pos="285768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Unlike other programming languages, COBOL does not support user defined constants.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635040" y="1066680"/>
            <a:ext cx="8352000" cy="749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There are basically three kinds of data used in COBOL programs;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 txBox="1"/>
          <p:nvPr/>
        </p:nvSpPr>
        <p:spPr>
          <a:xfrm>
            <a:off x="2732040" y="92160"/>
            <a:ext cx="426420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Data-Names / Variables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588960" y="1054080"/>
            <a:ext cx="9090000" cy="516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5000"/>
              </a:lnSpc>
              <a:spcBef>
                <a:spcPts val="144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variable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is a named location in memory into which a program can put data and from which it can retrieve data.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5000"/>
              </a:lnSpc>
              <a:spcBef>
                <a:spcPts val="144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data-name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or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identifier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is the name used to identify the area of memory reserved for the variable.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5000"/>
              </a:lnSpc>
              <a:spcBef>
                <a:spcPts val="144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Variables must be described in terms of their type and size.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5000"/>
              </a:lnSpc>
              <a:spcBef>
                <a:spcPts val="144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Every variable used in a COBOL program must have a description in the DATA DIVISION.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 txBox="1"/>
          <p:nvPr/>
        </p:nvSpPr>
        <p:spPr>
          <a:xfrm>
            <a:off x="104292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59552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215280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270504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325764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80988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638360" y="3782880"/>
            <a:ext cx="2195640" cy="46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StudentName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3124080" y="136440"/>
            <a:ext cx="29541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Using Variables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3" name=""/>
          <p:cNvGrpSpPr/>
          <p:nvPr/>
        </p:nvGrpSpPr>
        <p:grpSpPr>
          <a:xfrm>
            <a:off x="6083280" y="3083040"/>
            <a:ext cx="3336840" cy="2786040"/>
            <a:chOff x="6083280" y="3083040"/>
            <a:chExt cx="3336840" cy="2786040"/>
          </a:xfrm>
        </p:grpSpPr>
        <p:grpSp>
          <p:nvGrpSpPr>
            <p:cNvPr id="54" name=""/>
            <p:cNvGrpSpPr/>
            <p:nvPr/>
          </p:nvGrpSpPr>
          <p:grpSpPr>
            <a:xfrm>
              <a:off x="6411960" y="5349960"/>
              <a:ext cx="2694240" cy="519120"/>
              <a:chOff x="6411960" y="5349960"/>
              <a:chExt cx="2694240" cy="519120"/>
            </a:xfrm>
          </p:grpSpPr>
          <p:grpSp>
            <p:nvGrpSpPr>
              <p:cNvPr id="55" name=""/>
              <p:cNvGrpSpPr/>
              <p:nvPr/>
            </p:nvGrpSpPr>
            <p:grpSpPr>
              <a:xfrm>
                <a:off x="6411960" y="5511960"/>
                <a:ext cx="2694240" cy="357120"/>
                <a:chOff x="6411960" y="5511960"/>
                <a:chExt cx="2694240" cy="357120"/>
              </a:xfrm>
            </p:grpSpPr>
            <p:sp>
              <p:nvSpPr>
                <p:cNvPr id="56" name=""/>
                <p:cNvSpPr/>
                <p:nvPr/>
              </p:nvSpPr>
              <p:spPr>
                <a:xfrm>
                  <a:off x="6416640" y="5511960"/>
                  <a:ext cx="2689560" cy="189360"/>
                </a:xfrm>
                <a:custGeom>
                  <a:avLst/>
                  <a:gdLst/>
                  <a:ahLst/>
                  <a:rect l="0" t="0" r="r" b="b"/>
                  <a:pathLst>
                    <a:path w="7471" h="526">
                      <a:moveTo>
                        <a:pt x="0" y="526"/>
                      </a:moveTo>
                      <a:lnTo>
                        <a:pt x="7471" y="526"/>
                      </a:lnTo>
                      <a:lnTo>
                        <a:pt x="7038" y="0"/>
                      </a:lnTo>
                      <a:lnTo>
                        <a:pt x="449" y="0"/>
                      </a:lnTo>
                      <a:lnTo>
                        <a:pt x="0" y="52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57" name=""/>
                <p:cNvSpPr/>
                <p:nvPr/>
              </p:nvSpPr>
              <p:spPr>
                <a:xfrm>
                  <a:off x="6411960" y="5691240"/>
                  <a:ext cx="2687760" cy="177840"/>
                </a:xfrm>
                <a:prstGeom prst="rect">
                  <a:avLst/>
                </a:prstGeom>
                <a:solidFill>
                  <a:srgbClr val="C0C0C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sp>
            <p:nvSpPr>
              <p:cNvPr id="58" name=""/>
              <p:cNvSpPr/>
              <p:nvPr/>
            </p:nvSpPr>
            <p:spPr>
              <a:xfrm>
                <a:off x="7040520" y="5349960"/>
                <a:ext cx="1429200" cy="348120"/>
              </a:xfrm>
              <a:custGeom>
                <a:avLst/>
                <a:gdLst/>
                <a:ahLst/>
                <a:rect l="0" t="0" r="r" b="b"/>
                <a:pathLst>
                  <a:path w="3970" h="967">
                    <a:moveTo>
                      <a:pt x="0" y="543"/>
                    </a:moveTo>
                    <a:lnTo>
                      <a:pt x="0" y="0"/>
                    </a:lnTo>
                    <a:lnTo>
                      <a:pt x="3970" y="0"/>
                    </a:lnTo>
                    <a:lnTo>
                      <a:pt x="3970" y="556"/>
                    </a:lnTo>
                    <a:lnTo>
                      <a:pt x="3948" y="609"/>
                    </a:lnTo>
                    <a:lnTo>
                      <a:pt x="3917" y="653"/>
                    </a:lnTo>
                    <a:lnTo>
                      <a:pt x="3838" y="697"/>
                    </a:lnTo>
                    <a:lnTo>
                      <a:pt x="3750" y="738"/>
                    </a:lnTo>
                    <a:lnTo>
                      <a:pt x="3640" y="778"/>
                    </a:lnTo>
                    <a:lnTo>
                      <a:pt x="3538" y="813"/>
                    </a:lnTo>
                    <a:lnTo>
                      <a:pt x="3406" y="839"/>
                    </a:lnTo>
                    <a:lnTo>
                      <a:pt x="3256" y="866"/>
                    </a:lnTo>
                    <a:lnTo>
                      <a:pt x="3128" y="888"/>
                    </a:lnTo>
                    <a:lnTo>
                      <a:pt x="2924" y="919"/>
                    </a:lnTo>
                    <a:lnTo>
                      <a:pt x="2748" y="932"/>
                    </a:lnTo>
                    <a:lnTo>
                      <a:pt x="2576" y="954"/>
                    </a:lnTo>
                    <a:lnTo>
                      <a:pt x="2386" y="958"/>
                    </a:lnTo>
                    <a:lnTo>
                      <a:pt x="2166" y="967"/>
                    </a:lnTo>
                    <a:lnTo>
                      <a:pt x="1883" y="967"/>
                    </a:lnTo>
                    <a:lnTo>
                      <a:pt x="1628" y="958"/>
                    </a:lnTo>
                    <a:lnTo>
                      <a:pt x="1385" y="954"/>
                    </a:lnTo>
                    <a:lnTo>
                      <a:pt x="1160" y="932"/>
                    </a:lnTo>
                    <a:lnTo>
                      <a:pt x="978" y="914"/>
                    </a:lnTo>
                    <a:lnTo>
                      <a:pt x="833" y="888"/>
                    </a:lnTo>
                    <a:lnTo>
                      <a:pt x="648" y="861"/>
                    </a:lnTo>
                    <a:lnTo>
                      <a:pt x="498" y="826"/>
                    </a:lnTo>
                    <a:lnTo>
                      <a:pt x="366" y="791"/>
                    </a:lnTo>
                    <a:lnTo>
                      <a:pt x="246" y="747"/>
                    </a:lnTo>
                    <a:lnTo>
                      <a:pt x="167" y="710"/>
                    </a:lnTo>
                    <a:lnTo>
                      <a:pt x="101" y="680"/>
                    </a:lnTo>
                    <a:lnTo>
                      <a:pt x="57" y="636"/>
                    </a:lnTo>
                    <a:lnTo>
                      <a:pt x="22" y="596"/>
                    </a:lnTo>
                    <a:lnTo>
                      <a:pt x="0" y="543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59" name=""/>
            <p:cNvGrpSpPr/>
            <p:nvPr/>
          </p:nvGrpSpPr>
          <p:grpSpPr>
            <a:xfrm>
              <a:off x="6083280" y="3083040"/>
              <a:ext cx="3336840" cy="2335320"/>
              <a:chOff x="6083280" y="3083040"/>
              <a:chExt cx="3336840" cy="2335320"/>
            </a:xfrm>
          </p:grpSpPr>
          <p:grpSp>
            <p:nvGrpSpPr>
              <p:cNvPr id="60" name=""/>
              <p:cNvGrpSpPr/>
              <p:nvPr/>
            </p:nvGrpSpPr>
            <p:grpSpPr>
              <a:xfrm>
                <a:off x="6083280" y="3083040"/>
                <a:ext cx="3336840" cy="2335320"/>
                <a:chOff x="6083280" y="3083040"/>
                <a:chExt cx="3336840" cy="2335320"/>
              </a:xfrm>
            </p:grpSpPr>
            <p:sp>
              <p:nvSpPr>
                <p:cNvPr id="61" name=""/>
                <p:cNvSpPr/>
                <p:nvPr/>
              </p:nvSpPr>
              <p:spPr>
                <a:xfrm>
                  <a:off x="6083280" y="3083040"/>
                  <a:ext cx="3336840" cy="2335320"/>
                </a:xfrm>
                <a:prstGeom prst="roundRect">
                  <a:avLst/>
                </a:prstGeom>
                <a:solidFill>
                  <a:srgbClr val="C0C0C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62" name=""/>
                <p:cNvSpPr/>
                <p:nvPr/>
              </p:nvSpPr>
              <p:spPr>
                <a:xfrm>
                  <a:off x="6453360" y="3341520"/>
                  <a:ext cx="2597040" cy="1817640"/>
                </a:xfrm>
                <a:prstGeom prst="roundRect">
                  <a:avLst/>
                </a:prstGeom>
                <a:solidFill>
                  <a:srgbClr val="80808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63" name=""/>
                <p:cNvSpPr/>
                <p:nvPr/>
              </p:nvSpPr>
              <p:spPr>
                <a:xfrm>
                  <a:off x="6597720" y="3440160"/>
                  <a:ext cx="2308320" cy="1617840"/>
                </a:xfrm>
                <a:prstGeom prst="roundRect">
                  <a:avLst/>
                </a:prstGeom>
                <a:solidFill>
                  <a:srgbClr val="00800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sp>
            <p:nvSpPr>
              <p:cNvPr id="64" name=""/>
              <p:cNvSpPr/>
              <p:nvPr/>
            </p:nvSpPr>
            <p:spPr>
              <a:xfrm>
                <a:off x="8869320" y="5280120"/>
                <a:ext cx="100080" cy="25560"/>
              </a:xfrm>
              <a:prstGeom prst="rect">
                <a:avLst/>
              </a:prstGeom>
              <a:solidFill>
                <a:srgbClr val="00800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-25560" rIns="96120" bIns="-25560" anchor="t">
                <a:noAutofit/>
              </a:bodyPr>
              <a:p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grpSp>
        <p:nvGrpSpPr>
          <p:cNvPr id="65" name=""/>
          <p:cNvGrpSpPr/>
          <p:nvPr/>
        </p:nvGrpSpPr>
        <p:grpSpPr>
          <a:xfrm>
            <a:off x="927000" y="858960"/>
            <a:ext cx="7958880" cy="1986120"/>
            <a:chOff x="927000" y="858960"/>
            <a:chExt cx="7958880" cy="1986120"/>
          </a:xfrm>
        </p:grpSpPr>
        <p:sp>
          <p:nvSpPr>
            <p:cNvPr id="66" name=""/>
            <p:cNvSpPr/>
            <p:nvPr/>
          </p:nvSpPr>
          <p:spPr>
            <a:xfrm>
              <a:off x="1042920" y="1001880"/>
              <a:ext cx="7743960" cy="17715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"/>
            <p:cNvSpPr txBox="1"/>
            <p:nvPr/>
          </p:nvSpPr>
          <p:spPr>
            <a:xfrm>
              <a:off x="1179360" y="1752480"/>
              <a:ext cx="7400880" cy="82224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"/>
            <p:cNvSpPr txBox="1"/>
            <p:nvPr/>
          </p:nvSpPr>
          <p:spPr>
            <a:xfrm>
              <a:off x="1170000" y="1168560"/>
              <a:ext cx="7434360" cy="46836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3000"/>
                </a:lnSpc>
                <a:spcAft>
                  <a:spcPts val="1247"/>
                </a:spcAft>
              </a:pPr>
              <a:r>
                <a:rPr lang="en-US" sz="24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01 StudentName</a:t>
              </a:r>
              <a:r>
                <a:rPr lang="en-US" sz="24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4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PIC X(6) VALUE SPACES</a:t>
              </a:r>
              <a:r>
                <a:rPr lang="en-US" sz="2400" b="1" u="none" strike="noStrike">
                  <a:solidFill>
                    <a:srgbClr val="FC0128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"/>
            <p:cNvSpPr/>
            <p:nvPr/>
          </p:nvSpPr>
          <p:spPr>
            <a:xfrm>
              <a:off x="955800" y="2530440"/>
              <a:ext cx="7930080" cy="314640"/>
            </a:xfrm>
            <a:custGeom>
              <a:avLst/>
              <a:gdLst/>
              <a:ahLst/>
              <a:rect l="0" t="0" r="r" b="b"/>
              <a:pathLst>
                <a:path w="22028" h="874">
                  <a:moveTo>
                    <a:pt x="119" y="317"/>
                  </a:moveTo>
                  <a:lnTo>
                    <a:pt x="357" y="277"/>
                  </a:lnTo>
                  <a:lnTo>
                    <a:pt x="476" y="238"/>
                  </a:lnTo>
                  <a:lnTo>
                    <a:pt x="674" y="198"/>
                  </a:lnTo>
                  <a:lnTo>
                    <a:pt x="793" y="158"/>
                  </a:lnTo>
                  <a:lnTo>
                    <a:pt x="912" y="79"/>
                  </a:lnTo>
                  <a:lnTo>
                    <a:pt x="1150" y="238"/>
                  </a:lnTo>
                  <a:lnTo>
                    <a:pt x="1230" y="357"/>
                  </a:lnTo>
                  <a:lnTo>
                    <a:pt x="1349" y="477"/>
                  </a:lnTo>
                  <a:lnTo>
                    <a:pt x="1468" y="477"/>
                  </a:lnTo>
                  <a:lnTo>
                    <a:pt x="1587" y="477"/>
                  </a:lnTo>
                  <a:lnTo>
                    <a:pt x="1785" y="396"/>
                  </a:lnTo>
                  <a:lnTo>
                    <a:pt x="1944" y="317"/>
                  </a:lnTo>
                  <a:lnTo>
                    <a:pt x="2063" y="238"/>
                  </a:lnTo>
                  <a:lnTo>
                    <a:pt x="2182" y="158"/>
                  </a:lnTo>
                  <a:lnTo>
                    <a:pt x="2301" y="79"/>
                  </a:lnTo>
                  <a:lnTo>
                    <a:pt x="2420" y="158"/>
                  </a:lnTo>
                  <a:lnTo>
                    <a:pt x="2579" y="238"/>
                  </a:lnTo>
                  <a:lnTo>
                    <a:pt x="2698" y="317"/>
                  </a:lnTo>
                  <a:lnTo>
                    <a:pt x="2778" y="477"/>
                  </a:lnTo>
                  <a:lnTo>
                    <a:pt x="2897" y="516"/>
                  </a:lnTo>
                  <a:lnTo>
                    <a:pt x="3016" y="596"/>
                  </a:lnTo>
                  <a:lnTo>
                    <a:pt x="3214" y="636"/>
                  </a:lnTo>
                  <a:lnTo>
                    <a:pt x="3373" y="477"/>
                  </a:lnTo>
                  <a:lnTo>
                    <a:pt x="3532" y="396"/>
                  </a:lnTo>
                  <a:lnTo>
                    <a:pt x="3651" y="317"/>
                  </a:lnTo>
                  <a:lnTo>
                    <a:pt x="3770" y="238"/>
                  </a:lnTo>
                  <a:lnTo>
                    <a:pt x="3889" y="158"/>
                  </a:lnTo>
                  <a:lnTo>
                    <a:pt x="4008" y="79"/>
                  </a:lnTo>
                  <a:lnTo>
                    <a:pt x="4127" y="0"/>
                  </a:lnTo>
                  <a:lnTo>
                    <a:pt x="4246" y="0"/>
                  </a:lnTo>
                  <a:lnTo>
                    <a:pt x="5437" y="556"/>
                  </a:lnTo>
                  <a:lnTo>
                    <a:pt x="7025" y="158"/>
                  </a:lnTo>
                  <a:lnTo>
                    <a:pt x="7025" y="198"/>
                  </a:lnTo>
                  <a:lnTo>
                    <a:pt x="7144" y="238"/>
                  </a:lnTo>
                  <a:lnTo>
                    <a:pt x="7263" y="357"/>
                  </a:lnTo>
                  <a:lnTo>
                    <a:pt x="7343" y="477"/>
                  </a:lnTo>
                  <a:lnTo>
                    <a:pt x="7501" y="477"/>
                  </a:lnTo>
                  <a:lnTo>
                    <a:pt x="7621" y="477"/>
                  </a:lnTo>
                  <a:lnTo>
                    <a:pt x="7779" y="396"/>
                  </a:lnTo>
                  <a:lnTo>
                    <a:pt x="7898" y="317"/>
                  </a:lnTo>
                  <a:lnTo>
                    <a:pt x="8017" y="238"/>
                  </a:lnTo>
                  <a:lnTo>
                    <a:pt x="8136" y="238"/>
                  </a:lnTo>
                  <a:lnTo>
                    <a:pt x="8295" y="198"/>
                  </a:lnTo>
                  <a:lnTo>
                    <a:pt x="8930" y="158"/>
                  </a:lnTo>
                  <a:lnTo>
                    <a:pt x="9089" y="119"/>
                  </a:lnTo>
                  <a:lnTo>
                    <a:pt x="9089" y="277"/>
                  </a:lnTo>
                  <a:lnTo>
                    <a:pt x="9168" y="396"/>
                  </a:lnTo>
                  <a:lnTo>
                    <a:pt x="9287" y="396"/>
                  </a:lnTo>
                  <a:lnTo>
                    <a:pt x="9406" y="396"/>
                  </a:lnTo>
                  <a:lnTo>
                    <a:pt x="9565" y="436"/>
                  </a:lnTo>
                  <a:lnTo>
                    <a:pt x="9724" y="477"/>
                  </a:lnTo>
                  <a:lnTo>
                    <a:pt x="9883" y="516"/>
                  </a:lnTo>
                  <a:lnTo>
                    <a:pt x="10002" y="516"/>
                  </a:lnTo>
                  <a:lnTo>
                    <a:pt x="10240" y="396"/>
                  </a:lnTo>
                  <a:lnTo>
                    <a:pt x="10399" y="357"/>
                  </a:lnTo>
                  <a:lnTo>
                    <a:pt x="10518" y="317"/>
                  </a:lnTo>
                  <a:lnTo>
                    <a:pt x="10557" y="477"/>
                  </a:lnTo>
                  <a:lnTo>
                    <a:pt x="10756" y="477"/>
                  </a:lnTo>
                  <a:lnTo>
                    <a:pt x="10875" y="477"/>
                  </a:lnTo>
                  <a:lnTo>
                    <a:pt x="11034" y="396"/>
                  </a:lnTo>
                  <a:lnTo>
                    <a:pt x="11153" y="357"/>
                  </a:lnTo>
                  <a:lnTo>
                    <a:pt x="11272" y="317"/>
                  </a:lnTo>
                  <a:lnTo>
                    <a:pt x="11391" y="396"/>
                  </a:lnTo>
                  <a:lnTo>
                    <a:pt x="11629" y="477"/>
                  </a:lnTo>
                  <a:lnTo>
                    <a:pt x="11827" y="516"/>
                  </a:lnTo>
                  <a:lnTo>
                    <a:pt x="12066" y="516"/>
                  </a:lnTo>
                  <a:lnTo>
                    <a:pt x="12264" y="477"/>
                  </a:lnTo>
                  <a:lnTo>
                    <a:pt x="12423" y="436"/>
                  </a:lnTo>
                  <a:lnTo>
                    <a:pt x="13058" y="357"/>
                  </a:lnTo>
                  <a:lnTo>
                    <a:pt x="13693" y="317"/>
                  </a:lnTo>
                  <a:lnTo>
                    <a:pt x="13772" y="477"/>
                  </a:lnTo>
                  <a:lnTo>
                    <a:pt x="14010" y="396"/>
                  </a:lnTo>
                  <a:lnTo>
                    <a:pt x="14169" y="357"/>
                  </a:lnTo>
                  <a:lnTo>
                    <a:pt x="14288" y="317"/>
                  </a:lnTo>
                  <a:lnTo>
                    <a:pt x="14407" y="198"/>
                  </a:lnTo>
                  <a:lnTo>
                    <a:pt x="14566" y="158"/>
                  </a:lnTo>
                  <a:lnTo>
                    <a:pt x="14764" y="158"/>
                  </a:lnTo>
                  <a:lnTo>
                    <a:pt x="14883" y="238"/>
                  </a:lnTo>
                  <a:lnTo>
                    <a:pt x="15002" y="238"/>
                  </a:lnTo>
                  <a:lnTo>
                    <a:pt x="15121" y="238"/>
                  </a:lnTo>
                  <a:lnTo>
                    <a:pt x="15439" y="277"/>
                  </a:lnTo>
                  <a:lnTo>
                    <a:pt x="16074" y="317"/>
                  </a:lnTo>
                  <a:lnTo>
                    <a:pt x="16710" y="317"/>
                  </a:lnTo>
                  <a:lnTo>
                    <a:pt x="16829" y="317"/>
                  </a:lnTo>
                  <a:lnTo>
                    <a:pt x="16948" y="277"/>
                  </a:lnTo>
                  <a:lnTo>
                    <a:pt x="17067" y="317"/>
                  </a:lnTo>
                  <a:lnTo>
                    <a:pt x="17186" y="317"/>
                  </a:lnTo>
                  <a:lnTo>
                    <a:pt x="17305" y="436"/>
                  </a:lnTo>
                  <a:lnTo>
                    <a:pt x="17464" y="396"/>
                  </a:lnTo>
                  <a:lnTo>
                    <a:pt x="17662" y="357"/>
                  </a:lnTo>
                  <a:lnTo>
                    <a:pt x="17821" y="317"/>
                  </a:lnTo>
                  <a:lnTo>
                    <a:pt x="18020" y="317"/>
                  </a:lnTo>
                  <a:lnTo>
                    <a:pt x="18258" y="238"/>
                  </a:lnTo>
                  <a:lnTo>
                    <a:pt x="18456" y="158"/>
                  </a:lnTo>
                  <a:lnTo>
                    <a:pt x="18575" y="158"/>
                  </a:lnTo>
                  <a:lnTo>
                    <a:pt x="18615" y="277"/>
                  </a:lnTo>
                  <a:lnTo>
                    <a:pt x="18734" y="317"/>
                  </a:lnTo>
                  <a:lnTo>
                    <a:pt x="18932" y="317"/>
                  </a:lnTo>
                  <a:lnTo>
                    <a:pt x="19131" y="357"/>
                  </a:lnTo>
                  <a:lnTo>
                    <a:pt x="19290" y="317"/>
                  </a:lnTo>
                  <a:lnTo>
                    <a:pt x="19448" y="238"/>
                  </a:lnTo>
                  <a:lnTo>
                    <a:pt x="19607" y="198"/>
                  </a:lnTo>
                  <a:lnTo>
                    <a:pt x="19726" y="158"/>
                  </a:lnTo>
                  <a:lnTo>
                    <a:pt x="19806" y="277"/>
                  </a:lnTo>
                  <a:lnTo>
                    <a:pt x="20004" y="436"/>
                  </a:lnTo>
                  <a:lnTo>
                    <a:pt x="20202" y="396"/>
                  </a:lnTo>
                  <a:lnTo>
                    <a:pt x="20322" y="396"/>
                  </a:lnTo>
                  <a:lnTo>
                    <a:pt x="20520" y="477"/>
                  </a:lnTo>
                  <a:lnTo>
                    <a:pt x="20639" y="516"/>
                  </a:lnTo>
                  <a:lnTo>
                    <a:pt x="20798" y="477"/>
                  </a:lnTo>
                  <a:lnTo>
                    <a:pt x="20917" y="477"/>
                  </a:lnTo>
                  <a:lnTo>
                    <a:pt x="21076" y="516"/>
                  </a:lnTo>
                  <a:lnTo>
                    <a:pt x="21195" y="516"/>
                  </a:lnTo>
                  <a:lnTo>
                    <a:pt x="21314" y="396"/>
                  </a:lnTo>
                  <a:lnTo>
                    <a:pt x="21433" y="277"/>
                  </a:lnTo>
                  <a:lnTo>
                    <a:pt x="21552" y="198"/>
                  </a:lnTo>
                  <a:lnTo>
                    <a:pt x="21671" y="158"/>
                  </a:lnTo>
                  <a:lnTo>
                    <a:pt x="22028" y="158"/>
                  </a:lnTo>
                  <a:lnTo>
                    <a:pt x="21988" y="874"/>
                  </a:lnTo>
                  <a:lnTo>
                    <a:pt x="0" y="874"/>
                  </a:lnTo>
                  <a:lnTo>
                    <a:pt x="119" y="317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"/>
            <p:cNvSpPr/>
            <p:nvPr/>
          </p:nvSpPr>
          <p:spPr>
            <a:xfrm>
              <a:off x="927000" y="858960"/>
              <a:ext cx="7944120" cy="371880"/>
            </a:xfrm>
            <a:custGeom>
              <a:avLst/>
              <a:gdLst/>
              <a:ahLst/>
              <a:rect l="0" t="0" r="r" b="b"/>
              <a:pathLst>
                <a:path w="22067" h="1033">
                  <a:moveTo>
                    <a:pt x="198" y="954"/>
                  </a:moveTo>
                  <a:lnTo>
                    <a:pt x="317" y="954"/>
                  </a:lnTo>
                  <a:lnTo>
                    <a:pt x="436" y="914"/>
                  </a:lnTo>
                  <a:lnTo>
                    <a:pt x="595" y="875"/>
                  </a:lnTo>
                  <a:lnTo>
                    <a:pt x="754" y="835"/>
                  </a:lnTo>
                  <a:lnTo>
                    <a:pt x="873" y="795"/>
                  </a:lnTo>
                  <a:lnTo>
                    <a:pt x="992" y="715"/>
                  </a:lnTo>
                  <a:lnTo>
                    <a:pt x="1111" y="636"/>
                  </a:lnTo>
                  <a:lnTo>
                    <a:pt x="1150" y="795"/>
                  </a:lnTo>
                  <a:lnTo>
                    <a:pt x="1230" y="954"/>
                  </a:lnTo>
                  <a:lnTo>
                    <a:pt x="1349" y="954"/>
                  </a:lnTo>
                  <a:lnTo>
                    <a:pt x="1468" y="954"/>
                  </a:lnTo>
                  <a:lnTo>
                    <a:pt x="1547" y="835"/>
                  </a:lnTo>
                  <a:lnTo>
                    <a:pt x="1666" y="835"/>
                  </a:lnTo>
                  <a:lnTo>
                    <a:pt x="1785" y="835"/>
                  </a:lnTo>
                  <a:lnTo>
                    <a:pt x="1984" y="835"/>
                  </a:lnTo>
                  <a:lnTo>
                    <a:pt x="2143" y="835"/>
                  </a:lnTo>
                  <a:lnTo>
                    <a:pt x="2301" y="795"/>
                  </a:lnTo>
                  <a:lnTo>
                    <a:pt x="2420" y="795"/>
                  </a:lnTo>
                  <a:lnTo>
                    <a:pt x="2619" y="755"/>
                  </a:lnTo>
                  <a:lnTo>
                    <a:pt x="2738" y="715"/>
                  </a:lnTo>
                  <a:lnTo>
                    <a:pt x="2857" y="715"/>
                  </a:lnTo>
                  <a:lnTo>
                    <a:pt x="2976" y="636"/>
                  </a:lnTo>
                  <a:lnTo>
                    <a:pt x="3095" y="636"/>
                  </a:lnTo>
                  <a:lnTo>
                    <a:pt x="3214" y="556"/>
                  </a:lnTo>
                  <a:lnTo>
                    <a:pt x="3373" y="556"/>
                  </a:lnTo>
                  <a:lnTo>
                    <a:pt x="3492" y="516"/>
                  </a:lnTo>
                  <a:lnTo>
                    <a:pt x="3611" y="477"/>
                  </a:lnTo>
                  <a:lnTo>
                    <a:pt x="3770" y="636"/>
                  </a:lnTo>
                  <a:lnTo>
                    <a:pt x="3929" y="715"/>
                  </a:lnTo>
                  <a:lnTo>
                    <a:pt x="4048" y="715"/>
                  </a:lnTo>
                  <a:lnTo>
                    <a:pt x="4167" y="835"/>
                  </a:lnTo>
                  <a:lnTo>
                    <a:pt x="4286" y="875"/>
                  </a:lnTo>
                  <a:lnTo>
                    <a:pt x="4405" y="954"/>
                  </a:lnTo>
                  <a:lnTo>
                    <a:pt x="4524" y="994"/>
                  </a:lnTo>
                  <a:lnTo>
                    <a:pt x="4643" y="954"/>
                  </a:lnTo>
                  <a:lnTo>
                    <a:pt x="4762" y="875"/>
                  </a:lnTo>
                  <a:lnTo>
                    <a:pt x="4881" y="835"/>
                  </a:lnTo>
                  <a:lnTo>
                    <a:pt x="5040" y="795"/>
                  </a:lnTo>
                  <a:lnTo>
                    <a:pt x="5199" y="795"/>
                  </a:lnTo>
                  <a:lnTo>
                    <a:pt x="5318" y="755"/>
                  </a:lnTo>
                  <a:lnTo>
                    <a:pt x="5437" y="755"/>
                  </a:lnTo>
                  <a:lnTo>
                    <a:pt x="5595" y="715"/>
                  </a:lnTo>
                  <a:lnTo>
                    <a:pt x="5715" y="675"/>
                  </a:lnTo>
                  <a:lnTo>
                    <a:pt x="5834" y="636"/>
                  </a:lnTo>
                  <a:lnTo>
                    <a:pt x="5992" y="556"/>
                  </a:lnTo>
                  <a:lnTo>
                    <a:pt x="7421" y="994"/>
                  </a:lnTo>
                  <a:lnTo>
                    <a:pt x="8731" y="556"/>
                  </a:lnTo>
                  <a:lnTo>
                    <a:pt x="8850" y="636"/>
                  </a:lnTo>
                  <a:lnTo>
                    <a:pt x="9088" y="755"/>
                  </a:lnTo>
                  <a:lnTo>
                    <a:pt x="9207" y="795"/>
                  </a:lnTo>
                  <a:lnTo>
                    <a:pt x="9326" y="795"/>
                  </a:lnTo>
                  <a:lnTo>
                    <a:pt x="9445" y="755"/>
                  </a:lnTo>
                  <a:lnTo>
                    <a:pt x="9564" y="715"/>
                  </a:lnTo>
                  <a:lnTo>
                    <a:pt x="9683" y="675"/>
                  </a:lnTo>
                  <a:lnTo>
                    <a:pt x="9763" y="795"/>
                  </a:lnTo>
                  <a:lnTo>
                    <a:pt x="9882" y="875"/>
                  </a:lnTo>
                  <a:lnTo>
                    <a:pt x="10001" y="875"/>
                  </a:lnTo>
                  <a:lnTo>
                    <a:pt x="10120" y="835"/>
                  </a:lnTo>
                  <a:lnTo>
                    <a:pt x="10239" y="835"/>
                  </a:lnTo>
                  <a:lnTo>
                    <a:pt x="10437" y="835"/>
                  </a:lnTo>
                  <a:lnTo>
                    <a:pt x="10636" y="835"/>
                  </a:lnTo>
                  <a:lnTo>
                    <a:pt x="10874" y="835"/>
                  </a:lnTo>
                  <a:lnTo>
                    <a:pt x="11034" y="795"/>
                  </a:lnTo>
                  <a:lnTo>
                    <a:pt x="11153" y="715"/>
                  </a:lnTo>
                  <a:lnTo>
                    <a:pt x="11708" y="675"/>
                  </a:lnTo>
                  <a:lnTo>
                    <a:pt x="12343" y="596"/>
                  </a:lnTo>
                  <a:lnTo>
                    <a:pt x="12581" y="516"/>
                  </a:lnTo>
                  <a:lnTo>
                    <a:pt x="12701" y="556"/>
                  </a:lnTo>
                  <a:lnTo>
                    <a:pt x="12939" y="675"/>
                  </a:lnTo>
                  <a:lnTo>
                    <a:pt x="13058" y="715"/>
                  </a:lnTo>
                  <a:lnTo>
                    <a:pt x="13216" y="715"/>
                  </a:lnTo>
                  <a:lnTo>
                    <a:pt x="13375" y="675"/>
                  </a:lnTo>
                  <a:lnTo>
                    <a:pt x="13653" y="675"/>
                  </a:lnTo>
                  <a:lnTo>
                    <a:pt x="13891" y="715"/>
                  </a:lnTo>
                  <a:lnTo>
                    <a:pt x="14050" y="715"/>
                  </a:lnTo>
                  <a:lnTo>
                    <a:pt x="14169" y="715"/>
                  </a:lnTo>
                  <a:lnTo>
                    <a:pt x="14367" y="795"/>
                  </a:lnTo>
                  <a:lnTo>
                    <a:pt x="14486" y="835"/>
                  </a:lnTo>
                  <a:lnTo>
                    <a:pt x="14606" y="875"/>
                  </a:lnTo>
                  <a:lnTo>
                    <a:pt x="14804" y="875"/>
                  </a:lnTo>
                  <a:lnTo>
                    <a:pt x="14923" y="875"/>
                  </a:lnTo>
                  <a:lnTo>
                    <a:pt x="15082" y="875"/>
                  </a:lnTo>
                  <a:lnTo>
                    <a:pt x="15201" y="835"/>
                  </a:lnTo>
                  <a:lnTo>
                    <a:pt x="15320" y="795"/>
                  </a:lnTo>
                  <a:lnTo>
                    <a:pt x="15479" y="795"/>
                  </a:lnTo>
                  <a:lnTo>
                    <a:pt x="15637" y="715"/>
                  </a:lnTo>
                  <a:lnTo>
                    <a:pt x="15796" y="715"/>
                  </a:lnTo>
                  <a:lnTo>
                    <a:pt x="15955" y="636"/>
                  </a:lnTo>
                  <a:lnTo>
                    <a:pt x="16074" y="596"/>
                  </a:lnTo>
                  <a:lnTo>
                    <a:pt x="16193" y="556"/>
                  </a:lnTo>
                  <a:lnTo>
                    <a:pt x="16431" y="636"/>
                  </a:lnTo>
                  <a:lnTo>
                    <a:pt x="16590" y="755"/>
                  </a:lnTo>
                  <a:lnTo>
                    <a:pt x="16709" y="875"/>
                  </a:lnTo>
                  <a:lnTo>
                    <a:pt x="16828" y="954"/>
                  </a:lnTo>
                  <a:lnTo>
                    <a:pt x="16947" y="954"/>
                  </a:lnTo>
                  <a:lnTo>
                    <a:pt x="17066" y="994"/>
                  </a:lnTo>
                  <a:lnTo>
                    <a:pt x="17225" y="994"/>
                  </a:lnTo>
                  <a:lnTo>
                    <a:pt x="17384" y="954"/>
                  </a:lnTo>
                  <a:lnTo>
                    <a:pt x="17503" y="954"/>
                  </a:lnTo>
                  <a:lnTo>
                    <a:pt x="17661" y="795"/>
                  </a:lnTo>
                  <a:lnTo>
                    <a:pt x="17900" y="636"/>
                  </a:lnTo>
                  <a:lnTo>
                    <a:pt x="18098" y="556"/>
                  </a:lnTo>
                  <a:lnTo>
                    <a:pt x="18217" y="516"/>
                  </a:lnTo>
                  <a:lnTo>
                    <a:pt x="18336" y="596"/>
                  </a:lnTo>
                  <a:lnTo>
                    <a:pt x="18455" y="636"/>
                  </a:lnTo>
                  <a:lnTo>
                    <a:pt x="20797" y="1033"/>
                  </a:lnTo>
                  <a:lnTo>
                    <a:pt x="22067" y="875"/>
                  </a:lnTo>
                  <a:lnTo>
                    <a:pt x="22067" y="0"/>
                  </a:lnTo>
                  <a:lnTo>
                    <a:pt x="0" y="79"/>
                  </a:lnTo>
                  <a:lnTo>
                    <a:pt x="198" y="954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"/>
          <p:cNvGrpSpPr/>
          <p:nvPr/>
        </p:nvGrpSpPr>
        <p:grpSpPr>
          <a:xfrm>
            <a:off x="6083280" y="3083040"/>
            <a:ext cx="3336840" cy="2786040"/>
            <a:chOff x="6083280" y="3083040"/>
            <a:chExt cx="3336840" cy="2786040"/>
          </a:xfrm>
        </p:grpSpPr>
        <p:grpSp>
          <p:nvGrpSpPr>
            <p:cNvPr id="72" name=""/>
            <p:cNvGrpSpPr/>
            <p:nvPr/>
          </p:nvGrpSpPr>
          <p:grpSpPr>
            <a:xfrm>
              <a:off x="6411960" y="5349960"/>
              <a:ext cx="2694240" cy="519120"/>
              <a:chOff x="6411960" y="5349960"/>
              <a:chExt cx="2694240" cy="519120"/>
            </a:xfrm>
          </p:grpSpPr>
          <p:grpSp>
            <p:nvGrpSpPr>
              <p:cNvPr id="73" name=""/>
              <p:cNvGrpSpPr/>
              <p:nvPr/>
            </p:nvGrpSpPr>
            <p:grpSpPr>
              <a:xfrm>
                <a:off x="6411960" y="5511960"/>
                <a:ext cx="2694240" cy="357120"/>
                <a:chOff x="6411960" y="5511960"/>
                <a:chExt cx="2694240" cy="357120"/>
              </a:xfrm>
            </p:grpSpPr>
            <p:sp>
              <p:nvSpPr>
                <p:cNvPr id="74" name=""/>
                <p:cNvSpPr/>
                <p:nvPr/>
              </p:nvSpPr>
              <p:spPr>
                <a:xfrm>
                  <a:off x="6416640" y="5511960"/>
                  <a:ext cx="2689560" cy="189360"/>
                </a:xfrm>
                <a:custGeom>
                  <a:avLst/>
                  <a:gdLst/>
                  <a:ahLst/>
                  <a:rect l="0" t="0" r="r" b="b"/>
                  <a:pathLst>
                    <a:path w="7471" h="526">
                      <a:moveTo>
                        <a:pt x="0" y="526"/>
                      </a:moveTo>
                      <a:lnTo>
                        <a:pt x="7471" y="526"/>
                      </a:lnTo>
                      <a:lnTo>
                        <a:pt x="7038" y="0"/>
                      </a:lnTo>
                      <a:lnTo>
                        <a:pt x="449" y="0"/>
                      </a:lnTo>
                      <a:lnTo>
                        <a:pt x="0" y="52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75" name=""/>
                <p:cNvSpPr/>
                <p:nvPr/>
              </p:nvSpPr>
              <p:spPr>
                <a:xfrm>
                  <a:off x="6411960" y="5691240"/>
                  <a:ext cx="2687760" cy="177840"/>
                </a:xfrm>
                <a:prstGeom prst="rect">
                  <a:avLst/>
                </a:prstGeom>
                <a:solidFill>
                  <a:srgbClr val="C0C0C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sp>
            <p:nvSpPr>
              <p:cNvPr id="76" name=""/>
              <p:cNvSpPr/>
              <p:nvPr/>
            </p:nvSpPr>
            <p:spPr>
              <a:xfrm>
                <a:off x="7040520" y="5349960"/>
                <a:ext cx="1429200" cy="348120"/>
              </a:xfrm>
              <a:custGeom>
                <a:avLst/>
                <a:gdLst/>
                <a:ahLst/>
                <a:rect l="0" t="0" r="r" b="b"/>
                <a:pathLst>
                  <a:path w="3970" h="967">
                    <a:moveTo>
                      <a:pt x="0" y="543"/>
                    </a:moveTo>
                    <a:lnTo>
                      <a:pt x="0" y="0"/>
                    </a:lnTo>
                    <a:lnTo>
                      <a:pt x="3970" y="0"/>
                    </a:lnTo>
                    <a:lnTo>
                      <a:pt x="3970" y="556"/>
                    </a:lnTo>
                    <a:lnTo>
                      <a:pt x="3948" y="609"/>
                    </a:lnTo>
                    <a:lnTo>
                      <a:pt x="3917" y="653"/>
                    </a:lnTo>
                    <a:lnTo>
                      <a:pt x="3838" y="697"/>
                    </a:lnTo>
                    <a:lnTo>
                      <a:pt x="3750" y="738"/>
                    </a:lnTo>
                    <a:lnTo>
                      <a:pt x="3640" y="778"/>
                    </a:lnTo>
                    <a:lnTo>
                      <a:pt x="3538" y="813"/>
                    </a:lnTo>
                    <a:lnTo>
                      <a:pt x="3406" y="839"/>
                    </a:lnTo>
                    <a:lnTo>
                      <a:pt x="3256" y="866"/>
                    </a:lnTo>
                    <a:lnTo>
                      <a:pt x="3128" y="888"/>
                    </a:lnTo>
                    <a:lnTo>
                      <a:pt x="2924" y="919"/>
                    </a:lnTo>
                    <a:lnTo>
                      <a:pt x="2748" y="932"/>
                    </a:lnTo>
                    <a:lnTo>
                      <a:pt x="2576" y="954"/>
                    </a:lnTo>
                    <a:lnTo>
                      <a:pt x="2386" y="958"/>
                    </a:lnTo>
                    <a:lnTo>
                      <a:pt x="2166" y="967"/>
                    </a:lnTo>
                    <a:lnTo>
                      <a:pt x="1883" y="967"/>
                    </a:lnTo>
                    <a:lnTo>
                      <a:pt x="1628" y="958"/>
                    </a:lnTo>
                    <a:lnTo>
                      <a:pt x="1385" y="954"/>
                    </a:lnTo>
                    <a:lnTo>
                      <a:pt x="1160" y="932"/>
                    </a:lnTo>
                    <a:lnTo>
                      <a:pt x="978" y="914"/>
                    </a:lnTo>
                    <a:lnTo>
                      <a:pt x="833" y="888"/>
                    </a:lnTo>
                    <a:lnTo>
                      <a:pt x="648" y="861"/>
                    </a:lnTo>
                    <a:lnTo>
                      <a:pt x="498" y="826"/>
                    </a:lnTo>
                    <a:lnTo>
                      <a:pt x="366" y="791"/>
                    </a:lnTo>
                    <a:lnTo>
                      <a:pt x="246" y="747"/>
                    </a:lnTo>
                    <a:lnTo>
                      <a:pt x="167" y="710"/>
                    </a:lnTo>
                    <a:lnTo>
                      <a:pt x="101" y="680"/>
                    </a:lnTo>
                    <a:lnTo>
                      <a:pt x="57" y="636"/>
                    </a:lnTo>
                    <a:lnTo>
                      <a:pt x="22" y="596"/>
                    </a:lnTo>
                    <a:lnTo>
                      <a:pt x="0" y="543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77" name=""/>
            <p:cNvGrpSpPr/>
            <p:nvPr/>
          </p:nvGrpSpPr>
          <p:grpSpPr>
            <a:xfrm>
              <a:off x="6083280" y="3083040"/>
              <a:ext cx="3336840" cy="2335320"/>
              <a:chOff x="6083280" y="3083040"/>
              <a:chExt cx="3336840" cy="2335320"/>
            </a:xfrm>
          </p:grpSpPr>
          <p:grpSp>
            <p:nvGrpSpPr>
              <p:cNvPr id="78" name=""/>
              <p:cNvGrpSpPr/>
              <p:nvPr/>
            </p:nvGrpSpPr>
            <p:grpSpPr>
              <a:xfrm>
                <a:off x="6083280" y="3083040"/>
                <a:ext cx="3336840" cy="2335320"/>
                <a:chOff x="6083280" y="3083040"/>
                <a:chExt cx="3336840" cy="2335320"/>
              </a:xfrm>
            </p:grpSpPr>
            <p:sp>
              <p:nvSpPr>
                <p:cNvPr id="79" name=""/>
                <p:cNvSpPr/>
                <p:nvPr/>
              </p:nvSpPr>
              <p:spPr>
                <a:xfrm>
                  <a:off x="6083280" y="3083040"/>
                  <a:ext cx="3336840" cy="2335320"/>
                </a:xfrm>
                <a:prstGeom prst="roundRect">
                  <a:avLst/>
                </a:prstGeom>
                <a:solidFill>
                  <a:srgbClr val="C0C0C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80" name=""/>
                <p:cNvSpPr/>
                <p:nvPr/>
              </p:nvSpPr>
              <p:spPr>
                <a:xfrm>
                  <a:off x="6453360" y="3341520"/>
                  <a:ext cx="2597040" cy="1817640"/>
                </a:xfrm>
                <a:prstGeom prst="roundRect">
                  <a:avLst/>
                </a:prstGeom>
                <a:solidFill>
                  <a:srgbClr val="80808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81" name=""/>
                <p:cNvSpPr/>
                <p:nvPr/>
              </p:nvSpPr>
              <p:spPr>
                <a:xfrm>
                  <a:off x="6597720" y="3440160"/>
                  <a:ext cx="2308320" cy="1617840"/>
                </a:xfrm>
                <a:prstGeom prst="roundRect">
                  <a:avLst/>
                </a:prstGeom>
                <a:solidFill>
                  <a:srgbClr val="008000"/>
                </a:solidFill>
                <a:ln w="12600">
                  <a:solidFill>
                    <a:srgbClr val="000000"/>
                  </a:solidFill>
                  <a:round/>
                </a:ln>
              </p:spPr>
              <p:txBody>
                <a:bodyPr lIns="96120" tIns="51120" rIns="96120" bIns="51120" anchor="t">
                  <a:noAutofit/>
                </a:bodyPr>
                <a:p>
                  <a:endParaRPr lang="en-US" sz="1800" b="0" u="none" strike="noStrike">
                    <a:solidFill>
                      <a:srgbClr val="FFFFFF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sp>
            <p:nvSpPr>
              <p:cNvPr id="82" name=""/>
              <p:cNvSpPr/>
              <p:nvPr/>
            </p:nvSpPr>
            <p:spPr>
              <a:xfrm>
                <a:off x="8869320" y="5280120"/>
                <a:ext cx="100080" cy="25560"/>
              </a:xfrm>
              <a:prstGeom prst="rect">
                <a:avLst/>
              </a:prstGeom>
              <a:solidFill>
                <a:srgbClr val="00800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-25560" rIns="96120" bIns="-25560" anchor="t">
                <a:noAutofit/>
              </a:bodyPr>
              <a:p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83" name=""/>
          <p:cNvSpPr/>
          <p:nvPr/>
        </p:nvSpPr>
        <p:spPr>
          <a:xfrm>
            <a:off x="104292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59552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215280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270504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5764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380988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638360" y="3782880"/>
            <a:ext cx="2195640" cy="46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StudentName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" name=""/>
          <p:cNvGrpSpPr/>
          <p:nvPr/>
        </p:nvGrpSpPr>
        <p:grpSpPr>
          <a:xfrm>
            <a:off x="927000" y="858960"/>
            <a:ext cx="7958880" cy="1986120"/>
            <a:chOff x="927000" y="858960"/>
            <a:chExt cx="7958880" cy="1986120"/>
          </a:xfrm>
        </p:grpSpPr>
        <p:sp>
          <p:nvSpPr>
            <p:cNvPr id="91" name=""/>
            <p:cNvSpPr/>
            <p:nvPr/>
          </p:nvSpPr>
          <p:spPr>
            <a:xfrm>
              <a:off x="1042920" y="1001880"/>
              <a:ext cx="7743960" cy="17715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"/>
            <p:cNvSpPr txBox="1"/>
            <p:nvPr/>
          </p:nvSpPr>
          <p:spPr>
            <a:xfrm>
              <a:off x="1179360" y="1752480"/>
              <a:ext cx="7400880" cy="82224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"/>
            <p:cNvSpPr txBox="1"/>
            <p:nvPr/>
          </p:nvSpPr>
          <p:spPr>
            <a:xfrm>
              <a:off x="1170000" y="1168560"/>
              <a:ext cx="7434360" cy="46836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3000"/>
                </a:lnSpc>
                <a:spcAft>
                  <a:spcPts val="1247"/>
                </a:spcAft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PIC X(6) VALUE SPACES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"/>
            <p:cNvSpPr/>
            <p:nvPr/>
          </p:nvSpPr>
          <p:spPr>
            <a:xfrm>
              <a:off x="955800" y="2530440"/>
              <a:ext cx="7930080" cy="314640"/>
            </a:xfrm>
            <a:custGeom>
              <a:avLst/>
              <a:gdLst/>
              <a:ahLst/>
              <a:rect l="0" t="0" r="r" b="b"/>
              <a:pathLst>
                <a:path w="22028" h="874">
                  <a:moveTo>
                    <a:pt x="119" y="317"/>
                  </a:moveTo>
                  <a:lnTo>
                    <a:pt x="357" y="277"/>
                  </a:lnTo>
                  <a:lnTo>
                    <a:pt x="476" y="238"/>
                  </a:lnTo>
                  <a:lnTo>
                    <a:pt x="674" y="198"/>
                  </a:lnTo>
                  <a:lnTo>
                    <a:pt x="793" y="158"/>
                  </a:lnTo>
                  <a:lnTo>
                    <a:pt x="912" y="79"/>
                  </a:lnTo>
                  <a:lnTo>
                    <a:pt x="1150" y="238"/>
                  </a:lnTo>
                  <a:lnTo>
                    <a:pt x="1230" y="357"/>
                  </a:lnTo>
                  <a:lnTo>
                    <a:pt x="1349" y="477"/>
                  </a:lnTo>
                  <a:lnTo>
                    <a:pt x="1468" y="477"/>
                  </a:lnTo>
                  <a:lnTo>
                    <a:pt x="1587" y="477"/>
                  </a:lnTo>
                  <a:lnTo>
                    <a:pt x="1785" y="396"/>
                  </a:lnTo>
                  <a:lnTo>
                    <a:pt x="1944" y="317"/>
                  </a:lnTo>
                  <a:lnTo>
                    <a:pt x="2063" y="238"/>
                  </a:lnTo>
                  <a:lnTo>
                    <a:pt x="2182" y="158"/>
                  </a:lnTo>
                  <a:lnTo>
                    <a:pt x="2301" y="79"/>
                  </a:lnTo>
                  <a:lnTo>
                    <a:pt x="2420" y="158"/>
                  </a:lnTo>
                  <a:lnTo>
                    <a:pt x="2579" y="238"/>
                  </a:lnTo>
                  <a:lnTo>
                    <a:pt x="2698" y="317"/>
                  </a:lnTo>
                  <a:lnTo>
                    <a:pt x="2778" y="477"/>
                  </a:lnTo>
                  <a:lnTo>
                    <a:pt x="2897" y="516"/>
                  </a:lnTo>
                  <a:lnTo>
                    <a:pt x="3016" y="596"/>
                  </a:lnTo>
                  <a:lnTo>
                    <a:pt x="3214" y="636"/>
                  </a:lnTo>
                  <a:lnTo>
                    <a:pt x="3373" y="477"/>
                  </a:lnTo>
                  <a:lnTo>
                    <a:pt x="3532" y="396"/>
                  </a:lnTo>
                  <a:lnTo>
                    <a:pt x="3651" y="317"/>
                  </a:lnTo>
                  <a:lnTo>
                    <a:pt x="3770" y="238"/>
                  </a:lnTo>
                  <a:lnTo>
                    <a:pt x="3889" y="158"/>
                  </a:lnTo>
                  <a:lnTo>
                    <a:pt x="4008" y="79"/>
                  </a:lnTo>
                  <a:lnTo>
                    <a:pt x="4127" y="0"/>
                  </a:lnTo>
                  <a:lnTo>
                    <a:pt x="4246" y="0"/>
                  </a:lnTo>
                  <a:lnTo>
                    <a:pt x="5437" y="556"/>
                  </a:lnTo>
                  <a:lnTo>
                    <a:pt x="7025" y="158"/>
                  </a:lnTo>
                  <a:lnTo>
                    <a:pt x="7025" y="198"/>
                  </a:lnTo>
                  <a:lnTo>
                    <a:pt x="7144" y="238"/>
                  </a:lnTo>
                  <a:lnTo>
                    <a:pt x="7263" y="357"/>
                  </a:lnTo>
                  <a:lnTo>
                    <a:pt x="7343" y="477"/>
                  </a:lnTo>
                  <a:lnTo>
                    <a:pt x="7501" y="477"/>
                  </a:lnTo>
                  <a:lnTo>
                    <a:pt x="7621" y="477"/>
                  </a:lnTo>
                  <a:lnTo>
                    <a:pt x="7779" y="396"/>
                  </a:lnTo>
                  <a:lnTo>
                    <a:pt x="7898" y="317"/>
                  </a:lnTo>
                  <a:lnTo>
                    <a:pt x="8017" y="238"/>
                  </a:lnTo>
                  <a:lnTo>
                    <a:pt x="8136" y="238"/>
                  </a:lnTo>
                  <a:lnTo>
                    <a:pt x="8295" y="198"/>
                  </a:lnTo>
                  <a:lnTo>
                    <a:pt x="8930" y="158"/>
                  </a:lnTo>
                  <a:lnTo>
                    <a:pt x="9089" y="119"/>
                  </a:lnTo>
                  <a:lnTo>
                    <a:pt x="9089" y="277"/>
                  </a:lnTo>
                  <a:lnTo>
                    <a:pt x="9168" y="396"/>
                  </a:lnTo>
                  <a:lnTo>
                    <a:pt x="9287" y="396"/>
                  </a:lnTo>
                  <a:lnTo>
                    <a:pt x="9406" y="396"/>
                  </a:lnTo>
                  <a:lnTo>
                    <a:pt x="9565" y="436"/>
                  </a:lnTo>
                  <a:lnTo>
                    <a:pt x="9724" y="477"/>
                  </a:lnTo>
                  <a:lnTo>
                    <a:pt x="9883" y="516"/>
                  </a:lnTo>
                  <a:lnTo>
                    <a:pt x="10002" y="516"/>
                  </a:lnTo>
                  <a:lnTo>
                    <a:pt x="10240" y="396"/>
                  </a:lnTo>
                  <a:lnTo>
                    <a:pt x="10399" y="357"/>
                  </a:lnTo>
                  <a:lnTo>
                    <a:pt x="10518" y="317"/>
                  </a:lnTo>
                  <a:lnTo>
                    <a:pt x="10557" y="477"/>
                  </a:lnTo>
                  <a:lnTo>
                    <a:pt x="10756" y="477"/>
                  </a:lnTo>
                  <a:lnTo>
                    <a:pt x="10875" y="477"/>
                  </a:lnTo>
                  <a:lnTo>
                    <a:pt x="11034" y="396"/>
                  </a:lnTo>
                  <a:lnTo>
                    <a:pt x="11153" y="357"/>
                  </a:lnTo>
                  <a:lnTo>
                    <a:pt x="11272" y="317"/>
                  </a:lnTo>
                  <a:lnTo>
                    <a:pt x="11391" y="396"/>
                  </a:lnTo>
                  <a:lnTo>
                    <a:pt x="11629" y="477"/>
                  </a:lnTo>
                  <a:lnTo>
                    <a:pt x="11827" y="516"/>
                  </a:lnTo>
                  <a:lnTo>
                    <a:pt x="12066" y="516"/>
                  </a:lnTo>
                  <a:lnTo>
                    <a:pt x="12264" y="477"/>
                  </a:lnTo>
                  <a:lnTo>
                    <a:pt x="12423" y="436"/>
                  </a:lnTo>
                  <a:lnTo>
                    <a:pt x="13058" y="357"/>
                  </a:lnTo>
                  <a:lnTo>
                    <a:pt x="13693" y="317"/>
                  </a:lnTo>
                  <a:lnTo>
                    <a:pt x="13772" y="477"/>
                  </a:lnTo>
                  <a:lnTo>
                    <a:pt x="14010" y="396"/>
                  </a:lnTo>
                  <a:lnTo>
                    <a:pt x="14169" y="357"/>
                  </a:lnTo>
                  <a:lnTo>
                    <a:pt x="14288" y="317"/>
                  </a:lnTo>
                  <a:lnTo>
                    <a:pt x="14407" y="198"/>
                  </a:lnTo>
                  <a:lnTo>
                    <a:pt x="14566" y="158"/>
                  </a:lnTo>
                  <a:lnTo>
                    <a:pt x="14764" y="158"/>
                  </a:lnTo>
                  <a:lnTo>
                    <a:pt x="14883" y="238"/>
                  </a:lnTo>
                  <a:lnTo>
                    <a:pt x="15002" y="238"/>
                  </a:lnTo>
                  <a:lnTo>
                    <a:pt x="15121" y="238"/>
                  </a:lnTo>
                  <a:lnTo>
                    <a:pt x="15439" y="277"/>
                  </a:lnTo>
                  <a:lnTo>
                    <a:pt x="16074" y="317"/>
                  </a:lnTo>
                  <a:lnTo>
                    <a:pt x="16710" y="317"/>
                  </a:lnTo>
                  <a:lnTo>
                    <a:pt x="16829" y="317"/>
                  </a:lnTo>
                  <a:lnTo>
                    <a:pt x="16948" y="277"/>
                  </a:lnTo>
                  <a:lnTo>
                    <a:pt x="17067" y="317"/>
                  </a:lnTo>
                  <a:lnTo>
                    <a:pt x="17186" y="317"/>
                  </a:lnTo>
                  <a:lnTo>
                    <a:pt x="17305" y="436"/>
                  </a:lnTo>
                  <a:lnTo>
                    <a:pt x="17464" y="396"/>
                  </a:lnTo>
                  <a:lnTo>
                    <a:pt x="17662" y="357"/>
                  </a:lnTo>
                  <a:lnTo>
                    <a:pt x="17821" y="317"/>
                  </a:lnTo>
                  <a:lnTo>
                    <a:pt x="18020" y="317"/>
                  </a:lnTo>
                  <a:lnTo>
                    <a:pt x="18258" y="238"/>
                  </a:lnTo>
                  <a:lnTo>
                    <a:pt x="18456" y="158"/>
                  </a:lnTo>
                  <a:lnTo>
                    <a:pt x="18575" y="158"/>
                  </a:lnTo>
                  <a:lnTo>
                    <a:pt x="18615" y="277"/>
                  </a:lnTo>
                  <a:lnTo>
                    <a:pt x="18734" y="317"/>
                  </a:lnTo>
                  <a:lnTo>
                    <a:pt x="18932" y="317"/>
                  </a:lnTo>
                  <a:lnTo>
                    <a:pt x="19131" y="357"/>
                  </a:lnTo>
                  <a:lnTo>
                    <a:pt x="19290" y="317"/>
                  </a:lnTo>
                  <a:lnTo>
                    <a:pt x="19448" y="238"/>
                  </a:lnTo>
                  <a:lnTo>
                    <a:pt x="19607" y="198"/>
                  </a:lnTo>
                  <a:lnTo>
                    <a:pt x="19726" y="158"/>
                  </a:lnTo>
                  <a:lnTo>
                    <a:pt x="19806" y="277"/>
                  </a:lnTo>
                  <a:lnTo>
                    <a:pt x="20004" y="436"/>
                  </a:lnTo>
                  <a:lnTo>
                    <a:pt x="20202" y="396"/>
                  </a:lnTo>
                  <a:lnTo>
                    <a:pt x="20322" y="396"/>
                  </a:lnTo>
                  <a:lnTo>
                    <a:pt x="20520" y="477"/>
                  </a:lnTo>
                  <a:lnTo>
                    <a:pt x="20639" y="516"/>
                  </a:lnTo>
                  <a:lnTo>
                    <a:pt x="20798" y="477"/>
                  </a:lnTo>
                  <a:lnTo>
                    <a:pt x="20917" y="477"/>
                  </a:lnTo>
                  <a:lnTo>
                    <a:pt x="21076" y="516"/>
                  </a:lnTo>
                  <a:lnTo>
                    <a:pt x="21195" y="516"/>
                  </a:lnTo>
                  <a:lnTo>
                    <a:pt x="21314" y="396"/>
                  </a:lnTo>
                  <a:lnTo>
                    <a:pt x="21433" y="277"/>
                  </a:lnTo>
                  <a:lnTo>
                    <a:pt x="21552" y="198"/>
                  </a:lnTo>
                  <a:lnTo>
                    <a:pt x="21671" y="158"/>
                  </a:lnTo>
                  <a:lnTo>
                    <a:pt x="22028" y="158"/>
                  </a:lnTo>
                  <a:lnTo>
                    <a:pt x="21988" y="874"/>
                  </a:lnTo>
                  <a:lnTo>
                    <a:pt x="0" y="874"/>
                  </a:lnTo>
                  <a:lnTo>
                    <a:pt x="119" y="317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"/>
            <p:cNvSpPr/>
            <p:nvPr/>
          </p:nvSpPr>
          <p:spPr>
            <a:xfrm>
              <a:off x="927000" y="858960"/>
              <a:ext cx="7944120" cy="371880"/>
            </a:xfrm>
            <a:custGeom>
              <a:avLst/>
              <a:gdLst/>
              <a:ahLst/>
              <a:rect l="0" t="0" r="r" b="b"/>
              <a:pathLst>
                <a:path w="22067" h="1033">
                  <a:moveTo>
                    <a:pt x="198" y="954"/>
                  </a:moveTo>
                  <a:lnTo>
                    <a:pt x="317" y="954"/>
                  </a:lnTo>
                  <a:lnTo>
                    <a:pt x="436" y="914"/>
                  </a:lnTo>
                  <a:lnTo>
                    <a:pt x="595" y="875"/>
                  </a:lnTo>
                  <a:lnTo>
                    <a:pt x="754" y="835"/>
                  </a:lnTo>
                  <a:lnTo>
                    <a:pt x="873" y="795"/>
                  </a:lnTo>
                  <a:lnTo>
                    <a:pt x="992" y="715"/>
                  </a:lnTo>
                  <a:lnTo>
                    <a:pt x="1111" y="636"/>
                  </a:lnTo>
                  <a:lnTo>
                    <a:pt x="1150" y="795"/>
                  </a:lnTo>
                  <a:lnTo>
                    <a:pt x="1230" y="954"/>
                  </a:lnTo>
                  <a:lnTo>
                    <a:pt x="1349" y="954"/>
                  </a:lnTo>
                  <a:lnTo>
                    <a:pt x="1468" y="954"/>
                  </a:lnTo>
                  <a:lnTo>
                    <a:pt x="1547" y="835"/>
                  </a:lnTo>
                  <a:lnTo>
                    <a:pt x="1666" y="835"/>
                  </a:lnTo>
                  <a:lnTo>
                    <a:pt x="1785" y="835"/>
                  </a:lnTo>
                  <a:lnTo>
                    <a:pt x="1984" y="835"/>
                  </a:lnTo>
                  <a:lnTo>
                    <a:pt x="2143" y="835"/>
                  </a:lnTo>
                  <a:lnTo>
                    <a:pt x="2301" y="795"/>
                  </a:lnTo>
                  <a:lnTo>
                    <a:pt x="2420" y="795"/>
                  </a:lnTo>
                  <a:lnTo>
                    <a:pt x="2619" y="755"/>
                  </a:lnTo>
                  <a:lnTo>
                    <a:pt x="2738" y="715"/>
                  </a:lnTo>
                  <a:lnTo>
                    <a:pt x="2857" y="715"/>
                  </a:lnTo>
                  <a:lnTo>
                    <a:pt x="2976" y="636"/>
                  </a:lnTo>
                  <a:lnTo>
                    <a:pt x="3095" y="636"/>
                  </a:lnTo>
                  <a:lnTo>
                    <a:pt x="3214" y="556"/>
                  </a:lnTo>
                  <a:lnTo>
                    <a:pt x="3373" y="556"/>
                  </a:lnTo>
                  <a:lnTo>
                    <a:pt x="3492" y="516"/>
                  </a:lnTo>
                  <a:lnTo>
                    <a:pt x="3611" y="477"/>
                  </a:lnTo>
                  <a:lnTo>
                    <a:pt x="3770" y="636"/>
                  </a:lnTo>
                  <a:lnTo>
                    <a:pt x="3929" y="715"/>
                  </a:lnTo>
                  <a:lnTo>
                    <a:pt x="4048" y="715"/>
                  </a:lnTo>
                  <a:lnTo>
                    <a:pt x="4167" y="835"/>
                  </a:lnTo>
                  <a:lnTo>
                    <a:pt x="4286" y="875"/>
                  </a:lnTo>
                  <a:lnTo>
                    <a:pt x="4405" y="954"/>
                  </a:lnTo>
                  <a:lnTo>
                    <a:pt x="4524" y="994"/>
                  </a:lnTo>
                  <a:lnTo>
                    <a:pt x="4643" y="954"/>
                  </a:lnTo>
                  <a:lnTo>
                    <a:pt x="4762" y="875"/>
                  </a:lnTo>
                  <a:lnTo>
                    <a:pt x="4881" y="835"/>
                  </a:lnTo>
                  <a:lnTo>
                    <a:pt x="5040" y="795"/>
                  </a:lnTo>
                  <a:lnTo>
                    <a:pt x="5199" y="795"/>
                  </a:lnTo>
                  <a:lnTo>
                    <a:pt x="5318" y="755"/>
                  </a:lnTo>
                  <a:lnTo>
                    <a:pt x="5437" y="755"/>
                  </a:lnTo>
                  <a:lnTo>
                    <a:pt x="5595" y="715"/>
                  </a:lnTo>
                  <a:lnTo>
                    <a:pt x="5715" y="675"/>
                  </a:lnTo>
                  <a:lnTo>
                    <a:pt x="5834" y="636"/>
                  </a:lnTo>
                  <a:lnTo>
                    <a:pt x="5992" y="556"/>
                  </a:lnTo>
                  <a:lnTo>
                    <a:pt x="7421" y="994"/>
                  </a:lnTo>
                  <a:lnTo>
                    <a:pt x="8731" y="556"/>
                  </a:lnTo>
                  <a:lnTo>
                    <a:pt x="8850" y="636"/>
                  </a:lnTo>
                  <a:lnTo>
                    <a:pt x="9088" y="755"/>
                  </a:lnTo>
                  <a:lnTo>
                    <a:pt x="9207" y="795"/>
                  </a:lnTo>
                  <a:lnTo>
                    <a:pt x="9326" y="795"/>
                  </a:lnTo>
                  <a:lnTo>
                    <a:pt x="9445" y="755"/>
                  </a:lnTo>
                  <a:lnTo>
                    <a:pt x="9564" y="715"/>
                  </a:lnTo>
                  <a:lnTo>
                    <a:pt x="9683" y="675"/>
                  </a:lnTo>
                  <a:lnTo>
                    <a:pt x="9763" y="795"/>
                  </a:lnTo>
                  <a:lnTo>
                    <a:pt x="9882" y="875"/>
                  </a:lnTo>
                  <a:lnTo>
                    <a:pt x="10001" y="875"/>
                  </a:lnTo>
                  <a:lnTo>
                    <a:pt x="10120" y="835"/>
                  </a:lnTo>
                  <a:lnTo>
                    <a:pt x="10239" y="835"/>
                  </a:lnTo>
                  <a:lnTo>
                    <a:pt x="10437" y="835"/>
                  </a:lnTo>
                  <a:lnTo>
                    <a:pt x="10636" y="835"/>
                  </a:lnTo>
                  <a:lnTo>
                    <a:pt x="10874" y="835"/>
                  </a:lnTo>
                  <a:lnTo>
                    <a:pt x="11034" y="795"/>
                  </a:lnTo>
                  <a:lnTo>
                    <a:pt x="11153" y="715"/>
                  </a:lnTo>
                  <a:lnTo>
                    <a:pt x="11708" y="675"/>
                  </a:lnTo>
                  <a:lnTo>
                    <a:pt x="12343" y="596"/>
                  </a:lnTo>
                  <a:lnTo>
                    <a:pt x="12581" y="516"/>
                  </a:lnTo>
                  <a:lnTo>
                    <a:pt x="12701" y="556"/>
                  </a:lnTo>
                  <a:lnTo>
                    <a:pt x="12939" y="675"/>
                  </a:lnTo>
                  <a:lnTo>
                    <a:pt x="13058" y="715"/>
                  </a:lnTo>
                  <a:lnTo>
                    <a:pt x="13216" y="715"/>
                  </a:lnTo>
                  <a:lnTo>
                    <a:pt x="13375" y="675"/>
                  </a:lnTo>
                  <a:lnTo>
                    <a:pt x="13653" y="675"/>
                  </a:lnTo>
                  <a:lnTo>
                    <a:pt x="13891" y="715"/>
                  </a:lnTo>
                  <a:lnTo>
                    <a:pt x="14050" y="715"/>
                  </a:lnTo>
                  <a:lnTo>
                    <a:pt x="14169" y="715"/>
                  </a:lnTo>
                  <a:lnTo>
                    <a:pt x="14367" y="795"/>
                  </a:lnTo>
                  <a:lnTo>
                    <a:pt x="14486" y="835"/>
                  </a:lnTo>
                  <a:lnTo>
                    <a:pt x="14606" y="875"/>
                  </a:lnTo>
                  <a:lnTo>
                    <a:pt x="14804" y="875"/>
                  </a:lnTo>
                  <a:lnTo>
                    <a:pt x="14923" y="875"/>
                  </a:lnTo>
                  <a:lnTo>
                    <a:pt x="15082" y="875"/>
                  </a:lnTo>
                  <a:lnTo>
                    <a:pt x="15201" y="835"/>
                  </a:lnTo>
                  <a:lnTo>
                    <a:pt x="15320" y="795"/>
                  </a:lnTo>
                  <a:lnTo>
                    <a:pt x="15479" y="795"/>
                  </a:lnTo>
                  <a:lnTo>
                    <a:pt x="15637" y="715"/>
                  </a:lnTo>
                  <a:lnTo>
                    <a:pt x="15796" y="715"/>
                  </a:lnTo>
                  <a:lnTo>
                    <a:pt x="15955" y="636"/>
                  </a:lnTo>
                  <a:lnTo>
                    <a:pt x="16074" y="596"/>
                  </a:lnTo>
                  <a:lnTo>
                    <a:pt x="16193" y="556"/>
                  </a:lnTo>
                  <a:lnTo>
                    <a:pt x="16431" y="636"/>
                  </a:lnTo>
                  <a:lnTo>
                    <a:pt x="16590" y="755"/>
                  </a:lnTo>
                  <a:lnTo>
                    <a:pt x="16709" y="875"/>
                  </a:lnTo>
                  <a:lnTo>
                    <a:pt x="16828" y="954"/>
                  </a:lnTo>
                  <a:lnTo>
                    <a:pt x="16947" y="954"/>
                  </a:lnTo>
                  <a:lnTo>
                    <a:pt x="17066" y="994"/>
                  </a:lnTo>
                  <a:lnTo>
                    <a:pt x="17225" y="994"/>
                  </a:lnTo>
                  <a:lnTo>
                    <a:pt x="17384" y="954"/>
                  </a:lnTo>
                  <a:lnTo>
                    <a:pt x="17503" y="954"/>
                  </a:lnTo>
                  <a:lnTo>
                    <a:pt x="17661" y="795"/>
                  </a:lnTo>
                  <a:lnTo>
                    <a:pt x="17900" y="636"/>
                  </a:lnTo>
                  <a:lnTo>
                    <a:pt x="18098" y="556"/>
                  </a:lnTo>
                  <a:lnTo>
                    <a:pt x="18217" y="516"/>
                  </a:lnTo>
                  <a:lnTo>
                    <a:pt x="18336" y="596"/>
                  </a:lnTo>
                  <a:lnTo>
                    <a:pt x="18455" y="636"/>
                  </a:lnTo>
                  <a:lnTo>
                    <a:pt x="20797" y="1033"/>
                  </a:lnTo>
                  <a:lnTo>
                    <a:pt x="22067" y="875"/>
                  </a:lnTo>
                  <a:lnTo>
                    <a:pt x="22067" y="0"/>
                  </a:lnTo>
                  <a:lnTo>
                    <a:pt x="0" y="79"/>
                  </a:lnTo>
                  <a:lnTo>
                    <a:pt x="198" y="954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6" name=""/>
          <p:cNvSpPr txBox="1"/>
          <p:nvPr/>
        </p:nvSpPr>
        <p:spPr>
          <a:xfrm>
            <a:off x="1244520" y="4427640"/>
            <a:ext cx="1852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</a:pPr>
            <a:r>
              <a:rPr lang="en-US" sz="25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J    O   H    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3124080" y="136440"/>
            <a:ext cx="29541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Using Variables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"/>
          <p:cNvSpPr/>
          <p:nvPr/>
        </p:nvSpPr>
        <p:spPr>
          <a:xfrm>
            <a:off x="104292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159552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215280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270504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325764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3809880" y="4287960"/>
            <a:ext cx="571680" cy="58572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1638360" y="3782880"/>
            <a:ext cx="2195640" cy="468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ourier New"/>
                <a:ea typeface="Courier New"/>
              </a:rPr>
              <a:t>StudentName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5" name=""/>
          <p:cNvGrpSpPr/>
          <p:nvPr/>
        </p:nvGrpSpPr>
        <p:grpSpPr>
          <a:xfrm>
            <a:off x="6411960" y="5349960"/>
            <a:ext cx="2694240" cy="519120"/>
            <a:chOff x="6411960" y="5349960"/>
            <a:chExt cx="2694240" cy="519120"/>
          </a:xfrm>
        </p:grpSpPr>
        <p:grpSp>
          <p:nvGrpSpPr>
            <p:cNvPr id="106" name=""/>
            <p:cNvGrpSpPr/>
            <p:nvPr/>
          </p:nvGrpSpPr>
          <p:grpSpPr>
            <a:xfrm>
              <a:off x="6411960" y="5511960"/>
              <a:ext cx="2694240" cy="357120"/>
              <a:chOff x="6411960" y="5511960"/>
              <a:chExt cx="2694240" cy="357120"/>
            </a:xfrm>
          </p:grpSpPr>
          <p:sp>
            <p:nvSpPr>
              <p:cNvPr id="107" name=""/>
              <p:cNvSpPr/>
              <p:nvPr/>
            </p:nvSpPr>
            <p:spPr>
              <a:xfrm>
                <a:off x="6416640" y="5511960"/>
                <a:ext cx="2689560" cy="189360"/>
              </a:xfrm>
              <a:custGeom>
                <a:avLst/>
                <a:gdLst/>
                <a:ahLst/>
                <a:rect l="0" t="0" r="r" b="b"/>
                <a:pathLst>
                  <a:path w="7471" h="526">
                    <a:moveTo>
                      <a:pt x="0" y="526"/>
                    </a:moveTo>
                    <a:lnTo>
                      <a:pt x="7471" y="526"/>
                    </a:lnTo>
                    <a:lnTo>
                      <a:pt x="7038" y="0"/>
                    </a:lnTo>
                    <a:lnTo>
                      <a:pt x="449" y="0"/>
                    </a:lnTo>
                    <a:lnTo>
                      <a:pt x="0" y="526"/>
                    </a:lnTo>
                    <a:close/>
                  </a:path>
                </a:pathLst>
              </a:cu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" name=""/>
              <p:cNvSpPr/>
              <p:nvPr/>
            </p:nvSpPr>
            <p:spPr>
              <a:xfrm>
                <a:off x="6411960" y="5691240"/>
                <a:ext cx="2687760" cy="177840"/>
              </a:xfrm>
              <a:prstGeom prst="rect">
                <a:avLst/>
              </a:prstGeom>
              <a:solidFill>
                <a:srgbClr val="C0C0C0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09" name=""/>
            <p:cNvSpPr/>
            <p:nvPr/>
          </p:nvSpPr>
          <p:spPr>
            <a:xfrm>
              <a:off x="7040520" y="5349960"/>
              <a:ext cx="1429200" cy="348120"/>
            </a:xfrm>
            <a:custGeom>
              <a:avLst/>
              <a:gdLst/>
              <a:ahLst/>
              <a:rect l="0" t="0" r="r" b="b"/>
              <a:pathLst>
                <a:path w="3970" h="967">
                  <a:moveTo>
                    <a:pt x="0" y="543"/>
                  </a:moveTo>
                  <a:lnTo>
                    <a:pt x="0" y="0"/>
                  </a:lnTo>
                  <a:lnTo>
                    <a:pt x="3970" y="0"/>
                  </a:lnTo>
                  <a:lnTo>
                    <a:pt x="3970" y="556"/>
                  </a:lnTo>
                  <a:lnTo>
                    <a:pt x="3948" y="609"/>
                  </a:lnTo>
                  <a:lnTo>
                    <a:pt x="3917" y="653"/>
                  </a:lnTo>
                  <a:lnTo>
                    <a:pt x="3838" y="697"/>
                  </a:lnTo>
                  <a:lnTo>
                    <a:pt x="3750" y="738"/>
                  </a:lnTo>
                  <a:lnTo>
                    <a:pt x="3640" y="778"/>
                  </a:lnTo>
                  <a:lnTo>
                    <a:pt x="3538" y="813"/>
                  </a:lnTo>
                  <a:lnTo>
                    <a:pt x="3406" y="839"/>
                  </a:lnTo>
                  <a:lnTo>
                    <a:pt x="3256" y="866"/>
                  </a:lnTo>
                  <a:lnTo>
                    <a:pt x="3128" y="888"/>
                  </a:lnTo>
                  <a:lnTo>
                    <a:pt x="2924" y="919"/>
                  </a:lnTo>
                  <a:lnTo>
                    <a:pt x="2748" y="932"/>
                  </a:lnTo>
                  <a:lnTo>
                    <a:pt x="2576" y="954"/>
                  </a:lnTo>
                  <a:lnTo>
                    <a:pt x="2386" y="958"/>
                  </a:lnTo>
                  <a:lnTo>
                    <a:pt x="2166" y="967"/>
                  </a:lnTo>
                  <a:lnTo>
                    <a:pt x="1883" y="967"/>
                  </a:lnTo>
                  <a:lnTo>
                    <a:pt x="1628" y="958"/>
                  </a:lnTo>
                  <a:lnTo>
                    <a:pt x="1385" y="954"/>
                  </a:lnTo>
                  <a:lnTo>
                    <a:pt x="1160" y="932"/>
                  </a:lnTo>
                  <a:lnTo>
                    <a:pt x="978" y="914"/>
                  </a:lnTo>
                  <a:lnTo>
                    <a:pt x="833" y="888"/>
                  </a:lnTo>
                  <a:lnTo>
                    <a:pt x="648" y="861"/>
                  </a:lnTo>
                  <a:lnTo>
                    <a:pt x="498" y="826"/>
                  </a:lnTo>
                  <a:lnTo>
                    <a:pt x="366" y="791"/>
                  </a:lnTo>
                  <a:lnTo>
                    <a:pt x="246" y="747"/>
                  </a:lnTo>
                  <a:lnTo>
                    <a:pt x="167" y="710"/>
                  </a:lnTo>
                  <a:lnTo>
                    <a:pt x="101" y="680"/>
                  </a:lnTo>
                  <a:lnTo>
                    <a:pt x="57" y="636"/>
                  </a:lnTo>
                  <a:lnTo>
                    <a:pt x="22" y="596"/>
                  </a:lnTo>
                  <a:lnTo>
                    <a:pt x="0" y="543"/>
                  </a:lnTo>
                  <a:close/>
                </a:path>
              </a:pathLst>
            </a:custGeom>
            <a:solidFill>
              <a:srgbClr val="C0C0C0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0" name=""/>
          <p:cNvSpPr/>
          <p:nvPr/>
        </p:nvSpPr>
        <p:spPr>
          <a:xfrm>
            <a:off x="6083280" y="3083040"/>
            <a:ext cx="3336840" cy="2335320"/>
          </a:xfrm>
          <a:prstGeom prst="roundRect">
            <a:avLst/>
          </a:prstGeom>
          <a:solidFill>
            <a:srgbClr val="C0C0C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6453360" y="3341520"/>
            <a:ext cx="2597040" cy="1817640"/>
          </a:xfrm>
          <a:prstGeom prst="roundRect">
            <a:avLst/>
          </a:prstGeom>
          <a:solidFill>
            <a:srgbClr val="808080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6597720" y="3440160"/>
            <a:ext cx="2308320" cy="1617840"/>
          </a:xfrm>
          <a:prstGeom prst="rect">
            <a:avLst/>
          </a:prstGeom>
          <a:solidFill>
            <a:srgbClr val="008000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8869320" y="5280120"/>
            <a:ext cx="100080" cy="25560"/>
          </a:xfrm>
          <a:prstGeom prst="rect">
            <a:avLst/>
          </a:prstGeom>
          <a:solidFill>
            <a:srgbClr val="008000"/>
          </a:solidFill>
          <a:ln w="12600">
            <a:solidFill>
              <a:srgbClr val="000000"/>
            </a:solidFill>
            <a:round/>
          </a:ln>
        </p:spPr>
        <p:txBody>
          <a:bodyPr lIns="96120" tIns="-25560" rIns="96120" bIns="-255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2427120" y="4987800"/>
            <a:ext cx="0" cy="557280"/>
          </a:xfrm>
          <a:prstGeom prst="line">
            <a:avLst/>
          </a:prstGeom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427120" y="5545080"/>
            <a:ext cx="6215400" cy="0"/>
          </a:xfrm>
          <a:prstGeom prst="line">
            <a:avLst/>
          </a:prstGeom>
          <a:ln w="255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6" name=""/>
          <p:cNvGrpSpPr/>
          <p:nvPr/>
        </p:nvGrpSpPr>
        <p:grpSpPr>
          <a:xfrm>
            <a:off x="927000" y="858960"/>
            <a:ext cx="7958880" cy="1986120"/>
            <a:chOff x="927000" y="858960"/>
            <a:chExt cx="7958880" cy="1986120"/>
          </a:xfrm>
        </p:grpSpPr>
        <p:sp>
          <p:nvSpPr>
            <p:cNvPr id="117" name=""/>
            <p:cNvSpPr/>
            <p:nvPr/>
          </p:nvSpPr>
          <p:spPr>
            <a:xfrm>
              <a:off x="1042920" y="1001880"/>
              <a:ext cx="7743960" cy="17715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"/>
            <p:cNvSpPr txBox="1"/>
            <p:nvPr/>
          </p:nvSpPr>
          <p:spPr>
            <a:xfrm>
              <a:off x="1179360" y="1752480"/>
              <a:ext cx="7400880" cy="82224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"JOHN" TO StudentName.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100000"/>
                </a:lnSpc>
              </a:pPr>
              <a:r>
                <a:rPr lang="en-US" sz="24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DISPLAY "My name is ", StudentName.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"/>
            <p:cNvSpPr txBox="1"/>
            <p:nvPr/>
          </p:nvSpPr>
          <p:spPr>
            <a:xfrm>
              <a:off x="1170000" y="1168560"/>
              <a:ext cx="7434360" cy="46836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3000"/>
                </a:lnSpc>
                <a:spcAft>
                  <a:spcPts val="1247"/>
                </a:spcAft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StudentName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PIC X(6) VALUE SPACES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.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"/>
            <p:cNvSpPr/>
            <p:nvPr/>
          </p:nvSpPr>
          <p:spPr>
            <a:xfrm>
              <a:off x="955800" y="2530440"/>
              <a:ext cx="7930080" cy="314640"/>
            </a:xfrm>
            <a:custGeom>
              <a:avLst/>
              <a:gdLst/>
              <a:ahLst/>
              <a:rect l="0" t="0" r="r" b="b"/>
              <a:pathLst>
                <a:path w="22028" h="874">
                  <a:moveTo>
                    <a:pt x="119" y="317"/>
                  </a:moveTo>
                  <a:lnTo>
                    <a:pt x="357" y="277"/>
                  </a:lnTo>
                  <a:lnTo>
                    <a:pt x="476" y="238"/>
                  </a:lnTo>
                  <a:lnTo>
                    <a:pt x="674" y="198"/>
                  </a:lnTo>
                  <a:lnTo>
                    <a:pt x="793" y="158"/>
                  </a:lnTo>
                  <a:lnTo>
                    <a:pt x="912" y="79"/>
                  </a:lnTo>
                  <a:lnTo>
                    <a:pt x="1150" y="238"/>
                  </a:lnTo>
                  <a:lnTo>
                    <a:pt x="1230" y="357"/>
                  </a:lnTo>
                  <a:lnTo>
                    <a:pt x="1349" y="477"/>
                  </a:lnTo>
                  <a:lnTo>
                    <a:pt x="1468" y="477"/>
                  </a:lnTo>
                  <a:lnTo>
                    <a:pt x="1587" y="477"/>
                  </a:lnTo>
                  <a:lnTo>
                    <a:pt x="1785" y="396"/>
                  </a:lnTo>
                  <a:lnTo>
                    <a:pt x="1944" y="317"/>
                  </a:lnTo>
                  <a:lnTo>
                    <a:pt x="2063" y="238"/>
                  </a:lnTo>
                  <a:lnTo>
                    <a:pt x="2182" y="158"/>
                  </a:lnTo>
                  <a:lnTo>
                    <a:pt x="2301" y="79"/>
                  </a:lnTo>
                  <a:lnTo>
                    <a:pt x="2420" y="158"/>
                  </a:lnTo>
                  <a:lnTo>
                    <a:pt x="2579" y="238"/>
                  </a:lnTo>
                  <a:lnTo>
                    <a:pt x="2698" y="317"/>
                  </a:lnTo>
                  <a:lnTo>
                    <a:pt x="2778" y="477"/>
                  </a:lnTo>
                  <a:lnTo>
                    <a:pt x="2897" y="516"/>
                  </a:lnTo>
                  <a:lnTo>
                    <a:pt x="3016" y="596"/>
                  </a:lnTo>
                  <a:lnTo>
                    <a:pt x="3214" y="636"/>
                  </a:lnTo>
                  <a:lnTo>
                    <a:pt x="3373" y="477"/>
                  </a:lnTo>
                  <a:lnTo>
                    <a:pt x="3532" y="396"/>
                  </a:lnTo>
                  <a:lnTo>
                    <a:pt x="3651" y="317"/>
                  </a:lnTo>
                  <a:lnTo>
                    <a:pt x="3770" y="238"/>
                  </a:lnTo>
                  <a:lnTo>
                    <a:pt x="3889" y="158"/>
                  </a:lnTo>
                  <a:lnTo>
                    <a:pt x="4008" y="79"/>
                  </a:lnTo>
                  <a:lnTo>
                    <a:pt x="4127" y="0"/>
                  </a:lnTo>
                  <a:lnTo>
                    <a:pt x="4246" y="0"/>
                  </a:lnTo>
                  <a:lnTo>
                    <a:pt x="5437" y="556"/>
                  </a:lnTo>
                  <a:lnTo>
                    <a:pt x="7025" y="158"/>
                  </a:lnTo>
                  <a:lnTo>
                    <a:pt x="7025" y="198"/>
                  </a:lnTo>
                  <a:lnTo>
                    <a:pt x="7144" y="238"/>
                  </a:lnTo>
                  <a:lnTo>
                    <a:pt x="7263" y="357"/>
                  </a:lnTo>
                  <a:lnTo>
                    <a:pt x="7343" y="477"/>
                  </a:lnTo>
                  <a:lnTo>
                    <a:pt x="7501" y="477"/>
                  </a:lnTo>
                  <a:lnTo>
                    <a:pt x="7621" y="477"/>
                  </a:lnTo>
                  <a:lnTo>
                    <a:pt x="7779" y="396"/>
                  </a:lnTo>
                  <a:lnTo>
                    <a:pt x="7898" y="317"/>
                  </a:lnTo>
                  <a:lnTo>
                    <a:pt x="8017" y="238"/>
                  </a:lnTo>
                  <a:lnTo>
                    <a:pt x="8136" y="238"/>
                  </a:lnTo>
                  <a:lnTo>
                    <a:pt x="8295" y="198"/>
                  </a:lnTo>
                  <a:lnTo>
                    <a:pt x="8930" y="158"/>
                  </a:lnTo>
                  <a:lnTo>
                    <a:pt x="9089" y="119"/>
                  </a:lnTo>
                  <a:lnTo>
                    <a:pt x="9089" y="277"/>
                  </a:lnTo>
                  <a:lnTo>
                    <a:pt x="9168" y="396"/>
                  </a:lnTo>
                  <a:lnTo>
                    <a:pt x="9287" y="396"/>
                  </a:lnTo>
                  <a:lnTo>
                    <a:pt x="9406" y="396"/>
                  </a:lnTo>
                  <a:lnTo>
                    <a:pt x="9565" y="436"/>
                  </a:lnTo>
                  <a:lnTo>
                    <a:pt x="9724" y="477"/>
                  </a:lnTo>
                  <a:lnTo>
                    <a:pt x="9883" y="516"/>
                  </a:lnTo>
                  <a:lnTo>
                    <a:pt x="10002" y="516"/>
                  </a:lnTo>
                  <a:lnTo>
                    <a:pt x="10240" y="396"/>
                  </a:lnTo>
                  <a:lnTo>
                    <a:pt x="10399" y="357"/>
                  </a:lnTo>
                  <a:lnTo>
                    <a:pt x="10518" y="317"/>
                  </a:lnTo>
                  <a:lnTo>
                    <a:pt x="10557" y="477"/>
                  </a:lnTo>
                  <a:lnTo>
                    <a:pt x="10756" y="477"/>
                  </a:lnTo>
                  <a:lnTo>
                    <a:pt x="10875" y="477"/>
                  </a:lnTo>
                  <a:lnTo>
                    <a:pt x="11034" y="396"/>
                  </a:lnTo>
                  <a:lnTo>
                    <a:pt x="11153" y="357"/>
                  </a:lnTo>
                  <a:lnTo>
                    <a:pt x="11272" y="317"/>
                  </a:lnTo>
                  <a:lnTo>
                    <a:pt x="11391" y="396"/>
                  </a:lnTo>
                  <a:lnTo>
                    <a:pt x="11629" y="477"/>
                  </a:lnTo>
                  <a:lnTo>
                    <a:pt x="11827" y="516"/>
                  </a:lnTo>
                  <a:lnTo>
                    <a:pt x="12066" y="516"/>
                  </a:lnTo>
                  <a:lnTo>
                    <a:pt x="12264" y="477"/>
                  </a:lnTo>
                  <a:lnTo>
                    <a:pt x="12423" y="436"/>
                  </a:lnTo>
                  <a:lnTo>
                    <a:pt x="13058" y="357"/>
                  </a:lnTo>
                  <a:lnTo>
                    <a:pt x="13693" y="317"/>
                  </a:lnTo>
                  <a:lnTo>
                    <a:pt x="13772" y="477"/>
                  </a:lnTo>
                  <a:lnTo>
                    <a:pt x="14010" y="396"/>
                  </a:lnTo>
                  <a:lnTo>
                    <a:pt x="14169" y="357"/>
                  </a:lnTo>
                  <a:lnTo>
                    <a:pt x="14288" y="317"/>
                  </a:lnTo>
                  <a:lnTo>
                    <a:pt x="14407" y="198"/>
                  </a:lnTo>
                  <a:lnTo>
                    <a:pt x="14566" y="158"/>
                  </a:lnTo>
                  <a:lnTo>
                    <a:pt x="14764" y="158"/>
                  </a:lnTo>
                  <a:lnTo>
                    <a:pt x="14883" y="238"/>
                  </a:lnTo>
                  <a:lnTo>
                    <a:pt x="15002" y="238"/>
                  </a:lnTo>
                  <a:lnTo>
                    <a:pt x="15121" y="238"/>
                  </a:lnTo>
                  <a:lnTo>
                    <a:pt x="15439" y="277"/>
                  </a:lnTo>
                  <a:lnTo>
                    <a:pt x="16074" y="317"/>
                  </a:lnTo>
                  <a:lnTo>
                    <a:pt x="16710" y="317"/>
                  </a:lnTo>
                  <a:lnTo>
                    <a:pt x="16829" y="317"/>
                  </a:lnTo>
                  <a:lnTo>
                    <a:pt x="16948" y="277"/>
                  </a:lnTo>
                  <a:lnTo>
                    <a:pt x="17067" y="317"/>
                  </a:lnTo>
                  <a:lnTo>
                    <a:pt x="17186" y="317"/>
                  </a:lnTo>
                  <a:lnTo>
                    <a:pt x="17305" y="436"/>
                  </a:lnTo>
                  <a:lnTo>
                    <a:pt x="17464" y="396"/>
                  </a:lnTo>
                  <a:lnTo>
                    <a:pt x="17662" y="357"/>
                  </a:lnTo>
                  <a:lnTo>
                    <a:pt x="17821" y="317"/>
                  </a:lnTo>
                  <a:lnTo>
                    <a:pt x="18020" y="317"/>
                  </a:lnTo>
                  <a:lnTo>
                    <a:pt x="18258" y="238"/>
                  </a:lnTo>
                  <a:lnTo>
                    <a:pt x="18456" y="158"/>
                  </a:lnTo>
                  <a:lnTo>
                    <a:pt x="18575" y="158"/>
                  </a:lnTo>
                  <a:lnTo>
                    <a:pt x="18615" y="277"/>
                  </a:lnTo>
                  <a:lnTo>
                    <a:pt x="18734" y="317"/>
                  </a:lnTo>
                  <a:lnTo>
                    <a:pt x="18932" y="317"/>
                  </a:lnTo>
                  <a:lnTo>
                    <a:pt x="19131" y="357"/>
                  </a:lnTo>
                  <a:lnTo>
                    <a:pt x="19290" y="317"/>
                  </a:lnTo>
                  <a:lnTo>
                    <a:pt x="19448" y="238"/>
                  </a:lnTo>
                  <a:lnTo>
                    <a:pt x="19607" y="198"/>
                  </a:lnTo>
                  <a:lnTo>
                    <a:pt x="19726" y="158"/>
                  </a:lnTo>
                  <a:lnTo>
                    <a:pt x="19806" y="277"/>
                  </a:lnTo>
                  <a:lnTo>
                    <a:pt x="20004" y="436"/>
                  </a:lnTo>
                  <a:lnTo>
                    <a:pt x="20202" y="396"/>
                  </a:lnTo>
                  <a:lnTo>
                    <a:pt x="20322" y="396"/>
                  </a:lnTo>
                  <a:lnTo>
                    <a:pt x="20520" y="477"/>
                  </a:lnTo>
                  <a:lnTo>
                    <a:pt x="20639" y="516"/>
                  </a:lnTo>
                  <a:lnTo>
                    <a:pt x="20798" y="477"/>
                  </a:lnTo>
                  <a:lnTo>
                    <a:pt x="20917" y="477"/>
                  </a:lnTo>
                  <a:lnTo>
                    <a:pt x="21076" y="516"/>
                  </a:lnTo>
                  <a:lnTo>
                    <a:pt x="21195" y="516"/>
                  </a:lnTo>
                  <a:lnTo>
                    <a:pt x="21314" y="396"/>
                  </a:lnTo>
                  <a:lnTo>
                    <a:pt x="21433" y="277"/>
                  </a:lnTo>
                  <a:lnTo>
                    <a:pt x="21552" y="198"/>
                  </a:lnTo>
                  <a:lnTo>
                    <a:pt x="21671" y="158"/>
                  </a:lnTo>
                  <a:lnTo>
                    <a:pt x="22028" y="158"/>
                  </a:lnTo>
                  <a:lnTo>
                    <a:pt x="21988" y="874"/>
                  </a:lnTo>
                  <a:lnTo>
                    <a:pt x="0" y="874"/>
                  </a:lnTo>
                  <a:lnTo>
                    <a:pt x="119" y="317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"/>
            <p:cNvSpPr/>
            <p:nvPr/>
          </p:nvSpPr>
          <p:spPr>
            <a:xfrm>
              <a:off x="927000" y="858960"/>
              <a:ext cx="7944120" cy="371880"/>
            </a:xfrm>
            <a:custGeom>
              <a:avLst/>
              <a:gdLst/>
              <a:ahLst/>
              <a:rect l="0" t="0" r="r" b="b"/>
              <a:pathLst>
                <a:path w="22067" h="1033">
                  <a:moveTo>
                    <a:pt x="198" y="954"/>
                  </a:moveTo>
                  <a:lnTo>
                    <a:pt x="317" y="954"/>
                  </a:lnTo>
                  <a:lnTo>
                    <a:pt x="436" y="914"/>
                  </a:lnTo>
                  <a:lnTo>
                    <a:pt x="595" y="875"/>
                  </a:lnTo>
                  <a:lnTo>
                    <a:pt x="754" y="835"/>
                  </a:lnTo>
                  <a:lnTo>
                    <a:pt x="873" y="795"/>
                  </a:lnTo>
                  <a:lnTo>
                    <a:pt x="992" y="715"/>
                  </a:lnTo>
                  <a:lnTo>
                    <a:pt x="1111" y="636"/>
                  </a:lnTo>
                  <a:lnTo>
                    <a:pt x="1150" y="795"/>
                  </a:lnTo>
                  <a:lnTo>
                    <a:pt x="1230" y="954"/>
                  </a:lnTo>
                  <a:lnTo>
                    <a:pt x="1349" y="954"/>
                  </a:lnTo>
                  <a:lnTo>
                    <a:pt x="1468" y="954"/>
                  </a:lnTo>
                  <a:lnTo>
                    <a:pt x="1547" y="835"/>
                  </a:lnTo>
                  <a:lnTo>
                    <a:pt x="1666" y="835"/>
                  </a:lnTo>
                  <a:lnTo>
                    <a:pt x="1785" y="835"/>
                  </a:lnTo>
                  <a:lnTo>
                    <a:pt x="1984" y="835"/>
                  </a:lnTo>
                  <a:lnTo>
                    <a:pt x="2143" y="835"/>
                  </a:lnTo>
                  <a:lnTo>
                    <a:pt x="2301" y="795"/>
                  </a:lnTo>
                  <a:lnTo>
                    <a:pt x="2420" y="795"/>
                  </a:lnTo>
                  <a:lnTo>
                    <a:pt x="2619" y="755"/>
                  </a:lnTo>
                  <a:lnTo>
                    <a:pt x="2738" y="715"/>
                  </a:lnTo>
                  <a:lnTo>
                    <a:pt x="2857" y="715"/>
                  </a:lnTo>
                  <a:lnTo>
                    <a:pt x="2976" y="636"/>
                  </a:lnTo>
                  <a:lnTo>
                    <a:pt x="3095" y="636"/>
                  </a:lnTo>
                  <a:lnTo>
                    <a:pt x="3214" y="556"/>
                  </a:lnTo>
                  <a:lnTo>
                    <a:pt x="3373" y="556"/>
                  </a:lnTo>
                  <a:lnTo>
                    <a:pt x="3492" y="516"/>
                  </a:lnTo>
                  <a:lnTo>
                    <a:pt x="3611" y="477"/>
                  </a:lnTo>
                  <a:lnTo>
                    <a:pt x="3770" y="636"/>
                  </a:lnTo>
                  <a:lnTo>
                    <a:pt x="3929" y="715"/>
                  </a:lnTo>
                  <a:lnTo>
                    <a:pt x="4048" y="715"/>
                  </a:lnTo>
                  <a:lnTo>
                    <a:pt x="4167" y="835"/>
                  </a:lnTo>
                  <a:lnTo>
                    <a:pt x="4286" y="875"/>
                  </a:lnTo>
                  <a:lnTo>
                    <a:pt x="4405" y="954"/>
                  </a:lnTo>
                  <a:lnTo>
                    <a:pt x="4524" y="994"/>
                  </a:lnTo>
                  <a:lnTo>
                    <a:pt x="4643" y="954"/>
                  </a:lnTo>
                  <a:lnTo>
                    <a:pt x="4762" y="875"/>
                  </a:lnTo>
                  <a:lnTo>
                    <a:pt x="4881" y="835"/>
                  </a:lnTo>
                  <a:lnTo>
                    <a:pt x="5040" y="795"/>
                  </a:lnTo>
                  <a:lnTo>
                    <a:pt x="5199" y="795"/>
                  </a:lnTo>
                  <a:lnTo>
                    <a:pt x="5318" y="755"/>
                  </a:lnTo>
                  <a:lnTo>
                    <a:pt x="5437" y="755"/>
                  </a:lnTo>
                  <a:lnTo>
                    <a:pt x="5595" y="715"/>
                  </a:lnTo>
                  <a:lnTo>
                    <a:pt x="5715" y="675"/>
                  </a:lnTo>
                  <a:lnTo>
                    <a:pt x="5834" y="636"/>
                  </a:lnTo>
                  <a:lnTo>
                    <a:pt x="5992" y="556"/>
                  </a:lnTo>
                  <a:lnTo>
                    <a:pt x="7421" y="994"/>
                  </a:lnTo>
                  <a:lnTo>
                    <a:pt x="8731" y="556"/>
                  </a:lnTo>
                  <a:lnTo>
                    <a:pt x="8850" y="636"/>
                  </a:lnTo>
                  <a:lnTo>
                    <a:pt x="9088" y="755"/>
                  </a:lnTo>
                  <a:lnTo>
                    <a:pt x="9207" y="795"/>
                  </a:lnTo>
                  <a:lnTo>
                    <a:pt x="9326" y="795"/>
                  </a:lnTo>
                  <a:lnTo>
                    <a:pt x="9445" y="755"/>
                  </a:lnTo>
                  <a:lnTo>
                    <a:pt x="9564" y="715"/>
                  </a:lnTo>
                  <a:lnTo>
                    <a:pt x="9683" y="675"/>
                  </a:lnTo>
                  <a:lnTo>
                    <a:pt x="9763" y="795"/>
                  </a:lnTo>
                  <a:lnTo>
                    <a:pt x="9882" y="875"/>
                  </a:lnTo>
                  <a:lnTo>
                    <a:pt x="10001" y="875"/>
                  </a:lnTo>
                  <a:lnTo>
                    <a:pt x="10120" y="835"/>
                  </a:lnTo>
                  <a:lnTo>
                    <a:pt x="10239" y="835"/>
                  </a:lnTo>
                  <a:lnTo>
                    <a:pt x="10437" y="835"/>
                  </a:lnTo>
                  <a:lnTo>
                    <a:pt x="10636" y="835"/>
                  </a:lnTo>
                  <a:lnTo>
                    <a:pt x="10874" y="835"/>
                  </a:lnTo>
                  <a:lnTo>
                    <a:pt x="11034" y="795"/>
                  </a:lnTo>
                  <a:lnTo>
                    <a:pt x="11153" y="715"/>
                  </a:lnTo>
                  <a:lnTo>
                    <a:pt x="11708" y="675"/>
                  </a:lnTo>
                  <a:lnTo>
                    <a:pt x="12343" y="596"/>
                  </a:lnTo>
                  <a:lnTo>
                    <a:pt x="12581" y="516"/>
                  </a:lnTo>
                  <a:lnTo>
                    <a:pt x="12701" y="556"/>
                  </a:lnTo>
                  <a:lnTo>
                    <a:pt x="12939" y="675"/>
                  </a:lnTo>
                  <a:lnTo>
                    <a:pt x="13058" y="715"/>
                  </a:lnTo>
                  <a:lnTo>
                    <a:pt x="13216" y="715"/>
                  </a:lnTo>
                  <a:lnTo>
                    <a:pt x="13375" y="675"/>
                  </a:lnTo>
                  <a:lnTo>
                    <a:pt x="13653" y="675"/>
                  </a:lnTo>
                  <a:lnTo>
                    <a:pt x="13891" y="715"/>
                  </a:lnTo>
                  <a:lnTo>
                    <a:pt x="14050" y="715"/>
                  </a:lnTo>
                  <a:lnTo>
                    <a:pt x="14169" y="715"/>
                  </a:lnTo>
                  <a:lnTo>
                    <a:pt x="14367" y="795"/>
                  </a:lnTo>
                  <a:lnTo>
                    <a:pt x="14486" y="835"/>
                  </a:lnTo>
                  <a:lnTo>
                    <a:pt x="14606" y="875"/>
                  </a:lnTo>
                  <a:lnTo>
                    <a:pt x="14804" y="875"/>
                  </a:lnTo>
                  <a:lnTo>
                    <a:pt x="14923" y="875"/>
                  </a:lnTo>
                  <a:lnTo>
                    <a:pt x="15082" y="875"/>
                  </a:lnTo>
                  <a:lnTo>
                    <a:pt x="15201" y="835"/>
                  </a:lnTo>
                  <a:lnTo>
                    <a:pt x="15320" y="795"/>
                  </a:lnTo>
                  <a:lnTo>
                    <a:pt x="15479" y="795"/>
                  </a:lnTo>
                  <a:lnTo>
                    <a:pt x="15637" y="715"/>
                  </a:lnTo>
                  <a:lnTo>
                    <a:pt x="15796" y="715"/>
                  </a:lnTo>
                  <a:lnTo>
                    <a:pt x="15955" y="636"/>
                  </a:lnTo>
                  <a:lnTo>
                    <a:pt x="16074" y="596"/>
                  </a:lnTo>
                  <a:lnTo>
                    <a:pt x="16193" y="556"/>
                  </a:lnTo>
                  <a:lnTo>
                    <a:pt x="16431" y="636"/>
                  </a:lnTo>
                  <a:lnTo>
                    <a:pt x="16590" y="755"/>
                  </a:lnTo>
                  <a:lnTo>
                    <a:pt x="16709" y="875"/>
                  </a:lnTo>
                  <a:lnTo>
                    <a:pt x="16828" y="954"/>
                  </a:lnTo>
                  <a:lnTo>
                    <a:pt x="16947" y="954"/>
                  </a:lnTo>
                  <a:lnTo>
                    <a:pt x="17066" y="994"/>
                  </a:lnTo>
                  <a:lnTo>
                    <a:pt x="17225" y="994"/>
                  </a:lnTo>
                  <a:lnTo>
                    <a:pt x="17384" y="954"/>
                  </a:lnTo>
                  <a:lnTo>
                    <a:pt x="17503" y="954"/>
                  </a:lnTo>
                  <a:lnTo>
                    <a:pt x="17661" y="795"/>
                  </a:lnTo>
                  <a:lnTo>
                    <a:pt x="17900" y="636"/>
                  </a:lnTo>
                  <a:lnTo>
                    <a:pt x="18098" y="556"/>
                  </a:lnTo>
                  <a:lnTo>
                    <a:pt x="18217" y="516"/>
                  </a:lnTo>
                  <a:lnTo>
                    <a:pt x="18336" y="596"/>
                  </a:lnTo>
                  <a:lnTo>
                    <a:pt x="18455" y="636"/>
                  </a:lnTo>
                  <a:lnTo>
                    <a:pt x="20797" y="1033"/>
                  </a:lnTo>
                  <a:lnTo>
                    <a:pt x="22067" y="875"/>
                  </a:lnTo>
                  <a:lnTo>
                    <a:pt x="22067" y="0"/>
                  </a:lnTo>
                  <a:lnTo>
                    <a:pt x="0" y="79"/>
                  </a:lnTo>
                  <a:lnTo>
                    <a:pt x="198" y="954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2" name=""/>
          <p:cNvSpPr txBox="1"/>
          <p:nvPr/>
        </p:nvSpPr>
        <p:spPr>
          <a:xfrm>
            <a:off x="6673680" y="4056120"/>
            <a:ext cx="2146320" cy="51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My name is JOHN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3124080" y="136440"/>
            <a:ext cx="29541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Using Variables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244520" y="4427640"/>
            <a:ext cx="1852560" cy="34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</a:pPr>
            <a:r>
              <a:rPr lang="en-US" sz="25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J    O   H    N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 flipV="1">
            <a:off x="8642520" y="4344840"/>
            <a:ext cx="0" cy="1200240"/>
          </a:xfrm>
          <a:prstGeom prst="line">
            <a:avLst/>
          </a:prstGeom>
          <a:ln w="25560">
            <a:solidFill>
              <a:srgbClr val="FFFF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3727440" y="2544840"/>
            <a:ext cx="2914920" cy="1643400"/>
          </a:xfrm>
          <a:custGeom>
            <a:avLst/>
            <a:gdLst/>
            <a:ahLst/>
            <a:rect l="0" t="0" r="r" b="b"/>
            <a:pathLst>
              <a:path fill="none" w="8097" h="4565">
                <a:moveTo>
                  <a:pt x="0" y="0"/>
                </a:moveTo>
                <a:lnTo>
                  <a:pt x="0" y="0"/>
                </a:lnTo>
                <a:cubicBezTo>
                  <a:pt x="0" y="801"/>
                  <a:pt x="374" y="1589"/>
                  <a:pt x="1085" y="2283"/>
                </a:cubicBezTo>
                <a:cubicBezTo>
                  <a:pt x="1795" y="2976"/>
                  <a:pt x="2818" y="3553"/>
                  <a:pt x="4049" y="3953"/>
                </a:cubicBezTo>
                <a:cubicBezTo>
                  <a:pt x="5279" y="4354"/>
                  <a:pt x="6676" y="4565"/>
                  <a:pt x="8097" y="4565"/>
                </a:cubicBezTo>
              </a:path>
            </a:pathLst>
          </a:custGeom>
          <a:ln w="25560">
            <a:solidFill>
              <a:srgbClr val="FFFFFF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 txBox="1"/>
          <p:nvPr/>
        </p:nvSpPr>
        <p:spPr>
          <a:xfrm>
            <a:off x="2975040" y="77760"/>
            <a:ext cx="35877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Data Types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03120" y="725400"/>
            <a:ext cx="9047160" cy="569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COBOL is not a “typed” language and the distinction between some of the data types available in the language is a little blurred.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For the time being we will focus on just two data types,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numeric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text or string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Data type is important because it determines the operations which are valid on the type.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COBOL is not as rigorous in the application of typing rules as other languages.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indent="-392040">
              <a:lnSpc>
                <a:spcPct val="90000"/>
              </a:lnSpc>
              <a:spcBef>
                <a:spcPts val="720"/>
              </a:spcBef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For example, some COBOL “numeric” data items may, from time to time, have values which are </a:t>
            </a:r>
            <a:r>
              <a:rPr lang="en-US" sz="24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not</a:t>
            </a:r>
            <a:r>
              <a:rPr lang="en-US" sz="2400" b="1" u="none" strike="noStrike">
                <a:solidFill>
                  <a:srgbClr val="CF0E30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“numeric”!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 txBox="1"/>
          <p:nvPr/>
        </p:nvSpPr>
        <p:spPr>
          <a:xfrm>
            <a:off x="2046240" y="108000"/>
            <a:ext cx="561348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Quick Review of “Data Typing”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31920" y="911160"/>
            <a:ext cx="9090000" cy="516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“typed” languages simply specifying the type of a data item provides quite a lot of information about it.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type usually determines the range of values the data item can store.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For instance a CARDINAL item can store values between 0..65,535  and an INTEGER between -32,768..32,767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From the type of the item the compiler can establish how much memory to set aside for storing its values.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If the type is “REAL” the number of decimal places is allowed to vary dynamically with each calculation but the amount of the memory used to store a real number is fixed.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 txBox="1"/>
          <p:nvPr/>
        </p:nvSpPr>
        <p:spPr>
          <a:xfrm>
            <a:off x="2617920" y="77760"/>
            <a:ext cx="45705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data description.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420840" y="865080"/>
            <a:ext cx="9016920" cy="55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Because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COBOL is not typed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it employs a different mechanism for describing the characteristics of the data items in the program.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COBOL uses what could be described as a “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declaration by example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” strategy.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effect, the programmer provides the system with an example, or template, or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PIC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TURE of what the data item looks like.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From the “picture” the system derives the information necessary to allocate it.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 txBox="1"/>
          <p:nvPr/>
        </p:nvSpPr>
        <p:spPr>
          <a:xfrm>
            <a:off x="1817640" y="92160"/>
            <a:ext cx="635004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‘PICTURE’ Clause symbols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455760" y="865080"/>
            <a:ext cx="9058320" cy="55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To create the required ‘picture’ the programmer uses a set of symbols.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following symbols are used frequently in picture clauses;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9 (the digit nine) is used to indicate the occurrence of a digit at the corresponding position in the picture.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X (the character X) is used to indicate the occurrence of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any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character from the character set at the corresponding position in the picture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V (the character V) is used to indicate position of the decimal point in a numeric value! It is often referred to as the “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assumed decimal point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” character.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S (the character S) indicates the presence of a sign and can only appear at the beginning of a picture.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 txBox="1"/>
          <p:nvPr/>
        </p:nvSpPr>
        <p:spPr>
          <a:xfrm>
            <a:off x="2732040" y="92160"/>
            <a:ext cx="49593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‘PICTURE’ Clauses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420840" y="865080"/>
            <a:ext cx="9016920" cy="55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293760" indent="-29376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253224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Some examples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06320" lvl="1" indent="-2350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211932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PICTURE 999 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three digit (+ive only) integer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06320" lvl="1" indent="-2350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211932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PICTURE S999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three digit (+ive/-ive) integer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06320" lvl="1" indent="-2350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211932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PICTURE XXXX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four character text item or string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06320" lvl="1" indent="-2350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211932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PICTURE 99V99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+ive ‘real’ in the range 0 to 99.99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06320" lvl="1" indent="-2350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211932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PICTURE S9V9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+ive/-ive ‘real’ in the range ?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3760" indent="-29376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253224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If you wish you can use the abbreviation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PIC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3760" indent="-29376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253224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Numeric values can have a maximum of 18 (eighteen) digits (i.e. 9’s).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93760" indent="-29376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253224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limit on string values is usually system-dependent.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 txBox="1"/>
          <p:nvPr/>
        </p:nvSpPr>
        <p:spPr>
          <a:xfrm>
            <a:off x="2089080" y="77760"/>
            <a:ext cx="575784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Abbreviating recurring symbols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434880" y="1108080"/>
            <a:ext cx="9016920" cy="55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Recurring symbols can be specified using a ‘repeat’ factor inside round brackets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9(6)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is equivalent to PICTURE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999999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9(6)V99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is equivalent to 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999999V99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PICTURE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X(10)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is equivalent to 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XXXXXXXXXX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S9(4)V9(4)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is equivalent to 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S9999V9999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lvl="1" indent="-39204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9(18)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is equivalent to PIC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999999999999999999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 txBox="1"/>
          <p:nvPr/>
        </p:nvSpPr>
        <p:spPr>
          <a:xfrm>
            <a:off x="2646360" y="106200"/>
            <a:ext cx="485604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Declaring DATA in COBOL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488880" y="797040"/>
            <a:ext cx="9275760" cy="305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52440" indent="-3524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504720" algn="l"/>
                <a:tab pos="1362240" algn="l"/>
                <a:tab pos="193356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COBOL a variable declaration consists of a line containing the following items;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2440" indent="-352440">
              <a:lnSpc>
                <a:spcPct val="90000"/>
              </a:lnSpc>
              <a:spcBef>
                <a:spcPts val="720"/>
              </a:spcBef>
              <a:tabLst>
                <a:tab pos="504720" algn="l"/>
                <a:tab pos="1362240" algn="l"/>
                <a:tab pos="193356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0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❶</a:t>
            </a:r>
            <a:r>
              <a:rPr lang="en-US" sz="2500" b="1" u="none" strike="noStrike">
                <a:solidFill>
                  <a:srgbClr val="00AE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level number.  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2440" indent="-352440">
              <a:lnSpc>
                <a:spcPct val="90000"/>
              </a:lnSpc>
              <a:spcBef>
                <a:spcPts val="720"/>
              </a:spcBef>
              <a:tabLst>
                <a:tab pos="504720" algn="l"/>
                <a:tab pos="1362240" algn="l"/>
                <a:tab pos="193356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0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❷</a:t>
            </a:r>
            <a:r>
              <a:rPr lang="en-US" sz="2500" b="1" u="none" strike="noStrike">
                <a:solidFill>
                  <a:srgbClr val="00AE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data-name or identifier.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2440" indent="-352440">
              <a:lnSpc>
                <a:spcPct val="90000"/>
              </a:lnSpc>
              <a:spcBef>
                <a:spcPts val="720"/>
              </a:spcBef>
              <a:tabLst>
                <a:tab pos="504720" algn="l"/>
                <a:tab pos="1362240" algn="l"/>
                <a:tab pos="193356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0" u="none" strike="noStrike">
                <a:solidFill>
                  <a:srgbClr val="00FF00"/>
                </a:solidFill>
                <a:effectLst/>
                <a:uFillTx/>
                <a:latin typeface="Wingdings"/>
                <a:ea typeface="Wingdings"/>
              </a:rPr>
              <a:t>❸</a:t>
            </a:r>
            <a:r>
              <a:rPr lang="en-US" sz="2500" b="1" u="none" strike="noStrike">
                <a:solidFill>
                  <a:srgbClr val="00AE00"/>
                </a:solidFill>
                <a:effectLst/>
                <a:uFillTx/>
                <a:latin typeface="Wingdings"/>
                <a:ea typeface="Wingdings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A PICTURE clause.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52440" indent="-352440">
              <a:lnSpc>
                <a:spcPct val="90000"/>
              </a:lnSpc>
              <a:spcBef>
                <a:spcPts val="1800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504720" algn="l"/>
                <a:tab pos="1362240" algn="l"/>
                <a:tab pos="1933560" algn="l"/>
              </a:tabLst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We can give a starting value to variables by means of an extension to the picture clause called the </a:t>
            </a: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value clause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1" name=""/>
          <p:cNvGrpSpPr/>
          <p:nvPr/>
        </p:nvGrpSpPr>
        <p:grpSpPr>
          <a:xfrm>
            <a:off x="2727360" y="3902040"/>
            <a:ext cx="6772680" cy="2157840"/>
            <a:chOff x="2727360" y="3902040"/>
            <a:chExt cx="6772680" cy="2157840"/>
          </a:xfrm>
        </p:grpSpPr>
        <p:sp>
          <p:nvSpPr>
            <p:cNvPr id="142" name=""/>
            <p:cNvSpPr txBox="1"/>
            <p:nvPr/>
          </p:nvSpPr>
          <p:spPr>
            <a:xfrm>
              <a:off x="2833560" y="3984480"/>
              <a:ext cx="6572160" cy="203976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>
                <a:lnSpc>
                  <a:spcPct val="90000"/>
                </a:lnSpc>
                <a:tabLst>
                  <a:tab pos="952560" algn="l"/>
                  <a:tab pos="1809720" algn="l"/>
                  <a:tab pos="2857680" algn="l"/>
                  <a:tab pos="4381560" algn="l"/>
                </a:tabLst>
              </a:pP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90000"/>
                </a:lnSpc>
                <a:tabLst>
                  <a:tab pos="952560" algn="l"/>
                  <a:tab pos="1809720" algn="l"/>
                  <a:tab pos="2857680" algn="l"/>
                  <a:tab pos="438156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DATA DIVISION.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90000"/>
                </a:lnSpc>
                <a:tabLst>
                  <a:tab pos="952560" algn="l"/>
                  <a:tab pos="1809720" algn="l"/>
                  <a:tab pos="2857680" algn="l"/>
                  <a:tab pos="438156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WORKING-STORAGE SECTION.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90000"/>
                </a:lnSpc>
                <a:tabLst>
                  <a:tab pos="952560" algn="l"/>
                  <a:tab pos="1809720" algn="l"/>
                  <a:tab pos="2857680" algn="l"/>
                  <a:tab pos="438156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 Num1           PIC 999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VALUE ZEROS.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90000"/>
                </a:lnSpc>
                <a:tabLst>
                  <a:tab pos="952560" algn="l"/>
                  <a:tab pos="1809720" algn="l"/>
                  <a:tab pos="2857680" algn="l"/>
                  <a:tab pos="438156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 VatRate        PIC V99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VALUE .18.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90000"/>
                </a:lnSpc>
                <a:tabLst>
                  <a:tab pos="952560" algn="l"/>
                  <a:tab pos="1809720" algn="l"/>
                  <a:tab pos="2857680" algn="l"/>
                  <a:tab pos="4381560" algn="l"/>
                </a:tabLs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 StudentName    PIC X(10)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VALUE SPACES.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"/>
            <p:cNvSpPr/>
            <p:nvPr/>
          </p:nvSpPr>
          <p:spPr>
            <a:xfrm>
              <a:off x="2727360" y="5716440"/>
              <a:ext cx="6729840" cy="343440"/>
            </a:xfrm>
            <a:custGeom>
              <a:avLst/>
              <a:gdLst/>
              <a:ahLst/>
              <a:rect l="0" t="0" r="r" b="b"/>
              <a:pathLst>
                <a:path w="18694" h="954">
                  <a:moveTo>
                    <a:pt x="79" y="556"/>
                  </a:moveTo>
                  <a:lnTo>
                    <a:pt x="198" y="477"/>
                  </a:lnTo>
                  <a:lnTo>
                    <a:pt x="317" y="477"/>
                  </a:lnTo>
                  <a:lnTo>
                    <a:pt x="436" y="397"/>
                  </a:lnTo>
                  <a:lnTo>
                    <a:pt x="555" y="318"/>
                  </a:lnTo>
                  <a:lnTo>
                    <a:pt x="674" y="318"/>
                  </a:lnTo>
                  <a:lnTo>
                    <a:pt x="793" y="239"/>
                  </a:lnTo>
                  <a:lnTo>
                    <a:pt x="912" y="158"/>
                  </a:lnTo>
                  <a:lnTo>
                    <a:pt x="1071" y="158"/>
                  </a:lnTo>
                  <a:lnTo>
                    <a:pt x="1190" y="318"/>
                  </a:lnTo>
                  <a:lnTo>
                    <a:pt x="1309" y="397"/>
                  </a:lnTo>
                  <a:lnTo>
                    <a:pt x="1389" y="556"/>
                  </a:lnTo>
                  <a:lnTo>
                    <a:pt x="1547" y="477"/>
                  </a:lnTo>
                  <a:lnTo>
                    <a:pt x="1706" y="397"/>
                  </a:lnTo>
                  <a:lnTo>
                    <a:pt x="1825" y="397"/>
                  </a:lnTo>
                  <a:lnTo>
                    <a:pt x="1984" y="397"/>
                  </a:lnTo>
                  <a:lnTo>
                    <a:pt x="2143" y="358"/>
                  </a:lnTo>
                  <a:lnTo>
                    <a:pt x="2262" y="318"/>
                  </a:lnTo>
                  <a:lnTo>
                    <a:pt x="2420" y="239"/>
                  </a:lnTo>
                  <a:lnTo>
                    <a:pt x="2579" y="158"/>
                  </a:lnTo>
                  <a:lnTo>
                    <a:pt x="2579" y="318"/>
                  </a:lnTo>
                  <a:lnTo>
                    <a:pt x="2659" y="477"/>
                  </a:lnTo>
                  <a:lnTo>
                    <a:pt x="3413" y="358"/>
                  </a:lnTo>
                  <a:lnTo>
                    <a:pt x="3571" y="318"/>
                  </a:lnTo>
                  <a:lnTo>
                    <a:pt x="3690" y="278"/>
                  </a:lnTo>
                  <a:lnTo>
                    <a:pt x="3889" y="239"/>
                  </a:lnTo>
                  <a:lnTo>
                    <a:pt x="4445" y="198"/>
                  </a:lnTo>
                  <a:lnTo>
                    <a:pt x="5081" y="158"/>
                  </a:lnTo>
                  <a:lnTo>
                    <a:pt x="5319" y="119"/>
                  </a:lnTo>
                  <a:lnTo>
                    <a:pt x="5398" y="239"/>
                  </a:lnTo>
                  <a:lnTo>
                    <a:pt x="5398" y="397"/>
                  </a:lnTo>
                  <a:lnTo>
                    <a:pt x="5398" y="516"/>
                  </a:lnTo>
                  <a:lnTo>
                    <a:pt x="5557" y="556"/>
                  </a:lnTo>
                  <a:lnTo>
                    <a:pt x="5676" y="556"/>
                  </a:lnTo>
                  <a:lnTo>
                    <a:pt x="5835" y="636"/>
                  </a:lnTo>
                  <a:lnTo>
                    <a:pt x="7779" y="0"/>
                  </a:lnTo>
                  <a:lnTo>
                    <a:pt x="7898" y="119"/>
                  </a:lnTo>
                  <a:lnTo>
                    <a:pt x="8097" y="278"/>
                  </a:lnTo>
                  <a:lnTo>
                    <a:pt x="8097" y="397"/>
                  </a:lnTo>
                  <a:lnTo>
                    <a:pt x="8256" y="556"/>
                  </a:lnTo>
                  <a:lnTo>
                    <a:pt x="8375" y="596"/>
                  </a:lnTo>
                  <a:lnTo>
                    <a:pt x="8494" y="636"/>
                  </a:lnTo>
                  <a:lnTo>
                    <a:pt x="8732" y="716"/>
                  </a:lnTo>
                  <a:lnTo>
                    <a:pt x="8851" y="716"/>
                  </a:lnTo>
                  <a:lnTo>
                    <a:pt x="9049" y="716"/>
                  </a:lnTo>
                  <a:lnTo>
                    <a:pt x="9208" y="716"/>
                  </a:lnTo>
                  <a:lnTo>
                    <a:pt x="9327" y="756"/>
                  </a:lnTo>
                  <a:lnTo>
                    <a:pt x="9486" y="636"/>
                  </a:lnTo>
                  <a:lnTo>
                    <a:pt x="9645" y="556"/>
                  </a:lnTo>
                  <a:lnTo>
                    <a:pt x="9803" y="596"/>
                  </a:lnTo>
                  <a:lnTo>
                    <a:pt x="9922" y="636"/>
                  </a:lnTo>
                  <a:lnTo>
                    <a:pt x="10041" y="675"/>
                  </a:lnTo>
                  <a:lnTo>
                    <a:pt x="10161" y="716"/>
                  </a:lnTo>
                  <a:lnTo>
                    <a:pt x="10399" y="756"/>
                  </a:lnTo>
                  <a:lnTo>
                    <a:pt x="10637" y="795"/>
                  </a:lnTo>
                  <a:lnTo>
                    <a:pt x="10875" y="795"/>
                  </a:lnTo>
                  <a:lnTo>
                    <a:pt x="11073" y="795"/>
                  </a:lnTo>
                  <a:lnTo>
                    <a:pt x="11232" y="795"/>
                  </a:lnTo>
                  <a:lnTo>
                    <a:pt x="11351" y="795"/>
                  </a:lnTo>
                  <a:lnTo>
                    <a:pt x="11510" y="756"/>
                  </a:lnTo>
                  <a:lnTo>
                    <a:pt x="11629" y="716"/>
                  </a:lnTo>
                  <a:lnTo>
                    <a:pt x="11748" y="636"/>
                  </a:lnTo>
                  <a:lnTo>
                    <a:pt x="11946" y="596"/>
                  </a:lnTo>
                  <a:lnTo>
                    <a:pt x="12066" y="556"/>
                  </a:lnTo>
                  <a:lnTo>
                    <a:pt x="12224" y="477"/>
                  </a:lnTo>
                  <a:lnTo>
                    <a:pt x="12383" y="397"/>
                  </a:lnTo>
                  <a:lnTo>
                    <a:pt x="12581" y="318"/>
                  </a:lnTo>
                  <a:lnTo>
                    <a:pt x="12701" y="318"/>
                  </a:lnTo>
                  <a:lnTo>
                    <a:pt x="12859" y="318"/>
                  </a:lnTo>
                  <a:lnTo>
                    <a:pt x="13018" y="437"/>
                  </a:lnTo>
                  <a:lnTo>
                    <a:pt x="13137" y="477"/>
                  </a:lnTo>
                  <a:lnTo>
                    <a:pt x="13256" y="516"/>
                  </a:lnTo>
                  <a:lnTo>
                    <a:pt x="13375" y="477"/>
                  </a:lnTo>
                  <a:lnTo>
                    <a:pt x="13494" y="477"/>
                  </a:lnTo>
                  <a:lnTo>
                    <a:pt x="13653" y="477"/>
                  </a:lnTo>
                  <a:lnTo>
                    <a:pt x="13693" y="596"/>
                  </a:lnTo>
                  <a:lnTo>
                    <a:pt x="13732" y="716"/>
                  </a:lnTo>
                  <a:lnTo>
                    <a:pt x="13891" y="756"/>
                  </a:lnTo>
                  <a:lnTo>
                    <a:pt x="14010" y="756"/>
                  </a:lnTo>
                  <a:lnTo>
                    <a:pt x="14130" y="756"/>
                  </a:lnTo>
                  <a:lnTo>
                    <a:pt x="14448" y="675"/>
                  </a:lnTo>
                  <a:lnTo>
                    <a:pt x="15083" y="596"/>
                  </a:lnTo>
                  <a:lnTo>
                    <a:pt x="15321" y="556"/>
                  </a:lnTo>
                  <a:lnTo>
                    <a:pt x="15440" y="556"/>
                  </a:lnTo>
                  <a:lnTo>
                    <a:pt x="15559" y="556"/>
                  </a:lnTo>
                  <a:lnTo>
                    <a:pt x="15718" y="477"/>
                  </a:lnTo>
                  <a:lnTo>
                    <a:pt x="15877" y="397"/>
                  </a:lnTo>
                  <a:lnTo>
                    <a:pt x="16035" y="397"/>
                  </a:lnTo>
                  <a:lnTo>
                    <a:pt x="16194" y="318"/>
                  </a:lnTo>
                  <a:lnTo>
                    <a:pt x="16313" y="318"/>
                  </a:lnTo>
                  <a:lnTo>
                    <a:pt x="16512" y="278"/>
                  </a:lnTo>
                  <a:lnTo>
                    <a:pt x="16631" y="278"/>
                  </a:lnTo>
                  <a:lnTo>
                    <a:pt x="16829" y="397"/>
                  </a:lnTo>
                  <a:lnTo>
                    <a:pt x="16988" y="477"/>
                  </a:lnTo>
                  <a:lnTo>
                    <a:pt x="17107" y="477"/>
                  </a:lnTo>
                  <a:lnTo>
                    <a:pt x="17266" y="437"/>
                  </a:lnTo>
                  <a:lnTo>
                    <a:pt x="17424" y="397"/>
                  </a:lnTo>
                  <a:lnTo>
                    <a:pt x="17543" y="318"/>
                  </a:lnTo>
                  <a:lnTo>
                    <a:pt x="17702" y="397"/>
                  </a:lnTo>
                  <a:lnTo>
                    <a:pt x="17821" y="556"/>
                  </a:lnTo>
                  <a:lnTo>
                    <a:pt x="17940" y="556"/>
                  </a:lnTo>
                  <a:lnTo>
                    <a:pt x="18059" y="636"/>
                  </a:lnTo>
                  <a:lnTo>
                    <a:pt x="18218" y="556"/>
                  </a:lnTo>
                  <a:lnTo>
                    <a:pt x="18377" y="397"/>
                  </a:lnTo>
                  <a:lnTo>
                    <a:pt x="18496" y="318"/>
                  </a:lnTo>
                  <a:lnTo>
                    <a:pt x="18694" y="158"/>
                  </a:lnTo>
                  <a:lnTo>
                    <a:pt x="18694" y="914"/>
                  </a:lnTo>
                  <a:lnTo>
                    <a:pt x="0" y="954"/>
                  </a:lnTo>
                  <a:lnTo>
                    <a:pt x="79" y="556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"/>
            <p:cNvSpPr/>
            <p:nvPr/>
          </p:nvSpPr>
          <p:spPr>
            <a:xfrm>
              <a:off x="2727360" y="3902040"/>
              <a:ext cx="6772680" cy="400320"/>
            </a:xfrm>
            <a:custGeom>
              <a:avLst/>
              <a:gdLst/>
              <a:ahLst/>
              <a:rect l="0" t="0" r="r" b="b"/>
              <a:pathLst>
                <a:path w="18813" h="1112">
                  <a:moveTo>
                    <a:pt x="0" y="119"/>
                  </a:moveTo>
                  <a:lnTo>
                    <a:pt x="119" y="238"/>
                  </a:lnTo>
                  <a:lnTo>
                    <a:pt x="238" y="317"/>
                  </a:lnTo>
                  <a:lnTo>
                    <a:pt x="357" y="396"/>
                  </a:lnTo>
                  <a:lnTo>
                    <a:pt x="476" y="476"/>
                  </a:lnTo>
                  <a:lnTo>
                    <a:pt x="595" y="555"/>
                  </a:lnTo>
                  <a:lnTo>
                    <a:pt x="714" y="596"/>
                  </a:lnTo>
                  <a:lnTo>
                    <a:pt x="833" y="636"/>
                  </a:lnTo>
                  <a:lnTo>
                    <a:pt x="952" y="636"/>
                  </a:lnTo>
                  <a:lnTo>
                    <a:pt x="1071" y="596"/>
                  </a:lnTo>
                  <a:lnTo>
                    <a:pt x="1190" y="436"/>
                  </a:lnTo>
                  <a:lnTo>
                    <a:pt x="1309" y="555"/>
                  </a:lnTo>
                  <a:lnTo>
                    <a:pt x="1428" y="636"/>
                  </a:lnTo>
                  <a:lnTo>
                    <a:pt x="1547" y="636"/>
                  </a:lnTo>
                  <a:lnTo>
                    <a:pt x="1666" y="596"/>
                  </a:lnTo>
                  <a:lnTo>
                    <a:pt x="1785" y="636"/>
                  </a:lnTo>
                  <a:lnTo>
                    <a:pt x="1905" y="675"/>
                  </a:lnTo>
                  <a:lnTo>
                    <a:pt x="2024" y="675"/>
                  </a:lnTo>
                  <a:lnTo>
                    <a:pt x="2143" y="675"/>
                  </a:lnTo>
                  <a:lnTo>
                    <a:pt x="2262" y="636"/>
                  </a:lnTo>
                  <a:lnTo>
                    <a:pt x="2381" y="596"/>
                  </a:lnTo>
                  <a:lnTo>
                    <a:pt x="2540" y="515"/>
                  </a:lnTo>
                  <a:lnTo>
                    <a:pt x="2659" y="476"/>
                  </a:lnTo>
                  <a:lnTo>
                    <a:pt x="2897" y="436"/>
                  </a:lnTo>
                  <a:lnTo>
                    <a:pt x="3055" y="396"/>
                  </a:lnTo>
                  <a:lnTo>
                    <a:pt x="3175" y="357"/>
                  </a:lnTo>
                  <a:lnTo>
                    <a:pt x="3254" y="476"/>
                  </a:lnTo>
                  <a:lnTo>
                    <a:pt x="3254" y="596"/>
                  </a:lnTo>
                  <a:lnTo>
                    <a:pt x="3333" y="755"/>
                  </a:lnTo>
                  <a:lnTo>
                    <a:pt x="3492" y="834"/>
                  </a:lnTo>
                  <a:lnTo>
                    <a:pt x="3611" y="913"/>
                  </a:lnTo>
                  <a:lnTo>
                    <a:pt x="3730" y="993"/>
                  </a:lnTo>
                  <a:lnTo>
                    <a:pt x="3889" y="913"/>
                  </a:lnTo>
                  <a:lnTo>
                    <a:pt x="4008" y="834"/>
                  </a:lnTo>
                  <a:lnTo>
                    <a:pt x="4167" y="675"/>
                  </a:lnTo>
                  <a:lnTo>
                    <a:pt x="4325" y="555"/>
                  </a:lnTo>
                  <a:lnTo>
                    <a:pt x="4445" y="476"/>
                  </a:lnTo>
                  <a:lnTo>
                    <a:pt x="4603" y="436"/>
                  </a:lnTo>
                  <a:lnTo>
                    <a:pt x="4763" y="476"/>
                  </a:lnTo>
                  <a:lnTo>
                    <a:pt x="4763" y="596"/>
                  </a:lnTo>
                  <a:lnTo>
                    <a:pt x="4882" y="636"/>
                  </a:lnTo>
                  <a:lnTo>
                    <a:pt x="5081" y="675"/>
                  </a:lnTo>
                  <a:lnTo>
                    <a:pt x="5239" y="794"/>
                  </a:lnTo>
                  <a:lnTo>
                    <a:pt x="5279" y="913"/>
                  </a:lnTo>
                  <a:lnTo>
                    <a:pt x="5398" y="993"/>
                  </a:lnTo>
                  <a:lnTo>
                    <a:pt x="5517" y="953"/>
                  </a:lnTo>
                  <a:lnTo>
                    <a:pt x="5636" y="834"/>
                  </a:lnTo>
                  <a:lnTo>
                    <a:pt x="5874" y="755"/>
                  </a:lnTo>
                  <a:lnTo>
                    <a:pt x="6033" y="596"/>
                  </a:lnTo>
                  <a:lnTo>
                    <a:pt x="6192" y="476"/>
                  </a:lnTo>
                  <a:lnTo>
                    <a:pt x="6351" y="596"/>
                  </a:lnTo>
                  <a:lnTo>
                    <a:pt x="6470" y="636"/>
                  </a:lnTo>
                  <a:lnTo>
                    <a:pt x="6589" y="675"/>
                  </a:lnTo>
                  <a:lnTo>
                    <a:pt x="7541" y="1112"/>
                  </a:lnTo>
                  <a:lnTo>
                    <a:pt x="8811" y="515"/>
                  </a:lnTo>
                  <a:lnTo>
                    <a:pt x="8970" y="596"/>
                  </a:lnTo>
                  <a:lnTo>
                    <a:pt x="9049" y="755"/>
                  </a:lnTo>
                  <a:lnTo>
                    <a:pt x="9168" y="794"/>
                  </a:lnTo>
                  <a:lnTo>
                    <a:pt x="9287" y="755"/>
                  </a:lnTo>
                  <a:lnTo>
                    <a:pt x="9526" y="715"/>
                  </a:lnTo>
                  <a:lnTo>
                    <a:pt x="9684" y="675"/>
                  </a:lnTo>
                  <a:lnTo>
                    <a:pt x="9684" y="794"/>
                  </a:lnTo>
                  <a:lnTo>
                    <a:pt x="9684" y="913"/>
                  </a:lnTo>
                  <a:lnTo>
                    <a:pt x="9843" y="913"/>
                  </a:lnTo>
                  <a:lnTo>
                    <a:pt x="9962" y="874"/>
                  </a:lnTo>
                  <a:lnTo>
                    <a:pt x="10161" y="993"/>
                  </a:lnTo>
                  <a:lnTo>
                    <a:pt x="10438" y="913"/>
                  </a:lnTo>
                  <a:lnTo>
                    <a:pt x="10557" y="913"/>
                  </a:lnTo>
                  <a:lnTo>
                    <a:pt x="11669" y="436"/>
                  </a:lnTo>
                  <a:lnTo>
                    <a:pt x="12581" y="755"/>
                  </a:lnTo>
                  <a:lnTo>
                    <a:pt x="14527" y="436"/>
                  </a:lnTo>
                  <a:lnTo>
                    <a:pt x="14567" y="555"/>
                  </a:lnTo>
                  <a:lnTo>
                    <a:pt x="14646" y="675"/>
                  </a:lnTo>
                  <a:lnTo>
                    <a:pt x="14805" y="675"/>
                  </a:lnTo>
                  <a:lnTo>
                    <a:pt x="14924" y="675"/>
                  </a:lnTo>
                  <a:lnTo>
                    <a:pt x="14964" y="794"/>
                  </a:lnTo>
                  <a:lnTo>
                    <a:pt x="15083" y="834"/>
                  </a:lnTo>
                  <a:lnTo>
                    <a:pt x="15202" y="794"/>
                  </a:lnTo>
                  <a:lnTo>
                    <a:pt x="15361" y="755"/>
                  </a:lnTo>
                  <a:lnTo>
                    <a:pt x="15480" y="755"/>
                  </a:lnTo>
                  <a:lnTo>
                    <a:pt x="15638" y="675"/>
                  </a:lnTo>
                  <a:lnTo>
                    <a:pt x="15837" y="715"/>
                  </a:lnTo>
                  <a:lnTo>
                    <a:pt x="15996" y="755"/>
                  </a:lnTo>
                  <a:lnTo>
                    <a:pt x="16154" y="755"/>
                  </a:lnTo>
                  <a:lnTo>
                    <a:pt x="16273" y="834"/>
                  </a:lnTo>
                  <a:lnTo>
                    <a:pt x="16392" y="913"/>
                  </a:lnTo>
                  <a:lnTo>
                    <a:pt x="16551" y="755"/>
                  </a:lnTo>
                  <a:lnTo>
                    <a:pt x="16670" y="715"/>
                  </a:lnTo>
                  <a:lnTo>
                    <a:pt x="16789" y="715"/>
                  </a:lnTo>
                  <a:lnTo>
                    <a:pt x="16908" y="715"/>
                  </a:lnTo>
                  <a:lnTo>
                    <a:pt x="18774" y="357"/>
                  </a:lnTo>
                  <a:lnTo>
                    <a:pt x="18813" y="0"/>
                  </a:lnTo>
                  <a:lnTo>
                    <a:pt x="0" y="119"/>
                  </a:lnTo>
                  <a:close/>
                </a:path>
              </a:pathLst>
            </a:custGeom>
            <a:solidFill>
              <a:srgbClr val="114FFB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45" name=""/>
          <p:cNvGrpSpPr/>
          <p:nvPr/>
        </p:nvGrpSpPr>
        <p:grpSpPr>
          <a:xfrm>
            <a:off x="331920" y="5654520"/>
            <a:ext cx="3200400" cy="1066680"/>
            <a:chOff x="331920" y="5654520"/>
            <a:chExt cx="3200400" cy="1066680"/>
          </a:xfrm>
        </p:grpSpPr>
        <p:sp>
          <p:nvSpPr>
            <p:cNvPr id="146" name=""/>
            <p:cNvSpPr txBox="1"/>
            <p:nvPr/>
          </p:nvSpPr>
          <p:spPr>
            <a:xfrm>
              <a:off x="331920" y="6035760"/>
              <a:ext cx="3200400" cy="30492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>
                <a:lnSpc>
                  <a:spcPct val="10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Num1    VatRate      StudentName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"/>
            <p:cNvSpPr txBox="1"/>
            <p:nvPr/>
          </p:nvSpPr>
          <p:spPr>
            <a:xfrm>
              <a:off x="331920" y="6340320"/>
              <a:ext cx="609480" cy="3808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  <a:spcBef>
                  <a:spcPts val="1199"/>
                </a:spcBef>
              </a:pP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000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"/>
            <p:cNvSpPr txBox="1"/>
            <p:nvPr/>
          </p:nvSpPr>
          <p:spPr>
            <a:xfrm>
              <a:off x="936720" y="6340320"/>
              <a:ext cx="990720" cy="3808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  <a:spcBef>
                  <a:spcPts val="1199"/>
                </a:spcBef>
              </a:pPr>
              <a:r>
                <a:rPr lang="en-US" sz="1800" b="1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.</a:t>
              </a:r>
              <a:r>
                <a: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  <a:ea typeface="Arial"/>
                </a:rPr>
                <a:t>18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"/>
            <p:cNvSpPr txBox="1"/>
            <p:nvPr/>
          </p:nvSpPr>
          <p:spPr>
            <a:xfrm>
              <a:off x="1398600" y="5654520"/>
              <a:ext cx="1066680" cy="3808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lang="en-US" sz="20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D</a:t>
              </a:r>
              <a:r>
                <a:rPr lang="en-US" sz="1800" b="1" u="none" strike="noStrike">
                  <a:solidFill>
                    <a:srgbClr val="114FFB"/>
                  </a:solidFill>
                  <a:effectLst/>
                  <a:uFillTx/>
                  <a:latin typeface="Arial"/>
                  <a:ea typeface="Arial"/>
                </a:rPr>
                <a:t>ATA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0" name=""/>
            <p:cNvSpPr/>
            <p:nvPr/>
          </p:nvSpPr>
          <p:spPr>
            <a:xfrm>
              <a:off x="1927080" y="6340320"/>
              <a:ext cx="1604880" cy="3808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 txBox="1"/>
          <p:nvPr/>
        </p:nvSpPr>
        <p:spPr>
          <a:xfrm>
            <a:off x="3689280" y="106200"/>
            <a:ext cx="30351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COBOL Literals.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406440" y="1465200"/>
            <a:ext cx="9016920" cy="55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String/Alphanumeric literals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are enclosed in quotes and may consists of alphanumeric characters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indent="-392040">
              <a:lnSpc>
                <a:spcPct val="90000"/>
              </a:lnSpc>
              <a:spcBef>
                <a:spcPts val="720"/>
              </a:spcBef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e.g.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"Michael Ryan"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 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"-123"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 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"123.45"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indent="-392040">
              <a:lnSpc>
                <a:spcPct val="90000"/>
              </a:lnSpc>
              <a:spcBef>
                <a:spcPts val="720"/>
              </a:spcBef>
            </a:pP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69960" indent="-295200">
              <a:lnSpc>
                <a:spcPct val="90000"/>
              </a:lnSpc>
              <a:spcBef>
                <a:spcPts val="720"/>
              </a:spcBef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92040" indent="-3920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Numeric literals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may consist of numerals, the decimal point and the plus or minus sign.  Numeric literals are not enclosed in quotes.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81000" indent="-392040">
              <a:lnSpc>
                <a:spcPct val="90000"/>
              </a:lnSpc>
              <a:spcBef>
                <a:spcPts val="720"/>
              </a:spcBef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e.g.  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123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 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123.45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-256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,   </a:t>
            </a: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+2987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"/>
          <p:cNvSpPr txBox="1"/>
          <p:nvPr/>
        </p:nvSpPr>
        <p:spPr>
          <a:xfrm>
            <a:off x="2789280" y="77760"/>
            <a:ext cx="385272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Figurative Constants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463680" y="1251000"/>
            <a:ext cx="9016920" cy="559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5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COBOL provides its own, special constants called Figurative Constants.</a:t>
            </a:r>
            <a:endParaRPr lang="en-U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771480" y="2532240"/>
            <a:ext cx="8302680" cy="33274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  <a:spcAft>
                <a:spcPts val="1247"/>
              </a:spcAft>
              <a:tabLst>
                <a:tab pos="495288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SPACE or SPACES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Wingdings"/>
                <a:ea typeface="Wingdings"/>
              </a:rPr>
              <a:t>◻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  <a:spcAft>
                <a:spcPts val="1247"/>
              </a:spcAft>
              <a:tabLst>
                <a:tab pos="495288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ZERO or ZEROS or ZEROS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0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  <a:spcAft>
                <a:spcPts val="1247"/>
              </a:spcAft>
              <a:tabLst>
                <a:tab pos="495288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QUOTE or QUOTES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"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  <a:spcAft>
                <a:spcPts val="1247"/>
              </a:spcAft>
              <a:tabLst>
                <a:tab pos="495288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HIGH-VALUE or HIGH-VALUES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Max Value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  <a:spcAft>
                <a:spcPts val="1247"/>
              </a:spcAft>
              <a:tabLst>
                <a:tab pos="495288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LOW-VALUE or LOW-VALUES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Min Value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  <a:spcAft>
                <a:spcPts val="1247"/>
              </a:spcAft>
              <a:tabLst>
                <a:tab pos="4952880" algn="l"/>
              </a:tabLst>
            </a:pP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ALL </a:t>
            </a:r>
            <a:r>
              <a:rPr lang="en-US" sz="2400" b="1" i="1" u="none" strike="noStrike">
                <a:solidFill>
                  <a:srgbClr val="114FFB"/>
                </a:solidFill>
                <a:effectLst/>
                <a:uFillTx/>
                <a:latin typeface="Arial"/>
                <a:ea typeface="Arial"/>
              </a:rPr>
              <a:t>literal</a:t>
            </a:r>
            <a:r>
              <a:rPr lang="en-US" sz="2400" b="1" u="none" strike="noStrike">
                <a:solidFill>
                  <a:srgbClr val="114FFB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=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Fill With Literal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"/>
          <p:cNvSpPr txBox="1"/>
          <p:nvPr/>
        </p:nvSpPr>
        <p:spPr>
          <a:xfrm>
            <a:off x="2467080" y="108000"/>
            <a:ext cx="59007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Figurative Constants - Examples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7" name=""/>
          <p:cNvGrpSpPr/>
          <p:nvPr/>
        </p:nvGrpSpPr>
        <p:grpSpPr>
          <a:xfrm>
            <a:off x="452520" y="781200"/>
            <a:ext cx="8074080" cy="1619280"/>
            <a:chOff x="452520" y="781200"/>
            <a:chExt cx="8074080" cy="1619280"/>
          </a:xfrm>
        </p:grpSpPr>
        <p:sp>
          <p:nvSpPr>
            <p:cNvPr id="158" name=""/>
            <p:cNvSpPr txBox="1"/>
            <p:nvPr/>
          </p:nvSpPr>
          <p:spPr>
            <a:xfrm>
              <a:off x="452520" y="781200"/>
              <a:ext cx="8074080" cy="16192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3000"/>
                </a:lnSpc>
                <a:spcBef>
                  <a:spcPts val="1199"/>
                </a:spcBef>
                <a:spcAft>
                  <a:spcPts val="1247"/>
                </a:spcAft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 GrossPay   PIC 9(5)V99 VALUE 13.5.    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103000"/>
                </a:lnSpc>
                <a:spcBef>
                  <a:spcPts val="1199"/>
                </a:spcBef>
                <a:spcAft>
                  <a:spcPts val="1247"/>
                </a:spcAft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TO GrossPay.</a:t>
              </a:r>
              <a:br>
                <a:rPr sz="2400"/>
              </a:b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"/>
            <p:cNvSpPr txBox="1"/>
            <p:nvPr/>
          </p:nvSpPr>
          <p:spPr>
            <a:xfrm>
              <a:off x="1365120" y="1368360"/>
              <a:ext cx="1281240" cy="85896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ZERO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ZEROS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ZEROES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0" name=""/>
          <p:cNvSpPr txBox="1"/>
          <p:nvPr/>
        </p:nvSpPr>
        <p:spPr>
          <a:xfrm>
            <a:off x="452520" y="4299120"/>
            <a:ext cx="8623440" cy="12430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  <a:spcBef>
                <a:spcPts val="1199"/>
              </a:spcBef>
              <a:spcAft>
                <a:spcPts val="1247"/>
              </a:spcAf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StudentName   PIC X(10) VALUE "MIKE".   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  <a:spcBef>
                <a:spcPts val="1199"/>
              </a:spcBef>
              <a:spcAft>
                <a:spcPts val="1247"/>
              </a:spcAf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ALL "-" TO StudentName.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1" name=""/>
          <p:cNvGrpSpPr/>
          <p:nvPr/>
        </p:nvGrpSpPr>
        <p:grpSpPr>
          <a:xfrm>
            <a:off x="1812960" y="5923080"/>
            <a:ext cx="4390920" cy="877680"/>
            <a:chOff x="1812960" y="5923080"/>
            <a:chExt cx="4390920" cy="877680"/>
          </a:xfrm>
        </p:grpSpPr>
        <p:sp>
          <p:nvSpPr>
            <p:cNvPr id="162" name=""/>
            <p:cNvSpPr txBox="1"/>
            <p:nvPr/>
          </p:nvSpPr>
          <p:spPr>
            <a:xfrm>
              <a:off x="2795760" y="5923080"/>
              <a:ext cx="1911240" cy="365040"/>
            </a:xfrm>
            <a:prstGeom prst="rect">
              <a:avLst/>
            </a:prstGeom>
            <a:solidFill>
              <a:srgbClr val="DADADA"/>
            </a:solidFill>
            <a:ln w="255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3" name=""/>
            <p:cNvSpPr/>
            <p:nvPr/>
          </p:nvSpPr>
          <p:spPr>
            <a:xfrm>
              <a:off x="1812960" y="6272280"/>
              <a:ext cx="4390920" cy="528480"/>
            </a:xfrm>
            <a:prstGeom prst="rect">
              <a:avLst/>
            </a:prstGeom>
            <a:solidFill>
              <a:srgbClr val="DADADA"/>
            </a:solidFill>
            <a:ln w="25560">
              <a:solidFill>
                <a:srgbClr val="919191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4" name=""/>
            <p:cNvSpPr txBox="1"/>
            <p:nvPr/>
          </p:nvSpPr>
          <p:spPr>
            <a:xfrm>
              <a:off x="1973160" y="6357960"/>
              <a:ext cx="407340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392040" indent="-392040">
                <a:lnSpc>
                  <a:spcPct val="90000"/>
                </a:lnSpc>
                <a:spcBef>
                  <a:spcPts val="720"/>
                </a:spcBef>
              </a:pPr>
              <a:r>
                <a:rPr lang="en-US" sz="2800" b="1" u="none" strike="noStrike">
                  <a:solidFill>
                    <a:srgbClr val="114FFB"/>
                  </a:solidFill>
                  <a:effectLst/>
                  <a:uFillTx/>
                  <a:latin typeface="Courier New"/>
                  <a:ea typeface="Courier New"/>
                </a:rPr>
                <a:t>M I K E </a:t>
              </a:r>
              <a:r>
                <a:rPr lang="en-US" sz="1800" b="1" u="none" strike="noStrike">
                  <a:solidFill>
                    <a:srgbClr val="114FFB"/>
                  </a:solidFill>
                  <a:effectLst/>
                  <a:uFillTx/>
                  <a:latin typeface="Wingdings"/>
                  <a:ea typeface="Wingdings"/>
                </a:rPr>
                <a:t>◻ ◻ ◻ ◻ ◻ ◻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"/>
            <p:cNvSpPr/>
            <p:nvPr/>
          </p:nvSpPr>
          <p:spPr>
            <a:xfrm>
              <a:off x="229860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" name=""/>
            <p:cNvSpPr/>
            <p:nvPr/>
          </p:nvSpPr>
          <p:spPr>
            <a:xfrm>
              <a:off x="270828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7" name=""/>
            <p:cNvSpPr/>
            <p:nvPr/>
          </p:nvSpPr>
          <p:spPr>
            <a:xfrm>
              <a:off x="316080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8" name=""/>
            <p:cNvSpPr/>
            <p:nvPr/>
          </p:nvSpPr>
          <p:spPr>
            <a:xfrm>
              <a:off x="358452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9" name=""/>
            <p:cNvSpPr/>
            <p:nvPr/>
          </p:nvSpPr>
          <p:spPr>
            <a:xfrm>
              <a:off x="399888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0" name=""/>
            <p:cNvSpPr/>
            <p:nvPr/>
          </p:nvSpPr>
          <p:spPr>
            <a:xfrm>
              <a:off x="442260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" name=""/>
            <p:cNvSpPr/>
            <p:nvPr/>
          </p:nvSpPr>
          <p:spPr>
            <a:xfrm>
              <a:off x="4832280" y="629136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2" name=""/>
            <p:cNvSpPr/>
            <p:nvPr/>
          </p:nvSpPr>
          <p:spPr>
            <a:xfrm>
              <a:off x="5308560" y="629136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3" name=""/>
            <p:cNvSpPr/>
            <p:nvPr/>
          </p:nvSpPr>
          <p:spPr>
            <a:xfrm>
              <a:off x="5746680" y="629136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4" name=""/>
          <p:cNvSpPr/>
          <p:nvPr/>
        </p:nvSpPr>
        <p:spPr>
          <a:xfrm>
            <a:off x="2013120" y="3081240"/>
            <a:ext cx="3086280" cy="5284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2820960" y="2727360"/>
            <a:ext cx="1454040" cy="365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GrossPay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173320" y="3166920"/>
            <a:ext cx="27734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0 0 0 1 3 5 0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249876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290844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/>
          <p:nvPr/>
        </p:nvSpPr>
        <p:spPr>
          <a:xfrm>
            <a:off x="336060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378468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419904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462276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3976560" y="3629160"/>
            <a:ext cx="473040" cy="52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50000"/>
              </a:lnSpc>
            </a:pPr>
            <a:r>
              <a:rPr lang="en-US" sz="1200" b="0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"/>
          <p:cNvSpPr txBox="1"/>
          <p:nvPr/>
        </p:nvSpPr>
        <p:spPr>
          <a:xfrm>
            <a:off x="2467080" y="108000"/>
            <a:ext cx="59007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Figurative Constants - Examples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5" name=""/>
          <p:cNvGrpSpPr/>
          <p:nvPr/>
        </p:nvGrpSpPr>
        <p:grpSpPr>
          <a:xfrm>
            <a:off x="452520" y="781200"/>
            <a:ext cx="8074080" cy="1619280"/>
            <a:chOff x="452520" y="781200"/>
            <a:chExt cx="8074080" cy="1619280"/>
          </a:xfrm>
        </p:grpSpPr>
        <p:sp>
          <p:nvSpPr>
            <p:cNvPr id="186" name=""/>
            <p:cNvSpPr txBox="1"/>
            <p:nvPr/>
          </p:nvSpPr>
          <p:spPr>
            <a:xfrm>
              <a:off x="452520" y="781200"/>
              <a:ext cx="8074080" cy="161928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103000"/>
                </a:lnSpc>
                <a:spcBef>
                  <a:spcPts val="1199"/>
                </a:spcBef>
                <a:spcAft>
                  <a:spcPts val="1247"/>
                </a:spcAft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 GrossPay   PIC 9(5)V99 VALUE 13.5.     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103000"/>
                </a:lnSpc>
                <a:spcBef>
                  <a:spcPts val="1199"/>
                </a:spcBef>
                <a:spcAft>
                  <a:spcPts val="1247"/>
                </a:spcAft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MOVE 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TO GrossPay.</a:t>
              </a:r>
              <a:br>
                <a:rPr sz="2400"/>
              </a:b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"/>
            <p:cNvSpPr txBox="1"/>
            <p:nvPr/>
          </p:nvSpPr>
          <p:spPr>
            <a:xfrm>
              <a:off x="1365120" y="1368360"/>
              <a:ext cx="1281240" cy="858960"/>
            </a:xfrm>
            <a:prstGeom prst="rect">
              <a:avLst/>
            </a:prstGeom>
            <a:solidFill>
              <a:srgbClr val="DADADA"/>
            </a:solidFill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ZERO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ZEROS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0000"/>
                </a:lnSpc>
              </a:pPr>
              <a:r>
                <a:rPr lang="en-US" sz="2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ZEROES</a:t>
              </a:r>
              <a:endPara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8" name=""/>
          <p:cNvSpPr txBox="1"/>
          <p:nvPr/>
        </p:nvSpPr>
        <p:spPr>
          <a:xfrm>
            <a:off x="452520" y="4299120"/>
            <a:ext cx="8805960" cy="12430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  <a:spcBef>
                <a:spcPts val="1199"/>
              </a:spcBef>
              <a:spcAft>
                <a:spcPts val="1247"/>
              </a:spcAf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 StudentName   PIC X(10) VALUE "MIKE".    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  <a:spcBef>
                <a:spcPts val="1199"/>
              </a:spcBef>
              <a:spcAft>
                <a:spcPts val="1247"/>
              </a:spcAft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ALL "-" TO StudentName.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9" name=""/>
          <p:cNvGrpSpPr/>
          <p:nvPr/>
        </p:nvGrpSpPr>
        <p:grpSpPr>
          <a:xfrm>
            <a:off x="1812960" y="5923080"/>
            <a:ext cx="4390920" cy="877680"/>
            <a:chOff x="1812960" y="5923080"/>
            <a:chExt cx="4390920" cy="877680"/>
          </a:xfrm>
        </p:grpSpPr>
        <p:sp>
          <p:nvSpPr>
            <p:cNvPr id="190" name=""/>
            <p:cNvSpPr txBox="1"/>
            <p:nvPr/>
          </p:nvSpPr>
          <p:spPr>
            <a:xfrm>
              <a:off x="2795760" y="5923080"/>
              <a:ext cx="1911240" cy="365040"/>
            </a:xfrm>
            <a:prstGeom prst="rect">
              <a:avLst/>
            </a:prstGeom>
            <a:solidFill>
              <a:srgbClr val="DADADA"/>
            </a:solidFill>
            <a:ln w="25560">
              <a:solidFill>
                <a:srgbClr val="919191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20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StudentName</a:t>
              </a:r>
              <a:endPara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"/>
            <p:cNvSpPr/>
            <p:nvPr/>
          </p:nvSpPr>
          <p:spPr>
            <a:xfrm>
              <a:off x="1812960" y="6272280"/>
              <a:ext cx="4390920" cy="528480"/>
            </a:xfrm>
            <a:prstGeom prst="rect">
              <a:avLst/>
            </a:prstGeom>
            <a:solidFill>
              <a:srgbClr val="DADADA"/>
            </a:solidFill>
            <a:ln w="25560">
              <a:solidFill>
                <a:srgbClr val="919191"/>
              </a:solidFill>
              <a:round/>
            </a:ln>
          </p:spPr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"/>
            <p:cNvSpPr txBox="1"/>
            <p:nvPr/>
          </p:nvSpPr>
          <p:spPr>
            <a:xfrm>
              <a:off x="1973160" y="6357960"/>
              <a:ext cx="4054320" cy="38412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392040" indent="-392040">
                <a:lnSpc>
                  <a:spcPct val="90000"/>
                </a:lnSpc>
                <a:spcBef>
                  <a:spcPts val="720"/>
                </a:spcBef>
              </a:pPr>
              <a:r>
                <a:rPr lang="en-US" sz="2800" b="1" u="none" strike="noStrike">
                  <a:solidFill>
                    <a:srgbClr val="FC0128"/>
                  </a:solidFill>
                  <a:effectLst/>
                  <a:uFillTx/>
                  <a:latin typeface="Courier New"/>
                  <a:ea typeface="Courier New"/>
                </a:rPr>
                <a:t>- - - - - - - - - -</a:t>
              </a:r>
              <a:endPara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"/>
            <p:cNvSpPr/>
            <p:nvPr/>
          </p:nvSpPr>
          <p:spPr>
            <a:xfrm>
              <a:off x="229860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" name=""/>
            <p:cNvSpPr/>
            <p:nvPr/>
          </p:nvSpPr>
          <p:spPr>
            <a:xfrm>
              <a:off x="270828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" name=""/>
            <p:cNvSpPr/>
            <p:nvPr/>
          </p:nvSpPr>
          <p:spPr>
            <a:xfrm>
              <a:off x="316080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"/>
            <p:cNvSpPr/>
            <p:nvPr/>
          </p:nvSpPr>
          <p:spPr>
            <a:xfrm>
              <a:off x="358452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"/>
            <p:cNvSpPr/>
            <p:nvPr/>
          </p:nvSpPr>
          <p:spPr>
            <a:xfrm>
              <a:off x="399888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8" name=""/>
            <p:cNvSpPr/>
            <p:nvPr/>
          </p:nvSpPr>
          <p:spPr>
            <a:xfrm>
              <a:off x="4422600" y="628668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9" name=""/>
            <p:cNvSpPr/>
            <p:nvPr/>
          </p:nvSpPr>
          <p:spPr>
            <a:xfrm>
              <a:off x="4832280" y="629136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0" name=""/>
            <p:cNvSpPr/>
            <p:nvPr/>
          </p:nvSpPr>
          <p:spPr>
            <a:xfrm>
              <a:off x="5308560" y="629136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1" name=""/>
            <p:cNvSpPr/>
            <p:nvPr/>
          </p:nvSpPr>
          <p:spPr>
            <a:xfrm>
              <a:off x="5746680" y="6291360"/>
              <a:ext cx="0" cy="500040"/>
            </a:xfrm>
            <a:prstGeom prst="line">
              <a:avLst/>
            </a:prstGeom>
            <a:ln w="25560">
              <a:solidFill>
                <a:srgbClr val="91919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02" name=""/>
          <p:cNvSpPr/>
          <p:nvPr/>
        </p:nvSpPr>
        <p:spPr>
          <a:xfrm>
            <a:off x="2013120" y="3081240"/>
            <a:ext cx="3086280" cy="52848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820960" y="2727360"/>
            <a:ext cx="1454040" cy="365040"/>
          </a:xfrm>
          <a:prstGeom prst="rect">
            <a:avLst/>
          </a:prstGeom>
          <a:solidFill>
            <a:srgbClr val="DADADA"/>
          </a:solidFill>
          <a:ln w="25560">
            <a:solidFill>
              <a:srgbClr val="919191"/>
            </a:solidFill>
            <a:round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GrossPay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2173320" y="3166920"/>
            <a:ext cx="2773440" cy="384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92040" indent="-392040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0 0 0 0 0 0 0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/>
          <p:nvPr/>
        </p:nvSpPr>
        <p:spPr>
          <a:xfrm>
            <a:off x="249876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290844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336060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378468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419904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4622760" y="3095640"/>
            <a:ext cx="0" cy="500040"/>
          </a:xfrm>
          <a:prstGeom prst="line">
            <a:avLst/>
          </a:prstGeom>
          <a:ln w="25560">
            <a:solidFill>
              <a:srgbClr val="91919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976560" y="3629160"/>
            <a:ext cx="473040" cy="52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8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⟧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50000"/>
              </a:lnSpc>
            </a:pPr>
            <a:r>
              <a:rPr lang="en-US" sz="1200" b="0" u="none" strike="noStrike">
                <a:solidFill>
                  <a:srgbClr val="FAFD00"/>
                </a:solidFill>
                <a:effectLst/>
                <a:uFillTx/>
                <a:latin typeface="Wingdings"/>
                <a:ea typeface="Wingdings"/>
              </a:rPr>
              <a:t>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 txBox="1"/>
          <p:nvPr/>
        </p:nvSpPr>
        <p:spPr>
          <a:xfrm>
            <a:off x="1395360" y="150840"/>
            <a:ext cx="700416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Editing, Checking, Compiling, Running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"/>
          <p:cNvPicPr/>
          <p:nvPr/>
        </p:nvPicPr>
        <p:blipFill>
          <a:blip r:embed="rId1"/>
          <a:stretch/>
        </p:blipFill>
        <p:spPr>
          <a:xfrm>
            <a:off x="1817640" y="1501920"/>
            <a:ext cx="6162840" cy="3105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 txBox="1"/>
          <p:nvPr/>
        </p:nvSpPr>
        <p:spPr>
          <a:xfrm>
            <a:off x="3424320" y="111240"/>
            <a:ext cx="2809800" cy="49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9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PROCO Menus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57320" y="907920"/>
            <a:ext cx="3902040" cy="10000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PROCO 1 - 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  F2=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edit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F3=check   F4=animate   F5=compile  F6=run  F7=library  F8=build  F10=directory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5560920" y="907920"/>
            <a:ext cx="4324320" cy="16621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PROCO 2 - Alt 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  F2=screens  F7=link   F10=CoWriter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PROCO 3 - Ctrl 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 F3=update-menu   F4=UseUpdatedMenu   F5=batch-files   F7=OS-command   F8=config   F10=user-menu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157320" y="2803680"/>
            <a:ext cx="4202280" cy="1441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EDIT 1 -Menu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 F2=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COBOL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  F3=InsertLine   F4=DeleteLine  F5=RepeatLine  F6=RestoreLine   F7=RetypeChar  F8=RestoreChar  F9=WordLeft   F10=WordRight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557680" y="2793960"/>
            <a:ext cx="4307040" cy="24890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EDIT 2 - Alt 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 F2=library  F3=load-file  F4=save-file   F5=split-line  F6=join-line  F7=print F8=calculate   F9=untype-word-left  F10=DeleteWord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EDIT 3 - Ctrl 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 F2=find  F3=block  F4=clear  F5=margins  F6=draw/forms  F7=tags  F8=WordWrap  F9=window  F10=scroll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&lt;-/-&gt; (move in window)    Home/End (of text)  PgUp/PgDn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157320" y="4649760"/>
            <a:ext cx="4159080" cy="10000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COBOL 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F2=</a:t>
            </a: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check</a:t>
            </a: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/animate  F3=cmd-file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F7=locate-previous  F8=locate-next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F9=locate-current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147600" y="6095880"/>
            <a:ext cx="4216320" cy="7794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Checker 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 F2=check/anim  F3=pause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F4=list  F6=lang  F7=ref  F9/F10=directives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5557680" y="5607000"/>
            <a:ext cx="4159080" cy="1109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Animate-Menu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F1=help F2=view F3=align F4=exchange F5=where F6=look-up  F9/F10=word-&lt;/&gt;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Escape Animate Step Wch Go Zoom nx-If  Prfm Rst Brk Env Qury Find Locate Txt Do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3897360" y="1050840"/>
            <a:ext cx="2587680" cy="3240"/>
          </a:xfrm>
          <a:prstGeom prst="line">
            <a:avLst/>
          </a:prstGeom>
          <a:ln w="1260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47880" rIns="96120" bIns="-47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545000" y="915840"/>
            <a:ext cx="693720" cy="299880"/>
          </a:xfrm>
          <a:prstGeom prst="rect">
            <a:avLst/>
          </a:prstGeom>
          <a:solidFill>
            <a:srgbClr val="DADADA"/>
          </a:solidFill>
          <a:ln w="12600">
            <a:solidFill>
              <a:srgbClr val="FC0128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ALT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/>
          <p:nvPr/>
        </p:nvSpPr>
        <p:spPr>
          <a:xfrm>
            <a:off x="4270320" y="1046160"/>
            <a:ext cx="0" cy="669960"/>
          </a:xfrm>
          <a:prstGeom prst="line">
            <a:avLst/>
          </a:prstGeom>
          <a:ln w="1260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 flipV="1">
            <a:off x="4270320" y="1728720"/>
            <a:ext cx="2360520" cy="1800"/>
          </a:xfrm>
          <a:prstGeom prst="line">
            <a:avLst/>
          </a:prstGeom>
          <a:ln w="1260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49320" rIns="96120" bIns="-493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4583160" y="1582560"/>
            <a:ext cx="787320" cy="299880"/>
          </a:xfrm>
          <a:prstGeom prst="rect">
            <a:avLst/>
          </a:prstGeom>
          <a:solidFill>
            <a:srgbClr val="DADADA"/>
          </a:solidFill>
          <a:ln w="12600">
            <a:solidFill>
              <a:srgbClr val="FC0128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CTRL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/>
          <p:nvPr/>
        </p:nvSpPr>
        <p:spPr>
          <a:xfrm>
            <a:off x="4021200" y="2975040"/>
            <a:ext cx="2587680" cy="3240"/>
          </a:xfrm>
          <a:prstGeom prst="line">
            <a:avLst/>
          </a:prstGeom>
          <a:ln w="1260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47880" rIns="96120" bIns="-4788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668840" y="2840040"/>
            <a:ext cx="693720" cy="299880"/>
          </a:xfrm>
          <a:prstGeom prst="rect">
            <a:avLst/>
          </a:prstGeom>
          <a:solidFill>
            <a:srgbClr val="DADADA"/>
          </a:solidFill>
          <a:ln w="12600">
            <a:solidFill>
              <a:srgbClr val="FC0128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ALT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/>
          <p:nvPr/>
        </p:nvSpPr>
        <p:spPr>
          <a:xfrm>
            <a:off x="4532400" y="2979720"/>
            <a:ext cx="0" cy="1308240"/>
          </a:xfrm>
          <a:prstGeom prst="line">
            <a:avLst/>
          </a:prstGeom>
          <a:ln w="1260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/>
          <p:nvPr/>
        </p:nvSpPr>
        <p:spPr>
          <a:xfrm>
            <a:off x="4532400" y="4287960"/>
            <a:ext cx="2295360" cy="0"/>
          </a:xfrm>
          <a:prstGeom prst="line">
            <a:avLst/>
          </a:prstGeom>
          <a:ln w="1260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6120" tIns="-51120" rIns="96120" bIns="-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4764240" y="4121280"/>
            <a:ext cx="787320" cy="299880"/>
          </a:xfrm>
          <a:prstGeom prst="rect">
            <a:avLst/>
          </a:prstGeom>
          <a:solidFill>
            <a:srgbClr val="DADADA"/>
          </a:solidFill>
          <a:ln w="12600">
            <a:solidFill>
              <a:srgbClr val="FC0128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  <a:spcAft>
                <a:spcPts val="1199"/>
              </a:spcAf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CTRL key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270000" y="1279080"/>
            <a:ext cx="1289160" cy="1680480"/>
          </a:xfrm>
          <a:custGeom>
            <a:avLst/>
            <a:gdLst/>
            <a:ahLst/>
            <a:rect l="0" t="0" r="r" b="b"/>
            <a:pathLst>
              <a:path fill="none" w="3581" h="4668">
                <a:moveTo>
                  <a:pt x="2417" y="0"/>
                </a:moveTo>
                <a:lnTo>
                  <a:pt x="2417" y="0"/>
                </a:lnTo>
                <a:cubicBezTo>
                  <a:pt x="2198" y="50"/>
                  <a:pt x="1987" y="115"/>
                  <a:pt x="1787" y="192"/>
                </a:cubicBezTo>
                <a:cubicBezTo>
                  <a:pt x="1244" y="403"/>
                  <a:pt x="793" y="706"/>
                  <a:pt x="479" y="1070"/>
                </a:cubicBezTo>
                <a:cubicBezTo>
                  <a:pt x="166" y="1435"/>
                  <a:pt x="0" y="1848"/>
                  <a:pt x="0" y="2269"/>
                </a:cubicBezTo>
                <a:cubicBezTo>
                  <a:pt x="0" y="2691"/>
                  <a:pt x="166" y="3104"/>
                  <a:pt x="479" y="3469"/>
                </a:cubicBezTo>
                <a:cubicBezTo>
                  <a:pt x="793" y="3833"/>
                  <a:pt x="1244" y="4136"/>
                  <a:pt x="1787" y="4347"/>
                </a:cubicBezTo>
                <a:cubicBezTo>
                  <a:pt x="2330" y="4557"/>
                  <a:pt x="2946" y="4668"/>
                  <a:pt x="3573" y="4668"/>
                </a:cubicBezTo>
                <a:cubicBezTo>
                  <a:pt x="3576" y="4668"/>
                  <a:pt x="3578" y="4668"/>
                  <a:pt x="3581" y="4668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579600" y="3145680"/>
            <a:ext cx="975960" cy="1654920"/>
          </a:xfrm>
          <a:custGeom>
            <a:avLst/>
            <a:gdLst/>
            <a:ahLst/>
            <a:rect l="0" t="0" r="r" b="b"/>
            <a:pathLst>
              <a:path fill="none" w="2711" h="4597">
                <a:moveTo>
                  <a:pt x="2412" y="0"/>
                </a:moveTo>
                <a:lnTo>
                  <a:pt x="2412" y="0"/>
                </a:lnTo>
                <a:cubicBezTo>
                  <a:pt x="2195" y="50"/>
                  <a:pt x="1985" y="114"/>
                  <a:pt x="1786" y="191"/>
                </a:cubicBezTo>
                <a:cubicBezTo>
                  <a:pt x="1243" y="402"/>
                  <a:pt x="792" y="705"/>
                  <a:pt x="478" y="1069"/>
                </a:cubicBezTo>
                <a:cubicBezTo>
                  <a:pt x="165" y="1434"/>
                  <a:pt x="0" y="1848"/>
                  <a:pt x="0" y="2269"/>
                </a:cubicBezTo>
                <a:cubicBezTo>
                  <a:pt x="0" y="2690"/>
                  <a:pt x="165" y="3104"/>
                  <a:pt x="478" y="3468"/>
                </a:cubicBezTo>
                <a:cubicBezTo>
                  <a:pt x="792" y="3833"/>
                  <a:pt x="1243" y="4136"/>
                  <a:pt x="1786" y="4346"/>
                </a:cubicBezTo>
                <a:cubicBezTo>
                  <a:pt x="2076" y="4459"/>
                  <a:pt x="2387" y="4543"/>
                  <a:pt x="2711" y="4597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669960" y="5016600"/>
            <a:ext cx="882000" cy="1201680"/>
          </a:xfrm>
          <a:custGeom>
            <a:avLst/>
            <a:gdLst/>
            <a:ahLst/>
            <a:rect l="0" t="0" r="r" b="b"/>
            <a:pathLst>
              <a:path fill="none" w="2450" h="3338">
                <a:moveTo>
                  <a:pt x="1653" y="0"/>
                </a:moveTo>
                <a:lnTo>
                  <a:pt x="1653" y="0"/>
                </a:lnTo>
                <a:cubicBezTo>
                  <a:pt x="1504" y="36"/>
                  <a:pt x="1360" y="82"/>
                  <a:pt x="1224" y="137"/>
                </a:cubicBezTo>
                <a:cubicBezTo>
                  <a:pt x="852" y="287"/>
                  <a:pt x="543" y="504"/>
                  <a:pt x="328" y="765"/>
                </a:cubicBezTo>
                <a:cubicBezTo>
                  <a:pt x="113" y="1026"/>
                  <a:pt x="0" y="1321"/>
                  <a:pt x="0" y="1622"/>
                </a:cubicBezTo>
                <a:cubicBezTo>
                  <a:pt x="0" y="1924"/>
                  <a:pt x="113" y="2219"/>
                  <a:pt x="328" y="2480"/>
                </a:cubicBezTo>
                <a:cubicBezTo>
                  <a:pt x="543" y="2741"/>
                  <a:pt x="852" y="2958"/>
                  <a:pt x="1224" y="3108"/>
                </a:cubicBezTo>
                <a:cubicBezTo>
                  <a:pt x="1596" y="3259"/>
                  <a:pt x="2018" y="3338"/>
                  <a:pt x="2448" y="3338"/>
                </a:cubicBezTo>
                <a:cubicBezTo>
                  <a:pt x="2449" y="3338"/>
                  <a:pt x="2449" y="3338"/>
                  <a:pt x="2450" y="3338"/>
                </a:cubicBezTo>
              </a:path>
            </a:pathLst>
          </a:custGeom>
          <a:ln w="12600">
            <a:solidFill>
              <a:srgbClr val="FC0128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COBOL coding rules</dc:title>
</cp:coreProperties>
</file>