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presProps.xml" ContentType="application/vnd.openxmlformats-officedocument.presentationml.presProps+xml"/>
  <Override PartName="/ppt/media/image1.wmf" ContentType="image/x-wmf"/>
  <Override PartName="/ppt/media/image2.wmf" ContentType="image/x-wmf"/>
  <Override PartName="/ppt/media/image3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wmf"/><Relationship Id="rId2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wmf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402000" y="2887560"/>
            <a:ext cx="2470320" cy="10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PERFORM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 txBox="1"/>
          <p:nvPr/>
        </p:nvSpPr>
        <p:spPr>
          <a:xfrm>
            <a:off x="2617920" y="184320"/>
            <a:ext cx="35830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PERFORM Verb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54080" y="833400"/>
            <a:ext cx="8404200" cy="5396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Iteration is an important programming construct.  We use iteration when we need to repeat the same instructions over and over again.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Most programming languages have several iteration keywords (e.g. WHILE, FOR, REPEAT) which facilitate the creation different ‘types’ of iteration structure.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only has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one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iteration construct; 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PERFORM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But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PERFORM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has several variations.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Each variation is equivalent to one of the iteration ‘types’ available in other languages.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216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This lecture concentrates on three of the PERFORM formats.  The PERFORM..VARYING, the COBOL equivalent of the FOR , will be introduced later.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 txBox="1"/>
          <p:nvPr/>
        </p:nvSpPr>
        <p:spPr>
          <a:xfrm>
            <a:off x="2075040" y="135000"/>
            <a:ext cx="4156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Paragraphs :- Revisited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210960" y="1004760"/>
            <a:ext cx="8532720" cy="516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8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Paragraph is a block of code to which we have given a name.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Paragraph Name is a programmer defined name formed using the standard rules for programmer defined names (A-Z, 0-9, -).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Paragraph Name is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ALWAYS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terminated with a ‘full-stop’.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Any number of statements and sentences may be included in a paragraph, and the last one (at least) must be terminated with a ‘full-stop’.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scope of a paragraph is delimited by the occurrence of another paragraph name or the end of the program text.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 txBox="1"/>
          <p:nvPr/>
        </p:nvSpPr>
        <p:spPr>
          <a:xfrm>
            <a:off x="380880" y="838080"/>
            <a:ext cx="8515440" cy="41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ProcessRecord.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DISPLAY StudentRecord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READ StudentFile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 END MOVE HIGH-VALUES TO StudentRecord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END-READ.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ProduceOutput.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DISPLAY “Here is a message”.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 algn="ctr">
              <a:lnSpc>
                <a:spcPct val="90000"/>
              </a:lnSpc>
              <a:spcBef>
                <a:spcPts val="720"/>
              </a:spcBef>
            </a:pP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2560680" y="163440"/>
            <a:ext cx="3505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Paragraph Example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768240" y="4908600"/>
            <a:ext cx="4378320" cy="1308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NOTE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scope of ‘ProcessRecord’ is delimited by the occurrence the paragraph name ‘ProduceOutput’.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 txBox="1"/>
          <p:nvPr/>
        </p:nvSpPr>
        <p:spPr>
          <a:xfrm>
            <a:off x="2762280" y="76320"/>
            <a:ext cx="3049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Syntax.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09680" y="1766880"/>
            <a:ext cx="7996320" cy="462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This is the only type of PERFORM that is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not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 iteration construct.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 instructs the computer to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transfer control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to an out-of-line block of code.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When the end of the block is reached, control reverts to the statement (not the sentence) immediately following the PERFORM.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1stProc and EndProc are the names of Paragraphs or Sections.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PERFORM..THRU instructs the computer to treat the Paragraphs or Sections from 1stProc TO EndProc as a single block of code.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"/>
          <p:cNvPicPr/>
          <p:nvPr/>
        </p:nvPicPr>
        <p:blipFill>
          <a:blip r:embed="rId1"/>
          <a:stretch/>
        </p:blipFill>
        <p:spPr>
          <a:xfrm>
            <a:off x="1614600" y="696960"/>
            <a:ext cx="5289480" cy="113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DISPLAY "In TopLevel. Starting to run program"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852640" y="797040"/>
            <a:ext cx="2076480" cy="320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Run of PerformFormat1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177920" y="1127160"/>
            <a:ext cx="5697360" cy="12384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In TopLevel. Starting to run program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Now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&gt;&gt;&gt;&gt;&gt;&gt;&gt;&gt; Now in TwoLevelsDown.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Back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 in TopLevel.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PERFORM OneLevelDown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852640" y="797040"/>
            <a:ext cx="2076480" cy="320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Run of PerformFormat1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181160" y="1130400"/>
            <a:ext cx="5691240" cy="123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 TopLevel. Starting to run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Now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&gt;&gt;&gt;&gt;&gt;&gt;&gt;&gt; Now in TwoLevelsDown.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Back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 in TopLevel.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DISPLAY "&gt;&gt;&gt;&gt; Now in OneLevelDown"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852640" y="797040"/>
            <a:ext cx="2076480" cy="320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Run of PerformFormat1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181160" y="1130400"/>
            <a:ext cx="5691240" cy="123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 TopLevel. Starting to run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&gt;&gt;&gt;&gt; Now in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&gt;&gt;&gt;&gt;&gt;&gt;&gt;&gt; Now in TwoLevelsDown.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Back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 in TopLevel.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PERFORM TwoLevelsDown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852640" y="797040"/>
            <a:ext cx="2076480" cy="320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Run of PerformFormat1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81160" y="1130400"/>
            <a:ext cx="5691240" cy="123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 TopLevel. Starting to run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Now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&gt;&gt;&gt;&gt;&gt;&gt;&gt;&gt; Now in TwoLevelsDown.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Back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 in TopLevel.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DISPLAY "&gt;&gt;&gt;&gt;&gt;&gt;&gt;&gt; Now in TwoLevelsDown."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"/>
          <p:cNvGrpSpPr/>
          <p:nvPr/>
        </p:nvGrpSpPr>
        <p:grpSpPr>
          <a:xfrm>
            <a:off x="1181160" y="797040"/>
            <a:ext cx="5691240" cy="1565280"/>
            <a:chOff x="1181160" y="797040"/>
            <a:chExt cx="5691240" cy="1565280"/>
          </a:xfrm>
        </p:grpSpPr>
        <p:sp>
          <p:nvSpPr>
            <p:cNvPr id="77" name=""/>
            <p:cNvSpPr txBox="1"/>
            <p:nvPr/>
          </p:nvSpPr>
          <p:spPr>
            <a:xfrm>
              <a:off x="2852640" y="797040"/>
              <a:ext cx="2076480" cy="3207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PerformFormat1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 txBox="1"/>
            <p:nvPr/>
          </p:nvSpPr>
          <p:spPr>
            <a:xfrm>
              <a:off x="1181160" y="1130400"/>
              <a:ext cx="5691240" cy="12319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In TopLevel. Starting to run program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&gt;&gt;&gt;&gt; Now in OneLevelDown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20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&gt;&gt;&gt;&gt;&gt;&gt;&gt;&gt; Now in TwoLevelsDown.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&gt;&gt;&gt;&gt; Back in OneLevelDown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Back in TopLevel.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TopLevel.".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DISPLAY "&gt;&gt;&gt;&gt; Back in OneLevelDown".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2852640" y="797040"/>
            <a:ext cx="2076480" cy="320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Run of PerformFormat1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181160" y="1130400"/>
            <a:ext cx="5691240" cy="123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 TopLevel. Starting to run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 Now in OneLevelDown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&gt;&gt;&gt;&gt;&gt;&gt;&gt;&gt; Now in TwoLevelsDown.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&gt;&gt;&gt;&gt; Back in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 in TopLevel.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 txBox="1"/>
          <p:nvPr/>
        </p:nvSpPr>
        <p:spPr>
          <a:xfrm>
            <a:off x="725400" y="2689200"/>
            <a:ext cx="8040600" cy="3879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Courier New"/>
                <a:ea typeface="Courier New"/>
              </a:rPr>
              <a:t>TopLevel.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"In TopLevel. Starting to run program"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OneLevelDown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DISPLAY "Back in TopLevel.".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TwoLevelsDown.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"&gt;&gt;&gt;&gt;&gt;&gt;&gt;&gt; Now in TwoLevelsDown."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OneLevelDown.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Now in OneLevelDown"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TwoLevelsDown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"&gt;&gt;&gt;&gt; Back in OneLevelDown".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"/>
          <p:cNvGrpSpPr/>
          <p:nvPr/>
        </p:nvGrpSpPr>
        <p:grpSpPr>
          <a:xfrm>
            <a:off x="1181160" y="797040"/>
            <a:ext cx="5691240" cy="1565280"/>
            <a:chOff x="1181160" y="797040"/>
            <a:chExt cx="5691240" cy="1565280"/>
          </a:xfrm>
        </p:grpSpPr>
        <p:sp>
          <p:nvSpPr>
            <p:cNvPr id="86" name=""/>
            <p:cNvSpPr txBox="1"/>
            <p:nvPr/>
          </p:nvSpPr>
          <p:spPr>
            <a:xfrm>
              <a:off x="2852640" y="797040"/>
              <a:ext cx="2076480" cy="3207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PerformFormat1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"/>
            <p:cNvSpPr txBox="1"/>
            <p:nvPr/>
          </p:nvSpPr>
          <p:spPr>
            <a:xfrm>
              <a:off x="1181160" y="1130400"/>
              <a:ext cx="5691240" cy="12319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In TopLevel. Starting to run program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&gt;&gt;&gt;&gt; Now in OneLevelDown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&gt;&gt;&gt;&gt;&gt;&gt;&gt;&gt; Now in TwoLevelsDown.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&gt;&gt;&gt;&gt; Back in OneLevelDown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20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Back in TopLevel.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 txBox="1"/>
          <p:nvPr/>
        </p:nvSpPr>
        <p:spPr>
          <a:xfrm>
            <a:off x="2292480" y="101520"/>
            <a:ext cx="3346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1 Example.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1886040" y="657360"/>
            <a:ext cx="4933800" cy="5638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197080" y="781200"/>
            <a:ext cx="4165560" cy="5272200"/>
          </a:xfrm>
          <a:prstGeom prst="rect">
            <a:avLst/>
          </a:prstGeom>
          <a:solidFill>
            <a:srgbClr val="DADADA"/>
          </a:solidFill>
          <a:ln w="12600">
            <a:solidFill>
              <a:srgbClr val="414141"/>
            </a:solidFill>
            <a:round/>
          </a:ln>
          <a:effectLst>
            <a:outerShdw dist="0" dir="0" rotWithShape="0">
              <a:srgbClr val="081D58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SumSales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SumSales.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IF NoErrorFound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IF NoErrorFound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END-IF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END-IF.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517760" y="79200"/>
            <a:ext cx="5261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Why use the PERFORM Thru?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2158920" y="609480"/>
            <a:ext cx="4267440" cy="483120"/>
          </a:xfrm>
          <a:custGeom>
            <a:avLst/>
            <a:gdLst/>
            <a:ahLst/>
            <a:rect l="0" t="0" r="r" b="b"/>
            <a:pathLst>
              <a:path w="11854" h="1342">
                <a:moveTo>
                  <a:pt x="35" y="1025"/>
                </a:moveTo>
                <a:lnTo>
                  <a:pt x="141" y="988"/>
                </a:lnTo>
                <a:lnTo>
                  <a:pt x="317" y="953"/>
                </a:lnTo>
                <a:lnTo>
                  <a:pt x="423" y="918"/>
                </a:lnTo>
                <a:lnTo>
                  <a:pt x="529" y="882"/>
                </a:lnTo>
                <a:lnTo>
                  <a:pt x="670" y="847"/>
                </a:lnTo>
                <a:lnTo>
                  <a:pt x="776" y="777"/>
                </a:lnTo>
                <a:lnTo>
                  <a:pt x="881" y="741"/>
                </a:lnTo>
                <a:lnTo>
                  <a:pt x="1023" y="847"/>
                </a:lnTo>
                <a:lnTo>
                  <a:pt x="1093" y="953"/>
                </a:lnTo>
                <a:lnTo>
                  <a:pt x="1234" y="918"/>
                </a:lnTo>
                <a:lnTo>
                  <a:pt x="1340" y="812"/>
                </a:lnTo>
                <a:lnTo>
                  <a:pt x="1375" y="918"/>
                </a:lnTo>
                <a:lnTo>
                  <a:pt x="1481" y="847"/>
                </a:lnTo>
                <a:lnTo>
                  <a:pt x="1587" y="847"/>
                </a:lnTo>
                <a:lnTo>
                  <a:pt x="1728" y="847"/>
                </a:lnTo>
                <a:lnTo>
                  <a:pt x="1869" y="777"/>
                </a:lnTo>
                <a:lnTo>
                  <a:pt x="2046" y="706"/>
                </a:lnTo>
                <a:lnTo>
                  <a:pt x="2257" y="565"/>
                </a:lnTo>
                <a:lnTo>
                  <a:pt x="2363" y="565"/>
                </a:lnTo>
                <a:lnTo>
                  <a:pt x="2363" y="706"/>
                </a:lnTo>
                <a:lnTo>
                  <a:pt x="2363" y="812"/>
                </a:lnTo>
                <a:lnTo>
                  <a:pt x="2469" y="777"/>
                </a:lnTo>
                <a:lnTo>
                  <a:pt x="2504" y="918"/>
                </a:lnTo>
                <a:lnTo>
                  <a:pt x="2610" y="953"/>
                </a:lnTo>
                <a:lnTo>
                  <a:pt x="2716" y="847"/>
                </a:lnTo>
                <a:lnTo>
                  <a:pt x="2822" y="777"/>
                </a:lnTo>
                <a:lnTo>
                  <a:pt x="2928" y="777"/>
                </a:lnTo>
                <a:lnTo>
                  <a:pt x="3033" y="812"/>
                </a:lnTo>
                <a:lnTo>
                  <a:pt x="3139" y="812"/>
                </a:lnTo>
                <a:lnTo>
                  <a:pt x="3280" y="777"/>
                </a:lnTo>
                <a:lnTo>
                  <a:pt x="3386" y="741"/>
                </a:lnTo>
                <a:lnTo>
                  <a:pt x="3492" y="741"/>
                </a:lnTo>
                <a:lnTo>
                  <a:pt x="3598" y="741"/>
                </a:lnTo>
                <a:lnTo>
                  <a:pt x="3704" y="847"/>
                </a:lnTo>
                <a:lnTo>
                  <a:pt x="3880" y="812"/>
                </a:lnTo>
                <a:lnTo>
                  <a:pt x="4056" y="777"/>
                </a:lnTo>
                <a:lnTo>
                  <a:pt x="4198" y="706"/>
                </a:lnTo>
                <a:lnTo>
                  <a:pt x="4762" y="636"/>
                </a:lnTo>
                <a:lnTo>
                  <a:pt x="4903" y="636"/>
                </a:lnTo>
                <a:lnTo>
                  <a:pt x="5009" y="706"/>
                </a:lnTo>
                <a:lnTo>
                  <a:pt x="5185" y="636"/>
                </a:lnTo>
                <a:lnTo>
                  <a:pt x="5185" y="777"/>
                </a:lnTo>
                <a:lnTo>
                  <a:pt x="5291" y="777"/>
                </a:lnTo>
                <a:lnTo>
                  <a:pt x="5397" y="706"/>
                </a:lnTo>
                <a:lnTo>
                  <a:pt x="5538" y="777"/>
                </a:lnTo>
                <a:lnTo>
                  <a:pt x="5644" y="847"/>
                </a:lnTo>
                <a:lnTo>
                  <a:pt x="5750" y="777"/>
                </a:lnTo>
                <a:lnTo>
                  <a:pt x="5962" y="671"/>
                </a:lnTo>
                <a:lnTo>
                  <a:pt x="6174" y="636"/>
                </a:lnTo>
                <a:lnTo>
                  <a:pt x="6280" y="706"/>
                </a:lnTo>
                <a:lnTo>
                  <a:pt x="6492" y="636"/>
                </a:lnTo>
                <a:lnTo>
                  <a:pt x="6527" y="741"/>
                </a:lnTo>
                <a:lnTo>
                  <a:pt x="6597" y="847"/>
                </a:lnTo>
                <a:lnTo>
                  <a:pt x="6703" y="918"/>
                </a:lnTo>
                <a:lnTo>
                  <a:pt x="6809" y="988"/>
                </a:lnTo>
                <a:lnTo>
                  <a:pt x="6950" y="988"/>
                </a:lnTo>
                <a:lnTo>
                  <a:pt x="7091" y="918"/>
                </a:lnTo>
                <a:lnTo>
                  <a:pt x="7232" y="847"/>
                </a:lnTo>
                <a:lnTo>
                  <a:pt x="7338" y="847"/>
                </a:lnTo>
                <a:lnTo>
                  <a:pt x="7444" y="847"/>
                </a:lnTo>
                <a:lnTo>
                  <a:pt x="7620" y="777"/>
                </a:lnTo>
                <a:lnTo>
                  <a:pt x="7762" y="741"/>
                </a:lnTo>
                <a:lnTo>
                  <a:pt x="7867" y="706"/>
                </a:lnTo>
                <a:lnTo>
                  <a:pt x="7973" y="706"/>
                </a:lnTo>
                <a:lnTo>
                  <a:pt x="8079" y="777"/>
                </a:lnTo>
                <a:lnTo>
                  <a:pt x="8220" y="741"/>
                </a:lnTo>
                <a:lnTo>
                  <a:pt x="8361" y="741"/>
                </a:lnTo>
                <a:lnTo>
                  <a:pt x="8467" y="882"/>
                </a:lnTo>
                <a:lnTo>
                  <a:pt x="8573" y="847"/>
                </a:lnTo>
                <a:lnTo>
                  <a:pt x="8785" y="777"/>
                </a:lnTo>
                <a:lnTo>
                  <a:pt x="8890" y="777"/>
                </a:lnTo>
                <a:lnTo>
                  <a:pt x="8996" y="918"/>
                </a:lnTo>
                <a:lnTo>
                  <a:pt x="9102" y="1060"/>
                </a:lnTo>
                <a:lnTo>
                  <a:pt x="9279" y="918"/>
                </a:lnTo>
                <a:lnTo>
                  <a:pt x="9420" y="847"/>
                </a:lnTo>
                <a:lnTo>
                  <a:pt x="9561" y="812"/>
                </a:lnTo>
                <a:lnTo>
                  <a:pt x="9596" y="988"/>
                </a:lnTo>
                <a:lnTo>
                  <a:pt x="9702" y="918"/>
                </a:lnTo>
                <a:lnTo>
                  <a:pt x="9772" y="1025"/>
                </a:lnTo>
                <a:lnTo>
                  <a:pt x="9914" y="953"/>
                </a:lnTo>
                <a:lnTo>
                  <a:pt x="9984" y="1060"/>
                </a:lnTo>
                <a:lnTo>
                  <a:pt x="10125" y="988"/>
                </a:lnTo>
                <a:lnTo>
                  <a:pt x="10266" y="882"/>
                </a:lnTo>
                <a:lnTo>
                  <a:pt x="10407" y="882"/>
                </a:lnTo>
                <a:lnTo>
                  <a:pt x="10549" y="847"/>
                </a:lnTo>
                <a:lnTo>
                  <a:pt x="10690" y="777"/>
                </a:lnTo>
                <a:lnTo>
                  <a:pt x="10796" y="741"/>
                </a:lnTo>
                <a:lnTo>
                  <a:pt x="10831" y="882"/>
                </a:lnTo>
                <a:lnTo>
                  <a:pt x="10901" y="1025"/>
                </a:lnTo>
                <a:lnTo>
                  <a:pt x="10972" y="918"/>
                </a:lnTo>
                <a:lnTo>
                  <a:pt x="11078" y="812"/>
                </a:lnTo>
                <a:lnTo>
                  <a:pt x="11113" y="918"/>
                </a:lnTo>
                <a:lnTo>
                  <a:pt x="11254" y="1060"/>
                </a:lnTo>
                <a:lnTo>
                  <a:pt x="11360" y="1130"/>
                </a:lnTo>
                <a:lnTo>
                  <a:pt x="11466" y="1130"/>
                </a:lnTo>
                <a:lnTo>
                  <a:pt x="11572" y="1166"/>
                </a:lnTo>
                <a:lnTo>
                  <a:pt x="11677" y="1272"/>
                </a:lnTo>
                <a:lnTo>
                  <a:pt x="11819" y="1342"/>
                </a:lnTo>
                <a:lnTo>
                  <a:pt x="11854" y="0"/>
                </a:lnTo>
                <a:lnTo>
                  <a:pt x="0" y="70"/>
                </a:lnTo>
                <a:lnTo>
                  <a:pt x="35" y="1025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 txBox="1"/>
          <p:nvPr/>
        </p:nvSpPr>
        <p:spPr>
          <a:xfrm>
            <a:off x="1989000" y="12600"/>
            <a:ext cx="49053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Go To and PERFORM THRU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357200" y="471600"/>
            <a:ext cx="6286680" cy="591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554120" y="596880"/>
            <a:ext cx="5850000" cy="5553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081D58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95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SumSales THRU SumSalesExit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SumSales.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IF ErrorFound GO TO SumSalesExit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END-IF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IF ErrorFound GO TO SumSalesExit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END-IF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16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Statements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SumSalesExit.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5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EXIT.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473120" y="507960"/>
            <a:ext cx="5982120" cy="686160"/>
          </a:xfrm>
          <a:custGeom>
            <a:avLst/>
            <a:gdLst/>
            <a:ahLst/>
            <a:rect l="0" t="0" r="r" b="b"/>
            <a:pathLst>
              <a:path w="16617" h="1906">
                <a:moveTo>
                  <a:pt x="0" y="1059"/>
                </a:moveTo>
                <a:lnTo>
                  <a:pt x="105" y="1059"/>
                </a:lnTo>
                <a:lnTo>
                  <a:pt x="282" y="1024"/>
                </a:lnTo>
                <a:lnTo>
                  <a:pt x="423" y="988"/>
                </a:lnTo>
                <a:lnTo>
                  <a:pt x="564" y="917"/>
                </a:lnTo>
                <a:lnTo>
                  <a:pt x="670" y="881"/>
                </a:lnTo>
                <a:lnTo>
                  <a:pt x="776" y="846"/>
                </a:lnTo>
                <a:lnTo>
                  <a:pt x="881" y="776"/>
                </a:lnTo>
                <a:lnTo>
                  <a:pt x="917" y="881"/>
                </a:lnTo>
                <a:lnTo>
                  <a:pt x="1023" y="952"/>
                </a:lnTo>
                <a:lnTo>
                  <a:pt x="1128" y="917"/>
                </a:lnTo>
                <a:lnTo>
                  <a:pt x="1270" y="988"/>
                </a:lnTo>
                <a:lnTo>
                  <a:pt x="1411" y="952"/>
                </a:lnTo>
                <a:lnTo>
                  <a:pt x="1516" y="917"/>
                </a:lnTo>
                <a:lnTo>
                  <a:pt x="1693" y="846"/>
                </a:lnTo>
                <a:lnTo>
                  <a:pt x="1834" y="740"/>
                </a:lnTo>
                <a:lnTo>
                  <a:pt x="1940" y="705"/>
                </a:lnTo>
                <a:lnTo>
                  <a:pt x="2046" y="740"/>
                </a:lnTo>
                <a:lnTo>
                  <a:pt x="2187" y="776"/>
                </a:lnTo>
                <a:lnTo>
                  <a:pt x="2293" y="776"/>
                </a:lnTo>
                <a:lnTo>
                  <a:pt x="2398" y="740"/>
                </a:lnTo>
                <a:lnTo>
                  <a:pt x="2540" y="705"/>
                </a:lnTo>
                <a:lnTo>
                  <a:pt x="2681" y="811"/>
                </a:lnTo>
                <a:lnTo>
                  <a:pt x="2822" y="776"/>
                </a:lnTo>
                <a:lnTo>
                  <a:pt x="2928" y="705"/>
                </a:lnTo>
                <a:lnTo>
                  <a:pt x="3033" y="705"/>
                </a:lnTo>
                <a:lnTo>
                  <a:pt x="3139" y="776"/>
                </a:lnTo>
                <a:lnTo>
                  <a:pt x="3245" y="776"/>
                </a:lnTo>
                <a:lnTo>
                  <a:pt x="3386" y="705"/>
                </a:lnTo>
                <a:lnTo>
                  <a:pt x="3492" y="776"/>
                </a:lnTo>
                <a:lnTo>
                  <a:pt x="3598" y="776"/>
                </a:lnTo>
                <a:lnTo>
                  <a:pt x="3739" y="846"/>
                </a:lnTo>
                <a:lnTo>
                  <a:pt x="3845" y="881"/>
                </a:lnTo>
                <a:lnTo>
                  <a:pt x="3951" y="881"/>
                </a:lnTo>
                <a:lnTo>
                  <a:pt x="4056" y="881"/>
                </a:lnTo>
                <a:lnTo>
                  <a:pt x="4092" y="988"/>
                </a:lnTo>
                <a:lnTo>
                  <a:pt x="4199" y="1059"/>
                </a:lnTo>
                <a:lnTo>
                  <a:pt x="4375" y="1165"/>
                </a:lnTo>
                <a:lnTo>
                  <a:pt x="4410" y="1024"/>
                </a:lnTo>
                <a:lnTo>
                  <a:pt x="4516" y="988"/>
                </a:lnTo>
                <a:lnTo>
                  <a:pt x="4587" y="881"/>
                </a:lnTo>
                <a:lnTo>
                  <a:pt x="4657" y="776"/>
                </a:lnTo>
                <a:lnTo>
                  <a:pt x="4763" y="705"/>
                </a:lnTo>
                <a:lnTo>
                  <a:pt x="4834" y="599"/>
                </a:lnTo>
                <a:lnTo>
                  <a:pt x="4939" y="705"/>
                </a:lnTo>
                <a:lnTo>
                  <a:pt x="5010" y="846"/>
                </a:lnTo>
                <a:lnTo>
                  <a:pt x="5081" y="988"/>
                </a:lnTo>
                <a:lnTo>
                  <a:pt x="5222" y="846"/>
                </a:lnTo>
                <a:lnTo>
                  <a:pt x="5327" y="776"/>
                </a:lnTo>
                <a:lnTo>
                  <a:pt x="5327" y="917"/>
                </a:lnTo>
                <a:lnTo>
                  <a:pt x="5363" y="1024"/>
                </a:lnTo>
                <a:lnTo>
                  <a:pt x="5469" y="1094"/>
                </a:lnTo>
                <a:lnTo>
                  <a:pt x="5574" y="1059"/>
                </a:lnTo>
                <a:lnTo>
                  <a:pt x="5716" y="1271"/>
                </a:lnTo>
                <a:lnTo>
                  <a:pt x="5892" y="1200"/>
                </a:lnTo>
                <a:lnTo>
                  <a:pt x="6068" y="1059"/>
                </a:lnTo>
                <a:lnTo>
                  <a:pt x="6174" y="917"/>
                </a:lnTo>
                <a:lnTo>
                  <a:pt x="6280" y="776"/>
                </a:lnTo>
                <a:lnTo>
                  <a:pt x="6456" y="635"/>
                </a:lnTo>
                <a:lnTo>
                  <a:pt x="6562" y="599"/>
                </a:lnTo>
                <a:lnTo>
                  <a:pt x="6774" y="564"/>
                </a:lnTo>
                <a:lnTo>
                  <a:pt x="6880" y="564"/>
                </a:lnTo>
                <a:lnTo>
                  <a:pt x="6950" y="705"/>
                </a:lnTo>
                <a:lnTo>
                  <a:pt x="7056" y="705"/>
                </a:lnTo>
                <a:lnTo>
                  <a:pt x="7162" y="635"/>
                </a:lnTo>
                <a:lnTo>
                  <a:pt x="7197" y="740"/>
                </a:lnTo>
                <a:lnTo>
                  <a:pt x="7303" y="776"/>
                </a:lnTo>
                <a:lnTo>
                  <a:pt x="7409" y="740"/>
                </a:lnTo>
                <a:lnTo>
                  <a:pt x="7585" y="705"/>
                </a:lnTo>
                <a:lnTo>
                  <a:pt x="7762" y="705"/>
                </a:lnTo>
                <a:lnTo>
                  <a:pt x="7903" y="705"/>
                </a:lnTo>
                <a:lnTo>
                  <a:pt x="8009" y="705"/>
                </a:lnTo>
                <a:lnTo>
                  <a:pt x="8467" y="1659"/>
                </a:lnTo>
                <a:lnTo>
                  <a:pt x="8467" y="1553"/>
                </a:lnTo>
                <a:lnTo>
                  <a:pt x="8432" y="1412"/>
                </a:lnTo>
                <a:lnTo>
                  <a:pt x="8361" y="1271"/>
                </a:lnTo>
                <a:lnTo>
                  <a:pt x="8326" y="1129"/>
                </a:lnTo>
                <a:lnTo>
                  <a:pt x="8291" y="988"/>
                </a:lnTo>
                <a:lnTo>
                  <a:pt x="8255" y="881"/>
                </a:lnTo>
                <a:lnTo>
                  <a:pt x="8220" y="776"/>
                </a:lnTo>
                <a:lnTo>
                  <a:pt x="8185" y="705"/>
                </a:lnTo>
                <a:lnTo>
                  <a:pt x="8326" y="740"/>
                </a:lnTo>
                <a:lnTo>
                  <a:pt x="8432" y="776"/>
                </a:lnTo>
                <a:lnTo>
                  <a:pt x="8608" y="776"/>
                </a:lnTo>
                <a:lnTo>
                  <a:pt x="8679" y="881"/>
                </a:lnTo>
                <a:lnTo>
                  <a:pt x="8890" y="776"/>
                </a:lnTo>
                <a:lnTo>
                  <a:pt x="8961" y="881"/>
                </a:lnTo>
                <a:lnTo>
                  <a:pt x="9173" y="811"/>
                </a:lnTo>
                <a:lnTo>
                  <a:pt x="9314" y="846"/>
                </a:lnTo>
                <a:lnTo>
                  <a:pt x="9455" y="846"/>
                </a:lnTo>
                <a:lnTo>
                  <a:pt x="9596" y="776"/>
                </a:lnTo>
                <a:lnTo>
                  <a:pt x="9737" y="776"/>
                </a:lnTo>
                <a:lnTo>
                  <a:pt x="9843" y="776"/>
                </a:lnTo>
                <a:lnTo>
                  <a:pt x="9949" y="740"/>
                </a:lnTo>
                <a:lnTo>
                  <a:pt x="10090" y="635"/>
                </a:lnTo>
                <a:lnTo>
                  <a:pt x="10196" y="599"/>
                </a:lnTo>
                <a:lnTo>
                  <a:pt x="10302" y="564"/>
                </a:lnTo>
                <a:lnTo>
                  <a:pt x="10407" y="529"/>
                </a:lnTo>
                <a:lnTo>
                  <a:pt x="10513" y="564"/>
                </a:lnTo>
                <a:lnTo>
                  <a:pt x="10654" y="635"/>
                </a:lnTo>
                <a:lnTo>
                  <a:pt x="10760" y="635"/>
                </a:lnTo>
                <a:lnTo>
                  <a:pt x="10866" y="564"/>
                </a:lnTo>
                <a:lnTo>
                  <a:pt x="10972" y="564"/>
                </a:lnTo>
                <a:lnTo>
                  <a:pt x="11078" y="564"/>
                </a:lnTo>
                <a:lnTo>
                  <a:pt x="11254" y="599"/>
                </a:lnTo>
                <a:lnTo>
                  <a:pt x="11431" y="635"/>
                </a:lnTo>
                <a:lnTo>
                  <a:pt x="11572" y="705"/>
                </a:lnTo>
                <a:lnTo>
                  <a:pt x="11713" y="776"/>
                </a:lnTo>
                <a:lnTo>
                  <a:pt x="11819" y="776"/>
                </a:lnTo>
                <a:lnTo>
                  <a:pt x="11960" y="705"/>
                </a:lnTo>
                <a:lnTo>
                  <a:pt x="12066" y="705"/>
                </a:lnTo>
                <a:lnTo>
                  <a:pt x="12242" y="846"/>
                </a:lnTo>
                <a:lnTo>
                  <a:pt x="12418" y="881"/>
                </a:lnTo>
                <a:lnTo>
                  <a:pt x="12560" y="846"/>
                </a:lnTo>
                <a:lnTo>
                  <a:pt x="12666" y="846"/>
                </a:lnTo>
                <a:lnTo>
                  <a:pt x="12772" y="846"/>
                </a:lnTo>
                <a:lnTo>
                  <a:pt x="12913" y="846"/>
                </a:lnTo>
                <a:lnTo>
                  <a:pt x="13125" y="811"/>
                </a:lnTo>
                <a:lnTo>
                  <a:pt x="13266" y="881"/>
                </a:lnTo>
                <a:lnTo>
                  <a:pt x="13407" y="881"/>
                </a:lnTo>
                <a:lnTo>
                  <a:pt x="13548" y="846"/>
                </a:lnTo>
                <a:lnTo>
                  <a:pt x="13654" y="846"/>
                </a:lnTo>
                <a:lnTo>
                  <a:pt x="13760" y="776"/>
                </a:lnTo>
                <a:lnTo>
                  <a:pt x="13972" y="635"/>
                </a:lnTo>
                <a:lnTo>
                  <a:pt x="13972" y="776"/>
                </a:lnTo>
                <a:lnTo>
                  <a:pt x="14077" y="705"/>
                </a:lnTo>
                <a:lnTo>
                  <a:pt x="14148" y="599"/>
                </a:lnTo>
                <a:lnTo>
                  <a:pt x="14254" y="635"/>
                </a:lnTo>
                <a:lnTo>
                  <a:pt x="14360" y="740"/>
                </a:lnTo>
                <a:lnTo>
                  <a:pt x="14465" y="811"/>
                </a:lnTo>
                <a:lnTo>
                  <a:pt x="14677" y="917"/>
                </a:lnTo>
                <a:lnTo>
                  <a:pt x="14818" y="1059"/>
                </a:lnTo>
                <a:lnTo>
                  <a:pt x="14924" y="1059"/>
                </a:lnTo>
                <a:lnTo>
                  <a:pt x="14959" y="917"/>
                </a:lnTo>
                <a:lnTo>
                  <a:pt x="15171" y="988"/>
                </a:lnTo>
                <a:lnTo>
                  <a:pt x="15312" y="1024"/>
                </a:lnTo>
                <a:lnTo>
                  <a:pt x="15453" y="1059"/>
                </a:lnTo>
                <a:lnTo>
                  <a:pt x="15559" y="1129"/>
                </a:lnTo>
                <a:lnTo>
                  <a:pt x="15665" y="1271"/>
                </a:lnTo>
                <a:lnTo>
                  <a:pt x="15735" y="1376"/>
                </a:lnTo>
                <a:lnTo>
                  <a:pt x="15806" y="1482"/>
                </a:lnTo>
                <a:lnTo>
                  <a:pt x="15947" y="1623"/>
                </a:lnTo>
                <a:lnTo>
                  <a:pt x="16053" y="1694"/>
                </a:lnTo>
                <a:lnTo>
                  <a:pt x="16159" y="1729"/>
                </a:lnTo>
                <a:lnTo>
                  <a:pt x="16300" y="1764"/>
                </a:lnTo>
                <a:lnTo>
                  <a:pt x="16406" y="1764"/>
                </a:lnTo>
                <a:lnTo>
                  <a:pt x="16512" y="1835"/>
                </a:lnTo>
                <a:lnTo>
                  <a:pt x="16617" y="1906"/>
                </a:lnTo>
                <a:lnTo>
                  <a:pt x="16512" y="0"/>
                </a:lnTo>
                <a:lnTo>
                  <a:pt x="0" y="35"/>
                </a:lnTo>
                <a:lnTo>
                  <a:pt x="0" y="1059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 txBox="1"/>
          <p:nvPr/>
        </p:nvSpPr>
        <p:spPr>
          <a:xfrm>
            <a:off x="2819520" y="119160"/>
            <a:ext cx="3168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2 - Syntax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tretch/>
        </p:blipFill>
        <p:spPr>
          <a:xfrm>
            <a:off x="1093680" y="777960"/>
            <a:ext cx="6754680" cy="1681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9" name=""/>
          <p:cNvGrpSpPr/>
          <p:nvPr/>
        </p:nvGrpSpPr>
        <p:grpSpPr>
          <a:xfrm>
            <a:off x="1092240" y="2743200"/>
            <a:ext cx="6451920" cy="3683160"/>
            <a:chOff x="1092240" y="2743200"/>
            <a:chExt cx="6451920" cy="3683160"/>
          </a:xfrm>
        </p:grpSpPr>
        <p:sp>
          <p:nvSpPr>
            <p:cNvPr id="100" name=""/>
            <p:cNvSpPr txBox="1"/>
            <p:nvPr/>
          </p:nvSpPr>
          <p:spPr>
            <a:xfrm>
              <a:off x="1260360" y="2843280"/>
              <a:ext cx="6181560" cy="35830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919191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PROCEDURE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Begin.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DisplayName.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"/>
            <p:cNvSpPr txBox="1"/>
            <p:nvPr/>
          </p:nvSpPr>
          <p:spPr>
            <a:xfrm>
              <a:off x="1584360" y="3824280"/>
              <a:ext cx="4797360" cy="12603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  <a:tabLst>
                  <a:tab pos="380880" algn="l"/>
                </a:tabLst>
              </a:pPr>
              <a:r>
                <a:rPr lang="en-US" sz="1800" b="1" i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	</a:t>
              </a:r>
              <a:r>
                <a:rPr lang="en-US" sz="1800" b="1" i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Statements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pos="38088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PERFORM   DisplayName  4 TIMES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pos="380880" algn="l"/>
                </a:tabLst>
              </a:pPr>
              <a:r>
                <a:rPr lang="en-US" sz="1800" b="1" i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	</a:t>
              </a:r>
              <a:r>
                <a:rPr lang="en-US" sz="1800" b="1" i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Statements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pos="38088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STOP RUN.</a:t>
              </a: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    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 txBox="1"/>
            <p:nvPr/>
          </p:nvSpPr>
          <p:spPr>
            <a:xfrm>
              <a:off x="1587600" y="5686560"/>
              <a:ext cx="4791240" cy="4348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  <a:tabLst>
                  <a:tab pos="38088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DISPLAY “Tom Ryan”.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" name=""/>
            <p:cNvGrpSpPr/>
            <p:nvPr/>
          </p:nvGrpSpPr>
          <p:grpSpPr>
            <a:xfrm>
              <a:off x="6267600" y="5581800"/>
              <a:ext cx="352440" cy="628560"/>
              <a:chOff x="6267600" y="5581800"/>
              <a:chExt cx="352440" cy="628560"/>
            </a:xfrm>
          </p:grpSpPr>
          <p:sp>
            <p:nvSpPr>
              <p:cNvPr id="104" name=""/>
              <p:cNvSpPr/>
              <p:nvPr/>
            </p:nvSpPr>
            <p:spPr>
              <a:xfrm>
                <a:off x="6267600" y="5581800"/>
                <a:ext cx="352440" cy="628560"/>
              </a:xfrm>
              <a:prstGeom prst="ellipse">
                <a:avLst/>
              </a:prstGeom>
              <a:solidFill>
                <a:srgbClr val="DADADA"/>
              </a:solidFill>
              <a:ln w="12600">
                <a:solidFill>
                  <a:srgbClr val="CF0E3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" name=""/>
              <p:cNvSpPr/>
              <p:nvPr/>
            </p:nvSpPr>
            <p:spPr>
              <a:xfrm flipV="1">
                <a:off x="6610320" y="5794200"/>
                <a:ext cx="0" cy="203400"/>
              </a:xfrm>
              <a:prstGeom prst="line">
                <a:avLst/>
              </a:prstGeom>
              <a:ln w="12600">
                <a:solidFill>
                  <a:srgbClr val="CF0E3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" name=""/>
              <p:cNvSpPr/>
              <p:nvPr/>
            </p:nvSpPr>
            <p:spPr>
              <a:xfrm>
                <a:off x="6276960" y="5923080"/>
                <a:ext cx="0" cy="79200"/>
              </a:xfrm>
              <a:prstGeom prst="line">
                <a:avLst/>
              </a:prstGeom>
              <a:ln w="12600">
                <a:solidFill>
                  <a:srgbClr val="CF0E3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6120" tIns="28080" rIns="96120" bIns="2808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" name=""/>
            <p:cNvSpPr/>
            <p:nvPr/>
          </p:nvSpPr>
          <p:spPr>
            <a:xfrm>
              <a:off x="3298680" y="4352760"/>
              <a:ext cx="1953000" cy="1159200"/>
            </a:xfrm>
            <a:custGeom>
              <a:avLst/>
              <a:gdLst/>
              <a:ahLst/>
              <a:rect l="0" t="0" r="r" b="b"/>
              <a:pathLst>
                <a:path fill="none" w="5425" h="3220">
                  <a:moveTo>
                    <a:pt x="5134" y="0"/>
                  </a:moveTo>
                  <a:lnTo>
                    <a:pt x="5187" y="74"/>
                  </a:lnTo>
                  <a:lnTo>
                    <a:pt x="5240" y="149"/>
                  </a:lnTo>
                  <a:lnTo>
                    <a:pt x="5320" y="202"/>
                  </a:lnTo>
                  <a:lnTo>
                    <a:pt x="5346" y="277"/>
                  </a:lnTo>
                  <a:lnTo>
                    <a:pt x="5373" y="352"/>
                  </a:lnTo>
                  <a:lnTo>
                    <a:pt x="5399" y="432"/>
                  </a:lnTo>
                  <a:lnTo>
                    <a:pt x="5425" y="507"/>
                  </a:lnTo>
                  <a:lnTo>
                    <a:pt x="5425" y="582"/>
                  </a:lnTo>
                  <a:lnTo>
                    <a:pt x="5425" y="657"/>
                  </a:lnTo>
                  <a:lnTo>
                    <a:pt x="5399" y="736"/>
                  </a:lnTo>
                  <a:lnTo>
                    <a:pt x="5399" y="811"/>
                  </a:lnTo>
                  <a:lnTo>
                    <a:pt x="5373" y="886"/>
                  </a:lnTo>
                  <a:lnTo>
                    <a:pt x="5346" y="961"/>
                  </a:lnTo>
                  <a:lnTo>
                    <a:pt x="5320" y="1040"/>
                  </a:lnTo>
                  <a:lnTo>
                    <a:pt x="5293" y="1115"/>
                  </a:lnTo>
                  <a:lnTo>
                    <a:pt x="5240" y="1190"/>
                  </a:lnTo>
                  <a:lnTo>
                    <a:pt x="5187" y="1265"/>
                  </a:lnTo>
                  <a:lnTo>
                    <a:pt x="5134" y="1344"/>
                  </a:lnTo>
                  <a:lnTo>
                    <a:pt x="5055" y="1393"/>
                  </a:lnTo>
                  <a:lnTo>
                    <a:pt x="5002" y="1468"/>
                  </a:lnTo>
                  <a:lnTo>
                    <a:pt x="4923" y="1547"/>
                  </a:lnTo>
                  <a:lnTo>
                    <a:pt x="4843" y="1623"/>
                  </a:lnTo>
                  <a:lnTo>
                    <a:pt x="4764" y="1698"/>
                  </a:lnTo>
                  <a:lnTo>
                    <a:pt x="4658" y="1773"/>
                  </a:lnTo>
                  <a:lnTo>
                    <a:pt x="4552" y="1853"/>
                  </a:lnTo>
                  <a:lnTo>
                    <a:pt x="4473" y="1901"/>
                  </a:lnTo>
                  <a:lnTo>
                    <a:pt x="4394" y="1928"/>
                  </a:lnTo>
                  <a:lnTo>
                    <a:pt x="4288" y="2003"/>
                  </a:lnTo>
                  <a:lnTo>
                    <a:pt x="4182" y="2077"/>
                  </a:lnTo>
                  <a:lnTo>
                    <a:pt x="4103" y="2104"/>
                  </a:lnTo>
                  <a:lnTo>
                    <a:pt x="4022" y="2179"/>
                  </a:lnTo>
                  <a:lnTo>
                    <a:pt x="3943" y="2205"/>
                  </a:lnTo>
                  <a:lnTo>
                    <a:pt x="3863" y="2232"/>
                  </a:lnTo>
                  <a:lnTo>
                    <a:pt x="3758" y="2280"/>
                  </a:lnTo>
                  <a:lnTo>
                    <a:pt x="3678" y="2307"/>
                  </a:lnTo>
                  <a:lnTo>
                    <a:pt x="3572" y="2360"/>
                  </a:lnTo>
                  <a:lnTo>
                    <a:pt x="3493" y="2382"/>
                  </a:lnTo>
                  <a:lnTo>
                    <a:pt x="3387" y="2435"/>
                  </a:lnTo>
                  <a:lnTo>
                    <a:pt x="3281" y="2483"/>
                  </a:lnTo>
                  <a:lnTo>
                    <a:pt x="3176" y="2510"/>
                  </a:lnTo>
                  <a:lnTo>
                    <a:pt x="3096" y="2536"/>
                  </a:lnTo>
                  <a:lnTo>
                    <a:pt x="2990" y="2585"/>
                  </a:lnTo>
                  <a:lnTo>
                    <a:pt x="2911" y="2585"/>
                  </a:lnTo>
                  <a:lnTo>
                    <a:pt x="2805" y="2638"/>
                  </a:lnTo>
                  <a:lnTo>
                    <a:pt x="2726" y="2664"/>
                  </a:lnTo>
                  <a:lnTo>
                    <a:pt x="2646" y="2686"/>
                  </a:lnTo>
                  <a:lnTo>
                    <a:pt x="2541" y="2712"/>
                  </a:lnTo>
                  <a:lnTo>
                    <a:pt x="2461" y="2739"/>
                  </a:lnTo>
                  <a:lnTo>
                    <a:pt x="2382" y="2739"/>
                  </a:lnTo>
                  <a:lnTo>
                    <a:pt x="2276" y="2787"/>
                  </a:lnTo>
                  <a:lnTo>
                    <a:pt x="2197" y="2787"/>
                  </a:lnTo>
                  <a:lnTo>
                    <a:pt x="2064" y="2814"/>
                  </a:lnTo>
                  <a:lnTo>
                    <a:pt x="1985" y="2840"/>
                  </a:lnTo>
                  <a:lnTo>
                    <a:pt x="1853" y="2867"/>
                  </a:lnTo>
                  <a:lnTo>
                    <a:pt x="1747" y="2889"/>
                  </a:lnTo>
                  <a:lnTo>
                    <a:pt x="1667" y="2889"/>
                  </a:lnTo>
                  <a:lnTo>
                    <a:pt x="1588" y="2915"/>
                  </a:lnTo>
                  <a:lnTo>
                    <a:pt x="1482" y="2942"/>
                  </a:lnTo>
                  <a:lnTo>
                    <a:pt x="1349" y="2990"/>
                  </a:lnTo>
                  <a:lnTo>
                    <a:pt x="1243" y="2990"/>
                  </a:lnTo>
                  <a:lnTo>
                    <a:pt x="1137" y="3017"/>
                  </a:lnTo>
                  <a:lnTo>
                    <a:pt x="1058" y="3017"/>
                  </a:lnTo>
                  <a:lnTo>
                    <a:pt x="952" y="3043"/>
                  </a:lnTo>
                  <a:lnTo>
                    <a:pt x="820" y="3070"/>
                  </a:lnTo>
                  <a:lnTo>
                    <a:pt x="740" y="3092"/>
                  </a:lnTo>
                  <a:lnTo>
                    <a:pt x="661" y="3092"/>
                  </a:lnTo>
                  <a:lnTo>
                    <a:pt x="582" y="3118"/>
                  </a:lnTo>
                  <a:lnTo>
                    <a:pt x="502" y="3145"/>
                  </a:lnTo>
                  <a:lnTo>
                    <a:pt x="396" y="3145"/>
                  </a:lnTo>
                  <a:lnTo>
                    <a:pt x="317" y="3171"/>
                  </a:lnTo>
                  <a:lnTo>
                    <a:pt x="238" y="3193"/>
                  </a:lnTo>
                  <a:lnTo>
                    <a:pt x="158" y="3193"/>
                  </a:lnTo>
                  <a:lnTo>
                    <a:pt x="79" y="3193"/>
                  </a:lnTo>
                  <a:lnTo>
                    <a:pt x="0" y="3220"/>
                  </a:lnTo>
                </a:path>
              </a:pathLst>
            </a:custGeom>
            <a:ln w="12600">
              <a:solidFill>
                <a:srgbClr val="CF0E3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1427040" y="4597560"/>
              <a:ext cx="676800" cy="1499040"/>
            </a:xfrm>
            <a:custGeom>
              <a:avLst/>
              <a:gdLst/>
              <a:ahLst/>
              <a:rect l="0" t="0" r="r" b="b"/>
              <a:pathLst>
                <a:path fill="none" w="1880" h="4164">
                  <a:moveTo>
                    <a:pt x="486" y="4164"/>
                  </a:moveTo>
                  <a:lnTo>
                    <a:pt x="396" y="4107"/>
                  </a:lnTo>
                  <a:lnTo>
                    <a:pt x="313" y="4050"/>
                  </a:lnTo>
                  <a:lnTo>
                    <a:pt x="313" y="3961"/>
                  </a:lnTo>
                  <a:lnTo>
                    <a:pt x="255" y="3878"/>
                  </a:lnTo>
                  <a:lnTo>
                    <a:pt x="198" y="3789"/>
                  </a:lnTo>
                  <a:lnTo>
                    <a:pt x="141" y="3706"/>
                  </a:lnTo>
                  <a:lnTo>
                    <a:pt x="114" y="3617"/>
                  </a:lnTo>
                  <a:lnTo>
                    <a:pt x="83" y="3534"/>
                  </a:lnTo>
                  <a:lnTo>
                    <a:pt x="83" y="3445"/>
                  </a:lnTo>
                  <a:lnTo>
                    <a:pt x="57" y="3331"/>
                  </a:lnTo>
                  <a:lnTo>
                    <a:pt x="26" y="3216"/>
                  </a:lnTo>
                  <a:lnTo>
                    <a:pt x="26" y="3101"/>
                  </a:lnTo>
                  <a:lnTo>
                    <a:pt x="0" y="3017"/>
                  </a:lnTo>
                  <a:lnTo>
                    <a:pt x="0" y="2929"/>
                  </a:lnTo>
                  <a:lnTo>
                    <a:pt x="26" y="2845"/>
                  </a:lnTo>
                  <a:lnTo>
                    <a:pt x="26" y="2757"/>
                  </a:lnTo>
                  <a:lnTo>
                    <a:pt x="57" y="2642"/>
                  </a:lnTo>
                  <a:lnTo>
                    <a:pt x="83" y="2527"/>
                  </a:lnTo>
                  <a:lnTo>
                    <a:pt x="83" y="2439"/>
                  </a:lnTo>
                  <a:lnTo>
                    <a:pt x="83" y="2355"/>
                  </a:lnTo>
                  <a:lnTo>
                    <a:pt x="114" y="2267"/>
                  </a:lnTo>
                  <a:lnTo>
                    <a:pt x="141" y="2183"/>
                  </a:lnTo>
                  <a:lnTo>
                    <a:pt x="171" y="2095"/>
                  </a:lnTo>
                  <a:lnTo>
                    <a:pt x="198" y="2011"/>
                  </a:lnTo>
                  <a:lnTo>
                    <a:pt x="255" y="1897"/>
                  </a:lnTo>
                  <a:lnTo>
                    <a:pt x="313" y="1808"/>
                  </a:lnTo>
                  <a:lnTo>
                    <a:pt x="313" y="1725"/>
                  </a:lnTo>
                  <a:lnTo>
                    <a:pt x="396" y="1637"/>
                  </a:lnTo>
                  <a:lnTo>
                    <a:pt x="427" y="1553"/>
                  </a:lnTo>
                  <a:lnTo>
                    <a:pt x="512" y="1465"/>
                  </a:lnTo>
                  <a:lnTo>
                    <a:pt x="569" y="1350"/>
                  </a:lnTo>
                  <a:lnTo>
                    <a:pt x="653" y="1262"/>
                  </a:lnTo>
                  <a:lnTo>
                    <a:pt x="710" y="1178"/>
                  </a:lnTo>
                  <a:lnTo>
                    <a:pt x="768" y="1090"/>
                  </a:lnTo>
                  <a:lnTo>
                    <a:pt x="825" y="1005"/>
                  </a:lnTo>
                  <a:lnTo>
                    <a:pt x="882" y="917"/>
                  </a:lnTo>
                  <a:lnTo>
                    <a:pt x="966" y="859"/>
                  </a:lnTo>
                  <a:lnTo>
                    <a:pt x="1024" y="776"/>
                  </a:lnTo>
                  <a:lnTo>
                    <a:pt x="1112" y="745"/>
                  </a:lnTo>
                  <a:lnTo>
                    <a:pt x="1169" y="661"/>
                  </a:lnTo>
                  <a:lnTo>
                    <a:pt x="1226" y="573"/>
                  </a:lnTo>
                  <a:lnTo>
                    <a:pt x="1310" y="515"/>
                  </a:lnTo>
                  <a:lnTo>
                    <a:pt x="1394" y="432"/>
                  </a:lnTo>
                  <a:lnTo>
                    <a:pt x="1483" y="374"/>
                  </a:lnTo>
                  <a:lnTo>
                    <a:pt x="1567" y="286"/>
                  </a:lnTo>
                  <a:lnTo>
                    <a:pt x="1651" y="229"/>
                  </a:lnTo>
                  <a:lnTo>
                    <a:pt x="1739" y="145"/>
                  </a:lnTo>
                  <a:lnTo>
                    <a:pt x="1796" y="57"/>
                  </a:lnTo>
                  <a:lnTo>
                    <a:pt x="1880" y="0"/>
                  </a:lnTo>
                </a:path>
              </a:pathLst>
            </a:custGeom>
            <a:ln w="12600">
              <a:solidFill>
                <a:srgbClr val="CF0E3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1092240" y="2743200"/>
              <a:ext cx="6451920" cy="470160"/>
            </a:xfrm>
            <a:custGeom>
              <a:avLst/>
              <a:gdLst/>
              <a:ahLst/>
              <a:rect l="0" t="0" r="r" b="b"/>
              <a:pathLst>
                <a:path w="17922" h="1306">
                  <a:moveTo>
                    <a:pt x="0" y="1094"/>
                  </a:moveTo>
                  <a:lnTo>
                    <a:pt x="105" y="1094"/>
                  </a:lnTo>
                  <a:lnTo>
                    <a:pt x="211" y="1094"/>
                  </a:lnTo>
                  <a:lnTo>
                    <a:pt x="423" y="1059"/>
                  </a:lnTo>
                  <a:lnTo>
                    <a:pt x="529" y="1024"/>
                  </a:lnTo>
                  <a:lnTo>
                    <a:pt x="670" y="988"/>
                  </a:lnTo>
                  <a:lnTo>
                    <a:pt x="846" y="918"/>
                  </a:lnTo>
                  <a:lnTo>
                    <a:pt x="952" y="882"/>
                  </a:lnTo>
                  <a:lnTo>
                    <a:pt x="1058" y="847"/>
                  </a:lnTo>
                  <a:lnTo>
                    <a:pt x="1234" y="741"/>
                  </a:lnTo>
                  <a:lnTo>
                    <a:pt x="1234" y="882"/>
                  </a:lnTo>
                  <a:lnTo>
                    <a:pt x="1270" y="988"/>
                  </a:lnTo>
                  <a:lnTo>
                    <a:pt x="1270" y="1094"/>
                  </a:lnTo>
                  <a:lnTo>
                    <a:pt x="1375" y="988"/>
                  </a:lnTo>
                  <a:lnTo>
                    <a:pt x="1516" y="1059"/>
                  </a:lnTo>
                  <a:lnTo>
                    <a:pt x="1693" y="1024"/>
                  </a:lnTo>
                  <a:lnTo>
                    <a:pt x="1834" y="953"/>
                  </a:lnTo>
                  <a:lnTo>
                    <a:pt x="1940" y="1024"/>
                  </a:lnTo>
                  <a:lnTo>
                    <a:pt x="2046" y="988"/>
                  </a:lnTo>
                  <a:lnTo>
                    <a:pt x="2187" y="1129"/>
                  </a:lnTo>
                  <a:lnTo>
                    <a:pt x="2293" y="1129"/>
                  </a:lnTo>
                  <a:lnTo>
                    <a:pt x="2469" y="1059"/>
                  </a:lnTo>
                  <a:lnTo>
                    <a:pt x="2681" y="1024"/>
                  </a:lnTo>
                  <a:lnTo>
                    <a:pt x="2857" y="988"/>
                  </a:lnTo>
                  <a:lnTo>
                    <a:pt x="3069" y="918"/>
                  </a:lnTo>
                  <a:lnTo>
                    <a:pt x="3245" y="882"/>
                  </a:lnTo>
                  <a:lnTo>
                    <a:pt x="3351" y="847"/>
                  </a:lnTo>
                  <a:lnTo>
                    <a:pt x="3492" y="777"/>
                  </a:lnTo>
                  <a:lnTo>
                    <a:pt x="3598" y="741"/>
                  </a:lnTo>
                  <a:lnTo>
                    <a:pt x="3704" y="671"/>
                  </a:lnTo>
                  <a:lnTo>
                    <a:pt x="3810" y="564"/>
                  </a:lnTo>
                  <a:lnTo>
                    <a:pt x="3880" y="706"/>
                  </a:lnTo>
                  <a:lnTo>
                    <a:pt x="3951" y="812"/>
                  </a:lnTo>
                  <a:lnTo>
                    <a:pt x="4092" y="812"/>
                  </a:lnTo>
                  <a:lnTo>
                    <a:pt x="4233" y="741"/>
                  </a:lnTo>
                  <a:lnTo>
                    <a:pt x="4339" y="706"/>
                  </a:lnTo>
                  <a:lnTo>
                    <a:pt x="4409" y="812"/>
                  </a:lnTo>
                  <a:lnTo>
                    <a:pt x="4515" y="812"/>
                  </a:lnTo>
                  <a:lnTo>
                    <a:pt x="4621" y="847"/>
                  </a:lnTo>
                  <a:lnTo>
                    <a:pt x="4797" y="918"/>
                  </a:lnTo>
                  <a:lnTo>
                    <a:pt x="4903" y="953"/>
                  </a:lnTo>
                  <a:lnTo>
                    <a:pt x="5080" y="988"/>
                  </a:lnTo>
                  <a:lnTo>
                    <a:pt x="5256" y="988"/>
                  </a:lnTo>
                  <a:lnTo>
                    <a:pt x="5468" y="918"/>
                  </a:lnTo>
                  <a:lnTo>
                    <a:pt x="5644" y="918"/>
                  </a:lnTo>
                  <a:lnTo>
                    <a:pt x="5750" y="847"/>
                  </a:lnTo>
                  <a:lnTo>
                    <a:pt x="5891" y="777"/>
                  </a:lnTo>
                  <a:lnTo>
                    <a:pt x="6067" y="671"/>
                  </a:lnTo>
                  <a:lnTo>
                    <a:pt x="6208" y="599"/>
                  </a:lnTo>
                  <a:lnTo>
                    <a:pt x="6314" y="635"/>
                  </a:lnTo>
                  <a:lnTo>
                    <a:pt x="6350" y="741"/>
                  </a:lnTo>
                  <a:lnTo>
                    <a:pt x="6455" y="777"/>
                  </a:lnTo>
                  <a:lnTo>
                    <a:pt x="6596" y="812"/>
                  </a:lnTo>
                  <a:lnTo>
                    <a:pt x="6702" y="847"/>
                  </a:lnTo>
                  <a:lnTo>
                    <a:pt x="6808" y="882"/>
                  </a:lnTo>
                  <a:lnTo>
                    <a:pt x="6914" y="847"/>
                  </a:lnTo>
                  <a:lnTo>
                    <a:pt x="7126" y="741"/>
                  </a:lnTo>
                  <a:lnTo>
                    <a:pt x="7267" y="741"/>
                  </a:lnTo>
                  <a:lnTo>
                    <a:pt x="7373" y="741"/>
                  </a:lnTo>
                  <a:lnTo>
                    <a:pt x="7478" y="847"/>
                  </a:lnTo>
                  <a:lnTo>
                    <a:pt x="7620" y="953"/>
                  </a:lnTo>
                  <a:lnTo>
                    <a:pt x="7725" y="1024"/>
                  </a:lnTo>
                  <a:lnTo>
                    <a:pt x="7866" y="988"/>
                  </a:lnTo>
                  <a:lnTo>
                    <a:pt x="7972" y="918"/>
                  </a:lnTo>
                  <a:lnTo>
                    <a:pt x="8043" y="812"/>
                  </a:lnTo>
                  <a:lnTo>
                    <a:pt x="8149" y="706"/>
                  </a:lnTo>
                  <a:lnTo>
                    <a:pt x="8255" y="599"/>
                  </a:lnTo>
                  <a:lnTo>
                    <a:pt x="8360" y="564"/>
                  </a:lnTo>
                  <a:lnTo>
                    <a:pt x="8466" y="635"/>
                  </a:lnTo>
                  <a:lnTo>
                    <a:pt x="8537" y="741"/>
                  </a:lnTo>
                  <a:lnTo>
                    <a:pt x="8678" y="847"/>
                  </a:lnTo>
                  <a:lnTo>
                    <a:pt x="8748" y="741"/>
                  </a:lnTo>
                  <a:lnTo>
                    <a:pt x="8819" y="635"/>
                  </a:lnTo>
                  <a:lnTo>
                    <a:pt x="8890" y="529"/>
                  </a:lnTo>
                  <a:lnTo>
                    <a:pt x="8996" y="423"/>
                  </a:lnTo>
                  <a:lnTo>
                    <a:pt x="9279" y="1306"/>
                  </a:lnTo>
                  <a:lnTo>
                    <a:pt x="9173" y="458"/>
                  </a:lnTo>
                  <a:lnTo>
                    <a:pt x="9243" y="564"/>
                  </a:lnTo>
                  <a:lnTo>
                    <a:pt x="9314" y="706"/>
                  </a:lnTo>
                  <a:lnTo>
                    <a:pt x="9384" y="847"/>
                  </a:lnTo>
                  <a:lnTo>
                    <a:pt x="9526" y="847"/>
                  </a:lnTo>
                  <a:lnTo>
                    <a:pt x="9596" y="741"/>
                  </a:lnTo>
                  <a:lnTo>
                    <a:pt x="9667" y="635"/>
                  </a:lnTo>
                  <a:lnTo>
                    <a:pt x="9808" y="564"/>
                  </a:lnTo>
                  <a:lnTo>
                    <a:pt x="9914" y="564"/>
                  </a:lnTo>
                  <a:lnTo>
                    <a:pt x="10090" y="564"/>
                  </a:lnTo>
                  <a:lnTo>
                    <a:pt x="10302" y="529"/>
                  </a:lnTo>
                  <a:lnTo>
                    <a:pt x="10407" y="493"/>
                  </a:lnTo>
                  <a:lnTo>
                    <a:pt x="10513" y="635"/>
                  </a:lnTo>
                  <a:lnTo>
                    <a:pt x="10619" y="635"/>
                  </a:lnTo>
                  <a:lnTo>
                    <a:pt x="10725" y="635"/>
                  </a:lnTo>
                  <a:lnTo>
                    <a:pt x="10831" y="671"/>
                  </a:lnTo>
                  <a:lnTo>
                    <a:pt x="11007" y="706"/>
                  </a:lnTo>
                  <a:lnTo>
                    <a:pt x="11148" y="671"/>
                  </a:lnTo>
                  <a:lnTo>
                    <a:pt x="11254" y="671"/>
                  </a:lnTo>
                  <a:lnTo>
                    <a:pt x="11395" y="671"/>
                  </a:lnTo>
                  <a:lnTo>
                    <a:pt x="11501" y="635"/>
                  </a:lnTo>
                  <a:lnTo>
                    <a:pt x="11607" y="635"/>
                  </a:lnTo>
                  <a:lnTo>
                    <a:pt x="11713" y="635"/>
                  </a:lnTo>
                  <a:lnTo>
                    <a:pt x="11819" y="599"/>
                  </a:lnTo>
                  <a:lnTo>
                    <a:pt x="11995" y="529"/>
                  </a:lnTo>
                  <a:lnTo>
                    <a:pt x="12101" y="493"/>
                  </a:lnTo>
                  <a:lnTo>
                    <a:pt x="12207" y="529"/>
                  </a:lnTo>
                  <a:lnTo>
                    <a:pt x="12348" y="635"/>
                  </a:lnTo>
                  <a:lnTo>
                    <a:pt x="12489" y="635"/>
                  </a:lnTo>
                  <a:lnTo>
                    <a:pt x="12701" y="564"/>
                  </a:lnTo>
                  <a:lnTo>
                    <a:pt x="12806" y="564"/>
                  </a:lnTo>
                  <a:lnTo>
                    <a:pt x="12983" y="529"/>
                  </a:lnTo>
                  <a:lnTo>
                    <a:pt x="13124" y="493"/>
                  </a:lnTo>
                  <a:lnTo>
                    <a:pt x="13265" y="458"/>
                  </a:lnTo>
                  <a:lnTo>
                    <a:pt x="13371" y="493"/>
                  </a:lnTo>
                  <a:lnTo>
                    <a:pt x="13477" y="564"/>
                  </a:lnTo>
                  <a:lnTo>
                    <a:pt x="13618" y="564"/>
                  </a:lnTo>
                  <a:lnTo>
                    <a:pt x="13724" y="529"/>
                  </a:lnTo>
                  <a:lnTo>
                    <a:pt x="13900" y="493"/>
                  </a:lnTo>
                  <a:lnTo>
                    <a:pt x="14041" y="493"/>
                  </a:lnTo>
                  <a:lnTo>
                    <a:pt x="14147" y="564"/>
                  </a:lnTo>
                  <a:lnTo>
                    <a:pt x="14253" y="564"/>
                  </a:lnTo>
                  <a:lnTo>
                    <a:pt x="14394" y="564"/>
                  </a:lnTo>
                  <a:lnTo>
                    <a:pt x="14500" y="635"/>
                  </a:lnTo>
                  <a:lnTo>
                    <a:pt x="14606" y="741"/>
                  </a:lnTo>
                  <a:lnTo>
                    <a:pt x="14747" y="635"/>
                  </a:lnTo>
                  <a:lnTo>
                    <a:pt x="14817" y="741"/>
                  </a:lnTo>
                  <a:lnTo>
                    <a:pt x="14958" y="777"/>
                  </a:lnTo>
                  <a:lnTo>
                    <a:pt x="15064" y="777"/>
                  </a:lnTo>
                  <a:lnTo>
                    <a:pt x="15170" y="777"/>
                  </a:lnTo>
                  <a:lnTo>
                    <a:pt x="15276" y="706"/>
                  </a:lnTo>
                  <a:lnTo>
                    <a:pt x="15452" y="635"/>
                  </a:lnTo>
                  <a:lnTo>
                    <a:pt x="15664" y="564"/>
                  </a:lnTo>
                  <a:lnTo>
                    <a:pt x="15805" y="564"/>
                  </a:lnTo>
                  <a:lnTo>
                    <a:pt x="15876" y="706"/>
                  </a:lnTo>
                  <a:lnTo>
                    <a:pt x="15981" y="706"/>
                  </a:lnTo>
                  <a:lnTo>
                    <a:pt x="16087" y="671"/>
                  </a:lnTo>
                  <a:lnTo>
                    <a:pt x="16228" y="741"/>
                  </a:lnTo>
                  <a:lnTo>
                    <a:pt x="16369" y="671"/>
                  </a:lnTo>
                  <a:lnTo>
                    <a:pt x="16511" y="812"/>
                  </a:lnTo>
                  <a:lnTo>
                    <a:pt x="16652" y="741"/>
                  </a:lnTo>
                  <a:lnTo>
                    <a:pt x="16793" y="777"/>
                  </a:lnTo>
                  <a:lnTo>
                    <a:pt x="16899" y="741"/>
                  </a:lnTo>
                  <a:lnTo>
                    <a:pt x="17004" y="777"/>
                  </a:lnTo>
                  <a:lnTo>
                    <a:pt x="17075" y="882"/>
                  </a:lnTo>
                  <a:lnTo>
                    <a:pt x="17922" y="1271"/>
                  </a:lnTo>
                  <a:lnTo>
                    <a:pt x="17851" y="70"/>
                  </a:lnTo>
                  <a:lnTo>
                    <a:pt x="141" y="0"/>
                  </a:lnTo>
                  <a:lnTo>
                    <a:pt x="0" y="1094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 txBox="1"/>
          <p:nvPr/>
        </p:nvSpPr>
        <p:spPr>
          <a:xfrm>
            <a:off x="177840" y="731880"/>
            <a:ext cx="7068960" cy="5813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676767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PerformExample2.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NumofTimes      PIC 9 VALUE 5.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"Starting to run program"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3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DISPLAY "&gt;&gt;&gt;&gt;This is an in line Perform"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"Finished in line Perform"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OutOfLineEG NumOfTimes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"Back in Begin. About to Stop".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OutOfLineEG.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"&gt;&gt;&gt;&gt; This is an out of line Perform".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517840" y="55440"/>
            <a:ext cx="32479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2 Example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"/>
          <p:cNvGrpSpPr/>
          <p:nvPr/>
        </p:nvGrpSpPr>
        <p:grpSpPr>
          <a:xfrm>
            <a:off x="4876920" y="561960"/>
            <a:ext cx="3943440" cy="2590920"/>
            <a:chOff x="4876920" y="561960"/>
            <a:chExt cx="3943440" cy="2590920"/>
          </a:xfrm>
        </p:grpSpPr>
        <p:sp>
          <p:nvSpPr>
            <p:cNvPr id="113" name=""/>
            <p:cNvSpPr txBox="1"/>
            <p:nvPr/>
          </p:nvSpPr>
          <p:spPr>
            <a:xfrm>
              <a:off x="4876920" y="922320"/>
              <a:ext cx="3943440" cy="22305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676767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Starting to run program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37C03"/>
                  </a:solidFill>
                  <a:effectLst/>
                  <a:uFillTx/>
                  <a:latin typeface="Courier New"/>
                  <a:ea typeface="Courier New"/>
                </a:rPr>
                <a:t>&gt;&gt;&gt;&gt;This is an in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37C03"/>
                  </a:solidFill>
                  <a:effectLst/>
                  <a:uFillTx/>
                  <a:latin typeface="Courier New"/>
                  <a:ea typeface="Courier New"/>
                </a:rPr>
                <a:t>&gt;&gt;&gt;&gt;This is an in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37C03"/>
                  </a:solidFill>
                  <a:effectLst/>
                  <a:uFillTx/>
                  <a:latin typeface="Courier New"/>
                  <a:ea typeface="Courier New"/>
                </a:rPr>
                <a:t>&gt;&gt;&gt;&gt;This is an in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Finished in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 This is an out of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 This is an out of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 This is an out of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 This is an out of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CF0E30"/>
                  </a:solidFill>
                  <a:effectLst/>
                  <a:uFillTx/>
                  <a:latin typeface="Courier New"/>
                  <a:ea typeface="Courier New"/>
                </a:rPr>
                <a:t>&gt;&gt;&gt;&gt; This is an out of line 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Back in Begin. About to Stop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 txBox="1"/>
            <p:nvPr/>
          </p:nvSpPr>
          <p:spPr>
            <a:xfrm>
              <a:off x="5592600" y="561960"/>
              <a:ext cx="2455920" cy="3697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6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PerformExample2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 txBox="1"/>
          <p:nvPr/>
        </p:nvSpPr>
        <p:spPr>
          <a:xfrm>
            <a:off x="2644920" y="136440"/>
            <a:ext cx="29512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Format 3 Syntax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333360" y="2565360"/>
            <a:ext cx="8190000" cy="38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96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This format is used where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WHILE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or 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REPEAT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constructs are used in other languages.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96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WITH TEST BEFORE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phrase is used the PERFORM behaves like a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WHILE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loop and the condition is tested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loop body is entered.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96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WITH TEST AFTER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phrase is used the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PERFORM behaves like a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REPEAT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loop and the condition is tested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after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the loop body is entered.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96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WITH TEST BEFORE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phrase is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default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and so  is rarely explicitly stated.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1"/>
          <a:stretch/>
        </p:blipFill>
        <p:spPr>
          <a:xfrm>
            <a:off x="730080" y="741240"/>
            <a:ext cx="7599240" cy="1770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"/>
          <p:cNvGrpSpPr/>
          <p:nvPr/>
        </p:nvGrpSpPr>
        <p:grpSpPr>
          <a:xfrm>
            <a:off x="5183280" y="696960"/>
            <a:ext cx="3162240" cy="5005440"/>
            <a:chOff x="5183280" y="696960"/>
            <a:chExt cx="3162240" cy="5005440"/>
          </a:xfrm>
        </p:grpSpPr>
        <p:sp>
          <p:nvSpPr>
            <p:cNvPr id="119" name=""/>
            <p:cNvSpPr/>
            <p:nvPr/>
          </p:nvSpPr>
          <p:spPr>
            <a:xfrm>
              <a:off x="6829560" y="3801960"/>
              <a:ext cx="151452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 txBox="1"/>
            <p:nvPr/>
          </p:nvSpPr>
          <p:spPr>
            <a:xfrm>
              <a:off x="5805360" y="3484440"/>
              <a:ext cx="1025640" cy="635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test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 txBox="1"/>
            <p:nvPr/>
          </p:nvSpPr>
          <p:spPr>
            <a:xfrm>
              <a:off x="5648400" y="2624040"/>
              <a:ext cx="1403280" cy="392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Loop Body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"/>
            <p:cNvSpPr txBox="1"/>
            <p:nvPr/>
          </p:nvSpPr>
          <p:spPr>
            <a:xfrm>
              <a:off x="6840360" y="3540240"/>
              <a:ext cx="600120" cy="237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False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"/>
            <p:cNvSpPr txBox="1"/>
            <p:nvPr/>
          </p:nvSpPr>
          <p:spPr>
            <a:xfrm>
              <a:off x="6192720" y="4130640"/>
              <a:ext cx="790560" cy="3430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True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 txBox="1"/>
            <p:nvPr/>
          </p:nvSpPr>
          <p:spPr>
            <a:xfrm>
              <a:off x="5183280" y="696960"/>
              <a:ext cx="2340000" cy="10317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PERFORM WITH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TEST AFTER =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REPEAT ... UNTIL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6316560" y="3016080"/>
              <a:ext cx="0" cy="4762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6326280" y="4149720"/>
              <a:ext cx="0" cy="6382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6311880" y="1758960"/>
              <a:ext cx="0" cy="86184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 flipH="1">
              <a:off x="6326280" y="2120760"/>
              <a:ext cx="201924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 txBox="1"/>
            <p:nvPr/>
          </p:nvSpPr>
          <p:spPr>
            <a:xfrm>
              <a:off x="5494320" y="4797360"/>
              <a:ext cx="1873080" cy="392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Next Statement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6326280" y="5197320"/>
              <a:ext cx="0" cy="5050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7383600" y="3801960"/>
              <a:ext cx="60948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 flipV="1">
              <a:off x="8345520" y="2587680"/>
              <a:ext cx="0" cy="6094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 flipH="1">
              <a:off x="6740640" y="2120760"/>
              <a:ext cx="79056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 flipV="1">
              <a:off x="8344080" y="2116080"/>
              <a:ext cx="0" cy="16858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5" name=""/>
          <p:cNvGrpSpPr/>
          <p:nvPr/>
        </p:nvGrpSpPr>
        <p:grpSpPr>
          <a:xfrm>
            <a:off x="615960" y="696960"/>
            <a:ext cx="3816360" cy="5005440"/>
            <a:chOff x="615960" y="696960"/>
            <a:chExt cx="3816360" cy="5005440"/>
          </a:xfrm>
        </p:grpSpPr>
        <p:sp>
          <p:nvSpPr>
            <p:cNvPr id="136" name=""/>
            <p:cNvSpPr/>
            <p:nvPr/>
          </p:nvSpPr>
          <p:spPr>
            <a:xfrm>
              <a:off x="2138400" y="3801960"/>
              <a:ext cx="151452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"/>
            <p:cNvSpPr txBox="1"/>
            <p:nvPr/>
          </p:nvSpPr>
          <p:spPr>
            <a:xfrm>
              <a:off x="1106640" y="3484440"/>
              <a:ext cx="1025640" cy="635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test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 txBox="1"/>
            <p:nvPr/>
          </p:nvSpPr>
          <p:spPr>
            <a:xfrm>
              <a:off x="3029040" y="2619360"/>
              <a:ext cx="1403280" cy="392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Loop Body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 txBox="1"/>
            <p:nvPr/>
          </p:nvSpPr>
          <p:spPr>
            <a:xfrm>
              <a:off x="2178000" y="3521160"/>
              <a:ext cx="600120" cy="237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False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"/>
            <p:cNvSpPr txBox="1"/>
            <p:nvPr/>
          </p:nvSpPr>
          <p:spPr>
            <a:xfrm>
              <a:off x="1530360" y="4159080"/>
              <a:ext cx="790560" cy="3430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True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"/>
            <p:cNvSpPr txBox="1"/>
            <p:nvPr/>
          </p:nvSpPr>
          <p:spPr>
            <a:xfrm>
              <a:off x="615960" y="696960"/>
              <a:ext cx="2206800" cy="10317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PERFORM WITH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TEST BEFORE =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WHILE ... DO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"/>
            <p:cNvSpPr/>
            <p:nvPr/>
          </p:nvSpPr>
          <p:spPr>
            <a:xfrm>
              <a:off x="1616040" y="4087800"/>
              <a:ext cx="0" cy="68112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"/>
            <p:cNvSpPr/>
            <p:nvPr/>
          </p:nvSpPr>
          <p:spPr>
            <a:xfrm>
              <a:off x="1620720" y="1758960"/>
              <a:ext cx="0" cy="174780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 flipH="1">
              <a:off x="1635120" y="2120760"/>
              <a:ext cx="201924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"/>
            <p:cNvSpPr txBox="1"/>
            <p:nvPr/>
          </p:nvSpPr>
          <p:spPr>
            <a:xfrm>
              <a:off x="746280" y="4778280"/>
              <a:ext cx="1873080" cy="3920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Next Statement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"/>
            <p:cNvSpPr/>
            <p:nvPr/>
          </p:nvSpPr>
          <p:spPr>
            <a:xfrm>
              <a:off x="1606680" y="5197320"/>
              <a:ext cx="0" cy="5050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"/>
            <p:cNvSpPr/>
            <p:nvPr/>
          </p:nvSpPr>
          <p:spPr>
            <a:xfrm>
              <a:off x="2635200" y="3801960"/>
              <a:ext cx="60948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/>
            <p:nvPr/>
          </p:nvSpPr>
          <p:spPr>
            <a:xfrm flipV="1">
              <a:off x="3664080" y="3121200"/>
              <a:ext cx="0" cy="43812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"/>
            <p:cNvSpPr/>
            <p:nvPr/>
          </p:nvSpPr>
          <p:spPr>
            <a:xfrm flipH="1">
              <a:off x="2049480" y="2120760"/>
              <a:ext cx="790560" cy="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 flipV="1">
              <a:off x="3662280" y="3011400"/>
              <a:ext cx="0" cy="80028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3662280" y="2114640"/>
              <a:ext cx="0" cy="504720"/>
            </a:xfrm>
            <a:prstGeom prst="line">
              <a:avLst/>
            </a:prstGeom>
            <a:ln w="2556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 txBox="1"/>
          <p:nvPr/>
        </p:nvSpPr>
        <p:spPr>
          <a:xfrm>
            <a:off x="1974960" y="127080"/>
            <a:ext cx="4710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Sequential File Processing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58640" y="1033560"/>
            <a:ext cx="7904160" cy="433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general terms,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WHILE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loop is an ideal construct for processing sequences of data items whose length is not predefined.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Such sequences of values are often called “streams”.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Because the ‘length’ of the stream is unknown we have to be careful how we manage the detection of the end of the stream.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useful way for solving this problem uses a strategy known as “read ahead”.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 txBox="1"/>
          <p:nvPr/>
        </p:nvSpPr>
        <p:spPr>
          <a:xfrm>
            <a:off x="2689200" y="179280"/>
            <a:ext cx="3108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READ Ahead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343080" y="1123920"/>
            <a:ext cx="8153280" cy="440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With the “read ahead” strategy we always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try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to stay one data item ahead of the processing.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general format of the “read ahead” algorithm is as follows;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Attempt to READ first data item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WHILE NOT EndOfStream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Process data item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Attempt to READ next data item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ENDWHILE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Use this to process any stream of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 txBox="1"/>
          <p:nvPr/>
        </p:nvSpPr>
        <p:spPr>
          <a:xfrm>
            <a:off x="2174760" y="150840"/>
            <a:ext cx="44910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Reading a Sequential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57120" y="914400"/>
            <a:ext cx="8110440" cy="4610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04760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Algorithm Template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>
              <a:lnSpc>
                <a:spcPct val="90000"/>
              </a:lnSpc>
              <a:spcBef>
                <a:spcPts val="720"/>
              </a:spcBef>
              <a:tabLst>
                <a:tab pos="4762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READ StudentRecords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AT END MOVE HIGH-VALUES TO StudentRecord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>
              <a:lnSpc>
                <a:spcPct val="90000"/>
              </a:lnSpc>
              <a:spcBef>
                <a:spcPts val="720"/>
              </a:spcBef>
              <a:tabLst>
                <a:tab pos="4762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PERFORM UNTIL StudentRecord = HIGH-VALUES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DISPLAY StudentRecord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READ StudentRecords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AT END MOVE HIGH-VALUES TO StudentRecord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1919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04760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This is an example of an algorithm which is capable of processing any sequential file; ordered or unordered!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 txBox="1"/>
          <p:nvPr/>
        </p:nvSpPr>
        <p:spPr>
          <a:xfrm>
            <a:off x="227160" y="2432160"/>
            <a:ext cx="8647200" cy="370836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OPEN INPUT StudentFile</a:t>
            </a: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READ StudentFile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AT END MOVE HIGH-VALUES TO StudentDetails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END-READ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StudentDetails = HIGH-VALUES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DISPLAY StudentId SPACE StudentName SPACE CourseCode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READ StudentFile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AT END MOVE HIGH-VALUES TO StudentDetails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END-READ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CLOSE StudentFile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" name=""/>
          <p:cNvGrpSpPr/>
          <p:nvPr/>
        </p:nvGrpSpPr>
        <p:grpSpPr>
          <a:xfrm>
            <a:off x="2895480" y="235080"/>
            <a:ext cx="3040200" cy="1542960"/>
            <a:chOff x="2895480" y="235080"/>
            <a:chExt cx="3040200" cy="1542960"/>
          </a:xfrm>
        </p:grpSpPr>
        <p:sp>
          <p:nvSpPr>
            <p:cNvPr id="160" name=""/>
            <p:cNvSpPr txBox="1"/>
            <p:nvPr/>
          </p:nvSpPr>
          <p:spPr>
            <a:xfrm>
              <a:off x="2895480" y="623880"/>
              <a:ext cx="3040200" cy="115416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6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9456789 COUGHLANMS LM51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6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9367892 RYAN    TG LM60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6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9368934 WILSON  HR LM61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 txBox="1"/>
            <p:nvPr/>
          </p:nvSpPr>
          <p:spPr>
            <a:xfrm>
              <a:off x="3460680" y="235080"/>
              <a:ext cx="1827360" cy="39528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6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SeqRead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The  PERFORM</dc:title>
</cp:coreProperties>
</file>